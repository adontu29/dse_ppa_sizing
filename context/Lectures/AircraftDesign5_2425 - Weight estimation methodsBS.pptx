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2.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3.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2.xml" ContentType="application/vnd.openxmlformats-officedocument.presentationml.tags+xml"/>
  <Override PartName="/ppt/notesSlides/notesSlide57.xml" ContentType="application/vnd.openxmlformats-officedocument.presentationml.notesSlide+xml"/>
  <Override PartName="/ppt/tags/tag3.xml" ContentType="application/vnd.openxmlformats-officedocument.presentationml.tags+xml"/>
  <Override PartName="/ppt/notesSlides/notesSlide58.xml" ContentType="application/vnd.openxmlformats-officedocument.presentationml.notesSlide+xml"/>
  <Override PartName="/ppt/tags/tag4.xml" ContentType="application/vnd.openxmlformats-officedocument.presentationml.tags+xml"/>
  <Override PartName="/ppt/notesSlides/notesSlide59.xml" ContentType="application/vnd.openxmlformats-officedocument.presentationml.notesSlide+xml"/>
  <Override PartName="/ppt/tags/tag5.xml" ContentType="application/vnd.openxmlformats-officedocument.presentationml.tags+xml"/>
  <Override PartName="/ppt/notesSlides/notesSlide60.xml" ContentType="application/vnd.openxmlformats-officedocument.presentationml.notesSlide+xml"/>
  <Override PartName="/ppt/tags/tag6.xml" ContentType="application/vnd.openxmlformats-officedocument.presentationml.tags+xml"/>
  <Override PartName="/ppt/notesSlides/notesSlide61.xml" ContentType="application/vnd.openxmlformats-officedocument.presentationml.notesSlide+xml"/>
  <Override PartName="/ppt/tags/tag7.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rts/chart4.xml" ContentType="application/vnd.openxmlformats-officedocument.drawingml.chart+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3">
  <p:sldMasterIdLst>
    <p:sldMasterId id="2147483653" r:id="rId1"/>
  </p:sldMasterIdLst>
  <p:notesMasterIdLst>
    <p:notesMasterId r:id="rId74"/>
  </p:notesMasterIdLst>
  <p:handoutMasterIdLst>
    <p:handoutMasterId r:id="rId75"/>
  </p:handoutMasterIdLst>
  <p:sldIdLst>
    <p:sldId id="649" r:id="rId2"/>
    <p:sldId id="1079" r:id="rId3"/>
    <p:sldId id="979" r:id="rId4"/>
    <p:sldId id="1096" r:id="rId5"/>
    <p:sldId id="1037" r:id="rId6"/>
    <p:sldId id="988" r:id="rId7"/>
    <p:sldId id="1082" r:id="rId8"/>
    <p:sldId id="1039" r:id="rId9"/>
    <p:sldId id="989" r:id="rId10"/>
    <p:sldId id="990" r:id="rId11"/>
    <p:sldId id="1113" r:id="rId12"/>
    <p:sldId id="991" r:id="rId13"/>
    <p:sldId id="1087" r:id="rId14"/>
    <p:sldId id="995" r:id="rId15"/>
    <p:sldId id="1097" r:id="rId16"/>
    <p:sldId id="992" r:id="rId17"/>
    <p:sldId id="996" r:id="rId18"/>
    <p:sldId id="1047" r:id="rId19"/>
    <p:sldId id="997" r:id="rId20"/>
    <p:sldId id="1048" r:id="rId21"/>
    <p:sldId id="1060" r:id="rId22"/>
    <p:sldId id="1049" r:id="rId23"/>
    <p:sldId id="999" r:id="rId24"/>
    <p:sldId id="1050" r:id="rId25"/>
    <p:sldId id="1000" r:id="rId26"/>
    <p:sldId id="1051" r:id="rId27"/>
    <p:sldId id="1110" r:id="rId28"/>
    <p:sldId id="1098" r:id="rId29"/>
    <p:sldId id="1002" r:id="rId30"/>
    <p:sldId id="1003" r:id="rId31"/>
    <p:sldId id="1018" r:id="rId32"/>
    <p:sldId id="1019" r:id="rId33"/>
    <p:sldId id="1020" r:id="rId34"/>
    <p:sldId id="1021" r:id="rId35"/>
    <p:sldId id="1022" r:id="rId36"/>
    <p:sldId id="1023" r:id="rId37"/>
    <p:sldId id="1025" r:id="rId38"/>
    <p:sldId id="1073" r:id="rId39"/>
    <p:sldId id="1063" r:id="rId40"/>
    <p:sldId id="1024" r:id="rId41"/>
    <p:sldId id="1026" r:id="rId42"/>
    <p:sldId id="1029" r:id="rId43"/>
    <p:sldId id="1104" r:id="rId44"/>
    <p:sldId id="1105" r:id="rId45"/>
    <p:sldId id="1106" r:id="rId46"/>
    <p:sldId id="1107" r:id="rId47"/>
    <p:sldId id="1108" r:id="rId48"/>
    <p:sldId id="1100" r:id="rId49"/>
    <p:sldId id="1101" r:id="rId50"/>
    <p:sldId id="1102" r:id="rId51"/>
    <p:sldId id="1103" r:id="rId52"/>
    <p:sldId id="1099" r:id="rId53"/>
    <p:sldId id="1062" r:id="rId54"/>
    <p:sldId id="1072" r:id="rId55"/>
    <p:sldId id="1027" r:id="rId56"/>
    <p:sldId id="1095" r:id="rId57"/>
    <p:sldId id="1065" r:id="rId58"/>
    <p:sldId id="1059" r:id="rId59"/>
    <p:sldId id="1067" r:id="rId60"/>
    <p:sldId id="1066" r:id="rId61"/>
    <p:sldId id="1080" r:id="rId62"/>
    <p:sldId id="1091" r:id="rId63"/>
    <p:sldId id="1109" r:id="rId64"/>
    <p:sldId id="1114" r:id="rId65"/>
    <p:sldId id="1057" r:id="rId66"/>
    <p:sldId id="1046" r:id="rId67"/>
    <p:sldId id="1058" r:id="rId68"/>
    <p:sldId id="1074" r:id="rId69"/>
    <p:sldId id="1078" r:id="rId70"/>
    <p:sldId id="1077" r:id="rId71"/>
    <p:sldId id="1075" r:id="rId72"/>
    <p:sldId id="1076" r:id="rId73"/>
  </p:sldIdLst>
  <p:sldSz cx="12192000" cy="6858000"/>
  <p:notesSz cx="6794500" cy="9931400"/>
  <p:custDataLst>
    <p:tags r:id="rId76"/>
  </p:custDataLst>
  <p:defaultTextStyle>
    <a:defPPr>
      <a:defRPr lang="en-US"/>
    </a:defPPr>
    <a:lvl1pPr algn="l" rtl="0" fontAlgn="base">
      <a:spcBef>
        <a:spcPct val="0"/>
      </a:spcBef>
      <a:spcAft>
        <a:spcPct val="0"/>
      </a:spcAft>
      <a:defRPr kern="1200">
        <a:solidFill>
          <a:schemeClr val="tx1"/>
        </a:solidFill>
        <a:latin typeface="Tahoma" pitchFamily="34" charset="0"/>
        <a:ea typeface="+mn-ea"/>
        <a:cs typeface="Arial" charset="0"/>
      </a:defRPr>
    </a:lvl1pPr>
    <a:lvl2pPr marL="457200" algn="l" rtl="0" fontAlgn="base">
      <a:spcBef>
        <a:spcPct val="0"/>
      </a:spcBef>
      <a:spcAft>
        <a:spcPct val="0"/>
      </a:spcAft>
      <a:defRPr kern="1200">
        <a:solidFill>
          <a:schemeClr val="tx1"/>
        </a:solidFill>
        <a:latin typeface="Tahoma" pitchFamily="34" charset="0"/>
        <a:ea typeface="+mn-ea"/>
        <a:cs typeface="Arial" charset="0"/>
      </a:defRPr>
    </a:lvl2pPr>
    <a:lvl3pPr marL="914400" algn="l" rtl="0" fontAlgn="base">
      <a:spcBef>
        <a:spcPct val="0"/>
      </a:spcBef>
      <a:spcAft>
        <a:spcPct val="0"/>
      </a:spcAft>
      <a:defRPr kern="1200">
        <a:solidFill>
          <a:schemeClr val="tx1"/>
        </a:solidFill>
        <a:latin typeface="Tahoma" pitchFamily="34" charset="0"/>
        <a:ea typeface="+mn-ea"/>
        <a:cs typeface="Arial" charset="0"/>
      </a:defRPr>
    </a:lvl3pPr>
    <a:lvl4pPr marL="1371600" algn="l" rtl="0" fontAlgn="base">
      <a:spcBef>
        <a:spcPct val="0"/>
      </a:spcBef>
      <a:spcAft>
        <a:spcPct val="0"/>
      </a:spcAft>
      <a:defRPr kern="1200">
        <a:solidFill>
          <a:schemeClr val="tx1"/>
        </a:solidFill>
        <a:latin typeface="Tahoma" pitchFamily="34" charset="0"/>
        <a:ea typeface="+mn-ea"/>
        <a:cs typeface="Arial" charset="0"/>
      </a:defRPr>
    </a:lvl4pPr>
    <a:lvl5pPr marL="1828800" algn="l" rtl="0" fontAlgn="base">
      <a:spcBef>
        <a:spcPct val="0"/>
      </a:spcBef>
      <a:spcAft>
        <a:spcPct val="0"/>
      </a:spcAft>
      <a:defRPr kern="1200">
        <a:solidFill>
          <a:schemeClr val="tx1"/>
        </a:solidFill>
        <a:latin typeface="Tahoma" pitchFamily="34" charset="0"/>
        <a:ea typeface="+mn-ea"/>
        <a:cs typeface="Arial" charset="0"/>
      </a:defRPr>
    </a:lvl5pPr>
    <a:lvl6pPr marL="2286000" algn="l" defTabSz="914400" rtl="0" eaLnBrk="1" latinLnBrk="0" hangingPunct="1">
      <a:defRPr kern="1200">
        <a:solidFill>
          <a:schemeClr val="tx1"/>
        </a:solidFill>
        <a:latin typeface="Tahoma" pitchFamily="34" charset="0"/>
        <a:ea typeface="+mn-ea"/>
        <a:cs typeface="Arial" charset="0"/>
      </a:defRPr>
    </a:lvl6pPr>
    <a:lvl7pPr marL="2743200" algn="l" defTabSz="914400" rtl="0" eaLnBrk="1" latinLnBrk="0" hangingPunct="1">
      <a:defRPr kern="1200">
        <a:solidFill>
          <a:schemeClr val="tx1"/>
        </a:solidFill>
        <a:latin typeface="Tahoma" pitchFamily="34" charset="0"/>
        <a:ea typeface="+mn-ea"/>
        <a:cs typeface="Arial" charset="0"/>
      </a:defRPr>
    </a:lvl7pPr>
    <a:lvl8pPr marL="3200400" algn="l" defTabSz="914400" rtl="0" eaLnBrk="1" latinLnBrk="0" hangingPunct="1">
      <a:defRPr kern="1200">
        <a:solidFill>
          <a:schemeClr val="tx1"/>
        </a:solidFill>
        <a:latin typeface="Tahoma" pitchFamily="34" charset="0"/>
        <a:ea typeface="+mn-ea"/>
        <a:cs typeface="Arial" charset="0"/>
      </a:defRPr>
    </a:lvl8pPr>
    <a:lvl9pPr marL="3657600" algn="l" defTabSz="914400" rtl="0" eaLnBrk="1" latinLnBrk="0" hangingPunct="1">
      <a:defRPr kern="1200">
        <a:solidFill>
          <a:schemeClr val="tx1"/>
        </a:solidFill>
        <a:latin typeface="Tahoma" pitchFamily="34" charset="0"/>
        <a:ea typeface="+mn-ea"/>
        <a:cs typeface="Arial" charset="0"/>
      </a:defRPr>
    </a:lvl9pPr>
  </p:defaultTextStyle>
  <p:extLst>
    <p:ext uri="{EFAFB233-063F-42B5-8137-9DF3F51BA10A}">
      <p15:sldGuideLst xmlns:p15="http://schemas.microsoft.com/office/powerpoint/2012/main">
        <p15:guide id="1" orient="horz" pos="4069" userDrawn="1">
          <p15:clr>
            <a:srgbClr val="A4A3A4"/>
          </p15:clr>
        </p15:guide>
        <p15:guide id="2" pos="7040" userDrawn="1">
          <p15:clr>
            <a:srgbClr val="A4A3A4"/>
          </p15:clr>
        </p15:guide>
      </p15:sldGuideLst>
    </p:ext>
    <p:ext uri="{2D200454-40CA-4A62-9FC3-DE9A4176ACB9}">
      <p15:notesGuideLst xmlns:p15="http://schemas.microsoft.com/office/powerpoint/2012/main">
        <p15:guide id="1" orient="horz" pos="3128">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FFFF99"/>
    <a:srgbClr val="FF33CC"/>
    <a:srgbClr val="00FF00"/>
    <a:srgbClr val="8ECBDF"/>
    <a:srgbClr val="8FB0D3"/>
    <a:srgbClr val="00A2BA"/>
    <a:srgbClr val="003B74"/>
    <a:srgbClr val="7FC6B8"/>
    <a:srgbClr val="BB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29" autoAdjust="0"/>
    <p:restoredTop sz="90476" autoAdjust="0"/>
  </p:normalViewPr>
  <p:slideViewPr>
    <p:cSldViewPr>
      <p:cViewPr varScale="1">
        <p:scale>
          <a:sx n="96" d="100"/>
          <a:sy n="96" d="100"/>
        </p:scale>
        <p:origin x="168" y="584"/>
      </p:cViewPr>
      <p:guideLst>
        <p:guide orient="horz" pos="4069"/>
        <p:guide pos="70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33" d="100"/>
        <a:sy n="33" d="100"/>
      </p:scale>
      <p:origin x="0" y="0"/>
    </p:cViewPr>
  </p:sorterViewPr>
  <p:notesViewPr>
    <p:cSldViewPr>
      <p:cViewPr>
        <p:scale>
          <a:sx n="100" d="100"/>
          <a:sy n="100" d="100"/>
        </p:scale>
        <p:origin x="-2124" y="450"/>
      </p:cViewPr>
      <p:guideLst>
        <p:guide orient="horz" pos="3128"/>
        <p:guide pos="214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xPr>
        <a:bodyPr/>
        <a:lstStyle/>
        <a:p>
          <a:pPr>
            <a:defRPr sz="1600"/>
          </a:pPr>
          <a:endParaRPr lang="en-US"/>
        </a:p>
      </c:txPr>
    </c:title>
    <c:autoTitleDeleted val="0"/>
    <c:plotArea>
      <c:layout/>
      <c:pieChart>
        <c:varyColors val="1"/>
        <c:ser>
          <c:idx val="0"/>
          <c:order val="0"/>
          <c:tx>
            <c:strRef>
              <c:f>Sheet1!$B$1</c:f>
              <c:strCache>
                <c:ptCount val="1"/>
                <c:pt idx="0">
                  <c:v>%MTOW</c:v>
                </c:pt>
              </c:strCache>
            </c:strRef>
          </c:tx>
          <c:spPr>
            <a:ln>
              <a:solidFill>
                <a:schemeClr val="tx1"/>
              </a:solidFill>
            </a:ln>
          </c:spPr>
          <c:explosion val="2"/>
          <c:cat>
            <c:strRef>
              <c:f>Sheet1!$A$2:$A$4</c:f>
              <c:strCache>
                <c:ptCount val="3"/>
                <c:pt idx="0">
                  <c:v>payload</c:v>
                </c:pt>
                <c:pt idx="1">
                  <c:v>OEW</c:v>
                </c:pt>
                <c:pt idx="2">
                  <c:v>fuel</c:v>
                </c:pt>
              </c:strCache>
            </c:strRef>
          </c:cat>
          <c:val>
            <c:numRef>
              <c:f>Sheet1!$B$2:$B$4</c:f>
              <c:numCache>
                <c:formatCode>General</c:formatCode>
                <c:ptCount val="3"/>
                <c:pt idx="0">
                  <c:v>20</c:v>
                </c:pt>
                <c:pt idx="1">
                  <c:v>50</c:v>
                </c:pt>
                <c:pt idx="2">
                  <c:v>30</c:v>
                </c:pt>
              </c:numCache>
            </c:numRef>
          </c:val>
          <c:extLst>
            <c:ext xmlns:c16="http://schemas.microsoft.com/office/drawing/2014/chart" uri="{C3380CC4-5D6E-409C-BE32-E72D297353CC}">
              <c16:uniqueId val="{00000000-3A6B-4BE2-9D87-79908AF1FDDF}"/>
            </c:ext>
          </c:extLst>
        </c:ser>
        <c:dLbls>
          <c:showLegendKey val="0"/>
          <c:showVal val="0"/>
          <c:showCatName val="0"/>
          <c:showSerName val="0"/>
          <c:showPercent val="0"/>
          <c:showBubbleSize val="0"/>
          <c:showLeaderLines val="1"/>
        </c:dLbls>
        <c:firstSliceAng val="0"/>
      </c:pieChart>
    </c:plotArea>
    <c:legend>
      <c:legendPos val="r"/>
      <c:overlay val="0"/>
      <c:txPr>
        <a:bodyPr/>
        <a:lstStyle/>
        <a:p>
          <a:pPr>
            <a:defRPr sz="1200"/>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xPr>
        <a:bodyPr/>
        <a:lstStyle/>
        <a:p>
          <a:pPr>
            <a:defRPr sz="600"/>
          </a:pPr>
          <a:endParaRPr lang="en-US"/>
        </a:p>
      </c:txPr>
    </c:title>
    <c:autoTitleDeleted val="0"/>
    <c:plotArea>
      <c:layout>
        <c:manualLayout>
          <c:layoutTarget val="inner"/>
          <c:xMode val="edge"/>
          <c:yMode val="edge"/>
          <c:x val="0.17046359928261939"/>
          <c:y val="0.23755755796158207"/>
          <c:w val="0.60868157506308818"/>
          <c:h val="0.64497206609957991"/>
        </c:manualLayout>
      </c:layout>
      <c:pieChart>
        <c:varyColors val="1"/>
        <c:ser>
          <c:idx val="0"/>
          <c:order val="0"/>
          <c:tx>
            <c:strRef>
              <c:f>Sheet1!$B$1</c:f>
              <c:strCache>
                <c:ptCount val="1"/>
                <c:pt idx="0">
                  <c:v>%MTOW</c:v>
                </c:pt>
              </c:strCache>
            </c:strRef>
          </c:tx>
          <c:spPr>
            <a:ln>
              <a:solidFill>
                <a:schemeClr val="tx1"/>
              </a:solidFill>
            </a:ln>
          </c:spPr>
          <c:cat>
            <c:strRef>
              <c:f>Sheet1!$A$2:$A$4</c:f>
              <c:strCache>
                <c:ptCount val="3"/>
                <c:pt idx="0">
                  <c:v>payload</c:v>
                </c:pt>
                <c:pt idx="1">
                  <c:v>OEW</c:v>
                </c:pt>
                <c:pt idx="2">
                  <c:v>fuel</c:v>
                </c:pt>
              </c:strCache>
            </c:strRef>
          </c:cat>
          <c:val>
            <c:numRef>
              <c:f>Sheet1!$B$2:$B$4</c:f>
              <c:numCache>
                <c:formatCode>General</c:formatCode>
                <c:ptCount val="3"/>
                <c:pt idx="0">
                  <c:v>20</c:v>
                </c:pt>
                <c:pt idx="1">
                  <c:v>50</c:v>
                </c:pt>
                <c:pt idx="2">
                  <c:v>30</c:v>
                </c:pt>
              </c:numCache>
            </c:numRef>
          </c:val>
          <c:extLst>
            <c:ext xmlns:c16="http://schemas.microsoft.com/office/drawing/2014/chart" uri="{C3380CC4-5D6E-409C-BE32-E72D297353CC}">
              <c16:uniqueId val="{00000000-42D5-460D-A6AD-765E43EE900D}"/>
            </c:ext>
          </c:extLst>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xPr>
        <a:bodyPr/>
        <a:lstStyle/>
        <a:p>
          <a:pPr>
            <a:defRPr sz="1600"/>
          </a:pPr>
          <a:endParaRPr lang="en-US"/>
        </a:p>
      </c:txPr>
    </c:title>
    <c:autoTitleDeleted val="0"/>
    <c:plotArea>
      <c:layout/>
      <c:pieChart>
        <c:varyColors val="1"/>
        <c:ser>
          <c:idx val="0"/>
          <c:order val="0"/>
          <c:tx>
            <c:strRef>
              <c:f>Sheet1!$B$1</c:f>
              <c:strCache>
                <c:ptCount val="1"/>
                <c:pt idx="0">
                  <c:v>%MTOW</c:v>
                </c:pt>
              </c:strCache>
            </c:strRef>
          </c:tx>
          <c:spPr>
            <a:ln>
              <a:solidFill>
                <a:schemeClr val="tx1"/>
              </a:solidFill>
            </a:ln>
          </c:spPr>
          <c:explosion val="2"/>
          <c:cat>
            <c:strRef>
              <c:f>Sheet1!$A$2:$A$4</c:f>
              <c:strCache>
                <c:ptCount val="3"/>
                <c:pt idx="0">
                  <c:v>payload</c:v>
                </c:pt>
                <c:pt idx="1">
                  <c:v>OEW</c:v>
                </c:pt>
                <c:pt idx="2">
                  <c:v>fuel</c:v>
                </c:pt>
              </c:strCache>
            </c:strRef>
          </c:cat>
          <c:val>
            <c:numRef>
              <c:f>Sheet1!$B$2:$B$4</c:f>
              <c:numCache>
                <c:formatCode>General</c:formatCode>
                <c:ptCount val="3"/>
                <c:pt idx="0">
                  <c:v>20</c:v>
                </c:pt>
                <c:pt idx="1">
                  <c:v>50</c:v>
                </c:pt>
                <c:pt idx="2">
                  <c:v>30</c:v>
                </c:pt>
              </c:numCache>
            </c:numRef>
          </c:val>
          <c:extLst>
            <c:ext xmlns:c16="http://schemas.microsoft.com/office/drawing/2014/chart" uri="{C3380CC4-5D6E-409C-BE32-E72D297353CC}">
              <c16:uniqueId val="{00000000-01B8-4A10-BCB7-2B49984919CD}"/>
            </c:ext>
          </c:extLst>
        </c:ser>
        <c:dLbls>
          <c:showLegendKey val="0"/>
          <c:showVal val="0"/>
          <c:showCatName val="0"/>
          <c:showSerName val="0"/>
          <c:showPercent val="0"/>
          <c:showBubbleSize val="0"/>
          <c:showLeaderLines val="1"/>
        </c:dLbls>
        <c:firstSliceAng val="0"/>
      </c:pieChart>
    </c:plotArea>
    <c:legend>
      <c:legendPos val="r"/>
      <c:overlay val="0"/>
      <c:txPr>
        <a:bodyPr/>
        <a:lstStyle/>
        <a:p>
          <a:pPr>
            <a:defRPr sz="1200"/>
          </a:pPr>
          <a:endParaRPr lang="en-US"/>
        </a:p>
      </c:txPr>
    </c:legend>
    <c:plotVisOnly val="1"/>
    <c:dispBlanksAs val="gap"/>
    <c:showDLblsOverMax val="0"/>
  </c:chart>
  <c:spPr>
    <a:solidFill>
      <a:schemeClr val="bg1"/>
    </a:solidFill>
    <a:ln>
      <a:solidFill>
        <a:schemeClr val="tx1"/>
      </a:solidFill>
    </a:ln>
    <a:effectLst>
      <a:outerShdw blurRad="50800" dist="38100" dir="2700000" algn="tl" rotWithShape="0">
        <a:prstClr val="black">
          <a:alpha val="40000"/>
        </a:prstClr>
      </a:outerShdw>
    </a:effectLst>
    <a:scene3d>
      <a:camera prst="orthographicFront"/>
      <a:lightRig rig="threePt" dir="t"/>
    </a:scene3d>
    <a:sp3d>
      <a:bevelT w="190500" h="38100"/>
    </a:sp3d>
  </c:spPr>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xPr>
        <a:bodyPr/>
        <a:lstStyle/>
        <a:p>
          <a:pPr>
            <a:defRPr sz="600"/>
          </a:pPr>
          <a:endParaRPr lang="en-US"/>
        </a:p>
      </c:txPr>
    </c:title>
    <c:autoTitleDeleted val="0"/>
    <c:plotArea>
      <c:layout>
        <c:manualLayout>
          <c:layoutTarget val="inner"/>
          <c:xMode val="edge"/>
          <c:yMode val="edge"/>
          <c:x val="0.17046359928261939"/>
          <c:y val="0.23755755796158207"/>
          <c:w val="0.60868157506308818"/>
          <c:h val="0.64497206609957991"/>
        </c:manualLayout>
      </c:layout>
      <c:pieChart>
        <c:varyColors val="1"/>
        <c:ser>
          <c:idx val="0"/>
          <c:order val="0"/>
          <c:tx>
            <c:strRef>
              <c:f>Sheet1!$B$1</c:f>
              <c:strCache>
                <c:ptCount val="1"/>
                <c:pt idx="0">
                  <c:v>%MTOW</c:v>
                </c:pt>
              </c:strCache>
            </c:strRef>
          </c:tx>
          <c:spPr>
            <a:ln>
              <a:solidFill>
                <a:schemeClr val="tx1"/>
              </a:solidFill>
            </a:ln>
          </c:spPr>
          <c:cat>
            <c:strRef>
              <c:f>Sheet1!$A$2:$A$4</c:f>
              <c:strCache>
                <c:ptCount val="3"/>
                <c:pt idx="0">
                  <c:v>payload</c:v>
                </c:pt>
                <c:pt idx="1">
                  <c:v>OEW</c:v>
                </c:pt>
                <c:pt idx="2">
                  <c:v>fuel</c:v>
                </c:pt>
              </c:strCache>
            </c:strRef>
          </c:cat>
          <c:val>
            <c:numRef>
              <c:f>Sheet1!$B$2:$B$4</c:f>
              <c:numCache>
                <c:formatCode>General</c:formatCode>
                <c:ptCount val="3"/>
                <c:pt idx="0">
                  <c:v>20</c:v>
                </c:pt>
                <c:pt idx="1">
                  <c:v>50</c:v>
                </c:pt>
                <c:pt idx="2">
                  <c:v>30</c:v>
                </c:pt>
              </c:numCache>
            </c:numRef>
          </c:val>
          <c:extLst>
            <c:ext xmlns:c16="http://schemas.microsoft.com/office/drawing/2014/chart" uri="{C3380CC4-5D6E-409C-BE32-E72D297353CC}">
              <c16:uniqueId val="{00000000-AD4E-4EEE-AB12-4F250767317B}"/>
            </c:ext>
          </c:extLst>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CD9563-D010-9345-9CD3-2D949E5E1B3B}" type="doc">
      <dgm:prSet loTypeId="urn:microsoft.com/office/officeart/2005/8/layout/funnel1" loCatId="" qsTypeId="urn:microsoft.com/office/officeart/2005/8/quickstyle/3d3" qsCatId="3D" csTypeId="urn:microsoft.com/office/officeart/2005/8/colors/accent1_2" csCatId="accent1" phldr="1"/>
      <dgm:spPr/>
      <dgm:t>
        <a:bodyPr/>
        <a:lstStyle/>
        <a:p>
          <a:endParaRPr lang="en-GB"/>
        </a:p>
      </dgm:t>
    </dgm:pt>
    <dgm:pt modelId="{1FBBA1C6-7C09-DB49-BA7C-A8B8C514AC5A}">
      <dgm:prSet phldrT="[Text]"/>
      <dgm:spPr/>
      <dgm:t>
        <a:bodyPr/>
        <a:lstStyle/>
        <a:p>
          <a:r>
            <a:rPr lang="en-GB" dirty="0"/>
            <a:t>Weight uncertainty</a:t>
          </a:r>
        </a:p>
      </dgm:t>
    </dgm:pt>
    <dgm:pt modelId="{147D5F94-8771-E04E-9117-092C27DFBD66}" type="parTrans" cxnId="{064602E9-AC7A-0B44-B9C2-23655378CBE0}">
      <dgm:prSet/>
      <dgm:spPr/>
      <dgm:t>
        <a:bodyPr/>
        <a:lstStyle/>
        <a:p>
          <a:endParaRPr lang="en-GB"/>
        </a:p>
      </dgm:t>
    </dgm:pt>
    <dgm:pt modelId="{4CE2191B-84B9-CF49-8CDE-1997AA88F916}" type="sibTrans" cxnId="{064602E9-AC7A-0B44-B9C2-23655378CBE0}">
      <dgm:prSet/>
      <dgm:spPr/>
      <dgm:t>
        <a:bodyPr/>
        <a:lstStyle/>
        <a:p>
          <a:endParaRPr lang="en-GB"/>
        </a:p>
      </dgm:t>
    </dgm:pt>
    <dgm:pt modelId="{D87F463A-58F1-7E47-AA58-9373EE3D25D8}">
      <dgm:prSet phldrT="[Text]"/>
      <dgm:spPr/>
      <dgm:t>
        <a:bodyPr/>
        <a:lstStyle/>
        <a:p>
          <a:r>
            <a:rPr lang="en-GB" dirty="0"/>
            <a:t>MTOW</a:t>
          </a:r>
        </a:p>
      </dgm:t>
    </dgm:pt>
    <dgm:pt modelId="{DE4DABA2-5B2A-C14C-80C9-8CBDA7EAE385}" type="parTrans" cxnId="{B9671FEB-5641-FD4B-93C9-15E5086705E1}">
      <dgm:prSet/>
      <dgm:spPr/>
      <dgm:t>
        <a:bodyPr/>
        <a:lstStyle/>
        <a:p>
          <a:endParaRPr lang="en-GB"/>
        </a:p>
      </dgm:t>
    </dgm:pt>
    <dgm:pt modelId="{CCE56ADC-3B5F-6C4C-BFB0-4E4D3769DB9F}" type="sibTrans" cxnId="{B9671FEB-5641-FD4B-93C9-15E5086705E1}">
      <dgm:prSet/>
      <dgm:spPr/>
      <dgm:t>
        <a:bodyPr/>
        <a:lstStyle/>
        <a:p>
          <a:endParaRPr lang="en-GB"/>
        </a:p>
      </dgm:t>
    </dgm:pt>
    <dgm:pt modelId="{A8279FF0-EFD7-AA48-B77C-3A8CE8152A3B}" type="pres">
      <dgm:prSet presAssocID="{ECCD9563-D010-9345-9CD3-2D949E5E1B3B}" presName="Name0" presStyleCnt="0">
        <dgm:presLayoutVars>
          <dgm:chMax val="4"/>
          <dgm:resizeHandles val="exact"/>
        </dgm:presLayoutVars>
      </dgm:prSet>
      <dgm:spPr/>
    </dgm:pt>
    <dgm:pt modelId="{6CFCF268-507E-2742-999E-623C7CDBA1E9}" type="pres">
      <dgm:prSet presAssocID="{ECCD9563-D010-9345-9CD3-2D949E5E1B3B}" presName="ellipse" presStyleLbl="trBgShp" presStyleIdx="0" presStyleCnt="1"/>
      <dgm:spPr/>
    </dgm:pt>
    <dgm:pt modelId="{5B15FE35-7E94-924F-9B80-DCC33FD78337}" type="pres">
      <dgm:prSet presAssocID="{ECCD9563-D010-9345-9CD3-2D949E5E1B3B}" presName="arrow1" presStyleLbl="fgShp" presStyleIdx="0" presStyleCnt="1"/>
      <dgm:spPr/>
    </dgm:pt>
    <dgm:pt modelId="{6317ECF9-E4F9-C54D-A083-05BE71064FB3}" type="pres">
      <dgm:prSet presAssocID="{ECCD9563-D010-9345-9CD3-2D949E5E1B3B}" presName="rectangle" presStyleLbl="revTx" presStyleIdx="0" presStyleCnt="1" custLinFactNeighborX="-4055" custLinFactNeighborY="9039">
        <dgm:presLayoutVars>
          <dgm:bulletEnabled val="1"/>
        </dgm:presLayoutVars>
      </dgm:prSet>
      <dgm:spPr/>
    </dgm:pt>
    <dgm:pt modelId="{0AE68EA2-47F3-5C4E-A312-4B63AA583540}" type="pres">
      <dgm:prSet presAssocID="{D87F463A-58F1-7E47-AA58-9373EE3D25D8}" presName="item1" presStyleLbl="node1" presStyleIdx="0" presStyleCnt="1" custLinFactNeighborX="15769" custLinFactNeighborY="-2239">
        <dgm:presLayoutVars>
          <dgm:bulletEnabled val="1"/>
        </dgm:presLayoutVars>
      </dgm:prSet>
      <dgm:spPr/>
    </dgm:pt>
    <dgm:pt modelId="{0BA253A1-40E4-094E-9C05-B25131AB9F32}" type="pres">
      <dgm:prSet presAssocID="{ECCD9563-D010-9345-9CD3-2D949E5E1B3B}" presName="funnel" presStyleLbl="trAlignAcc1" presStyleIdx="0" presStyleCnt="1"/>
      <dgm:spPr/>
    </dgm:pt>
  </dgm:ptLst>
  <dgm:cxnLst>
    <dgm:cxn modelId="{A2175D0C-B6FD-A84A-BC46-B69E123CDAEA}" type="presOf" srcId="{ECCD9563-D010-9345-9CD3-2D949E5E1B3B}" destId="{A8279FF0-EFD7-AA48-B77C-3A8CE8152A3B}" srcOrd="0" destOrd="0" presId="urn:microsoft.com/office/officeart/2005/8/layout/funnel1"/>
    <dgm:cxn modelId="{C399761D-453D-3E45-A65F-E9B2A12E490D}" type="presOf" srcId="{1FBBA1C6-7C09-DB49-BA7C-A8B8C514AC5A}" destId="{0AE68EA2-47F3-5C4E-A312-4B63AA583540}" srcOrd="0" destOrd="0" presId="urn:microsoft.com/office/officeart/2005/8/layout/funnel1"/>
    <dgm:cxn modelId="{064602E9-AC7A-0B44-B9C2-23655378CBE0}" srcId="{ECCD9563-D010-9345-9CD3-2D949E5E1B3B}" destId="{1FBBA1C6-7C09-DB49-BA7C-A8B8C514AC5A}" srcOrd="0" destOrd="0" parTransId="{147D5F94-8771-E04E-9117-092C27DFBD66}" sibTransId="{4CE2191B-84B9-CF49-8CDE-1997AA88F916}"/>
    <dgm:cxn modelId="{B9671FEB-5641-FD4B-93C9-15E5086705E1}" srcId="{ECCD9563-D010-9345-9CD3-2D949E5E1B3B}" destId="{D87F463A-58F1-7E47-AA58-9373EE3D25D8}" srcOrd="1" destOrd="0" parTransId="{DE4DABA2-5B2A-C14C-80C9-8CBDA7EAE385}" sibTransId="{CCE56ADC-3B5F-6C4C-BFB0-4E4D3769DB9F}"/>
    <dgm:cxn modelId="{AC0520EC-C768-1448-87C4-4CE0FD0AA0C7}" type="presOf" srcId="{D87F463A-58F1-7E47-AA58-9373EE3D25D8}" destId="{6317ECF9-E4F9-C54D-A083-05BE71064FB3}" srcOrd="0" destOrd="0" presId="urn:microsoft.com/office/officeart/2005/8/layout/funnel1"/>
    <dgm:cxn modelId="{17C594A1-82D3-284C-9CD8-00D4010F0AD2}" type="presParOf" srcId="{A8279FF0-EFD7-AA48-B77C-3A8CE8152A3B}" destId="{6CFCF268-507E-2742-999E-623C7CDBA1E9}" srcOrd="0" destOrd="0" presId="urn:microsoft.com/office/officeart/2005/8/layout/funnel1"/>
    <dgm:cxn modelId="{48136881-00A3-B349-9BD9-3F6BA62B3F36}" type="presParOf" srcId="{A8279FF0-EFD7-AA48-B77C-3A8CE8152A3B}" destId="{5B15FE35-7E94-924F-9B80-DCC33FD78337}" srcOrd="1" destOrd="0" presId="urn:microsoft.com/office/officeart/2005/8/layout/funnel1"/>
    <dgm:cxn modelId="{0A271040-D2D7-0341-88C1-CA32145F35A9}" type="presParOf" srcId="{A8279FF0-EFD7-AA48-B77C-3A8CE8152A3B}" destId="{6317ECF9-E4F9-C54D-A083-05BE71064FB3}" srcOrd="2" destOrd="0" presId="urn:microsoft.com/office/officeart/2005/8/layout/funnel1"/>
    <dgm:cxn modelId="{FACEB3D8-44A7-0F46-8BDB-E3B706E55154}" type="presParOf" srcId="{A8279FF0-EFD7-AA48-B77C-3A8CE8152A3B}" destId="{0AE68EA2-47F3-5C4E-A312-4B63AA583540}" srcOrd="3" destOrd="0" presId="urn:microsoft.com/office/officeart/2005/8/layout/funnel1"/>
    <dgm:cxn modelId="{576FF44E-9097-F140-9E0B-B159E1523D53}" type="presParOf" srcId="{A8279FF0-EFD7-AA48-B77C-3A8CE8152A3B}" destId="{0BA253A1-40E4-094E-9C05-B25131AB9F32}" srcOrd="4"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1E2F09-4CA9-4871-BEB3-171E0218B79B}" type="doc">
      <dgm:prSet loTypeId="urn:microsoft.com/office/officeart/2005/8/layout/hChevron3" loCatId="process" qsTypeId="urn:microsoft.com/office/officeart/2005/8/quickstyle/simple1" qsCatId="simple" csTypeId="urn:microsoft.com/office/officeart/2005/8/colors/accent0_2" csCatId="mainScheme" phldr="1"/>
      <dgm:spPr/>
    </dgm:pt>
    <dgm:pt modelId="{61138F52-F5DF-435A-B3F3-B062FF37C7A5}">
      <dgm:prSet phldrT="[Text]" custT="1"/>
      <dgm:spPr>
        <a:solidFill>
          <a:schemeClr val="bg2">
            <a:lumMod val="40000"/>
            <a:lumOff val="60000"/>
          </a:schemeClr>
        </a:solidFill>
      </dgm:spPr>
      <dgm:t>
        <a:bodyPr/>
        <a:lstStyle/>
        <a:p>
          <a:r>
            <a:rPr lang="en-US" sz="1600" dirty="0"/>
            <a:t>Conceptual design</a:t>
          </a:r>
        </a:p>
      </dgm:t>
    </dgm:pt>
    <dgm:pt modelId="{70EFBED3-5687-427C-A9B6-8B2D3C5D6B68}" type="parTrans" cxnId="{6AE9A7BC-A67F-48AD-BD9A-7CCAA02534CF}">
      <dgm:prSet/>
      <dgm:spPr/>
      <dgm:t>
        <a:bodyPr/>
        <a:lstStyle/>
        <a:p>
          <a:endParaRPr lang="en-US" sz="1200"/>
        </a:p>
      </dgm:t>
    </dgm:pt>
    <dgm:pt modelId="{66B18AF9-4DA2-4A13-9025-DC0746963A5F}" type="sibTrans" cxnId="{6AE9A7BC-A67F-48AD-BD9A-7CCAA02534CF}">
      <dgm:prSet/>
      <dgm:spPr/>
      <dgm:t>
        <a:bodyPr/>
        <a:lstStyle/>
        <a:p>
          <a:endParaRPr lang="en-US" sz="1200"/>
        </a:p>
      </dgm:t>
    </dgm:pt>
    <dgm:pt modelId="{3ECCF969-61E1-464B-85F2-479BD5851010}">
      <dgm:prSet phldrT="[Text]" custT="1"/>
      <dgm:spPr/>
      <dgm:t>
        <a:bodyPr/>
        <a:lstStyle/>
        <a:p>
          <a:r>
            <a:rPr lang="en-US" sz="1600" dirty="0"/>
            <a:t>Preliminary design</a:t>
          </a:r>
        </a:p>
      </dgm:t>
    </dgm:pt>
    <dgm:pt modelId="{66DA3330-F82C-4522-9E47-98ACB6722C93}" type="parTrans" cxnId="{2A40A41E-2394-4F0F-9174-05603D788C9B}">
      <dgm:prSet/>
      <dgm:spPr/>
      <dgm:t>
        <a:bodyPr/>
        <a:lstStyle/>
        <a:p>
          <a:endParaRPr lang="en-US" sz="1200"/>
        </a:p>
      </dgm:t>
    </dgm:pt>
    <dgm:pt modelId="{9EBDD37F-B529-49F4-8801-53AC520BF9D9}" type="sibTrans" cxnId="{2A40A41E-2394-4F0F-9174-05603D788C9B}">
      <dgm:prSet/>
      <dgm:spPr/>
      <dgm:t>
        <a:bodyPr/>
        <a:lstStyle/>
        <a:p>
          <a:endParaRPr lang="en-US" sz="1200"/>
        </a:p>
      </dgm:t>
    </dgm:pt>
    <dgm:pt modelId="{88F71769-5320-4EB5-81FC-86FA436F1080}">
      <dgm:prSet phldrT="[Text]" custT="1"/>
      <dgm:spPr/>
      <dgm:t>
        <a:bodyPr/>
        <a:lstStyle/>
        <a:p>
          <a:r>
            <a:rPr lang="en-US" sz="1600" dirty="0"/>
            <a:t>Detail design</a:t>
          </a:r>
        </a:p>
      </dgm:t>
    </dgm:pt>
    <dgm:pt modelId="{F34F789E-4654-42B6-A523-986354679137}" type="parTrans" cxnId="{3C38329D-7297-448F-A47C-200789C320F7}">
      <dgm:prSet/>
      <dgm:spPr/>
      <dgm:t>
        <a:bodyPr/>
        <a:lstStyle/>
        <a:p>
          <a:endParaRPr lang="en-US" sz="1200"/>
        </a:p>
      </dgm:t>
    </dgm:pt>
    <dgm:pt modelId="{BD17F19D-8B7C-4137-9F81-2CA93FE2087E}" type="sibTrans" cxnId="{3C38329D-7297-448F-A47C-200789C320F7}">
      <dgm:prSet/>
      <dgm:spPr/>
      <dgm:t>
        <a:bodyPr/>
        <a:lstStyle/>
        <a:p>
          <a:endParaRPr lang="en-US" sz="1200"/>
        </a:p>
      </dgm:t>
    </dgm:pt>
    <dgm:pt modelId="{8E8B6775-E8A8-4E76-B836-069D6C959C3D}" type="pres">
      <dgm:prSet presAssocID="{211E2F09-4CA9-4871-BEB3-171E0218B79B}" presName="Name0" presStyleCnt="0">
        <dgm:presLayoutVars>
          <dgm:dir/>
          <dgm:resizeHandles val="exact"/>
        </dgm:presLayoutVars>
      </dgm:prSet>
      <dgm:spPr/>
    </dgm:pt>
    <dgm:pt modelId="{411DE5E2-4B38-4AE9-818E-3924F66D6762}" type="pres">
      <dgm:prSet presAssocID="{61138F52-F5DF-435A-B3F3-B062FF37C7A5}" presName="parTxOnly" presStyleLbl="node1" presStyleIdx="0" presStyleCnt="3">
        <dgm:presLayoutVars>
          <dgm:bulletEnabled val="1"/>
        </dgm:presLayoutVars>
      </dgm:prSet>
      <dgm:spPr/>
    </dgm:pt>
    <dgm:pt modelId="{CF1C70BB-E756-4905-B4C9-5EC19B92FA75}" type="pres">
      <dgm:prSet presAssocID="{66B18AF9-4DA2-4A13-9025-DC0746963A5F}" presName="parSpace" presStyleCnt="0"/>
      <dgm:spPr/>
    </dgm:pt>
    <dgm:pt modelId="{4FCFCD73-1C94-4965-90D2-BA77F1303B24}" type="pres">
      <dgm:prSet presAssocID="{3ECCF969-61E1-464B-85F2-479BD5851010}" presName="parTxOnly" presStyleLbl="node1" presStyleIdx="1" presStyleCnt="3">
        <dgm:presLayoutVars>
          <dgm:bulletEnabled val="1"/>
        </dgm:presLayoutVars>
      </dgm:prSet>
      <dgm:spPr/>
    </dgm:pt>
    <dgm:pt modelId="{24C57522-2E82-40E1-9FCB-49CDD417EC0A}" type="pres">
      <dgm:prSet presAssocID="{9EBDD37F-B529-49F4-8801-53AC520BF9D9}" presName="parSpace" presStyleCnt="0"/>
      <dgm:spPr/>
    </dgm:pt>
    <dgm:pt modelId="{D0C73FB1-D0F4-44B5-8321-900B57BF2EE4}" type="pres">
      <dgm:prSet presAssocID="{88F71769-5320-4EB5-81FC-86FA436F1080}" presName="parTxOnly" presStyleLbl="node1" presStyleIdx="2" presStyleCnt="3">
        <dgm:presLayoutVars>
          <dgm:bulletEnabled val="1"/>
        </dgm:presLayoutVars>
      </dgm:prSet>
      <dgm:spPr/>
    </dgm:pt>
  </dgm:ptLst>
  <dgm:cxnLst>
    <dgm:cxn modelId="{2A40A41E-2394-4F0F-9174-05603D788C9B}" srcId="{211E2F09-4CA9-4871-BEB3-171E0218B79B}" destId="{3ECCF969-61E1-464B-85F2-479BD5851010}" srcOrd="1" destOrd="0" parTransId="{66DA3330-F82C-4522-9E47-98ACB6722C93}" sibTransId="{9EBDD37F-B529-49F4-8801-53AC520BF9D9}"/>
    <dgm:cxn modelId="{BB105F40-AFC2-493A-8A35-DAEA0DFBA273}" type="presOf" srcId="{61138F52-F5DF-435A-B3F3-B062FF37C7A5}" destId="{411DE5E2-4B38-4AE9-818E-3924F66D6762}" srcOrd="0" destOrd="0" presId="urn:microsoft.com/office/officeart/2005/8/layout/hChevron3"/>
    <dgm:cxn modelId="{A4C44267-2ED5-47FF-8754-670A40EFED4F}" type="presOf" srcId="{3ECCF969-61E1-464B-85F2-479BD5851010}" destId="{4FCFCD73-1C94-4965-90D2-BA77F1303B24}" srcOrd="0" destOrd="0" presId="urn:microsoft.com/office/officeart/2005/8/layout/hChevron3"/>
    <dgm:cxn modelId="{3C38329D-7297-448F-A47C-200789C320F7}" srcId="{211E2F09-4CA9-4871-BEB3-171E0218B79B}" destId="{88F71769-5320-4EB5-81FC-86FA436F1080}" srcOrd="2" destOrd="0" parTransId="{F34F789E-4654-42B6-A523-986354679137}" sibTransId="{BD17F19D-8B7C-4137-9F81-2CA93FE2087E}"/>
    <dgm:cxn modelId="{6FCCBBB3-3FDF-4DBD-82CF-C8BD38F7A504}" type="presOf" srcId="{211E2F09-4CA9-4871-BEB3-171E0218B79B}" destId="{8E8B6775-E8A8-4E76-B836-069D6C959C3D}" srcOrd="0" destOrd="0" presId="urn:microsoft.com/office/officeart/2005/8/layout/hChevron3"/>
    <dgm:cxn modelId="{6AE9A7BC-A67F-48AD-BD9A-7CCAA02534CF}" srcId="{211E2F09-4CA9-4871-BEB3-171E0218B79B}" destId="{61138F52-F5DF-435A-B3F3-B062FF37C7A5}" srcOrd="0" destOrd="0" parTransId="{70EFBED3-5687-427C-A9B6-8B2D3C5D6B68}" sibTransId="{66B18AF9-4DA2-4A13-9025-DC0746963A5F}"/>
    <dgm:cxn modelId="{DA76BEF7-BD14-4E5E-BBE2-DFD578A35880}" type="presOf" srcId="{88F71769-5320-4EB5-81FC-86FA436F1080}" destId="{D0C73FB1-D0F4-44B5-8321-900B57BF2EE4}" srcOrd="0" destOrd="0" presId="urn:microsoft.com/office/officeart/2005/8/layout/hChevron3"/>
    <dgm:cxn modelId="{030CD6FA-3F7E-4990-BDC7-C5884AD88399}" type="presParOf" srcId="{8E8B6775-E8A8-4E76-B836-069D6C959C3D}" destId="{411DE5E2-4B38-4AE9-818E-3924F66D6762}" srcOrd="0" destOrd="0" presId="urn:microsoft.com/office/officeart/2005/8/layout/hChevron3"/>
    <dgm:cxn modelId="{92FBB74F-4246-4528-B1A5-EF2243915C5D}" type="presParOf" srcId="{8E8B6775-E8A8-4E76-B836-069D6C959C3D}" destId="{CF1C70BB-E756-4905-B4C9-5EC19B92FA75}" srcOrd="1" destOrd="0" presId="urn:microsoft.com/office/officeart/2005/8/layout/hChevron3"/>
    <dgm:cxn modelId="{EBBD3100-0CB3-4313-8E71-1E52722523BE}" type="presParOf" srcId="{8E8B6775-E8A8-4E76-B836-069D6C959C3D}" destId="{4FCFCD73-1C94-4965-90D2-BA77F1303B24}" srcOrd="2" destOrd="0" presId="urn:microsoft.com/office/officeart/2005/8/layout/hChevron3"/>
    <dgm:cxn modelId="{AD026986-26B4-4129-AF5F-A53274D1E2C6}" type="presParOf" srcId="{8E8B6775-E8A8-4E76-B836-069D6C959C3D}" destId="{24C57522-2E82-40E1-9FCB-49CDD417EC0A}" srcOrd="3" destOrd="0" presId="urn:microsoft.com/office/officeart/2005/8/layout/hChevron3"/>
    <dgm:cxn modelId="{D4969CE3-E4D8-4F2D-AA77-881DAFC2819C}" type="presParOf" srcId="{8E8B6775-E8A8-4E76-B836-069D6C959C3D}" destId="{D0C73FB1-D0F4-44B5-8321-900B57BF2EE4}"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1E2F09-4CA9-4871-BEB3-171E0218B79B}" type="doc">
      <dgm:prSet loTypeId="urn:microsoft.com/office/officeart/2005/8/layout/hChevron3" loCatId="process" qsTypeId="urn:microsoft.com/office/officeart/2005/8/quickstyle/simple1" qsCatId="simple" csTypeId="urn:microsoft.com/office/officeart/2005/8/colors/accent0_2" csCatId="mainScheme" phldr="1"/>
      <dgm:spPr/>
    </dgm:pt>
    <dgm:pt modelId="{61138F52-F5DF-435A-B3F3-B062FF37C7A5}">
      <dgm:prSet phldrT="[Text]" custT="1"/>
      <dgm:spPr>
        <a:solidFill>
          <a:schemeClr val="bg2">
            <a:lumMod val="40000"/>
            <a:lumOff val="60000"/>
          </a:schemeClr>
        </a:solidFill>
      </dgm:spPr>
      <dgm:t>
        <a:bodyPr/>
        <a:lstStyle/>
        <a:p>
          <a:r>
            <a:rPr lang="en-US" sz="1600" dirty="0"/>
            <a:t>Conceptual design</a:t>
          </a:r>
        </a:p>
      </dgm:t>
    </dgm:pt>
    <dgm:pt modelId="{70EFBED3-5687-427C-A9B6-8B2D3C5D6B68}" type="parTrans" cxnId="{6AE9A7BC-A67F-48AD-BD9A-7CCAA02534CF}">
      <dgm:prSet/>
      <dgm:spPr/>
      <dgm:t>
        <a:bodyPr/>
        <a:lstStyle/>
        <a:p>
          <a:endParaRPr lang="en-US" sz="1200"/>
        </a:p>
      </dgm:t>
    </dgm:pt>
    <dgm:pt modelId="{66B18AF9-4DA2-4A13-9025-DC0746963A5F}" type="sibTrans" cxnId="{6AE9A7BC-A67F-48AD-BD9A-7CCAA02534CF}">
      <dgm:prSet/>
      <dgm:spPr/>
      <dgm:t>
        <a:bodyPr/>
        <a:lstStyle/>
        <a:p>
          <a:endParaRPr lang="en-US" sz="1200"/>
        </a:p>
      </dgm:t>
    </dgm:pt>
    <dgm:pt modelId="{3ECCF969-61E1-464B-85F2-479BD5851010}">
      <dgm:prSet phldrT="[Text]" custT="1"/>
      <dgm:spPr/>
      <dgm:t>
        <a:bodyPr/>
        <a:lstStyle/>
        <a:p>
          <a:r>
            <a:rPr lang="en-US" sz="1600" dirty="0"/>
            <a:t>Preliminary design</a:t>
          </a:r>
        </a:p>
      </dgm:t>
    </dgm:pt>
    <dgm:pt modelId="{66DA3330-F82C-4522-9E47-98ACB6722C93}" type="parTrans" cxnId="{2A40A41E-2394-4F0F-9174-05603D788C9B}">
      <dgm:prSet/>
      <dgm:spPr/>
      <dgm:t>
        <a:bodyPr/>
        <a:lstStyle/>
        <a:p>
          <a:endParaRPr lang="en-US" sz="1200"/>
        </a:p>
      </dgm:t>
    </dgm:pt>
    <dgm:pt modelId="{9EBDD37F-B529-49F4-8801-53AC520BF9D9}" type="sibTrans" cxnId="{2A40A41E-2394-4F0F-9174-05603D788C9B}">
      <dgm:prSet/>
      <dgm:spPr/>
      <dgm:t>
        <a:bodyPr/>
        <a:lstStyle/>
        <a:p>
          <a:endParaRPr lang="en-US" sz="1200"/>
        </a:p>
      </dgm:t>
    </dgm:pt>
    <dgm:pt modelId="{88F71769-5320-4EB5-81FC-86FA436F1080}">
      <dgm:prSet phldrT="[Text]" custT="1"/>
      <dgm:spPr/>
      <dgm:t>
        <a:bodyPr/>
        <a:lstStyle/>
        <a:p>
          <a:r>
            <a:rPr lang="en-US" sz="1600" dirty="0"/>
            <a:t>Detail design</a:t>
          </a:r>
        </a:p>
      </dgm:t>
    </dgm:pt>
    <dgm:pt modelId="{F34F789E-4654-42B6-A523-986354679137}" type="parTrans" cxnId="{3C38329D-7297-448F-A47C-200789C320F7}">
      <dgm:prSet/>
      <dgm:spPr/>
      <dgm:t>
        <a:bodyPr/>
        <a:lstStyle/>
        <a:p>
          <a:endParaRPr lang="en-US" sz="1200"/>
        </a:p>
      </dgm:t>
    </dgm:pt>
    <dgm:pt modelId="{BD17F19D-8B7C-4137-9F81-2CA93FE2087E}" type="sibTrans" cxnId="{3C38329D-7297-448F-A47C-200789C320F7}">
      <dgm:prSet/>
      <dgm:spPr/>
      <dgm:t>
        <a:bodyPr/>
        <a:lstStyle/>
        <a:p>
          <a:endParaRPr lang="en-US" sz="1200"/>
        </a:p>
      </dgm:t>
    </dgm:pt>
    <dgm:pt modelId="{8E8B6775-E8A8-4E76-B836-069D6C959C3D}" type="pres">
      <dgm:prSet presAssocID="{211E2F09-4CA9-4871-BEB3-171E0218B79B}" presName="Name0" presStyleCnt="0">
        <dgm:presLayoutVars>
          <dgm:dir/>
          <dgm:resizeHandles val="exact"/>
        </dgm:presLayoutVars>
      </dgm:prSet>
      <dgm:spPr/>
    </dgm:pt>
    <dgm:pt modelId="{411DE5E2-4B38-4AE9-818E-3924F66D6762}" type="pres">
      <dgm:prSet presAssocID="{61138F52-F5DF-435A-B3F3-B062FF37C7A5}" presName="parTxOnly" presStyleLbl="node1" presStyleIdx="0" presStyleCnt="3">
        <dgm:presLayoutVars>
          <dgm:bulletEnabled val="1"/>
        </dgm:presLayoutVars>
      </dgm:prSet>
      <dgm:spPr/>
    </dgm:pt>
    <dgm:pt modelId="{CF1C70BB-E756-4905-B4C9-5EC19B92FA75}" type="pres">
      <dgm:prSet presAssocID="{66B18AF9-4DA2-4A13-9025-DC0746963A5F}" presName="parSpace" presStyleCnt="0"/>
      <dgm:spPr/>
    </dgm:pt>
    <dgm:pt modelId="{4FCFCD73-1C94-4965-90D2-BA77F1303B24}" type="pres">
      <dgm:prSet presAssocID="{3ECCF969-61E1-464B-85F2-479BD5851010}" presName="parTxOnly" presStyleLbl="node1" presStyleIdx="1" presStyleCnt="3">
        <dgm:presLayoutVars>
          <dgm:bulletEnabled val="1"/>
        </dgm:presLayoutVars>
      </dgm:prSet>
      <dgm:spPr/>
    </dgm:pt>
    <dgm:pt modelId="{24C57522-2E82-40E1-9FCB-49CDD417EC0A}" type="pres">
      <dgm:prSet presAssocID="{9EBDD37F-B529-49F4-8801-53AC520BF9D9}" presName="parSpace" presStyleCnt="0"/>
      <dgm:spPr/>
    </dgm:pt>
    <dgm:pt modelId="{D0C73FB1-D0F4-44B5-8321-900B57BF2EE4}" type="pres">
      <dgm:prSet presAssocID="{88F71769-5320-4EB5-81FC-86FA436F1080}" presName="parTxOnly" presStyleLbl="node1" presStyleIdx="2" presStyleCnt="3">
        <dgm:presLayoutVars>
          <dgm:bulletEnabled val="1"/>
        </dgm:presLayoutVars>
      </dgm:prSet>
      <dgm:spPr/>
    </dgm:pt>
  </dgm:ptLst>
  <dgm:cxnLst>
    <dgm:cxn modelId="{66B2181E-E7FB-47A2-975A-E9BCCB006905}" type="presOf" srcId="{61138F52-F5DF-435A-B3F3-B062FF37C7A5}" destId="{411DE5E2-4B38-4AE9-818E-3924F66D6762}" srcOrd="0" destOrd="0" presId="urn:microsoft.com/office/officeart/2005/8/layout/hChevron3"/>
    <dgm:cxn modelId="{2A40A41E-2394-4F0F-9174-05603D788C9B}" srcId="{211E2F09-4CA9-4871-BEB3-171E0218B79B}" destId="{3ECCF969-61E1-464B-85F2-479BD5851010}" srcOrd="1" destOrd="0" parTransId="{66DA3330-F82C-4522-9E47-98ACB6722C93}" sibTransId="{9EBDD37F-B529-49F4-8801-53AC520BF9D9}"/>
    <dgm:cxn modelId="{1DC2A521-95F5-4D35-A565-7FDC01236338}" type="presOf" srcId="{88F71769-5320-4EB5-81FC-86FA436F1080}" destId="{D0C73FB1-D0F4-44B5-8321-900B57BF2EE4}" srcOrd="0" destOrd="0" presId="urn:microsoft.com/office/officeart/2005/8/layout/hChevron3"/>
    <dgm:cxn modelId="{90333A27-DBC8-4D6C-AA34-2D87432A855E}" type="presOf" srcId="{3ECCF969-61E1-464B-85F2-479BD5851010}" destId="{4FCFCD73-1C94-4965-90D2-BA77F1303B24}" srcOrd="0" destOrd="0" presId="urn:microsoft.com/office/officeart/2005/8/layout/hChevron3"/>
    <dgm:cxn modelId="{8A0EF377-663A-47B9-8EC8-C577837776F8}" type="presOf" srcId="{211E2F09-4CA9-4871-BEB3-171E0218B79B}" destId="{8E8B6775-E8A8-4E76-B836-069D6C959C3D}" srcOrd="0" destOrd="0" presId="urn:microsoft.com/office/officeart/2005/8/layout/hChevron3"/>
    <dgm:cxn modelId="{3C38329D-7297-448F-A47C-200789C320F7}" srcId="{211E2F09-4CA9-4871-BEB3-171E0218B79B}" destId="{88F71769-5320-4EB5-81FC-86FA436F1080}" srcOrd="2" destOrd="0" parTransId="{F34F789E-4654-42B6-A523-986354679137}" sibTransId="{BD17F19D-8B7C-4137-9F81-2CA93FE2087E}"/>
    <dgm:cxn modelId="{6AE9A7BC-A67F-48AD-BD9A-7CCAA02534CF}" srcId="{211E2F09-4CA9-4871-BEB3-171E0218B79B}" destId="{61138F52-F5DF-435A-B3F3-B062FF37C7A5}" srcOrd="0" destOrd="0" parTransId="{70EFBED3-5687-427C-A9B6-8B2D3C5D6B68}" sibTransId="{66B18AF9-4DA2-4A13-9025-DC0746963A5F}"/>
    <dgm:cxn modelId="{EEA5437C-3DF9-4109-B951-20D79DC6E713}" type="presParOf" srcId="{8E8B6775-E8A8-4E76-B836-069D6C959C3D}" destId="{411DE5E2-4B38-4AE9-818E-3924F66D6762}" srcOrd="0" destOrd="0" presId="urn:microsoft.com/office/officeart/2005/8/layout/hChevron3"/>
    <dgm:cxn modelId="{4FFAAACC-6F4E-462F-9513-57AA55A9E3BF}" type="presParOf" srcId="{8E8B6775-E8A8-4E76-B836-069D6C959C3D}" destId="{CF1C70BB-E756-4905-B4C9-5EC19B92FA75}" srcOrd="1" destOrd="0" presId="urn:microsoft.com/office/officeart/2005/8/layout/hChevron3"/>
    <dgm:cxn modelId="{22B2C51C-F0FD-4312-981D-CAA0469EB2EF}" type="presParOf" srcId="{8E8B6775-E8A8-4E76-B836-069D6C959C3D}" destId="{4FCFCD73-1C94-4965-90D2-BA77F1303B24}" srcOrd="2" destOrd="0" presId="urn:microsoft.com/office/officeart/2005/8/layout/hChevron3"/>
    <dgm:cxn modelId="{52AC2DBE-BFE6-4B48-BAE8-A873B3895058}" type="presParOf" srcId="{8E8B6775-E8A8-4E76-B836-069D6C959C3D}" destId="{24C57522-2E82-40E1-9FCB-49CDD417EC0A}" srcOrd="3" destOrd="0" presId="urn:microsoft.com/office/officeart/2005/8/layout/hChevron3"/>
    <dgm:cxn modelId="{7F43E2DB-AB54-4F7B-8F64-3A10373D9FA7}" type="presParOf" srcId="{8E8B6775-E8A8-4E76-B836-069D6C959C3D}" destId="{D0C73FB1-D0F4-44B5-8321-900B57BF2EE4}"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1E2F09-4CA9-4871-BEB3-171E0218B79B}" type="doc">
      <dgm:prSet loTypeId="urn:microsoft.com/office/officeart/2005/8/layout/hChevron3" loCatId="process" qsTypeId="urn:microsoft.com/office/officeart/2005/8/quickstyle/simple1" qsCatId="simple" csTypeId="urn:microsoft.com/office/officeart/2005/8/colors/accent0_2" csCatId="mainScheme" phldr="1"/>
      <dgm:spPr/>
    </dgm:pt>
    <dgm:pt modelId="{61138F52-F5DF-435A-B3F3-B062FF37C7A5}">
      <dgm:prSet phldrT="[Text]" custT="1"/>
      <dgm:spPr>
        <a:noFill/>
      </dgm:spPr>
      <dgm:t>
        <a:bodyPr/>
        <a:lstStyle/>
        <a:p>
          <a:r>
            <a:rPr lang="en-US" sz="1600" dirty="0"/>
            <a:t>Conceptual design</a:t>
          </a:r>
        </a:p>
      </dgm:t>
    </dgm:pt>
    <dgm:pt modelId="{70EFBED3-5687-427C-A9B6-8B2D3C5D6B68}" type="parTrans" cxnId="{6AE9A7BC-A67F-48AD-BD9A-7CCAA02534CF}">
      <dgm:prSet/>
      <dgm:spPr/>
      <dgm:t>
        <a:bodyPr/>
        <a:lstStyle/>
        <a:p>
          <a:endParaRPr lang="en-US" sz="1200"/>
        </a:p>
      </dgm:t>
    </dgm:pt>
    <dgm:pt modelId="{66B18AF9-4DA2-4A13-9025-DC0746963A5F}" type="sibTrans" cxnId="{6AE9A7BC-A67F-48AD-BD9A-7CCAA02534CF}">
      <dgm:prSet/>
      <dgm:spPr/>
      <dgm:t>
        <a:bodyPr/>
        <a:lstStyle/>
        <a:p>
          <a:endParaRPr lang="en-US" sz="1200"/>
        </a:p>
      </dgm:t>
    </dgm:pt>
    <dgm:pt modelId="{3ECCF969-61E1-464B-85F2-479BD5851010}">
      <dgm:prSet phldrT="[Text]" custT="1"/>
      <dgm:spPr>
        <a:solidFill>
          <a:schemeClr val="bg2">
            <a:lumMod val="60000"/>
            <a:lumOff val="40000"/>
          </a:schemeClr>
        </a:solidFill>
      </dgm:spPr>
      <dgm:t>
        <a:bodyPr/>
        <a:lstStyle/>
        <a:p>
          <a:r>
            <a:rPr lang="en-US" sz="1600" dirty="0"/>
            <a:t>Preliminary design</a:t>
          </a:r>
        </a:p>
      </dgm:t>
    </dgm:pt>
    <dgm:pt modelId="{66DA3330-F82C-4522-9E47-98ACB6722C93}" type="parTrans" cxnId="{2A40A41E-2394-4F0F-9174-05603D788C9B}">
      <dgm:prSet/>
      <dgm:spPr/>
      <dgm:t>
        <a:bodyPr/>
        <a:lstStyle/>
        <a:p>
          <a:endParaRPr lang="en-US" sz="1200"/>
        </a:p>
      </dgm:t>
    </dgm:pt>
    <dgm:pt modelId="{9EBDD37F-B529-49F4-8801-53AC520BF9D9}" type="sibTrans" cxnId="{2A40A41E-2394-4F0F-9174-05603D788C9B}">
      <dgm:prSet/>
      <dgm:spPr/>
      <dgm:t>
        <a:bodyPr/>
        <a:lstStyle/>
        <a:p>
          <a:endParaRPr lang="en-US" sz="1200"/>
        </a:p>
      </dgm:t>
    </dgm:pt>
    <dgm:pt modelId="{88F71769-5320-4EB5-81FC-86FA436F1080}">
      <dgm:prSet phldrT="[Text]" custT="1"/>
      <dgm:spPr/>
      <dgm:t>
        <a:bodyPr/>
        <a:lstStyle/>
        <a:p>
          <a:r>
            <a:rPr lang="en-US" sz="1600" dirty="0"/>
            <a:t>Detail design</a:t>
          </a:r>
        </a:p>
      </dgm:t>
    </dgm:pt>
    <dgm:pt modelId="{F34F789E-4654-42B6-A523-986354679137}" type="parTrans" cxnId="{3C38329D-7297-448F-A47C-200789C320F7}">
      <dgm:prSet/>
      <dgm:spPr/>
      <dgm:t>
        <a:bodyPr/>
        <a:lstStyle/>
        <a:p>
          <a:endParaRPr lang="en-US" sz="1200"/>
        </a:p>
      </dgm:t>
    </dgm:pt>
    <dgm:pt modelId="{BD17F19D-8B7C-4137-9F81-2CA93FE2087E}" type="sibTrans" cxnId="{3C38329D-7297-448F-A47C-200789C320F7}">
      <dgm:prSet/>
      <dgm:spPr/>
      <dgm:t>
        <a:bodyPr/>
        <a:lstStyle/>
        <a:p>
          <a:endParaRPr lang="en-US" sz="1200"/>
        </a:p>
      </dgm:t>
    </dgm:pt>
    <dgm:pt modelId="{8E8B6775-E8A8-4E76-B836-069D6C959C3D}" type="pres">
      <dgm:prSet presAssocID="{211E2F09-4CA9-4871-BEB3-171E0218B79B}" presName="Name0" presStyleCnt="0">
        <dgm:presLayoutVars>
          <dgm:dir/>
          <dgm:resizeHandles val="exact"/>
        </dgm:presLayoutVars>
      </dgm:prSet>
      <dgm:spPr/>
    </dgm:pt>
    <dgm:pt modelId="{411DE5E2-4B38-4AE9-818E-3924F66D6762}" type="pres">
      <dgm:prSet presAssocID="{61138F52-F5DF-435A-B3F3-B062FF37C7A5}" presName="parTxOnly" presStyleLbl="node1" presStyleIdx="0" presStyleCnt="3">
        <dgm:presLayoutVars>
          <dgm:bulletEnabled val="1"/>
        </dgm:presLayoutVars>
      </dgm:prSet>
      <dgm:spPr/>
    </dgm:pt>
    <dgm:pt modelId="{CF1C70BB-E756-4905-B4C9-5EC19B92FA75}" type="pres">
      <dgm:prSet presAssocID="{66B18AF9-4DA2-4A13-9025-DC0746963A5F}" presName="parSpace" presStyleCnt="0"/>
      <dgm:spPr/>
    </dgm:pt>
    <dgm:pt modelId="{4FCFCD73-1C94-4965-90D2-BA77F1303B24}" type="pres">
      <dgm:prSet presAssocID="{3ECCF969-61E1-464B-85F2-479BD5851010}" presName="parTxOnly" presStyleLbl="node1" presStyleIdx="1" presStyleCnt="3">
        <dgm:presLayoutVars>
          <dgm:bulletEnabled val="1"/>
        </dgm:presLayoutVars>
      </dgm:prSet>
      <dgm:spPr/>
    </dgm:pt>
    <dgm:pt modelId="{24C57522-2E82-40E1-9FCB-49CDD417EC0A}" type="pres">
      <dgm:prSet presAssocID="{9EBDD37F-B529-49F4-8801-53AC520BF9D9}" presName="parSpace" presStyleCnt="0"/>
      <dgm:spPr/>
    </dgm:pt>
    <dgm:pt modelId="{D0C73FB1-D0F4-44B5-8321-900B57BF2EE4}" type="pres">
      <dgm:prSet presAssocID="{88F71769-5320-4EB5-81FC-86FA436F1080}" presName="parTxOnly" presStyleLbl="node1" presStyleIdx="2" presStyleCnt="3">
        <dgm:presLayoutVars>
          <dgm:bulletEnabled val="1"/>
        </dgm:presLayoutVars>
      </dgm:prSet>
      <dgm:spPr/>
    </dgm:pt>
  </dgm:ptLst>
  <dgm:cxnLst>
    <dgm:cxn modelId="{2A40A41E-2394-4F0F-9174-05603D788C9B}" srcId="{211E2F09-4CA9-4871-BEB3-171E0218B79B}" destId="{3ECCF969-61E1-464B-85F2-479BD5851010}" srcOrd="1" destOrd="0" parTransId="{66DA3330-F82C-4522-9E47-98ACB6722C93}" sibTransId="{9EBDD37F-B529-49F4-8801-53AC520BF9D9}"/>
    <dgm:cxn modelId="{5D10D329-F1DD-41B6-9599-B99F6DB11F16}" type="presOf" srcId="{3ECCF969-61E1-464B-85F2-479BD5851010}" destId="{4FCFCD73-1C94-4965-90D2-BA77F1303B24}" srcOrd="0" destOrd="0" presId="urn:microsoft.com/office/officeart/2005/8/layout/hChevron3"/>
    <dgm:cxn modelId="{FDE9A343-282C-4268-92E1-249F64AC6807}" type="presOf" srcId="{88F71769-5320-4EB5-81FC-86FA436F1080}" destId="{D0C73FB1-D0F4-44B5-8321-900B57BF2EE4}" srcOrd="0" destOrd="0" presId="urn:microsoft.com/office/officeart/2005/8/layout/hChevron3"/>
    <dgm:cxn modelId="{B3B7678B-8368-492D-9E3C-EF06ACB755AE}" type="presOf" srcId="{61138F52-F5DF-435A-B3F3-B062FF37C7A5}" destId="{411DE5E2-4B38-4AE9-818E-3924F66D6762}" srcOrd="0" destOrd="0" presId="urn:microsoft.com/office/officeart/2005/8/layout/hChevron3"/>
    <dgm:cxn modelId="{464A8999-C961-4D8C-9FF7-BD49126C9A87}" type="presOf" srcId="{211E2F09-4CA9-4871-BEB3-171E0218B79B}" destId="{8E8B6775-E8A8-4E76-B836-069D6C959C3D}" srcOrd="0" destOrd="0" presId="urn:microsoft.com/office/officeart/2005/8/layout/hChevron3"/>
    <dgm:cxn modelId="{3C38329D-7297-448F-A47C-200789C320F7}" srcId="{211E2F09-4CA9-4871-BEB3-171E0218B79B}" destId="{88F71769-5320-4EB5-81FC-86FA436F1080}" srcOrd="2" destOrd="0" parTransId="{F34F789E-4654-42B6-A523-986354679137}" sibTransId="{BD17F19D-8B7C-4137-9F81-2CA93FE2087E}"/>
    <dgm:cxn modelId="{6AE9A7BC-A67F-48AD-BD9A-7CCAA02534CF}" srcId="{211E2F09-4CA9-4871-BEB3-171E0218B79B}" destId="{61138F52-F5DF-435A-B3F3-B062FF37C7A5}" srcOrd="0" destOrd="0" parTransId="{70EFBED3-5687-427C-A9B6-8B2D3C5D6B68}" sibTransId="{66B18AF9-4DA2-4A13-9025-DC0746963A5F}"/>
    <dgm:cxn modelId="{5EBCFB16-5606-4304-9C52-894F74C5E952}" type="presParOf" srcId="{8E8B6775-E8A8-4E76-B836-069D6C959C3D}" destId="{411DE5E2-4B38-4AE9-818E-3924F66D6762}" srcOrd="0" destOrd="0" presId="urn:microsoft.com/office/officeart/2005/8/layout/hChevron3"/>
    <dgm:cxn modelId="{450F86A6-5673-4BDE-AD32-827C929FA7E5}" type="presParOf" srcId="{8E8B6775-E8A8-4E76-B836-069D6C959C3D}" destId="{CF1C70BB-E756-4905-B4C9-5EC19B92FA75}" srcOrd="1" destOrd="0" presId="urn:microsoft.com/office/officeart/2005/8/layout/hChevron3"/>
    <dgm:cxn modelId="{E6C1B70D-5296-4085-8453-80FC79455242}" type="presParOf" srcId="{8E8B6775-E8A8-4E76-B836-069D6C959C3D}" destId="{4FCFCD73-1C94-4965-90D2-BA77F1303B24}" srcOrd="2" destOrd="0" presId="urn:microsoft.com/office/officeart/2005/8/layout/hChevron3"/>
    <dgm:cxn modelId="{DF0D92FD-DCC2-4F6D-8DE1-E59DF323C2A4}" type="presParOf" srcId="{8E8B6775-E8A8-4E76-B836-069D6C959C3D}" destId="{24C57522-2E82-40E1-9FCB-49CDD417EC0A}" srcOrd="3" destOrd="0" presId="urn:microsoft.com/office/officeart/2005/8/layout/hChevron3"/>
    <dgm:cxn modelId="{D8FE3A0E-0AC1-4010-A69F-BF88A071984D}" type="presParOf" srcId="{8E8B6775-E8A8-4E76-B836-069D6C959C3D}" destId="{D0C73FB1-D0F4-44B5-8321-900B57BF2EE4}"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11E2F09-4CA9-4871-BEB3-171E0218B79B}" type="doc">
      <dgm:prSet loTypeId="urn:microsoft.com/office/officeart/2005/8/layout/hChevron3" loCatId="process" qsTypeId="urn:microsoft.com/office/officeart/2005/8/quickstyle/simple1" qsCatId="simple" csTypeId="urn:microsoft.com/office/officeart/2005/8/colors/accent0_2" csCatId="mainScheme" phldr="1"/>
      <dgm:spPr/>
    </dgm:pt>
    <dgm:pt modelId="{61138F52-F5DF-435A-B3F3-B062FF37C7A5}">
      <dgm:prSet phldrT="[Text]" custT="1"/>
      <dgm:spPr>
        <a:noFill/>
      </dgm:spPr>
      <dgm:t>
        <a:bodyPr/>
        <a:lstStyle/>
        <a:p>
          <a:r>
            <a:rPr lang="en-US" sz="1600" dirty="0"/>
            <a:t>Conceptual design</a:t>
          </a:r>
        </a:p>
      </dgm:t>
    </dgm:pt>
    <dgm:pt modelId="{70EFBED3-5687-427C-A9B6-8B2D3C5D6B68}" type="parTrans" cxnId="{6AE9A7BC-A67F-48AD-BD9A-7CCAA02534CF}">
      <dgm:prSet/>
      <dgm:spPr/>
      <dgm:t>
        <a:bodyPr/>
        <a:lstStyle/>
        <a:p>
          <a:endParaRPr lang="en-US" sz="1200"/>
        </a:p>
      </dgm:t>
    </dgm:pt>
    <dgm:pt modelId="{66B18AF9-4DA2-4A13-9025-DC0746963A5F}" type="sibTrans" cxnId="{6AE9A7BC-A67F-48AD-BD9A-7CCAA02534CF}">
      <dgm:prSet/>
      <dgm:spPr/>
      <dgm:t>
        <a:bodyPr/>
        <a:lstStyle/>
        <a:p>
          <a:endParaRPr lang="en-US" sz="1200"/>
        </a:p>
      </dgm:t>
    </dgm:pt>
    <dgm:pt modelId="{3ECCF969-61E1-464B-85F2-479BD5851010}">
      <dgm:prSet phldrT="[Text]" custT="1"/>
      <dgm:spPr>
        <a:solidFill>
          <a:schemeClr val="bg1"/>
        </a:solidFill>
      </dgm:spPr>
      <dgm:t>
        <a:bodyPr/>
        <a:lstStyle/>
        <a:p>
          <a:r>
            <a:rPr lang="en-US" sz="1600" dirty="0"/>
            <a:t>Preliminary design</a:t>
          </a:r>
        </a:p>
      </dgm:t>
    </dgm:pt>
    <dgm:pt modelId="{66DA3330-F82C-4522-9E47-98ACB6722C93}" type="parTrans" cxnId="{2A40A41E-2394-4F0F-9174-05603D788C9B}">
      <dgm:prSet/>
      <dgm:spPr/>
      <dgm:t>
        <a:bodyPr/>
        <a:lstStyle/>
        <a:p>
          <a:endParaRPr lang="en-US" sz="1200"/>
        </a:p>
      </dgm:t>
    </dgm:pt>
    <dgm:pt modelId="{9EBDD37F-B529-49F4-8801-53AC520BF9D9}" type="sibTrans" cxnId="{2A40A41E-2394-4F0F-9174-05603D788C9B}">
      <dgm:prSet/>
      <dgm:spPr/>
      <dgm:t>
        <a:bodyPr/>
        <a:lstStyle/>
        <a:p>
          <a:endParaRPr lang="en-US" sz="1200"/>
        </a:p>
      </dgm:t>
    </dgm:pt>
    <dgm:pt modelId="{88F71769-5320-4EB5-81FC-86FA436F1080}">
      <dgm:prSet phldrT="[Text]" custT="1"/>
      <dgm:spPr>
        <a:solidFill>
          <a:schemeClr val="bg2">
            <a:lumMod val="60000"/>
            <a:lumOff val="40000"/>
          </a:schemeClr>
        </a:solidFill>
      </dgm:spPr>
      <dgm:t>
        <a:bodyPr/>
        <a:lstStyle/>
        <a:p>
          <a:r>
            <a:rPr lang="en-US" sz="1600" dirty="0"/>
            <a:t>Detail design</a:t>
          </a:r>
        </a:p>
      </dgm:t>
    </dgm:pt>
    <dgm:pt modelId="{F34F789E-4654-42B6-A523-986354679137}" type="parTrans" cxnId="{3C38329D-7297-448F-A47C-200789C320F7}">
      <dgm:prSet/>
      <dgm:spPr/>
      <dgm:t>
        <a:bodyPr/>
        <a:lstStyle/>
        <a:p>
          <a:endParaRPr lang="en-US" sz="1200"/>
        </a:p>
      </dgm:t>
    </dgm:pt>
    <dgm:pt modelId="{BD17F19D-8B7C-4137-9F81-2CA93FE2087E}" type="sibTrans" cxnId="{3C38329D-7297-448F-A47C-200789C320F7}">
      <dgm:prSet/>
      <dgm:spPr/>
      <dgm:t>
        <a:bodyPr/>
        <a:lstStyle/>
        <a:p>
          <a:endParaRPr lang="en-US" sz="1200"/>
        </a:p>
      </dgm:t>
    </dgm:pt>
    <dgm:pt modelId="{8E8B6775-E8A8-4E76-B836-069D6C959C3D}" type="pres">
      <dgm:prSet presAssocID="{211E2F09-4CA9-4871-BEB3-171E0218B79B}" presName="Name0" presStyleCnt="0">
        <dgm:presLayoutVars>
          <dgm:dir/>
          <dgm:resizeHandles val="exact"/>
        </dgm:presLayoutVars>
      </dgm:prSet>
      <dgm:spPr/>
    </dgm:pt>
    <dgm:pt modelId="{411DE5E2-4B38-4AE9-818E-3924F66D6762}" type="pres">
      <dgm:prSet presAssocID="{61138F52-F5DF-435A-B3F3-B062FF37C7A5}" presName="parTxOnly" presStyleLbl="node1" presStyleIdx="0" presStyleCnt="3">
        <dgm:presLayoutVars>
          <dgm:bulletEnabled val="1"/>
        </dgm:presLayoutVars>
      </dgm:prSet>
      <dgm:spPr/>
    </dgm:pt>
    <dgm:pt modelId="{CF1C70BB-E756-4905-B4C9-5EC19B92FA75}" type="pres">
      <dgm:prSet presAssocID="{66B18AF9-4DA2-4A13-9025-DC0746963A5F}" presName="parSpace" presStyleCnt="0"/>
      <dgm:spPr/>
    </dgm:pt>
    <dgm:pt modelId="{4FCFCD73-1C94-4965-90D2-BA77F1303B24}" type="pres">
      <dgm:prSet presAssocID="{3ECCF969-61E1-464B-85F2-479BD5851010}" presName="parTxOnly" presStyleLbl="node1" presStyleIdx="1" presStyleCnt="3">
        <dgm:presLayoutVars>
          <dgm:bulletEnabled val="1"/>
        </dgm:presLayoutVars>
      </dgm:prSet>
      <dgm:spPr/>
    </dgm:pt>
    <dgm:pt modelId="{24C57522-2E82-40E1-9FCB-49CDD417EC0A}" type="pres">
      <dgm:prSet presAssocID="{9EBDD37F-B529-49F4-8801-53AC520BF9D9}" presName="parSpace" presStyleCnt="0"/>
      <dgm:spPr/>
    </dgm:pt>
    <dgm:pt modelId="{D0C73FB1-D0F4-44B5-8321-900B57BF2EE4}" type="pres">
      <dgm:prSet presAssocID="{88F71769-5320-4EB5-81FC-86FA436F1080}" presName="parTxOnly" presStyleLbl="node1" presStyleIdx="2" presStyleCnt="3">
        <dgm:presLayoutVars>
          <dgm:bulletEnabled val="1"/>
        </dgm:presLayoutVars>
      </dgm:prSet>
      <dgm:spPr/>
    </dgm:pt>
  </dgm:ptLst>
  <dgm:cxnLst>
    <dgm:cxn modelId="{91CE5D08-2C19-4B63-9654-8752AB7A58CA}" type="presOf" srcId="{88F71769-5320-4EB5-81FC-86FA436F1080}" destId="{D0C73FB1-D0F4-44B5-8321-900B57BF2EE4}" srcOrd="0" destOrd="0" presId="urn:microsoft.com/office/officeart/2005/8/layout/hChevron3"/>
    <dgm:cxn modelId="{2A40A41E-2394-4F0F-9174-05603D788C9B}" srcId="{211E2F09-4CA9-4871-BEB3-171E0218B79B}" destId="{3ECCF969-61E1-464B-85F2-479BD5851010}" srcOrd="1" destOrd="0" parTransId="{66DA3330-F82C-4522-9E47-98ACB6722C93}" sibTransId="{9EBDD37F-B529-49F4-8801-53AC520BF9D9}"/>
    <dgm:cxn modelId="{173D9A2B-0EDF-461F-9530-FD1A467D05DF}" type="presOf" srcId="{61138F52-F5DF-435A-B3F3-B062FF37C7A5}" destId="{411DE5E2-4B38-4AE9-818E-3924F66D6762}" srcOrd="0" destOrd="0" presId="urn:microsoft.com/office/officeart/2005/8/layout/hChevron3"/>
    <dgm:cxn modelId="{3C38329D-7297-448F-A47C-200789C320F7}" srcId="{211E2F09-4CA9-4871-BEB3-171E0218B79B}" destId="{88F71769-5320-4EB5-81FC-86FA436F1080}" srcOrd="2" destOrd="0" parTransId="{F34F789E-4654-42B6-A523-986354679137}" sibTransId="{BD17F19D-8B7C-4137-9F81-2CA93FE2087E}"/>
    <dgm:cxn modelId="{D678D1A3-1E98-45EF-BC1D-FE763C198647}" type="presOf" srcId="{211E2F09-4CA9-4871-BEB3-171E0218B79B}" destId="{8E8B6775-E8A8-4E76-B836-069D6C959C3D}" srcOrd="0" destOrd="0" presId="urn:microsoft.com/office/officeart/2005/8/layout/hChevron3"/>
    <dgm:cxn modelId="{6AE9A7BC-A67F-48AD-BD9A-7CCAA02534CF}" srcId="{211E2F09-4CA9-4871-BEB3-171E0218B79B}" destId="{61138F52-F5DF-435A-B3F3-B062FF37C7A5}" srcOrd="0" destOrd="0" parTransId="{70EFBED3-5687-427C-A9B6-8B2D3C5D6B68}" sibTransId="{66B18AF9-4DA2-4A13-9025-DC0746963A5F}"/>
    <dgm:cxn modelId="{550743D8-408F-4303-B012-A946AB0FA1EB}" type="presOf" srcId="{3ECCF969-61E1-464B-85F2-479BD5851010}" destId="{4FCFCD73-1C94-4965-90D2-BA77F1303B24}" srcOrd="0" destOrd="0" presId="urn:microsoft.com/office/officeart/2005/8/layout/hChevron3"/>
    <dgm:cxn modelId="{547AE269-F988-4200-BCF4-A6AFF0C1D82D}" type="presParOf" srcId="{8E8B6775-E8A8-4E76-B836-069D6C959C3D}" destId="{411DE5E2-4B38-4AE9-818E-3924F66D6762}" srcOrd="0" destOrd="0" presId="urn:microsoft.com/office/officeart/2005/8/layout/hChevron3"/>
    <dgm:cxn modelId="{D39B2548-2C42-4679-B54D-637BECD8D269}" type="presParOf" srcId="{8E8B6775-E8A8-4E76-B836-069D6C959C3D}" destId="{CF1C70BB-E756-4905-B4C9-5EC19B92FA75}" srcOrd="1" destOrd="0" presId="urn:microsoft.com/office/officeart/2005/8/layout/hChevron3"/>
    <dgm:cxn modelId="{40C639D0-8C6A-45EC-8BFE-2C4022212DC6}" type="presParOf" srcId="{8E8B6775-E8A8-4E76-B836-069D6C959C3D}" destId="{4FCFCD73-1C94-4965-90D2-BA77F1303B24}" srcOrd="2" destOrd="0" presId="urn:microsoft.com/office/officeart/2005/8/layout/hChevron3"/>
    <dgm:cxn modelId="{8F313D1F-0AA8-4567-93E8-1924A1E8312F}" type="presParOf" srcId="{8E8B6775-E8A8-4E76-B836-069D6C959C3D}" destId="{24C57522-2E82-40E1-9FCB-49CDD417EC0A}" srcOrd="3" destOrd="0" presId="urn:microsoft.com/office/officeart/2005/8/layout/hChevron3"/>
    <dgm:cxn modelId="{12B18E61-7678-457B-AF7A-E2F4B47ADE3C}" type="presParOf" srcId="{8E8B6775-E8A8-4E76-B836-069D6C959C3D}" destId="{D0C73FB1-D0F4-44B5-8321-900B57BF2EE4}" srcOrd="4" destOrd="0" presId="urn:microsoft.com/office/officeart/2005/8/layout/hChevron3"/>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11E2F09-4CA9-4871-BEB3-171E0218B79B}" type="doc">
      <dgm:prSet loTypeId="urn:microsoft.com/office/officeart/2005/8/layout/hChevron3" loCatId="process" qsTypeId="urn:microsoft.com/office/officeart/2005/8/quickstyle/simple1" qsCatId="simple" csTypeId="urn:microsoft.com/office/officeart/2005/8/colors/accent0_2" csCatId="mainScheme" phldr="1"/>
      <dgm:spPr/>
    </dgm:pt>
    <dgm:pt modelId="{61138F52-F5DF-435A-B3F3-B062FF37C7A5}">
      <dgm:prSet phldrT="[Text]" custT="1"/>
      <dgm:spPr>
        <a:noFill/>
      </dgm:spPr>
      <dgm:t>
        <a:bodyPr/>
        <a:lstStyle/>
        <a:p>
          <a:r>
            <a:rPr lang="en-US" sz="1600" dirty="0"/>
            <a:t>Conceptual design</a:t>
          </a:r>
        </a:p>
      </dgm:t>
    </dgm:pt>
    <dgm:pt modelId="{70EFBED3-5687-427C-A9B6-8B2D3C5D6B68}" type="parTrans" cxnId="{6AE9A7BC-A67F-48AD-BD9A-7CCAA02534CF}">
      <dgm:prSet/>
      <dgm:spPr/>
      <dgm:t>
        <a:bodyPr/>
        <a:lstStyle/>
        <a:p>
          <a:endParaRPr lang="en-US" sz="1200"/>
        </a:p>
      </dgm:t>
    </dgm:pt>
    <dgm:pt modelId="{66B18AF9-4DA2-4A13-9025-DC0746963A5F}" type="sibTrans" cxnId="{6AE9A7BC-A67F-48AD-BD9A-7CCAA02534CF}">
      <dgm:prSet/>
      <dgm:spPr/>
      <dgm:t>
        <a:bodyPr/>
        <a:lstStyle/>
        <a:p>
          <a:endParaRPr lang="en-US" sz="1200"/>
        </a:p>
      </dgm:t>
    </dgm:pt>
    <dgm:pt modelId="{3ECCF969-61E1-464B-85F2-479BD5851010}">
      <dgm:prSet phldrT="[Text]" custT="1"/>
      <dgm:spPr>
        <a:solidFill>
          <a:schemeClr val="bg1"/>
        </a:solidFill>
      </dgm:spPr>
      <dgm:t>
        <a:bodyPr/>
        <a:lstStyle/>
        <a:p>
          <a:r>
            <a:rPr lang="en-US" sz="1600" dirty="0"/>
            <a:t>Preliminary design</a:t>
          </a:r>
        </a:p>
      </dgm:t>
    </dgm:pt>
    <dgm:pt modelId="{66DA3330-F82C-4522-9E47-98ACB6722C93}" type="parTrans" cxnId="{2A40A41E-2394-4F0F-9174-05603D788C9B}">
      <dgm:prSet/>
      <dgm:spPr/>
      <dgm:t>
        <a:bodyPr/>
        <a:lstStyle/>
        <a:p>
          <a:endParaRPr lang="en-US" sz="1200"/>
        </a:p>
      </dgm:t>
    </dgm:pt>
    <dgm:pt modelId="{9EBDD37F-B529-49F4-8801-53AC520BF9D9}" type="sibTrans" cxnId="{2A40A41E-2394-4F0F-9174-05603D788C9B}">
      <dgm:prSet/>
      <dgm:spPr/>
      <dgm:t>
        <a:bodyPr/>
        <a:lstStyle/>
        <a:p>
          <a:endParaRPr lang="en-US" sz="1200"/>
        </a:p>
      </dgm:t>
    </dgm:pt>
    <dgm:pt modelId="{88F71769-5320-4EB5-81FC-86FA436F1080}">
      <dgm:prSet phldrT="[Text]" custT="1"/>
      <dgm:spPr>
        <a:solidFill>
          <a:schemeClr val="bg2">
            <a:lumMod val="60000"/>
            <a:lumOff val="40000"/>
          </a:schemeClr>
        </a:solidFill>
      </dgm:spPr>
      <dgm:t>
        <a:bodyPr/>
        <a:lstStyle/>
        <a:p>
          <a:r>
            <a:rPr lang="en-US" sz="1600" dirty="0"/>
            <a:t>Detail design</a:t>
          </a:r>
        </a:p>
      </dgm:t>
    </dgm:pt>
    <dgm:pt modelId="{F34F789E-4654-42B6-A523-986354679137}" type="parTrans" cxnId="{3C38329D-7297-448F-A47C-200789C320F7}">
      <dgm:prSet/>
      <dgm:spPr/>
      <dgm:t>
        <a:bodyPr/>
        <a:lstStyle/>
        <a:p>
          <a:endParaRPr lang="en-US" sz="1200"/>
        </a:p>
      </dgm:t>
    </dgm:pt>
    <dgm:pt modelId="{BD17F19D-8B7C-4137-9F81-2CA93FE2087E}" type="sibTrans" cxnId="{3C38329D-7297-448F-A47C-200789C320F7}">
      <dgm:prSet/>
      <dgm:spPr/>
      <dgm:t>
        <a:bodyPr/>
        <a:lstStyle/>
        <a:p>
          <a:endParaRPr lang="en-US" sz="1200"/>
        </a:p>
      </dgm:t>
    </dgm:pt>
    <dgm:pt modelId="{8E8B6775-E8A8-4E76-B836-069D6C959C3D}" type="pres">
      <dgm:prSet presAssocID="{211E2F09-4CA9-4871-BEB3-171E0218B79B}" presName="Name0" presStyleCnt="0">
        <dgm:presLayoutVars>
          <dgm:dir/>
          <dgm:resizeHandles val="exact"/>
        </dgm:presLayoutVars>
      </dgm:prSet>
      <dgm:spPr/>
    </dgm:pt>
    <dgm:pt modelId="{411DE5E2-4B38-4AE9-818E-3924F66D6762}" type="pres">
      <dgm:prSet presAssocID="{61138F52-F5DF-435A-B3F3-B062FF37C7A5}" presName="parTxOnly" presStyleLbl="node1" presStyleIdx="0" presStyleCnt="3">
        <dgm:presLayoutVars>
          <dgm:bulletEnabled val="1"/>
        </dgm:presLayoutVars>
      </dgm:prSet>
      <dgm:spPr/>
    </dgm:pt>
    <dgm:pt modelId="{CF1C70BB-E756-4905-B4C9-5EC19B92FA75}" type="pres">
      <dgm:prSet presAssocID="{66B18AF9-4DA2-4A13-9025-DC0746963A5F}" presName="parSpace" presStyleCnt="0"/>
      <dgm:spPr/>
    </dgm:pt>
    <dgm:pt modelId="{4FCFCD73-1C94-4965-90D2-BA77F1303B24}" type="pres">
      <dgm:prSet presAssocID="{3ECCF969-61E1-464B-85F2-479BD5851010}" presName="parTxOnly" presStyleLbl="node1" presStyleIdx="1" presStyleCnt="3">
        <dgm:presLayoutVars>
          <dgm:bulletEnabled val="1"/>
        </dgm:presLayoutVars>
      </dgm:prSet>
      <dgm:spPr/>
    </dgm:pt>
    <dgm:pt modelId="{24C57522-2E82-40E1-9FCB-49CDD417EC0A}" type="pres">
      <dgm:prSet presAssocID="{9EBDD37F-B529-49F4-8801-53AC520BF9D9}" presName="parSpace" presStyleCnt="0"/>
      <dgm:spPr/>
    </dgm:pt>
    <dgm:pt modelId="{D0C73FB1-D0F4-44B5-8321-900B57BF2EE4}" type="pres">
      <dgm:prSet presAssocID="{88F71769-5320-4EB5-81FC-86FA436F1080}" presName="parTxOnly" presStyleLbl="node1" presStyleIdx="2" presStyleCnt="3">
        <dgm:presLayoutVars>
          <dgm:bulletEnabled val="1"/>
        </dgm:presLayoutVars>
      </dgm:prSet>
      <dgm:spPr/>
    </dgm:pt>
  </dgm:ptLst>
  <dgm:cxnLst>
    <dgm:cxn modelId="{62DDFF1D-5402-4CB4-89AA-8F7841C43EAC}" type="presOf" srcId="{3ECCF969-61E1-464B-85F2-479BD5851010}" destId="{4FCFCD73-1C94-4965-90D2-BA77F1303B24}" srcOrd="0" destOrd="0" presId="urn:microsoft.com/office/officeart/2005/8/layout/hChevron3"/>
    <dgm:cxn modelId="{2A40A41E-2394-4F0F-9174-05603D788C9B}" srcId="{211E2F09-4CA9-4871-BEB3-171E0218B79B}" destId="{3ECCF969-61E1-464B-85F2-479BD5851010}" srcOrd="1" destOrd="0" parTransId="{66DA3330-F82C-4522-9E47-98ACB6722C93}" sibTransId="{9EBDD37F-B529-49F4-8801-53AC520BF9D9}"/>
    <dgm:cxn modelId="{97E9FF66-4A9B-42D5-8FC9-29717B65F7E7}" type="presOf" srcId="{211E2F09-4CA9-4871-BEB3-171E0218B79B}" destId="{8E8B6775-E8A8-4E76-B836-069D6C959C3D}" srcOrd="0" destOrd="0" presId="urn:microsoft.com/office/officeart/2005/8/layout/hChevron3"/>
    <dgm:cxn modelId="{E48C0C67-83D8-4A28-BEC6-1034BFFF8C74}" type="presOf" srcId="{61138F52-F5DF-435A-B3F3-B062FF37C7A5}" destId="{411DE5E2-4B38-4AE9-818E-3924F66D6762}" srcOrd="0" destOrd="0" presId="urn:microsoft.com/office/officeart/2005/8/layout/hChevron3"/>
    <dgm:cxn modelId="{3C38329D-7297-448F-A47C-200789C320F7}" srcId="{211E2F09-4CA9-4871-BEB3-171E0218B79B}" destId="{88F71769-5320-4EB5-81FC-86FA436F1080}" srcOrd="2" destOrd="0" parTransId="{F34F789E-4654-42B6-A523-986354679137}" sibTransId="{BD17F19D-8B7C-4137-9F81-2CA93FE2087E}"/>
    <dgm:cxn modelId="{0F96CFBB-F7A1-45FF-A8AE-689479899866}" type="presOf" srcId="{88F71769-5320-4EB5-81FC-86FA436F1080}" destId="{D0C73FB1-D0F4-44B5-8321-900B57BF2EE4}" srcOrd="0" destOrd="0" presId="urn:microsoft.com/office/officeart/2005/8/layout/hChevron3"/>
    <dgm:cxn modelId="{6AE9A7BC-A67F-48AD-BD9A-7CCAA02534CF}" srcId="{211E2F09-4CA9-4871-BEB3-171E0218B79B}" destId="{61138F52-F5DF-435A-B3F3-B062FF37C7A5}" srcOrd="0" destOrd="0" parTransId="{70EFBED3-5687-427C-A9B6-8B2D3C5D6B68}" sibTransId="{66B18AF9-4DA2-4A13-9025-DC0746963A5F}"/>
    <dgm:cxn modelId="{663D5123-C07B-4593-BCC3-99A254F830E0}" type="presParOf" srcId="{8E8B6775-E8A8-4E76-B836-069D6C959C3D}" destId="{411DE5E2-4B38-4AE9-818E-3924F66D6762}" srcOrd="0" destOrd="0" presId="urn:microsoft.com/office/officeart/2005/8/layout/hChevron3"/>
    <dgm:cxn modelId="{22A6A203-7694-4724-A9DD-F6ACCB69BC56}" type="presParOf" srcId="{8E8B6775-E8A8-4E76-B836-069D6C959C3D}" destId="{CF1C70BB-E756-4905-B4C9-5EC19B92FA75}" srcOrd="1" destOrd="0" presId="urn:microsoft.com/office/officeart/2005/8/layout/hChevron3"/>
    <dgm:cxn modelId="{ED9CF2F3-ADDA-4C5A-B769-F92A94B81F10}" type="presParOf" srcId="{8E8B6775-E8A8-4E76-B836-069D6C959C3D}" destId="{4FCFCD73-1C94-4965-90D2-BA77F1303B24}" srcOrd="2" destOrd="0" presId="urn:microsoft.com/office/officeart/2005/8/layout/hChevron3"/>
    <dgm:cxn modelId="{4EF3E92C-BCFC-47BA-93E3-EAB1EC57D39A}" type="presParOf" srcId="{8E8B6775-E8A8-4E76-B836-069D6C959C3D}" destId="{24C57522-2E82-40E1-9FCB-49CDD417EC0A}" srcOrd="3" destOrd="0" presId="urn:microsoft.com/office/officeart/2005/8/layout/hChevron3"/>
    <dgm:cxn modelId="{B607BBC6-C542-467E-8037-D71DA9E89D80}" type="presParOf" srcId="{8E8B6775-E8A8-4E76-B836-069D6C959C3D}" destId="{D0C73FB1-D0F4-44B5-8321-900B57BF2EE4}" srcOrd="4" destOrd="0" presId="urn:microsoft.com/office/officeart/2005/8/layout/hChevron3"/>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11E2F09-4CA9-4871-BEB3-171E0218B79B}" type="doc">
      <dgm:prSet loTypeId="urn:microsoft.com/office/officeart/2005/8/layout/hChevron3" loCatId="process" qsTypeId="urn:microsoft.com/office/officeart/2005/8/quickstyle/simple1" qsCatId="simple" csTypeId="urn:microsoft.com/office/officeart/2005/8/colors/accent0_2" csCatId="mainScheme" phldr="1"/>
      <dgm:spPr/>
    </dgm:pt>
    <dgm:pt modelId="{61138F52-F5DF-435A-B3F3-B062FF37C7A5}">
      <dgm:prSet phldrT="[Text]" custT="1"/>
      <dgm:spPr>
        <a:noFill/>
      </dgm:spPr>
      <dgm:t>
        <a:bodyPr/>
        <a:lstStyle/>
        <a:p>
          <a:r>
            <a:rPr lang="en-US" sz="1600" dirty="0"/>
            <a:t>Conceptual design</a:t>
          </a:r>
        </a:p>
      </dgm:t>
    </dgm:pt>
    <dgm:pt modelId="{70EFBED3-5687-427C-A9B6-8B2D3C5D6B68}" type="parTrans" cxnId="{6AE9A7BC-A67F-48AD-BD9A-7CCAA02534CF}">
      <dgm:prSet/>
      <dgm:spPr/>
      <dgm:t>
        <a:bodyPr/>
        <a:lstStyle/>
        <a:p>
          <a:endParaRPr lang="en-US" sz="1200"/>
        </a:p>
      </dgm:t>
    </dgm:pt>
    <dgm:pt modelId="{66B18AF9-4DA2-4A13-9025-DC0746963A5F}" type="sibTrans" cxnId="{6AE9A7BC-A67F-48AD-BD9A-7CCAA02534CF}">
      <dgm:prSet/>
      <dgm:spPr/>
      <dgm:t>
        <a:bodyPr/>
        <a:lstStyle/>
        <a:p>
          <a:endParaRPr lang="en-US" sz="1200"/>
        </a:p>
      </dgm:t>
    </dgm:pt>
    <dgm:pt modelId="{3ECCF969-61E1-464B-85F2-479BD5851010}">
      <dgm:prSet phldrT="[Text]" custT="1"/>
      <dgm:spPr>
        <a:solidFill>
          <a:schemeClr val="bg2">
            <a:lumMod val="60000"/>
            <a:lumOff val="40000"/>
          </a:schemeClr>
        </a:solidFill>
      </dgm:spPr>
      <dgm:t>
        <a:bodyPr/>
        <a:lstStyle/>
        <a:p>
          <a:r>
            <a:rPr lang="en-US" sz="1600" dirty="0"/>
            <a:t>Preliminary design</a:t>
          </a:r>
        </a:p>
      </dgm:t>
    </dgm:pt>
    <dgm:pt modelId="{66DA3330-F82C-4522-9E47-98ACB6722C93}" type="parTrans" cxnId="{2A40A41E-2394-4F0F-9174-05603D788C9B}">
      <dgm:prSet/>
      <dgm:spPr/>
      <dgm:t>
        <a:bodyPr/>
        <a:lstStyle/>
        <a:p>
          <a:endParaRPr lang="en-US" sz="1200"/>
        </a:p>
      </dgm:t>
    </dgm:pt>
    <dgm:pt modelId="{9EBDD37F-B529-49F4-8801-53AC520BF9D9}" type="sibTrans" cxnId="{2A40A41E-2394-4F0F-9174-05603D788C9B}">
      <dgm:prSet/>
      <dgm:spPr/>
      <dgm:t>
        <a:bodyPr/>
        <a:lstStyle/>
        <a:p>
          <a:endParaRPr lang="en-US" sz="1200"/>
        </a:p>
      </dgm:t>
    </dgm:pt>
    <dgm:pt modelId="{88F71769-5320-4EB5-81FC-86FA436F1080}">
      <dgm:prSet phldrT="[Text]" custT="1"/>
      <dgm:spPr/>
      <dgm:t>
        <a:bodyPr/>
        <a:lstStyle/>
        <a:p>
          <a:r>
            <a:rPr lang="en-US" sz="1600" dirty="0"/>
            <a:t>Detail design</a:t>
          </a:r>
        </a:p>
      </dgm:t>
    </dgm:pt>
    <dgm:pt modelId="{F34F789E-4654-42B6-A523-986354679137}" type="parTrans" cxnId="{3C38329D-7297-448F-A47C-200789C320F7}">
      <dgm:prSet/>
      <dgm:spPr/>
      <dgm:t>
        <a:bodyPr/>
        <a:lstStyle/>
        <a:p>
          <a:endParaRPr lang="en-US" sz="1200"/>
        </a:p>
      </dgm:t>
    </dgm:pt>
    <dgm:pt modelId="{BD17F19D-8B7C-4137-9F81-2CA93FE2087E}" type="sibTrans" cxnId="{3C38329D-7297-448F-A47C-200789C320F7}">
      <dgm:prSet/>
      <dgm:spPr/>
      <dgm:t>
        <a:bodyPr/>
        <a:lstStyle/>
        <a:p>
          <a:endParaRPr lang="en-US" sz="1200"/>
        </a:p>
      </dgm:t>
    </dgm:pt>
    <dgm:pt modelId="{8E8B6775-E8A8-4E76-B836-069D6C959C3D}" type="pres">
      <dgm:prSet presAssocID="{211E2F09-4CA9-4871-BEB3-171E0218B79B}" presName="Name0" presStyleCnt="0">
        <dgm:presLayoutVars>
          <dgm:dir/>
          <dgm:resizeHandles val="exact"/>
        </dgm:presLayoutVars>
      </dgm:prSet>
      <dgm:spPr/>
    </dgm:pt>
    <dgm:pt modelId="{411DE5E2-4B38-4AE9-818E-3924F66D6762}" type="pres">
      <dgm:prSet presAssocID="{61138F52-F5DF-435A-B3F3-B062FF37C7A5}" presName="parTxOnly" presStyleLbl="node1" presStyleIdx="0" presStyleCnt="3">
        <dgm:presLayoutVars>
          <dgm:bulletEnabled val="1"/>
        </dgm:presLayoutVars>
      </dgm:prSet>
      <dgm:spPr/>
    </dgm:pt>
    <dgm:pt modelId="{CF1C70BB-E756-4905-B4C9-5EC19B92FA75}" type="pres">
      <dgm:prSet presAssocID="{66B18AF9-4DA2-4A13-9025-DC0746963A5F}" presName="parSpace" presStyleCnt="0"/>
      <dgm:spPr/>
    </dgm:pt>
    <dgm:pt modelId="{4FCFCD73-1C94-4965-90D2-BA77F1303B24}" type="pres">
      <dgm:prSet presAssocID="{3ECCF969-61E1-464B-85F2-479BD5851010}" presName="parTxOnly" presStyleLbl="node1" presStyleIdx="1" presStyleCnt="3">
        <dgm:presLayoutVars>
          <dgm:bulletEnabled val="1"/>
        </dgm:presLayoutVars>
      </dgm:prSet>
      <dgm:spPr/>
    </dgm:pt>
    <dgm:pt modelId="{24C57522-2E82-40E1-9FCB-49CDD417EC0A}" type="pres">
      <dgm:prSet presAssocID="{9EBDD37F-B529-49F4-8801-53AC520BF9D9}" presName="parSpace" presStyleCnt="0"/>
      <dgm:spPr/>
    </dgm:pt>
    <dgm:pt modelId="{D0C73FB1-D0F4-44B5-8321-900B57BF2EE4}" type="pres">
      <dgm:prSet presAssocID="{88F71769-5320-4EB5-81FC-86FA436F1080}" presName="parTxOnly" presStyleLbl="node1" presStyleIdx="2" presStyleCnt="3">
        <dgm:presLayoutVars>
          <dgm:bulletEnabled val="1"/>
        </dgm:presLayoutVars>
      </dgm:prSet>
      <dgm:spPr/>
    </dgm:pt>
  </dgm:ptLst>
  <dgm:cxnLst>
    <dgm:cxn modelId="{2A40A41E-2394-4F0F-9174-05603D788C9B}" srcId="{211E2F09-4CA9-4871-BEB3-171E0218B79B}" destId="{3ECCF969-61E1-464B-85F2-479BD5851010}" srcOrd="1" destOrd="0" parTransId="{66DA3330-F82C-4522-9E47-98ACB6722C93}" sibTransId="{9EBDD37F-B529-49F4-8801-53AC520BF9D9}"/>
    <dgm:cxn modelId="{5D10D329-F1DD-41B6-9599-B99F6DB11F16}" type="presOf" srcId="{3ECCF969-61E1-464B-85F2-479BD5851010}" destId="{4FCFCD73-1C94-4965-90D2-BA77F1303B24}" srcOrd="0" destOrd="0" presId="urn:microsoft.com/office/officeart/2005/8/layout/hChevron3"/>
    <dgm:cxn modelId="{FDE9A343-282C-4268-92E1-249F64AC6807}" type="presOf" srcId="{88F71769-5320-4EB5-81FC-86FA436F1080}" destId="{D0C73FB1-D0F4-44B5-8321-900B57BF2EE4}" srcOrd="0" destOrd="0" presId="urn:microsoft.com/office/officeart/2005/8/layout/hChevron3"/>
    <dgm:cxn modelId="{B3B7678B-8368-492D-9E3C-EF06ACB755AE}" type="presOf" srcId="{61138F52-F5DF-435A-B3F3-B062FF37C7A5}" destId="{411DE5E2-4B38-4AE9-818E-3924F66D6762}" srcOrd="0" destOrd="0" presId="urn:microsoft.com/office/officeart/2005/8/layout/hChevron3"/>
    <dgm:cxn modelId="{464A8999-C961-4D8C-9FF7-BD49126C9A87}" type="presOf" srcId="{211E2F09-4CA9-4871-BEB3-171E0218B79B}" destId="{8E8B6775-E8A8-4E76-B836-069D6C959C3D}" srcOrd="0" destOrd="0" presId="urn:microsoft.com/office/officeart/2005/8/layout/hChevron3"/>
    <dgm:cxn modelId="{3C38329D-7297-448F-A47C-200789C320F7}" srcId="{211E2F09-4CA9-4871-BEB3-171E0218B79B}" destId="{88F71769-5320-4EB5-81FC-86FA436F1080}" srcOrd="2" destOrd="0" parTransId="{F34F789E-4654-42B6-A523-986354679137}" sibTransId="{BD17F19D-8B7C-4137-9F81-2CA93FE2087E}"/>
    <dgm:cxn modelId="{6AE9A7BC-A67F-48AD-BD9A-7CCAA02534CF}" srcId="{211E2F09-4CA9-4871-BEB3-171E0218B79B}" destId="{61138F52-F5DF-435A-B3F3-B062FF37C7A5}" srcOrd="0" destOrd="0" parTransId="{70EFBED3-5687-427C-A9B6-8B2D3C5D6B68}" sibTransId="{66B18AF9-4DA2-4A13-9025-DC0746963A5F}"/>
    <dgm:cxn modelId="{5EBCFB16-5606-4304-9C52-894F74C5E952}" type="presParOf" srcId="{8E8B6775-E8A8-4E76-B836-069D6C959C3D}" destId="{411DE5E2-4B38-4AE9-818E-3924F66D6762}" srcOrd="0" destOrd="0" presId="urn:microsoft.com/office/officeart/2005/8/layout/hChevron3"/>
    <dgm:cxn modelId="{450F86A6-5673-4BDE-AD32-827C929FA7E5}" type="presParOf" srcId="{8E8B6775-E8A8-4E76-B836-069D6C959C3D}" destId="{CF1C70BB-E756-4905-B4C9-5EC19B92FA75}" srcOrd="1" destOrd="0" presId="urn:microsoft.com/office/officeart/2005/8/layout/hChevron3"/>
    <dgm:cxn modelId="{E6C1B70D-5296-4085-8453-80FC79455242}" type="presParOf" srcId="{8E8B6775-E8A8-4E76-B836-069D6C959C3D}" destId="{4FCFCD73-1C94-4965-90D2-BA77F1303B24}" srcOrd="2" destOrd="0" presId="urn:microsoft.com/office/officeart/2005/8/layout/hChevron3"/>
    <dgm:cxn modelId="{DF0D92FD-DCC2-4F6D-8DE1-E59DF323C2A4}" type="presParOf" srcId="{8E8B6775-E8A8-4E76-B836-069D6C959C3D}" destId="{24C57522-2E82-40E1-9FCB-49CDD417EC0A}" srcOrd="3" destOrd="0" presId="urn:microsoft.com/office/officeart/2005/8/layout/hChevron3"/>
    <dgm:cxn modelId="{D8FE3A0E-0AC1-4010-A69F-BF88A071984D}" type="presParOf" srcId="{8E8B6775-E8A8-4E76-B836-069D6C959C3D}" destId="{D0C73FB1-D0F4-44B5-8321-900B57BF2EE4}"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FCF268-507E-2742-999E-623C7CDBA1E9}">
      <dsp:nvSpPr>
        <dsp:cNvPr id="0" name=""/>
        <dsp:cNvSpPr/>
      </dsp:nvSpPr>
      <dsp:spPr>
        <a:xfrm>
          <a:off x="795826" y="1353611"/>
          <a:ext cx="2908261" cy="1010000"/>
        </a:xfrm>
        <a:prstGeom prst="ellipse">
          <a:avLst/>
        </a:prstGeom>
        <a:solidFill>
          <a:schemeClr val="accent1">
            <a:tint val="50000"/>
            <a:alpha val="40000"/>
            <a:hueOff val="0"/>
            <a:satOff val="0"/>
            <a:lumOff val="0"/>
            <a:alphaOff val="0"/>
          </a:schemeClr>
        </a:solidFill>
        <a:ln w="9525"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52400" prstMaterial="matte"/>
      </dsp:spPr>
      <dsp:style>
        <a:lnRef idx="1">
          <a:scrgbClr r="0" g="0" b="0"/>
        </a:lnRef>
        <a:fillRef idx="1">
          <a:scrgbClr r="0" g="0" b="0"/>
        </a:fillRef>
        <a:effectRef idx="0">
          <a:scrgbClr r="0" g="0" b="0"/>
        </a:effectRef>
        <a:fontRef idx="minor"/>
      </dsp:style>
    </dsp:sp>
    <dsp:sp modelId="{5B15FE35-7E94-924F-9B80-DCC33FD78337}">
      <dsp:nvSpPr>
        <dsp:cNvPr id="0" name=""/>
        <dsp:cNvSpPr/>
      </dsp:nvSpPr>
      <dsp:spPr>
        <a:xfrm>
          <a:off x="1972657" y="3826760"/>
          <a:ext cx="563616" cy="360714"/>
        </a:xfrm>
        <a:prstGeom prst="downArrow">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6317ECF9-E4F9-C54D-A083-05BE71064FB3}">
      <dsp:nvSpPr>
        <dsp:cNvPr id="0" name=""/>
        <dsp:cNvSpPr/>
      </dsp:nvSpPr>
      <dsp:spPr>
        <a:xfrm>
          <a:off x="792084" y="4176466"/>
          <a:ext cx="2705359" cy="676339"/>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GB" sz="2400" kern="1200" dirty="0"/>
            <a:t>MTOW</a:t>
          </a:r>
        </a:p>
      </dsp:txBody>
      <dsp:txXfrm>
        <a:off x="792084" y="4176466"/>
        <a:ext cx="2705359" cy="676339"/>
      </dsp:txXfrm>
    </dsp:sp>
    <dsp:sp modelId="{0AE68EA2-47F3-5C4E-A312-4B63AA583540}">
      <dsp:nvSpPr>
        <dsp:cNvPr id="0" name=""/>
        <dsp:cNvSpPr/>
      </dsp:nvSpPr>
      <dsp:spPr>
        <a:xfrm>
          <a:off x="1488811" y="1374638"/>
          <a:ext cx="1578126" cy="1578126"/>
        </a:xfrm>
        <a:prstGeom prst="ellipse">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GB" sz="1700" kern="1200" dirty="0"/>
            <a:t>Weight uncertainty</a:t>
          </a:r>
        </a:p>
      </dsp:txBody>
      <dsp:txXfrm>
        <a:off x="1719922" y="1605749"/>
        <a:ext cx="1115904" cy="1115904"/>
      </dsp:txXfrm>
    </dsp:sp>
    <dsp:sp modelId="{0BA253A1-40E4-094E-9C05-B25131AB9F32}">
      <dsp:nvSpPr>
        <dsp:cNvPr id="0" name=""/>
        <dsp:cNvSpPr/>
      </dsp:nvSpPr>
      <dsp:spPr>
        <a:xfrm>
          <a:off x="676339" y="1229615"/>
          <a:ext cx="3156252" cy="2525001"/>
        </a:xfrm>
        <a:prstGeom prst="funnel">
          <a:avLst/>
        </a:prstGeom>
        <a:solidFill>
          <a:schemeClr val="lt1">
            <a:alpha val="4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DE5E2-4B38-4AE9-818E-3924F66D6762}">
      <dsp:nvSpPr>
        <dsp:cNvPr id="0" name=""/>
        <dsp:cNvSpPr/>
      </dsp:nvSpPr>
      <dsp:spPr>
        <a:xfrm>
          <a:off x="3069" y="0"/>
          <a:ext cx="2684091" cy="648072"/>
        </a:xfrm>
        <a:prstGeom prst="homePlate">
          <a:avLst/>
        </a:prstGeom>
        <a:solidFill>
          <a:schemeClr val="bg2">
            <a:lumMod val="40000"/>
            <a:lumOff val="6000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Conceptual design</a:t>
          </a:r>
        </a:p>
      </dsp:txBody>
      <dsp:txXfrm>
        <a:off x="3069" y="0"/>
        <a:ext cx="2522073" cy="648072"/>
      </dsp:txXfrm>
    </dsp:sp>
    <dsp:sp modelId="{4FCFCD73-1C94-4965-90D2-BA77F1303B24}">
      <dsp:nvSpPr>
        <dsp:cNvPr id="0" name=""/>
        <dsp:cNvSpPr/>
      </dsp:nvSpPr>
      <dsp:spPr>
        <a:xfrm>
          <a:off x="2150342" y="0"/>
          <a:ext cx="2684091" cy="648072"/>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Preliminary design</a:t>
          </a:r>
        </a:p>
      </dsp:txBody>
      <dsp:txXfrm>
        <a:off x="2474378" y="0"/>
        <a:ext cx="2036019" cy="648072"/>
      </dsp:txXfrm>
    </dsp:sp>
    <dsp:sp modelId="{D0C73FB1-D0F4-44B5-8321-900B57BF2EE4}">
      <dsp:nvSpPr>
        <dsp:cNvPr id="0" name=""/>
        <dsp:cNvSpPr/>
      </dsp:nvSpPr>
      <dsp:spPr>
        <a:xfrm>
          <a:off x="4297615" y="0"/>
          <a:ext cx="2684091" cy="648072"/>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Detail design</a:t>
          </a:r>
        </a:p>
      </dsp:txBody>
      <dsp:txXfrm>
        <a:off x="4621651" y="0"/>
        <a:ext cx="2036019" cy="6480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DE5E2-4B38-4AE9-818E-3924F66D6762}">
      <dsp:nvSpPr>
        <dsp:cNvPr id="0" name=""/>
        <dsp:cNvSpPr/>
      </dsp:nvSpPr>
      <dsp:spPr>
        <a:xfrm>
          <a:off x="3069" y="0"/>
          <a:ext cx="2684091" cy="648072"/>
        </a:xfrm>
        <a:prstGeom prst="homePlate">
          <a:avLst/>
        </a:prstGeom>
        <a:solidFill>
          <a:schemeClr val="bg2">
            <a:lumMod val="40000"/>
            <a:lumOff val="6000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Conceptual design</a:t>
          </a:r>
        </a:p>
      </dsp:txBody>
      <dsp:txXfrm>
        <a:off x="3069" y="0"/>
        <a:ext cx="2522073" cy="648072"/>
      </dsp:txXfrm>
    </dsp:sp>
    <dsp:sp modelId="{4FCFCD73-1C94-4965-90D2-BA77F1303B24}">
      <dsp:nvSpPr>
        <dsp:cNvPr id="0" name=""/>
        <dsp:cNvSpPr/>
      </dsp:nvSpPr>
      <dsp:spPr>
        <a:xfrm>
          <a:off x="2150342" y="0"/>
          <a:ext cx="2684091" cy="648072"/>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Preliminary design</a:t>
          </a:r>
        </a:p>
      </dsp:txBody>
      <dsp:txXfrm>
        <a:off x="2474378" y="0"/>
        <a:ext cx="2036019" cy="648072"/>
      </dsp:txXfrm>
    </dsp:sp>
    <dsp:sp modelId="{D0C73FB1-D0F4-44B5-8321-900B57BF2EE4}">
      <dsp:nvSpPr>
        <dsp:cNvPr id="0" name=""/>
        <dsp:cNvSpPr/>
      </dsp:nvSpPr>
      <dsp:spPr>
        <a:xfrm>
          <a:off x="4297615" y="0"/>
          <a:ext cx="2684091" cy="648072"/>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Detail design</a:t>
          </a:r>
        </a:p>
      </dsp:txBody>
      <dsp:txXfrm>
        <a:off x="4621651" y="0"/>
        <a:ext cx="2036019" cy="6480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DE5E2-4B38-4AE9-818E-3924F66D6762}">
      <dsp:nvSpPr>
        <dsp:cNvPr id="0" name=""/>
        <dsp:cNvSpPr/>
      </dsp:nvSpPr>
      <dsp:spPr>
        <a:xfrm>
          <a:off x="3069" y="0"/>
          <a:ext cx="2684091" cy="648072"/>
        </a:xfrm>
        <a:prstGeom prst="homePlate">
          <a:avLst/>
        </a:prstGeom>
        <a:no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Conceptual design</a:t>
          </a:r>
        </a:p>
      </dsp:txBody>
      <dsp:txXfrm>
        <a:off x="3069" y="0"/>
        <a:ext cx="2522073" cy="648072"/>
      </dsp:txXfrm>
    </dsp:sp>
    <dsp:sp modelId="{4FCFCD73-1C94-4965-90D2-BA77F1303B24}">
      <dsp:nvSpPr>
        <dsp:cNvPr id="0" name=""/>
        <dsp:cNvSpPr/>
      </dsp:nvSpPr>
      <dsp:spPr>
        <a:xfrm>
          <a:off x="2150342" y="0"/>
          <a:ext cx="2684091" cy="648072"/>
        </a:xfrm>
        <a:prstGeom prst="chevron">
          <a:avLst/>
        </a:prstGeom>
        <a:solidFill>
          <a:schemeClr val="bg2">
            <a:lumMod val="60000"/>
            <a:lumOff val="4000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Preliminary design</a:t>
          </a:r>
        </a:p>
      </dsp:txBody>
      <dsp:txXfrm>
        <a:off x="2474378" y="0"/>
        <a:ext cx="2036019" cy="648072"/>
      </dsp:txXfrm>
    </dsp:sp>
    <dsp:sp modelId="{D0C73FB1-D0F4-44B5-8321-900B57BF2EE4}">
      <dsp:nvSpPr>
        <dsp:cNvPr id="0" name=""/>
        <dsp:cNvSpPr/>
      </dsp:nvSpPr>
      <dsp:spPr>
        <a:xfrm>
          <a:off x="4297615" y="0"/>
          <a:ext cx="2684091" cy="648072"/>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Detail design</a:t>
          </a:r>
        </a:p>
      </dsp:txBody>
      <dsp:txXfrm>
        <a:off x="4621651" y="0"/>
        <a:ext cx="2036019" cy="6480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DE5E2-4B38-4AE9-818E-3924F66D6762}">
      <dsp:nvSpPr>
        <dsp:cNvPr id="0" name=""/>
        <dsp:cNvSpPr/>
      </dsp:nvSpPr>
      <dsp:spPr>
        <a:xfrm>
          <a:off x="3069" y="0"/>
          <a:ext cx="2684091" cy="648072"/>
        </a:xfrm>
        <a:prstGeom prst="homePlate">
          <a:avLst/>
        </a:prstGeom>
        <a:no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Conceptual design</a:t>
          </a:r>
        </a:p>
      </dsp:txBody>
      <dsp:txXfrm>
        <a:off x="3069" y="0"/>
        <a:ext cx="2522073" cy="648072"/>
      </dsp:txXfrm>
    </dsp:sp>
    <dsp:sp modelId="{4FCFCD73-1C94-4965-90D2-BA77F1303B24}">
      <dsp:nvSpPr>
        <dsp:cNvPr id="0" name=""/>
        <dsp:cNvSpPr/>
      </dsp:nvSpPr>
      <dsp:spPr>
        <a:xfrm>
          <a:off x="2150342" y="0"/>
          <a:ext cx="2684091" cy="648072"/>
        </a:xfrm>
        <a:prstGeom prst="chevron">
          <a:avLst/>
        </a:prstGeom>
        <a:solidFill>
          <a:schemeClr val="bg1"/>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Preliminary design</a:t>
          </a:r>
        </a:p>
      </dsp:txBody>
      <dsp:txXfrm>
        <a:off x="2474378" y="0"/>
        <a:ext cx="2036019" cy="648072"/>
      </dsp:txXfrm>
    </dsp:sp>
    <dsp:sp modelId="{D0C73FB1-D0F4-44B5-8321-900B57BF2EE4}">
      <dsp:nvSpPr>
        <dsp:cNvPr id="0" name=""/>
        <dsp:cNvSpPr/>
      </dsp:nvSpPr>
      <dsp:spPr>
        <a:xfrm>
          <a:off x="4297615" y="0"/>
          <a:ext cx="2684091" cy="648072"/>
        </a:xfrm>
        <a:prstGeom prst="chevron">
          <a:avLst/>
        </a:prstGeom>
        <a:solidFill>
          <a:schemeClr val="bg2">
            <a:lumMod val="60000"/>
            <a:lumOff val="4000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Detail design</a:t>
          </a:r>
        </a:p>
      </dsp:txBody>
      <dsp:txXfrm>
        <a:off x="4621651" y="0"/>
        <a:ext cx="2036019" cy="64807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DE5E2-4B38-4AE9-818E-3924F66D6762}">
      <dsp:nvSpPr>
        <dsp:cNvPr id="0" name=""/>
        <dsp:cNvSpPr/>
      </dsp:nvSpPr>
      <dsp:spPr>
        <a:xfrm>
          <a:off x="3069" y="0"/>
          <a:ext cx="2684091" cy="648072"/>
        </a:xfrm>
        <a:prstGeom prst="homePlate">
          <a:avLst/>
        </a:prstGeom>
        <a:no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Conceptual design</a:t>
          </a:r>
        </a:p>
      </dsp:txBody>
      <dsp:txXfrm>
        <a:off x="3069" y="0"/>
        <a:ext cx="2522073" cy="648072"/>
      </dsp:txXfrm>
    </dsp:sp>
    <dsp:sp modelId="{4FCFCD73-1C94-4965-90D2-BA77F1303B24}">
      <dsp:nvSpPr>
        <dsp:cNvPr id="0" name=""/>
        <dsp:cNvSpPr/>
      </dsp:nvSpPr>
      <dsp:spPr>
        <a:xfrm>
          <a:off x="2150342" y="0"/>
          <a:ext cx="2684091" cy="648072"/>
        </a:xfrm>
        <a:prstGeom prst="chevron">
          <a:avLst/>
        </a:prstGeom>
        <a:solidFill>
          <a:schemeClr val="bg1"/>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Preliminary design</a:t>
          </a:r>
        </a:p>
      </dsp:txBody>
      <dsp:txXfrm>
        <a:off x="2474378" y="0"/>
        <a:ext cx="2036019" cy="648072"/>
      </dsp:txXfrm>
    </dsp:sp>
    <dsp:sp modelId="{D0C73FB1-D0F4-44B5-8321-900B57BF2EE4}">
      <dsp:nvSpPr>
        <dsp:cNvPr id="0" name=""/>
        <dsp:cNvSpPr/>
      </dsp:nvSpPr>
      <dsp:spPr>
        <a:xfrm>
          <a:off x="4297615" y="0"/>
          <a:ext cx="2684091" cy="648072"/>
        </a:xfrm>
        <a:prstGeom prst="chevron">
          <a:avLst/>
        </a:prstGeom>
        <a:solidFill>
          <a:schemeClr val="bg2">
            <a:lumMod val="60000"/>
            <a:lumOff val="4000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Detail design</a:t>
          </a:r>
        </a:p>
      </dsp:txBody>
      <dsp:txXfrm>
        <a:off x="4621651" y="0"/>
        <a:ext cx="2036019" cy="64807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DE5E2-4B38-4AE9-818E-3924F66D6762}">
      <dsp:nvSpPr>
        <dsp:cNvPr id="0" name=""/>
        <dsp:cNvSpPr/>
      </dsp:nvSpPr>
      <dsp:spPr>
        <a:xfrm>
          <a:off x="3069" y="0"/>
          <a:ext cx="2684091" cy="648072"/>
        </a:xfrm>
        <a:prstGeom prst="homePlate">
          <a:avLst/>
        </a:prstGeom>
        <a:no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Conceptual design</a:t>
          </a:r>
        </a:p>
      </dsp:txBody>
      <dsp:txXfrm>
        <a:off x="3069" y="0"/>
        <a:ext cx="2522073" cy="648072"/>
      </dsp:txXfrm>
    </dsp:sp>
    <dsp:sp modelId="{4FCFCD73-1C94-4965-90D2-BA77F1303B24}">
      <dsp:nvSpPr>
        <dsp:cNvPr id="0" name=""/>
        <dsp:cNvSpPr/>
      </dsp:nvSpPr>
      <dsp:spPr>
        <a:xfrm>
          <a:off x="2150342" y="0"/>
          <a:ext cx="2684091" cy="648072"/>
        </a:xfrm>
        <a:prstGeom prst="chevron">
          <a:avLst/>
        </a:prstGeom>
        <a:solidFill>
          <a:schemeClr val="bg2">
            <a:lumMod val="60000"/>
            <a:lumOff val="4000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Preliminary design</a:t>
          </a:r>
        </a:p>
      </dsp:txBody>
      <dsp:txXfrm>
        <a:off x="2474378" y="0"/>
        <a:ext cx="2036019" cy="648072"/>
      </dsp:txXfrm>
    </dsp:sp>
    <dsp:sp modelId="{D0C73FB1-D0F4-44B5-8321-900B57BF2EE4}">
      <dsp:nvSpPr>
        <dsp:cNvPr id="0" name=""/>
        <dsp:cNvSpPr/>
      </dsp:nvSpPr>
      <dsp:spPr>
        <a:xfrm>
          <a:off x="4297615" y="0"/>
          <a:ext cx="2684091" cy="648072"/>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Detail design</a:t>
          </a:r>
        </a:p>
      </dsp:txBody>
      <dsp:txXfrm>
        <a:off x="4621651" y="0"/>
        <a:ext cx="2036019" cy="648072"/>
      </dsp:txXfrm>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44579" cy="4975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fontAlgn="base" hangingPunct="0">
              <a:defRPr sz="1200">
                <a:latin typeface="Times" pitchFamily="18" charset="0"/>
                <a:cs typeface="+mn-cs"/>
              </a:defRPr>
            </a:lvl1pPr>
          </a:lstStyle>
          <a:p>
            <a:pPr>
              <a:defRPr/>
            </a:pPr>
            <a:endParaRPr lang="nl-NL"/>
          </a:p>
        </p:txBody>
      </p:sp>
      <p:sp>
        <p:nvSpPr>
          <p:cNvPr id="31747" name="Rectangle 3"/>
          <p:cNvSpPr>
            <a:spLocks noGrp="1" noChangeArrowheads="1"/>
          </p:cNvSpPr>
          <p:nvPr>
            <p:ph type="dt" sz="quarter" idx="1"/>
          </p:nvPr>
        </p:nvSpPr>
        <p:spPr bwMode="auto">
          <a:xfrm>
            <a:off x="3849923" y="0"/>
            <a:ext cx="2944578" cy="4975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fontAlgn="base" hangingPunct="0">
              <a:defRPr sz="1200">
                <a:latin typeface="Times" pitchFamily="18" charset="0"/>
                <a:cs typeface="+mn-cs"/>
              </a:defRPr>
            </a:lvl1pPr>
          </a:lstStyle>
          <a:p>
            <a:pPr>
              <a:defRPr/>
            </a:pPr>
            <a:endParaRPr lang="nl-NL"/>
          </a:p>
        </p:txBody>
      </p:sp>
      <p:sp>
        <p:nvSpPr>
          <p:cNvPr id="31748" name="Rectangle 4"/>
          <p:cNvSpPr>
            <a:spLocks noGrp="1" noChangeArrowheads="1"/>
          </p:cNvSpPr>
          <p:nvPr>
            <p:ph type="ftr" sz="quarter" idx="2"/>
          </p:nvPr>
        </p:nvSpPr>
        <p:spPr bwMode="auto">
          <a:xfrm>
            <a:off x="0" y="9433845"/>
            <a:ext cx="2944579" cy="4975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fontAlgn="base" hangingPunct="0">
              <a:defRPr sz="1200">
                <a:latin typeface="Times" pitchFamily="18" charset="0"/>
                <a:cs typeface="+mn-cs"/>
              </a:defRPr>
            </a:lvl1pPr>
          </a:lstStyle>
          <a:p>
            <a:pPr>
              <a:defRPr/>
            </a:pPr>
            <a:endParaRPr lang="nl-NL"/>
          </a:p>
        </p:txBody>
      </p:sp>
      <p:sp>
        <p:nvSpPr>
          <p:cNvPr id="31749" name="Rectangle 5"/>
          <p:cNvSpPr>
            <a:spLocks noGrp="1" noChangeArrowheads="1"/>
          </p:cNvSpPr>
          <p:nvPr>
            <p:ph type="sldNum" sz="quarter" idx="3"/>
          </p:nvPr>
        </p:nvSpPr>
        <p:spPr bwMode="auto">
          <a:xfrm>
            <a:off x="3849923" y="9433845"/>
            <a:ext cx="2944578" cy="4975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fontAlgn="base" hangingPunct="0">
              <a:defRPr sz="1200">
                <a:latin typeface="Times" pitchFamily="18" charset="0"/>
                <a:cs typeface="+mn-cs"/>
              </a:defRPr>
            </a:lvl1pPr>
          </a:lstStyle>
          <a:p>
            <a:pPr>
              <a:defRPr/>
            </a:pPr>
            <a:fld id="{5B7E08B3-72E6-4123-9918-E9B02B0E09F4}" type="slidenum">
              <a:rPr lang="nl-NL"/>
              <a:pPr>
                <a:defRPr/>
              </a:pPr>
              <a:t>‹#›</a:t>
            </a:fld>
            <a:endParaRPr lang="nl-NL"/>
          </a:p>
        </p:txBody>
      </p:sp>
    </p:spTree>
    <p:extLst>
      <p:ext uri="{BB962C8B-B14F-4D97-AF65-F5344CB8AC3E}">
        <p14:creationId xmlns:p14="http://schemas.microsoft.com/office/powerpoint/2010/main" val="16369343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44579" cy="4975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fontAlgn="base" hangingPunct="0">
              <a:defRPr sz="1200">
                <a:latin typeface="Times" pitchFamily="18" charset="0"/>
                <a:cs typeface="+mn-cs"/>
              </a:defRPr>
            </a:lvl1pPr>
          </a:lstStyle>
          <a:p>
            <a:pPr>
              <a:defRPr/>
            </a:pPr>
            <a:endParaRPr lang="en-US"/>
          </a:p>
        </p:txBody>
      </p:sp>
      <p:sp>
        <p:nvSpPr>
          <p:cNvPr id="16387" name="Rectangle 3"/>
          <p:cNvSpPr>
            <a:spLocks noGrp="1" noChangeArrowheads="1"/>
          </p:cNvSpPr>
          <p:nvPr>
            <p:ph type="dt" idx="1"/>
          </p:nvPr>
        </p:nvSpPr>
        <p:spPr bwMode="auto">
          <a:xfrm>
            <a:off x="3849923" y="0"/>
            <a:ext cx="2944578" cy="4975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fontAlgn="base" hangingPunct="0">
              <a:defRPr sz="1200">
                <a:latin typeface="Times" pitchFamily="18" charset="0"/>
                <a:cs typeface="+mn-cs"/>
              </a:defRPr>
            </a:lvl1pPr>
          </a:lstStyle>
          <a:p>
            <a:pPr>
              <a:defRPr/>
            </a:pPr>
            <a:endParaRPr lang="en-US"/>
          </a:p>
        </p:txBody>
      </p:sp>
      <p:sp>
        <p:nvSpPr>
          <p:cNvPr id="84996" name="Rectangle 4"/>
          <p:cNvSpPr>
            <a:spLocks noGrp="1" noRot="1" noChangeAspect="1" noChangeArrowheads="1" noTextEdit="1"/>
          </p:cNvSpPr>
          <p:nvPr>
            <p:ph type="sldImg" idx="2"/>
          </p:nvPr>
        </p:nvSpPr>
        <p:spPr bwMode="auto">
          <a:xfrm>
            <a:off x="87313" y="746125"/>
            <a:ext cx="6619875" cy="3724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9" name="Rectangle 5"/>
          <p:cNvSpPr>
            <a:spLocks noGrp="1" noChangeArrowheads="1"/>
          </p:cNvSpPr>
          <p:nvPr>
            <p:ph type="body" sz="quarter" idx="3"/>
          </p:nvPr>
        </p:nvSpPr>
        <p:spPr bwMode="auto">
          <a:xfrm>
            <a:off x="905344" y="4717745"/>
            <a:ext cx="4983813" cy="446814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p:cNvSpPr>
            <a:spLocks noGrp="1" noChangeArrowheads="1"/>
          </p:cNvSpPr>
          <p:nvPr>
            <p:ph type="ftr" sz="quarter" idx="4"/>
          </p:nvPr>
        </p:nvSpPr>
        <p:spPr bwMode="auto">
          <a:xfrm>
            <a:off x="0" y="9433845"/>
            <a:ext cx="2944579" cy="4975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fontAlgn="base" hangingPunct="0">
              <a:defRPr sz="1200">
                <a:latin typeface="Times" pitchFamily="18" charset="0"/>
                <a:cs typeface="+mn-cs"/>
              </a:defRPr>
            </a:lvl1pPr>
          </a:lstStyle>
          <a:p>
            <a:pPr>
              <a:defRPr/>
            </a:pPr>
            <a:endParaRPr lang="en-US"/>
          </a:p>
        </p:txBody>
      </p:sp>
      <p:sp>
        <p:nvSpPr>
          <p:cNvPr id="16391" name="Rectangle 7"/>
          <p:cNvSpPr>
            <a:spLocks noGrp="1" noChangeArrowheads="1"/>
          </p:cNvSpPr>
          <p:nvPr>
            <p:ph type="sldNum" sz="quarter" idx="5"/>
          </p:nvPr>
        </p:nvSpPr>
        <p:spPr bwMode="auto">
          <a:xfrm>
            <a:off x="3849923" y="9433845"/>
            <a:ext cx="2944578" cy="4975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fontAlgn="base" hangingPunct="0">
              <a:defRPr sz="1200">
                <a:latin typeface="Times" pitchFamily="18" charset="0"/>
                <a:cs typeface="+mn-cs"/>
              </a:defRPr>
            </a:lvl1pPr>
          </a:lstStyle>
          <a:p>
            <a:pPr>
              <a:defRPr/>
            </a:pPr>
            <a:fld id="{EE897D41-1059-4324-A203-2019645CBE9E}" type="slidenum">
              <a:rPr lang="en-US"/>
              <a:pPr>
                <a:defRPr/>
              </a:pPr>
              <a:t>‹#›</a:t>
            </a:fld>
            <a:endParaRPr lang="en-US"/>
          </a:p>
        </p:txBody>
      </p:sp>
    </p:spTree>
    <p:extLst>
      <p:ext uri="{BB962C8B-B14F-4D97-AF65-F5344CB8AC3E}">
        <p14:creationId xmlns:p14="http://schemas.microsoft.com/office/powerpoint/2010/main" val="25714908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23825" y="714375"/>
            <a:ext cx="6618288" cy="3724275"/>
          </a:xfrm>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53" tIns="46077" rIns="92153" bIns="46077"/>
          <a:lstStyle/>
          <a:p>
            <a:endParaRPr lang="nl-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E5B333B3-0979-4072-A06D-EC2B6B121191}" type="slidenum">
              <a:rPr lang="en-US" altLang="nl-NL">
                <a:latin typeface="Arial" charset="0"/>
              </a:rPr>
              <a:pPr algn="r" eaLnBrk="1" hangingPunct="1">
                <a:spcBef>
                  <a:spcPct val="0"/>
                </a:spcBef>
              </a:pPr>
              <a:t>2</a:t>
            </a:fld>
            <a:endParaRPr lang="en-US" altLang="nl-NL">
              <a:latin typeface="Arial" charset="0"/>
            </a:endParaRPr>
          </a:p>
        </p:txBody>
      </p:sp>
      <p:sp>
        <p:nvSpPr>
          <p:cNvPr id="69635" name="Rectangle 2"/>
          <p:cNvSpPr>
            <a:spLocks noGrp="1" noRot="1" noChangeAspect="1" noChangeArrowheads="1" noTextEdit="1"/>
          </p:cNvSpPr>
          <p:nvPr>
            <p:ph type="sldImg"/>
          </p:nvPr>
        </p:nvSpPr>
        <p:spPr>
          <a:xfrm>
            <a:off x="90488" y="746125"/>
            <a:ext cx="6616700" cy="3722688"/>
          </a:xfrm>
          <a:ln/>
        </p:spPr>
      </p:sp>
      <p:sp>
        <p:nvSpPr>
          <p:cNvPr id="69636"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endParaRPr lang="en-GB" altLang="nl-N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3</a:t>
            </a:fld>
            <a:endParaRPr lang="en-US"/>
          </a:p>
        </p:txBody>
      </p:sp>
    </p:spTree>
    <p:extLst>
      <p:ext uri="{BB962C8B-B14F-4D97-AF65-F5344CB8AC3E}">
        <p14:creationId xmlns:p14="http://schemas.microsoft.com/office/powerpoint/2010/main" val="1616166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4</a:t>
            </a:fld>
            <a:endParaRPr lang="en-US"/>
          </a:p>
        </p:txBody>
      </p:sp>
    </p:spTree>
    <p:extLst>
      <p:ext uri="{BB962C8B-B14F-4D97-AF65-F5344CB8AC3E}">
        <p14:creationId xmlns:p14="http://schemas.microsoft.com/office/powerpoint/2010/main" val="1329104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8888F526-05F3-4E0D-AEBB-16069C6F34AB}" type="slidenum">
              <a:rPr lang="en-US" smtClean="0">
                <a:latin typeface="Arial" pitchFamily="34" charset="0"/>
              </a:rPr>
              <a:pPr/>
              <a:t>5</a:t>
            </a:fld>
            <a:endParaRPr lang="en-US">
              <a:latin typeface="Arial" pitchFamily="34" charset="0"/>
            </a:endParaRPr>
          </a:p>
        </p:txBody>
      </p:sp>
      <p:sp>
        <p:nvSpPr>
          <p:cNvPr id="67587" name="Rectangle 2"/>
          <p:cNvSpPr>
            <a:spLocks noGrp="1" noRot="1" noChangeAspect="1" noChangeArrowheads="1" noTextEdit="1"/>
          </p:cNvSpPr>
          <p:nvPr>
            <p:ph type="sldImg"/>
          </p:nvPr>
        </p:nvSpPr>
        <p:spPr>
          <a:xfrm>
            <a:off x="87313" y="746125"/>
            <a:ext cx="6619875" cy="3724275"/>
          </a:xfrm>
          <a:ln/>
        </p:spPr>
      </p:sp>
      <p:sp>
        <p:nvSpPr>
          <p:cNvPr id="67588" name="Rectangle 3"/>
          <p:cNvSpPr>
            <a:spLocks noGrp="1" noChangeArrowheads="1"/>
          </p:cNvSpPr>
          <p:nvPr>
            <p:ph type="body" idx="1"/>
          </p:nvPr>
        </p:nvSpPr>
        <p:spPr>
          <a:noFill/>
          <a:ln/>
        </p:spPr>
        <p:txBody>
          <a:bodyPr/>
          <a:lstStyle/>
          <a:p>
            <a:pPr eaLnBrk="1" hangingPunct="1"/>
            <a:r>
              <a:rPr lang="en-US" sz="1100" dirty="0">
                <a:latin typeface="Tahoma" pitchFamily="34" charset="0"/>
              </a:rPr>
              <a:t>*weight is already determinant for the initial selection of the applying regulations</a:t>
            </a:r>
            <a:r>
              <a:rPr lang="en-US" sz="1100" baseline="0" dirty="0">
                <a:latin typeface="Tahoma" pitchFamily="34" charset="0"/>
              </a:rPr>
              <a:t> (CS 23, CS 25, CS VLA). See AE1201 on certification requirements.</a:t>
            </a:r>
            <a:endParaRPr lang="en-GB" sz="1100" dirty="0">
              <a:latin typeface="Arial" pitchFamily="34" charset="0"/>
            </a:endParaRPr>
          </a:p>
          <a:p>
            <a:pPr marL="0" indent="0" algn="just" eaLnBrk="1" hangingPunct="1">
              <a:lnSpc>
                <a:spcPct val="90000"/>
              </a:lnSpc>
              <a:buNone/>
            </a:pPr>
            <a:endParaRPr lang="en-US" sz="1100" dirty="0">
              <a:sym typeface="Wingdings" pitchFamily="2" charset="2"/>
            </a:endParaRPr>
          </a:p>
          <a:p>
            <a:pPr marL="0" indent="0" algn="just" eaLnBrk="1" hangingPunct="1">
              <a:lnSpc>
                <a:spcPct val="90000"/>
              </a:lnSpc>
              <a:buNone/>
            </a:pPr>
            <a:r>
              <a:rPr lang="en-US" sz="1100" dirty="0">
                <a:sym typeface="Wingdings" pitchFamily="2" charset="2"/>
              </a:rPr>
              <a:t>C</a:t>
            </a:r>
            <a:r>
              <a:rPr lang="en-US" sz="1100" dirty="0"/>
              <a:t>ertified l</a:t>
            </a:r>
            <a:r>
              <a:rPr lang="en-US" sz="1100" dirty="0">
                <a:sym typeface="Wingdings" pitchFamily="2" charset="2"/>
              </a:rPr>
              <a:t>imits are imposed on weights that vary during the flight and may be different for each flight**, in order </a:t>
            </a:r>
            <a:r>
              <a:rPr lang="en-US" sz="1100" dirty="0">
                <a:solidFill>
                  <a:srgbClr val="FF3300"/>
                </a:solidFill>
                <a:sym typeface="Wingdings" pitchFamily="2" charset="2"/>
              </a:rPr>
              <a:t>to prevent overloading of the structure, unacceptable performance and unacceptable handling qualities.</a:t>
            </a:r>
            <a:r>
              <a:rPr lang="en-US" sz="1100" dirty="0"/>
              <a:t> </a:t>
            </a:r>
          </a:p>
          <a:p>
            <a:pPr eaLnBrk="1" hangingPunct="1"/>
            <a:endParaRPr lang="en-GB" sz="1100" dirty="0">
              <a:latin typeface="Arial" pitchFamily="34" charset="0"/>
            </a:endParaRPr>
          </a:p>
          <a:p>
            <a:pPr marL="0" indent="0" eaLnBrk="1" hangingPunct="1">
              <a:lnSpc>
                <a:spcPct val="90000"/>
              </a:lnSpc>
              <a:buFontTx/>
              <a:buNone/>
            </a:pPr>
            <a:r>
              <a:rPr lang="en-US" sz="1100" dirty="0">
                <a:sym typeface="Wingdings" pitchFamily="2" charset="2"/>
              </a:rPr>
              <a:t>**in particular,</a:t>
            </a:r>
            <a:r>
              <a:rPr lang="en-US" sz="1100" baseline="0" dirty="0">
                <a:sym typeface="Wingdings" pitchFamily="2" charset="2"/>
              </a:rPr>
              <a:t> on </a:t>
            </a:r>
            <a:r>
              <a:rPr lang="en-US" sz="1100" dirty="0">
                <a:sym typeface="Wingdings" pitchFamily="2" charset="2"/>
              </a:rPr>
              <a:t>m</a:t>
            </a:r>
            <a:r>
              <a:rPr lang="en-US" sz="1100" dirty="0"/>
              <a:t>aximum zero fuel weight</a:t>
            </a:r>
            <a:r>
              <a:rPr lang="en-US" sz="1100" baseline="0" dirty="0"/>
              <a:t> </a:t>
            </a:r>
            <a:r>
              <a:rPr lang="en-US" sz="1100" dirty="0"/>
              <a:t>MZFW, maximum take-off weight MTOW,</a:t>
            </a:r>
            <a:r>
              <a:rPr lang="en-US" sz="1100" baseline="0" dirty="0"/>
              <a:t> and </a:t>
            </a:r>
            <a:r>
              <a:rPr lang="en-US" sz="1100" dirty="0"/>
              <a:t>maximum landing weight MLW</a:t>
            </a:r>
            <a:endParaRPr lang="en-GB" sz="1100" dirty="0">
              <a:latin typeface="Arial" pitchFamily="34" charset="0"/>
            </a:endParaRPr>
          </a:p>
          <a:p>
            <a:pPr marL="171450" indent="-171450" eaLnBrk="1" hangingPunct="1">
              <a:buFont typeface="Arial" pitchFamily="34" charset="0"/>
              <a:buChar char="•"/>
            </a:pPr>
            <a:r>
              <a:rPr lang="en-US" sz="1100" dirty="0">
                <a:latin typeface="Arial" pitchFamily="34" charset="0"/>
              </a:rPr>
              <a:t>MTOW = OEW + design payload + design mission fuel + reserve; spec defines conditions. </a:t>
            </a:r>
            <a:r>
              <a:rPr lang="en-US" sz="1100" b="1" dirty="0">
                <a:latin typeface="Arial" pitchFamily="34" charset="0"/>
              </a:rPr>
              <a:t>It affects most structural components</a:t>
            </a:r>
            <a:r>
              <a:rPr lang="en-US" sz="1100" dirty="0">
                <a:latin typeface="Arial" pitchFamily="34" charset="0"/>
              </a:rPr>
              <a:t>.</a:t>
            </a:r>
          </a:p>
          <a:p>
            <a:pPr marL="171450" indent="-171450" eaLnBrk="1" hangingPunct="1">
              <a:buFont typeface="Arial" pitchFamily="34" charset="0"/>
              <a:buChar char="•"/>
            </a:pPr>
            <a:r>
              <a:rPr lang="en-US" sz="1100" dirty="0">
                <a:latin typeface="Arial" pitchFamily="34" charset="0"/>
              </a:rPr>
              <a:t>MLW = OEW + max. payload + reserve fuel + margin (high density). </a:t>
            </a:r>
            <a:r>
              <a:rPr lang="en-US" sz="1100" b="1" dirty="0">
                <a:latin typeface="Arial" pitchFamily="34" charset="0"/>
              </a:rPr>
              <a:t>Mainly undercarriage related</a:t>
            </a:r>
          </a:p>
          <a:p>
            <a:pPr marL="171450" indent="-171450" eaLnBrk="1" hangingPunct="1">
              <a:buFont typeface="Arial" pitchFamily="34" charset="0"/>
              <a:buChar char="•"/>
            </a:pPr>
            <a:r>
              <a:rPr lang="en-US" sz="1100" dirty="0">
                <a:latin typeface="Arial" pitchFamily="34" charset="0"/>
              </a:rPr>
              <a:t>MZFW = OEW + max payload + margin. Partially wing related.</a:t>
            </a:r>
          </a:p>
          <a:p>
            <a:pPr eaLnBrk="1" hangingPunct="1"/>
            <a:endParaRPr lang="en-GB" sz="1100" dirty="0">
              <a:latin typeface="Arial"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sz="1100" dirty="0">
                <a:latin typeface="Tahoma" pitchFamily="34" charset="0"/>
              </a:rPr>
              <a:t>Weight is important, for example, in the certification of field- and climb-out performance (OEI) because of safety.</a:t>
            </a:r>
          </a:p>
          <a:p>
            <a:pPr eaLnBrk="1" hangingPunct="1"/>
            <a:endParaRPr lang="en-GB" sz="1100" dirty="0">
              <a:latin typeface="Arial"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sz="1100" dirty="0"/>
              <a:t>For </a:t>
            </a:r>
            <a:r>
              <a:rPr lang="en-US" sz="1100" b="1" dirty="0"/>
              <a:t>a certified aircraft</a:t>
            </a:r>
            <a:r>
              <a:rPr lang="en-US" sz="1100" dirty="0"/>
              <a:t> any increase or decrease of the</a:t>
            </a:r>
            <a:r>
              <a:rPr lang="en-US" sz="1100" dirty="0">
                <a:solidFill>
                  <a:srgbClr val="FF3300"/>
                </a:solidFill>
              </a:rPr>
              <a:t> </a:t>
            </a:r>
            <a:r>
              <a:rPr lang="en-US" sz="1100" dirty="0"/>
              <a:t>operational empty weight (OEW) is matched by an equal decrease or increase of the </a:t>
            </a:r>
            <a:r>
              <a:rPr lang="en-US" sz="1100" dirty="0">
                <a:solidFill>
                  <a:srgbClr val="FF3300"/>
                </a:solidFill>
              </a:rPr>
              <a:t>maximum (structural) payload</a:t>
            </a:r>
            <a:r>
              <a:rPr lang="en-US" sz="1100" dirty="0"/>
              <a:t>. Hence, once the aircraft has been certified</a:t>
            </a:r>
            <a:r>
              <a:rPr lang="en-US" sz="1100" baseline="0" dirty="0"/>
              <a:t> </a:t>
            </a:r>
            <a:r>
              <a:rPr lang="en-US" sz="1100" dirty="0"/>
              <a:t>for a certain weight (e.g. MTOW), these weights cannot be changed without certifying the modified aircraft version.</a:t>
            </a:r>
          </a:p>
          <a:p>
            <a:pPr eaLnBrk="1" hangingPunct="1"/>
            <a:endParaRPr lang="en-GB" sz="1100" dirty="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410FB4B5-2E38-4D3A-A010-E8D0047C9F06}" type="slidenum">
              <a:rPr lang="en-US" smtClean="0">
                <a:latin typeface="Arial" pitchFamily="34" charset="0"/>
              </a:rPr>
              <a:pPr/>
              <a:t>6</a:t>
            </a:fld>
            <a:endParaRPr lang="en-US">
              <a:latin typeface="Arial" pitchFamily="34" charset="0"/>
            </a:endParaRPr>
          </a:p>
        </p:txBody>
      </p:sp>
      <p:sp>
        <p:nvSpPr>
          <p:cNvPr id="69635" name="Rectangle 2"/>
          <p:cNvSpPr>
            <a:spLocks noGrp="1" noRot="1" noChangeAspect="1" noChangeArrowheads="1" noTextEdit="1"/>
          </p:cNvSpPr>
          <p:nvPr>
            <p:ph type="sldImg"/>
          </p:nvPr>
        </p:nvSpPr>
        <p:spPr>
          <a:xfrm>
            <a:off x="87313" y="746125"/>
            <a:ext cx="6619875" cy="3724275"/>
          </a:xfrm>
          <a:ln/>
        </p:spPr>
      </p:sp>
      <p:sp>
        <p:nvSpPr>
          <p:cNvPr id="69636" name="Rectangle 3"/>
          <p:cNvSpPr>
            <a:spLocks noGrp="1" noChangeArrowheads="1"/>
          </p:cNvSpPr>
          <p:nvPr>
            <p:ph type="body" idx="1"/>
          </p:nvPr>
        </p:nvSpPr>
        <p:spPr>
          <a:noFill/>
          <a:ln/>
        </p:spPr>
        <p:txBody>
          <a:bodyPr/>
          <a:lstStyle/>
          <a:p>
            <a:pPr eaLnBrk="1" hangingPunct="1"/>
            <a:r>
              <a:rPr lang="en-GB" dirty="0">
                <a:latin typeface="Arial" pitchFamily="34" charset="0"/>
              </a:rPr>
              <a:t>*Apart from growing during the design phases (hence even before having built the first aircraft), it is proven that weight is actually continuing to grow also on actual flying aircraft. That is because of accumulating dirt, trapped fluids, incompletely removed layers of paints, repairs, absorbed humidity and condense.</a:t>
            </a:r>
          </a:p>
          <a:p>
            <a:pPr eaLnBrk="1" hangingPunct="1"/>
            <a:endParaRPr lang="en-GB" dirty="0">
              <a:latin typeface="Arial"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a:t>During the design process, </a:t>
            </a:r>
            <a:r>
              <a:rPr lang="en-US" b="1" dirty="0">
                <a:solidFill>
                  <a:srgbClr val="FF3300"/>
                </a:solidFill>
              </a:rPr>
              <a:t>component weight increases lead to time consuming design iterations,</a:t>
            </a:r>
            <a:r>
              <a:rPr lang="en-US" dirty="0"/>
              <a:t> because all strength computations have to be performed case by case and must be documented extensively for certification purposes. </a:t>
            </a:r>
          </a:p>
          <a:p>
            <a:pPr eaLnBrk="1" hangingPunct="1"/>
            <a:endParaRPr lang="en-GB" dirty="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410FB4B5-2E38-4D3A-A010-E8D0047C9F06}" type="slidenum">
              <a:rPr lang="en-US" smtClean="0">
                <a:latin typeface="Arial" pitchFamily="34" charset="0"/>
              </a:rPr>
              <a:pPr/>
              <a:t>7</a:t>
            </a:fld>
            <a:endParaRPr lang="en-US">
              <a:latin typeface="Arial" pitchFamily="34" charset="0"/>
            </a:endParaRPr>
          </a:p>
        </p:txBody>
      </p:sp>
      <p:sp>
        <p:nvSpPr>
          <p:cNvPr id="69635" name="Rectangle 2"/>
          <p:cNvSpPr>
            <a:spLocks noGrp="1" noRot="1" noChangeAspect="1" noChangeArrowheads="1" noTextEdit="1"/>
          </p:cNvSpPr>
          <p:nvPr>
            <p:ph type="sldImg"/>
          </p:nvPr>
        </p:nvSpPr>
        <p:spPr>
          <a:xfrm>
            <a:off x="87313" y="746125"/>
            <a:ext cx="6619875" cy="3724275"/>
          </a:xfrm>
          <a:ln/>
        </p:spPr>
      </p:sp>
      <p:sp>
        <p:nvSpPr>
          <p:cNvPr id="69636" name="Rectangle 3"/>
          <p:cNvSpPr>
            <a:spLocks noGrp="1" noChangeArrowheads="1"/>
          </p:cNvSpPr>
          <p:nvPr>
            <p:ph type="body" idx="1"/>
          </p:nvPr>
        </p:nvSpPr>
        <p:spPr>
          <a:noFill/>
          <a:ln/>
        </p:spPr>
        <p:txBody>
          <a:bodyPr/>
          <a:lstStyle/>
          <a:p>
            <a:pPr eaLnBrk="1" hangingPunct="1"/>
            <a:r>
              <a:rPr lang="en-GB" dirty="0">
                <a:latin typeface="Arial" pitchFamily="34" charset="0"/>
              </a:rPr>
              <a:t>*Apart from growing during the design phases (hence even before having built the first aircraft), it is proven that weight is actually continuing to grow also on actual flying aircraft. That is because of accumulating dirt, trapped fluids, incompletely removed layers of paints, repairs, absorbed humidity and condense.</a:t>
            </a:r>
          </a:p>
          <a:p>
            <a:pPr eaLnBrk="1" hangingPunct="1"/>
            <a:endParaRPr lang="en-GB" dirty="0">
              <a:latin typeface="Arial"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a:t>During the design process, </a:t>
            </a:r>
            <a:r>
              <a:rPr lang="en-US" b="1" dirty="0">
                <a:solidFill>
                  <a:srgbClr val="FF3300"/>
                </a:solidFill>
              </a:rPr>
              <a:t>component weight increases lead to time consuming design iterations,</a:t>
            </a:r>
            <a:r>
              <a:rPr lang="en-US" dirty="0"/>
              <a:t> because all strength computations have to be performed case by case and must be documented extensively for certification purposes. </a:t>
            </a:r>
          </a:p>
          <a:p>
            <a:pPr eaLnBrk="1" hangingPunct="1"/>
            <a:endParaRPr lang="en-GB" dirty="0">
              <a:latin typeface="Arial" pitchFamily="34" charset="0"/>
            </a:endParaRPr>
          </a:p>
        </p:txBody>
      </p:sp>
    </p:spTree>
    <p:extLst>
      <p:ext uri="{BB962C8B-B14F-4D97-AF65-F5344CB8AC3E}">
        <p14:creationId xmlns:p14="http://schemas.microsoft.com/office/powerpoint/2010/main" val="3814549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r>
              <a:rPr lang="en-US" dirty="0"/>
              <a:t>Plot Source: </a:t>
            </a:r>
            <a:r>
              <a:rPr lang="en-GB" dirty="0" err="1">
                <a:effectLst/>
                <a:latin typeface="Times" pitchFamily="2" charset="0"/>
              </a:rPr>
              <a:t>Staton</a:t>
            </a:r>
            <a:r>
              <a:rPr lang="en-GB" dirty="0">
                <a:effectLst/>
                <a:latin typeface="Times" pitchFamily="2" charset="0"/>
              </a:rPr>
              <a:t>, R. N., Introduction to aircraft weight engineering, Society of Allied</a:t>
            </a:r>
          </a:p>
          <a:p>
            <a:r>
              <a:rPr lang="en-GB" dirty="0">
                <a:effectLst/>
                <a:latin typeface="Times" pitchFamily="2" charset="0"/>
              </a:rPr>
              <a:t>Weight Engineers, Los Angles, California, 1996.</a:t>
            </a:r>
          </a:p>
          <a:p>
            <a:endParaRPr lang="en-US" dirty="0"/>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8</a:t>
            </a:fld>
            <a:endParaRPr lang="en-US"/>
          </a:p>
        </p:txBody>
      </p:sp>
    </p:spTree>
    <p:extLst>
      <p:ext uri="{BB962C8B-B14F-4D97-AF65-F5344CB8AC3E}">
        <p14:creationId xmlns:p14="http://schemas.microsoft.com/office/powerpoint/2010/main" val="3989325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72F9763E-201B-43F4-83EA-E67C9B8A222F}" type="slidenum">
              <a:rPr lang="en-US" smtClean="0">
                <a:latin typeface="Arial" pitchFamily="34" charset="0"/>
              </a:rPr>
              <a:pPr/>
              <a:t>9</a:t>
            </a:fld>
            <a:endParaRPr lang="en-US">
              <a:latin typeface="Arial" pitchFamily="34" charset="0"/>
            </a:endParaRPr>
          </a:p>
        </p:txBody>
      </p:sp>
      <p:sp>
        <p:nvSpPr>
          <p:cNvPr id="70659" name="Rectangle 2"/>
          <p:cNvSpPr>
            <a:spLocks noGrp="1" noRot="1" noChangeAspect="1" noChangeArrowheads="1" noTextEdit="1"/>
          </p:cNvSpPr>
          <p:nvPr>
            <p:ph type="sldImg"/>
          </p:nvPr>
        </p:nvSpPr>
        <p:spPr>
          <a:xfrm>
            <a:off x="87313" y="746125"/>
            <a:ext cx="6619875" cy="3724275"/>
          </a:xfrm>
          <a:ln/>
        </p:spPr>
      </p:sp>
      <p:sp>
        <p:nvSpPr>
          <p:cNvPr id="70660" name="Rectangle 3"/>
          <p:cNvSpPr>
            <a:spLocks noGrp="1" noChangeArrowheads="1"/>
          </p:cNvSpPr>
          <p:nvPr>
            <p:ph type="body" idx="1"/>
          </p:nvPr>
        </p:nvSpPr>
        <p:spPr>
          <a:noFill/>
          <a:ln/>
        </p:spPr>
        <p:txBody>
          <a:bodyPr/>
          <a:lstStyle/>
          <a:p>
            <a:pPr eaLnBrk="1" hangingPunct="1"/>
            <a:r>
              <a:rPr lang="en-GB" dirty="0">
                <a:latin typeface="Arial" pitchFamily="34" charset="0"/>
              </a:rPr>
              <a:t>* Evidently the wing was not enlarged, neither modified in its design: W/S was not kept constant (got higher) with the consequence of longer take off field and the need to fly at higher air density level (hence at lower altitude) to provide higher lift for</a:t>
            </a:r>
            <a:r>
              <a:rPr lang="en-GB" baseline="0" dirty="0">
                <a:latin typeface="Arial" pitchFamily="34" charset="0"/>
              </a:rPr>
              <a:t> the same design </a:t>
            </a:r>
            <a:r>
              <a:rPr lang="en-GB" dirty="0">
                <a:latin typeface="Arial" pitchFamily="34" charset="0"/>
              </a:rPr>
              <a:t>CL value provided by the (not modified) wing.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FAA9AC04-6B63-423A-A1BC-2560132D7EB6}" type="slidenum">
              <a:rPr lang="en-US" smtClean="0">
                <a:latin typeface="Arial" pitchFamily="34" charset="0"/>
              </a:rPr>
              <a:pPr/>
              <a:t>10</a:t>
            </a:fld>
            <a:endParaRPr lang="en-US">
              <a:latin typeface="Arial" pitchFamily="34" charset="0"/>
            </a:endParaRPr>
          </a:p>
        </p:txBody>
      </p:sp>
      <p:sp>
        <p:nvSpPr>
          <p:cNvPr id="71683" name="Rectangle 2"/>
          <p:cNvSpPr>
            <a:spLocks noGrp="1" noRot="1" noChangeAspect="1" noChangeArrowheads="1" noTextEdit="1"/>
          </p:cNvSpPr>
          <p:nvPr>
            <p:ph type="sldImg"/>
          </p:nvPr>
        </p:nvSpPr>
        <p:spPr>
          <a:xfrm>
            <a:off x="87313" y="746125"/>
            <a:ext cx="6619875" cy="3724275"/>
          </a:xfrm>
          <a:ln/>
        </p:spPr>
      </p:sp>
      <p:sp>
        <p:nvSpPr>
          <p:cNvPr id="71684" name="Rectangle 3"/>
          <p:cNvSpPr>
            <a:spLocks noGrp="1" noChangeArrowheads="1"/>
          </p:cNvSpPr>
          <p:nvPr>
            <p:ph type="body" idx="1"/>
          </p:nvPr>
        </p:nvSpPr>
        <p:spPr>
          <a:noFill/>
          <a:ln/>
        </p:spPr>
        <p:txBody>
          <a:bodyPr/>
          <a:lstStyle/>
          <a:p>
            <a:pPr eaLnBrk="1" hangingPunct="1"/>
            <a:r>
              <a:rPr lang="en-GB" dirty="0">
                <a:latin typeface="Arial" pitchFamily="34" charset="0"/>
              </a:rPr>
              <a:t>A sequel of super and colossal weight reduction programs could not cure a chronic degenerating problem. </a:t>
            </a:r>
          </a:p>
          <a:p>
            <a:pPr eaLnBrk="1" hangingPunct="1"/>
            <a:r>
              <a:rPr lang="en-GB" dirty="0">
                <a:latin typeface="Arial" pitchFamily="34" charset="0"/>
              </a:rPr>
              <a:t>The F111 case is often illustrated in Sys Engineering courses as example of bad </a:t>
            </a:r>
            <a:r>
              <a:rPr lang="en-GB" b="1" dirty="0">
                <a:latin typeface="Arial" pitchFamily="34" charset="0"/>
              </a:rPr>
              <a:t>weight contingence management</a:t>
            </a:r>
            <a:r>
              <a:rPr lang="en-GB" dirty="0">
                <a:latin typeface="Arial" pitchFamily="34" charset="0"/>
              </a:rPr>
              <a:t>. That is, the inadequate capability to keep under control the main characteristics (including the associated uncertainty) of a product during the evolving design phases.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r>
              <a:rPr lang="en-US" dirty="0"/>
              <a:t>Plot Source: Raymer.</a:t>
            </a:r>
          </a:p>
          <a:p>
            <a:r>
              <a:rPr lang="en-US" dirty="0"/>
              <a:t>*This growth was typically</a:t>
            </a:r>
            <a:r>
              <a:rPr lang="en-US" baseline="0" dirty="0"/>
              <a:t> due to calculation and data inaccuracies, but also to changes in the avionics, additional weapon pylons, changes in structural solutions (use of heavy reinforcements), etc..</a:t>
            </a:r>
          </a:p>
          <a:p>
            <a:endParaRPr lang="en-US" baseline="0" dirty="0"/>
          </a:p>
          <a:p>
            <a:r>
              <a:rPr lang="en-US" baseline="0" dirty="0"/>
              <a:t>**</a:t>
            </a:r>
            <a:r>
              <a:rPr lang="en-US" sz="1200" dirty="0">
                <a:latin typeface="Tahoma" pitchFamily="34" charset="0"/>
              </a:rPr>
              <a:t>The issue here is that too conservative weight specifications (in the attempt to account for the natural growth of components weight and to avoid a too optimistic approach) might result in </a:t>
            </a:r>
            <a:r>
              <a:rPr lang="en-US" sz="1200" b="1" dirty="0">
                <a:latin typeface="Tahoma" pitchFamily="34" charset="0"/>
              </a:rPr>
              <a:t>structures that are just heavier because sized for higher loads</a:t>
            </a:r>
            <a:r>
              <a:rPr lang="en-US" sz="1200" dirty="0">
                <a:latin typeface="Tahoma" pitchFamily="34" charset="0"/>
              </a:rPr>
              <a:t>. Indeed, many non-structural masses, like those of the many aircraft systems are typically </a:t>
            </a:r>
            <a:r>
              <a:rPr lang="en-US" sz="1200" b="1" dirty="0">
                <a:latin typeface="Tahoma" pitchFamily="34" charset="0"/>
              </a:rPr>
              <a:t>estimated as a percentage of the MTOW or OEW</a:t>
            </a:r>
            <a:r>
              <a:rPr lang="en-US" sz="1200" dirty="0">
                <a:latin typeface="Tahoma" pitchFamily="34" charset="0"/>
              </a:rPr>
              <a:t>. As a consequence, by assuming a heavier structure, certain systems and components</a:t>
            </a:r>
            <a:r>
              <a:rPr lang="en-US" sz="1200" baseline="0" dirty="0">
                <a:latin typeface="Tahoma" pitchFamily="34" charset="0"/>
              </a:rPr>
              <a:t> will be sized to be larger and heavier, hence requiring an actually heavier structure to support them.</a:t>
            </a:r>
          </a:p>
          <a:p>
            <a:endParaRPr lang="en-US" sz="1200" baseline="0" dirty="0">
              <a:latin typeface="Tahoma" pitchFamily="34" charset="0"/>
            </a:endParaRPr>
          </a:p>
          <a:p>
            <a:r>
              <a:rPr lang="en-US" sz="1200" dirty="0">
                <a:latin typeface="Tahoma" pitchFamily="34" charset="0"/>
              </a:rPr>
              <a:t>Hence, if badly managed, the weight growth might get just sustained by the use of contingency factors, rather than prevented.</a:t>
            </a:r>
            <a:endParaRPr lang="en-GB" sz="1200" u="sng" dirty="0">
              <a:latin typeface="Tahoma" pitchFamily="34" charset="0"/>
            </a:endParaRPr>
          </a:p>
          <a:p>
            <a:endParaRPr lang="en-US" dirty="0"/>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11</a:t>
            </a:fld>
            <a:endParaRPr lang="en-US"/>
          </a:p>
        </p:txBody>
      </p:sp>
    </p:spTree>
    <p:extLst>
      <p:ext uri="{BB962C8B-B14F-4D97-AF65-F5344CB8AC3E}">
        <p14:creationId xmlns:p14="http://schemas.microsoft.com/office/powerpoint/2010/main" val="861555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xfrm>
            <a:off x="87313" y="746125"/>
            <a:ext cx="6619875" cy="3724275"/>
          </a:xfrm>
          <a:ln/>
        </p:spPr>
      </p:sp>
      <p:sp>
        <p:nvSpPr>
          <p:cNvPr id="72707" name="Notes Placeholder 2"/>
          <p:cNvSpPr>
            <a:spLocks noGrp="1"/>
          </p:cNvSpPr>
          <p:nvPr>
            <p:ph type="body" idx="1"/>
          </p:nvPr>
        </p:nvSpPr>
        <p:spPr>
          <a:noFill/>
          <a:ln/>
        </p:spPr>
        <p:txBody>
          <a:bodyPr/>
          <a:lstStyle/>
          <a:p>
            <a:pPr eaLnBrk="1" hangingPunct="1"/>
            <a:endParaRPr lang="nl-NL" dirty="0">
              <a:latin typeface="Arial" pitchFamily="34" charset="0"/>
            </a:endParaRPr>
          </a:p>
        </p:txBody>
      </p:sp>
      <p:sp>
        <p:nvSpPr>
          <p:cNvPr id="72708" name="Slide Number Placeholder 3"/>
          <p:cNvSpPr>
            <a:spLocks noGrp="1"/>
          </p:cNvSpPr>
          <p:nvPr>
            <p:ph type="sldNum" sz="quarter" idx="5"/>
          </p:nvPr>
        </p:nvSpPr>
        <p:spPr>
          <a:noFill/>
        </p:spPr>
        <p:txBody>
          <a:bodyPr/>
          <a:lstStyle/>
          <a:p>
            <a:fld id="{9DA9D5E7-0D6F-497A-8A14-7C04F271D3F7}" type="slidenum">
              <a:rPr lang="en-US" smtClean="0">
                <a:latin typeface="Arial" pitchFamily="34" charset="0"/>
              </a:rPr>
              <a:pPr/>
              <a:t>12</a:t>
            </a:fld>
            <a:endParaRPr lang="en-US">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xfrm>
            <a:off x="87313" y="746125"/>
            <a:ext cx="6619875" cy="3724275"/>
          </a:xfrm>
          <a:ln/>
        </p:spPr>
      </p:sp>
      <p:sp>
        <p:nvSpPr>
          <p:cNvPr id="74755" name="Notes Placeholder 2"/>
          <p:cNvSpPr>
            <a:spLocks noGrp="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dirty="0"/>
              <a:t>Net load distribution= (air</a:t>
            </a:r>
            <a:r>
              <a:rPr lang="en-GB" baseline="0" dirty="0"/>
              <a:t> loads – (wing weight + fuel weight))</a:t>
            </a:r>
          </a:p>
          <a:p>
            <a:pPr marL="0" marR="0" indent="0" algn="l" defTabSz="914400" rtl="0" eaLnBrk="1" fontAlgn="base" latinLnBrk="0" hangingPunct="1">
              <a:lnSpc>
                <a:spcPct val="100000"/>
              </a:lnSpc>
              <a:spcBef>
                <a:spcPct val="30000"/>
              </a:spcBef>
              <a:spcAft>
                <a:spcPct val="0"/>
              </a:spcAft>
              <a:buClrTx/>
              <a:buSzTx/>
              <a:buFontTx/>
              <a:buNone/>
              <a:tabLst/>
              <a:defRPr/>
            </a:pPr>
            <a:endParaRPr lang="en-GB" dirty="0"/>
          </a:p>
          <a:p>
            <a:pPr marL="0" marR="0" indent="0" algn="l" defTabSz="914400" rtl="0" eaLnBrk="1" fontAlgn="base" latinLnBrk="0" hangingPunct="1">
              <a:lnSpc>
                <a:spcPct val="100000"/>
              </a:lnSpc>
              <a:spcBef>
                <a:spcPct val="30000"/>
              </a:spcBef>
              <a:spcAft>
                <a:spcPct val="0"/>
              </a:spcAft>
              <a:buClrTx/>
              <a:buSzTx/>
              <a:buFontTx/>
              <a:buNone/>
              <a:tabLst/>
              <a:defRPr/>
            </a:pPr>
            <a:r>
              <a:rPr lang="en-GB" dirty="0"/>
              <a:t>If the wing weight is not accounted, the sizing load case will be overestimated (no</a:t>
            </a:r>
            <a:r>
              <a:rPr lang="en-GB" baseline="0" dirty="0"/>
              <a:t> bending relief by the wing)</a:t>
            </a:r>
            <a:r>
              <a:rPr lang="en-GB" dirty="0"/>
              <a:t>, hence the wing will be oversized (heavier)</a:t>
            </a:r>
          </a:p>
          <a:p>
            <a:pPr marL="0" marR="0" indent="0" algn="l" defTabSz="914400" rtl="0" eaLnBrk="1" fontAlgn="base" latinLnBrk="0" hangingPunct="1">
              <a:lnSpc>
                <a:spcPct val="100000"/>
              </a:lnSpc>
              <a:spcBef>
                <a:spcPct val="30000"/>
              </a:spcBef>
              <a:spcAft>
                <a:spcPct val="0"/>
              </a:spcAft>
              <a:buClrTx/>
              <a:buSzTx/>
              <a:buFontTx/>
              <a:buNone/>
              <a:tabLst/>
              <a:defRPr/>
            </a:pPr>
            <a:endParaRPr lang="en-GB" dirty="0"/>
          </a:p>
          <a:p>
            <a:pPr marL="0" marR="0" indent="0" algn="l" defTabSz="914400" rtl="0" eaLnBrk="1" fontAlgn="base" latinLnBrk="0" hangingPunct="1">
              <a:lnSpc>
                <a:spcPct val="100000"/>
              </a:lnSpc>
              <a:spcBef>
                <a:spcPct val="30000"/>
              </a:spcBef>
              <a:spcAft>
                <a:spcPct val="0"/>
              </a:spcAft>
              <a:buClrTx/>
              <a:buSzTx/>
              <a:buFontTx/>
              <a:buNone/>
              <a:tabLst/>
              <a:defRPr/>
            </a:pPr>
            <a:r>
              <a:rPr lang="en-GB" dirty="0"/>
              <a:t>How would you solve this chicken</a:t>
            </a:r>
            <a:r>
              <a:rPr lang="en-GB" baseline="0" dirty="0"/>
              <a:t> and egg problem??</a:t>
            </a:r>
            <a:endParaRPr lang="en-GB" dirty="0"/>
          </a:p>
          <a:p>
            <a:pPr eaLnBrk="1" hangingPunct="1"/>
            <a:endParaRPr lang="nl-NL" dirty="0">
              <a:latin typeface="Arial" pitchFamily="34" charset="0"/>
            </a:endParaRPr>
          </a:p>
        </p:txBody>
      </p:sp>
      <p:sp>
        <p:nvSpPr>
          <p:cNvPr id="74756" name="Slide Number Placeholder 3"/>
          <p:cNvSpPr>
            <a:spLocks noGrp="1"/>
          </p:cNvSpPr>
          <p:nvPr>
            <p:ph type="sldNum" sz="quarter" idx="5"/>
          </p:nvPr>
        </p:nvSpPr>
        <p:spPr>
          <a:noFill/>
        </p:spPr>
        <p:txBody>
          <a:bodyPr/>
          <a:lstStyle/>
          <a:p>
            <a:fld id="{85E4B2A8-C364-4556-AB54-C97D10775849}" type="slidenum">
              <a:rPr lang="en-US" smtClean="0">
                <a:latin typeface="Arial" pitchFamily="34" charset="0"/>
              </a:rPr>
              <a:pPr/>
              <a:t>13</a:t>
            </a:fld>
            <a:endParaRPr lang="en-US">
              <a:latin typeface="Arial" pitchFamily="34" charset="0"/>
            </a:endParaRPr>
          </a:p>
        </p:txBody>
      </p:sp>
    </p:spTree>
    <p:extLst>
      <p:ext uri="{BB962C8B-B14F-4D97-AF65-F5344CB8AC3E}">
        <p14:creationId xmlns:p14="http://schemas.microsoft.com/office/powerpoint/2010/main" val="2604970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01A1D675-2E69-4679-BB3B-1C0027905B38}" type="slidenum">
              <a:rPr lang="en-US" smtClean="0">
                <a:latin typeface="Arial" pitchFamily="34" charset="0"/>
              </a:rPr>
              <a:pPr/>
              <a:t>14</a:t>
            </a:fld>
            <a:endParaRPr lang="en-US">
              <a:latin typeface="Arial" pitchFamily="34" charset="0"/>
            </a:endParaRPr>
          </a:p>
        </p:txBody>
      </p:sp>
      <p:sp>
        <p:nvSpPr>
          <p:cNvPr id="76803" name="Rectangle 2"/>
          <p:cNvSpPr>
            <a:spLocks noGrp="1" noRot="1" noChangeAspect="1" noChangeArrowheads="1" noTextEdit="1"/>
          </p:cNvSpPr>
          <p:nvPr>
            <p:ph type="sldImg"/>
          </p:nvPr>
        </p:nvSpPr>
        <p:spPr>
          <a:xfrm>
            <a:off x="87313" y="746125"/>
            <a:ext cx="6619875" cy="3724275"/>
          </a:xfrm>
          <a:ln/>
        </p:spPr>
      </p:sp>
      <p:sp>
        <p:nvSpPr>
          <p:cNvPr id="76804" name="Rectangle 3"/>
          <p:cNvSpPr>
            <a:spLocks noGrp="1" noChangeArrowheads="1"/>
          </p:cNvSpPr>
          <p:nvPr>
            <p:ph type="body" idx="1"/>
          </p:nvPr>
        </p:nvSpPr>
        <p:spPr>
          <a:noFill/>
          <a:ln/>
        </p:spPr>
        <p:txBody>
          <a:bodyPr/>
          <a:lstStyle/>
          <a:p>
            <a:pPr eaLnBrk="1" hangingPunct="1"/>
            <a:r>
              <a:rPr lang="en-GB" sz="1000" dirty="0">
                <a:latin typeface="Arial" pitchFamily="34" charset="0"/>
              </a:rPr>
              <a:t>*We can state the same about drag.</a:t>
            </a:r>
          </a:p>
          <a:p>
            <a:pPr eaLnBrk="1" hangingPunct="1"/>
            <a:r>
              <a:rPr lang="en-GB" sz="1000" dirty="0">
                <a:latin typeface="Arial" pitchFamily="34" charset="0"/>
              </a:rPr>
              <a:t>**A typical problem with data available in literature is the lack of explicit values. To prevent competitors from getting to much sensitive info, values are typically scaled, normalized, graphs are presented without scales, etc. Only group weights are given rather than single components weights, typically expressed in term of fractions.</a:t>
            </a:r>
          </a:p>
          <a:p>
            <a:pPr eaLnBrk="1" hangingPunct="1"/>
            <a:endParaRPr lang="en-GB" sz="1000" dirty="0">
              <a:latin typeface="Arial" pitchFamily="34" charset="0"/>
            </a:endParaRPr>
          </a:p>
          <a:p>
            <a:pPr eaLnBrk="1" hangingPunct="1"/>
            <a:r>
              <a:rPr lang="en-GB" sz="1000" dirty="0">
                <a:latin typeface="Arial" pitchFamily="34" charset="0"/>
              </a:rPr>
              <a:t>Weight engineers are almost a sect, they have their “secret” methods, they have their own conferences and communities, which are often transversal to company boundaries. An example is the SAWE: the society of Allied Weight Engineers, which facilitate the exchange of information, data and methods for weight prediction.</a:t>
            </a:r>
          </a:p>
          <a:p>
            <a:pPr eaLnBrk="1" hangingPunct="1"/>
            <a:r>
              <a:rPr lang="en-GB" sz="1000" dirty="0">
                <a:latin typeface="Arial" pitchFamily="34" charset="0"/>
              </a:rPr>
              <a:t>Though weight engineers are dealing with highly confidential data and sensitive methods, they need to get good data to improve and calibrate their tools. However, apart from in house available data, other good data are only in the hands of competitors. Coffee breaks at conferences appear to be a good way to exchange some good and fresh data... </a:t>
            </a:r>
          </a:p>
          <a:p>
            <a:pPr eaLnBrk="1" hangingPunct="1"/>
            <a:endParaRPr lang="en-GB" sz="1000" dirty="0">
              <a:latin typeface="Arial" pitchFamily="34" charset="0"/>
            </a:endParaRPr>
          </a:p>
          <a:p>
            <a:pPr eaLnBrk="1" hangingPunct="1"/>
            <a:r>
              <a:rPr lang="en-GB" sz="1000" dirty="0">
                <a:latin typeface="Arial" pitchFamily="34" charset="0"/>
              </a:rPr>
              <a:t>Quite amazingly, it looks like some more data are available of military aircraft than civil ones.</a:t>
            </a:r>
          </a:p>
          <a:p>
            <a:pPr eaLnBrk="1" hangingPunct="1"/>
            <a:endParaRPr lang="en-GB" sz="1000" dirty="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15</a:t>
            </a:fld>
            <a:endParaRPr lang="en-US"/>
          </a:p>
        </p:txBody>
      </p:sp>
    </p:spTree>
    <p:extLst>
      <p:ext uri="{BB962C8B-B14F-4D97-AF65-F5344CB8AC3E}">
        <p14:creationId xmlns:p14="http://schemas.microsoft.com/office/powerpoint/2010/main" val="20540563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B21796AA-8493-4835-9EC2-48CEC54285F2}" type="slidenum">
              <a:rPr lang="en-US" smtClean="0">
                <a:latin typeface="Arial" pitchFamily="34" charset="0"/>
              </a:rPr>
              <a:pPr/>
              <a:t>16</a:t>
            </a:fld>
            <a:endParaRPr lang="en-US">
              <a:latin typeface="Arial" pitchFamily="34" charset="0"/>
            </a:endParaRPr>
          </a:p>
        </p:txBody>
      </p:sp>
      <p:sp>
        <p:nvSpPr>
          <p:cNvPr id="73731" name="Rectangle 2"/>
          <p:cNvSpPr>
            <a:spLocks noGrp="1" noRot="1" noChangeAspect="1" noChangeArrowheads="1" noTextEdit="1"/>
          </p:cNvSpPr>
          <p:nvPr>
            <p:ph type="sldImg"/>
          </p:nvPr>
        </p:nvSpPr>
        <p:spPr>
          <a:xfrm>
            <a:off x="87313" y="746125"/>
            <a:ext cx="6619875" cy="3724275"/>
          </a:xfrm>
          <a:ln/>
        </p:spPr>
      </p:sp>
      <p:sp>
        <p:nvSpPr>
          <p:cNvPr id="73732" name="Rectangle 3"/>
          <p:cNvSpPr>
            <a:spLocks noGrp="1" noChangeArrowheads="1"/>
          </p:cNvSpPr>
          <p:nvPr>
            <p:ph type="body" idx="1"/>
          </p:nvPr>
        </p:nvSpPr>
        <p:spPr>
          <a:noFill/>
          <a:ln/>
        </p:spPr>
        <p:txBody>
          <a:bodyPr/>
          <a:lstStyle/>
          <a:p>
            <a:pPr eaLnBrk="1" hangingPunct="1"/>
            <a:r>
              <a:rPr lang="en-US" sz="1400" dirty="0">
                <a:latin typeface="Tahoma" pitchFamily="34" charset="0"/>
              </a:rPr>
              <a:t>*In this respect the preliminary designer does not design</a:t>
            </a:r>
            <a:r>
              <a:rPr lang="en-US" sz="1400" dirty="0">
                <a:solidFill>
                  <a:srgbClr val="FF3300"/>
                </a:solidFill>
                <a:latin typeface="Tahoma" pitchFamily="34" charset="0"/>
              </a:rPr>
              <a:t>,</a:t>
            </a:r>
            <a:r>
              <a:rPr lang="en-US" sz="1400" dirty="0">
                <a:latin typeface="Tahoma" pitchFamily="34" charset="0"/>
              </a:rPr>
              <a:t> </a:t>
            </a:r>
            <a:r>
              <a:rPr lang="en-US" sz="1400" dirty="0">
                <a:solidFill>
                  <a:srgbClr val="FF3300"/>
                </a:solidFill>
                <a:latin typeface="Tahoma" pitchFamily="34" charset="0"/>
              </a:rPr>
              <a:t>but predicts </a:t>
            </a:r>
            <a:r>
              <a:rPr lang="en-US" sz="1400" dirty="0">
                <a:latin typeface="Tahoma" pitchFamily="34" charset="0"/>
              </a:rPr>
              <a:t>or </a:t>
            </a:r>
            <a:r>
              <a:rPr lang="en-US" sz="1400" u="sng" dirty="0">
                <a:latin typeface="Tahoma" pitchFamily="34" charset="0"/>
              </a:rPr>
              <a:t>specifies</a:t>
            </a:r>
            <a:r>
              <a:rPr lang="en-US" sz="1400" u="none" baseline="0" dirty="0">
                <a:latin typeface="Tahoma" pitchFamily="34" charset="0"/>
              </a:rPr>
              <a:t> targets for the structure specialist and/or the aircraft system design</a:t>
            </a:r>
            <a:r>
              <a:rPr lang="en-US" sz="1400" dirty="0">
                <a:latin typeface="Tahoma" pitchFamily="34" charset="0"/>
              </a:rPr>
              <a:t>  </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sz="1400"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sz="1400" dirty="0"/>
              <a:t>Indeed, actual weight calculations</a:t>
            </a:r>
            <a:r>
              <a:rPr lang="en-US" sz="1400" baseline="0" dirty="0"/>
              <a:t> </a:t>
            </a:r>
            <a:r>
              <a:rPr lang="en-US" sz="1400" dirty="0"/>
              <a:t>can be performed only when the aircraft is on the scale….. </a:t>
            </a:r>
          </a:p>
          <a:p>
            <a:pPr eaLnBrk="1" hangingPunct="1"/>
            <a:endParaRPr lang="en-US" sz="1400" dirty="0">
              <a:latin typeface="Tahoma" pitchFamily="34" charset="0"/>
            </a:endParaRPr>
          </a:p>
          <a:p>
            <a:pPr eaLnBrk="1" hangingPunct="1"/>
            <a:endParaRPr lang="en-US" sz="1400" dirty="0">
              <a:latin typeface="Tahoma"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D4391059-B8A9-492E-A214-EC8C5DF8A7C0}" type="slidenum">
              <a:rPr lang="en-US" smtClean="0">
                <a:latin typeface="Arial" pitchFamily="34" charset="0"/>
              </a:rPr>
              <a:pPr/>
              <a:t>17</a:t>
            </a:fld>
            <a:endParaRPr lang="en-US">
              <a:latin typeface="Arial" pitchFamily="34" charset="0"/>
            </a:endParaRPr>
          </a:p>
        </p:txBody>
      </p:sp>
      <p:sp>
        <p:nvSpPr>
          <p:cNvPr id="77827" name="Rectangle 2"/>
          <p:cNvSpPr>
            <a:spLocks noGrp="1" noRot="1" noChangeAspect="1" noChangeArrowheads="1" noTextEdit="1"/>
          </p:cNvSpPr>
          <p:nvPr>
            <p:ph type="sldImg"/>
          </p:nvPr>
        </p:nvSpPr>
        <p:spPr>
          <a:xfrm>
            <a:off x="87313" y="746125"/>
            <a:ext cx="6619875" cy="3724275"/>
          </a:xfrm>
          <a:ln/>
        </p:spPr>
      </p:sp>
      <p:sp>
        <p:nvSpPr>
          <p:cNvPr id="77828" name="Rectangle 3"/>
          <p:cNvSpPr>
            <a:spLocks noGrp="1" noChangeArrowheads="1"/>
          </p:cNvSpPr>
          <p:nvPr>
            <p:ph type="body" idx="1"/>
          </p:nvPr>
        </p:nvSpPr>
        <p:spPr>
          <a:noFill/>
          <a:ln/>
        </p:spPr>
        <p:txBody>
          <a:bodyPr/>
          <a:lstStyle/>
          <a:p>
            <a:pPr eaLnBrk="1" hangingPunct="1"/>
            <a:r>
              <a:rPr lang="en-GB" dirty="0">
                <a:latin typeface="Arial" pitchFamily="34" charset="0"/>
              </a:rPr>
              <a:t>* The method illustrated in AE1201, is a typical example of Class I method, useful to estimate the maximum take off of a given aircraft, plus its payload, structure (Operative empty weight) and fuel weight fractions.</a:t>
            </a:r>
          </a:p>
          <a:p>
            <a:pPr eaLnBrk="1" hangingPunct="1"/>
            <a:endParaRPr lang="en-GB" dirty="0">
              <a:latin typeface="Arial" pitchFamily="34" charset="0"/>
            </a:endParaRPr>
          </a:p>
          <a:p>
            <a:pPr eaLnBrk="1" hangingPunct="1"/>
            <a:r>
              <a:rPr lang="en-GB" dirty="0">
                <a:latin typeface="Arial" pitchFamily="34" charset="0"/>
              </a:rPr>
              <a:t>Only Class I and II methods are discussed in this series of design courses.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18</a:t>
            </a:fld>
            <a:endParaRPr lang="en-US"/>
          </a:p>
        </p:txBody>
      </p:sp>
    </p:spTree>
    <p:extLst>
      <p:ext uri="{BB962C8B-B14F-4D97-AF65-F5344CB8AC3E}">
        <p14:creationId xmlns:p14="http://schemas.microsoft.com/office/powerpoint/2010/main" val="33986600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71117D3C-FBAF-4076-99A7-A085830E8D28}" type="slidenum">
              <a:rPr lang="en-US" smtClean="0">
                <a:latin typeface="Arial" pitchFamily="34" charset="0"/>
              </a:rPr>
              <a:pPr/>
              <a:t>19</a:t>
            </a:fld>
            <a:endParaRPr lang="en-US">
              <a:latin typeface="Arial" pitchFamily="34" charset="0"/>
            </a:endParaRPr>
          </a:p>
        </p:txBody>
      </p:sp>
      <p:sp>
        <p:nvSpPr>
          <p:cNvPr id="78851" name="Rectangle 2"/>
          <p:cNvSpPr>
            <a:spLocks noGrp="1" noRot="1" noChangeAspect="1" noChangeArrowheads="1" noTextEdit="1"/>
          </p:cNvSpPr>
          <p:nvPr>
            <p:ph type="sldImg"/>
          </p:nvPr>
        </p:nvSpPr>
        <p:spPr>
          <a:xfrm>
            <a:off x="87313" y="746125"/>
            <a:ext cx="6619875" cy="3724275"/>
          </a:xfrm>
          <a:ln/>
        </p:spPr>
      </p:sp>
      <p:sp>
        <p:nvSpPr>
          <p:cNvPr id="78852"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dirty="0"/>
              <a:t>Depending on the approach to the design process, there may be also a requirement related to the </a:t>
            </a:r>
            <a:r>
              <a:rPr lang="en-US" sz="1200" dirty="0">
                <a:solidFill>
                  <a:srgbClr val="FF3300"/>
                </a:solidFill>
              </a:rPr>
              <a:t>weight sensitivity</a:t>
            </a:r>
            <a:r>
              <a:rPr lang="en-US" sz="1200" dirty="0"/>
              <a:t> to varying wing area and installed thrust. A high weight sensitivity would imply large changes in the aircraft</a:t>
            </a:r>
            <a:r>
              <a:rPr lang="en-US" sz="1200" baseline="0" dirty="0"/>
              <a:t> total </a:t>
            </a:r>
            <a:r>
              <a:rPr lang="en-US" sz="1200" dirty="0"/>
              <a:t>weight as consequence of small change, for</a:t>
            </a:r>
            <a:r>
              <a:rPr lang="en-US" sz="1200" baseline="0" dirty="0"/>
              <a:t> example, in the weight of the engine (installed thrust).</a:t>
            </a: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aseline="0" dirty="0"/>
              <a:t>Hence, in case a different heavier engine should be installed on the given aircraft, the larger increase in OEW/MTOW would require a decrease either in the payload or in the fuel fraction.  </a:t>
            </a:r>
            <a:endParaRPr lang="en-US" sz="1200" dirty="0"/>
          </a:p>
          <a:p>
            <a:pPr eaLnBrk="1" hangingPunct="1"/>
            <a:endParaRPr lang="en-GB" dirty="0">
              <a:latin typeface="Arial" pitchFamily="34" charset="0"/>
            </a:endParaRPr>
          </a:p>
          <a:p>
            <a:pPr eaLnBrk="1" hangingPunct="1"/>
            <a:endParaRPr lang="en-GB" dirty="0">
              <a:latin typeface="Arial" pitchFamily="34" charset="0"/>
            </a:endParaRPr>
          </a:p>
          <a:p>
            <a:pPr eaLnBrk="1" hangingPunct="1"/>
            <a:r>
              <a:rPr lang="en-GB" dirty="0">
                <a:latin typeface="Arial" pitchFamily="34" charset="0"/>
              </a:rPr>
              <a:t>*The relevance of the reliability of these statistical information will be discussed later, showing the sensitivity of the aircraft gross weight and performance to the use of bad reference data.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20</a:t>
            </a:fld>
            <a:endParaRPr lang="en-US"/>
          </a:p>
        </p:txBody>
      </p:sp>
    </p:spTree>
    <p:extLst>
      <p:ext uri="{BB962C8B-B14F-4D97-AF65-F5344CB8AC3E}">
        <p14:creationId xmlns:p14="http://schemas.microsoft.com/office/powerpoint/2010/main" val="33986600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10A50713-E5AD-4E8F-8F7B-FA169193458C}" type="slidenum">
              <a:rPr lang="en-US" smtClean="0">
                <a:latin typeface="Arial" pitchFamily="34" charset="0"/>
              </a:rPr>
              <a:pPr/>
              <a:t>21</a:t>
            </a:fld>
            <a:endParaRPr lang="en-US">
              <a:latin typeface="Arial" pitchFamily="34" charset="0"/>
            </a:endParaRPr>
          </a:p>
        </p:txBody>
      </p:sp>
      <p:sp>
        <p:nvSpPr>
          <p:cNvPr id="79875" name="Rectangle 2"/>
          <p:cNvSpPr>
            <a:spLocks noGrp="1" noRot="1" noChangeAspect="1" noChangeArrowheads="1" noTextEdit="1"/>
          </p:cNvSpPr>
          <p:nvPr>
            <p:ph type="sldImg"/>
          </p:nvPr>
        </p:nvSpPr>
        <p:spPr>
          <a:xfrm>
            <a:off x="87313" y="746125"/>
            <a:ext cx="6619875" cy="3724275"/>
          </a:xfrm>
          <a:ln/>
        </p:spPr>
      </p:sp>
      <p:sp>
        <p:nvSpPr>
          <p:cNvPr id="79876" name="Rectangle 3"/>
          <p:cNvSpPr>
            <a:spLocks noGrp="1" noChangeArrowheads="1"/>
          </p:cNvSpPr>
          <p:nvPr>
            <p:ph type="body" idx="1"/>
          </p:nvPr>
        </p:nvSpPr>
        <p:spPr>
          <a:noFill/>
          <a:ln/>
        </p:spPr>
        <p:txBody>
          <a:bodyPr/>
          <a:lstStyle/>
          <a:p>
            <a:pPr eaLnBrk="1" hangingPunct="1"/>
            <a:r>
              <a:rPr lang="en-GB" dirty="0">
                <a:latin typeface="Arial" pitchFamily="34" charset="0"/>
              </a:rPr>
              <a:t>*</a:t>
            </a:r>
            <a:r>
              <a:rPr lang="en-GB" b="1" dirty="0">
                <a:latin typeface="Arial" pitchFamily="34" charset="0"/>
              </a:rPr>
              <a:t>The evaluation of the position of the </a:t>
            </a:r>
            <a:r>
              <a:rPr lang="en-GB" b="1" dirty="0" err="1">
                <a:latin typeface="Arial" pitchFamily="34" charset="0"/>
              </a:rPr>
              <a:t>c.g</a:t>
            </a:r>
            <a:r>
              <a:rPr lang="en-GB" b="1" dirty="0">
                <a:latin typeface="Arial" pitchFamily="34" charset="0"/>
              </a:rPr>
              <a:t> during the various phases of the mission is addressed</a:t>
            </a:r>
            <a:r>
              <a:rPr lang="en-GB" b="1" baseline="0" dirty="0">
                <a:latin typeface="Arial" pitchFamily="34" charset="0"/>
              </a:rPr>
              <a:t> as the </a:t>
            </a:r>
            <a:r>
              <a:rPr lang="en-GB" b="1" dirty="0">
                <a:latin typeface="Arial" pitchFamily="34" charset="0"/>
              </a:rPr>
              <a:t>balance the aircraft.</a:t>
            </a:r>
          </a:p>
          <a:p>
            <a:pPr eaLnBrk="1" hangingPunct="1"/>
            <a:endParaRPr lang="en-GB" dirty="0">
              <a:latin typeface="Arial" pitchFamily="34" charset="0"/>
            </a:endParaRPr>
          </a:p>
          <a:p>
            <a:pPr eaLnBrk="1" hangingPunct="1"/>
            <a:r>
              <a:rPr lang="en-GB" dirty="0">
                <a:latin typeface="Arial" pitchFamily="34" charset="0"/>
              </a:rPr>
              <a:t>** To apply class II methods, indeed it is required the availability of geometric data such as wing area, sweep angle, taper ratio, fuselage length. Hence data that you have learnt to derive during previous courses (AE2201, AE2101)</a:t>
            </a:r>
          </a:p>
          <a:p>
            <a:pPr eaLnBrk="1" hangingPunct="1"/>
            <a:endParaRPr lang="en-GB" dirty="0">
              <a:latin typeface="Arial" pitchFamily="34" charset="0"/>
            </a:endParaRPr>
          </a:p>
          <a:p>
            <a:pPr eaLnBrk="1" hangingPunct="1"/>
            <a:r>
              <a:rPr lang="en-GB" dirty="0">
                <a:latin typeface="Arial" pitchFamily="34" charset="0"/>
              </a:rPr>
              <a:t>While Class I weight methods can be considered very “impersonal” (the aircraft is just an entity with some attributes as L/D, </a:t>
            </a:r>
            <a:r>
              <a:rPr lang="en-GB" dirty="0" err="1">
                <a:latin typeface="Arial" pitchFamily="34" charset="0"/>
              </a:rPr>
              <a:t>cj</a:t>
            </a:r>
            <a:r>
              <a:rPr lang="en-GB" dirty="0">
                <a:latin typeface="Arial" pitchFamily="34" charset="0"/>
              </a:rPr>
              <a:t>, etc.), Class II are “more personal” because their outcome reflects the design choices made to size the aircraft (e.g., the selected values for sweep angle, thickness ratio, taper and aspect ration, fuselage length and diameter, etc..)</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22</a:t>
            </a:fld>
            <a:endParaRPr lang="en-US"/>
          </a:p>
        </p:txBody>
      </p:sp>
    </p:spTree>
    <p:extLst>
      <p:ext uri="{BB962C8B-B14F-4D97-AF65-F5344CB8AC3E}">
        <p14:creationId xmlns:p14="http://schemas.microsoft.com/office/powerpoint/2010/main" val="33986600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E88482FF-1CF6-4F65-A7A4-4C8C0D7D1642}" type="slidenum">
              <a:rPr lang="en-US" smtClean="0">
                <a:latin typeface="Arial" pitchFamily="34" charset="0"/>
              </a:rPr>
              <a:pPr/>
              <a:t>23</a:t>
            </a:fld>
            <a:endParaRPr lang="en-US">
              <a:latin typeface="Arial" pitchFamily="34" charset="0"/>
            </a:endParaRPr>
          </a:p>
        </p:txBody>
      </p:sp>
      <p:sp>
        <p:nvSpPr>
          <p:cNvPr id="80899" name="Rectangle 2"/>
          <p:cNvSpPr>
            <a:spLocks noGrp="1" noRot="1" noChangeAspect="1" noChangeArrowheads="1" noTextEdit="1"/>
          </p:cNvSpPr>
          <p:nvPr>
            <p:ph type="sldImg"/>
          </p:nvPr>
        </p:nvSpPr>
        <p:spPr>
          <a:xfrm>
            <a:off x="87313" y="746125"/>
            <a:ext cx="6619875" cy="3724275"/>
          </a:xfrm>
          <a:ln/>
        </p:spPr>
      </p:sp>
      <p:sp>
        <p:nvSpPr>
          <p:cNvPr id="80900"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dirty="0">
                <a:latin typeface="Arial" pitchFamily="34" charset="0"/>
              </a:rPr>
              <a:t>* The weight of many aircraft systems, such as </a:t>
            </a:r>
            <a:r>
              <a:rPr lang="en-GB" dirty="0" err="1">
                <a:latin typeface="Arial" pitchFamily="34" charset="0"/>
              </a:rPr>
              <a:t>airco</a:t>
            </a:r>
            <a:r>
              <a:rPr lang="en-GB" dirty="0">
                <a:latin typeface="Arial" pitchFamily="34" charset="0"/>
              </a:rPr>
              <a:t>, cabling, piping etc. is strictly related to the geometry of the aircraft, rather than a specific load case (like the bending loads for a wing, or the pressurization for the fuselage, etc.).</a:t>
            </a:r>
            <a:r>
              <a:rPr lang="en-US" sz="1200" dirty="0"/>
              <a:t> In fact, the weight estimation of those components, whose sizing is not related to any specific load case, is either specified, determined by previous calculations, or assumed on the basis of educated guesses. </a:t>
            </a:r>
          </a:p>
          <a:p>
            <a:pPr eaLnBrk="1" hangingPunct="1"/>
            <a:endParaRPr lang="en-GB" dirty="0">
              <a:latin typeface="Arial" pitchFamily="34" charset="0"/>
            </a:endParaRPr>
          </a:p>
          <a:p>
            <a:pPr eaLnBrk="1" hangingPunct="1"/>
            <a:endParaRPr lang="en-GB" dirty="0">
              <a:latin typeface="Arial" pitchFamily="34" charset="0"/>
            </a:endParaRPr>
          </a:p>
          <a:p>
            <a:pPr eaLnBrk="1" hangingPunct="1"/>
            <a:r>
              <a:rPr lang="en-GB" dirty="0">
                <a:latin typeface="Arial" pitchFamily="34" charset="0"/>
              </a:rPr>
              <a:t>In case of innovative (unconventional) aircraft configurations it might be necessary to anticipate the use of these more sophisticated sizing methods, since weights evaluated with heavily statistics based method (class 1 and class 2) can give very unreliable results.</a:t>
            </a:r>
          </a:p>
          <a:p>
            <a:pPr eaLnBrk="1" hangingPunct="1"/>
            <a:endParaRPr lang="en-GB" dirty="0">
              <a:latin typeface="Arial" pitchFamily="34" charset="0"/>
            </a:endParaRPr>
          </a:p>
          <a:p>
            <a:pPr eaLnBrk="1" hangingPunct="1"/>
            <a:endParaRPr lang="en-GB" dirty="0">
              <a:latin typeface="Arial" pitchFamily="34" charset="0"/>
            </a:endParaRPr>
          </a:p>
          <a:p>
            <a:pPr eaLnBrk="1" hangingPunct="1"/>
            <a:endParaRPr lang="en-GB" dirty="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24</a:t>
            </a:fld>
            <a:endParaRPr lang="en-US"/>
          </a:p>
        </p:txBody>
      </p:sp>
    </p:spTree>
    <p:extLst>
      <p:ext uri="{BB962C8B-B14F-4D97-AF65-F5344CB8AC3E}">
        <p14:creationId xmlns:p14="http://schemas.microsoft.com/office/powerpoint/2010/main" val="33986600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xfrm>
            <a:off x="87313" y="746125"/>
            <a:ext cx="6619875" cy="3724275"/>
          </a:xfrm>
          <a:ln/>
        </p:spPr>
      </p:sp>
      <p:sp>
        <p:nvSpPr>
          <p:cNvPr id="81923" name="Notes Placeholder 2"/>
          <p:cNvSpPr>
            <a:spLocks noGrp="1"/>
          </p:cNvSpPr>
          <p:nvPr>
            <p:ph type="body" idx="1"/>
          </p:nvPr>
        </p:nvSpPr>
        <p:spPr>
          <a:noFill/>
          <a:ln/>
        </p:spPr>
        <p:txBody>
          <a:bodyPr/>
          <a:lstStyle/>
          <a:p>
            <a:pPr eaLnBrk="1" hangingPunct="1"/>
            <a:endParaRPr lang="nl-NL">
              <a:latin typeface="Arial" pitchFamily="34" charset="0"/>
            </a:endParaRPr>
          </a:p>
        </p:txBody>
      </p:sp>
      <p:sp>
        <p:nvSpPr>
          <p:cNvPr id="81924" name="Slide Number Placeholder 3"/>
          <p:cNvSpPr>
            <a:spLocks noGrp="1"/>
          </p:cNvSpPr>
          <p:nvPr>
            <p:ph type="sldNum" sz="quarter" idx="5"/>
          </p:nvPr>
        </p:nvSpPr>
        <p:spPr>
          <a:noFill/>
        </p:spPr>
        <p:txBody>
          <a:bodyPr/>
          <a:lstStyle/>
          <a:p>
            <a:fld id="{C63E9BE2-AF85-4810-9B6F-2193FE239C88}" type="slidenum">
              <a:rPr lang="en-US" smtClean="0">
                <a:latin typeface="Arial" pitchFamily="34" charset="0"/>
              </a:rPr>
              <a:pPr/>
              <a:t>25</a:t>
            </a:fld>
            <a:endParaRPr lang="en-US">
              <a:latin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26</a:t>
            </a:fld>
            <a:endParaRPr lang="en-US"/>
          </a:p>
        </p:txBody>
      </p:sp>
    </p:spTree>
    <p:extLst>
      <p:ext uri="{BB962C8B-B14F-4D97-AF65-F5344CB8AC3E}">
        <p14:creationId xmlns:p14="http://schemas.microsoft.com/office/powerpoint/2010/main" val="33986600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27</a:t>
            </a:fld>
            <a:endParaRPr lang="en-US"/>
          </a:p>
        </p:txBody>
      </p:sp>
    </p:spTree>
    <p:extLst>
      <p:ext uri="{BB962C8B-B14F-4D97-AF65-F5344CB8AC3E}">
        <p14:creationId xmlns:p14="http://schemas.microsoft.com/office/powerpoint/2010/main" val="41873360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28</a:t>
            </a:fld>
            <a:endParaRPr lang="en-US"/>
          </a:p>
        </p:txBody>
      </p:sp>
    </p:spTree>
    <p:extLst>
      <p:ext uri="{BB962C8B-B14F-4D97-AF65-F5344CB8AC3E}">
        <p14:creationId xmlns:p14="http://schemas.microsoft.com/office/powerpoint/2010/main" val="17838058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A80FED5B-5732-467F-8B1D-2134ED47C474}" type="slidenum">
              <a:rPr lang="en-US" smtClean="0">
                <a:latin typeface="Arial" pitchFamily="34" charset="0"/>
              </a:rPr>
              <a:pPr/>
              <a:t>29</a:t>
            </a:fld>
            <a:endParaRPr lang="en-US">
              <a:latin typeface="Arial" pitchFamily="34" charset="0"/>
            </a:endParaRPr>
          </a:p>
        </p:txBody>
      </p:sp>
      <p:sp>
        <p:nvSpPr>
          <p:cNvPr id="83971" name="Rectangle 2"/>
          <p:cNvSpPr>
            <a:spLocks noGrp="1" noRot="1" noChangeAspect="1" noChangeArrowheads="1" noTextEdit="1"/>
          </p:cNvSpPr>
          <p:nvPr>
            <p:ph type="sldImg"/>
          </p:nvPr>
        </p:nvSpPr>
        <p:spPr>
          <a:xfrm>
            <a:off x="87313" y="746125"/>
            <a:ext cx="6619875" cy="3724275"/>
          </a:xfrm>
          <a:ln/>
        </p:spPr>
      </p:sp>
      <p:sp>
        <p:nvSpPr>
          <p:cNvPr id="83972" name="Rectangle 3"/>
          <p:cNvSpPr>
            <a:spLocks noGrp="1" noChangeArrowheads="1"/>
          </p:cNvSpPr>
          <p:nvPr>
            <p:ph type="body" idx="1"/>
          </p:nvPr>
        </p:nvSpPr>
        <p:spPr>
          <a:xfrm>
            <a:off x="906040" y="4718214"/>
            <a:ext cx="4982422" cy="4469130"/>
          </a:xfrm>
          <a:noFill/>
          <a:ln/>
        </p:spPr>
        <p:txBody>
          <a:bodyPr/>
          <a:lstStyle/>
          <a:p>
            <a:pPr eaLnBrk="1" hangingPunct="1"/>
            <a:r>
              <a:rPr lang="en-GB" dirty="0">
                <a:latin typeface="Arial" pitchFamily="34" charset="0"/>
              </a:rPr>
              <a:t>Before start looking in detail at the various weight estimation methods, it is convenient to refresh the typical weight definitions used in literature. </a:t>
            </a:r>
          </a:p>
          <a:p>
            <a:pPr eaLnBrk="1" hangingPunct="1"/>
            <a:endParaRPr lang="en-GB" dirty="0">
              <a:latin typeface="Arial" pitchFamily="34" charset="0"/>
            </a:endParaRPr>
          </a:p>
          <a:p>
            <a:pPr marL="171450" indent="-171450" eaLnBrk="1" hangingPunct="1">
              <a:buFont typeface="Arial" panose="020B0604020202020204" pitchFamily="34" charset="0"/>
              <a:buChar char="•"/>
            </a:pPr>
            <a:r>
              <a:rPr lang="en-GB" dirty="0">
                <a:latin typeface="Arial" pitchFamily="34" charset="0"/>
              </a:rPr>
              <a:t>The </a:t>
            </a:r>
            <a:r>
              <a:rPr lang="en-GB" b="1" dirty="0">
                <a:latin typeface="Arial" pitchFamily="34" charset="0"/>
              </a:rPr>
              <a:t>take-off weight </a:t>
            </a:r>
            <a:r>
              <a:rPr lang="en-GB" dirty="0">
                <a:latin typeface="Arial" pitchFamily="34" charset="0"/>
              </a:rPr>
              <a:t>is the weight of the aircraft at the moment of brake release, or start of the take off run. It depends on the given loading condition (amount of payload and fuel on board) and can</a:t>
            </a:r>
            <a:r>
              <a:rPr lang="en-GB" baseline="0" dirty="0">
                <a:latin typeface="Arial" pitchFamily="34" charset="0"/>
              </a:rPr>
              <a:t> never exceed the </a:t>
            </a:r>
            <a:r>
              <a:rPr lang="en-GB" b="1" baseline="0" dirty="0">
                <a:latin typeface="Arial" pitchFamily="34" charset="0"/>
              </a:rPr>
              <a:t>maximum take off weigh </a:t>
            </a:r>
            <a:r>
              <a:rPr lang="en-GB" baseline="0" dirty="0">
                <a:latin typeface="Arial" pitchFamily="34" charset="0"/>
              </a:rPr>
              <a:t>(MTOW, which is generally fixed by structural requirements in the take-off)</a:t>
            </a:r>
          </a:p>
          <a:p>
            <a:pPr marL="171450" indent="-171450" eaLnBrk="1" hangingPunct="1">
              <a:buFont typeface="Arial" panose="020B0604020202020204" pitchFamily="34" charset="0"/>
              <a:buChar char="•"/>
            </a:pPr>
            <a:r>
              <a:rPr lang="en-GB" baseline="0" dirty="0">
                <a:latin typeface="Arial" pitchFamily="34" charset="0"/>
              </a:rPr>
              <a:t>The </a:t>
            </a:r>
            <a:r>
              <a:rPr lang="en-GB" b="1" baseline="0" dirty="0">
                <a:latin typeface="Arial" pitchFamily="34" charset="0"/>
              </a:rPr>
              <a:t>ramp weight </a:t>
            </a:r>
            <a:r>
              <a:rPr lang="en-GB" baseline="0" dirty="0">
                <a:latin typeface="Arial" pitchFamily="34" charset="0"/>
              </a:rPr>
              <a:t>is the take off weight plus the weight of the fuel required to engine starting and warm up and taxing. It cannot exceed the </a:t>
            </a:r>
            <a:r>
              <a:rPr lang="en-GB" b="1" baseline="0" dirty="0">
                <a:latin typeface="Arial" pitchFamily="34" charset="0"/>
              </a:rPr>
              <a:t>maximum ramp weight </a:t>
            </a:r>
            <a:r>
              <a:rPr lang="en-GB" baseline="0" dirty="0">
                <a:latin typeface="Arial" pitchFamily="34" charset="0"/>
              </a:rPr>
              <a:t>(MRW). This can be limited by airport ground constraints</a:t>
            </a:r>
          </a:p>
          <a:p>
            <a:pPr marL="171450" indent="-171450" eaLnBrk="1" hangingPunct="1">
              <a:buFont typeface="Arial" panose="020B0604020202020204" pitchFamily="34" charset="0"/>
              <a:buChar char="•"/>
            </a:pPr>
            <a:r>
              <a:rPr lang="en-GB" baseline="0" dirty="0">
                <a:latin typeface="Arial" pitchFamily="34" charset="0"/>
              </a:rPr>
              <a:t>The </a:t>
            </a:r>
            <a:r>
              <a:rPr lang="en-GB" b="1" baseline="0" dirty="0">
                <a:latin typeface="Arial" pitchFamily="34" charset="0"/>
              </a:rPr>
              <a:t>landing weight </a:t>
            </a:r>
            <a:r>
              <a:rPr lang="en-GB" baseline="0" dirty="0">
                <a:latin typeface="Arial" pitchFamily="34" charset="0"/>
              </a:rPr>
              <a:t>is the weight of the aircraft at the moment of touchdown. It cannot exceed the </a:t>
            </a:r>
            <a:r>
              <a:rPr lang="en-GB" b="1" baseline="0" dirty="0">
                <a:latin typeface="Arial" pitchFamily="34" charset="0"/>
              </a:rPr>
              <a:t>maximum landing weight </a:t>
            </a:r>
            <a:r>
              <a:rPr lang="en-GB" baseline="0" dirty="0">
                <a:latin typeface="Arial" pitchFamily="34" charset="0"/>
              </a:rPr>
              <a:t>(MLW, which is generally limited by the landing gear strength or the landing impact loads on some part of the structure. It cannot be higher than  MTOW)</a:t>
            </a:r>
            <a:endParaRPr lang="en-GB" dirty="0">
              <a:latin typeface="Arial" pitchFamily="34" charset="0"/>
            </a:endParaRPr>
          </a:p>
          <a:p>
            <a:pPr marL="171450" indent="-171450" eaLnBrk="1" hangingPunct="1">
              <a:buFont typeface="Arial" panose="020B0604020202020204" pitchFamily="34" charset="0"/>
              <a:buChar char="•"/>
            </a:pPr>
            <a:r>
              <a:rPr lang="en-GB" dirty="0">
                <a:latin typeface="Arial" pitchFamily="34" charset="0"/>
              </a:rPr>
              <a:t>The </a:t>
            </a:r>
            <a:r>
              <a:rPr lang="en-GB" b="1" dirty="0">
                <a:latin typeface="Arial" pitchFamily="34" charset="0"/>
              </a:rPr>
              <a:t>gross weight</a:t>
            </a:r>
            <a:r>
              <a:rPr lang="en-GB" dirty="0">
                <a:latin typeface="Arial" pitchFamily="34" charset="0"/>
              </a:rPr>
              <a:t>, or design gross weight, is the total airplane weight at any moment during flight. At the moment of brake release before take off, it coincides</a:t>
            </a:r>
            <a:r>
              <a:rPr lang="en-GB" baseline="0" dirty="0">
                <a:latin typeface="Arial" pitchFamily="34" charset="0"/>
              </a:rPr>
              <a:t> with take off weight (TOW). This is a</a:t>
            </a:r>
            <a:r>
              <a:rPr lang="en-GB" dirty="0">
                <a:latin typeface="Arial" pitchFamily="34" charset="0"/>
              </a:rPr>
              <a:t> figure typically used for components weight estimation. It does not necessarily coincide with the take off weight, because designer might want to account that certain design loads are not met by the aircraft at MTOW, but only in certain phases of the mission, when part of the fuel has been already burnt (and the weight is then equal ….to the gross weight!). E.g., the weight of certain components is driven by loads that are typically encountered during cruise or at landing. Using the MTOW as reference, might yield overestimation of the component weight.</a:t>
            </a:r>
          </a:p>
          <a:p>
            <a:pPr marL="171450" indent="-171450" eaLnBrk="1" hangingPunct="1">
              <a:buFont typeface="Arial" panose="020B0604020202020204" pitchFamily="34" charset="0"/>
              <a:buChar char="•"/>
            </a:pPr>
            <a:r>
              <a:rPr lang="en-GB" dirty="0">
                <a:latin typeface="Arial" pitchFamily="34" charset="0"/>
              </a:rPr>
              <a:t>The </a:t>
            </a:r>
            <a:r>
              <a:rPr lang="en-GB" b="1" dirty="0">
                <a:latin typeface="Arial" pitchFamily="34" charset="0"/>
              </a:rPr>
              <a:t>operating weight </a:t>
            </a:r>
            <a:r>
              <a:rPr lang="en-GB" dirty="0">
                <a:latin typeface="Arial" pitchFamily="34" charset="0"/>
              </a:rPr>
              <a:t>(OW),</a:t>
            </a:r>
            <a:r>
              <a:rPr lang="en-GB" baseline="0" dirty="0">
                <a:latin typeface="Arial" pitchFamily="34" charset="0"/>
              </a:rPr>
              <a:t> or </a:t>
            </a:r>
            <a:r>
              <a:rPr lang="en-GB" b="1" baseline="0" dirty="0">
                <a:latin typeface="Arial" pitchFamily="34" charset="0"/>
              </a:rPr>
              <a:t>Zero Payload weight </a:t>
            </a:r>
            <a:r>
              <a:rPr lang="en-GB" baseline="0" dirty="0">
                <a:latin typeface="Arial" pitchFamily="34" charset="0"/>
              </a:rPr>
              <a:t>(ZPW), is the weight of the fully loaded airplane, without payload. So it is equal to the Operative empty weight (OEW) plus the total fuel.</a:t>
            </a:r>
            <a:r>
              <a:rPr lang="en-GB" dirty="0">
                <a:latin typeface="Arial" pitchFamily="34" charset="0"/>
              </a:rPr>
              <a:t> </a:t>
            </a:r>
          </a:p>
          <a:p>
            <a:pPr eaLnBrk="1" hangingPunct="1"/>
            <a:endParaRPr lang="en-GB" dirty="0">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F08D0DC6-7020-4E77-8263-BF9A963C0290}" type="slidenum">
              <a:rPr lang="en-US" smtClean="0">
                <a:latin typeface="Arial" pitchFamily="34" charset="0"/>
              </a:rPr>
              <a:pPr/>
              <a:t>30</a:t>
            </a:fld>
            <a:endParaRPr lang="en-US">
              <a:latin typeface="Arial" pitchFamily="34" charset="0"/>
            </a:endParaRPr>
          </a:p>
        </p:txBody>
      </p:sp>
      <p:sp>
        <p:nvSpPr>
          <p:cNvPr id="84995" name="Rectangle 2"/>
          <p:cNvSpPr>
            <a:spLocks noGrp="1" noRot="1" noChangeAspect="1" noChangeArrowheads="1" noTextEdit="1"/>
          </p:cNvSpPr>
          <p:nvPr>
            <p:ph type="sldImg"/>
          </p:nvPr>
        </p:nvSpPr>
        <p:spPr>
          <a:xfrm>
            <a:off x="87313" y="746125"/>
            <a:ext cx="6619875" cy="3724275"/>
          </a:xfrm>
          <a:ln/>
        </p:spPr>
      </p:sp>
      <p:sp>
        <p:nvSpPr>
          <p:cNvPr id="84996" name="Rectangle 3"/>
          <p:cNvSpPr>
            <a:spLocks noGrp="1" noChangeArrowheads="1"/>
          </p:cNvSpPr>
          <p:nvPr>
            <p:ph type="body" idx="1"/>
          </p:nvPr>
        </p:nvSpPr>
        <p:spPr>
          <a:xfrm>
            <a:off x="906040" y="4718214"/>
            <a:ext cx="4982422" cy="4469130"/>
          </a:xfrm>
          <a:noFill/>
          <a:ln/>
        </p:spPr>
        <p:txBody>
          <a:bodyPr/>
          <a:lstStyle/>
          <a:p>
            <a:pPr eaLnBrk="1" hangingPunct="1"/>
            <a:r>
              <a:rPr lang="en-GB" dirty="0">
                <a:latin typeface="Arial" pitchFamily="34" charset="0"/>
              </a:rPr>
              <a:t>To the eye of a class I weight estimation method, the weight breakdown of an aircraft consists only of the structural, payload and fuel weight. Nothing more detailed than that! </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BDC2753C-0808-42D3-B7B7-E3B77A80DAA7}" type="slidenum">
              <a:rPr lang="en-US" smtClean="0">
                <a:latin typeface="Arial" pitchFamily="34" charset="0"/>
              </a:rPr>
              <a:pPr/>
              <a:t>31</a:t>
            </a:fld>
            <a:endParaRPr lang="en-US">
              <a:latin typeface="Arial" pitchFamily="34" charset="0"/>
            </a:endParaRPr>
          </a:p>
        </p:txBody>
      </p:sp>
      <p:sp>
        <p:nvSpPr>
          <p:cNvPr id="100355" name="Rectangle 2"/>
          <p:cNvSpPr>
            <a:spLocks noGrp="1" noRot="1" noChangeAspect="1" noChangeArrowheads="1" noTextEdit="1"/>
          </p:cNvSpPr>
          <p:nvPr>
            <p:ph type="sldImg"/>
          </p:nvPr>
        </p:nvSpPr>
        <p:spPr>
          <a:xfrm>
            <a:off x="87313" y="746125"/>
            <a:ext cx="6619875" cy="3724275"/>
          </a:xfrm>
          <a:ln/>
        </p:spPr>
      </p:sp>
      <p:sp>
        <p:nvSpPr>
          <p:cNvPr id="100356" name="Rectangle 3"/>
          <p:cNvSpPr>
            <a:spLocks noGrp="1" noChangeArrowheads="1"/>
          </p:cNvSpPr>
          <p:nvPr>
            <p:ph type="body" idx="1"/>
          </p:nvPr>
        </p:nvSpPr>
        <p:spPr>
          <a:noFill/>
          <a:ln/>
        </p:spPr>
        <p:txBody>
          <a:bodyPr/>
          <a:lstStyle/>
          <a:p>
            <a:pPr eaLnBrk="1" hangingPunct="1"/>
            <a:r>
              <a:rPr lang="en-GB" dirty="0">
                <a:latin typeface="Arial" pitchFamily="34" charset="0"/>
              </a:rPr>
              <a:t>*also called alighting gear group</a:t>
            </a:r>
          </a:p>
          <a:p>
            <a:pPr eaLnBrk="1" hangingPunct="1"/>
            <a:r>
              <a:rPr lang="en-GB" dirty="0">
                <a:latin typeface="Arial" pitchFamily="34" charset="0"/>
              </a:rPr>
              <a:t>** it is the weight of the control system not of the controlled</a:t>
            </a:r>
            <a:r>
              <a:rPr lang="en-GB" baseline="0" dirty="0">
                <a:latin typeface="Arial" pitchFamily="34" charset="0"/>
              </a:rPr>
              <a:t> surfaces</a:t>
            </a:r>
            <a:endParaRPr lang="en-GB" dirty="0">
              <a:latin typeface="Arial" pitchFamily="34" charset="0"/>
            </a:endParaRPr>
          </a:p>
          <a:p>
            <a:pPr eaLnBrk="1" hangingPunct="1"/>
            <a:r>
              <a:rPr lang="en-GB" dirty="0">
                <a:latin typeface="Arial" pitchFamily="34" charset="0"/>
              </a:rPr>
              <a:t>***includes engine mounts, nacelles, pylons, engine cowlings, noise suppression material, firewalls.  </a:t>
            </a:r>
          </a:p>
          <a:p>
            <a:pPr eaLnBrk="1" hangingPunct="1"/>
            <a:endParaRPr lang="en-GB" dirty="0">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C677A0A7-9A3C-43C1-B4B3-E55A80FFD818}" type="slidenum">
              <a:rPr lang="en-US" smtClean="0">
                <a:latin typeface="Arial" pitchFamily="34" charset="0"/>
              </a:rPr>
              <a:pPr/>
              <a:t>32</a:t>
            </a:fld>
            <a:endParaRPr lang="en-US">
              <a:latin typeface="Arial" pitchFamily="34" charset="0"/>
            </a:endParaRPr>
          </a:p>
        </p:txBody>
      </p:sp>
      <p:sp>
        <p:nvSpPr>
          <p:cNvPr id="101379" name="Rectangle 2"/>
          <p:cNvSpPr>
            <a:spLocks noGrp="1" noRot="1" noChangeAspect="1" noChangeArrowheads="1" noTextEdit="1"/>
          </p:cNvSpPr>
          <p:nvPr>
            <p:ph type="sldImg"/>
          </p:nvPr>
        </p:nvSpPr>
        <p:spPr>
          <a:xfrm>
            <a:off x="87313" y="746125"/>
            <a:ext cx="6619875" cy="3724275"/>
          </a:xfrm>
          <a:ln/>
        </p:spPr>
      </p:sp>
      <p:sp>
        <p:nvSpPr>
          <p:cNvPr id="101380" name="Rectangle 3"/>
          <p:cNvSpPr>
            <a:spLocks noGrp="1" noChangeArrowheads="1"/>
          </p:cNvSpPr>
          <p:nvPr>
            <p:ph type="body" idx="1"/>
          </p:nvPr>
        </p:nvSpPr>
        <p:spPr>
          <a:noFill/>
          <a:ln/>
        </p:spPr>
        <p:txBody>
          <a:bodyPr/>
          <a:lstStyle/>
          <a:p>
            <a:pPr eaLnBrk="1" hangingPunct="1"/>
            <a:r>
              <a:rPr lang="en-US" sz="1200" dirty="0"/>
              <a:t>*the part directly connected to the engine</a:t>
            </a:r>
            <a:endParaRPr lang="en-GB" dirty="0">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5A551F54-7BE2-4D28-8B55-F02D4E3820CD}" type="slidenum">
              <a:rPr lang="en-US" smtClean="0">
                <a:latin typeface="Arial" pitchFamily="34" charset="0"/>
              </a:rPr>
              <a:pPr/>
              <a:t>33</a:t>
            </a:fld>
            <a:endParaRPr lang="en-US">
              <a:latin typeface="Arial" pitchFamily="34" charset="0"/>
            </a:endParaRPr>
          </a:p>
        </p:txBody>
      </p:sp>
      <p:sp>
        <p:nvSpPr>
          <p:cNvPr id="102403" name="Rectangle 2"/>
          <p:cNvSpPr>
            <a:spLocks noGrp="1" noRot="1" noChangeAspect="1" noChangeArrowheads="1" noTextEdit="1"/>
          </p:cNvSpPr>
          <p:nvPr>
            <p:ph type="sldImg"/>
          </p:nvPr>
        </p:nvSpPr>
        <p:spPr>
          <a:xfrm>
            <a:off x="87313" y="746125"/>
            <a:ext cx="6619875" cy="3724275"/>
          </a:xfrm>
          <a:ln/>
        </p:spPr>
      </p:sp>
      <p:sp>
        <p:nvSpPr>
          <p:cNvPr id="102404" name="Rectangle 3"/>
          <p:cNvSpPr>
            <a:spLocks noGrp="1" noChangeArrowheads="1"/>
          </p:cNvSpPr>
          <p:nvPr>
            <p:ph type="body" idx="1"/>
          </p:nvPr>
        </p:nvSpPr>
        <p:spPr>
          <a:noFill/>
          <a:ln/>
        </p:spPr>
        <p:txBody>
          <a:bodyPr/>
          <a:lstStyle/>
          <a:p>
            <a:pPr eaLnBrk="1" hangingPunct="1"/>
            <a:r>
              <a:rPr lang="en-GB" dirty="0">
                <a:latin typeface="Arial" pitchFamily="34" charset="0"/>
              </a:rPr>
              <a:t>*</a:t>
            </a:r>
            <a:r>
              <a:rPr lang="en-GB" baseline="0" dirty="0">
                <a:latin typeface="Arial" pitchFamily="34" charset="0"/>
              </a:rPr>
              <a:t> The part collocated in the wing, tail and fuselage and not directly attached to the engine</a:t>
            </a:r>
          </a:p>
          <a:p>
            <a:pPr marL="0" marR="0" indent="0" algn="l" defTabSz="914400" rtl="0" eaLnBrk="1" fontAlgn="base" latinLnBrk="0" hangingPunct="1">
              <a:lnSpc>
                <a:spcPct val="100000"/>
              </a:lnSpc>
              <a:spcBef>
                <a:spcPct val="30000"/>
              </a:spcBef>
              <a:spcAft>
                <a:spcPct val="0"/>
              </a:spcAft>
              <a:buClrTx/>
              <a:buSzTx/>
              <a:buFontTx/>
              <a:buNone/>
              <a:tabLst/>
              <a:defRPr/>
            </a:pPr>
            <a:r>
              <a:rPr lang="en-GB" baseline="0" dirty="0">
                <a:latin typeface="Arial" pitchFamily="34" charset="0"/>
              </a:rPr>
              <a:t>**</a:t>
            </a:r>
            <a:r>
              <a:rPr lang="en-US" dirty="0"/>
              <a:t>In the order of half the fuselage structure weight</a:t>
            </a:r>
            <a:endParaRPr lang="en-GB" baseline="0" dirty="0">
              <a:latin typeface="Arial" pitchFamily="34" charset="0"/>
            </a:endParaRPr>
          </a:p>
          <a:p>
            <a:pPr eaLnBrk="1" hangingPunct="1"/>
            <a:endParaRPr lang="en-GB" dirty="0">
              <a:latin typeface="Arial" pitchFamily="34" charset="0"/>
            </a:endParaRPr>
          </a:p>
          <a:p>
            <a:pPr eaLnBrk="1" hangingPunct="1"/>
            <a:r>
              <a:rPr lang="en-GB" dirty="0">
                <a:latin typeface="Arial" pitchFamily="34" charset="0"/>
              </a:rPr>
              <a:t>While the weight of many of these items is reducing due to more efficient isolating materials</a:t>
            </a:r>
            <a:r>
              <a:rPr lang="en-GB" baseline="0" dirty="0">
                <a:latin typeface="Arial" pitchFamily="34" charset="0"/>
              </a:rPr>
              <a:t> and</a:t>
            </a:r>
            <a:r>
              <a:rPr lang="en-GB" dirty="0">
                <a:latin typeface="Arial" pitchFamily="34" charset="0"/>
              </a:rPr>
              <a:t> more efficient APU engines and </a:t>
            </a:r>
            <a:r>
              <a:rPr lang="en-GB" dirty="0" err="1">
                <a:latin typeface="Arial" pitchFamily="34" charset="0"/>
              </a:rPr>
              <a:t>airco</a:t>
            </a:r>
            <a:r>
              <a:rPr lang="en-GB" dirty="0">
                <a:latin typeface="Arial" pitchFamily="34" charset="0"/>
              </a:rPr>
              <a:t> systems, the electronics contribution is continuously increasing.</a:t>
            </a:r>
          </a:p>
          <a:p>
            <a:pPr eaLnBrk="1" hangingPunct="1"/>
            <a:r>
              <a:rPr lang="en-GB" dirty="0">
                <a:latin typeface="Arial" pitchFamily="34" charset="0"/>
              </a:rPr>
              <a:t>On the other hand, pneumatic systems are actually disappearing.</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8EDF7E78-702F-4534-921B-C5BDBE31BDF7}" type="slidenum">
              <a:rPr lang="en-US" smtClean="0">
                <a:latin typeface="Arial" pitchFamily="34" charset="0"/>
              </a:rPr>
              <a:pPr/>
              <a:t>34</a:t>
            </a:fld>
            <a:endParaRPr lang="en-US">
              <a:latin typeface="Arial" pitchFamily="34" charset="0"/>
            </a:endParaRPr>
          </a:p>
        </p:txBody>
      </p:sp>
      <p:sp>
        <p:nvSpPr>
          <p:cNvPr id="103427" name="Rectangle 2"/>
          <p:cNvSpPr>
            <a:spLocks noGrp="1" noRot="1" noChangeAspect="1" noChangeArrowheads="1" noTextEdit="1"/>
          </p:cNvSpPr>
          <p:nvPr>
            <p:ph type="sldImg"/>
          </p:nvPr>
        </p:nvSpPr>
        <p:spPr>
          <a:xfrm>
            <a:off x="87313" y="746125"/>
            <a:ext cx="6619875" cy="3724275"/>
          </a:xfrm>
          <a:ln/>
        </p:spPr>
      </p:sp>
      <p:sp>
        <p:nvSpPr>
          <p:cNvPr id="103428" name="Rectangle 3"/>
          <p:cNvSpPr>
            <a:spLocks noGrp="1" noChangeArrowheads="1"/>
          </p:cNvSpPr>
          <p:nvPr>
            <p:ph type="body" idx="1"/>
          </p:nvPr>
        </p:nvSpPr>
        <p:spPr>
          <a:noFill/>
          <a:ln/>
        </p:spPr>
        <p:txBody>
          <a:bodyPr/>
          <a:lstStyle/>
          <a:p>
            <a:pPr eaLnBrk="1" hangingPunct="1"/>
            <a:r>
              <a:rPr lang="en-GB" dirty="0">
                <a:latin typeface="Arial" pitchFamily="34" charset="0"/>
              </a:rPr>
              <a:t>Part of the removable weight consists of services and equipment which is installed on the aircraft by the manufacturer, and part which is installed - after delivery - by the operator</a:t>
            </a:r>
          </a:p>
          <a:p>
            <a:pPr eaLnBrk="1" hangingPunct="1"/>
            <a:endParaRPr lang="en-GB" dirty="0">
              <a:latin typeface="Arial" pitchFamily="34" charset="0"/>
            </a:endParaRPr>
          </a:p>
          <a:p>
            <a:pPr eaLnBrk="1" hangingPunct="1"/>
            <a:endParaRPr lang="en-GB" dirty="0">
              <a:latin typeface="Arial" pitchFamily="34" charset="0"/>
            </a:endParaRPr>
          </a:p>
          <a:p>
            <a:pPr eaLnBrk="1" hangingPunct="1"/>
            <a:endParaRPr lang="en-GB" dirty="0">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A50722C1-CE4B-4876-A322-1E1AA033DD48}" type="slidenum">
              <a:rPr lang="en-US" smtClean="0">
                <a:latin typeface="Arial" pitchFamily="34" charset="0"/>
              </a:rPr>
              <a:pPr/>
              <a:t>35</a:t>
            </a:fld>
            <a:endParaRPr lang="en-US">
              <a:latin typeface="Arial" pitchFamily="34" charset="0"/>
            </a:endParaRPr>
          </a:p>
        </p:txBody>
      </p:sp>
      <p:sp>
        <p:nvSpPr>
          <p:cNvPr id="104451" name="Rectangle 2"/>
          <p:cNvSpPr>
            <a:spLocks noGrp="1" noRot="1" noChangeAspect="1" noChangeArrowheads="1" noTextEdit="1"/>
          </p:cNvSpPr>
          <p:nvPr>
            <p:ph type="sldImg"/>
          </p:nvPr>
        </p:nvSpPr>
        <p:spPr>
          <a:xfrm>
            <a:off x="87313" y="746125"/>
            <a:ext cx="6619875" cy="3724275"/>
          </a:xfrm>
          <a:ln/>
        </p:spPr>
      </p:sp>
      <p:sp>
        <p:nvSpPr>
          <p:cNvPr id="104452" name="Rectangle 3"/>
          <p:cNvSpPr>
            <a:spLocks noGrp="1" noChangeArrowheads="1"/>
          </p:cNvSpPr>
          <p:nvPr>
            <p:ph type="body" idx="1"/>
          </p:nvPr>
        </p:nvSpPr>
        <p:spPr>
          <a:noFill/>
          <a:ln/>
        </p:spPr>
        <p:txBody>
          <a:bodyPr/>
          <a:lstStyle/>
          <a:p>
            <a:pPr eaLnBrk="1" hangingPunct="1"/>
            <a:r>
              <a:rPr lang="en-GB" dirty="0">
                <a:latin typeface="Arial" pitchFamily="34" charset="0"/>
              </a:rPr>
              <a:t>*crew baggage,</a:t>
            </a:r>
            <a:r>
              <a:rPr lang="en-GB" baseline="0" dirty="0">
                <a:latin typeface="Arial" pitchFamily="34" charset="0"/>
              </a:rPr>
              <a:t> pilot </a:t>
            </a:r>
            <a:r>
              <a:rPr lang="en-GB" dirty="0">
                <a:latin typeface="Arial" pitchFamily="34" charset="0"/>
              </a:rPr>
              <a:t>manuals.</a:t>
            </a:r>
          </a:p>
          <a:p>
            <a:pPr eaLnBrk="1" hangingPunct="1"/>
            <a:endParaRPr lang="en-GB" dirty="0">
              <a:latin typeface="Arial"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GB" dirty="0">
                <a:latin typeface="Arial" pitchFamily="34" charset="0"/>
              </a:rPr>
              <a:t>**The trapped oil and fuel (fuel which remains permanently unutilized in some parts of the tanks) is generally accounted in the airframe service weight, rather than in the operational items. It can be as heavy as 0.1-0.5% of the aircraft take off weight.</a:t>
            </a:r>
          </a:p>
          <a:p>
            <a:pPr eaLnBrk="1" hangingPunct="1"/>
            <a:endParaRPr lang="en-GB" dirty="0">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F19BEAFA-FA05-4EB5-A19F-D4BBF0687EAD}" type="slidenum">
              <a:rPr lang="en-US" smtClean="0">
                <a:latin typeface="Arial" pitchFamily="34" charset="0"/>
              </a:rPr>
              <a:pPr/>
              <a:t>36</a:t>
            </a:fld>
            <a:endParaRPr lang="en-US">
              <a:latin typeface="Arial" pitchFamily="34" charset="0"/>
            </a:endParaRPr>
          </a:p>
        </p:txBody>
      </p:sp>
      <p:sp>
        <p:nvSpPr>
          <p:cNvPr id="105475" name="Rectangle 2"/>
          <p:cNvSpPr>
            <a:spLocks noGrp="1" noRot="1" noChangeAspect="1" noChangeArrowheads="1" noTextEdit="1"/>
          </p:cNvSpPr>
          <p:nvPr>
            <p:ph type="sldImg"/>
          </p:nvPr>
        </p:nvSpPr>
        <p:spPr>
          <a:xfrm>
            <a:off x="87313" y="746125"/>
            <a:ext cx="6619875" cy="3724275"/>
          </a:xfrm>
          <a:ln/>
        </p:spPr>
      </p:sp>
      <p:sp>
        <p:nvSpPr>
          <p:cNvPr id="105476" name="Rectangle 3"/>
          <p:cNvSpPr>
            <a:spLocks noGrp="1" noChangeArrowheads="1"/>
          </p:cNvSpPr>
          <p:nvPr>
            <p:ph type="body" idx="1"/>
          </p:nvPr>
        </p:nvSpPr>
        <p:spPr>
          <a:noFill/>
          <a:ln/>
        </p:spPr>
        <p:txBody>
          <a:bodyPr/>
          <a:lstStyle/>
          <a:p>
            <a:pPr eaLnBrk="1" hangingPunct="1"/>
            <a:endParaRPr lang="en-GB" dirty="0">
              <a:latin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C470FC3E-7293-4325-B584-9D3E9218DE0C}" type="slidenum">
              <a:rPr lang="en-US" smtClean="0">
                <a:latin typeface="Arial" pitchFamily="34" charset="0"/>
              </a:rPr>
              <a:pPr/>
              <a:t>37</a:t>
            </a:fld>
            <a:endParaRPr lang="en-US">
              <a:latin typeface="Arial" pitchFamily="34" charset="0"/>
            </a:endParaRPr>
          </a:p>
        </p:txBody>
      </p:sp>
      <p:sp>
        <p:nvSpPr>
          <p:cNvPr id="107523" name="Rectangle 2"/>
          <p:cNvSpPr>
            <a:spLocks noGrp="1" noRot="1" noChangeAspect="1" noChangeArrowheads="1" noTextEdit="1"/>
          </p:cNvSpPr>
          <p:nvPr>
            <p:ph type="sldImg"/>
          </p:nvPr>
        </p:nvSpPr>
        <p:spPr>
          <a:xfrm>
            <a:off x="87313" y="746125"/>
            <a:ext cx="6619875" cy="3724275"/>
          </a:xfrm>
          <a:ln/>
        </p:spPr>
      </p:sp>
      <p:sp>
        <p:nvSpPr>
          <p:cNvPr id="107524"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nl-NL" dirty="0">
                <a:latin typeface="Arial" pitchFamily="34" charset="0"/>
              </a:rPr>
              <a:t>Source Raymer</a:t>
            </a:r>
          </a:p>
          <a:p>
            <a:pPr eaLnBrk="1" hangingPunct="1"/>
            <a:r>
              <a:rPr lang="en-GB" dirty="0">
                <a:latin typeface="Arial" pitchFamily="34" charset="0"/>
              </a:rPr>
              <a:t>Note how the relations above capture the typical dependency of component weights (in this case the fuselage and the wing) with geometrical parameters such as fuselage slenderness ratio, wing aspect ratio, surface, etc.</a:t>
            </a:r>
          </a:p>
          <a:p>
            <a:pPr eaLnBrk="1" hangingPunct="1"/>
            <a:endParaRPr lang="en-GB" dirty="0">
              <a:latin typeface="Arial" pitchFamily="34" charset="0"/>
            </a:endParaRPr>
          </a:p>
          <a:p>
            <a:pPr eaLnBrk="1" hangingPunct="1"/>
            <a:r>
              <a:rPr lang="en-GB" dirty="0">
                <a:latin typeface="Arial" pitchFamily="34" charset="0"/>
              </a:rPr>
              <a:t>Note also the dependency on </a:t>
            </a:r>
            <a:r>
              <a:rPr lang="en-GB" dirty="0" err="1">
                <a:latin typeface="Arial" pitchFamily="34" charset="0"/>
              </a:rPr>
              <a:t>Nz</a:t>
            </a:r>
            <a:r>
              <a:rPr lang="en-GB" dirty="0">
                <a:latin typeface="Arial" pitchFamily="34" charset="0"/>
              </a:rPr>
              <a:t>, which is the ultimate load factor for the aircraft under consideration. Indeed the weight of the structure is related to the loads it is supposed to carry.</a:t>
            </a:r>
          </a:p>
          <a:p>
            <a:pPr eaLnBrk="1" hangingPunct="1"/>
            <a:endParaRPr lang="en-GB" dirty="0">
              <a:latin typeface="Arial" pitchFamily="34" charset="0"/>
            </a:endParaRPr>
          </a:p>
          <a:p>
            <a:pPr eaLnBrk="1" hangingPunct="1"/>
            <a:r>
              <a:rPr lang="en-GB" dirty="0">
                <a:latin typeface="Arial" pitchFamily="34" charset="0"/>
              </a:rPr>
              <a:t>As a matter of fact, </a:t>
            </a:r>
            <a:r>
              <a:rPr lang="en-GB" b="1" dirty="0">
                <a:latin typeface="Arial" pitchFamily="34" charset="0"/>
              </a:rPr>
              <a:t>wing weight depends also on lift distribution </a:t>
            </a:r>
            <a:r>
              <a:rPr lang="en-GB" b="0" dirty="0">
                <a:latin typeface="Arial" pitchFamily="34" charset="0"/>
              </a:rPr>
              <a:t>and the </a:t>
            </a:r>
            <a:r>
              <a:rPr lang="en-GB" dirty="0">
                <a:latin typeface="Arial" pitchFamily="34" charset="0"/>
              </a:rPr>
              <a:t>presence and integration of the fuel tanks, however these issues are rather difficult to be captured by class II methods. On the other hand, the effect of the taper ratio and the sweep angle are accounted, which actually affect the lift distribution on the wing. On the contrary, twist and wing incidence angle</a:t>
            </a:r>
            <a:r>
              <a:rPr lang="en-GB" baseline="0" dirty="0">
                <a:latin typeface="Arial" pitchFamily="34" charset="0"/>
              </a:rPr>
              <a:t> are </a:t>
            </a:r>
            <a:r>
              <a:rPr lang="en-GB" dirty="0">
                <a:latin typeface="Arial" pitchFamily="34" charset="0"/>
              </a:rPr>
              <a:t>not accounted in most of the Class II methods, although they can largely influence the lift</a:t>
            </a:r>
            <a:r>
              <a:rPr lang="en-GB" baseline="0" dirty="0">
                <a:latin typeface="Arial" pitchFamily="34" charset="0"/>
              </a:rPr>
              <a:t> distribution (hence the wing loading and sizing)</a:t>
            </a:r>
            <a:r>
              <a:rPr lang="en-GB" dirty="0">
                <a:latin typeface="Arial" pitchFamily="34" charset="0"/>
              </a:rPr>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C470FC3E-7293-4325-B584-9D3E9218DE0C}" type="slidenum">
              <a:rPr lang="en-US" smtClean="0">
                <a:latin typeface="Arial" pitchFamily="34" charset="0"/>
              </a:rPr>
              <a:pPr/>
              <a:t>38</a:t>
            </a:fld>
            <a:endParaRPr lang="en-US">
              <a:latin typeface="Arial" pitchFamily="34" charset="0"/>
            </a:endParaRPr>
          </a:p>
        </p:txBody>
      </p:sp>
      <p:sp>
        <p:nvSpPr>
          <p:cNvPr id="107523" name="Rectangle 2"/>
          <p:cNvSpPr>
            <a:spLocks noGrp="1" noRot="1" noChangeAspect="1" noChangeArrowheads="1" noTextEdit="1"/>
          </p:cNvSpPr>
          <p:nvPr>
            <p:ph type="sldImg"/>
          </p:nvPr>
        </p:nvSpPr>
        <p:spPr>
          <a:xfrm>
            <a:off x="87313" y="746125"/>
            <a:ext cx="6619875" cy="3724275"/>
          </a:xfrm>
          <a:ln/>
        </p:spPr>
      </p:sp>
      <p:sp>
        <p:nvSpPr>
          <p:cNvPr id="107524"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nl-NL" dirty="0" err="1">
                <a:latin typeface="Arial" pitchFamily="34" charset="0"/>
              </a:rPr>
              <a:t>Formula</a:t>
            </a:r>
            <a:r>
              <a:rPr lang="nl-NL" dirty="0">
                <a:latin typeface="Arial" pitchFamily="34" charset="0"/>
              </a:rPr>
              <a:t> source: Raymer</a:t>
            </a:r>
          </a:p>
          <a:p>
            <a:pPr eaLnBrk="1" hangingPunct="1"/>
            <a:endParaRPr lang="en-GB" dirty="0">
              <a:latin typeface="Arial" pitchFamily="34" charset="0"/>
            </a:endParaRPr>
          </a:p>
          <a:p>
            <a:pPr eaLnBrk="1" hangingPunct="1"/>
            <a:endParaRPr lang="en-GB" dirty="0">
              <a:latin typeface="Arial" pitchFamily="34" charset="0"/>
            </a:endParaRPr>
          </a:p>
          <a:p>
            <a:pPr eaLnBrk="1" hangingPunct="1"/>
            <a:r>
              <a:rPr lang="en-GB" dirty="0">
                <a:latin typeface="Arial" pitchFamily="34" charset="0"/>
              </a:rPr>
              <a:t>* The method proposed by Raymer does not allow distinguishing</a:t>
            </a:r>
            <a:r>
              <a:rPr lang="en-GB" baseline="0" dirty="0">
                <a:latin typeface="Arial" pitchFamily="34" charset="0"/>
              </a:rPr>
              <a:t> between a wing podded engine and a fuselage podded engine configuration in terms of wing weight estimation. This is an apparent limitation of the method. Similarly it does not allow assessing the effect of fuel tanks in the wing or not. While the second limit is mostly common to all class II weight estimation, the first issue is well covered by the Torenbeek method, for example.</a:t>
            </a:r>
          </a:p>
          <a:p>
            <a:pPr eaLnBrk="1" hangingPunct="1"/>
            <a:endParaRPr lang="en-GB" dirty="0">
              <a:latin typeface="Arial" pitchFamily="34" charset="0"/>
            </a:endParaRPr>
          </a:p>
          <a:p>
            <a:pPr eaLnBrk="1" hangingPunct="1"/>
            <a:r>
              <a:rPr lang="en-GB" dirty="0">
                <a:latin typeface="Arial" pitchFamily="34" charset="0"/>
              </a:rPr>
              <a:t>As a matter of fact, the </a:t>
            </a:r>
            <a:r>
              <a:rPr lang="en-GB" b="1" dirty="0">
                <a:latin typeface="Arial" pitchFamily="34" charset="0"/>
              </a:rPr>
              <a:t>wing weight depends also on lift distribution</a:t>
            </a:r>
            <a:r>
              <a:rPr lang="en-GB" dirty="0">
                <a:latin typeface="Arial" pitchFamily="34" charset="0"/>
              </a:rPr>
              <a:t>, however this</a:t>
            </a:r>
            <a:r>
              <a:rPr lang="en-GB" baseline="0" dirty="0">
                <a:latin typeface="Arial" pitchFamily="34" charset="0"/>
              </a:rPr>
              <a:t> is only partially captured by this method, through </a:t>
            </a:r>
            <a:r>
              <a:rPr lang="en-GB" dirty="0">
                <a:latin typeface="Arial" pitchFamily="34" charset="0"/>
              </a:rPr>
              <a:t>the taper ratio and the sweep angle, which actually affect the lift distribution on the wing. On the contrary, twist and wing incidence angle</a:t>
            </a:r>
            <a:r>
              <a:rPr lang="en-GB" baseline="0" dirty="0">
                <a:latin typeface="Arial" pitchFamily="34" charset="0"/>
              </a:rPr>
              <a:t> are </a:t>
            </a:r>
            <a:r>
              <a:rPr lang="en-GB" dirty="0">
                <a:latin typeface="Arial" pitchFamily="34" charset="0"/>
              </a:rPr>
              <a:t>not accounted in most of the Class II methods, although they can largely influence the lift</a:t>
            </a:r>
            <a:r>
              <a:rPr lang="en-GB" baseline="0" dirty="0">
                <a:latin typeface="Arial" pitchFamily="34" charset="0"/>
              </a:rPr>
              <a:t> distribution (hence the wing loading and sizing)</a:t>
            </a:r>
            <a:r>
              <a:rPr lang="en-GB" dirty="0">
                <a:latin typeface="Arial" pitchFamily="34" charset="0"/>
              </a:rPr>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C470FC3E-7293-4325-B584-9D3E9218DE0C}" type="slidenum">
              <a:rPr lang="en-US" smtClean="0">
                <a:latin typeface="Arial" pitchFamily="34" charset="0"/>
              </a:rPr>
              <a:pPr/>
              <a:t>39</a:t>
            </a:fld>
            <a:endParaRPr lang="en-US">
              <a:latin typeface="Arial" pitchFamily="34" charset="0"/>
            </a:endParaRPr>
          </a:p>
        </p:txBody>
      </p:sp>
      <p:sp>
        <p:nvSpPr>
          <p:cNvPr id="107523" name="Rectangle 2"/>
          <p:cNvSpPr>
            <a:spLocks noGrp="1" noRot="1" noChangeAspect="1" noChangeArrowheads="1" noTextEdit="1"/>
          </p:cNvSpPr>
          <p:nvPr>
            <p:ph type="sldImg"/>
          </p:nvPr>
        </p:nvSpPr>
        <p:spPr>
          <a:xfrm>
            <a:off x="87313" y="746125"/>
            <a:ext cx="6619875" cy="3724275"/>
          </a:xfrm>
          <a:ln/>
        </p:spPr>
      </p:sp>
      <p:sp>
        <p:nvSpPr>
          <p:cNvPr id="107524"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nl-NL" dirty="0" err="1">
                <a:latin typeface="Arial" pitchFamily="34" charset="0"/>
              </a:rPr>
              <a:t>Formula</a:t>
            </a:r>
            <a:r>
              <a:rPr lang="nl-NL" dirty="0">
                <a:latin typeface="Arial" pitchFamily="34" charset="0"/>
              </a:rPr>
              <a:t> source: Raymer</a:t>
            </a:r>
          </a:p>
          <a:p>
            <a:pPr eaLnBrk="1" hangingPunct="1"/>
            <a:endParaRPr lang="en-GB" dirty="0">
              <a:latin typeface="Arial" pitchFamily="34" charset="0"/>
            </a:endParaRPr>
          </a:p>
          <a:p>
            <a:pPr eaLnBrk="1" hangingPunct="1"/>
            <a:endParaRPr lang="en-GB" dirty="0">
              <a:latin typeface="Arial" pitchFamily="34" charset="0"/>
            </a:endParaRPr>
          </a:p>
          <a:p>
            <a:pPr eaLnBrk="1" hangingPunct="1"/>
            <a:r>
              <a:rPr lang="en-GB" dirty="0">
                <a:latin typeface="Arial" pitchFamily="34" charset="0"/>
              </a:rPr>
              <a:t>* The method proposed by Raymer does not allow distinguishing</a:t>
            </a:r>
            <a:r>
              <a:rPr lang="en-GB" baseline="0" dirty="0">
                <a:latin typeface="Arial" pitchFamily="34" charset="0"/>
              </a:rPr>
              <a:t> between a wing podded engine and a fuselage podded engine configuration in terms of wing weight estimation. This is an apparent limitation of the method. Similarly it does not allow assessing the effect of fuel tanks in the wing or not. While the second limit is mostly common to all class II weight estimation, the first issue is well covered by the Torenbeek method, for example.</a:t>
            </a:r>
          </a:p>
          <a:p>
            <a:pPr eaLnBrk="1" hangingPunct="1"/>
            <a:endParaRPr lang="en-GB" dirty="0">
              <a:latin typeface="Arial" pitchFamily="34" charset="0"/>
            </a:endParaRPr>
          </a:p>
          <a:p>
            <a:pPr eaLnBrk="1" hangingPunct="1"/>
            <a:r>
              <a:rPr lang="en-GB" dirty="0">
                <a:latin typeface="Arial" pitchFamily="34" charset="0"/>
              </a:rPr>
              <a:t>As a matter of fact, the </a:t>
            </a:r>
            <a:r>
              <a:rPr lang="en-GB" b="1" dirty="0">
                <a:latin typeface="Arial" pitchFamily="34" charset="0"/>
              </a:rPr>
              <a:t>wing weight depends also on lift distribution</a:t>
            </a:r>
            <a:r>
              <a:rPr lang="en-GB" dirty="0">
                <a:latin typeface="Arial" pitchFamily="34" charset="0"/>
              </a:rPr>
              <a:t>, however this</a:t>
            </a:r>
            <a:r>
              <a:rPr lang="en-GB" baseline="0" dirty="0">
                <a:latin typeface="Arial" pitchFamily="34" charset="0"/>
              </a:rPr>
              <a:t> is only partially captured by this method, through </a:t>
            </a:r>
            <a:r>
              <a:rPr lang="en-GB" dirty="0">
                <a:latin typeface="Arial" pitchFamily="34" charset="0"/>
              </a:rPr>
              <a:t>the taper ratio and the sweep angle, which actually affect the lift distribution on the wing. On the contrary, twist and wing incidence angle</a:t>
            </a:r>
            <a:r>
              <a:rPr lang="en-GB" baseline="0" dirty="0">
                <a:latin typeface="Arial" pitchFamily="34" charset="0"/>
              </a:rPr>
              <a:t> are </a:t>
            </a:r>
            <a:r>
              <a:rPr lang="en-GB" dirty="0">
                <a:latin typeface="Arial" pitchFamily="34" charset="0"/>
              </a:rPr>
              <a:t>not accounted in most of the Class II methods, although they can largely influence the lift</a:t>
            </a:r>
            <a:r>
              <a:rPr lang="en-GB" baseline="0" dirty="0">
                <a:latin typeface="Arial" pitchFamily="34" charset="0"/>
              </a:rPr>
              <a:t> distribution (hence the wing loading and sizing)</a:t>
            </a:r>
            <a:r>
              <a:rPr lang="en-GB" dirty="0">
                <a:latin typeface="Arial" pitchFamily="34" charset="0"/>
              </a:rPr>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xfrm>
            <a:off x="87313" y="746125"/>
            <a:ext cx="6619875" cy="3724275"/>
          </a:xfrm>
          <a:ln/>
        </p:spPr>
      </p:sp>
      <p:sp>
        <p:nvSpPr>
          <p:cNvPr id="106499" name="Notes Placeholder 2"/>
          <p:cNvSpPr>
            <a:spLocks noGrp="1"/>
          </p:cNvSpPr>
          <p:nvPr>
            <p:ph type="body" idx="1"/>
          </p:nvPr>
        </p:nvSpPr>
        <p:spPr>
          <a:noFill/>
          <a:ln/>
        </p:spPr>
        <p:txBody>
          <a:bodyPr/>
          <a:lstStyle/>
          <a:p>
            <a:pPr eaLnBrk="1" hangingPunct="1"/>
            <a:r>
              <a:rPr lang="nl-NL" dirty="0">
                <a:latin typeface="Arial" pitchFamily="34" charset="0"/>
              </a:rPr>
              <a:t>Source Raymer</a:t>
            </a:r>
          </a:p>
        </p:txBody>
      </p:sp>
      <p:sp>
        <p:nvSpPr>
          <p:cNvPr id="106500" name="Slide Number Placeholder 3"/>
          <p:cNvSpPr>
            <a:spLocks noGrp="1"/>
          </p:cNvSpPr>
          <p:nvPr>
            <p:ph type="sldNum" sz="quarter" idx="5"/>
          </p:nvPr>
        </p:nvSpPr>
        <p:spPr>
          <a:noFill/>
        </p:spPr>
        <p:txBody>
          <a:bodyPr/>
          <a:lstStyle/>
          <a:p>
            <a:fld id="{4D540043-EA3C-4CD7-8A4F-E30AE2A346C0}" type="slidenum">
              <a:rPr lang="en-US" smtClean="0">
                <a:latin typeface="Arial" pitchFamily="34" charset="0"/>
              </a:rPr>
              <a:pPr/>
              <a:t>40</a:t>
            </a:fld>
            <a:endParaRPr lang="en-US">
              <a:latin typeface="Arial"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F4DFEAD9-6CF3-46C2-A70D-B9D4744F876A}" type="slidenum">
              <a:rPr lang="en-US" smtClean="0">
                <a:latin typeface="Arial" pitchFamily="34" charset="0"/>
              </a:rPr>
              <a:pPr/>
              <a:t>41</a:t>
            </a:fld>
            <a:endParaRPr lang="en-US">
              <a:latin typeface="Arial" pitchFamily="34" charset="0"/>
            </a:endParaRPr>
          </a:p>
        </p:txBody>
      </p:sp>
      <p:sp>
        <p:nvSpPr>
          <p:cNvPr id="108547" name="Rectangle 2"/>
          <p:cNvSpPr>
            <a:spLocks noGrp="1" noRot="1" noChangeAspect="1" noChangeArrowheads="1" noTextEdit="1"/>
          </p:cNvSpPr>
          <p:nvPr>
            <p:ph type="sldImg"/>
          </p:nvPr>
        </p:nvSpPr>
        <p:spPr>
          <a:xfrm>
            <a:off x="87313" y="746125"/>
            <a:ext cx="6619875" cy="3724275"/>
          </a:xfrm>
          <a:ln/>
        </p:spPr>
      </p:sp>
      <p:sp>
        <p:nvSpPr>
          <p:cNvPr id="108548" name="Rectangle 3"/>
          <p:cNvSpPr>
            <a:spLocks noGrp="1" noChangeArrowheads="1"/>
          </p:cNvSpPr>
          <p:nvPr>
            <p:ph type="body" idx="1"/>
          </p:nvPr>
        </p:nvSpPr>
        <p:spPr>
          <a:noFill/>
          <a:ln/>
        </p:spPr>
        <p:txBody>
          <a:bodyPr/>
          <a:lstStyle/>
          <a:p>
            <a:pPr eaLnBrk="1" hangingPunct="1"/>
            <a:r>
              <a:rPr lang="en-GB" dirty="0">
                <a:latin typeface="Arial" pitchFamily="34" charset="0"/>
              </a:rPr>
              <a:t>*This method was proposed by </a:t>
            </a:r>
            <a:r>
              <a:rPr lang="en-GB" dirty="0" err="1">
                <a:latin typeface="Arial" pitchFamily="34" charset="0"/>
              </a:rPr>
              <a:t>R.Shevell</a:t>
            </a:r>
            <a:r>
              <a:rPr lang="en-GB" dirty="0">
                <a:latin typeface="Arial" pitchFamily="34" charset="0"/>
              </a:rPr>
              <a:t> in his textbook </a:t>
            </a:r>
            <a:r>
              <a:rPr lang="en-US" dirty="0">
                <a:latin typeface="Arial" pitchFamily="34" charset="0"/>
                <a:sym typeface="Wingdings" pitchFamily="2" charset="2"/>
              </a:rPr>
              <a:t>“Fundamentals of Flight”. </a:t>
            </a:r>
            <a:r>
              <a:rPr lang="en-US" dirty="0" err="1">
                <a:latin typeface="Arial" pitchFamily="34" charset="0"/>
                <a:sym typeface="Wingdings" pitchFamily="2" charset="2"/>
              </a:rPr>
              <a:t>Shevell</a:t>
            </a:r>
            <a:r>
              <a:rPr lang="en-US" dirty="0">
                <a:latin typeface="Arial" pitchFamily="34" charset="0"/>
                <a:sym typeface="Wingdings" pitchFamily="2" charset="2"/>
              </a:rPr>
              <a:t> was Douglas engineer, as you might suspect from the large amount of Douglas aircraft data in the plot above. While his method gives good results for wing of </a:t>
            </a:r>
            <a:r>
              <a:rPr lang="en-US" b="1" dirty="0">
                <a:latin typeface="Arial" pitchFamily="34" charset="0"/>
                <a:sym typeface="Wingdings" pitchFamily="2" charset="2"/>
              </a:rPr>
              <a:t>fuselage podded engines aircraft</a:t>
            </a:r>
            <a:r>
              <a:rPr lang="en-US" dirty="0">
                <a:latin typeface="Arial" pitchFamily="34" charset="0"/>
                <a:sym typeface="Wingdings" pitchFamily="2" charset="2"/>
              </a:rPr>
              <a:t>, it is not able to predict properly the weight of typical Boeing and Airbus wings (which are all wing podded engine configurations). Indeed it is based EXCLUSIVELY on Douglas type of aircraft</a:t>
            </a:r>
          </a:p>
          <a:p>
            <a:pPr eaLnBrk="1" hangingPunct="1"/>
            <a:endParaRPr lang="en-US" dirty="0">
              <a:latin typeface="Arial" pitchFamily="34" charset="0"/>
              <a:sym typeface="Wingdings" pitchFamily="2" charset="2"/>
            </a:endParaRPr>
          </a:p>
          <a:p>
            <a:pPr eaLnBrk="1" hangingPunct="1"/>
            <a:r>
              <a:rPr lang="en-US" dirty="0">
                <a:latin typeface="Arial" pitchFamily="34" charset="0"/>
                <a:sym typeface="Wingdings" pitchFamily="2" charset="2"/>
              </a:rPr>
              <a:t>So, again, be</a:t>
            </a:r>
            <a:r>
              <a:rPr lang="en-US" baseline="0" dirty="0">
                <a:latin typeface="Arial" pitchFamily="34" charset="0"/>
                <a:sym typeface="Wingdings" pitchFamily="2" charset="2"/>
              </a:rPr>
              <a:t> critical before deciding what method to </a:t>
            </a:r>
            <a:r>
              <a:rPr lang="en-US" baseline="0" dirty="0" err="1">
                <a:latin typeface="Arial" pitchFamily="34" charset="0"/>
                <a:sym typeface="Wingdings" pitchFamily="2" charset="2"/>
              </a:rPr>
              <a:t>apply!</a:t>
            </a:r>
            <a:r>
              <a:rPr lang="en-US" dirty="0" err="1">
                <a:latin typeface="Arial" pitchFamily="34" charset="0"/>
                <a:sym typeface="Wingdings" pitchFamily="2" charset="2"/>
              </a:rPr>
              <a:t>od</a:t>
            </a:r>
            <a:r>
              <a:rPr lang="en-US" dirty="0">
                <a:latin typeface="Arial" pitchFamily="34" charset="0"/>
                <a:sym typeface="Wingdings" pitchFamily="2" charset="2"/>
              </a:rPr>
              <a:t> blindly!</a:t>
            </a:r>
          </a:p>
          <a:p>
            <a:pPr eaLnBrk="1" hangingPunct="1"/>
            <a:endParaRPr lang="en-GB" dirty="0">
              <a:latin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432F3169-8243-42F4-90AA-FD749EA59CBF}" type="slidenum">
              <a:rPr lang="en-US" smtClean="0">
                <a:latin typeface="Arial" pitchFamily="34" charset="0"/>
              </a:rPr>
              <a:pPr/>
              <a:t>42</a:t>
            </a:fld>
            <a:endParaRPr lang="en-US">
              <a:latin typeface="Arial" pitchFamily="34" charset="0"/>
            </a:endParaRPr>
          </a:p>
        </p:txBody>
      </p:sp>
      <p:sp>
        <p:nvSpPr>
          <p:cNvPr id="111619" name="Rectangle 2"/>
          <p:cNvSpPr>
            <a:spLocks noGrp="1" noRot="1" noChangeAspect="1" noChangeArrowheads="1" noTextEdit="1"/>
          </p:cNvSpPr>
          <p:nvPr>
            <p:ph type="sldImg"/>
          </p:nvPr>
        </p:nvSpPr>
        <p:spPr>
          <a:xfrm>
            <a:off x="87313" y="746125"/>
            <a:ext cx="6619875" cy="3724275"/>
          </a:xfrm>
          <a:ln/>
        </p:spPr>
      </p:sp>
      <p:sp>
        <p:nvSpPr>
          <p:cNvPr id="111620" name="Rectangle 3"/>
          <p:cNvSpPr>
            <a:spLocks noGrp="1" noChangeArrowheads="1"/>
          </p:cNvSpPr>
          <p:nvPr>
            <p:ph type="body" idx="1"/>
          </p:nvPr>
        </p:nvSpPr>
        <p:spPr>
          <a:noFill/>
          <a:ln/>
        </p:spPr>
        <p:txBody>
          <a:bodyPr/>
          <a:lstStyle/>
          <a:p>
            <a:pPr eaLnBrk="1" hangingPunct="1"/>
            <a:r>
              <a:rPr lang="en-GB" dirty="0">
                <a:latin typeface="Arial" pitchFamily="34" charset="0"/>
              </a:rPr>
              <a:t>**never say never: sometime you do not have other choice, however just make sure that you are not accounting twice or just neglecting the contribution of certain components/systems. E.g. some wing weight estimation accounts for the weight of movables surfaces and flaps. Other methods deal with flaps and other movables separately. Some methods include the weight of the wing/fuselage fairing or of the wing </a:t>
            </a:r>
            <a:r>
              <a:rPr lang="en-GB" dirty="0" err="1">
                <a:latin typeface="Arial" pitchFamily="34" charset="0"/>
              </a:rPr>
              <a:t>center</a:t>
            </a:r>
            <a:r>
              <a:rPr lang="en-GB" dirty="0">
                <a:latin typeface="Arial" pitchFamily="34" charset="0"/>
              </a:rPr>
              <a:t> box into the wing group, others into the fuselage group.</a:t>
            </a:r>
            <a:r>
              <a:rPr lang="en-GB" baseline="0" dirty="0">
                <a:latin typeface="Arial" pitchFamily="34" charset="0"/>
              </a:rPr>
              <a:t> Try to find information concerning these assumptions before using (and especially mixing) more weight prediction methods.</a:t>
            </a:r>
            <a:endParaRPr lang="en-GB" dirty="0">
              <a:latin typeface="Arial"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432F3169-8243-42F4-90AA-FD749EA59CBF}" type="slidenum">
              <a:rPr lang="en-US" smtClean="0">
                <a:latin typeface="Arial" pitchFamily="34" charset="0"/>
              </a:rPr>
              <a:pPr/>
              <a:t>43</a:t>
            </a:fld>
            <a:endParaRPr lang="en-US">
              <a:latin typeface="Arial" pitchFamily="34" charset="0"/>
            </a:endParaRPr>
          </a:p>
        </p:txBody>
      </p:sp>
      <p:sp>
        <p:nvSpPr>
          <p:cNvPr id="111619" name="Rectangle 2"/>
          <p:cNvSpPr>
            <a:spLocks noGrp="1" noRot="1" noChangeAspect="1" noChangeArrowheads="1" noTextEdit="1"/>
          </p:cNvSpPr>
          <p:nvPr>
            <p:ph type="sldImg"/>
          </p:nvPr>
        </p:nvSpPr>
        <p:spPr>
          <a:xfrm>
            <a:off x="87313" y="746125"/>
            <a:ext cx="6619875" cy="3724275"/>
          </a:xfrm>
          <a:ln/>
        </p:spPr>
      </p:sp>
      <p:sp>
        <p:nvSpPr>
          <p:cNvPr id="111620" name="Rectangle 3"/>
          <p:cNvSpPr>
            <a:spLocks noGrp="1" noChangeArrowheads="1"/>
          </p:cNvSpPr>
          <p:nvPr>
            <p:ph type="body" idx="1"/>
          </p:nvPr>
        </p:nvSpPr>
        <p:spPr>
          <a:noFill/>
          <a:ln/>
        </p:spPr>
        <p:txBody>
          <a:bodyPr/>
          <a:lstStyle/>
          <a:p>
            <a:pPr eaLnBrk="1" hangingPunct="1"/>
            <a:r>
              <a:rPr lang="en-GB" dirty="0">
                <a:latin typeface="Arial" pitchFamily="34" charset="0"/>
              </a:rPr>
              <a:t>*e.g., wing group weight, or tail group weight, or fuselage group weight</a:t>
            </a:r>
            <a:r>
              <a:rPr lang="en-GB" baseline="0" dirty="0">
                <a:latin typeface="Arial" pitchFamily="34" charset="0"/>
              </a:rPr>
              <a:t> (see slide 25 on Airframe weight)</a:t>
            </a:r>
            <a:endParaRPr lang="en-GB" dirty="0">
              <a:latin typeface="Arial" pitchFamily="34" charset="0"/>
            </a:endParaRPr>
          </a:p>
          <a:p>
            <a:pPr eaLnBrk="1" hangingPunct="1"/>
            <a:r>
              <a:rPr lang="en-GB" dirty="0">
                <a:latin typeface="Arial" pitchFamily="34" charset="0"/>
              </a:rPr>
              <a:t>**</a:t>
            </a:r>
            <a:r>
              <a:rPr lang="en-GB" sz="1200" dirty="0">
                <a:latin typeface="Arial" pitchFamily="34" charset="0"/>
              </a:rPr>
              <a:t>wing movables, tail rudder, main landing gear wheels,</a:t>
            </a:r>
            <a:r>
              <a:rPr lang="en-GB" sz="1200" baseline="0" dirty="0">
                <a:latin typeface="Arial" pitchFamily="34" charset="0"/>
              </a:rPr>
              <a:t> components of the cabin interior</a:t>
            </a:r>
            <a:r>
              <a:rPr lang="en-GB" sz="1200" dirty="0">
                <a:latin typeface="Arial" pitchFamily="34" charset="0"/>
              </a:rPr>
              <a:t>. </a:t>
            </a:r>
          </a:p>
          <a:p>
            <a:pPr eaLnBrk="1" hangingPunct="1"/>
            <a:endParaRPr lang="en-GB" sz="1200" dirty="0">
              <a:latin typeface="Arial" pitchFamily="34" charset="0"/>
            </a:endParaRPr>
          </a:p>
        </p:txBody>
      </p:sp>
    </p:spTree>
    <p:extLst>
      <p:ext uri="{BB962C8B-B14F-4D97-AF65-F5344CB8AC3E}">
        <p14:creationId xmlns:p14="http://schemas.microsoft.com/office/powerpoint/2010/main" val="18702484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60A3454D-6EA2-49CE-B61E-C9686C34FBFC}" type="slidenum">
              <a:rPr lang="en-US" smtClean="0">
                <a:latin typeface="Arial" pitchFamily="34" charset="0"/>
              </a:rPr>
              <a:pPr/>
              <a:t>44</a:t>
            </a:fld>
            <a:endParaRPr lang="en-US">
              <a:latin typeface="Arial" pitchFamily="34" charset="0"/>
            </a:endParaRPr>
          </a:p>
        </p:txBody>
      </p:sp>
      <p:sp>
        <p:nvSpPr>
          <p:cNvPr id="112643" name="Rectangle 2"/>
          <p:cNvSpPr>
            <a:spLocks noGrp="1" noRot="1" noChangeAspect="1" noChangeArrowheads="1" noTextEdit="1"/>
          </p:cNvSpPr>
          <p:nvPr>
            <p:ph type="sldImg"/>
          </p:nvPr>
        </p:nvSpPr>
        <p:spPr>
          <a:xfrm>
            <a:off x="87313" y="746125"/>
            <a:ext cx="6619875" cy="3724275"/>
          </a:xfrm>
          <a:ln/>
        </p:spPr>
      </p:sp>
      <p:sp>
        <p:nvSpPr>
          <p:cNvPr id="112644"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GB" dirty="0">
                <a:cs typeface="Tahoma" pitchFamily="34" charset="0"/>
              </a:rPr>
              <a:t>Anticipating shortfalls during the development process, aircraft manufacturers give range guarantees to airlines that deviate up to 5% from the nominal values.</a:t>
            </a:r>
            <a:endParaRPr lang="en-US" dirty="0">
              <a:cs typeface="Tahoma" pitchFamily="34" charset="0"/>
            </a:endParaRPr>
          </a:p>
          <a:p>
            <a:pPr eaLnBrk="1" hangingPunct="1"/>
            <a:endParaRPr lang="en-GB" dirty="0">
              <a:latin typeface="Arial" pitchFamily="34" charset="0"/>
            </a:endParaRPr>
          </a:p>
        </p:txBody>
      </p:sp>
    </p:spTree>
    <p:extLst>
      <p:ext uri="{BB962C8B-B14F-4D97-AF65-F5344CB8AC3E}">
        <p14:creationId xmlns:p14="http://schemas.microsoft.com/office/powerpoint/2010/main" val="28831205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03F2E1D3-93EB-490C-AC62-2B0930947725}" type="slidenum">
              <a:rPr lang="en-US" smtClean="0">
                <a:latin typeface="Arial" pitchFamily="34" charset="0"/>
              </a:rPr>
              <a:pPr/>
              <a:t>45</a:t>
            </a:fld>
            <a:endParaRPr lang="en-US">
              <a:latin typeface="Arial" pitchFamily="34" charset="0"/>
            </a:endParaRPr>
          </a:p>
        </p:txBody>
      </p:sp>
      <p:sp>
        <p:nvSpPr>
          <p:cNvPr id="113667" name="Rectangle 2"/>
          <p:cNvSpPr>
            <a:spLocks noGrp="1" noRot="1" noChangeAspect="1" noChangeArrowheads="1" noTextEdit="1"/>
          </p:cNvSpPr>
          <p:nvPr>
            <p:ph type="sldImg"/>
          </p:nvPr>
        </p:nvSpPr>
        <p:spPr>
          <a:xfrm>
            <a:off x="87313" y="746125"/>
            <a:ext cx="6619875" cy="3724275"/>
          </a:xfrm>
          <a:ln/>
        </p:spPr>
      </p:sp>
      <p:sp>
        <p:nvSpPr>
          <p:cNvPr id="113668" name="Rectangle 3"/>
          <p:cNvSpPr>
            <a:spLocks noGrp="1" noChangeArrowheads="1"/>
          </p:cNvSpPr>
          <p:nvPr>
            <p:ph type="body" idx="1"/>
          </p:nvPr>
        </p:nvSpPr>
        <p:spPr>
          <a:noFill/>
          <a:ln/>
        </p:spPr>
        <p:txBody>
          <a:bodyPr/>
          <a:lstStyle/>
          <a:p>
            <a:pPr eaLnBrk="1" hangingPunct="1"/>
            <a:r>
              <a:rPr lang="en-US" sz="1200" dirty="0">
                <a:cs typeface="Tahoma" pitchFamily="34" charset="0"/>
              </a:rPr>
              <a:t>*The experimental data, of course, must be from a very similar case to the one under estimation. </a:t>
            </a:r>
          </a:p>
          <a:p>
            <a:pPr eaLnBrk="1" hangingPunct="1"/>
            <a:endParaRPr lang="en-GB" dirty="0">
              <a:latin typeface="Arial" pitchFamily="34" charset="0"/>
            </a:endParaRPr>
          </a:p>
          <a:p>
            <a:pPr eaLnBrk="1" hangingPunct="1"/>
            <a:endParaRPr lang="en-US" sz="1200" dirty="0">
              <a:latin typeface="Tahoma" pitchFamily="34" charset="0"/>
              <a:cs typeface="Tahoma" pitchFamily="34" charset="0"/>
            </a:endParaRPr>
          </a:p>
          <a:p>
            <a:pPr eaLnBrk="1" hangingPunct="1"/>
            <a:r>
              <a:rPr lang="en-US" dirty="0">
                <a:latin typeface="Tahoma" pitchFamily="34" charset="0"/>
              </a:rPr>
              <a:t>Large errors may be observed for predicted </a:t>
            </a:r>
            <a:r>
              <a:rPr lang="en-US" dirty="0">
                <a:solidFill>
                  <a:srgbClr val="FF3300"/>
                </a:solidFill>
                <a:latin typeface="Tahoma" pitchFamily="34" charset="0"/>
              </a:rPr>
              <a:t>component weights, </a:t>
            </a:r>
            <a:r>
              <a:rPr lang="en-US" dirty="0">
                <a:latin typeface="Tahoma" pitchFamily="34" charset="0"/>
              </a:rPr>
              <a:t>but much better correlation is found for their summation (e.g. group weights and Manufacturing Empty Weight MEW). This is because </a:t>
            </a:r>
            <a:r>
              <a:rPr lang="en-US" b="1" dirty="0">
                <a:latin typeface="Tahoma" pitchFamily="34" charset="0"/>
              </a:rPr>
              <a:t>group weights and not single component weights are generally used to calibrate the prediction method</a:t>
            </a:r>
            <a:r>
              <a:rPr lang="en-US" dirty="0">
                <a:latin typeface="Tahoma" pitchFamily="34" charset="0"/>
              </a:rPr>
              <a:t>.</a:t>
            </a:r>
            <a:r>
              <a:rPr lang="en-GB" dirty="0">
                <a:latin typeface="Arial" pitchFamily="34" charset="0"/>
              </a:rPr>
              <a:t> Indeed,</a:t>
            </a:r>
            <a:r>
              <a:rPr lang="en-GB" baseline="0" dirty="0">
                <a:latin typeface="Arial" pitchFamily="34" charset="0"/>
              </a:rPr>
              <a:t> </a:t>
            </a:r>
            <a:r>
              <a:rPr lang="en-GB" dirty="0">
                <a:latin typeface="Arial" pitchFamily="34" charset="0"/>
              </a:rPr>
              <a:t>group weights</a:t>
            </a:r>
            <a:r>
              <a:rPr lang="en-GB" baseline="0" dirty="0">
                <a:latin typeface="Arial" pitchFamily="34" charset="0"/>
              </a:rPr>
              <a:t> data (e.g., wing group weight, or tail group weight, or fuselage group weight) are more often available than single components weight values (e.g., wing ribs, tail rudder, main landing gear wheels). As a consequence,  several class II weight methods have been fine tuned using these group weights, thereby they can give reliable results just at group level. </a:t>
            </a:r>
            <a:endParaRPr lang="en-GB" dirty="0">
              <a:latin typeface="Arial" pitchFamily="34" charset="0"/>
            </a:endParaRPr>
          </a:p>
          <a:p>
            <a:pPr eaLnBrk="1" hangingPunct="1"/>
            <a:endParaRPr lang="en-GB" dirty="0">
              <a:latin typeface="Arial"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a:latin typeface="Tahoma" pitchFamily="34" charset="0"/>
            </a:endParaRPr>
          </a:p>
          <a:p>
            <a:pPr eaLnBrk="1" hangingPunct="1"/>
            <a:endParaRPr lang="en-GB" dirty="0">
              <a:latin typeface="Tahoma" pitchFamily="34" charset="0"/>
              <a:cs typeface="Tahoma" pitchFamily="34" charset="0"/>
            </a:endParaRPr>
          </a:p>
        </p:txBody>
      </p:sp>
    </p:spTree>
    <p:extLst>
      <p:ext uri="{BB962C8B-B14F-4D97-AF65-F5344CB8AC3E}">
        <p14:creationId xmlns:p14="http://schemas.microsoft.com/office/powerpoint/2010/main" val="25490743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9CAC04B1-1FE2-464C-B554-3EDCAECEB6E5}" type="slidenum">
              <a:rPr lang="en-US" smtClean="0">
                <a:latin typeface="Arial" pitchFamily="34" charset="0"/>
              </a:rPr>
              <a:pPr/>
              <a:t>46</a:t>
            </a:fld>
            <a:endParaRPr lang="en-US">
              <a:latin typeface="Arial" pitchFamily="34" charset="0"/>
            </a:endParaRPr>
          </a:p>
        </p:txBody>
      </p:sp>
      <p:sp>
        <p:nvSpPr>
          <p:cNvPr id="116739" name="Rectangle 2"/>
          <p:cNvSpPr>
            <a:spLocks noGrp="1" noRot="1" noChangeAspect="1" noChangeArrowheads="1" noTextEdit="1"/>
          </p:cNvSpPr>
          <p:nvPr>
            <p:ph type="sldImg"/>
          </p:nvPr>
        </p:nvSpPr>
        <p:spPr>
          <a:xfrm>
            <a:off x="87313" y="746125"/>
            <a:ext cx="6619875" cy="3724275"/>
          </a:xfrm>
          <a:ln/>
        </p:spPr>
      </p:sp>
      <p:sp>
        <p:nvSpPr>
          <p:cNvPr id="116740" name="Rectangle 3"/>
          <p:cNvSpPr>
            <a:spLocks noGrp="1" noChangeArrowheads="1"/>
          </p:cNvSpPr>
          <p:nvPr>
            <p:ph type="body" idx="1"/>
          </p:nvPr>
        </p:nvSpPr>
        <p:spPr>
          <a:noFill/>
          <a:ln/>
        </p:spPr>
        <p:txBody>
          <a:bodyPr/>
          <a:lstStyle/>
          <a:p>
            <a:pPr eaLnBrk="1" hangingPunct="1"/>
            <a:r>
              <a:rPr lang="en-GB">
                <a:latin typeface="Arial" pitchFamily="34" charset="0"/>
              </a:rPr>
              <a:t>E.g. If your wing results lighter than 8% or heavier than 16% of MTOW, some alarm bell should start ringing….</a:t>
            </a:r>
          </a:p>
        </p:txBody>
      </p:sp>
    </p:spTree>
    <p:extLst>
      <p:ext uri="{BB962C8B-B14F-4D97-AF65-F5344CB8AC3E}">
        <p14:creationId xmlns:p14="http://schemas.microsoft.com/office/powerpoint/2010/main" val="9874334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1092ABB7-D55F-4CA0-BE54-67A3824C3B6F}" type="slidenum">
              <a:rPr lang="en-US" smtClean="0">
                <a:latin typeface="Arial" pitchFamily="34" charset="0"/>
              </a:rPr>
              <a:pPr/>
              <a:t>47</a:t>
            </a:fld>
            <a:endParaRPr lang="en-US">
              <a:latin typeface="Arial" pitchFamily="34" charset="0"/>
            </a:endParaRPr>
          </a:p>
        </p:txBody>
      </p:sp>
      <p:sp>
        <p:nvSpPr>
          <p:cNvPr id="117763" name="Rectangle 2"/>
          <p:cNvSpPr>
            <a:spLocks noGrp="1" noRot="1" noChangeAspect="1" noChangeArrowheads="1" noTextEdit="1"/>
          </p:cNvSpPr>
          <p:nvPr>
            <p:ph type="sldImg"/>
          </p:nvPr>
        </p:nvSpPr>
        <p:spPr>
          <a:xfrm>
            <a:off x="87313" y="746125"/>
            <a:ext cx="6619875" cy="3724275"/>
          </a:xfrm>
          <a:ln/>
        </p:spPr>
      </p:sp>
      <p:sp>
        <p:nvSpPr>
          <p:cNvPr id="117764" name="Rectangle 3"/>
          <p:cNvSpPr>
            <a:spLocks noGrp="1" noChangeArrowheads="1"/>
          </p:cNvSpPr>
          <p:nvPr>
            <p:ph type="body" idx="1"/>
          </p:nvPr>
        </p:nvSpPr>
        <p:spPr>
          <a:noFill/>
          <a:ln/>
        </p:spPr>
        <p:txBody>
          <a:bodyPr/>
          <a:lstStyle/>
          <a:p>
            <a:pPr eaLnBrk="1" hangingPunct="1"/>
            <a:endParaRPr lang="en-GB" dirty="0">
              <a:latin typeface="Arial" pitchFamily="34" charset="0"/>
            </a:endParaRPr>
          </a:p>
        </p:txBody>
      </p:sp>
    </p:spTree>
    <p:extLst>
      <p:ext uri="{BB962C8B-B14F-4D97-AF65-F5344CB8AC3E}">
        <p14:creationId xmlns:p14="http://schemas.microsoft.com/office/powerpoint/2010/main" val="20966980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8E10AB9F-56E4-4B10-A436-05CA8FC72D04}" type="slidenum">
              <a:rPr lang="en-US" smtClean="0">
                <a:latin typeface="Arial" pitchFamily="34" charset="0"/>
              </a:rPr>
              <a:pPr/>
              <a:t>48</a:t>
            </a:fld>
            <a:endParaRPr lang="en-US">
              <a:latin typeface="Arial" pitchFamily="34" charset="0"/>
            </a:endParaRPr>
          </a:p>
        </p:txBody>
      </p:sp>
      <p:sp>
        <p:nvSpPr>
          <p:cNvPr id="118787" name="Rectangle 2"/>
          <p:cNvSpPr>
            <a:spLocks noGrp="1" noRot="1" noChangeAspect="1" noChangeArrowheads="1" noTextEdit="1"/>
          </p:cNvSpPr>
          <p:nvPr>
            <p:ph type="sldImg"/>
          </p:nvPr>
        </p:nvSpPr>
        <p:spPr>
          <a:xfrm>
            <a:off x="87313" y="746125"/>
            <a:ext cx="6619875" cy="3724275"/>
          </a:xfrm>
          <a:ln/>
        </p:spPr>
      </p:sp>
      <p:sp>
        <p:nvSpPr>
          <p:cNvPr id="118788" name="Rectangle 3"/>
          <p:cNvSpPr>
            <a:spLocks noGrp="1" noChangeArrowheads="1"/>
          </p:cNvSpPr>
          <p:nvPr>
            <p:ph type="body" idx="1"/>
          </p:nvPr>
        </p:nvSpPr>
        <p:spPr>
          <a:noFill/>
          <a:ln/>
        </p:spPr>
        <p:txBody>
          <a:bodyPr/>
          <a:lstStyle/>
          <a:p>
            <a:pPr eaLnBrk="1" hangingPunct="1"/>
            <a:endParaRPr lang="en-GB">
              <a:latin typeface="Arial" pitchFamily="34" charset="0"/>
            </a:endParaRPr>
          </a:p>
        </p:txBody>
      </p:sp>
    </p:spTree>
    <p:extLst>
      <p:ext uri="{BB962C8B-B14F-4D97-AF65-F5344CB8AC3E}">
        <p14:creationId xmlns:p14="http://schemas.microsoft.com/office/powerpoint/2010/main" val="37621894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AF82DBA8-B5E2-48C8-A5A2-CC35E152CC16}" type="slidenum">
              <a:rPr lang="en-US">
                <a:latin typeface="Arial" charset="0"/>
              </a:rPr>
              <a:pPr>
                <a:defRPr/>
              </a:pPr>
              <a:t>49</a:t>
            </a:fld>
            <a:endParaRPr lang="en-US">
              <a:latin typeface="Arial" charset="0"/>
            </a:endParaRPr>
          </a:p>
        </p:txBody>
      </p:sp>
      <p:sp>
        <p:nvSpPr>
          <p:cNvPr id="94211" name="Rectangle 2"/>
          <p:cNvSpPr>
            <a:spLocks noGrp="1" noRot="1" noChangeAspect="1" noChangeArrowheads="1" noTextEdit="1"/>
          </p:cNvSpPr>
          <p:nvPr>
            <p:ph type="sldImg"/>
          </p:nvPr>
        </p:nvSpPr>
        <p:spPr>
          <a:xfrm>
            <a:off x="87313" y="746125"/>
            <a:ext cx="6619875" cy="3724275"/>
          </a:xfrm>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dirty="0">
                <a:latin typeface="Arial" charset="0"/>
              </a:rPr>
              <a:t>*Find relevant information on the component </a:t>
            </a:r>
            <a:r>
              <a:rPr lang="en-GB" dirty="0" err="1">
                <a:latin typeface="Arial" charset="0"/>
              </a:rPr>
              <a:t>center</a:t>
            </a:r>
            <a:r>
              <a:rPr lang="en-GB" dirty="0">
                <a:latin typeface="Arial" charset="0"/>
              </a:rPr>
              <a:t> of gravity location, in the reference books (</a:t>
            </a:r>
            <a:r>
              <a:rPr lang="en-GB" dirty="0" err="1">
                <a:latin typeface="Arial" charset="0"/>
              </a:rPr>
              <a:t>torenbeek</a:t>
            </a:r>
            <a:r>
              <a:rPr lang="en-GB" dirty="0">
                <a:latin typeface="Arial" charset="0"/>
              </a:rPr>
              <a:t>, </a:t>
            </a:r>
            <a:r>
              <a:rPr lang="en-GB" dirty="0" err="1">
                <a:latin typeface="Arial" charset="0"/>
              </a:rPr>
              <a:t>roskam</a:t>
            </a:r>
            <a:r>
              <a:rPr lang="en-GB" dirty="0">
                <a:latin typeface="Arial" charset="0"/>
              </a:rPr>
              <a:t>, </a:t>
            </a:r>
            <a:r>
              <a:rPr lang="en-GB" dirty="0" err="1">
                <a:latin typeface="Arial" charset="0"/>
              </a:rPr>
              <a:t>raymer</a:t>
            </a:r>
            <a:r>
              <a:rPr lang="en-GB" dirty="0">
                <a:latin typeface="Arial" charset="0"/>
              </a:rPr>
              <a:t>, </a:t>
            </a:r>
            <a:r>
              <a:rPr lang="en-GB" dirty="0" err="1">
                <a:latin typeface="Arial" charset="0"/>
              </a:rPr>
              <a:t>corke</a:t>
            </a:r>
            <a:r>
              <a:rPr lang="en-GB" dirty="0">
                <a:latin typeface="Arial" charset="0"/>
              </a:rPr>
              <a:t>) extracts posted on BB (those with the class II weight estimation methods)</a:t>
            </a:r>
          </a:p>
          <a:p>
            <a:pPr eaLnBrk="1" hangingPunct="1"/>
            <a:r>
              <a:rPr lang="en-GB" b="1" dirty="0">
                <a:latin typeface="Arial" charset="0"/>
              </a:rPr>
              <a:t>Use your technical drawings and engineering judgement to locate the position of the various components with respect to the aircraft.</a:t>
            </a:r>
          </a:p>
          <a:p>
            <a:pPr eaLnBrk="1" hangingPunct="1"/>
            <a:endParaRPr lang="en-GB" dirty="0">
              <a:latin typeface="Arial" charset="0"/>
            </a:endParaRPr>
          </a:p>
          <a:p>
            <a:pPr eaLnBrk="1" hangingPunct="1"/>
            <a:endParaRPr lang="en-GB" dirty="0">
              <a:latin typeface="Arial" charset="0"/>
            </a:endParaRPr>
          </a:p>
        </p:txBody>
      </p:sp>
    </p:spTree>
    <p:extLst>
      <p:ext uri="{BB962C8B-B14F-4D97-AF65-F5344CB8AC3E}">
        <p14:creationId xmlns:p14="http://schemas.microsoft.com/office/powerpoint/2010/main" val="2591855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AF82DBA8-B5E2-48C8-A5A2-CC35E152CC16}" type="slidenum">
              <a:rPr lang="en-US">
                <a:latin typeface="Arial" charset="0"/>
              </a:rPr>
              <a:pPr>
                <a:defRPr/>
              </a:pPr>
              <a:t>50</a:t>
            </a:fld>
            <a:endParaRPr lang="en-US">
              <a:latin typeface="Arial" charset="0"/>
            </a:endParaRPr>
          </a:p>
        </p:txBody>
      </p:sp>
      <p:sp>
        <p:nvSpPr>
          <p:cNvPr id="94211" name="Rectangle 2"/>
          <p:cNvSpPr>
            <a:spLocks noGrp="1" noRot="1" noChangeAspect="1" noChangeArrowheads="1" noTextEdit="1"/>
          </p:cNvSpPr>
          <p:nvPr>
            <p:ph type="sldImg"/>
          </p:nvPr>
        </p:nvSpPr>
        <p:spPr>
          <a:xfrm>
            <a:off x="87313" y="746125"/>
            <a:ext cx="6619875" cy="3724275"/>
          </a:xfrm>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latin typeface="Arial" charset="0"/>
            </a:endParaRPr>
          </a:p>
          <a:p>
            <a:pPr eaLnBrk="1" hangingPunct="1"/>
            <a:r>
              <a:rPr lang="en-GB" dirty="0">
                <a:latin typeface="Arial" charset="0"/>
              </a:rPr>
              <a:t>GW gross weight: see definition</a:t>
            </a:r>
            <a:r>
              <a:rPr lang="en-GB" baseline="0" dirty="0">
                <a:latin typeface="Arial" charset="0"/>
              </a:rPr>
              <a:t> earlier in this set of slides</a:t>
            </a:r>
            <a:endParaRPr lang="en-GB" dirty="0">
              <a:latin typeface="Arial" charset="0"/>
            </a:endParaRPr>
          </a:p>
        </p:txBody>
      </p:sp>
    </p:spTree>
    <p:extLst>
      <p:ext uri="{BB962C8B-B14F-4D97-AF65-F5344CB8AC3E}">
        <p14:creationId xmlns:p14="http://schemas.microsoft.com/office/powerpoint/2010/main" val="32508590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34999A4C-DF02-4875-BC48-9F6CD9D8A7A6}" type="slidenum">
              <a:rPr lang="en-US" smtClean="0">
                <a:latin typeface="Arial" pitchFamily="34" charset="0"/>
              </a:rPr>
              <a:pPr/>
              <a:t>51</a:t>
            </a:fld>
            <a:endParaRPr lang="en-US">
              <a:latin typeface="Arial" pitchFamily="34" charset="0"/>
            </a:endParaRPr>
          </a:p>
        </p:txBody>
      </p:sp>
      <p:sp>
        <p:nvSpPr>
          <p:cNvPr id="114691" name="Rectangle 2"/>
          <p:cNvSpPr>
            <a:spLocks noGrp="1" noRot="1" noChangeAspect="1" noChangeArrowheads="1" noTextEdit="1"/>
          </p:cNvSpPr>
          <p:nvPr>
            <p:ph type="sldImg"/>
          </p:nvPr>
        </p:nvSpPr>
        <p:spPr>
          <a:xfrm>
            <a:off x="87313" y="746125"/>
            <a:ext cx="6619875" cy="3724275"/>
          </a:xfrm>
          <a:ln/>
        </p:spPr>
      </p:sp>
      <p:sp>
        <p:nvSpPr>
          <p:cNvPr id="114692"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000" dirty="0"/>
              <a:t>Though copies of all these books are available in our library, some </a:t>
            </a:r>
            <a:r>
              <a:rPr lang="en-GB" sz="1000" dirty="0"/>
              <a:t>extracts are made directly available on BB to facilitate your study work. </a:t>
            </a:r>
          </a:p>
          <a:p>
            <a:pPr eaLnBrk="1" hangingPunct="1"/>
            <a:endParaRPr lang="en-GB" sz="1000" dirty="0">
              <a:latin typeface="Arial" pitchFamily="34" charset="0"/>
            </a:endParaRPr>
          </a:p>
        </p:txBody>
      </p:sp>
    </p:spTree>
    <p:extLst>
      <p:ext uri="{BB962C8B-B14F-4D97-AF65-F5344CB8AC3E}">
        <p14:creationId xmlns:p14="http://schemas.microsoft.com/office/powerpoint/2010/main" val="30162181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52</a:t>
            </a:fld>
            <a:endParaRPr lang="en-US"/>
          </a:p>
        </p:txBody>
      </p:sp>
    </p:spTree>
    <p:extLst>
      <p:ext uri="{BB962C8B-B14F-4D97-AF65-F5344CB8AC3E}">
        <p14:creationId xmlns:p14="http://schemas.microsoft.com/office/powerpoint/2010/main" val="32808473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xfrm>
            <a:off x="87313" y="746125"/>
            <a:ext cx="6619875" cy="3724275"/>
          </a:xfrm>
          <a:ln/>
        </p:spPr>
      </p:sp>
      <p:sp>
        <p:nvSpPr>
          <p:cNvPr id="106499" name="Notes Placeholder 2"/>
          <p:cNvSpPr>
            <a:spLocks noGrp="1"/>
          </p:cNvSpPr>
          <p:nvPr>
            <p:ph type="body" idx="1"/>
          </p:nvPr>
        </p:nvSpPr>
        <p:spPr>
          <a:noFill/>
          <a:ln/>
        </p:spPr>
        <p:txBody>
          <a:bodyPr/>
          <a:lstStyle/>
          <a:p>
            <a:pPr eaLnBrk="1" hangingPunct="1"/>
            <a:r>
              <a:rPr lang="nl-NL" dirty="0">
                <a:latin typeface="Arial" pitchFamily="34" charset="0"/>
              </a:rPr>
              <a:t>Source Raymer</a:t>
            </a:r>
          </a:p>
        </p:txBody>
      </p:sp>
      <p:sp>
        <p:nvSpPr>
          <p:cNvPr id="106500" name="Slide Number Placeholder 3"/>
          <p:cNvSpPr>
            <a:spLocks noGrp="1"/>
          </p:cNvSpPr>
          <p:nvPr>
            <p:ph type="sldNum" sz="quarter" idx="5"/>
          </p:nvPr>
        </p:nvSpPr>
        <p:spPr>
          <a:noFill/>
        </p:spPr>
        <p:txBody>
          <a:bodyPr/>
          <a:lstStyle/>
          <a:p>
            <a:fld id="{4D540043-EA3C-4CD7-8A4F-E30AE2A346C0}" type="slidenum">
              <a:rPr lang="en-US" smtClean="0">
                <a:latin typeface="Arial" pitchFamily="34" charset="0"/>
              </a:rPr>
              <a:pPr/>
              <a:t>53</a:t>
            </a:fld>
            <a:endParaRPr lang="en-US">
              <a:latin typeface="Arial"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7B3046DC-C9F4-413C-8CE2-9215E6AB8E01}" type="slidenum">
              <a:rPr lang="en-US" smtClean="0">
                <a:latin typeface="Arial" pitchFamily="34" charset="0"/>
              </a:rPr>
              <a:pPr/>
              <a:t>54</a:t>
            </a:fld>
            <a:endParaRPr lang="en-US">
              <a:latin typeface="Arial" pitchFamily="34" charset="0"/>
            </a:endParaRPr>
          </a:p>
        </p:txBody>
      </p:sp>
      <p:sp>
        <p:nvSpPr>
          <p:cNvPr id="109571" name="Rectangle 2"/>
          <p:cNvSpPr>
            <a:spLocks noGrp="1" noRot="1" noChangeAspect="1" noChangeArrowheads="1" noTextEdit="1"/>
          </p:cNvSpPr>
          <p:nvPr>
            <p:ph type="sldImg"/>
          </p:nvPr>
        </p:nvSpPr>
        <p:spPr>
          <a:xfrm>
            <a:off x="87313" y="746125"/>
            <a:ext cx="6619875" cy="3724275"/>
          </a:xfrm>
          <a:ln/>
        </p:spPr>
      </p:sp>
      <p:sp>
        <p:nvSpPr>
          <p:cNvPr id="109572" name="Rectangle 3"/>
          <p:cNvSpPr>
            <a:spLocks noGrp="1" noChangeArrowheads="1"/>
          </p:cNvSpPr>
          <p:nvPr>
            <p:ph type="body" idx="1"/>
          </p:nvPr>
        </p:nvSpPr>
        <p:spPr>
          <a:noFill/>
          <a:ln/>
        </p:spPr>
        <p:txBody>
          <a:bodyPr/>
          <a:lstStyle/>
          <a:p>
            <a:pPr eaLnBrk="1" hangingPunct="1"/>
            <a:r>
              <a:rPr lang="en-GB" dirty="0">
                <a:latin typeface="Arial" pitchFamily="34" charset="0"/>
              </a:rPr>
              <a:t>Most of the class II weight prediction rules require as input the </a:t>
            </a:r>
            <a:r>
              <a:rPr lang="en-GB" b="1" dirty="0">
                <a:latin typeface="Arial" pitchFamily="34" charset="0"/>
              </a:rPr>
              <a:t>ultimate design load factor </a:t>
            </a:r>
            <a:r>
              <a:rPr lang="en-GB" dirty="0">
                <a:latin typeface="Arial" pitchFamily="34" charset="0"/>
              </a:rPr>
              <a:t>(1.5 times the maximum design load factor). </a:t>
            </a:r>
          </a:p>
          <a:p>
            <a:pPr eaLnBrk="1" hangingPunct="1"/>
            <a:r>
              <a:rPr lang="en-GB" dirty="0">
                <a:latin typeface="Arial" pitchFamily="34" charset="0"/>
              </a:rPr>
              <a:t>If you come across a class II wing weight estimation method</a:t>
            </a:r>
            <a:r>
              <a:rPr lang="en-GB" baseline="0" dirty="0">
                <a:latin typeface="Arial" pitchFamily="34" charset="0"/>
              </a:rPr>
              <a:t> </a:t>
            </a:r>
            <a:r>
              <a:rPr lang="en-GB" dirty="0">
                <a:latin typeface="Arial" pitchFamily="34" charset="0"/>
              </a:rPr>
              <a:t>that is not depending on the load factor…throw it away, it cannot be good! </a:t>
            </a:r>
          </a:p>
          <a:p>
            <a:pPr eaLnBrk="1" hangingPunct="1"/>
            <a:endParaRPr lang="en-GB" dirty="0">
              <a:latin typeface="Arial" pitchFamily="34" charset="0"/>
            </a:endParaRPr>
          </a:p>
          <a:p>
            <a:pPr eaLnBrk="1" hangingPunct="1"/>
            <a:r>
              <a:rPr lang="en-GB" dirty="0">
                <a:latin typeface="Arial" pitchFamily="34" charset="0"/>
              </a:rPr>
              <a:t>Maximum design load factors are typically specified </a:t>
            </a:r>
            <a:r>
              <a:rPr lang="en-GB" b="1" dirty="0">
                <a:latin typeface="Arial" pitchFamily="34" charset="0"/>
              </a:rPr>
              <a:t>as top level requirement for aerobatic and military (trainer) aircraft</a:t>
            </a:r>
            <a:r>
              <a:rPr lang="en-GB" dirty="0">
                <a:latin typeface="Arial" pitchFamily="34" charset="0"/>
              </a:rPr>
              <a:t>. </a:t>
            </a:r>
          </a:p>
          <a:p>
            <a:pPr marL="0" marR="0" indent="0" algn="l" defTabSz="914400" rtl="0" eaLnBrk="1" fontAlgn="base" latinLnBrk="0" hangingPunct="1">
              <a:lnSpc>
                <a:spcPct val="100000"/>
              </a:lnSpc>
              <a:spcBef>
                <a:spcPct val="30000"/>
              </a:spcBef>
              <a:spcAft>
                <a:spcPct val="0"/>
              </a:spcAft>
              <a:buClrTx/>
              <a:buSzTx/>
              <a:buFontTx/>
              <a:buNone/>
              <a:tabLst/>
              <a:defRPr/>
            </a:pPr>
            <a:r>
              <a:rPr lang="en-GB" dirty="0">
                <a:latin typeface="Arial" pitchFamily="34" charset="0"/>
              </a:rPr>
              <a:t>In any other situation, the maximum design load will have to be calculated as the </a:t>
            </a:r>
            <a:r>
              <a:rPr lang="en-GB" b="1" dirty="0">
                <a:latin typeface="Arial" pitchFamily="34" charset="0"/>
              </a:rPr>
              <a:t>highest between the maximum load factor generated by manoeuvres and gusts, as specified</a:t>
            </a:r>
            <a:r>
              <a:rPr lang="en-GB" b="1" baseline="0" dirty="0">
                <a:latin typeface="Arial" pitchFamily="34" charset="0"/>
              </a:rPr>
              <a:t> by the certification authorities and described in the CS</a:t>
            </a:r>
            <a:r>
              <a:rPr lang="en-GB" dirty="0">
                <a:latin typeface="Arial" pitchFamily="34" charset="0"/>
              </a:rPr>
              <a:t>. </a:t>
            </a:r>
          </a:p>
          <a:p>
            <a:pPr marL="0" marR="0" indent="0" algn="l" defTabSz="914400" rtl="0" eaLnBrk="1" fontAlgn="base" latinLnBrk="0" hangingPunct="1">
              <a:lnSpc>
                <a:spcPct val="100000"/>
              </a:lnSpc>
              <a:spcBef>
                <a:spcPct val="30000"/>
              </a:spcBef>
              <a:spcAft>
                <a:spcPct val="0"/>
              </a:spcAft>
              <a:buClrTx/>
              <a:buSzTx/>
              <a:buFontTx/>
              <a:buNone/>
              <a:tabLst/>
              <a:defRPr/>
            </a:pPr>
            <a:r>
              <a:rPr lang="en-GB" dirty="0">
                <a:latin typeface="Arial" pitchFamily="34" charset="0"/>
              </a:rPr>
              <a:t>In other words,</a:t>
            </a:r>
            <a:r>
              <a:rPr lang="en-GB" baseline="0" dirty="0">
                <a:latin typeface="Arial" pitchFamily="34" charset="0"/>
              </a:rPr>
              <a:t> </a:t>
            </a:r>
            <a:r>
              <a:rPr lang="en-GB" dirty="0">
                <a:latin typeface="Arial" pitchFamily="34" charset="0"/>
              </a:rPr>
              <a:t>CSs specify the way to compute</a:t>
            </a:r>
            <a:r>
              <a:rPr lang="en-GB" baseline="0" dirty="0">
                <a:latin typeface="Arial" pitchFamily="34" charset="0"/>
              </a:rPr>
              <a:t> the </a:t>
            </a:r>
            <a:r>
              <a:rPr lang="en-GB" b="1" dirty="0">
                <a:latin typeface="Arial" pitchFamily="34" charset="0"/>
              </a:rPr>
              <a:t>minimum maximum load factors, </a:t>
            </a:r>
            <a:r>
              <a:rPr lang="en-GB" b="0" dirty="0">
                <a:latin typeface="Arial" pitchFamily="34" charset="0"/>
              </a:rPr>
              <a:t>which the aircraft must be able to sustain, in order to</a:t>
            </a:r>
            <a:r>
              <a:rPr lang="en-GB" b="0" baseline="0" dirty="0">
                <a:latin typeface="Arial" pitchFamily="34" charset="0"/>
              </a:rPr>
              <a:t> be certified airworthy.</a:t>
            </a:r>
            <a:r>
              <a:rPr lang="en-GB" dirty="0">
                <a:latin typeface="Arial" pitchFamily="34" charset="0"/>
              </a:rPr>
              <a:t> You cannot design and aircraft that is not able to meet </a:t>
            </a:r>
            <a:r>
              <a:rPr lang="en-GB" b="1" dirty="0">
                <a:latin typeface="Arial" pitchFamily="34" charset="0"/>
              </a:rPr>
              <a:t>at least </a:t>
            </a:r>
            <a:r>
              <a:rPr lang="en-GB" dirty="0">
                <a:latin typeface="Arial" pitchFamily="34" charset="0"/>
              </a:rPr>
              <a:t>the</a:t>
            </a:r>
            <a:r>
              <a:rPr lang="en-GB" baseline="0" dirty="0">
                <a:latin typeface="Arial" pitchFamily="34" charset="0"/>
              </a:rPr>
              <a:t> load factors prescribed by CS.</a:t>
            </a:r>
            <a:r>
              <a:rPr lang="en-GB" dirty="0">
                <a:latin typeface="Arial" pitchFamily="34" charset="0"/>
              </a:rPr>
              <a:t>  </a:t>
            </a:r>
          </a:p>
          <a:p>
            <a:pPr marL="0" marR="0" indent="0" algn="l" defTabSz="914400" rtl="0" eaLnBrk="1" fontAlgn="base" latinLnBrk="0" hangingPunct="1">
              <a:lnSpc>
                <a:spcPct val="100000"/>
              </a:lnSpc>
              <a:spcBef>
                <a:spcPct val="30000"/>
              </a:spcBef>
              <a:spcAft>
                <a:spcPct val="0"/>
              </a:spcAft>
              <a:buClrTx/>
              <a:buSzTx/>
              <a:buFontTx/>
              <a:buNone/>
              <a:tabLst/>
              <a:defRPr/>
            </a:pPr>
            <a:endParaRPr lang="en-GB" dirty="0">
              <a:latin typeface="Arial" pitchFamily="34" charset="0"/>
            </a:endParaRPr>
          </a:p>
          <a:p>
            <a:pPr eaLnBrk="1" hangingPunct="1"/>
            <a:r>
              <a:rPr lang="en-GB" dirty="0">
                <a:latin typeface="Arial" pitchFamily="34" charset="0"/>
              </a:rPr>
              <a:t>Certification regulations describe how to build these</a:t>
            </a:r>
            <a:r>
              <a:rPr lang="en-GB" baseline="0" dirty="0">
                <a:latin typeface="Arial" pitchFamily="34" charset="0"/>
              </a:rPr>
              <a:t> </a:t>
            </a:r>
            <a:r>
              <a:rPr lang="en-GB" dirty="0">
                <a:latin typeface="Arial" pitchFamily="34" charset="0"/>
              </a:rPr>
              <a:t>2 diagrams (i.e. the manoeuvre and the gust load), which are essential to the whole certification process. Indeed, manufacturers will have to demonstrate the aircraft capability to sustain all the loads factors of the manoeuvre and gust envelope. </a:t>
            </a:r>
          </a:p>
          <a:p>
            <a:pPr eaLnBrk="1" hangingPunct="1"/>
            <a:endParaRPr lang="en-GB" dirty="0">
              <a:latin typeface="Arial"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7B3046DC-C9F4-413C-8CE2-9215E6AB8E01}" type="slidenum">
              <a:rPr lang="en-US" smtClean="0">
                <a:latin typeface="Arial" pitchFamily="34" charset="0"/>
              </a:rPr>
              <a:pPr/>
              <a:t>55</a:t>
            </a:fld>
            <a:endParaRPr lang="en-US">
              <a:latin typeface="Arial" pitchFamily="34" charset="0"/>
            </a:endParaRPr>
          </a:p>
        </p:txBody>
      </p:sp>
      <p:sp>
        <p:nvSpPr>
          <p:cNvPr id="109571" name="Rectangle 2"/>
          <p:cNvSpPr>
            <a:spLocks noGrp="1" noRot="1" noChangeAspect="1" noChangeArrowheads="1" noTextEdit="1"/>
          </p:cNvSpPr>
          <p:nvPr>
            <p:ph type="sldImg"/>
          </p:nvPr>
        </p:nvSpPr>
        <p:spPr>
          <a:xfrm>
            <a:off x="87313" y="746125"/>
            <a:ext cx="6619875" cy="3724275"/>
          </a:xfrm>
          <a:ln/>
        </p:spPr>
      </p:sp>
      <p:sp>
        <p:nvSpPr>
          <p:cNvPr id="109572" name="Rectangle 3"/>
          <p:cNvSpPr>
            <a:spLocks noGrp="1" noChangeArrowheads="1"/>
          </p:cNvSpPr>
          <p:nvPr>
            <p:ph type="body" idx="1"/>
          </p:nvPr>
        </p:nvSpPr>
        <p:spPr>
          <a:noFill/>
          <a:ln/>
        </p:spPr>
        <p:txBody>
          <a:bodyPr/>
          <a:lstStyle/>
          <a:p>
            <a:pPr eaLnBrk="1" hangingPunct="1"/>
            <a:r>
              <a:rPr lang="en-GB" dirty="0">
                <a:latin typeface="Arial" pitchFamily="34" charset="0"/>
              </a:rPr>
              <a:t>Most of the class II weight prediction rules require as input the </a:t>
            </a:r>
            <a:r>
              <a:rPr lang="en-GB" b="1" dirty="0">
                <a:latin typeface="Arial" pitchFamily="34" charset="0"/>
              </a:rPr>
              <a:t>ultimate design load factor </a:t>
            </a:r>
            <a:r>
              <a:rPr lang="en-GB" dirty="0">
                <a:latin typeface="Arial" pitchFamily="34" charset="0"/>
              </a:rPr>
              <a:t>(1.5 times the maximum design load factor). </a:t>
            </a:r>
          </a:p>
          <a:p>
            <a:pPr eaLnBrk="1" hangingPunct="1"/>
            <a:r>
              <a:rPr lang="en-GB" dirty="0">
                <a:latin typeface="Arial" pitchFamily="34" charset="0"/>
              </a:rPr>
              <a:t>If you come across a class II wing weight estimation method</a:t>
            </a:r>
            <a:r>
              <a:rPr lang="en-GB" baseline="0" dirty="0">
                <a:latin typeface="Arial" pitchFamily="34" charset="0"/>
              </a:rPr>
              <a:t> </a:t>
            </a:r>
            <a:r>
              <a:rPr lang="en-GB" dirty="0">
                <a:latin typeface="Arial" pitchFamily="34" charset="0"/>
              </a:rPr>
              <a:t>that is not depending on the load factor…throw it away, it cannot be good! </a:t>
            </a:r>
          </a:p>
          <a:p>
            <a:pPr eaLnBrk="1" hangingPunct="1"/>
            <a:endParaRPr lang="en-GB" dirty="0">
              <a:latin typeface="Arial" pitchFamily="34" charset="0"/>
            </a:endParaRPr>
          </a:p>
          <a:p>
            <a:pPr eaLnBrk="1" hangingPunct="1"/>
            <a:r>
              <a:rPr lang="en-GB" dirty="0">
                <a:latin typeface="Arial" pitchFamily="34" charset="0"/>
              </a:rPr>
              <a:t>Maximum design load factors are typically specified </a:t>
            </a:r>
            <a:r>
              <a:rPr lang="en-GB" b="1" dirty="0">
                <a:latin typeface="Arial" pitchFamily="34" charset="0"/>
              </a:rPr>
              <a:t>as top level requirement for aerobatic and military (trainer) aircraft</a:t>
            </a:r>
            <a:r>
              <a:rPr lang="en-GB" dirty="0">
                <a:latin typeface="Arial" pitchFamily="34" charset="0"/>
              </a:rPr>
              <a:t>. </a:t>
            </a:r>
          </a:p>
          <a:p>
            <a:pPr marL="0" marR="0" indent="0" algn="l" defTabSz="914400" rtl="0" eaLnBrk="1" fontAlgn="base" latinLnBrk="0" hangingPunct="1">
              <a:lnSpc>
                <a:spcPct val="100000"/>
              </a:lnSpc>
              <a:spcBef>
                <a:spcPct val="30000"/>
              </a:spcBef>
              <a:spcAft>
                <a:spcPct val="0"/>
              </a:spcAft>
              <a:buClrTx/>
              <a:buSzTx/>
              <a:buFontTx/>
              <a:buNone/>
              <a:tabLst/>
              <a:defRPr/>
            </a:pPr>
            <a:r>
              <a:rPr lang="en-GB" dirty="0">
                <a:latin typeface="Arial" pitchFamily="34" charset="0"/>
              </a:rPr>
              <a:t>In any other situation, the maximum design load will have to be calculated as the </a:t>
            </a:r>
            <a:r>
              <a:rPr lang="en-GB" b="1" dirty="0">
                <a:latin typeface="Arial" pitchFamily="34" charset="0"/>
              </a:rPr>
              <a:t>highest between the maximum load factor generated by manoeuvres and gusts, as specified</a:t>
            </a:r>
            <a:r>
              <a:rPr lang="en-GB" b="1" baseline="0" dirty="0">
                <a:latin typeface="Arial" pitchFamily="34" charset="0"/>
              </a:rPr>
              <a:t> by the certification authorities and described in the CS</a:t>
            </a:r>
            <a:r>
              <a:rPr lang="en-GB" dirty="0">
                <a:latin typeface="Arial" pitchFamily="34" charset="0"/>
              </a:rPr>
              <a:t>. </a:t>
            </a:r>
          </a:p>
          <a:p>
            <a:pPr marL="0" marR="0" indent="0" algn="l" defTabSz="914400" rtl="0" eaLnBrk="1" fontAlgn="base" latinLnBrk="0" hangingPunct="1">
              <a:lnSpc>
                <a:spcPct val="100000"/>
              </a:lnSpc>
              <a:spcBef>
                <a:spcPct val="30000"/>
              </a:spcBef>
              <a:spcAft>
                <a:spcPct val="0"/>
              </a:spcAft>
              <a:buClrTx/>
              <a:buSzTx/>
              <a:buFontTx/>
              <a:buNone/>
              <a:tabLst/>
              <a:defRPr/>
            </a:pPr>
            <a:r>
              <a:rPr lang="en-GB" dirty="0">
                <a:latin typeface="Arial" pitchFamily="34" charset="0"/>
              </a:rPr>
              <a:t>In other words,</a:t>
            </a:r>
            <a:r>
              <a:rPr lang="en-GB" baseline="0" dirty="0">
                <a:latin typeface="Arial" pitchFamily="34" charset="0"/>
              </a:rPr>
              <a:t> </a:t>
            </a:r>
            <a:r>
              <a:rPr lang="en-GB" dirty="0">
                <a:latin typeface="Arial" pitchFamily="34" charset="0"/>
              </a:rPr>
              <a:t>CSs specify the way to compute</a:t>
            </a:r>
            <a:r>
              <a:rPr lang="en-GB" baseline="0" dirty="0">
                <a:latin typeface="Arial" pitchFamily="34" charset="0"/>
              </a:rPr>
              <a:t> the </a:t>
            </a:r>
            <a:r>
              <a:rPr lang="en-GB" b="1" dirty="0">
                <a:latin typeface="Arial" pitchFamily="34" charset="0"/>
              </a:rPr>
              <a:t>minimum maximum load factors, </a:t>
            </a:r>
            <a:r>
              <a:rPr lang="en-GB" b="0" dirty="0">
                <a:latin typeface="Arial" pitchFamily="34" charset="0"/>
              </a:rPr>
              <a:t>which the aircraft must be able to sustain, in order to</a:t>
            </a:r>
            <a:r>
              <a:rPr lang="en-GB" b="0" baseline="0" dirty="0">
                <a:latin typeface="Arial" pitchFamily="34" charset="0"/>
              </a:rPr>
              <a:t> be certified airworthy.</a:t>
            </a:r>
            <a:r>
              <a:rPr lang="en-GB" dirty="0">
                <a:latin typeface="Arial" pitchFamily="34" charset="0"/>
              </a:rPr>
              <a:t> You cannot design and aircraft that is not able to meet </a:t>
            </a:r>
            <a:r>
              <a:rPr lang="en-GB" b="1" dirty="0">
                <a:latin typeface="Arial" pitchFamily="34" charset="0"/>
              </a:rPr>
              <a:t>at least </a:t>
            </a:r>
            <a:r>
              <a:rPr lang="en-GB" dirty="0">
                <a:latin typeface="Arial" pitchFamily="34" charset="0"/>
              </a:rPr>
              <a:t>the</a:t>
            </a:r>
            <a:r>
              <a:rPr lang="en-GB" baseline="0" dirty="0">
                <a:latin typeface="Arial" pitchFamily="34" charset="0"/>
              </a:rPr>
              <a:t> load factors prescribed by CS.</a:t>
            </a:r>
            <a:r>
              <a:rPr lang="en-GB" dirty="0">
                <a:latin typeface="Arial" pitchFamily="34" charset="0"/>
              </a:rPr>
              <a:t>  </a:t>
            </a:r>
          </a:p>
          <a:p>
            <a:pPr marL="0" marR="0" indent="0" algn="l" defTabSz="914400" rtl="0" eaLnBrk="1" fontAlgn="base" latinLnBrk="0" hangingPunct="1">
              <a:lnSpc>
                <a:spcPct val="100000"/>
              </a:lnSpc>
              <a:spcBef>
                <a:spcPct val="30000"/>
              </a:spcBef>
              <a:spcAft>
                <a:spcPct val="0"/>
              </a:spcAft>
              <a:buClrTx/>
              <a:buSzTx/>
              <a:buFontTx/>
              <a:buNone/>
              <a:tabLst/>
              <a:defRPr/>
            </a:pPr>
            <a:endParaRPr lang="en-GB" dirty="0">
              <a:latin typeface="Arial" pitchFamily="34" charset="0"/>
            </a:endParaRPr>
          </a:p>
          <a:p>
            <a:pPr eaLnBrk="1" hangingPunct="1"/>
            <a:r>
              <a:rPr lang="en-GB" dirty="0">
                <a:latin typeface="Arial" pitchFamily="34" charset="0"/>
              </a:rPr>
              <a:t>Certification regulations describe how to build these</a:t>
            </a:r>
            <a:r>
              <a:rPr lang="en-GB" baseline="0" dirty="0">
                <a:latin typeface="Arial" pitchFamily="34" charset="0"/>
              </a:rPr>
              <a:t> </a:t>
            </a:r>
            <a:r>
              <a:rPr lang="en-GB" dirty="0">
                <a:latin typeface="Arial" pitchFamily="34" charset="0"/>
              </a:rPr>
              <a:t>2 diagrams (i.e. the manoeuvre and the gust load), which are essential to the whole certification process. Indeed, manufacturers will have to demonstrate the aircraft capability to sustain all the loads factors of the manoeuvre and gust envelope. </a:t>
            </a:r>
          </a:p>
          <a:p>
            <a:pPr eaLnBrk="1" hangingPunct="1"/>
            <a:endParaRPr lang="en-GB" dirty="0">
              <a:latin typeface="Arial"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7B3046DC-C9F4-413C-8CE2-9215E6AB8E01}" type="slidenum">
              <a:rPr lang="en-US" smtClean="0">
                <a:latin typeface="Arial" pitchFamily="34" charset="0"/>
              </a:rPr>
              <a:pPr/>
              <a:t>56</a:t>
            </a:fld>
            <a:endParaRPr lang="en-US">
              <a:latin typeface="Arial" pitchFamily="34" charset="0"/>
            </a:endParaRPr>
          </a:p>
        </p:txBody>
      </p:sp>
      <p:sp>
        <p:nvSpPr>
          <p:cNvPr id="109571" name="Rectangle 2"/>
          <p:cNvSpPr>
            <a:spLocks noGrp="1" noRot="1" noChangeAspect="1" noChangeArrowheads="1" noTextEdit="1"/>
          </p:cNvSpPr>
          <p:nvPr>
            <p:ph type="sldImg"/>
          </p:nvPr>
        </p:nvSpPr>
        <p:spPr>
          <a:xfrm>
            <a:off x="87313" y="746125"/>
            <a:ext cx="6619875" cy="3724275"/>
          </a:xfrm>
          <a:ln/>
        </p:spPr>
      </p:sp>
      <p:sp>
        <p:nvSpPr>
          <p:cNvPr id="109572" name="Rectangle 3"/>
          <p:cNvSpPr>
            <a:spLocks noGrp="1" noChangeArrowheads="1"/>
          </p:cNvSpPr>
          <p:nvPr>
            <p:ph type="body" idx="1"/>
          </p:nvPr>
        </p:nvSpPr>
        <p:spPr>
          <a:noFill/>
          <a:ln/>
        </p:spPr>
        <p:txBody>
          <a:bodyPr/>
          <a:lstStyle/>
          <a:p>
            <a:pPr eaLnBrk="1" hangingPunct="1"/>
            <a:r>
              <a:rPr lang="en-GB" dirty="0">
                <a:latin typeface="Arial" pitchFamily="34" charset="0"/>
              </a:rPr>
              <a:t>Most of the class II weight prediction rules require as input the </a:t>
            </a:r>
            <a:r>
              <a:rPr lang="en-GB" b="1" dirty="0">
                <a:latin typeface="Arial" pitchFamily="34" charset="0"/>
              </a:rPr>
              <a:t>ultimate design load factor </a:t>
            </a:r>
            <a:r>
              <a:rPr lang="en-GB" dirty="0">
                <a:latin typeface="Arial" pitchFamily="34" charset="0"/>
              </a:rPr>
              <a:t>(1.5 times the maximum design load factor). </a:t>
            </a:r>
          </a:p>
          <a:p>
            <a:pPr eaLnBrk="1" hangingPunct="1"/>
            <a:r>
              <a:rPr lang="en-GB" dirty="0">
                <a:latin typeface="Arial" pitchFamily="34" charset="0"/>
              </a:rPr>
              <a:t>If you come across a class II wing weight estimation method</a:t>
            </a:r>
            <a:r>
              <a:rPr lang="en-GB" baseline="0" dirty="0">
                <a:latin typeface="Arial" pitchFamily="34" charset="0"/>
              </a:rPr>
              <a:t> </a:t>
            </a:r>
            <a:r>
              <a:rPr lang="en-GB" dirty="0">
                <a:latin typeface="Arial" pitchFamily="34" charset="0"/>
              </a:rPr>
              <a:t>that is not depending on the load factor…throw it away, it cannot be good! </a:t>
            </a:r>
          </a:p>
          <a:p>
            <a:pPr eaLnBrk="1" hangingPunct="1"/>
            <a:endParaRPr lang="en-GB" dirty="0">
              <a:latin typeface="Arial" pitchFamily="34" charset="0"/>
            </a:endParaRPr>
          </a:p>
          <a:p>
            <a:pPr eaLnBrk="1" hangingPunct="1"/>
            <a:r>
              <a:rPr lang="en-GB" dirty="0">
                <a:latin typeface="Arial" pitchFamily="34" charset="0"/>
              </a:rPr>
              <a:t>Maximum design load factors are typically specified </a:t>
            </a:r>
            <a:r>
              <a:rPr lang="en-GB" b="1" dirty="0">
                <a:latin typeface="Arial" pitchFamily="34" charset="0"/>
              </a:rPr>
              <a:t>as top level requirement for aerobatic and military (trainer) aircraft</a:t>
            </a:r>
            <a:r>
              <a:rPr lang="en-GB" dirty="0">
                <a:latin typeface="Arial" pitchFamily="34" charset="0"/>
              </a:rPr>
              <a:t>. </a:t>
            </a:r>
          </a:p>
          <a:p>
            <a:pPr marL="0" marR="0" indent="0" algn="l" defTabSz="914400" rtl="0" eaLnBrk="1" fontAlgn="base" latinLnBrk="0" hangingPunct="1">
              <a:lnSpc>
                <a:spcPct val="100000"/>
              </a:lnSpc>
              <a:spcBef>
                <a:spcPct val="30000"/>
              </a:spcBef>
              <a:spcAft>
                <a:spcPct val="0"/>
              </a:spcAft>
              <a:buClrTx/>
              <a:buSzTx/>
              <a:buFontTx/>
              <a:buNone/>
              <a:tabLst/>
              <a:defRPr/>
            </a:pPr>
            <a:r>
              <a:rPr lang="en-GB" dirty="0">
                <a:latin typeface="Arial" pitchFamily="34" charset="0"/>
              </a:rPr>
              <a:t>In any other situation, the maximum design load will have to be calculated as the </a:t>
            </a:r>
            <a:r>
              <a:rPr lang="en-GB" b="1" dirty="0">
                <a:latin typeface="Arial" pitchFamily="34" charset="0"/>
              </a:rPr>
              <a:t>highest between the maximum load factor generated by manoeuvres and gusts, as specified</a:t>
            </a:r>
            <a:r>
              <a:rPr lang="en-GB" b="1" baseline="0" dirty="0">
                <a:latin typeface="Arial" pitchFamily="34" charset="0"/>
              </a:rPr>
              <a:t> by the certification authorities and described in the CS</a:t>
            </a:r>
            <a:r>
              <a:rPr lang="en-GB" dirty="0">
                <a:latin typeface="Arial" pitchFamily="34" charset="0"/>
              </a:rPr>
              <a:t>. </a:t>
            </a:r>
          </a:p>
          <a:p>
            <a:pPr marL="0" marR="0" indent="0" algn="l" defTabSz="914400" rtl="0" eaLnBrk="1" fontAlgn="base" latinLnBrk="0" hangingPunct="1">
              <a:lnSpc>
                <a:spcPct val="100000"/>
              </a:lnSpc>
              <a:spcBef>
                <a:spcPct val="30000"/>
              </a:spcBef>
              <a:spcAft>
                <a:spcPct val="0"/>
              </a:spcAft>
              <a:buClrTx/>
              <a:buSzTx/>
              <a:buFontTx/>
              <a:buNone/>
              <a:tabLst/>
              <a:defRPr/>
            </a:pPr>
            <a:r>
              <a:rPr lang="en-GB" dirty="0">
                <a:latin typeface="Arial" pitchFamily="34" charset="0"/>
              </a:rPr>
              <a:t>In other words,</a:t>
            </a:r>
            <a:r>
              <a:rPr lang="en-GB" baseline="0" dirty="0">
                <a:latin typeface="Arial" pitchFamily="34" charset="0"/>
              </a:rPr>
              <a:t> </a:t>
            </a:r>
            <a:r>
              <a:rPr lang="en-GB" dirty="0">
                <a:latin typeface="Arial" pitchFamily="34" charset="0"/>
              </a:rPr>
              <a:t>CSs specify the way to compute</a:t>
            </a:r>
            <a:r>
              <a:rPr lang="en-GB" baseline="0" dirty="0">
                <a:latin typeface="Arial" pitchFamily="34" charset="0"/>
              </a:rPr>
              <a:t> the </a:t>
            </a:r>
            <a:r>
              <a:rPr lang="en-GB" b="1" dirty="0">
                <a:latin typeface="Arial" pitchFamily="34" charset="0"/>
              </a:rPr>
              <a:t>minimum maximum load factors, </a:t>
            </a:r>
            <a:r>
              <a:rPr lang="en-GB" b="0" dirty="0">
                <a:latin typeface="Arial" pitchFamily="34" charset="0"/>
              </a:rPr>
              <a:t>which the aircraft must be able to sustain, in order to</a:t>
            </a:r>
            <a:r>
              <a:rPr lang="en-GB" b="0" baseline="0" dirty="0">
                <a:latin typeface="Arial" pitchFamily="34" charset="0"/>
              </a:rPr>
              <a:t> be certified airworthy.</a:t>
            </a:r>
            <a:r>
              <a:rPr lang="en-GB" dirty="0">
                <a:latin typeface="Arial" pitchFamily="34" charset="0"/>
              </a:rPr>
              <a:t> You cannot design and aircraft that is not able to meet </a:t>
            </a:r>
            <a:r>
              <a:rPr lang="en-GB" b="1" dirty="0">
                <a:latin typeface="Arial" pitchFamily="34" charset="0"/>
              </a:rPr>
              <a:t>at least </a:t>
            </a:r>
            <a:r>
              <a:rPr lang="en-GB" dirty="0">
                <a:latin typeface="Arial" pitchFamily="34" charset="0"/>
              </a:rPr>
              <a:t>the</a:t>
            </a:r>
            <a:r>
              <a:rPr lang="en-GB" baseline="0" dirty="0">
                <a:latin typeface="Arial" pitchFamily="34" charset="0"/>
              </a:rPr>
              <a:t> load factors prescribed by CS.</a:t>
            </a:r>
            <a:r>
              <a:rPr lang="en-GB" dirty="0">
                <a:latin typeface="Arial" pitchFamily="34" charset="0"/>
              </a:rPr>
              <a:t>  </a:t>
            </a:r>
          </a:p>
          <a:p>
            <a:pPr marL="0" marR="0" indent="0" algn="l" defTabSz="914400" rtl="0" eaLnBrk="1" fontAlgn="base" latinLnBrk="0" hangingPunct="1">
              <a:lnSpc>
                <a:spcPct val="100000"/>
              </a:lnSpc>
              <a:spcBef>
                <a:spcPct val="30000"/>
              </a:spcBef>
              <a:spcAft>
                <a:spcPct val="0"/>
              </a:spcAft>
              <a:buClrTx/>
              <a:buSzTx/>
              <a:buFontTx/>
              <a:buNone/>
              <a:tabLst/>
              <a:defRPr/>
            </a:pPr>
            <a:endParaRPr lang="en-GB" dirty="0">
              <a:latin typeface="Arial" pitchFamily="34" charset="0"/>
            </a:endParaRPr>
          </a:p>
          <a:p>
            <a:pPr eaLnBrk="1" hangingPunct="1"/>
            <a:r>
              <a:rPr lang="en-GB" dirty="0">
                <a:latin typeface="Arial" pitchFamily="34" charset="0"/>
              </a:rPr>
              <a:t>Certification regulations describe how to build these</a:t>
            </a:r>
            <a:r>
              <a:rPr lang="en-GB" baseline="0" dirty="0">
                <a:latin typeface="Arial" pitchFamily="34" charset="0"/>
              </a:rPr>
              <a:t> </a:t>
            </a:r>
            <a:r>
              <a:rPr lang="en-GB" dirty="0">
                <a:latin typeface="Arial" pitchFamily="34" charset="0"/>
              </a:rPr>
              <a:t>2 diagrams (i.e. the manoeuvre and the gust load), which are essential to the whole certification process. Indeed, manufacturers will have to demonstrate the aircraft capability to sustain all the loads factors of the manoeuvre and gust envelope. </a:t>
            </a:r>
          </a:p>
          <a:p>
            <a:pPr eaLnBrk="1" hangingPunct="1"/>
            <a:endParaRPr lang="en-GB" dirty="0">
              <a:latin typeface="Arial" pitchFamily="34" charset="0"/>
            </a:endParaRPr>
          </a:p>
        </p:txBody>
      </p:sp>
    </p:spTree>
    <p:extLst>
      <p:ext uri="{BB962C8B-B14F-4D97-AF65-F5344CB8AC3E}">
        <p14:creationId xmlns:p14="http://schemas.microsoft.com/office/powerpoint/2010/main" val="13558298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xfrm>
            <a:off x="87313" y="746125"/>
            <a:ext cx="6619875" cy="3724275"/>
          </a:xfrm>
          <a:ln/>
        </p:spPr>
      </p:sp>
      <p:sp>
        <p:nvSpPr>
          <p:cNvPr id="1187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n=L/W</a:t>
            </a:r>
            <a:r>
              <a:rPr lang="en-US" baseline="0" dirty="0"/>
              <a:t> </a:t>
            </a:r>
          </a:p>
          <a:p>
            <a:r>
              <a:rPr lang="en-US" baseline="0" dirty="0"/>
              <a:t>the load factor n is defined as the ratio between the lift generated by the aircraft and its weigh. Below stall speed the aircraft cannot reach n=1, i.e. cannot generated sufficient lift to counteract its own weight</a:t>
            </a:r>
          </a:p>
          <a:p>
            <a:endParaRPr lang="en-US" baseline="0" dirty="0"/>
          </a:p>
          <a:p>
            <a:r>
              <a:rPr lang="en-US" baseline="0" dirty="0"/>
              <a:t>VA is the minimum speed at which it is possible to reach </a:t>
            </a:r>
            <a:r>
              <a:rPr lang="en-US" baseline="0" dirty="0" err="1"/>
              <a:t>nmax</a:t>
            </a:r>
            <a:endParaRPr lang="en-US" baseline="0" dirty="0"/>
          </a:p>
          <a:p>
            <a:r>
              <a:rPr lang="en-US" baseline="0" dirty="0" err="1"/>
              <a:t>Vd</a:t>
            </a:r>
            <a:r>
              <a:rPr lang="en-US" baseline="0" dirty="0"/>
              <a:t> is the dive speed which is larger than cruise speed. Regulations specify its minimum value.</a:t>
            </a:r>
          </a:p>
          <a:p>
            <a:r>
              <a:rPr lang="en-US" dirty="0" err="1"/>
              <a:t>nult</a:t>
            </a:r>
            <a:r>
              <a:rPr lang="en-US" dirty="0"/>
              <a:t>=1,5nmax</a:t>
            </a:r>
          </a:p>
          <a:p>
            <a:r>
              <a:rPr lang="en-US" dirty="0" err="1"/>
              <a:t>nmax</a:t>
            </a:r>
            <a:r>
              <a:rPr lang="en-US" dirty="0"/>
              <a:t> is function of MTOW</a:t>
            </a:r>
          </a:p>
          <a:p>
            <a:endParaRPr lang="en-US" dirty="0"/>
          </a:p>
          <a:p>
            <a:r>
              <a:rPr lang="en-US" dirty="0"/>
              <a:t>*see next slide for the </a:t>
            </a:r>
            <a:r>
              <a:rPr lang="en-US" dirty="0" err="1"/>
              <a:t>n</a:t>
            </a:r>
            <a:r>
              <a:rPr lang="en-US" baseline="-25000" dirty="0" err="1"/>
              <a:t>max</a:t>
            </a:r>
            <a:r>
              <a:rPr lang="en-US" baseline="-25000" dirty="0"/>
              <a:t>/min</a:t>
            </a:r>
            <a:r>
              <a:rPr lang="en-US" dirty="0"/>
              <a:t> values per aircraft category. Please</a:t>
            </a:r>
            <a:r>
              <a:rPr lang="en-US" baseline="0" dirty="0"/>
              <a:t> note that the values prescribed by the CS are actually </a:t>
            </a:r>
            <a:r>
              <a:rPr lang="en-US" b="1" u="sng" baseline="0" dirty="0"/>
              <a:t>the minimum </a:t>
            </a:r>
            <a:r>
              <a:rPr lang="en-US" baseline="0" dirty="0"/>
              <a:t>for which the aircraft should be certified. Manufacturers are free to design for higher </a:t>
            </a:r>
            <a:r>
              <a:rPr lang="en-US" baseline="0" dirty="0" err="1"/>
              <a:t>nmax</a:t>
            </a:r>
            <a:r>
              <a:rPr lang="en-US" baseline="0" dirty="0"/>
              <a:t> (or more negative </a:t>
            </a:r>
            <a:r>
              <a:rPr lang="en-US" baseline="0" dirty="0" err="1"/>
              <a:t>nmin</a:t>
            </a:r>
            <a:r>
              <a:rPr lang="en-US" baseline="0" dirty="0"/>
              <a:t>)</a:t>
            </a:r>
            <a:endParaRPr lang="en-US" dirty="0"/>
          </a:p>
          <a:p>
            <a:endParaRPr lang="en-US" dirty="0"/>
          </a:p>
        </p:txBody>
      </p:sp>
      <p:sp>
        <p:nvSpPr>
          <p:cNvPr id="1187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fld id="{3B9DB0AC-CB48-4A2F-9B35-10E4D6CC8C47}" type="slidenum">
              <a:rPr lang="en-US" sz="1200" smtClean="0">
                <a:latin typeface="Times" pitchFamily="18" charset="0"/>
              </a:rPr>
              <a:pPr/>
              <a:t>57</a:t>
            </a:fld>
            <a:endParaRPr lang="en-US" sz="1200">
              <a:latin typeface="Times"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xfrm>
            <a:off x="87313" y="746125"/>
            <a:ext cx="6619875" cy="3724275"/>
          </a:xfrm>
          <a:ln/>
        </p:spPr>
      </p:sp>
      <p:sp>
        <p:nvSpPr>
          <p:cNvPr id="1187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A</a:t>
            </a:r>
            <a:r>
              <a:rPr lang="en-US" baseline="0" dirty="0"/>
              <a:t> similar table is provided on the CS for </a:t>
            </a:r>
            <a:r>
              <a:rPr lang="en-US" baseline="0" dirty="0" err="1"/>
              <a:t>nmin</a:t>
            </a:r>
            <a:r>
              <a:rPr lang="en-US" dirty="0"/>
              <a:t> </a:t>
            </a:r>
          </a:p>
          <a:p>
            <a:endParaRPr lang="en-US" dirty="0"/>
          </a:p>
          <a:p>
            <a:r>
              <a:rPr lang="en-US" dirty="0" err="1"/>
              <a:t>nult</a:t>
            </a:r>
            <a:r>
              <a:rPr lang="en-US" dirty="0"/>
              <a:t>=1,5nmax</a:t>
            </a:r>
          </a:p>
          <a:p>
            <a:r>
              <a:rPr lang="en-US" dirty="0"/>
              <a:t> </a:t>
            </a:r>
            <a:r>
              <a:rPr lang="en-US" dirty="0" err="1"/>
              <a:t>nmax</a:t>
            </a:r>
            <a:r>
              <a:rPr lang="en-US" dirty="0"/>
              <a:t> is function of MTOW</a:t>
            </a:r>
          </a:p>
          <a:p>
            <a:endParaRPr lang="en-US" dirty="0"/>
          </a:p>
        </p:txBody>
      </p:sp>
      <p:sp>
        <p:nvSpPr>
          <p:cNvPr id="1187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fld id="{3B9DB0AC-CB48-4A2F-9B35-10E4D6CC8C47}" type="slidenum">
              <a:rPr lang="en-US" sz="1200" smtClean="0">
                <a:latin typeface="Times" pitchFamily="18" charset="0"/>
              </a:rPr>
              <a:pPr/>
              <a:t>58</a:t>
            </a:fld>
            <a:endParaRPr lang="en-US" sz="1200">
              <a:latin typeface="Times"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xfrm>
            <a:off x="87313" y="746125"/>
            <a:ext cx="6619875" cy="3724275"/>
          </a:xfrm>
          <a:ln/>
        </p:spPr>
      </p:sp>
      <p:sp>
        <p:nvSpPr>
          <p:cNvPr id="1187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K depends on the aircraft speed regime (subsonic or supersonic)</a:t>
            </a:r>
          </a:p>
          <a:p>
            <a:endParaRPr lang="en-US" dirty="0"/>
          </a:p>
          <a:p>
            <a:r>
              <a:rPr lang="en-US" dirty="0"/>
              <a:t>the higher the wing loading the less sensitive to gust is the aircraft.</a:t>
            </a:r>
            <a:r>
              <a:rPr lang="en-US" baseline="0" dirty="0"/>
              <a:t> </a:t>
            </a:r>
            <a:r>
              <a:rPr lang="en-US" baseline="0" dirty="0" err="1"/>
              <a:t>Viceversa</a:t>
            </a:r>
            <a:r>
              <a:rPr lang="en-US" baseline="0" dirty="0"/>
              <a:t> for the lift gradient.</a:t>
            </a:r>
            <a:endParaRPr lang="en-US" dirty="0"/>
          </a:p>
          <a:p>
            <a:endParaRPr lang="en-US" dirty="0"/>
          </a:p>
          <a:p>
            <a:r>
              <a:rPr lang="en-US" dirty="0"/>
              <a:t>Higher</a:t>
            </a:r>
            <a:r>
              <a:rPr lang="en-US" baseline="0" dirty="0"/>
              <a:t> gust speeds are experienced at lower altitude</a:t>
            </a:r>
          </a:p>
          <a:p>
            <a:r>
              <a:rPr lang="en-US" baseline="0" dirty="0"/>
              <a:t>A pilot will not dive or cruise at max speed in presence of large perturbations, that is why the statistical gust speed at low flying speed (high angle of attack) are the largest  and those at dive speed the lowest.</a:t>
            </a:r>
          </a:p>
          <a:p>
            <a:endParaRPr lang="en-US" dirty="0"/>
          </a:p>
        </p:txBody>
      </p:sp>
      <p:sp>
        <p:nvSpPr>
          <p:cNvPr id="1187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fld id="{3B9DB0AC-CB48-4A2F-9B35-10E4D6CC8C47}" type="slidenum">
              <a:rPr lang="en-US" sz="1200" smtClean="0">
                <a:latin typeface="Times" pitchFamily="18" charset="0"/>
              </a:rPr>
              <a:pPr/>
              <a:t>59</a:t>
            </a:fld>
            <a:endParaRPr lang="en-US" sz="1200">
              <a:latin typeface="Times"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xfrm>
            <a:off x="87313" y="746125"/>
            <a:ext cx="6619875" cy="3724275"/>
          </a:xfrm>
          <a:ln/>
        </p:spPr>
      </p:sp>
      <p:sp>
        <p:nvSpPr>
          <p:cNvPr id="1187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Gust must be evaluated at 3 speed values</a:t>
            </a:r>
          </a:p>
        </p:txBody>
      </p:sp>
      <p:sp>
        <p:nvSpPr>
          <p:cNvPr id="1187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fld id="{3B9DB0AC-CB48-4A2F-9B35-10E4D6CC8C47}" type="slidenum">
              <a:rPr lang="en-US" sz="1200" smtClean="0">
                <a:latin typeface="Times" pitchFamily="18" charset="0"/>
              </a:rPr>
              <a:pPr/>
              <a:t>60</a:t>
            </a:fld>
            <a:endParaRPr lang="en-US" sz="1200">
              <a:latin typeface="Times"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xfrm>
            <a:off x="87313" y="746125"/>
            <a:ext cx="6619875" cy="3724275"/>
          </a:xfrm>
          <a:ln/>
        </p:spPr>
      </p:sp>
      <p:sp>
        <p:nvSpPr>
          <p:cNvPr id="1187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Gust must be evaluated at 3 speed values</a:t>
            </a:r>
          </a:p>
        </p:txBody>
      </p:sp>
      <p:sp>
        <p:nvSpPr>
          <p:cNvPr id="1187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fld id="{3B9DB0AC-CB48-4A2F-9B35-10E4D6CC8C47}" type="slidenum">
              <a:rPr lang="en-US" sz="1200" smtClean="0">
                <a:latin typeface="Times" pitchFamily="18" charset="0"/>
              </a:rPr>
              <a:pPr/>
              <a:t>61</a:t>
            </a:fld>
            <a:endParaRPr lang="en-US" sz="1200">
              <a:latin typeface="Times"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xfrm>
            <a:off x="87313" y="746125"/>
            <a:ext cx="6619875" cy="3724275"/>
          </a:xfrm>
          <a:ln/>
        </p:spPr>
      </p:sp>
      <p:sp>
        <p:nvSpPr>
          <p:cNvPr id="1187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kern="1200" dirty="0">
                <a:solidFill>
                  <a:schemeClr val="tx1"/>
                </a:solidFill>
                <a:effectLst/>
                <a:latin typeface="Times" pitchFamily="18" charset="0"/>
                <a:ea typeface="+mn-ea"/>
                <a:cs typeface="+mn-cs"/>
              </a:rPr>
              <a:t>The example in Figure A.6 is representative of possible case for transport aircraft where gust loads are dominant. However, this is not always the case, as the incremental load factor due to gust depends on the flight conditions chosen in the mission of the aircraft, the wing loading and the lift gradient coefficient of the wing  ). Equation A.7 shows that aircraft with higher wing loading are less sensitive to gust, whilst higher  values make the aircraft more sensible to gust. This can be easily explained by the fact that a higher  or higher wing surface S (for a given aircraft weight) yield a higher  with a certain angle of attack, and thus a larger increment of lift.</a:t>
            </a:r>
          </a:p>
          <a:p>
            <a:r>
              <a:rPr lang="en-US" sz="1200" kern="1200" dirty="0">
                <a:solidFill>
                  <a:schemeClr val="tx1"/>
                </a:solidFill>
                <a:effectLst/>
                <a:latin typeface="Times" pitchFamily="18" charset="0"/>
                <a:ea typeface="+mn-ea"/>
                <a:cs typeface="+mn-cs"/>
              </a:rPr>
              <a:t> </a:t>
            </a:r>
          </a:p>
          <a:p>
            <a:r>
              <a:rPr lang="en-US" sz="1200" kern="1200" dirty="0">
                <a:solidFill>
                  <a:schemeClr val="tx1"/>
                </a:solidFill>
                <a:effectLst/>
                <a:latin typeface="Times" pitchFamily="18" charset="0"/>
                <a:ea typeface="+mn-ea"/>
                <a:cs typeface="+mn-cs"/>
              </a:rPr>
              <a:t>Given the sensitivity of the maximum load factors with wing loading and altitude (via the air density), the CS require the generation of V-n diagrams:</a:t>
            </a:r>
          </a:p>
          <a:p>
            <a:r>
              <a:rPr lang="en-US" sz="1200" kern="1200" dirty="0">
                <a:solidFill>
                  <a:schemeClr val="tx1"/>
                </a:solidFill>
                <a:effectLst/>
                <a:latin typeface="Times" pitchFamily="18" charset="0"/>
                <a:ea typeface="+mn-ea"/>
                <a:cs typeface="+mn-cs"/>
              </a:rPr>
              <a:t>(1) At each critical altitude within the range of altitudes selected by the applicant;</a:t>
            </a:r>
          </a:p>
          <a:p>
            <a:r>
              <a:rPr lang="en-US" sz="1200" kern="1200" dirty="0">
                <a:solidFill>
                  <a:schemeClr val="tx1"/>
                </a:solidFill>
                <a:effectLst/>
                <a:latin typeface="Times" pitchFamily="18" charset="0"/>
                <a:ea typeface="+mn-ea"/>
                <a:cs typeface="+mn-cs"/>
              </a:rPr>
              <a:t>(2) At each weight from the design minimum weight to the design maximum weight appropriate to each particular flight load condition; and</a:t>
            </a:r>
          </a:p>
          <a:p>
            <a:r>
              <a:rPr lang="en-US" sz="1200" kern="1200" dirty="0">
                <a:solidFill>
                  <a:schemeClr val="tx1"/>
                </a:solidFill>
                <a:effectLst/>
                <a:latin typeface="Times" pitchFamily="18" charset="0"/>
                <a:ea typeface="+mn-ea"/>
                <a:cs typeface="+mn-cs"/>
              </a:rPr>
              <a:t>(3) For each required altitude and weight, for any practicable distribution of disposable load within the operating limitations recorded in the </a:t>
            </a:r>
            <a:r>
              <a:rPr lang="en-US" sz="1200" kern="1200" dirty="0" err="1">
                <a:solidFill>
                  <a:schemeClr val="tx1"/>
                </a:solidFill>
                <a:effectLst/>
                <a:latin typeface="Times" pitchFamily="18" charset="0"/>
                <a:ea typeface="+mn-ea"/>
                <a:cs typeface="+mn-cs"/>
              </a:rPr>
              <a:t>Aeroplane</a:t>
            </a:r>
            <a:r>
              <a:rPr lang="en-US" sz="1200" kern="1200" dirty="0">
                <a:solidFill>
                  <a:schemeClr val="tx1"/>
                </a:solidFill>
                <a:effectLst/>
                <a:latin typeface="Times" pitchFamily="18" charset="0"/>
                <a:ea typeface="+mn-ea"/>
                <a:cs typeface="+mn-cs"/>
              </a:rPr>
              <a:t> Flight Manual.</a:t>
            </a:r>
          </a:p>
          <a:p>
            <a:endParaRPr lang="en-US" dirty="0"/>
          </a:p>
        </p:txBody>
      </p:sp>
      <p:sp>
        <p:nvSpPr>
          <p:cNvPr id="1187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fld id="{3B9DB0AC-CB48-4A2F-9B35-10E4D6CC8C47}" type="slidenum">
              <a:rPr lang="en-US" sz="1200" smtClean="0">
                <a:latin typeface="Times" pitchFamily="18" charset="0"/>
              </a:rPr>
              <a:pPr/>
              <a:t>62</a:t>
            </a:fld>
            <a:endParaRPr lang="en-US" sz="1200">
              <a:latin typeface="Times" pitchFamily="18" charset="0"/>
            </a:endParaRPr>
          </a:p>
        </p:txBody>
      </p:sp>
    </p:spTree>
    <p:extLst>
      <p:ext uri="{BB962C8B-B14F-4D97-AF65-F5344CB8AC3E}">
        <p14:creationId xmlns:p14="http://schemas.microsoft.com/office/powerpoint/2010/main" val="257212060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63</a:t>
            </a:fld>
            <a:endParaRPr lang="en-US"/>
          </a:p>
        </p:txBody>
      </p:sp>
    </p:spTree>
    <p:extLst>
      <p:ext uri="{BB962C8B-B14F-4D97-AF65-F5344CB8AC3E}">
        <p14:creationId xmlns:p14="http://schemas.microsoft.com/office/powerpoint/2010/main" val="197733452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900" kern="1200" dirty="0">
                <a:solidFill>
                  <a:schemeClr val="tx1"/>
                </a:solidFill>
                <a:effectLst/>
              </a:rPr>
              <a:t>An initial operative weight </a:t>
            </a:r>
            <a:r>
              <a:rPr lang="en-US" sz="900" i="0" kern="1200" dirty="0">
                <a:solidFill>
                  <a:schemeClr val="tx1"/>
                </a:solidFill>
                <a:effectLst/>
              </a:rPr>
              <a:t>estimate </a:t>
            </a:r>
            <a:r>
              <a:rPr lang="en-US" sz="900" kern="1200" dirty="0">
                <a:solidFill>
                  <a:schemeClr val="tx1"/>
                </a:solidFill>
                <a:effectLst/>
              </a:rPr>
              <a:t>OEW</a:t>
            </a:r>
            <a:r>
              <a:rPr lang="en-US" sz="900" kern="1200" baseline="-25000" dirty="0">
                <a:solidFill>
                  <a:schemeClr val="tx1"/>
                </a:solidFill>
                <a:effectLst/>
              </a:rPr>
              <a:t>1</a:t>
            </a:r>
            <a:r>
              <a:rPr lang="en-US" sz="900" kern="1200" dirty="0">
                <a:solidFill>
                  <a:schemeClr val="tx1"/>
                </a:solidFill>
                <a:effectLst/>
              </a:rPr>
              <a:t> is </a:t>
            </a:r>
            <a:r>
              <a:rPr lang="en-US" sz="900" i="0" kern="1200" dirty="0">
                <a:solidFill>
                  <a:schemeClr val="tx1"/>
                </a:solidFill>
                <a:effectLst/>
              </a:rPr>
              <a:t>derived using a </a:t>
            </a:r>
            <a:r>
              <a:rPr lang="en-US" sz="900" i="0" kern="1200" baseline="0" dirty="0">
                <a:solidFill>
                  <a:schemeClr val="tx1"/>
                </a:solidFill>
                <a:effectLst/>
              </a:rPr>
              <a:t>Class I methods </a:t>
            </a:r>
            <a:r>
              <a:rPr lang="en-US" sz="900" i="0" kern="1200" dirty="0">
                <a:solidFill>
                  <a:schemeClr val="tx1"/>
                </a:solidFill>
                <a:effectLst/>
              </a:rPr>
              <a:t>(which is generally based on an initial assumption of the ratio </a:t>
            </a:r>
            <a:r>
              <a:rPr lang="en-US" sz="900" i="0" kern="1200" baseline="0" dirty="0">
                <a:solidFill>
                  <a:schemeClr val="tx1"/>
                </a:solidFill>
                <a:effectLst/>
              </a:rPr>
              <a:t>OEW/MTOW from statistics). This value </a:t>
            </a:r>
            <a:r>
              <a:rPr lang="en-US" sz="900" kern="1200" dirty="0">
                <a:solidFill>
                  <a:schemeClr val="tx1"/>
                </a:solidFill>
                <a:effectLst/>
              </a:rPr>
              <a:t>is then used for</a:t>
            </a:r>
            <a:r>
              <a:rPr lang="en-US" sz="900" kern="1200" baseline="0" dirty="0">
                <a:solidFill>
                  <a:schemeClr val="tx1"/>
                </a:solidFill>
                <a:effectLst/>
              </a:rPr>
              <a:t> the estimation </a:t>
            </a:r>
            <a:r>
              <a:rPr lang="en-US" sz="900" kern="1200" dirty="0">
                <a:solidFill>
                  <a:schemeClr val="tx1"/>
                </a:solidFill>
                <a:effectLst/>
              </a:rPr>
              <a:t>of the aircraft component weights</a:t>
            </a:r>
            <a:r>
              <a:rPr lang="en-US" sz="900" kern="1200" baseline="0" dirty="0">
                <a:solidFill>
                  <a:schemeClr val="tx1"/>
                </a:solidFill>
                <a:effectLst/>
              </a:rPr>
              <a:t> by means of a class </a:t>
            </a:r>
            <a:r>
              <a:rPr lang="en-US" sz="900" kern="1200" dirty="0">
                <a:solidFill>
                  <a:schemeClr val="tx1"/>
                </a:solidFill>
                <a:effectLst/>
              </a:rPr>
              <a:t>II method. I</a:t>
            </a:r>
            <a:r>
              <a:rPr lang="en-US" sz="900" kern="1200" baseline="0" dirty="0">
                <a:solidFill>
                  <a:schemeClr val="tx1"/>
                </a:solidFill>
                <a:effectLst/>
              </a:rPr>
              <a:t>ndeed, several component weights are computed as function of OEW, or MTOW, or MZFW, or anyhow weights, which, indirectly, depend from the initially assumed ratio OEW/MTOW.</a:t>
            </a:r>
            <a:endParaRPr lang="en-US" sz="900" kern="1200" dirty="0">
              <a:solidFill>
                <a:schemeClr val="tx1"/>
              </a:solidFill>
              <a:effectLst/>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900" kern="1200" dirty="0">
                <a:solidFill>
                  <a:schemeClr val="tx1"/>
                </a:solidFill>
                <a:effectLst/>
              </a:rPr>
              <a:t>When the revised OEW weight is found (as outcome of a class II method, by adding all the structural component weights) it may differ from the initial value derived from the</a:t>
            </a:r>
            <a:r>
              <a:rPr lang="en-US" sz="900" kern="1200" baseline="0" dirty="0">
                <a:solidFill>
                  <a:schemeClr val="tx1"/>
                </a:solidFill>
                <a:effectLst/>
              </a:rPr>
              <a:t> Class I method</a:t>
            </a:r>
            <a:r>
              <a:rPr lang="en-US" sz="900" kern="1200" dirty="0">
                <a:solidFill>
                  <a:schemeClr val="tx1"/>
                </a:solidFill>
                <a:effectLst/>
              </a:rPr>
              <a:t>!  This is because the weight of the various components are estimated using different types of function (e.g. linear, quadratic, etc.) of different type of weight figures (e.g. take-off weight, or MTOW, or MZFW, etc..). Also, class II weight estimations depend</a:t>
            </a:r>
            <a:r>
              <a:rPr lang="en-US" sz="900" kern="1200" baseline="0" dirty="0">
                <a:solidFill>
                  <a:schemeClr val="tx1"/>
                </a:solidFill>
                <a:effectLst/>
              </a:rPr>
              <a:t> on all the design decisions made after the Class I weight estimation, such as the geometry of the aircraft (e.g., the size and shape of the wing), which might significantly differ from the geometry of the airplanes used to derive the initial Class I weight estimates.</a:t>
            </a:r>
            <a:endParaRPr lang="en-US" sz="900" kern="1200" dirty="0">
              <a:solidFill>
                <a:schemeClr val="tx1"/>
              </a:solidFill>
              <a:effectLst/>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900" b="1" kern="1200" dirty="0">
                <a:solidFill>
                  <a:schemeClr val="tx1"/>
                </a:solidFill>
                <a:effectLst/>
              </a:rPr>
              <a:t>This</a:t>
            </a:r>
            <a:r>
              <a:rPr lang="en-US" sz="900" b="1" kern="1200" baseline="0" dirty="0">
                <a:solidFill>
                  <a:schemeClr val="tx1"/>
                </a:solidFill>
                <a:effectLst/>
              </a:rPr>
              <a:t> means that some iteration is generally required to guarantee consistency to the overall process.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900" kern="1200" baseline="0" dirty="0">
              <a:solidFill>
                <a:schemeClr val="tx1"/>
              </a:solidFill>
              <a:effectLst/>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900" kern="1200" baseline="0" dirty="0">
                <a:solidFill>
                  <a:schemeClr val="tx1"/>
                </a:solidFill>
                <a:effectLst/>
              </a:rPr>
              <a:t>If the difference </a:t>
            </a:r>
            <a:r>
              <a:rPr lang="en-US" sz="900" kern="1200" dirty="0">
                <a:solidFill>
                  <a:schemeClr val="tx1"/>
                </a:solidFill>
                <a:effectLst/>
              </a:rPr>
              <a:t>between the initial and the revised </a:t>
            </a:r>
            <a:r>
              <a:rPr lang="en-US" sz="900" i="0" kern="1200" dirty="0">
                <a:solidFill>
                  <a:schemeClr val="tx1"/>
                </a:solidFill>
                <a:effectLst/>
              </a:rPr>
              <a:t>weight</a:t>
            </a:r>
            <a:r>
              <a:rPr lang="en-US" sz="900" kern="1200" dirty="0">
                <a:solidFill>
                  <a:schemeClr val="tx1"/>
                </a:solidFill>
                <a:effectLst/>
              </a:rPr>
              <a:t> is small enough, few iterations will be sufficient to bring the difference to a</a:t>
            </a:r>
            <a:r>
              <a:rPr lang="en-US" sz="900" kern="1200" baseline="0" dirty="0">
                <a:solidFill>
                  <a:schemeClr val="tx1"/>
                </a:solidFill>
                <a:effectLst/>
              </a:rPr>
              <a:t> sufficiently low value and allow proceeding with the design. </a:t>
            </a:r>
            <a:r>
              <a:rPr lang="en-US" sz="900" kern="1200" dirty="0">
                <a:solidFill>
                  <a:schemeClr val="tx1"/>
                </a:solidFill>
                <a:effectLst/>
              </a:rPr>
              <a: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900" kern="1200" dirty="0">
                <a:solidFill>
                  <a:schemeClr val="tx1"/>
                </a:solidFill>
                <a:effectLst/>
              </a:rPr>
              <a:t>Thus, the initial OEW estimate, denoted in the slide above by </a:t>
            </a:r>
            <a:r>
              <a:rPr lang="en-US" sz="900" i="1" kern="1200" dirty="0">
                <a:solidFill>
                  <a:schemeClr val="tx1"/>
                </a:solidFill>
                <a:effectLst/>
              </a:rPr>
              <a:t>OEW</a:t>
            </a:r>
            <a:r>
              <a:rPr lang="en-US" sz="900" i="1" kern="1200" baseline="-25000" dirty="0">
                <a:solidFill>
                  <a:schemeClr val="tx1"/>
                </a:solidFill>
                <a:effectLst/>
              </a:rPr>
              <a:t>1</a:t>
            </a:r>
            <a:r>
              <a:rPr lang="en-US" sz="900" kern="1200" dirty="0">
                <a:solidFill>
                  <a:schemeClr val="tx1"/>
                </a:solidFill>
                <a:effectLst/>
              </a:rPr>
              <a:t> leads to a revised weight, </a:t>
            </a:r>
            <a:r>
              <a:rPr lang="en-US" sz="900" i="1" kern="1200" dirty="0">
                <a:solidFill>
                  <a:schemeClr val="tx1"/>
                </a:solidFill>
                <a:effectLst/>
              </a:rPr>
              <a:t>OEW</a:t>
            </a:r>
            <a:r>
              <a:rPr lang="en-US" sz="900" i="1" kern="1200" baseline="-25000" dirty="0">
                <a:solidFill>
                  <a:schemeClr val="tx1"/>
                </a:solidFill>
                <a:effectLst/>
              </a:rPr>
              <a:t>2</a:t>
            </a:r>
            <a:r>
              <a:rPr lang="en-US" sz="900" kern="1200" dirty="0">
                <a:solidFill>
                  <a:schemeClr val="tx1"/>
                </a:solidFill>
                <a:effectLst/>
              </a:rPr>
              <a:t>.  This value is now used to compute a new value of the ratio OEW/MTOW, which will be used as the starting point for a new application of the class I method.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900" kern="1200" dirty="0">
                <a:solidFill>
                  <a:schemeClr val="tx1"/>
                </a:solidFill>
                <a:effectLst/>
              </a:rPr>
              <a:t>If the difference is such that (</a:t>
            </a:r>
            <a:r>
              <a:rPr lang="en-US" sz="900" i="1" kern="1200" dirty="0">
                <a:solidFill>
                  <a:schemeClr val="tx1"/>
                </a:solidFill>
                <a:effectLst/>
              </a:rPr>
              <a:t>OEW</a:t>
            </a:r>
            <a:r>
              <a:rPr lang="en-US" sz="900" i="1" kern="1200" baseline="-25000" dirty="0">
                <a:solidFill>
                  <a:schemeClr val="tx1"/>
                </a:solidFill>
                <a:effectLst/>
              </a:rPr>
              <a:t>n+1</a:t>
            </a:r>
            <a:r>
              <a:rPr lang="en-US" sz="900" i="1" kern="1200" dirty="0">
                <a:solidFill>
                  <a:schemeClr val="tx1"/>
                </a:solidFill>
                <a:effectLst/>
              </a:rPr>
              <a:t> – </a:t>
            </a:r>
            <a:r>
              <a:rPr lang="en-US" sz="900" i="1" kern="1200" dirty="0" err="1">
                <a:solidFill>
                  <a:schemeClr val="tx1"/>
                </a:solidFill>
                <a:effectLst/>
              </a:rPr>
              <a:t>OEW</a:t>
            </a:r>
            <a:r>
              <a:rPr lang="en-US" sz="900" i="1" kern="1200" baseline="-25000" dirty="0" err="1">
                <a:solidFill>
                  <a:schemeClr val="tx1"/>
                </a:solidFill>
                <a:effectLst/>
              </a:rPr>
              <a:t>n</a:t>
            </a:r>
            <a:r>
              <a:rPr lang="en-US" sz="900" i="1" kern="1200" dirty="0">
                <a:solidFill>
                  <a:schemeClr val="tx1"/>
                </a:solidFill>
                <a:effectLst/>
              </a:rPr>
              <a:t>)/</a:t>
            </a:r>
            <a:r>
              <a:rPr lang="en-US" sz="900" i="1" kern="1200" dirty="0" err="1">
                <a:solidFill>
                  <a:schemeClr val="tx1"/>
                </a:solidFill>
                <a:effectLst/>
              </a:rPr>
              <a:t>OEW</a:t>
            </a:r>
            <a:r>
              <a:rPr lang="en-US" sz="900" i="1" kern="1200" baseline="-25000" dirty="0" err="1">
                <a:solidFill>
                  <a:schemeClr val="tx1"/>
                </a:solidFill>
                <a:effectLst/>
              </a:rPr>
              <a:t>n</a:t>
            </a:r>
            <a:r>
              <a:rPr lang="en-US" sz="900" kern="1200" dirty="0">
                <a:solidFill>
                  <a:schemeClr val="tx1"/>
                </a:solidFill>
                <a:effectLst/>
              </a:rPr>
              <a:t> is less than, say 1%, then the iteration process may be halted and the last value will be considered for the</a:t>
            </a:r>
            <a:r>
              <a:rPr lang="en-US" sz="900" kern="1200" baseline="0" dirty="0">
                <a:solidFill>
                  <a:schemeClr val="tx1"/>
                </a:solidFill>
                <a:effectLst/>
              </a:rPr>
              <a:t> revised evaluation of the t</a:t>
            </a:r>
            <a:r>
              <a:rPr lang="en-US" sz="900" kern="1200" dirty="0">
                <a:solidFill>
                  <a:schemeClr val="tx1"/>
                </a:solidFill>
                <a:effectLst/>
              </a:rPr>
              <a:t>ake-off weight.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900" kern="1200" dirty="0">
                <a:solidFill>
                  <a:schemeClr val="tx1"/>
                </a:solidFill>
                <a:effectLst/>
              </a:rPr>
              <a:t>Of course, all the component weights will be those corresponding to the final choice of the take-off weight.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900" kern="1200" dirty="0">
                <a:solidFill>
                  <a:schemeClr val="tx1"/>
                </a:solidFill>
                <a:effectLst/>
              </a:rPr>
              <a:t>Be aware that </a:t>
            </a:r>
            <a:r>
              <a:rPr lang="en-US" sz="900" b="1" kern="1200" dirty="0">
                <a:solidFill>
                  <a:schemeClr val="tx1"/>
                </a:solidFill>
                <a:effectLst/>
              </a:rPr>
              <a:t>the fuel</a:t>
            </a:r>
            <a:r>
              <a:rPr lang="en-US" sz="900" b="1" kern="1200" baseline="0" dirty="0">
                <a:solidFill>
                  <a:schemeClr val="tx1"/>
                </a:solidFill>
                <a:effectLst/>
              </a:rPr>
              <a:t> weight (computed with the </a:t>
            </a:r>
            <a:r>
              <a:rPr lang="en-US" sz="900" b="1" kern="1200" baseline="0" dirty="0" err="1">
                <a:solidFill>
                  <a:schemeClr val="tx1"/>
                </a:solidFill>
                <a:effectLst/>
              </a:rPr>
              <a:t>cla</a:t>
            </a:r>
            <a:r>
              <a:rPr lang="en-US" sz="900" b="1" kern="1200" baseline="0" dirty="0">
                <a:solidFill>
                  <a:schemeClr val="tx1"/>
                </a:solidFill>
                <a:effectLst/>
              </a:rPr>
              <a:t> I method) will be generally affected by these iterations </a:t>
            </a:r>
            <a:r>
              <a:rPr lang="en-US" sz="900" kern="1200" baseline="0" dirty="0">
                <a:solidFill>
                  <a:schemeClr val="tx1"/>
                </a:solidFill>
                <a:effectLst/>
              </a:rPr>
              <a:t>. Besides, in order to maintain the previously selected design point (i.e., the selected combination of T/W and W/S), a new value of T will be derived (maybe a different engine?) as well as a new wing surface area S, with all the associated consequences (e.g. revised high lift devices).</a:t>
            </a:r>
            <a:endParaRPr lang="en-US" sz="900" kern="1200" dirty="0">
              <a:solidFill>
                <a:schemeClr val="tx1"/>
              </a:solidFill>
              <a:effectLst/>
            </a:endParaRPr>
          </a:p>
          <a:p>
            <a:endParaRPr lang="en-US" sz="900" dirty="0"/>
          </a:p>
          <a:p>
            <a:r>
              <a:rPr lang="en-US" sz="900" dirty="0"/>
              <a:t>It</a:t>
            </a:r>
            <a:r>
              <a:rPr lang="en-US" sz="900" baseline="0" dirty="0"/>
              <a:t> is generally convenient to compare the obtained weight for the various aircraft components (</a:t>
            </a:r>
            <a:r>
              <a:rPr lang="en-US" sz="900" b="1" baseline="0" dirty="0"/>
              <a:t>in terms of MTOW ratio</a:t>
            </a:r>
            <a:r>
              <a:rPr lang="en-US" sz="900" baseline="0" dirty="0"/>
              <a:t>), with those of some reference aircraft. Large differences could be a signal of peculiar/extreme design decisions (e.g., during the sizing process of the wing, a particularly high aspect ratio might have been selected than for reference aircraft), but can also raise issues on the applicability of the class II equations to such a peculiar design. See next slides for a collection of component weight fractions for aircraft of different categories. </a:t>
            </a:r>
            <a:endParaRPr lang="en-US" sz="900" dirty="0"/>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65</a:t>
            </a:fld>
            <a:endParaRPr lang="en-US"/>
          </a:p>
        </p:txBody>
      </p:sp>
    </p:spTree>
    <p:extLst>
      <p:ext uri="{BB962C8B-B14F-4D97-AF65-F5344CB8AC3E}">
        <p14:creationId xmlns:p14="http://schemas.microsoft.com/office/powerpoint/2010/main" val="221939443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r>
              <a:rPr lang="en-US" dirty="0"/>
              <a:t>This sort of N2 charts, which illustrates in a very compact way the flow of a process (with</a:t>
            </a:r>
            <a:r>
              <a:rPr lang="en-US" baseline="0" dirty="0"/>
              <a:t> all its computation blocks and relative input/output data) with all its iterations, is also called DSM (Design Structure Matrix).</a:t>
            </a:r>
          </a:p>
          <a:p>
            <a:r>
              <a:rPr lang="en-US" baseline="0" dirty="0"/>
              <a:t>By definition, all the process transformations (the computation blocks) are displayed along the diagonal of the chart; all the data feedforward from one block to the others are displayed above the diagonal; all the feedback data below the diagonal. It is also possible to put all the feedforward below, and all the feedback above the diagonal. The arrows at the corners indicate the way to read such matrix.</a:t>
            </a:r>
          </a:p>
          <a:p>
            <a:r>
              <a:rPr lang="en-US" b="1" baseline="0" dirty="0"/>
              <a:t>Important</a:t>
            </a:r>
            <a:r>
              <a:rPr lang="en-US" baseline="0" dirty="0"/>
              <a:t>: Never mix feedforward and feedback data above or below the diagonal!!! </a:t>
            </a:r>
          </a:p>
          <a:p>
            <a:endParaRPr lang="en-US" baseline="0" dirty="0"/>
          </a:p>
          <a:p>
            <a:r>
              <a:rPr lang="en-US" b="1" baseline="0" dirty="0"/>
              <a:t>Try to answer these two questions:</a:t>
            </a:r>
          </a:p>
          <a:p>
            <a:pPr marL="228600" indent="-228600">
              <a:buFont typeface="+mj-lt"/>
              <a:buAutoNum type="arabicPeriod"/>
            </a:pPr>
            <a:r>
              <a:rPr lang="en-US" baseline="0" dirty="0"/>
              <a:t>Why does the tail sizing and wing positioning process affect L/D?</a:t>
            </a:r>
          </a:p>
          <a:p>
            <a:pPr marL="228600" indent="-228600">
              <a:buFont typeface="+mj-lt"/>
              <a:buAutoNum type="arabicPeriod"/>
            </a:pPr>
            <a:r>
              <a:rPr lang="en-US" baseline="0" dirty="0"/>
              <a:t>Why are we talking here of “c.g. range” rather than simply c.g. position?</a:t>
            </a:r>
            <a:endParaRPr lang="en-US" dirty="0"/>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66</a:t>
            </a:fld>
            <a:endParaRPr lang="en-US"/>
          </a:p>
        </p:txBody>
      </p:sp>
    </p:spTree>
    <p:extLst>
      <p:ext uri="{BB962C8B-B14F-4D97-AF65-F5344CB8AC3E}">
        <p14:creationId xmlns:p14="http://schemas.microsoft.com/office/powerpoint/2010/main" val="33770928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897D41-1059-4324-A203-2019645CBE9E}" type="slidenum">
              <a:rPr lang="en-US" smtClean="0"/>
              <a:pPr>
                <a:defRPr/>
              </a:pPr>
              <a:t>67</a:t>
            </a:fld>
            <a:endParaRPr lang="en-US"/>
          </a:p>
        </p:txBody>
      </p:sp>
    </p:spTree>
    <p:extLst>
      <p:ext uri="{BB962C8B-B14F-4D97-AF65-F5344CB8AC3E}">
        <p14:creationId xmlns:p14="http://schemas.microsoft.com/office/powerpoint/2010/main" val="161616629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86C76813-D082-4695-9CAE-F1902BEB2B92}" type="slidenum">
              <a:rPr lang="en-US" altLang="nl-NL">
                <a:latin typeface="Arial" charset="0"/>
              </a:rPr>
              <a:pPr algn="r">
                <a:spcBef>
                  <a:spcPct val="0"/>
                </a:spcBef>
              </a:pPr>
              <a:t>68</a:t>
            </a:fld>
            <a:endParaRPr lang="en-US" altLang="nl-NL">
              <a:latin typeface="Arial" charset="0"/>
            </a:endParaRPr>
          </a:p>
        </p:txBody>
      </p:sp>
      <p:sp>
        <p:nvSpPr>
          <p:cNvPr id="140291" name="Rectangle 2"/>
          <p:cNvSpPr>
            <a:spLocks noGrp="1" noRot="1" noChangeAspect="1" noChangeArrowheads="1" noTextEdit="1"/>
          </p:cNvSpPr>
          <p:nvPr>
            <p:ph type="sldImg"/>
          </p:nvPr>
        </p:nvSpPr>
        <p:spPr>
          <a:xfrm>
            <a:off x="87313" y="746125"/>
            <a:ext cx="6619875" cy="3724275"/>
          </a:xfrm>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nl-NL" dirty="0">
              <a:latin typeface="Arial"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8DDAADBD-B7D5-46DD-8BAB-FE78E5ED095E}" type="slidenum">
              <a:rPr lang="en-US" altLang="nl-NL">
                <a:latin typeface="Arial" charset="0"/>
              </a:rPr>
              <a:pPr algn="r" eaLnBrk="1" hangingPunct="1">
                <a:spcBef>
                  <a:spcPct val="0"/>
                </a:spcBef>
              </a:pPr>
              <a:t>69</a:t>
            </a:fld>
            <a:endParaRPr lang="en-US" altLang="nl-NL">
              <a:latin typeface="Arial" charset="0"/>
            </a:endParaRPr>
          </a:p>
        </p:txBody>
      </p:sp>
      <p:sp>
        <p:nvSpPr>
          <p:cNvPr id="144387" name="Rectangle 2"/>
          <p:cNvSpPr>
            <a:spLocks noGrp="1" noRot="1" noChangeAspect="1" noChangeArrowheads="1" noTextEdit="1"/>
          </p:cNvSpPr>
          <p:nvPr>
            <p:ph type="sldImg"/>
          </p:nvPr>
        </p:nvSpPr>
        <p:spPr>
          <a:xfrm>
            <a:off x="90488" y="746125"/>
            <a:ext cx="6616700" cy="3722688"/>
          </a:xfrm>
          <a:ln/>
        </p:spPr>
      </p:sp>
      <p:sp>
        <p:nvSpPr>
          <p:cNvPr id="144388"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endParaRPr lang="en-GB" altLang="nl-NL"/>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45B9F638-529E-4D91-9D20-27ABDC2147C1}" type="slidenum">
              <a:rPr lang="en-US" altLang="nl-NL">
                <a:latin typeface="Arial" charset="0"/>
              </a:rPr>
              <a:pPr algn="r" eaLnBrk="1" hangingPunct="1">
                <a:spcBef>
                  <a:spcPct val="0"/>
                </a:spcBef>
              </a:pPr>
              <a:t>70</a:t>
            </a:fld>
            <a:endParaRPr lang="en-US" altLang="nl-NL">
              <a:latin typeface="Arial" charset="0"/>
            </a:endParaRPr>
          </a:p>
        </p:txBody>
      </p:sp>
      <p:sp>
        <p:nvSpPr>
          <p:cNvPr id="143363" name="Rectangle 2"/>
          <p:cNvSpPr>
            <a:spLocks noGrp="1" noRot="1" noChangeAspect="1" noChangeArrowheads="1" noTextEdit="1"/>
          </p:cNvSpPr>
          <p:nvPr>
            <p:ph type="sldImg"/>
          </p:nvPr>
        </p:nvSpPr>
        <p:spPr>
          <a:xfrm>
            <a:off x="90488" y="746125"/>
            <a:ext cx="6616700" cy="3722688"/>
          </a:xfrm>
          <a:ln/>
        </p:spPr>
      </p:sp>
      <p:sp>
        <p:nvSpPr>
          <p:cNvPr id="143364"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endParaRPr lang="en-GB" altLang="nl-NL"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ADBADB55-9FBD-4A42-BC70-804E944E060F}" type="slidenum">
              <a:rPr lang="en-US" altLang="nl-NL">
                <a:latin typeface="Arial" charset="0"/>
              </a:rPr>
              <a:pPr algn="r" eaLnBrk="1" hangingPunct="1">
                <a:spcBef>
                  <a:spcPct val="0"/>
                </a:spcBef>
              </a:pPr>
              <a:t>71</a:t>
            </a:fld>
            <a:endParaRPr lang="en-US" altLang="nl-NL">
              <a:latin typeface="Arial" charset="0"/>
            </a:endParaRPr>
          </a:p>
        </p:txBody>
      </p:sp>
      <p:sp>
        <p:nvSpPr>
          <p:cNvPr id="141315" name="Rectangle 2"/>
          <p:cNvSpPr>
            <a:spLocks noGrp="1" noRot="1" noChangeAspect="1" noChangeArrowheads="1" noTextEdit="1"/>
          </p:cNvSpPr>
          <p:nvPr>
            <p:ph type="sldImg"/>
          </p:nvPr>
        </p:nvSpPr>
        <p:spPr>
          <a:xfrm>
            <a:off x="90488" y="746125"/>
            <a:ext cx="6616700" cy="3722688"/>
          </a:xfrm>
          <a:ln/>
        </p:spPr>
      </p:sp>
      <p:sp>
        <p:nvSpPr>
          <p:cNvPr id="141316"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a:t>Not too uncommon in certain fighter aircraft. Of course the aileron function can only be compatible with simple hinged flaps (not with fowler types).</a:t>
            </a:r>
          </a:p>
          <a:p>
            <a:pPr eaLnBrk="1" hangingPunct="1"/>
            <a:r>
              <a:rPr lang="en-GB" altLang="nl-NL"/>
              <a:t>Aircraft such as the Tornado have the whole TE edge covered by a double slotted flap systems, so no aileron at all on the wing! The horizontal full-flying tailplanes can be controlled differentially to be used as ailerons (tailerons).</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5D765C30-9EB3-464D-9818-CA71BB6365FB}" type="slidenum">
              <a:rPr lang="en-US" altLang="nl-NL">
                <a:latin typeface="Arial" charset="0"/>
              </a:rPr>
              <a:pPr algn="r" eaLnBrk="1" hangingPunct="1">
                <a:spcBef>
                  <a:spcPct val="0"/>
                </a:spcBef>
              </a:pPr>
              <a:t>72</a:t>
            </a:fld>
            <a:endParaRPr lang="en-US" altLang="nl-NL">
              <a:latin typeface="Arial" charset="0"/>
            </a:endParaRPr>
          </a:p>
        </p:txBody>
      </p:sp>
      <p:sp>
        <p:nvSpPr>
          <p:cNvPr id="142339" name="Rectangle 2"/>
          <p:cNvSpPr>
            <a:spLocks noGrp="1" noRot="1" noChangeAspect="1" noChangeArrowheads="1" noTextEdit="1"/>
          </p:cNvSpPr>
          <p:nvPr>
            <p:ph type="sldImg"/>
          </p:nvPr>
        </p:nvSpPr>
        <p:spPr>
          <a:xfrm>
            <a:off x="90488" y="746125"/>
            <a:ext cx="6616700" cy="3722688"/>
          </a:xfrm>
          <a:ln/>
        </p:spPr>
      </p:sp>
      <p:sp>
        <p:nvSpPr>
          <p:cNvPr id="142340"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endParaRPr lang="en-GB" altLang="nl-NL"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hyperlink" Target="http://en.wikipedia.org/wiki/File:Apollo_CSM_lunar_orbit.jpg" TargetMode="External"/><Relationship Id="rId9" Type="http://schemas.openxmlformats.org/officeDocument/2006/relationships/image" Target="../media/image7.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spTree>
      <p:nvGrpSpPr>
        <p:cNvPr id="1" name=""/>
        <p:cNvGrpSpPr/>
        <p:nvPr/>
      </p:nvGrpSpPr>
      <p:grpSpPr>
        <a:xfrm>
          <a:off x="0" y="0"/>
          <a:ext cx="0" cy="0"/>
          <a:chOff x="0" y="0"/>
          <a:chExt cx="0" cy="0"/>
        </a:xfrm>
      </p:grpSpPr>
      <p:sp>
        <p:nvSpPr>
          <p:cNvPr id="4" name="Rectangle 13"/>
          <p:cNvSpPr>
            <a:spLocks noChangeArrowheads="1"/>
          </p:cNvSpPr>
          <p:nvPr userDrawn="1"/>
        </p:nvSpPr>
        <p:spPr bwMode="auto">
          <a:xfrm>
            <a:off x="0" y="6134100"/>
            <a:ext cx="12192000" cy="723900"/>
          </a:xfrm>
          <a:prstGeom prst="rect">
            <a:avLst/>
          </a:prstGeom>
          <a:solidFill>
            <a:schemeClr val="bg1"/>
          </a:solidFill>
          <a:ln w="9525">
            <a:noFill/>
            <a:miter lim="800000"/>
            <a:headEnd/>
            <a:tailEnd/>
          </a:ln>
          <a:effectLst/>
        </p:spPr>
        <p:txBody>
          <a:bodyPr wrap="none" anchor="ctr"/>
          <a:lstStyle/>
          <a:p>
            <a:pPr algn="r">
              <a:defRPr/>
            </a:pPr>
            <a:endParaRPr lang="nl-NL" sz="2200">
              <a:cs typeface="+mn-cs"/>
            </a:endParaRPr>
          </a:p>
        </p:txBody>
      </p:sp>
      <p:sp>
        <p:nvSpPr>
          <p:cNvPr id="5" name="Rectangle 23"/>
          <p:cNvSpPr>
            <a:spLocks noChangeArrowheads="1"/>
          </p:cNvSpPr>
          <p:nvPr userDrawn="1"/>
        </p:nvSpPr>
        <p:spPr bwMode="auto">
          <a:xfrm>
            <a:off x="0" y="2057400"/>
            <a:ext cx="11496600" cy="1981200"/>
          </a:xfrm>
          <a:prstGeom prst="rect">
            <a:avLst/>
          </a:prstGeom>
          <a:solidFill>
            <a:srgbClr val="000000"/>
          </a:solidFill>
          <a:ln w="9525">
            <a:noFill/>
            <a:miter lim="800000"/>
            <a:headEnd/>
            <a:tailEnd/>
          </a:ln>
          <a:effectLst/>
        </p:spPr>
        <p:txBody>
          <a:bodyPr wrap="none" anchor="ctr"/>
          <a:lstStyle/>
          <a:p>
            <a:pPr algn="r">
              <a:defRPr/>
            </a:pPr>
            <a:endParaRPr lang="nl-NL" sz="2200">
              <a:cs typeface="+mn-cs"/>
            </a:endParaRPr>
          </a:p>
        </p:txBody>
      </p:sp>
      <p:sp>
        <p:nvSpPr>
          <p:cNvPr id="6" name="Rectangle 20"/>
          <p:cNvSpPr>
            <a:spLocks noChangeArrowheads="1"/>
          </p:cNvSpPr>
          <p:nvPr userDrawn="1"/>
        </p:nvSpPr>
        <p:spPr bwMode="auto">
          <a:xfrm>
            <a:off x="0" y="0"/>
            <a:ext cx="626533" cy="2057400"/>
          </a:xfrm>
          <a:prstGeom prst="rect">
            <a:avLst/>
          </a:prstGeom>
          <a:solidFill>
            <a:schemeClr val="bg2"/>
          </a:solidFill>
          <a:ln w="9525">
            <a:noFill/>
            <a:miter lim="800000"/>
            <a:headEnd/>
            <a:tailEnd/>
          </a:ln>
          <a:effectLst/>
        </p:spPr>
        <p:txBody>
          <a:bodyPr wrap="none" anchor="ctr"/>
          <a:lstStyle/>
          <a:p>
            <a:pPr algn="r">
              <a:defRPr/>
            </a:pPr>
            <a:endParaRPr lang="nl-NL" sz="2200">
              <a:cs typeface="+mn-cs"/>
            </a:endParaRPr>
          </a:p>
        </p:txBody>
      </p:sp>
      <p:sp>
        <p:nvSpPr>
          <p:cNvPr id="7" name="Rectangle 21"/>
          <p:cNvSpPr>
            <a:spLocks noChangeArrowheads="1"/>
          </p:cNvSpPr>
          <p:nvPr userDrawn="1"/>
        </p:nvSpPr>
        <p:spPr bwMode="auto">
          <a:xfrm>
            <a:off x="0" y="6584950"/>
            <a:ext cx="12192000" cy="273050"/>
          </a:xfrm>
          <a:prstGeom prst="rect">
            <a:avLst/>
          </a:prstGeom>
          <a:solidFill>
            <a:schemeClr val="bg2"/>
          </a:solidFill>
          <a:ln w="9525">
            <a:noFill/>
            <a:miter lim="800000"/>
            <a:headEnd/>
            <a:tailEnd/>
          </a:ln>
          <a:effectLst/>
        </p:spPr>
        <p:txBody>
          <a:bodyPr wrap="none" anchor="ctr"/>
          <a:lstStyle/>
          <a:p>
            <a:pPr algn="r">
              <a:defRPr/>
            </a:pPr>
            <a:endParaRPr lang="nl-NL" sz="2200">
              <a:cs typeface="+mn-cs"/>
            </a:endParaRPr>
          </a:p>
        </p:txBody>
      </p:sp>
      <p:sp>
        <p:nvSpPr>
          <p:cNvPr id="8" name="Line 22"/>
          <p:cNvSpPr>
            <a:spLocks noChangeShapeType="1"/>
          </p:cNvSpPr>
          <p:nvPr userDrawn="1"/>
        </p:nvSpPr>
        <p:spPr bwMode="auto">
          <a:xfrm>
            <a:off x="0" y="6781800"/>
            <a:ext cx="12192000" cy="0"/>
          </a:xfrm>
          <a:prstGeom prst="line">
            <a:avLst/>
          </a:prstGeom>
          <a:noFill/>
          <a:ln w="9525">
            <a:solidFill>
              <a:schemeClr val="bg1"/>
            </a:solidFill>
            <a:round/>
            <a:headEnd/>
            <a:tailEnd/>
          </a:ln>
          <a:effectLst/>
        </p:spPr>
        <p:txBody>
          <a:bodyPr wrap="none" anchor="ctr"/>
          <a:lstStyle/>
          <a:p>
            <a:pPr algn="r">
              <a:defRPr/>
            </a:pPr>
            <a:endParaRPr lang="nl-NL" sz="2200">
              <a:cs typeface="+mn-cs"/>
            </a:endParaRPr>
          </a:p>
        </p:txBody>
      </p:sp>
      <p:sp>
        <p:nvSpPr>
          <p:cNvPr id="9" name="Line 24"/>
          <p:cNvSpPr>
            <a:spLocks noChangeShapeType="1"/>
          </p:cNvSpPr>
          <p:nvPr userDrawn="1"/>
        </p:nvSpPr>
        <p:spPr bwMode="auto">
          <a:xfrm>
            <a:off x="0" y="6134100"/>
            <a:ext cx="12192000" cy="0"/>
          </a:xfrm>
          <a:prstGeom prst="line">
            <a:avLst/>
          </a:prstGeom>
          <a:noFill/>
          <a:ln w="12700">
            <a:solidFill>
              <a:schemeClr val="tx1"/>
            </a:solidFill>
            <a:round/>
            <a:headEnd/>
            <a:tailEnd/>
          </a:ln>
          <a:effectLst/>
        </p:spPr>
        <p:txBody>
          <a:bodyPr wrap="none" anchor="ctr"/>
          <a:lstStyle/>
          <a:p>
            <a:pPr algn="r">
              <a:defRPr/>
            </a:pPr>
            <a:endParaRPr lang="nl-NL" sz="2200">
              <a:cs typeface="+mn-cs"/>
            </a:endParaRPr>
          </a:p>
        </p:txBody>
      </p:sp>
      <p:pic>
        <p:nvPicPr>
          <p:cNvPr id="10" name="Picture 29" descr="TU_Delft_2.png                                                 00095E43Smidswater Server              C1CD65DB:"/>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62003" y="6184900"/>
            <a:ext cx="101351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30"/>
          <p:cNvSpPr txBox="1">
            <a:spLocks noChangeArrowheads="1"/>
          </p:cNvSpPr>
          <p:nvPr userDrawn="1"/>
        </p:nvSpPr>
        <p:spPr bwMode="auto">
          <a:xfrm>
            <a:off x="1998133" y="6572253"/>
            <a:ext cx="3962400" cy="214313"/>
          </a:xfrm>
          <a:prstGeom prst="rect">
            <a:avLst/>
          </a:prstGeom>
          <a:noFill/>
          <a:ln w="9525">
            <a:noFill/>
            <a:miter lim="800000"/>
            <a:headEnd/>
            <a:tailEnd/>
          </a:ln>
          <a:effectLst/>
        </p:spPr>
        <p:txBody>
          <a:bodyPr>
            <a:spAutoFit/>
          </a:bodyPr>
          <a:lstStyle/>
          <a:p>
            <a:pPr>
              <a:spcBef>
                <a:spcPct val="50000"/>
              </a:spcBef>
              <a:defRPr/>
            </a:pPr>
            <a:r>
              <a:rPr lang="nl-NL" sz="800">
                <a:solidFill>
                  <a:schemeClr val="bg1"/>
                </a:solidFill>
                <a:cs typeface="+mn-cs"/>
              </a:rPr>
              <a:t>Challenge the future</a:t>
            </a:r>
            <a:endParaRPr lang="nl-NL" sz="2200">
              <a:cs typeface="+mn-cs"/>
            </a:endParaRPr>
          </a:p>
        </p:txBody>
      </p:sp>
      <p:sp>
        <p:nvSpPr>
          <p:cNvPr id="12" name="Text Box 31"/>
          <p:cNvSpPr txBox="1">
            <a:spLocks noChangeArrowheads="1"/>
          </p:cNvSpPr>
          <p:nvPr userDrawn="1"/>
        </p:nvSpPr>
        <p:spPr bwMode="auto">
          <a:xfrm>
            <a:off x="1998133" y="6292850"/>
            <a:ext cx="1320800" cy="300082"/>
          </a:xfrm>
          <a:prstGeom prst="rect">
            <a:avLst/>
          </a:prstGeom>
          <a:noFill/>
          <a:ln w="9525">
            <a:noFill/>
            <a:miter lim="800000"/>
            <a:headEnd/>
            <a:tailEnd/>
          </a:ln>
          <a:effectLst/>
        </p:spPr>
        <p:txBody>
          <a:bodyPr>
            <a:spAutoFit/>
          </a:bodyPr>
          <a:lstStyle/>
          <a:p>
            <a:pPr>
              <a:lnSpc>
                <a:spcPct val="90000"/>
              </a:lnSpc>
              <a:defRPr/>
            </a:pPr>
            <a:r>
              <a:rPr lang="nl-NL" sz="500">
                <a:cs typeface="+mn-cs"/>
              </a:rPr>
              <a:t>Delft</a:t>
            </a:r>
          </a:p>
          <a:p>
            <a:pPr>
              <a:lnSpc>
                <a:spcPct val="90000"/>
              </a:lnSpc>
              <a:defRPr/>
            </a:pPr>
            <a:r>
              <a:rPr lang="nl-NL" sz="500">
                <a:cs typeface="+mn-cs"/>
              </a:rPr>
              <a:t>University of</a:t>
            </a:r>
          </a:p>
          <a:p>
            <a:pPr>
              <a:lnSpc>
                <a:spcPct val="90000"/>
              </a:lnSpc>
              <a:defRPr/>
            </a:pPr>
            <a:r>
              <a:rPr lang="nl-NL" sz="500">
                <a:cs typeface="+mn-cs"/>
              </a:rPr>
              <a:t>Technology</a:t>
            </a:r>
            <a:endParaRPr lang="nl-NL" sz="2200">
              <a:cs typeface="+mn-cs"/>
            </a:endParaRPr>
          </a:p>
        </p:txBody>
      </p:sp>
      <p:pic>
        <p:nvPicPr>
          <p:cNvPr id="13" name="Picture 32" descr="005m"/>
          <p:cNvPicPr>
            <a:picLocks noChangeAspect="1" noChangeArrowheads="1"/>
          </p:cNvPicPr>
          <p:nvPr userDrawn="1"/>
        </p:nvPicPr>
        <p:blipFill>
          <a:blip r:embed="rId3">
            <a:extLst>
              <a:ext uri="{28A0092B-C50C-407E-A947-70E740481C1C}">
                <a14:useLocalDpi xmlns:a14="http://schemas.microsoft.com/office/drawing/2010/main" val="0"/>
              </a:ext>
            </a:extLst>
          </a:blip>
          <a:srcRect l="48528"/>
          <a:stretch>
            <a:fillRect/>
          </a:stretch>
        </p:blipFill>
        <p:spPr bwMode="auto">
          <a:xfrm>
            <a:off x="2" y="4411663"/>
            <a:ext cx="12573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5" descr="305px-Apollo_CSM_lunar_orbit">
            <a:hlinkClick r:id="rId4" tooltip="Apollo CSM lunar orbit.jpg"/>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166284" y="4445000"/>
            <a:ext cx="192193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7" descr="Mars Express artist's impression"/>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52785" y="4659313"/>
            <a:ext cx="140546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071286" y="4516438"/>
            <a:ext cx="21357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7" name="Picture 15" descr="http://farm3.static.flickr.com/2554/4188993316_2b9ebdae17.jpg"/>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192184" y="4598988"/>
            <a:ext cx="22754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5" descr="http://go2inbox.files.wordpress.com/2009/11/airbus.jpg"/>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8858251" y="4714875"/>
            <a:ext cx="22881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
          <p:cNvPicPr>
            <a:picLocks noChangeAspect="1" noChangeArrowheads="1"/>
          </p:cNvPicPr>
          <p:nvPr userDrawn="1"/>
        </p:nvPicPr>
        <p:blipFill>
          <a:blip r:embed="rId10">
            <a:extLst>
              <a:ext uri="{28A0092B-C50C-407E-A947-70E740481C1C}">
                <a14:useLocalDpi xmlns:a14="http://schemas.microsoft.com/office/drawing/2010/main" val="0"/>
              </a:ext>
            </a:extLst>
          </a:blip>
          <a:srcRect r="26147"/>
          <a:stretch>
            <a:fillRect/>
          </a:stretch>
        </p:blipFill>
        <p:spPr bwMode="auto">
          <a:xfrm>
            <a:off x="11135784" y="4760913"/>
            <a:ext cx="10562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Freeform 19"/>
          <p:cNvSpPr/>
          <p:nvPr userDrawn="1"/>
        </p:nvSpPr>
        <p:spPr bwMode="auto">
          <a:xfrm>
            <a:off x="0" y="4286250"/>
            <a:ext cx="12192000" cy="571500"/>
          </a:xfrm>
          <a:custGeom>
            <a:avLst/>
            <a:gdLst>
              <a:gd name="connsiteX0" fmla="*/ 0 w 9194800"/>
              <a:gd name="connsiteY0" fmla="*/ 0 h 546100"/>
              <a:gd name="connsiteX1" fmla="*/ 9194800 w 9194800"/>
              <a:gd name="connsiteY1" fmla="*/ 0 h 546100"/>
              <a:gd name="connsiteX2" fmla="*/ 9182100 w 9194800"/>
              <a:gd name="connsiteY2" fmla="*/ 546100 h 546100"/>
              <a:gd name="connsiteX3" fmla="*/ 12700 w 9194800"/>
              <a:gd name="connsiteY3" fmla="*/ 127000 h 546100"/>
              <a:gd name="connsiteX4" fmla="*/ 0 w 9194800"/>
              <a:gd name="connsiteY4" fmla="*/ 0 h 546100"/>
              <a:gd name="connsiteX0" fmla="*/ 12700 w 9182100"/>
              <a:gd name="connsiteY0" fmla="*/ 0 h 561968"/>
              <a:gd name="connsiteX1" fmla="*/ 9182100 w 9182100"/>
              <a:gd name="connsiteY1" fmla="*/ 15868 h 561968"/>
              <a:gd name="connsiteX2" fmla="*/ 9169400 w 9182100"/>
              <a:gd name="connsiteY2" fmla="*/ 561968 h 561968"/>
              <a:gd name="connsiteX3" fmla="*/ 0 w 9182100"/>
              <a:gd name="connsiteY3" fmla="*/ 142868 h 561968"/>
              <a:gd name="connsiteX4" fmla="*/ 12700 w 9182100"/>
              <a:gd name="connsiteY4" fmla="*/ 0 h 561968"/>
              <a:gd name="connsiteX0" fmla="*/ 0 w 9169400"/>
              <a:gd name="connsiteY0" fmla="*/ 0 h 561968"/>
              <a:gd name="connsiteX1" fmla="*/ 9169400 w 9169400"/>
              <a:gd name="connsiteY1" fmla="*/ 15868 h 561968"/>
              <a:gd name="connsiteX2" fmla="*/ 9156700 w 9169400"/>
              <a:gd name="connsiteY2" fmla="*/ 561968 h 561968"/>
              <a:gd name="connsiteX3" fmla="*/ 0 w 9169400"/>
              <a:gd name="connsiteY3" fmla="*/ 142876 h 561968"/>
              <a:gd name="connsiteX4" fmla="*/ 0 w 9169400"/>
              <a:gd name="connsiteY4" fmla="*/ 0 h 561968"/>
              <a:gd name="connsiteX0" fmla="*/ 0 w 9156700"/>
              <a:gd name="connsiteY0" fmla="*/ 0 h 561968"/>
              <a:gd name="connsiteX1" fmla="*/ 9144000 w 9156700"/>
              <a:gd name="connsiteY1" fmla="*/ 0 h 561968"/>
              <a:gd name="connsiteX2" fmla="*/ 9156700 w 9156700"/>
              <a:gd name="connsiteY2" fmla="*/ 561968 h 561968"/>
              <a:gd name="connsiteX3" fmla="*/ 0 w 9156700"/>
              <a:gd name="connsiteY3" fmla="*/ 142876 h 561968"/>
              <a:gd name="connsiteX4" fmla="*/ 0 w 9156700"/>
              <a:gd name="connsiteY4" fmla="*/ 0 h 561968"/>
              <a:gd name="connsiteX0" fmla="*/ 0 w 9144000"/>
              <a:gd name="connsiteY0" fmla="*/ 0 h 571504"/>
              <a:gd name="connsiteX1" fmla="*/ 9144000 w 9144000"/>
              <a:gd name="connsiteY1" fmla="*/ 0 h 571504"/>
              <a:gd name="connsiteX2" fmla="*/ 9144000 w 9144000"/>
              <a:gd name="connsiteY2" fmla="*/ 571504 h 571504"/>
              <a:gd name="connsiteX3" fmla="*/ 0 w 9144000"/>
              <a:gd name="connsiteY3" fmla="*/ 142876 h 571504"/>
              <a:gd name="connsiteX4" fmla="*/ 0 w 9144000"/>
              <a:gd name="connsiteY4" fmla="*/ 0 h 571504"/>
              <a:gd name="connsiteX0" fmla="*/ 0 w 9144000"/>
              <a:gd name="connsiteY0" fmla="*/ 0 h 571504"/>
              <a:gd name="connsiteX1" fmla="*/ 9144000 w 9144000"/>
              <a:gd name="connsiteY1" fmla="*/ 214314 h 571504"/>
              <a:gd name="connsiteX2" fmla="*/ 9144000 w 9144000"/>
              <a:gd name="connsiteY2" fmla="*/ 571504 h 571504"/>
              <a:gd name="connsiteX3" fmla="*/ 0 w 9144000"/>
              <a:gd name="connsiteY3" fmla="*/ 142876 h 571504"/>
              <a:gd name="connsiteX4" fmla="*/ 0 w 9144000"/>
              <a:gd name="connsiteY4" fmla="*/ 0 h 571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571504">
                <a:moveTo>
                  <a:pt x="0" y="0"/>
                </a:moveTo>
                <a:lnTo>
                  <a:pt x="9144000" y="214314"/>
                </a:lnTo>
                <a:lnTo>
                  <a:pt x="9144000" y="571504"/>
                </a:lnTo>
                <a:lnTo>
                  <a:pt x="0" y="142876"/>
                </a:lnTo>
                <a:lnTo>
                  <a:pt x="0" y="0"/>
                </a:lnTo>
                <a:close/>
              </a:path>
            </a:pathLst>
          </a:custGeom>
          <a:solidFill>
            <a:schemeClr val="bg1">
              <a:lumMod val="65000"/>
            </a:schemeClr>
          </a:solidFill>
          <a:ln w="9525" cap="flat" cmpd="sng" algn="ctr">
            <a:noFill/>
            <a:prstDash val="solid"/>
            <a:round/>
            <a:headEnd type="none" w="med" len="med"/>
            <a:tailEnd type="none" w="med" len="med"/>
          </a:ln>
          <a:effectLst/>
        </p:spPr>
        <p:txBody>
          <a:bodyPr/>
          <a:lstStyle/>
          <a:p>
            <a:pPr algn="r">
              <a:defRPr/>
            </a:pPr>
            <a:endParaRPr lang="nl-NL" sz="2200">
              <a:cs typeface="+mn-cs"/>
            </a:endParaRPr>
          </a:p>
        </p:txBody>
      </p:sp>
      <p:sp>
        <p:nvSpPr>
          <p:cNvPr id="21" name="Freeform 20"/>
          <p:cNvSpPr/>
          <p:nvPr userDrawn="1"/>
        </p:nvSpPr>
        <p:spPr bwMode="auto">
          <a:xfrm flipH="1" flipV="1">
            <a:off x="0" y="5429250"/>
            <a:ext cx="12192000" cy="571500"/>
          </a:xfrm>
          <a:custGeom>
            <a:avLst/>
            <a:gdLst>
              <a:gd name="connsiteX0" fmla="*/ 0 w 9194800"/>
              <a:gd name="connsiteY0" fmla="*/ 0 h 546100"/>
              <a:gd name="connsiteX1" fmla="*/ 9194800 w 9194800"/>
              <a:gd name="connsiteY1" fmla="*/ 0 h 546100"/>
              <a:gd name="connsiteX2" fmla="*/ 9182100 w 9194800"/>
              <a:gd name="connsiteY2" fmla="*/ 546100 h 546100"/>
              <a:gd name="connsiteX3" fmla="*/ 12700 w 9194800"/>
              <a:gd name="connsiteY3" fmla="*/ 127000 h 546100"/>
              <a:gd name="connsiteX4" fmla="*/ 0 w 9194800"/>
              <a:gd name="connsiteY4" fmla="*/ 0 h 546100"/>
              <a:gd name="connsiteX0" fmla="*/ 12700 w 9182100"/>
              <a:gd name="connsiteY0" fmla="*/ 0 h 561968"/>
              <a:gd name="connsiteX1" fmla="*/ 9182100 w 9182100"/>
              <a:gd name="connsiteY1" fmla="*/ 15868 h 561968"/>
              <a:gd name="connsiteX2" fmla="*/ 9169400 w 9182100"/>
              <a:gd name="connsiteY2" fmla="*/ 561968 h 561968"/>
              <a:gd name="connsiteX3" fmla="*/ 0 w 9182100"/>
              <a:gd name="connsiteY3" fmla="*/ 142868 h 561968"/>
              <a:gd name="connsiteX4" fmla="*/ 12700 w 9182100"/>
              <a:gd name="connsiteY4" fmla="*/ 0 h 561968"/>
              <a:gd name="connsiteX0" fmla="*/ 0 w 9169400"/>
              <a:gd name="connsiteY0" fmla="*/ 0 h 561968"/>
              <a:gd name="connsiteX1" fmla="*/ 9169400 w 9169400"/>
              <a:gd name="connsiteY1" fmla="*/ 15868 h 561968"/>
              <a:gd name="connsiteX2" fmla="*/ 9156700 w 9169400"/>
              <a:gd name="connsiteY2" fmla="*/ 561968 h 561968"/>
              <a:gd name="connsiteX3" fmla="*/ 0 w 9169400"/>
              <a:gd name="connsiteY3" fmla="*/ 142876 h 561968"/>
              <a:gd name="connsiteX4" fmla="*/ 0 w 9169400"/>
              <a:gd name="connsiteY4" fmla="*/ 0 h 561968"/>
              <a:gd name="connsiteX0" fmla="*/ 0 w 9156700"/>
              <a:gd name="connsiteY0" fmla="*/ 0 h 561968"/>
              <a:gd name="connsiteX1" fmla="*/ 9144000 w 9156700"/>
              <a:gd name="connsiteY1" fmla="*/ 0 h 561968"/>
              <a:gd name="connsiteX2" fmla="*/ 9156700 w 9156700"/>
              <a:gd name="connsiteY2" fmla="*/ 561968 h 561968"/>
              <a:gd name="connsiteX3" fmla="*/ 0 w 9156700"/>
              <a:gd name="connsiteY3" fmla="*/ 142876 h 561968"/>
              <a:gd name="connsiteX4" fmla="*/ 0 w 9156700"/>
              <a:gd name="connsiteY4" fmla="*/ 0 h 561968"/>
              <a:gd name="connsiteX0" fmla="*/ 0 w 9144000"/>
              <a:gd name="connsiteY0" fmla="*/ 0 h 571504"/>
              <a:gd name="connsiteX1" fmla="*/ 9144000 w 9144000"/>
              <a:gd name="connsiteY1" fmla="*/ 0 h 571504"/>
              <a:gd name="connsiteX2" fmla="*/ 9144000 w 9144000"/>
              <a:gd name="connsiteY2" fmla="*/ 571504 h 571504"/>
              <a:gd name="connsiteX3" fmla="*/ 0 w 9144000"/>
              <a:gd name="connsiteY3" fmla="*/ 142876 h 571504"/>
              <a:gd name="connsiteX4" fmla="*/ 0 w 9144000"/>
              <a:gd name="connsiteY4" fmla="*/ 0 h 571504"/>
              <a:gd name="connsiteX0" fmla="*/ 0 w 9144000"/>
              <a:gd name="connsiteY0" fmla="*/ 0 h 571504"/>
              <a:gd name="connsiteX1" fmla="*/ 9144000 w 9144000"/>
              <a:gd name="connsiteY1" fmla="*/ 285752 h 571504"/>
              <a:gd name="connsiteX2" fmla="*/ 9144000 w 9144000"/>
              <a:gd name="connsiteY2" fmla="*/ 571504 h 571504"/>
              <a:gd name="connsiteX3" fmla="*/ 0 w 9144000"/>
              <a:gd name="connsiteY3" fmla="*/ 142876 h 571504"/>
              <a:gd name="connsiteX4" fmla="*/ 0 w 9144000"/>
              <a:gd name="connsiteY4" fmla="*/ 0 h 571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571504">
                <a:moveTo>
                  <a:pt x="0" y="0"/>
                </a:moveTo>
                <a:lnTo>
                  <a:pt x="9144000" y="285752"/>
                </a:lnTo>
                <a:lnTo>
                  <a:pt x="9144000" y="571504"/>
                </a:lnTo>
                <a:lnTo>
                  <a:pt x="0" y="142876"/>
                </a:lnTo>
                <a:lnTo>
                  <a:pt x="0" y="0"/>
                </a:lnTo>
                <a:close/>
              </a:path>
            </a:pathLst>
          </a:custGeom>
          <a:solidFill>
            <a:schemeClr val="bg1">
              <a:lumMod val="65000"/>
            </a:schemeClr>
          </a:solidFill>
          <a:ln w="9525" cap="flat" cmpd="sng" algn="ctr">
            <a:noFill/>
            <a:prstDash val="solid"/>
            <a:round/>
            <a:headEnd type="none" w="med" len="med"/>
            <a:tailEnd type="none" w="med" len="med"/>
          </a:ln>
          <a:effectLst/>
        </p:spPr>
        <p:txBody>
          <a:bodyPr/>
          <a:lstStyle/>
          <a:p>
            <a:pPr algn="r">
              <a:defRPr/>
            </a:pPr>
            <a:endParaRPr lang="nl-NL" sz="2200">
              <a:cs typeface="+mn-cs"/>
            </a:endParaRPr>
          </a:p>
        </p:txBody>
      </p:sp>
      <p:sp>
        <p:nvSpPr>
          <p:cNvPr id="271372" name="Rectangle 12"/>
          <p:cNvSpPr>
            <a:spLocks noGrp="1" noChangeArrowheads="1"/>
          </p:cNvSpPr>
          <p:nvPr>
            <p:ph type="ctrTitle"/>
          </p:nvPr>
        </p:nvSpPr>
        <p:spPr>
          <a:xfrm>
            <a:off x="914402" y="2286000"/>
            <a:ext cx="9241367" cy="457200"/>
          </a:xfrm>
        </p:spPr>
        <p:txBody>
          <a:bodyPr anchor="t"/>
          <a:lstStyle>
            <a:lvl1pPr marL="0" indent="0">
              <a:lnSpc>
                <a:spcPct val="80000"/>
              </a:lnSpc>
              <a:defRPr>
                <a:solidFill>
                  <a:schemeClr val="bg1"/>
                </a:solidFill>
              </a:defRPr>
            </a:lvl1pPr>
          </a:lstStyle>
          <a:p>
            <a:r>
              <a:rPr lang="nl-NL"/>
              <a:t>Click to edit Master title style</a:t>
            </a:r>
          </a:p>
        </p:txBody>
      </p:sp>
      <p:sp>
        <p:nvSpPr>
          <p:cNvPr id="271393" name="Rectangle 33"/>
          <p:cNvSpPr>
            <a:spLocks noGrp="1" noChangeArrowheads="1"/>
          </p:cNvSpPr>
          <p:nvPr>
            <p:ph type="subTitle" sz="quarter" idx="1"/>
          </p:nvPr>
        </p:nvSpPr>
        <p:spPr>
          <a:xfrm>
            <a:off x="914402" y="2743200"/>
            <a:ext cx="9241367" cy="381000"/>
          </a:xfrm>
        </p:spPr>
        <p:txBody>
          <a:bodyPr/>
          <a:lstStyle>
            <a:lvl1pPr marL="0" indent="0">
              <a:buFontTx/>
              <a:buNone/>
              <a:defRPr sz="2400">
                <a:solidFill>
                  <a:schemeClr val="bg2"/>
                </a:solidFill>
                <a:latin typeface="Bookman Old Style" pitchFamily="18" charset="0"/>
              </a:defRPr>
            </a:lvl1pPr>
          </a:lstStyle>
          <a:p>
            <a:r>
              <a:rPr lang="en-US"/>
              <a:t>Click to edit Master subtitle style</a:t>
            </a:r>
          </a:p>
        </p:txBody>
      </p:sp>
    </p:spTree>
    <p:extLst>
      <p:ext uri="{BB962C8B-B14F-4D97-AF65-F5344CB8AC3E}">
        <p14:creationId xmlns:p14="http://schemas.microsoft.com/office/powerpoint/2010/main" val="290260291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1677749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963084" y="4406903"/>
            <a:ext cx="10363200" cy="1362075"/>
          </a:xfrm>
        </p:spPr>
        <p:txBody>
          <a:bodyPr anchor="t"/>
          <a:lstStyle>
            <a:lvl1pPr algn="l">
              <a:defRPr sz="4000" b="1" cap="all"/>
            </a:lvl1pPr>
          </a:lstStyle>
          <a:p>
            <a:r>
              <a:rPr lang="nl-NL"/>
              <a:t>Klik om de stijl te bewerken</a:t>
            </a:r>
          </a:p>
        </p:txBody>
      </p:sp>
      <p:sp>
        <p:nvSpPr>
          <p:cNvPr id="3" name="Tijdelijke aanduiding voor tekst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nl-NL"/>
              <a:t>Klik om de modelstijlen te bewerken</a:t>
            </a:r>
          </a:p>
        </p:txBody>
      </p:sp>
    </p:spTree>
    <p:extLst>
      <p:ext uri="{BB962C8B-B14F-4D97-AF65-F5344CB8AC3E}">
        <p14:creationId xmlns:p14="http://schemas.microsoft.com/office/powerpoint/2010/main" val="3208164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half" idx="1"/>
          </p:nvPr>
        </p:nvSpPr>
        <p:spPr>
          <a:xfrm>
            <a:off x="1234020" y="2286000"/>
            <a:ext cx="4997449" cy="3048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434668" y="2286000"/>
            <a:ext cx="4997451" cy="3048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1040739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609600" y="274638"/>
            <a:ext cx="10972800" cy="1143000"/>
          </a:xfrm>
        </p:spPr>
        <p:txBody>
          <a:bodyPr/>
          <a:lstStyle>
            <a:lvl1pPr>
              <a:defRPr/>
            </a:lvl1pPr>
          </a:lstStyle>
          <a:p>
            <a:r>
              <a:rPr lang="nl-NL"/>
              <a:t>Klik om de stijl te bewerken</a:t>
            </a:r>
          </a:p>
        </p:txBody>
      </p:sp>
      <p:sp>
        <p:nvSpPr>
          <p:cNvPr id="3" name="Tijdelijke aanduiding voor tekst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4" name="Tijdelijke aanduiding voor inhoud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6" name="Tijdelijke aanduiding voor inhoud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3814901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Tree>
    <p:extLst>
      <p:ext uri="{BB962C8B-B14F-4D97-AF65-F5344CB8AC3E}">
        <p14:creationId xmlns:p14="http://schemas.microsoft.com/office/powerpoint/2010/main" val="1539443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0957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09602" y="273050"/>
            <a:ext cx="4011084" cy="1162050"/>
          </a:xfrm>
        </p:spPr>
        <p:txBody>
          <a:bodyPr/>
          <a:lstStyle>
            <a:lvl1pPr algn="l">
              <a:defRPr sz="2000" b="1"/>
            </a:lvl1pPr>
          </a:lstStyle>
          <a:p>
            <a:r>
              <a:rPr lang="nl-NL"/>
              <a:t>Klik om de stijl te bewerken</a:t>
            </a:r>
          </a:p>
        </p:txBody>
      </p:sp>
      <p:sp>
        <p:nvSpPr>
          <p:cNvPr id="3" name="Tijdelijke aanduiding voor inhoud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Tree>
    <p:extLst>
      <p:ext uri="{BB962C8B-B14F-4D97-AF65-F5344CB8AC3E}">
        <p14:creationId xmlns:p14="http://schemas.microsoft.com/office/powerpoint/2010/main" val="3683862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0"/>
            <a:ext cx="7315200" cy="566738"/>
          </a:xfrm>
        </p:spPr>
        <p:txBody>
          <a:bodyPr/>
          <a:lstStyle>
            <a:lvl1pPr algn="l">
              <a:defRPr sz="2000" b="1"/>
            </a:lvl1pPr>
          </a:lstStyle>
          <a:p>
            <a:r>
              <a:rPr lang="nl-NL"/>
              <a:t>Klik om de stijl te bewerken</a:t>
            </a:r>
          </a:p>
        </p:txBody>
      </p:sp>
      <p:sp>
        <p:nvSpPr>
          <p:cNvPr id="3" name="Tijdelijke aanduiding voor afbeelding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a:p>
        </p:txBody>
      </p:sp>
      <p:sp>
        <p:nvSpPr>
          <p:cNvPr id="4" name="Tijdelijke aanduiding voor tekst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Tree>
    <p:extLst>
      <p:ext uri="{BB962C8B-B14F-4D97-AF65-F5344CB8AC3E}">
        <p14:creationId xmlns:p14="http://schemas.microsoft.com/office/powerpoint/2010/main" val="1573325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3056446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83651" y="457200"/>
            <a:ext cx="2552700" cy="4876800"/>
          </a:xfrm>
        </p:spPr>
        <p:txBody>
          <a:bodyPr vert="eaVert"/>
          <a:lstStyle/>
          <a:p>
            <a:r>
              <a:rPr lang="nl-NL"/>
              <a:t>Klik om de stijl te bewerken</a:t>
            </a:r>
          </a:p>
        </p:txBody>
      </p:sp>
      <p:sp>
        <p:nvSpPr>
          <p:cNvPr id="3" name="Tijdelijke aanduiding voor verticale tekst 2"/>
          <p:cNvSpPr>
            <a:spLocks noGrp="1"/>
          </p:cNvSpPr>
          <p:nvPr>
            <p:ph type="body" orient="vert" idx="1"/>
          </p:nvPr>
        </p:nvSpPr>
        <p:spPr>
          <a:xfrm>
            <a:off x="1223436" y="457200"/>
            <a:ext cx="7457017" cy="4876800"/>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20710323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el en grafiek">
    <p:spTree>
      <p:nvGrpSpPr>
        <p:cNvPr id="1" name=""/>
        <p:cNvGrpSpPr/>
        <p:nvPr/>
      </p:nvGrpSpPr>
      <p:grpSpPr>
        <a:xfrm>
          <a:off x="0" y="0"/>
          <a:ext cx="0" cy="0"/>
          <a:chOff x="0" y="0"/>
          <a:chExt cx="0" cy="0"/>
        </a:xfrm>
      </p:grpSpPr>
      <p:sp>
        <p:nvSpPr>
          <p:cNvPr id="2" name="Titel 1"/>
          <p:cNvSpPr>
            <a:spLocks noGrp="1"/>
          </p:cNvSpPr>
          <p:nvPr>
            <p:ph type="title"/>
          </p:nvPr>
        </p:nvSpPr>
        <p:spPr>
          <a:xfrm>
            <a:off x="1223435" y="457200"/>
            <a:ext cx="10212917" cy="1066800"/>
          </a:xfrm>
        </p:spPr>
        <p:txBody>
          <a:bodyPr/>
          <a:lstStyle/>
          <a:p>
            <a:r>
              <a:rPr lang="nl-NL"/>
              <a:t>Klik om de stijl te bewerken</a:t>
            </a:r>
          </a:p>
        </p:txBody>
      </p:sp>
      <p:sp>
        <p:nvSpPr>
          <p:cNvPr id="3" name="Tijdelijke aanduiding voor grafiek 2"/>
          <p:cNvSpPr>
            <a:spLocks noGrp="1"/>
          </p:cNvSpPr>
          <p:nvPr>
            <p:ph type="chart" idx="1"/>
          </p:nvPr>
        </p:nvSpPr>
        <p:spPr>
          <a:xfrm>
            <a:off x="1234019" y="2286000"/>
            <a:ext cx="10198100" cy="3048000"/>
          </a:xfrm>
        </p:spPr>
        <p:txBody>
          <a:bodyPr/>
          <a:lstStyle/>
          <a:p>
            <a:pPr lvl="0"/>
            <a:endParaRPr lang="nl-NL" noProof="0"/>
          </a:p>
        </p:txBody>
      </p:sp>
    </p:spTree>
    <p:extLst>
      <p:ext uri="{BB962C8B-B14F-4D97-AF65-F5344CB8AC3E}">
        <p14:creationId xmlns:p14="http://schemas.microsoft.com/office/powerpoint/2010/main" val="41322546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223435" y="76200"/>
            <a:ext cx="10212917" cy="760413"/>
          </a:xfrm>
        </p:spPr>
        <p:txBody>
          <a:bodyPr/>
          <a:lstStyle/>
          <a:p>
            <a:r>
              <a:rPr lang="en-US"/>
              <a:t>Click to edit Master title style</a:t>
            </a:r>
            <a:endParaRPr lang="nl-NL"/>
          </a:p>
        </p:txBody>
      </p:sp>
      <p:sp>
        <p:nvSpPr>
          <p:cNvPr id="3" name="ClipArt Placeholder 2"/>
          <p:cNvSpPr>
            <a:spLocks noGrp="1"/>
          </p:cNvSpPr>
          <p:nvPr>
            <p:ph type="clipArt" sz="half" idx="1"/>
          </p:nvPr>
        </p:nvSpPr>
        <p:spPr>
          <a:xfrm>
            <a:off x="1234020" y="1196978"/>
            <a:ext cx="4997449" cy="4289425"/>
          </a:xfrm>
        </p:spPr>
        <p:txBody>
          <a:bodyPr/>
          <a:lstStyle/>
          <a:p>
            <a:pPr lvl="0"/>
            <a:endParaRPr lang="nl-NL" noProof="0"/>
          </a:p>
        </p:txBody>
      </p:sp>
      <p:sp>
        <p:nvSpPr>
          <p:cNvPr id="4" name="Text Placeholder 3"/>
          <p:cNvSpPr>
            <a:spLocks noGrp="1"/>
          </p:cNvSpPr>
          <p:nvPr>
            <p:ph type="body" sz="half" idx="2"/>
          </p:nvPr>
        </p:nvSpPr>
        <p:spPr>
          <a:xfrm>
            <a:off x="6434668" y="1196978"/>
            <a:ext cx="4997451" cy="4289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6225050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23435" y="76200"/>
            <a:ext cx="10212917" cy="760413"/>
          </a:xfrm>
        </p:spPr>
        <p:txBody>
          <a:bodyPr/>
          <a:lstStyle/>
          <a:p>
            <a:r>
              <a:rPr lang="en-US"/>
              <a:t>Click to edit Master title style</a:t>
            </a:r>
            <a:endParaRPr lang="nl-NL"/>
          </a:p>
        </p:txBody>
      </p:sp>
      <p:sp>
        <p:nvSpPr>
          <p:cNvPr id="3" name="Text Placeholder 2"/>
          <p:cNvSpPr>
            <a:spLocks noGrp="1"/>
          </p:cNvSpPr>
          <p:nvPr>
            <p:ph type="body" sz="half" idx="1"/>
          </p:nvPr>
        </p:nvSpPr>
        <p:spPr>
          <a:xfrm>
            <a:off x="1234020" y="1196978"/>
            <a:ext cx="4997449" cy="4289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half" idx="2"/>
          </p:nvPr>
        </p:nvSpPr>
        <p:spPr>
          <a:xfrm>
            <a:off x="6434668" y="1196978"/>
            <a:ext cx="4997451" cy="4289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3735151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223435" y="76200"/>
            <a:ext cx="10212917" cy="760413"/>
          </a:xfrm>
        </p:spPr>
        <p:txBody>
          <a:bodyPr/>
          <a:lstStyle/>
          <a:p>
            <a:r>
              <a:rPr lang="en-US"/>
              <a:t>Click to edit Master title style</a:t>
            </a:r>
            <a:endParaRPr lang="nl-NL"/>
          </a:p>
        </p:txBody>
      </p:sp>
      <p:sp>
        <p:nvSpPr>
          <p:cNvPr id="3" name="Content Placeholder 2"/>
          <p:cNvSpPr>
            <a:spLocks noGrp="1"/>
          </p:cNvSpPr>
          <p:nvPr>
            <p:ph sz="half" idx="1"/>
          </p:nvPr>
        </p:nvSpPr>
        <p:spPr>
          <a:xfrm>
            <a:off x="1234020" y="1196978"/>
            <a:ext cx="4997449" cy="4289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quarter" idx="2"/>
          </p:nvPr>
        </p:nvSpPr>
        <p:spPr>
          <a:xfrm>
            <a:off x="6434668" y="1196978"/>
            <a:ext cx="4997451" cy="20685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Content Placeholder 4"/>
          <p:cNvSpPr>
            <a:spLocks noGrp="1"/>
          </p:cNvSpPr>
          <p:nvPr>
            <p:ph sz="quarter" idx="3"/>
          </p:nvPr>
        </p:nvSpPr>
        <p:spPr>
          <a:xfrm>
            <a:off x="6434668" y="3417888"/>
            <a:ext cx="4997451" cy="2068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410969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537637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evox double dec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37C4F-B92E-1E2D-D640-6453A375F4B5}"/>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872EE1D6-E875-BC73-C0F1-ACBBEB438BBD}"/>
              </a:ext>
            </a:extLst>
          </p:cNvPr>
          <p:cNvSpPr>
            <a:spLocks noGrp="1"/>
          </p:cNvSpPr>
          <p:nvPr>
            <p:ph type="dt" sz="half" idx="10"/>
          </p:nvPr>
        </p:nvSpPr>
        <p:spPr/>
        <p:txBody>
          <a:bodyPr/>
          <a:lstStyle/>
          <a:p>
            <a:fld id="{1663657D-8E22-4681-BD7E-16E8F6F56673}" type="datetimeFigureOut">
              <a:rPr lang="en-FI" smtClean="0"/>
              <a:t>9/12/24</a:t>
            </a:fld>
            <a:endParaRPr lang="en-FI"/>
          </a:p>
        </p:txBody>
      </p:sp>
      <p:sp>
        <p:nvSpPr>
          <p:cNvPr id="4" name="Footer Placeholder 3">
            <a:extLst>
              <a:ext uri="{FF2B5EF4-FFF2-40B4-BE49-F238E27FC236}">
                <a16:creationId xmlns:a16="http://schemas.microsoft.com/office/drawing/2014/main" id="{E904571B-68EF-9D7B-0A35-F71996C84128}"/>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1BE06B6A-CB89-EBFF-94F3-3663DAF52C98}"/>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46DA7FF6-8C19-BA4D-02FE-C99E3C5CBD78}"/>
              </a:ext>
            </a:extLst>
          </p:cNvPr>
          <p:cNvSpPr>
            <a:spLocks noGrp="1"/>
          </p:cNvSpPr>
          <p:nvPr>
            <p:ph sz="quarter" idx="13"/>
          </p:nvPr>
        </p:nvSpPr>
        <p:spPr>
          <a:xfrm>
            <a:off x="838200" y="1838325"/>
            <a:ext cx="5156200" cy="4398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9" name="Content Placeholder 8">
            <a:extLst>
              <a:ext uri="{FF2B5EF4-FFF2-40B4-BE49-F238E27FC236}">
                <a16:creationId xmlns:a16="http://schemas.microsoft.com/office/drawing/2014/main" id="{9A01FD0F-07FA-89FA-36B2-E925D1119362}"/>
              </a:ext>
            </a:extLst>
          </p:cNvPr>
          <p:cNvSpPr>
            <a:spLocks noGrp="1"/>
          </p:cNvSpPr>
          <p:nvPr>
            <p:ph sz="quarter" idx="14"/>
          </p:nvPr>
        </p:nvSpPr>
        <p:spPr>
          <a:xfrm>
            <a:off x="6197600" y="1828800"/>
            <a:ext cx="5156200" cy="4398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2454228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9/12/24</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838200" y="1798320"/>
            <a:ext cx="105156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3244227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9" name="Rectangle 13"/>
          <p:cNvSpPr>
            <a:spLocks noChangeArrowheads="1"/>
          </p:cNvSpPr>
          <p:nvPr userDrawn="1"/>
        </p:nvSpPr>
        <p:spPr bwMode="auto">
          <a:xfrm>
            <a:off x="0" y="6132516"/>
            <a:ext cx="12192000" cy="725487"/>
          </a:xfrm>
          <a:prstGeom prst="rect">
            <a:avLst/>
          </a:prstGeom>
          <a:solidFill>
            <a:schemeClr val="bg1"/>
          </a:solidFill>
          <a:ln w="9525">
            <a:noFill/>
            <a:miter lim="800000"/>
            <a:headEnd/>
            <a:tailEnd/>
          </a:ln>
          <a:effectLst/>
        </p:spPr>
        <p:txBody>
          <a:bodyPr wrap="none" anchor="ctr"/>
          <a:lstStyle/>
          <a:p>
            <a:pPr algn="r">
              <a:defRPr/>
            </a:pPr>
            <a:endParaRPr lang="nl-NL" sz="2200">
              <a:cs typeface="+mn-cs"/>
            </a:endParaRPr>
          </a:p>
        </p:txBody>
      </p:sp>
      <p:sp>
        <p:nvSpPr>
          <p:cNvPr id="40963" name="Rectangle 10"/>
          <p:cNvSpPr>
            <a:spLocks noGrp="1" noChangeArrowheads="1"/>
          </p:cNvSpPr>
          <p:nvPr>
            <p:ph type="title"/>
          </p:nvPr>
        </p:nvSpPr>
        <p:spPr bwMode="auto">
          <a:xfrm>
            <a:off x="1223435" y="76200"/>
            <a:ext cx="10212917"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nl-NL" dirty="0"/>
              <a:t>Click </a:t>
            </a:r>
            <a:r>
              <a:rPr lang="nl-NL" dirty="0" err="1"/>
              <a:t>to</a:t>
            </a:r>
            <a:r>
              <a:rPr lang="nl-NL" dirty="0"/>
              <a:t> </a:t>
            </a:r>
            <a:r>
              <a:rPr lang="nl-NL" dirty="0" err="1"/>
              <a:t>edit</a:t>
            </a:r>
            <a:r>
              <a:rPr lang="nl-NL" dirty="0"/>
              <a:t> Master </a:t>
            </a:r>
            <a:r>
              <a:rPr lang="nl-NL" dirty="0" err="1"/>
              <a:t>title</a:t>
            </a:r>
            <a:r>
              <a:rPr lang="nl-NL" dirty="0"/>
              <a:t> </a:t>
            </a:r>
            <a:r>
              <a:rPr lang="nl-NL" dirty="0" err="1"/>
              <a:t>style</a:t>
            </a:r>
            <a:endParaRPr lang="nl-NL" dirty="0"/>
          </a:p>
        </p:txBody>
      </p:sp>
      <p:sp>
        <p:nvSpPr>
          <p:cNvPr id="40964" name="Rectangle 11"/>
          <p:cNvSpPr>
            <a:spLocks noGrp="1" noChangeArrowheads="1"/>
          </p:cNvSpPr>
          <p:nvPr>
            <p:ph type="body" idx="1"/>
          </p:nvPr>
        </p:nvSpPr>
        <p:spPr bwMode="auto">
          <a:xfrm>
            <a:off x="1234019" y="1196978"/>
            <a:ext cx="10198100"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nl-NL"/>
              <a:t>Click to edit Master text styles</a:t>
            </a:r>
          </a:p>
          <a:p>
            <a:pPr lvl="1"/>
            <a:r>
              <a:rPr lang="nl-NL"/>
              <a:t>Second level</a:t>
            </a:r>
          </a:p>
          <a:p>
            <a:pPr lvl="2"/>
            <a:r>
              <a:rPr lang="nl-NL"/>
              <a:t>Third level</a:t>
            </a:r>
          </a:p>
          <a:p>
            <a:pPr lvl="3"/>
            <a:r>
              <a:rPr lang="nl-NL"/>
              <a:t>Fourth level</a:t>
            </a:r>
          </a:p>
          <a:p>
            <a:pPr lvl="4"/>
            <a:r>
              <a:rPr lang="nl-NL"/>
              <a:t>Fifth level</a:t>
            </a:r>
          </a:p>
        </p:txBody>
      </p:sp>
      <p:sp>
        <p:nvSpPr>
          <p:cNvPr id="270353" name="Rectangle 17"/>
          <p:cNvSpPr>
            <a:spLocks noChangeArrowheads="1"/>
          </p:cNvSpPr>
          <p:nvPr/>
        </p:nvSpPr>
        <p:spPr bwMode="auto">
          <a:xfrm>
            <a:off x="10187517" y="6297613"/>
            <a:ext cx="719667" cy="252412"/>
          </a:xfrm>
          <a:prstGeom prst="rect">
            <a:avLst/>
          </a:prstGeom>
          <a:noFill/>
          <a:ln w="9525">
            <a:noFill/>
            <a:miter lim="800000"/>
            <a:headEnd/>
            <a:tailEnd/>
          </a:ln>
          <a:effectLst/>
        </p:spPr>
        <p:txBody>
          <a:bodyPr lIns="0" tIns="0" rIns="0" bIns="0"/>
          <a:lstStyle/>
          <a:p>
            <a:pPr algn="r">
              <a:defRPr/>
            </a:pPr>
            <a:fld id="{D3334FFD-CE8D-4B26-9726-2100A4501CD4}" type="slidenum">
              <a:rPr lang="nl-NL" sz="1300">
                <a:cs typeface="+mn-cs"/>
              </a:rPr>
              <a:pPr algn="r">
                <a:defRPr/>
              </a:pPr>
              <a:t>‹#›</a:t>
            </a:fld>
            <a:endParaRPr lang="nl-NL" sz="1300">
              <a:cs typeface="+mn-cs"/>
            </a:endParaRPr>
          </a:p>
        </p:txBody>
      </p:sp>
      <p:sp>
        <p:nvSpPr>
          <p:cNvPr id="270355" name="Rectangle 19"/>
          <p:cNvSpPr>
            <a:spLocks noChangeArrowheads="1"/>
          </p:cNvSpPr>
          <p:nvPr userDrawn="1"/>
        </p:nvSpPr>
        <p:spPr bwMode="auto">
          <a:xfrm>
            <a:off x="0" y="6584950"/>
            <a:ext cx="12192000" cy="273050"/>
          </a:xfrm>
          <a:prstGeom prst="rect">
            <a:avLst/>
          </a:prstGeom>
          <a:solidFill>
            <a:schemeClr val="bg2"/>
          </a:solidFill>
          <a:ln w="9525">
            <a:noFill/>
            <a:miter lim="800000"/>
            <a:headEnd/>
            <a:tailEnd/>
          </a:ln>
          <a:effectLst/>
        </p:spPr>
        <p:txBody>
          <a:bodyPr wrap="none" anchor="ctr"/>
          <a:lstStyle/>
          <a:p>
            <a:pPr algn="r">
              <a:defRPr/>
            </a:pPr>
            <a:endParaRPr lang="nl-NL" sz="2200">
              <a:cs typeface="+mn-cs"/>
            </a:endParaRPr>
          </a:p>
        </p:txBody>
      </p:sp>
      <p:sp>
        <p:nvSpPr>
          <p:cNvPr id="270356" name="Line 20"/>
          <p:cNvSpPr>
            <a:spLocks noChangeShapeType="1"/>
          </p:cNvSpPr>
          <p:nvPr userDrawn="1"/>
        </p:nvSpPr>
        <p:spPr bwMode="auto">
          <a:xfrm>
            <a:off x="0" y="6781800"/>
            <a:ext cx="12192000" cy="0"/>
          </a:xfrm>
          <a:prstGeom prst="line">
            <a:avLst/>
          </a:prstGeom>
          <a:noFill/>
          <a:ln w="9525">
            <a:solidFill>
              <a:schemeClr val="bg1"/>
            </a:solidFill>
            <a:round/>
            <a:headEnd/>
            <a:tailEnd/>
          </a:ln>
          <a:effectLst/>
        </p:spPr>
        <p:txBody>
          <a:bodyPr wrap="none" anchor="ctr"/>
          <a:lstStyle/>
          <a:p>
            <a:pPr algn="r">
              <a:defRPr/>
            </a:pPr>
            <a:endParaRPr lang="nl-NL" sz="2200">
              <a:cs typeface="+mn-cs"/>
            </a:endParaRPr>
          </a:p>
        </p:txBody>
      </p:sp>
      <p:pic>
        <p:nvPicPr>
          <p:cNvPr id="40968" name="Picture 21" descr="TU_Delft_2.png                                                 00095E43Smidswater Server              C1CD65DB:"/>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62003" y="6184900"/>
            <a:ext cx="101351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0358" name="Line 22"/>
          <p:cNvSpPr>
            <a:spLocks noChangeShapeType="1"/>
          </p:cNvSpPr>
          <p:nvPr userDrawn="1"/>
        </p:nvSpPr>
        <p:spPr bwMode="auto">
          <a:xfrm>
            <a:off x="0" y="6134100"/>
            <a:ext cx="12192000" cy="0"/>
          </a:xfrm>
          <a:prstGeom prst="line">
            <a:avLst/>
          </a:prstGeom>
          <a:noFill/>
          <a:ln w="12700">
            <a:solidFill>
              <a:schemeClr val="tx1"/>
            </a:solidFill>
            <a:round/>
            <a:headEnd/>
            <a:tailEnd/>
          </a:ln>
          <a:effectLst/>
        </p:spPr>
        <p:txBody>
          <a:bodyPr wrap="none" anchor="ctr"/>
          <a:lstStyle/>
          <a:p>
            <a:pPr algn="r">
              <a:defRPr/>
            </a:pPr>
            <a:endParaRPr lang="nl-NL" sz="2200">
              <a:cs typeface="+mn-cs"/>
            </a:endParaRPr>
          </a:p>
        </p:txBody>
      </p:sp>
      <p:sp>
        <p:nvSpPr>
          <p:cNvPr id="270359" name="Text Box 23"/>
          <p:cNvSpPr txBox="1">
            <a:spLocks noChangeArrowheads="1"/>
          </p:cNvSpPr>
          <p:nvPr userDrawn="1"/>
        </p:nvSpPr>
        <p:spPr bwMode="auto">
          <a:xfrm>
            <a:off x="3215682" y="6253123"/>
            <a:ext cx="6447367" cy="276999"/>
          </a:xfrm>
          <a:prstGeom prst="rect">
            <a:avLst/>
          </a:prstGeom>
          <a:noFill/>
          <a:ln w="9525">
            <a:noFill/>
            <a:miter lim="800000"/>
            <a:headEnd/>
            <a:tailEnd/>
          </a:ln>
          <a:effectLst/>
        </p:spPr>
        <p:txBody>
          <a:bodyPr>
            <a:spAutoFit/>
          </a:bodyPr>
          <a:lstStyle/>
          <a:p>
            <a:pPr algn="l">
              <a:spcBef>
                <a:spcPct val="50000"/>
              </a:spcBef>
              <a:defRPr/>
            </a:pPr>
            <a:r>
              <a:rPr lang="en-US" sz="1200" dirty="0">
                <a:solidFill>
                  <a:schemeClr val="bg2"/>
                </a:solidFill>
                <a:cs typeface="+mn-cs"/>
              </a:rPr>
              <a:t>AE2111-II </a:t>
            </a:r>
            <a:r>
              <a:rPr lang="en-US" sz="1200" kern="1200" dirty="0">
                <a:solidFill>
                  <a:schemeClr val="bg2"/>
                </a:solidFill>
                <a:latin typeface="Tahoma" pitchFamily="34" charset="0"/>
                <a:ea typeface="+mn-ea"/>
                <a:cs typeface="Arial" charset="0"/>
              </a:rPr>
              <a:t>Aerospace Design and </a:t>
            </a:r>
            <a:r>
              <a:rPr lang="en-US" sz="1200" dirty="0">
                <a:solidFill>
                  <a:schemeClr val="bg2"/>
                </a:solidFill>
                <a:cs typeface="+mn-cs"/>
              </a:rPr>
              <a:t>Systems Engineering</a:t>
            </a:r>
            <a:r>
              <a:rPr lang="en-US" sz="1200" kern="1200" dirty="0">
                <a:solidFill>
                  <a:schemeClr val="bg2"/>
                </a:solidFill>
                <a:latin typeface="Tahoma" pitchFamily="34" charset="0"/>
                <a:ea typeface="+mn-ea"/>
                <a:cs typeface="Arial" charset="0"/>
              </a:rPr>
              <a:t> Elements II</a:t>
            </a:r>
            <a:endParaRPr lang="en-US" sz="1200" dirty="0">
              <a:solidFill>
                <a:schemeClr val="bg2"/>
              </a:solidFill>
              <a:cs typeface="+mn-cs"/>
            </a:endParaRPr>
          </a:p>
        </p:txBody>
      </p:sp>
      <p:sp>
        <p:nvSpPr>
          <p:cNvPr id="270364" name="Rectangle 28"/>
          <p:cNvSpPr>
            <a:spLocks noChangeArrowheads="1"/>
          </p:cNvSpPr>
          <p:nvPr userDrawn="1"/>
        </p:nvSpPr>
        <p:spPr bwMode="auto">
          <a:xfrm>
            <a:off x="0" y="0"/>
            <a:ext cx="626533" cy="2057400"/>
          </a:xfrm>
          <a:prstGeom prst="rect">
            <a:avLst/>
          </a:prstGeom>
          <a:solidFill>
            <a:schemeClr val="bg2"/>
          </a:solidFill>
          <a:ln w="9525">
            <a:noFill/>
            <a:miter lim="800000"/>
            <a:headEnd/>
            <a:tailEnd/>
          </a:ln>
          <a:effectLst/>
        </p:spPr>
        <p:txBody>
          <a:bodyPr wrap="none" anchor="ctr"/>
          <a:lstStyle/>
          <a:p>
            <a:pPr algn="r">
              <a:defRPr/>
            </a:pPr>
            <a:endParaRPr lang="nl-NL" sz="2200">
              <a:cs typeface="+mn-cs"/>
            </a:endParaRPr>
          </a:p>
        </p:txBody>
      </p:sp>
    </p:spTree>
  </p:cSld>
  <p:clrMap bg1="lt1" tx1="dk1" bg2="lt2" tx2="dk2" accent1="accent1" accent2="accent2" accent3="accent3" accent4="accent4" accent5="accent5" accent6="accent6" hlink="hlink" folHlink="folHlink"/>
  <p:sldLayoutIdLst>
    <p:sldLayoutId id="2147483810" r:id="rId1"/>
    <p:sldLayoutId id="2147483811" r:id="rId2"/>
    <p:sldLayoutId id="2147483798" r:id="rId3"/>
    <p:sldLayoutId id="2147483799" r:id="rId4"/>
    <p:sldLayoutId id="2147483800" r:id="rId5"/>
    <p:sldLayoutId id="2147483801" r:id="rId6"/>
    <p:sldLayoutId id="2147483812"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3" r:id="rId16"/>
    <p:sldLayoutId id="2147483814" r:id="rId17"/>
    <p:sldLayoutId id="2147483815" r:id="rId18"/>
  </p:sldLayoutIdLst>
  <p:hf hdr="0" ftr="0" dt="0"/>
  <p:txStyles>
    <p:titleStyle>
      <a:lvl1pPr marL="0" indent="-857250" algn="l" rtl="0" eaLnBrk="0" fontAlgn="base" hangingPunct="0">
        <a:spcBef>
          <a:spcPct val="0"/>
        </a:spcBef>
        <a:spcAft>
          <a:spcPct val="0"/>
        </a:spcAft>
        <a:defRPr sz="3300" b="1">
          <a:solidFill>
            <a:srgbClr val="00B0F0"/>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p:titleStyle>
    <p:body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wmf"/></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2.png"/><Relationship Id="rId7"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4.jpeg"/><Relationship Id="rId11" Type="http://schemas.openxmlformats.org/officeDocument/2006/relationships/image" Target="../media/image29.jpeg"/><Relationship Id="rId5" Type="http://schemas.microsoft.com/office/2007/relationships/hdphoto" Target="../media/hdphoto1.wdp"/><Relationship Id="rId10" Type="http://schemas.openxmlformats.org/officeDocument/2006/relationships/image" Target="../media/image28.jpeg"/><Relationship Id="rId4" Type="http://schemas.openxmlformats.org/officeDocument/2006/relationships/image" Target="../media/image23.jpeg"/><Relationship Id="rId9" Type="http://schemas.openxmlformats.org/officeDocument/2006/relationships/image" Target="../media/image27.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hyperlink" Target="http://www.sawe.org/"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chart" Target="../charts/char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Data" Target="../diagrams/data3.xml"/><Relationship Id="rId7" Type="http://schemas.microsoft.com/office/2007/relationships/diagramDrawing" Target="../diagrams/drawing3.xml"/><Relationship Id="rId12"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diagramColors" Target="../diagrams/colors3.xml"/><Relationship Id="rId11" Type="http://schemas.openxmlformats.org/officeDocument/2006/relationships/image" Target="../media/image36.png"/><Relationship Id="rId5" Type="http://schemas.openxmlformats.org/officeDocument/2006/relationships/diagramQuickStyle" Target="../diagrams/quickStyle3.xml"/><Relationship Id="rId10" Type="http://schemas.openxmlformats.org/officeDocument/2006/relationships/oleObject" Target="../embeddings/oleObject2.bin"/><Relationship Id="rId4" Type="http://schemas.openxmlformats.org/officeDocument/2006/relationships/diagramLayout" Target="../diagrams/layout3.xml"/><Relationship Id="rId9" Type="http://schemas.openxmlformats.org/officeDocument/2006/relationships/chart" Target="../charts/char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diagramColors" Target="../diagrams/colors4.xml"/><Relationship Id="rId11" Type="http://schemas.openxmlformats.org/officeDocument/2006/relationships/image" Target="../media/image41.png"/><Relationship Id="rId5" Type="http://schemas.openxmlformats.org/officeDocument/2006/relationships/diagramQuickStyle" Target="../diagrams/quickStyle4.xml"/><Relationship Id="rId10" Type="http://schemas.openxmlformats.org/officeDocument/2006/relationships/image" Target="../media/image40.jpeg"/><Relationship Id="rId4" Type="http://schemas.openxmlformats.org/officeDocument/2006/relationships/diagramLayout" Target="../diagrams/layout4.xml"/><Relationship Id="rId9" Type="http://schemas.openxmlformats.org/officeDocument/2006/relationships/image" Target="../media/image3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44.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 Id="rId9" Type="http://schemas.openxmlformats.org/officeDocument/2006/relationships/image" Target="../media/image46.png"/></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diagramColors" Target="../diagrams/colors7.xml"/><Relationship Id="rId5" Type="http://schemas.openxmlformats.org/officeDocument/2006/relationships/diagramQuickStyle" Target="../diagrams/quickStyle7.xml"/><Relationship Id="rId10" Type="http://schemas.openxmlformats.org/officeDocument/2006/relationships/image" Target="../media/image49.jpeg"/><Relationship Id="rId4" Type="http://schemas.openxmlformats.org/officeDocument/2006/relationships/diagramLayout" Target="../diagrams/layout7.xml"/><Relationship Id="rId9" Type="http://schemas.openxmlformats.org/officeDocument/2006/relationships/image" Target="../media/image4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55.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1.xml"/><Relationship Id="rId1" Type="http://schemas.openxmlformats.org/officeDocument/2006/relationships/slideLayout" Target="../slideLayouts/slideLayout4.xml"/><Relationship Id="rId5" Type="http://schemas.openxmlformats.org/officeDocument/2006/relationships/oleObject" Target="../embeddings/oleObject4.bin"/><Relationship Id="rId4" Type="http://schemas.openxmlformats.org/officeDocument/2006/relationships/image" Target="../media/image5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7.wmf"/></Relationships>
</file>

<file path=ppt/slides/_rels/slide46.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62.emf"/></Relationships>
</file>

<file path=ppt/slides/_rels/slide51.xml.rels><?xml version="1.0" encoding="UTF-8" standalone="yes"?>
<Relationships xmlns="http://schemas.openxmlformats.org/package/2006/relationships"><Relationship Id="rId3" Type="http://schemas.openxmlformats.org/officeDocument/2006/relationships/hyperlink" Target="http://adg.stanford.edu/aa241/structures/weights.html"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55.wmf"/></Relationships>
</file>

<file path=ppt/slides/_rels/slide54.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510.png"/></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63.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63.wmf"/></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64.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tags" Target="../tags/tag3.xml"/><Relationship Id="rId5" Type="http://schemas.openxmlformats.org/officeDocument/2006/relationships/image" Target="../media/image65.emf"/><Relationship Id="rId4" Type="http://schemas.openxmlformats.org/officeDocument/2006/relationships/package" Target="../embeddings/Microsoft_Word_Document.docx"/></Relationships>
</file>

<file path=ppt/slides/_rels/slide59.x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oleObject" Target="../embeddings/oleObject12.bin"/><Relationship Id="rId18" Type="http://schemas.openxmlformats.org/officeDocument/2006/relationships/image" Target="../media/image75.png"/><Relationship Id="rId3" Type="http://schemas.openxmlformats.org/officeDocument/2006/relationships/notesSlide" Target="../notesSlides/notesSlide59.xml"/><Relationship Id="rId7" Type="http://schemas.openxmlformats.org/officeDocument/2006/relationships/oleObject" Target="../embeddings/oleObject9.bin"/><Relationship Id="rId12" Type="http://schemas.openxmlformats.org/officeDocument/2006/relationships/image" Target="../media/image70.wmf"/><Relationship Id="rId17" Type="http://schemas.openxmlformats.org/officeDocument/2006/relationships/image" Target="../media/image73.png"/><Relationship Id="rId2" Type="http://schemas.openxmlformats.org/officeDocument/2006/relationships/slideLayout" Target="../slideLayouts/slideLayout7.xml"/><Relationship Id="rId16" Type="http://schemas.openxmlformats.org/officeDocument/2006/relationships/image" Target="../media/image72.wmf"/><Relationship Id="rId1" Type="http://schemas.openxmlformats.org/officeDocument/2006/relationships/tags" Target="../tags/tag4.xml"/><Relationship Id="rId6" Type="http://schemas.openxmlformats.org/officeDocument/2006/relationships/image" Target="../media/image67.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69.wmf"/><Relationship Id="rId19" Type="http://schemas.openxmlformats.org/officeDocument/2006/relationships/image" Target="../media/image76.png"/><Relationship Id="rId4" Type="http://schemas.openxmlformats.org/officeDocument/2006/relationships/image" Target="../media/image66.png"/><Relationship Id="rId9" Type="http://schemas.openxmlformats.org/officeDocument/2006/relationships/oleObject" Target="../embeddings/oleObject10.bin"/><Relationship Id="rId14" Type="http://schemas.openxmlformats.org/officeDocument/2006/relationships/image" Target="../media/image71.wmf"/></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tags" Target="../tags/tag5.xml"/><Relationship Id="rId6" Type="http://schemas.openxmlformats.org/officeDocument/2006/relationships/image" Target="../media/image71.wmf"/><Relationship Id="rId5" Type="http://schemas.openxmlformats.org/officeDocument/2006/relationships/oleObject" Target="../embeddings/oleObject14.bin"/><Relationship Id="rId4" Type="http://schemas.openxmlformats.org/officeDocument/2006/relationships/image" Target="../media/image74.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77.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tags" Target="../tags/tag7.xml"/><Relationship Id="rId5" Type="http://schemas.openxmlformats.org/officeDocument/2006/relationships/image" Target="../media/image53.png"/><Relationship Id="rId4" Type="http://schemas.openxmlformats.org/officeDocument/2006/relationships/image" Target="../media/image78.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5.png"/><Relationship Id="rId7" Type="http://schemas.openxmlformats.org/officeDocument/2006/relationships/image" Target="../media/image54.wmf"/><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image" Target="../media/image36.png"/><Relationship Id="rId4" Type="http://schemas.openxmlformats.org/officeDocument/2006/relationships/oleObject" Target="../embeddings/oleObject15.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67.xml"/><Relationship Id="rId1" Type="http://schemas.openxmlformats.org/officeDocument/2006/relationships/slideLayout" Target="../slideLayouts/slideLayout7.xml"/><Relationship Id="rId4" Type="http://schemas.openxmlformats.org/officeDocument/2006/relationships/image" Target="../media/image80.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Text Box 7"/>
          <p:cNvSpPr txBox="1">
            <a:spLocks noChangeArrowheads="1"/>
          </p:cNvSpPr>
          <p:nvPr/>
        </p:nvSpPr>
        <p:spPr bwMode="auto">
          <a:xfrm>
            <a:off x="3431704" y="2060848"/>
            <a:ext cx="5472608" cy="1246495"/>
          </a:xfrm>
          <a:prstGeom prst="rect">
            <a:avLst/>
          </a:prstGeom>
          <a:solidFill>
            <a:schemeClr val="tx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Tahoma" pitchFamily="34" charset="0"/>
                <a:cs typeface="Arial" charset="0"/>
              </a:defRPr>
            </a:lvl1pPr>
            <a:lvl2pPr marL="742950" indent="-285750" eaLnBrk="0" hangingPunct="0">
              <a:defRPr>
                <a:solidFill>
                  <a:schemeClr val="tx1"/>
                </a:solidFill>
                <a:latin typeface="Tahoma" pitchFamily="34" charset="0"/>
                <a:cs typeface="Arial" charset="0"/>
              </a:defRPr>
            </a:lvl2pPr>
            <a:lvl3pPr marL="1143000" indent="-228600" eaLnBrk="0" hangingPunct="0">
              <a:defRPr>
                <a:solidFill>
                  <a:schemeClr val="tx1"/>
                </a:solidFill>
                <a:latin typeface="Tahoma" pitchFamily="34" charset="0"/>
                <a:cs typeface="Arial" charset="0"/>
              </a:defRPr>
            </a:lvl3pPr>
            <a:lvl4pPr marL="1600200" indent="-228600" eaLnBrk="0" hangingPunct="0">
              <a:defRPr>
                <a:solidFill>
                  <a:schemeClr val="tx1"/>
                </a:solidFill>
                <a:latin typeface="Tahoma" pitchFamily="34" charset="0"/>
                <a:cs typeface="Arial" charset="0"/>
              </a:defRPr>
            </a:lvl4pPr>
            <a:lvl5pPr marL="2057400" indent="-228600" eaLnBrk="0" hangingPunct="0">
              <a:defRPr>
                <a:solidFill>
                  <a:schemeClr val="tx1"/>
                </a:solidFill>
                <a:latin typeface="Tahoma" pitchFamily="34" charset="0"/>
                <a:cs typeface="Arial" charset="0"/>
              </a:defRPr>
            </a:lvl5pPr>
            <a:lvl6pPr marL="2514600" indent="-228600" eaLnBrk="0" fontAlgn="base" hangingPunct="0">
              <a:spcBef>
                <a:spcPct val="0"/>
              </a:spcBef>
              <a:spcAft>
                <a:spcPct val="0"/>
              </a:spcAft>
              <a:defRPr>
                <a:solidFill>
                  <a:schemeClr val="tx1"/>
                </a:solidFill>
                <a:latin typeface="Tahoma" pitchFamily="34" charset="0"/>
                <a:cs typeface="Arial" charset="0"/>
              </a:defRPr>
            </a:lvl6pPr>
            <a:lvl7pPr marL="2971800" indent="-228600" eaLnBrk="0" fontAlgn="base" hangingPunct="0">
              <a:spcBef>
                <a:spcPct val="0"/>
              </a:spcBef>
              <a:spcAft>
                <a:spcPct val="0"/>
              </a:spcAft>
              <a:defRPr>
                <a:solidFill>
                  <a:schemeClr val="tx1"/>
                </a:solidFill>
                <a:latin typeface="Tahoma" pitchFamily="34" charset="0"/>
                <a:cs typeface="Arial" charset="0"/>
              </a:defRPr>
            </a:lvl7pPr>
            <a:lvl8pPr marL="3429000" indent="-228600" eaLnBrk="0" fontAlgn="base" hangingPunct="0">
              <a:spcBef>
                <a:spcPct val="0"/>
              </a:spcBef>
              <a:spcAft>
                <a:spcPct val="0"/>
              </a:spcAft>
              <a:defRPr>
                <a:solidFill>
                  <a:schemeClr val="tx1"/>
                </a:solidFill>
                <a:latin typeface="Tahoma" pitchFamily="34" charset="0"/>
                <a:cs typeface="Arial" charset="0"/>
              </a:defRPr>
            </a:lvl8pPr>
            <a:lvl9pPr marL="3886200" indent="-228600" eaLnBrk="0" fontAlgn="base" hangingPunct="0">
              <a:spcBef>
                <a:spcPct val="0"/>
              </a:spcBef>
              <a:spcAft>
                <a:spcPct val="0"/>
              </a:spcAft>
              <a:defRPr>
                <a:solidFill>
                  <a:schemeClr val="tx1"/>
                </a:solidFill>
                <a:latin typeface="Tahoma" pitchFamily="34" charset="0"/>
                <a:cs typeface="Arial" charset="0"/>
              </a:defRPr>
            </a:lvl9pPr>
          </a:lstStyle>
          <a:p>
            <a:pPr eaLnBrk="1" fontAlgn="ctr" hangingPunct="1"/>
            <a:endParaRPr lang="nl-NL" sz="1100" i="1" dirty="0">
              <a:solidFill>
                <a:schemeClr val="bg1"/>
              </a:solidFill>
              <a:latin typeface="+mj-lt"/>
            </a:endParaRPr>
          </a:p>
          <a:p>
            <a:pPr eaLnBrk="1" fontAlgn="ctr" hangingPunct="1"/>
            <a:r>
              <a:rPr lang="en-US" sz="3200" i="1" dirty="0">
                <a:solidFill>
                  <a:schemeClr val="bg1"/>
                </a:solidFill>
                <a:latin typeface="+mn-lt"/>
              </a:rPr>
              <a:t>Weight estimation and iterations in a/c design </a:t>
            </a:r>
          </a:p>
        </p:txBody>
      </p:sp>
      <p:sp>
        <p:nvSpPr>
          <p:cNvPr id="3" name="Rectangle 2"/>
          <p:cNvSpPr>
            <a:spLocks noGrp="1" noChangeArrowheads="1"/>
          </p:cNvSpPr>
          <p:nvPr>
            <p:ph type="ctrTitle" idx="4294967295"/>
          </p:nvPr>
        </p:nvSpPr>
        <p:spPr>
          <a:xfrm>
            <a:off x="839417" y="116633"/>
            <a:ext cx="8825658" cy="1368425"/>
          </a:xfrm>
        </p:spPr>
        <p:txBody>
          <a:bodyPr/>
          <a:lstStyle/>
          <a:p>
            <a:pPr indent="0"/>
            <a:r>
              <a:rPr lang="en-US" sz="2800" dirty="0">
                <a:solidFill>
                  <a:schemeClr val="bg2"/>
                </a:solidFill>
              </a:rPr>
              <a:t>Aerospace Design and</a:t>
            </a:r>
            <a:br>
              <a:rPr lang="en-US" sz="2800" dirty="0">
                <a:solidFill>
                  <a:schemeClr val="bg2"/>
                </a:solidFill>
              </a:rPr>
            </a:br>
            <a:r>
              <a:rPr lang="en-US" sz="2800" dirty="0">
                <a:solidFill>
                  <a:schemeClr val="bg2"/>
                </a:solidFill>
              </a:rPr>
              <a:t>Systems Engineering Elements II  </a:t>
            </a:r>
            <a:r>
              <a:rPr lang="en-US" sz="2400" dirty="0">
                <a:solidFill>
                  <a:schemeClr val="bg2"/>
                </a:solidFill>
              </a:rPr>
              <a:t>AE2111-II aircraft part</a:t>
            </a:r>
          </a:p>
        </p:txBody>
      </p:sp>
      <p:sp>
        <p:nvSpPr>
          <p:cNvPr id="2" name="Rectangle 1"/>
          <p:cNvSpPr/>
          <p:nvPr/>
        </p:nvSpPr>
        <p:spPr>
          <a:xfrm>
            <a:off x="0" y="3068960"/>
            <a:ext cx="5484784" cy="984885"/>
          </a:xfrm>
          <a:prstGeom prst="rect">
            <a:avLst/>
          </a:prstGeom>
        </p:spPr>
        <p:txBody>
          <a:bodyPr wrap="square">
            <a:spAutoFit/>
          </a:bodyPr>
          <a:lstStyle/>
          <a:p>
            <a:r>
              <a:rPr lang="en-US" sz="2000" b="1" dirty="0">
                <a:solidFill>
                  <a:schemeClr val="bg1"/>
                </a:solidFill>
              </a:rPr>
              <a:t>Dr. F. Oliviero</a:t>
            </a:r>
          </a:p>
          <a:p>
            <a:r>
              <a:rPr lang="en-US" sz="2000" dirty="0">
                <a:solidFill>
                  <a:schemeClr val="bg1"/>
                </a:solidFill>
              </a:rPr>
              <a:t>		</a:t>
            </a:r>
          </a:p>
          <a:p>
            <a:r>
              <a:rPr lang="en-US" dirty="0">
                <a:solidFill>
                  <a:schemeClr val="bg1"/>
                </a:solidFill>
              </a:rPr>
              <a:t>Flight Performance &amp; Propulsion Group (FPP)</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689122" y="170621"/>
            <a:ext cx="836548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Contents of the lecture</a:t>
            </a:r>
          </a:p>
        </p:txBody>
      </p:sp>
      <p:sp>
        <p:nvSpPr>
          <p:cNvPr id="4099" name="Rectangle 2"/>
          <p:cNvSpPr>
            <a:spLocks noChangeArrowheads="1"/>
          </p:cNvSpPr>
          <p:nvPr/>
        </p:nvSpPr>
        <p:spPr bwMode="auto">
          <a:xfrm>
            <a:off x="6960098" y="1268413"/>
            <a:ext cx="3457079"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just" eaLnBrk="1" fontAlgn="ctr" hangingPunct="1">
              <a:lnSpc>
                <a:spcPct val="100000"/>
              </a:lnSpc>
              <a:buClrTx/>
              <a:buFontTx/>
              <a:buNone/>
            </a:pPr>
            <a:r>
              <a:rPr lang="en-US" altLang="en-US" sz="1800" dirty="0"/>
              <a:t>One of the most important aspect to deal with during ALL the design stage:</a:t>
            </a:r>
          </a:p>
          <a:p>
            <a:pPr algn="just" eaLnBrk="1" fontAlgn="ctr" hangingPunct="1">
              <a:lnSpc>
                <a:spcPct val="100000"/>
              </a:lnSpc>
              <a:buClrTx/>
              <a:buFontTx/>
              <a:buNone/>
            </a:pPr>
            <a:endParaRPr lang="en-US" altLang="en-US" sz="1800" dirty="0"/>
          </a:p>
          <a:p>
            <a:pPr algn="just" eaLnBrk="1" fontAlgn="ctr" hangingPunct="1">
              <a:lnSpc>
                <a:spcPct val="100000"/>
              </a:lnSpc>
              <a:buClrTx/>
              <a:buFontTx/>
              <a:buNone/>
            </a:pPr>
            <a:r>
              <a:rPr lang="en-US" altLang="en-US" sz="1800" dirty="0"/>
              <a:t>How to calculate the MTOW? How to calculate the OEW?</a:t>
            </a:r>
          </a:p>
        </p:txBody>
      </p:sp>
      <p:pic>
        <p:nvPicPr>
          <p:cNvPr id="4100" name="Picture 13" descr="D:\TUDelft\Lecturership\AE2111-II\Useful Pics\N2 Chart AC desig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6" y="1970091"/>
            <a:ext cx="6048375" cy="414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1" name="Rectangle 14"/>
          <p:cNvSpPr>
            <a:spLocks noChangeArrowheads="1"/>
          </p:cNvSpPr>
          <p:nvPr/>
        </p:nvSpPr>
        <p:spPr bwMode="auto">
          <a:xfrm>
            <a:off x="4871864" y="4571788"/>
            <a:ext cx="1368152" cy="585407"/>
          </a:xfrm>
          <a:prstGeom prst="rect">
            <a:avLst/>
          </a:prstGeom>
          <a:solidFill>
            <a:srgbClr val="FF0000">
              <a:alpha val="41960"/>
            </a:srgbClr>
          </a:solidFill>
          <a:ln w="9525" algn="ctr">
            <a:solidFill>
              <a:schemeClr val="tx1"/>
            </a:solidFill>
            <a:round/>
            <a:headEnd/>
            <a:tailEnd/>
          </a:ln>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en-GB" altLang="en-US" sz="2200"/>
          </a:p>
        </p:txBody>
      </p:sp>
      <p:sp>
        <p:nvSpPr>
          <p:cNvPr id="4102" name="Left Brace 16"/>
          <p:cNvSpPr>
            <a:spLocks/>
          </p:cNvSpPr>
          <p:nvPr/>
        </p:nvSpPr>
        <p:spPr bwMode="auto">
          <a:xfrm>
            <a:off x="6599734" y="1196978"/>
            <a:ext cx="360362" cy="2447925"/>
          </a:xfrm>
          <a:prstGeom prst="leftBrace">
            <a:avLst>
              <a:gd name="adj1" fmla="val 48494"/>
              <a:gd name="adj2" fmla="val 48671"/>
            </a:avLst>
          </a:prstGeom>
          <a:noFill/>
          <a:ln w="158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en-GB" altLang="en-US" sz="2200"/>
          </a:p>
        </p:txBody>
      </p:sp>
      <p:cxnSp>
        <p:nvCxnSpPr>
          <p:cNvPr id="4103" name="Elbow Connector 17"/>
          <p:cNvCxnSpPr>
            <a:cxnSpLocks noChangeShapeType="1"/>
            <a:stCxn id="4101" idx="3"/>
            <a:endCxn id="4102" idx="1"/>
          </p:cNvCxnSpPr>
          <p:nvPr/>
        </p:nvCxnSpPr>
        <p:spPr bwMode="auto">
          <a:xfrm flipV="1">
            <a:off x="6240016" y="2388405"/>
            <a:ext cx="359718" cy="2476084"/>
          </a:xfrm>
          <a:prstGeom prst="bentConnector3">
            <a:avLst>
              <a:gd name="adj1" fmla="val 50000"/>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363273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409" y="76200"/>
            <a:ext cx="10668944" cy="760413"/>
          </a:xfrm>
        </p:spPr>
        <p:txBody>
          <a:bodyPr/>
          <a:lstStyle/>
          <a:p>
            <a:r>
              <a:rPr lang="en-US" b="0" dirty="0"/>
              <a:t>In this lecture you will …</a:t>
            </a:r>
          </a:p>
        </p:txBody>
      </p:sp>
      <p:sp>
        <p:nvSpPr>
          <p:cNvPr id="3" name="TextBox 2"/>
          <p:cNvSpPr txBox="1"/>
          <p:nvPr/>
        </p:nvSpPr>
        <p:spPr>
          <a:xfrm>
            <a:off x="983432" y="1412776"/>
            <a:ext cx="10585176" cy="3046988"/>
          </a:xfrm>
          <a:prstGeom prst="rect">
            <a:avLst/>
          </a:prstGeom>
          <a:noFill/>
        </p:spPr>
        <p:txBody>
          <a:bodyPr wrap="square" rtlCol="0">
            <a:spAutoFit/>
          </a:bodyPr>
          <a:lstStyle/>
          <a:p>
            <a:pPr marL="457200" indent="-457200">
              <a:buFont typeface="+mj-lt"/>
              <a:buAutoNum type="arabicPeriod"/>
            </a:pPr>
            <a:r>
              <a:rPr lang="en-US" sz="1600" dirty="0"/>
              <a:t>understand the need and the available methods for </a:t>
            </a:r>
            <a:r>
              <a:rPr lang="en-US" sz="1600" b="1" dirty="0"/>
              <a:t>weight prediction and control</a:t>
            </a:r>
            <a:r>
              <a:rPr lang="en-US" sz="1600" dirty="0"/>
              <a:t> in the aircraft design process </a:t>
            </a:r>
          </a:p>
          <a:p>
            <a:pPr marL="457200" indent="-457200">
              <a:buFont typeface="+mj-lt"/>
              <a:buAutoNum type="arabicPeriod"/>
            </a:pPr>
            <a:endParaRPr lang="en-US" sz="1600" dirty="0"/>
          </a:p>
          <a:p>
            <a:pPr marL="457200" indent="-457200">
              <a:buFont typeface="+mj-lt"/>
              <a:buAutoNum type="arabicPeriod"/>
            </a:pPr>
            <a:endParaRPr lang="en-US" sz="1600" dirty="0"/>
          </a:p>
          <a:p>
            <a:pPr marL="457200" indent="-457200">
              <a:buFont typeface="+mj-lt"/>
              <a:buAutoNum type="arabicPeriod"/>
            </a:pPr>
            <a:r>
              <a:rPr lang="en-US" sz="1600" dirty="0"/>
              <a:t>learn to use so-called </a:t>
            </a:r>
            <a:r>
              <a:rPr lang="en-US" sz="1600" b="1" dirty="0"/>
              <a:t>Class II component weight estimation methods</a:t>
            </a:r>
            <a:r>
              <a:rPr lang="en-US" sz="1600" dirty="0"/>
              <a:t>, to predict the a/c operative empty weight</a:t>
            </a:r>
          </a:p>
          <a:p>
            <a:pPr marL="457200" indent="-457200">
              <a:buFont typeface="+mj-lt"/>
              <a:buAutoNum type="arabicPeriod"/>
            </a:pPr>
            <a:endParaRPr lang="en-US" sz="1600" dirty="0"/>
          </a:p>
          <a:p>
            <a:pPr marL="457200" indent="-457200">
              <a:buFont typeface="+mj-lt"/>
              <a:buAutoNum type="arabicPeriod"/>
            </a:pPr>
            <a:endParaRPr lang="en-US" sz="1600" dirty="0"/>
          </a:p>
          <a:p>
            <a:pPr marL="457200" indent="-457200">
              <a:buFont typeface="+mj-lt"/>
              <a:buAutoNum type="arabicPeriod"/>
            </a:pPr>
            <a:r>
              <a:rPr lang="en-US" sz="1600" dirty="0"/>
              <a:t>learn when and how to handle </a:t>
            </a:r>
            <a:r>
              <a:rPr lang="en-US" sz="1600" b="1" dirty="0"/>
              <a:t>design iterations due to predicted weight changes</a:t>
            </a:r>
            <a:r>
              <a:rPr lang="en-US" sz="1600" dirty="0"/>
              <a:t> during the aircraft design process </a:t>
            </a:r>
          </a:p>
          <a:p>
            <a:pPr marL="457200" indent="-457200">
              <a:buFont typeface="+mj-lt"/>
              <a:buAutoNum type="arabicPeriod"/>
            </a:pPr>
            <a:endParaRPr lang="en-US" sz="1600" dirty="0"/>
          </a:p>
          <a:p>
            <a:pPr marL="457200" indent="-457200">
              <a:buFont typeface="+mj-lt"/>
              <a:buAutoNum type="arabicPeriod"/>
            </a:pPr>
            <a:endParaRPr lang="en-US" sz="1600" dirty="0"/>
          </a:p>
        </p:txBody>
      </p:sp>
    </p:spTree>
    <p:extLst>
      <p:ext uri="{BB962C8B-B14F-4D97-AF65-F5344CB8AC3E}">
        <p14:creationId xmlns:p14="http://schemas.microsoft.com/office/powerpoint/2010/main" val="112275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0" y="1"/>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nl-NL" sz="2200"/>
          </a:p>
        </p:txBody>
      </p:sp>
      <p:sp>
        <p:nvSpPr>
          <p:cNvPr id="6" name="Rectangle 4"/>
          <p:cNvSpPr>
            <a:spLocks noChangeArrowheads="1"/>
          </p:cNvSpPr>
          <p:nvPr/>
        </p:nvSpPr>
        <p:spPr bwMode="auto">
          <a:xfrm>
            <a:off x="191344" y="581800"/>
            <a:ext cx="82089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b="1" dirty="0">
                <a:solidFill>
                  <a:schemeClr val="bg1"/>
                </a:solidFill>
                <a:latin typeface="Bookman Old Style" pitchFamily="18" charset="0"/>
              </a:rPr>
              <a:t>1: Importance of weight estimation</a:t>
            </a:r>
          </a:p>
        </p:txBody>
      </p:sp>
    </p:spTree>
    <p:extLst>
      <p:ext uri="{BB962C8B-B14F-4D97-AF65-F5344CB8AC3E}">
        <p14:creationId xmlns:p14="http://schemas.microsoft.com/office/powerpoint/2010/main" val="3720505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767408" y="184153"/>
            <a:ext cx="8971905" cy="741363"/>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sz="3200" b="0" dirty="0">
                <a:solidFill>
                  <a:srgbClr val="00A4DE"/>
                </a:solidFill>
              </a:rPr>
              <a:t>Weight and certification</a:t>
            </a:r>
          </a:p>
        </p:txBody>
      </p:sp>
      <p:sp>
        <p:nvSpPr>
          <p:cNvPr id="16387" name="Rectangle 3"/>
          <p:cNvSpPr>
            <a:spLocks noGrp="1" noChangeArrowheads="1"/>
          </p:cNvSpPr>
          <p:nvPr>
            <p:ph type="body" idx="1"/>
          </p:nvPr>
        </p:nvSpPr>
        <p:spPr bwMode="auto">
          <a:xfrm>
            <a:off x="865012" y="969460"/>
            <a:ext cx="11305256" cy="2365160"/>
          </a:xfrm>
          <a:noFill/>
          <a:ln>
            <a:miter lim="800000"/>
            <a:headEnd/>
            <a:tailEnd/>
          </a:ln>
        </p:spPr>
        <p:txBody>
          <a:bodyPr vert="horz" wrap="square" lIns="91440" tIns="45720" rIns="91440" bIns="45720" numCol="1" anchor="t" anchorCtr="0" compatLnSpc="1">
            <a:prstTxWarp prst="textNoShape">
              <a:avLst/>
            </a:prstTxWarp>
          </a:bodyPr>
          <a:lstStyle/>
          <a:p>
            <a:pPr marL="0" indent="0" algn="just" eaLnBrk="1" hangingPunct="1">
              <a:lnSpc>
                <a:spcPct val="90000"/>
              </a:lnSpc>
              <a:buClr>
                <a:schemeClr val="tx1"/>
              </a:buClr>
              <a:buNone/>
            </a:pPr>
            <a:r>
              <a:rPr lang="en-US" sz="1600" dirty="0">
                <a:latin typeface="Tahoma" pitchFamily="34" charset="0"/>
              </a:rPr>
              <a:t>Can you recall any explicit requirement on the aircraft weight?</a:t>
            </a:r>
          </a:p>
          <a:p>
            <a:pPr marL="0" indent="0" algn="just" eaLnBrk="1" hangingPunct="1">
              <a:lnSpc>
                <a:spcPct val="90000"/>
              </a:lnSpc>
              <a:buClr>
                <a:schemeClr val="tx1"/>
              </a:buClr>
              <a:buNone/>
            </a:pPr>
            <a:endParaRPr lang="en-US" sz="1600" dirty="0">
              <a:latin typeface="Tahoma" pitchFamily="34" charset="0"/>
            </a:endParaRPr>
          </a:p>
          <a:p>
            <a:pPr marL="0" indent="0" algn="just" eaLnBrk="1" hangingPunct="1">
              <a:lnSpc>
                <a:spcPct val="90000"/>
              </a:lnSpc>
              <a:buClr>
                <a:schemeClr val="tx1"/>
              </a:buClr>
              <a:buNone/>
            </a:pPr>
            <a:r>
              <a:rPr lang="en-US" sz="1600" dirty="0">
                <a:latin typeface="Tahoma" pitchFamily="34" charset="0"/>
              </a:rPr>
              <a:t>CS23.1: </a:t>
            </a:r>
            <a:r>
              <a:rPr lang="en-US" sz="1600" i="1" dirty="0">
                <a:latin typeface="Tahoma" pitchFamily="34" charset="0"/>
              </a:rPr>
              <a:t>’’This airworthiness is applicable to – </a:t>
            </a:r>
            <a:r>
              <a:rPr lang="en-US" sz="1600" i="1" dirty="0" err="1">
                <a:latin typeface="Tahoma" pitchFamily="34" charset="0"/>
              </a:rPr>
              <a:t>aeroplanes</a:t>
            </a:r>
            <a:r>
              <a:rPr lang="en-US" sz="1600" i="1" dirty="0">
                <a:latin typeface="Tahoma" pitchFamily="34" charset="0"/>
              </a:rPr>
              <a:t> that have a maximum certified take-off weight of 8618 kg’’.</a:t>
            </a:r>
          </a:p>
          <a:p>
            <a:pPr marL="0" indent="0" algn="just" eaLnBrk="1" hangingPunct="1">
              <a:lnSpc>
                <a:spcPct val="90000"/>
              </a:lnSpc>
              <a:buClr>
                <a:schemeClr val="tx1"/>
              </a:buClr>
              <a:buNone/>
            </a:pPr>
            <a:r>
              <a:rPr lang="en-US" sz="1600" dirty="0">
                <a:latin typeface="Tahoma" pitchFamily="34" charset="0"/>
              </a:rPr>
              <a:t>(else it is a CS25 aircraft)</a:t>
            </a:r>
          </a:p>
          <a:p>
            <a:pPr marL="0" indent="0" algn="just" eaLnBrk="1" hangingPunct="1">
              <a:lnSpc>
                <a:spcPct val="90000"/>
              </a:lnSpc>
              <a:buClr>
                <a:schemeClr val="tx1"/>
              </a:buClr>
              <a:buNone/>
            </a:pPr>
            <a:endParaRPr lang="en-US" sz="1600" dirty="0">
              <a:latin typeface="Tahoma" pitchFamily="34" charset="0"/>
            </a:endParaRPr>
          </a:p>
          <a:p>
            <a:pPr marL="0" indent="0" algn="just" eaLnBrk="1" hangingPunct="1">
              <a:lnSpc>
                <a:spcPct val="90000"/>
              </a:lnSpc>
              <a:buClr>
                <a:schemeClr val="tx1"/>
              </a:buClr>
              <a:buNone/>
            </a:pPr>
            <a:r>
              <a:rPr lang="en-US" sz="1600" dirty="0">
                <a:latin typeface="Tahoma" pitchFamily="34" charset="0"/>
              </a:rPr>
              <a:t>Aircraft weight can be a main design driver it itself is </a:t>
            </a:r>
            <a:r>
              <a:rPr lang="en-US" sz="1600" dirty="0">
                <a:solidFill>
                  <a:srgbClr val="FF3300"/>
                </a:solidFill>
                <a:latin typeface="Tahoma" pitchFamily="34" charset="0"/>
              </a:rPr>
              <a:t>NOT a (direct) goal</a:t>
            </a:r>
            <a:r>
              <a:rPr lang="en-US" sz="1600" dirty="0">
                <a:latin typeface="Tahoma" pitchFamily="34" charset="0"/>
              </a:rPr>
              <a:t> of the certification process. </a:t>
            </a:r>
            <a:r>
              <a:rPr lang="en-US" sz="1600" dirty="0"/>
              <a:t>Eventually, a certified (=safe) aircraft is not necessarily a </a:t>
            </a:r>
            <a:r>
              <a:rPr lang="en-US" sz="1600" dirty="0">
                <a:solidFill>
                  <a:srgbClr val="FF3300"/>
                </a:solidFill>
              </a:rPr>
              <a:t>commercially attractive</a:t>
            </a:r>
            <a:r>
              <a:rPr lang="en-US" sz="1600" dirty="0"/>
              <a:t> aircraft. </a:t>
            </a:r>
          </a:p>
          <a:p>
            <a:pPr marL="0" indent="0" algn="just" eaLnBrk="1" hangingPunct="1">
              <a:lnSpc>
                <a:spcPct val="90000"/>
              </a:lnSpc>
              <a:buClr>
                <a:schemeClr val="tx1"/>
              </a:buClr>
              <a:buNone/>
            </a:pPr>
            <a:endParaRPr lang="en-US" sz="1600" dirty="0"/>
          </a:p>
          <a:p>
            <a:pPr marL="0" indent="0" algn="just" eaLnBrk="1" hangingPunct="1">
              <a:lnSpc>
                <a:spcPct val="90000"/>
              </a:lnSpc>
              <a:buClr>
                <a:schemeClr val="tx1"/>
              </a:buClr>
              <a:buNone/>
            </a:pPr>
            <a:endParaRPr lang="en-US" sz="1600" dirty="0"/>
          </a:p>
          <a:p>
            <a:pPr marL="0" indent="0" algn="just" eaLnBrk="1" hangingPunct="1">
              <a:lnSpc>
                <a:spcPct val="90000"/>
              </a:lnSpc>
              <a:buClr>
                <a:schemeClr val="tx1"/>
              </a:buClr>
              <a:buNone/>
            </a:pPr>
            <a:r>
              <a:rPr lang="en-US" sz="1600" dirty="0"/>
              <a:t>BUT, the importance of the weight lies in the equilibrium equations:</a:t>
            </a:r>
          </a:p>
          <a:p>
            <a:pPr marL="0" indent="0" algn="just" eaLnBrk="1" hangingPunct="1">
              <a:lnSpc>
                <a:spcPct val="90000"/>
              </a:lnSpc>
              <a:buClr>
                <a:schemeClr val="tx1"/>
              </a:buClr>
              <a:buNone/>
            </a:pPr>
            <a:endParaRPr lang="en-US" sz="1600" dirty="0"/>
          </a:p>
          <a:p>
            <a:pPr marL="0" indent="0" algn="just" eaLnBrk="1" hangingPunct="1">
              <a:lnSpc>
                <a:spcPct val="90000"/>
              </a:lnSpc>
              <a:buClr>
                <a:schemeClr val="tx1"/>
              </a:buClr>
              <a:buNone/>
            </a:pPr>
            <a:endParaRPr lang="en-US" sz="1600" dirty="0"/>
          </a:p>
          <a:p>
            <a:pPr marL="0" indent="0" algn="just" eaLnBrk="1" hangingPunct="1">
              <a:lnSpc>
                <a:spcPct val="90000"/>
              </a:lnSpc>
              <a:buClr>
                <a:schemeClr val="tx1"/>
              </a:buClr>
              <a:buNone/>
            </a:pPr>
            <a:endParaRPr lang="en-US" sz="1600" dirty="0"/>
          </a:p>
          <a:p>
            <a:pPr marL="0" indent="0" algn="just" eaLnBrk="1" hangingPunct="1">
              <a:lnSpc>
                <a:spcPct val="90000"/>
              </a:lnSpc>
              <a:buClr>
                <a:schemeClr val="tx1"/>
              </a:buClr>
              <a:buNone/>
            </a:pPr>
            <a:endParaRPr lang="en-US" sz="1600" dirty="0"/>
          </a:p>
          <a:p>
            <a:pPr marL="0" indent="0" algn="just" eaLnBrk="1" hangingPunct="1">
              <a:lnSpc>
                <a:spcPct val="90000"/>
              </a:lnSpc>
              <a:buClr>
                <a:schemeClr val="tx1"/>
              </a:buClr>
              <a:buNone/>
            </a:pPr>
            <a:endParaRPr lang="en-US" sz="1600" dirty="0">
              <a:latin typeface="Tahoma" pitchFamily="34" charset="0"/>
            </a:endParaRPr>
          </a:p>
          <a:p>
            <a:pPr marL="0" indent="0" algn="just" eaLnBrk="1" hangingPunct="1">
              <a:lnSpc>
                <a:spcPct val="90000"/>
              </a:lnSpc>
              <a:buClr>
                <a:schemeClr val="tx1"/>
              </a:buClr>
              <a:buNone/>
            </a:pPr>
            <a:endParaRPr lang="en-US" sz="1600" dirty="0">
              <a:latin typeface="Tahoma" pitchFamily="34" charset="0"/>
            </a:endParaRPr>
          </a:p>
          <a:p>
            <a:pPr marL="0" indent="0" algn="just" eaLnBrk="1" hangingPunct="1">
              <a:lnSpc>
                <a:spcPct val="90000"/>
              </a:lnSpc>
              <a:buClr>
                <a:schemeClr val="tx1"/>
              </a:buClr>
              <a:buNone/>
            </a:pPr>
            <a:endParaRPr lang="en-US" sz="1600" dirty="0">
              <a:latin typeface="Tahoma" pitchFamily="34" charset="0"/>
            </a:endParaRPr>
          </a:p>
          <a:p>
            <a:pPr marL="0" indent="0" algn="just" eaLnBrk="1" hangingPunct="1">
              <a:lnSpc>
                <a:spcPct val="90000"/>
              </a:lnSpc>
              <a:buClr>
                <a:schemeClr val="tx1"/>
              </a:buClr>
              <a:buNone/>
            </a:pPr>
            <a:endParaRPr lang="en-US" sz="1600" dirty="0">
              <a:latin typeface="Tahoma" pitchFamily="34" charset="0"/>
            </a:endParaRPr>
          </a:p>
          <a:p>
            <a:pPr marL="0" indent="0" algn="just" eaLnBrk="1" hangingPunct="1">
              <a:lnSpc>
                <a:spcPct val="90000"/>
              </a:lnSpc>
              <a:buClr>
                <a:schemeClr val="tx1"/>
              </a:buClr>
              <a:buNone/>
            </a:pPr>
            <a:endParaRPr lang="en-US" sz="1600" dirty="0">
              <a:latin typeface="Tahoma" pitchFamily="34" charset="0"/>
            </a:endParaRPr>
          </a:p>
          <a:p>
            <a:pPr marL="0" indent="0" algn="just" eaLnBrk="1" hangingPunct="1">
              <a:lnSpc>
                <a:spcPct val="90000"/>
              </a:lnSpc>
              <a:buClr>
                <a:schemeClr val="tx1"/>
              </a:buClr>
              <a:buNone/>
            </a:pPr>
            <a:endParaRPr lang="en-US" sz="1600" dirty="0">
              <a:latin typeface="Tahoma" pitchFamily="34" charset="0"/>
            </a:endParaRPr>
          </a:p>
          <a:p>
            <a:pPr marL="0" indent="0" algn="just" eaLnBrk="1" hangingPunct="1">
              <a:lnSpc>
                <a:spcPct val="90000"/>
              </a:lnSpc>
              <a:buClr>
                <a:schemeClr val="tx1"/>
              </a:buClr>
              <a:buNone/>
            </a:pPr>
            <a:endParaRPr lang="en-US" sz="1600" dirty="0">
              <a:latin typeface="Tahoma" pitchFamily="34" charset="0"/>
            </a:endParaRPr>
          </a:p>
          <a:p>
            <a:pPr marL="0" indent="0" algn="just" eaLnBrk="1" hangingPunct="1">
              <a:lnSpc>
                <a:spcPct val="90000"/>
              </a:lnSpc>
              <a:buClr>
                <a:schemeClr val="tx1"/>
              </a:buClr>
              <a:buNone/>
            </a:pPr>
            <a:r>
              <a:rPr lang="en-US" sz="1600" dirty="0">
                <a:latin typeface="Tahoma" pitchFamily="34" charset="0"/>
              </a:rPr>
              <a:t>In addition, weight does play an important role in the certification process*. </a:t>
            </a:r>
          </a:p>
          <a:p>
            <a:pPr marL="0" indent="0" algn="just" eaLnBrk="1" hangingPunct="1">
              <a:lnSpc>
                <a:spcPct val="90000"/>
              </a:lnSpc>
              <a:buClr>
                <a:schemeClr val="tx1"/>
              </a:buClr>
              <a:buNone/>
            </a:pPr>
            <a:endParaRPr lang="en-US" sz="600" dirty="0">
              <a:latin typeface="Tahoma" pitchFamily="34" charset="0"/>
            </a:endParaRPr>
          </a:p>
        </p:txBody>
      </p:sp>
      <p:sp>
        <p:nvSpPr>
          <p:cNvPr id="6" name="Rectangle 5"/>
          <p:cNvSpPr/>
          <p:nvPr/>
        </p:nvSpPr>
        <p:spPr>
          <a:xfrm>
            <a:off x="5447928" y="4005064"/>
            <a:ext cx="6120586" cy="584775"/>
          </a:xfrm>
          <a:prstGeom prst="rect">
            <a:avLst/>
          </a:prstGeom>
        </p:spPr>
        <p:txBody>
          <a:bodyPr wrap="none">
            <a:spAutoFit/>
          </a:bodyPr>
          <a:lstStyle/>
          <a:p>
            <a:endParaRPr lang="en-US" sz="1600" b="1" dirty="0"/>
          </a:p>
          <a:p>
            <a:r>
              <a:rPr lang="en-US" sz="1600" b="1" dirty="0"/>
              <a:t>The market makes the weight a driving design parameter</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8FAAA7E-AAD6-E3EA-E69F-024309204991}"/>
                  </a:ext>
                </a:extLst>
              </p:cNvPr>
              <p:cNvSpPr txBox="1"/>
              <p:nvPr/>
            </p:nvSpPr>
            <p:spPr>
              <a:xfrm>
                <a:off x="479376" y="3523381"/>
                <a:ext cx="2854726" cy="1757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rPr>
                              </m:ctrlPr>
                            </m:mPr>
                            <m:mr>
                              <m:e>
                                <m:r>
                                  <m:rPr>
                                    <m:brk m:alnAt="7"/>
                                  </m:rPr>
                                  <a:rPr lang="nl-NL" sz="2400" b="0" i="1" smtClean="0">
                                    <a:latin typeface="Cambria Math" panose="02040503050406030204" pitchFamily="18" charset="0"/>
                                  </a:rPr>
                                  <m:t>𝐿</m:t>
                                </m:r>
                                <m:r>
                                  <a:rPr lang="nl-NL" sz="2400" b="0" i="1" smtClean="0">
                                    <a:latin typeface="Cambria Math" panose="02040503050406030204" pitchFamily="18" charset="0"/>
                                  </a:rPr>
                                  <m:t>=</m:t>
                                </m:r>
                                <m:r>
                                  <a:rPr lang="nl-NL" sz="2400" b="0" i="1" smtClean="0">
                                    <a:latin typeface="Cambria Math" panose="02040503050406030204" pitchFamily="18" charset="0"/>
                                  </a:rPr>
                                  <m:t>𝑊</m:t>
                                </m:r>
                              </m:e>
                            </m:mr>
                            <m:mr>
                              <m:e/>
                            </m:mr>
                            <m:mr>
                              <m:e>
                                <m:r>
                                  <a:rPr lang="nl-NL" sz="2400" b="0" i="1" smtClean="0">
                                    <a:latin typeface="Cambria Math" panose="02040503050406030204" pitchFamily="18" charset="0"/>
                                  </a:rPr>
                                  <m:t>𝑇</m:t>
                                </m:r>
                                <m:r>
                                  <a:rPr lang="nl-NL" sz="2400" b="0" i="1" smtClean="0">
                                    <a:latin typeface="Cambria Math" panose="02040503050406030204" pitchFamily="18" charset="0"/>
                                  </a:rPr>
                                  <m:t>=</m:t>
                                </m:r>
                                <m:r>
                                  <a:rPr lang="nl-NL" sz="2400" b="0" i="1" smtClean="0">
                                    <a:latin typeface="Cambria Math" panose="02040503050406030204" pitchFamily="18" charset="0"/>
                                  </a:rPr>
                                  <m:t>𝐷</m:t>
                                </m:r>
                                <m:r>
                                  <a:rPr lang="nl-NL" sz="2400" b="0" i="1" smtClean="0">
                                    <a:latin typeface="Cambria Math" panose="02040503050406030204" pitchFamily="18" charset="0"/>
                                  </a:rPr>
                                  <m:t> ∝ </m:t>
                                </m:r>
                                <m:f>
                                  <m:fPr>
                                    <m:ctrlPr>
                                      <a:rPr lang="nl-NL" sz="2400" b="0" i="1" smtClean="0">
                                        <a:latin typeface="Cambria Math" panose="02040503050406030204" pitchFamily="18" charset="0"/>
                                        <a:ea typeface="Cambria Math" panose="02040503050406030204" pitchFamily="18" charset="0"/>
                                      </a:rPr>
                                    </m:ctrlPr>
                                  </m:fPr>
                                  <m:num>
                                    <m:r>
                                      <a:rPr lang="nl-NL" sz="2400" b="0" i="1" smtClean="0">
                                        <a:latin typeface="Cambria Math" panose="02040503050406030204" pitchFamily="18" charset="0"/>
                                        <a:ea typeface="Cambria Math" panose="02040503050406030204" pitchFamily="18" charset="0"/>
                                      </a:rPr>
                                      <m:t>𝑊</m:t>
                                    </m:r>
                                  </m:num>
                                  <m:den>
                                    <m:r>
                                      <a:rPr lang="nl-NL" sz="2400" b="0" i="1" smtClean="0">
                                        <a:latin typeface="Cambria Math" panose="02040503050406030204" pitchFamily="18" charset="0"/>
                                        <a:ea typeface="Cambria Math" panose="02040503050406030204" pitchFamily="18" charset="0"/>
                                      </a:rPr>
                                      <m:t>𝐿</m:t>
                                    </m:r>
                                    <m:r>
                                      <a:rPr lang="nl-NL" sz="2400" b="0" i="1" smtClean="0">
                                        <a:latin typeface="Cambria Math" panose="02040503050406030204" pitchFamily="18" charset="0"/>
                                        <a:ea typeface="Cambria Math" panose="02040503050406030204" pitchFamily="18" charset="0"/>
                                      </a:rPr>
                                      <m:t>/</m:t>
                                    </m:r>
                                    <m:r>
                                      <a:rPr lang="nl-NL" sz="2400" b="0" i="1" smtClean="0">
                                        <a:latin typeface="Cambria Math" panose="02040503050406030204" pitchFamily="18" charset="0"/>
                                        <a:ea typeface="Cambria Math" panose="02040503050406030204" pitchFamily="18" charset="0"/>
                                      </a:rPr>
                                      <m:t>𝐷</m:t>
                                    </m:r>
                                  </m:den>
                                </m:f>
                              </m:e>
                            </m:mr>
                          </m:m>
                        </m:e>
                      </m:d>
                    </m:oMath>
                  </m:oMathPara>
                </a14:m>
                <a:endParaRPr lang="en-GB" sz="2400" dirty="0"/>
              </a:p>
            </p:txBody>
          </p:sp>
        </mc:Choice>
        <mc:Fallback xmlns="">
          <p:sp>
            <p:nvSpPr>
              <p:cNvPr id="4" name="TextBox 3">
                <a:extLst>
                  <a:ext uri="{FF2B5EF4-FFF2-40B4-BE49-F238E27FC236}">
                    <a16:creationId xmlns:a16="http://schemas.microsoft.com/office/drawing/2014/main" id="{78FAAA7E-AAD6-E3EA-E69F-024309204991}"/>
                  </a:ext>
                </a:extLst>
              </p:cNvPr>
              <p:cNvSpPr txBox="1">
                <a:spLocks noRot="1" noChangeAspect="1" noMove="1" noResize="1" noEditPoints="1" noAdjustHandles="1" noChangeArrowheads="1" noChangeShapeType="1" noTextEdit="1"/>
              </p:cNvSpPr>
              <p:nvPr/>
            </p:nvSpPr>
            <p:spPr>
              <a:xfrm>
                <a:off x="479376" y="3523381"/>
                <a:ext cx="2854726" cy="1757148"/>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90774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38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7">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839416" y="137579"/>
            <a:ext cx="6136616" cy="584775"/>
          </a:xfrm>
          <a:prstGeom prst="rect">
            <a:avLst/>
          </a:prstGeom>
          <a:noFill/>
          <a:ln w="9525" algn="ctr">
            <a:noFill/>
            <a:miter lim="800000"/>
            <a:headEnd/>
            <a:tailEnd/>
          </a:ln>
        </p:spPr>
        <p:txBody>
          <a:bodyPr wrap="none">
            <a:spAutoFit/>
          </a:bodyPr>
          <a:lstStyle/>
          <a:p>
            <a:pPr>
              <a:spcBef>
                <a:spcPct val="0"/>
              </a:spcBef>
              <a:buClrTx/>
            </a:pPr>
            <a:r>
              <a:rPr lang="en-US" sz="3200" dirty="0">
                <a:solidFill>
                  <a:srgbClr val="00A4DE"/>
                </a:solidFill>
                <a:latin typeface="+mj-lt"/>
              </a:rPr>
              <a:t>The problem of weight growth</a:t>
            </a:r>
          </a:p>
        </p:txBody>
      </p:sp>
      <p:sp>
        <p:nvSpPr>
          <p:cNvPr id="18435" name="Text Box 3"/>
          <p:cNvSpPr txBox="1">
            <a:spLocks noChangeArrowheads="1"/>
          </p:cNvSpPr>
          <p:nvPr/>
        </p:nvSpPr>
        <p:spPr bwMode="auto">
          <a:xfrm>
            <a:off x="806756" y="3235510"/>
            <a:ext cx="5992600" cy="2363724"/>
          </a:xfrm>
          <a:prstGeom prst="rect">
            <a:avLst/>
          </a:prstGeom>
          <a:solidFill>
            <a:schemeClr val="bg2">
              <a:lumMod val="40000"/>
              <a:lumOff val="60000"/>
            </a:schemeClr>
          </a:solidFill>
          <a:ln w="9525" algn="ctr">
            <a:noFill/>
            <a:miter lim="800000"/>
            <a:headEnd/>
            <a:tailEnd/>
          </a:ln>
        </p:spPr>
        <p:txBody>
          <a:bodyPr wrap="square">
            <a:spAutoFit/>
          </a:bodyPr>
          <a:lstStyle/>
          <a:p>
            <a:pPr indent="-363538">
              <a:lnSpc>
                <a:spcPct val="120000"/>
              </a:lnSpc>
              <a:spcBef>
                <a:spcPct val="50000"/>
              </a:spcBef>
              <a:spcAft>
                <a:spcPts val="600"/>
              </a:spcAft>
              <a:buClr>
                <a:srgbClr val="00A4DE"/>
              </a:buClr>
            </a:pPr>
            <a:r>
              <a:rPr lang="en-US" sz="1600" dirty="0">
                <a:sym typeface="Wingdings" pitchFamily="2" charset="2"/>
              </a:rPr>
              <a:t>The infamous </a:t>
            </a:r>
            <a:r>
              <a:rPr lang="en-US" sz="1600" b="1" dirty="0">
                <a:solidFill>
                  <a:srgbClr val="FF3300"/>
                </a:solidFill>
                <a:sym typeface="Wingdings" pitchFamily="2" charset="2"/>
              </a:rPr>
              <a:t>snowball effect</a:t>
            </a:r>
            <a:r>
              <a:rPr lang="en-US" sz="1600" b="1" dirty="0">
                <a:sym typeface="Wingdings" pitchFamily="2" charset="2"/>
              </a:rPr>
              <a:t> </a:t>
            </a:r>
            <a:r>
              <a:rPr lang="en-US" sz="1600" dirty="0">
                <a:sym typeface="Wingdings" pitchFamily="2" charset="2"/>
              </a:rPr>
              <a:t>can largely increase the initial weight. </a:t>
            </a:r>
            <a:br>
              <a:rPr lang="en-US" sz="1600" dirty="0">
                <a:sym typeface="Wingdings" pitchFamily="2" charset="2"/>
              </a:rPr>
            </a:br>
            <a:r>
              <a:rPr lang="en-US" sz="1600" dirty="0">
                <a:sym typeface="Wingdings" pitchFamily="2" charset="2"/>
              </a:rPr>
              <a:t>If W increases, and you want to maintain:</a:t>
            </a:r>
          </a:p>
          <a:p>
            <a:pPr marL="363538" indent="-363538">
              <a:spcAft>
                <a:spcPts val="600"/>
              </a:spcAft>
            </a:pPr>
            <a:r>
              <a:rPr lang="en-US" sz="1600" dirty="0">
                <a:sym typeface="Wingdings" pitchFamily="2" charset="2"/>
              </a:rPr>
              <a:t>    - </a:t>
            </a:r>
            <a:r>
              <a:rPr lang="en-US" sz="1600" b="1" dirty="0">
                <a:sym typeface="Wingdings" pitchFamily="2" charset="2"/>
              </a:rPr>
              <a:t>the same T/W  </a:t>
            </a:r>
            <a:r>
              <a:rPr lang="en-US" sz="1600" dirty="0">
                <a:sym typeface="Wingdings" pitchFamily="2" charset="2"/>
              </a:rPr>
              <a:t>higher engine thrust required  more fuel required  fuel tank must increase  wing must be enlarged  higher OEW</a:t>
            </a:r>
          </a:p>
          <a:p>
            <a:pPr marL="363538" indent="-363538">
              <a:spcAft>
                <a:spcPts val="600"/>
              </a:spcAft>
            </a:pPr>
            <a:r>
              <a:rPr lang="en-US" sz="1600" dirty="0">
                <a:sym typeface="Wingdings" pitchFamily="2" charset="2"/>
              </a:rPr>
              <a:t>    - </a:t>
            </a:r>
            <a:r>
              <a:rPr lang="en-US" sz="1600" b="1" dirty="0">
                <a:sym typeface="Wingdings" pitchFamily="2" charset="2"/>
              </a:rPr>
              <a:t>the same W/S  </a:t>
            </a:r>
            <a:r>
              <a:rPr lang="en-US" sz="1600" dirty="0">
                <a:sym typeface="Wingdings" pitchFamily="2" charset="2"/>
              </a:rPr>
              <a:t>wing must enlarged and strengthened  undercarriage beefed-up  higher OEW</a:t>
            </a:r>
            <a:endParaRPr lang="en-US" sz="1600" dirty="0"/>
          </a:p>
        </p:txBody>
      </p:sp>
      <p:sp>
        <p:nvSpPr>
          <p:cNvPr id="18437" name="Rectangle 7"/>
          <p:cNvSpPr>
            <a:spLocks noChangeArrowheads="1"/>
          </p:cNvSpPr>
          <p:nvPr/>
        </p:nvSpPr>
        <p:spPr bwMode="auto">
          <a:xfrm>
            <a:off x="835850" y="1028968"/>
            <a:ext cx="9220589" cy="1077218"/>
          </a:xfrm>
          <a:prstGeom prst="rect">
            <a:avLst/>
          </a:prstGeom>
          <a:noFill/>
          <a:ln w="9525" algn="ctr">
            <a:noFill/>
            <a:miter lim="800000"/>
            <a:headEnd/>
            <a:tailEnd/>
          </a:ln>
        </p:spPr>
        <p:txBody>
          <a:bodyPr wrap="square">
            <a:spAutoFit/>
          </a:bodyPr>
          <a:lstStyle/>
          <a:p>
            <a:r>
              <a:rPr lang="en-US" sz="1600" dirty="0"/>
              <a:t>Aircraft (components) weight has a tendency, just as for certain human beings, to increase over time and stubbornly refuses to drop.</a:t>
            </a:r>
          </a:p>
          <a:p>
            <a:endParaRPr lang="en-US" sz="1600" dirty="0"/>
          </a:p>
          <a:p>
            <a:r>
              <a:rPr lang="en-US" sz="1600" dirty="0"/>
              <a:t>The weight of the aircraft generally starts growing </a:t>
            </a:r>
            <a:r>
              <a:rPr lang="en-US" sz="1600" b="1" dirty="0"/>
              <a:t>already during the design process</a:t>
            </a:r>
            <a:r>
              <a:rPr lang="en-US" sz="1600" dirty="0"/>
              <a:t>….</a:t>
            </a:r>
            <a:endParaRPr lang="en-GB" sz="1600" b="1" dirty="0">
              <a:solidFill>
                <a:srgbClr val="FF0000"/>
              </a:solidFill>
            </a:endParaRPr>
          </a:p>
        </p:txBody>
      </p:sp>
      <p:pic>
        <p:nvPicPr>
          <p:cNvPr id="210946" name="Picture 2" descr="http://www.eaa297.org/images/overweight_2.jpg"/>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88490" y="387406"/>
            <a:ext cx="1311352" cy="2278839"/>
          </a:xfrm>
          <a:prstGeom prst="rect">
            <a:avLst/>
          </a:prstGeom>
          <a:noFill/>
          <a:extLst>
            <a:ext uri="{909E8E84-426E-40DD-AFC4-6F175D3DCCD1}">
              <a14:hiddenFill xmlns:a14="http://schemas.microsoft.com/office/drawing/2010/main">
                <a:solidFill>
                  <a:srgbClr val="FFFFFF"/>
                </a:solidFill>
              </a14:hiddenFill>
            </a:ext>
          </a:extLst>
        </p:spPr>
      </p:pic>
      <p:pic>
        <p:nvPicPr>
          <p:cNvPr id="2" name="Content Placeholder 11">
            <a:extLst>
              <a:ext uri="{FF2B5EF4-FFF2-40B4-BE49-F238E27FC236}">
                <a16:creationId xmlns:a16="http://schemas.microsoft.com/office/drawing/2014/main" id="{63966130-57E7-38B6-5FDD-3A35386FD2A9}"/>
              </a:ext>
            </a:extLst>
          </p:cNvPr>
          <p:cNvPicPr>
            <a:picLocks noChangeAspect="1"/>
          </p:cNvPicPr>
          <p:nvPr/>
        </p:nvPicPr>
        <p:blipFill>
          <a:blip r:embed="rId4"/>
          <a:stretch>
            <a:fillRect/>
          </a:stretch>
        </p:blipFill>
        <p:spPr>
          <a:xfrm>
            <a:off x="6886523" y="2852936"/>
            <a:ext cx="5287976" cy="3128873"/>
          </a:xfrm>
          <a:prstGeom prst="rect">
            <a:avLst/>
          </a:prstGeom>
        </p:spPr>
      </p:pic>
    </p:spTree>
    <p:extLst>
      <p:ext uri="{BB962C8B-B14F-4D97-AF65-F5344CB8AC3E}">
        <p14:creationId xmlns:p14="http://schemas.microsoft.com/office/powerpoint/2010/main" val="3329177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37">
                                            <p:txEl>
                                              <p:pRg st="2" end="2"/>
                                            </p:txEl>
                                          </p:spTgt>
                                        </p:tgtEl>
                                        <p:attrNameLst>
                                          <p:attrName>style.visibility</p:attrName>
                                        </p:attrNameLst>
                                      </p:cBhvr>
                                      <p:to>
                                        <p:strVal val="visible"/>
                                      </p:to>
                                    </p:set>
                                    <p:animEffect transition="in" filter="fade">
                                      <p:cBhvr>
                                        <p:cTn id="7" dur="500"/>
                                        <p:tgtEl>
                                          <p:spTgt spid="18437">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435">
                                            <p:txEl>
                                              <p:pRg st="0" end="0"/>
                                            </p:txEl>
                                          </p:spTgt>
                                        </p:tgtEl>
                                        <p:attrNameLst>
                                          <p:attrName>style.visibility</p:attrName>
                                        </p:attrNameLst>
                                      </p:cBhvr>
                                      <p:to>
                                        <p:strVal val="visible"/>
                                      </p:to>
                                    </p:set>
                                    <p:animEffect transition="in" filter="fade">
                                      <p:cBhvr>
                                        <p:cTn id="10" dur="500"/>
                                        <p:tgtEl>
                                          <p:spTgt spid="18435">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Effect transition="in" filter="fade">
                                      <p:cBhvr>
                                        <p:cTn id="13" dur="500"/>
                                        <p:tgtEl>
                                          <p:spTgt spid="18435">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8435">
                                            <p:txEl>
                                              <p:pRg st="2" end="2"/>
                                            </p:txEl>
                                          </p:spTgt>
                                        </p:tgtEl>
                                        <p:attrNameLst>
                                          <p:attrName>style.visibility</p:attrName>
                                        </p:attrNameLst>
                                      </p:cBhvr>
                                      <p:to>
                                        <p:strVal val="visible"/>
                                      </p:to>
                                    </p:set>
                                    <p:animEffect transition="in" filter="fade">
                                      <p:cBhvr>
                                        <p:cTn id="18" dur="500"/>
                                        <p:tgtEl>
                                          <p:spTgt spid="18435">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767408" y="201613"/>
            <a:ext cx="8601358" cy="584775"/>
          </a:xfrm>
          <a:prstGeom prst="rect">
            <a:avLst/>
          </a:prstGeom>
          <a:noFill/>
          <a:ln w="9525" algn="ctr">
            <a:noFill/>
            <a:miter lim="800000"/>
            <a:headEnd/>
            <a:tailEnd/>
          </a:ln>
        </p:spPr>
        <p:txBody>
          <a:bodyPr wrap="square">
            <a:spAutoFit/>
          </a:bodyPr>
          <a:lstStyle/>
          <a:p>
            <a:pPr>
              <a:spcBef>
                <a:spcPct val="0"/>
              </a:spcBef>
              <a:buClrTx/>
            </a:pPr>
            <a:r>
              <a:rPr lang="en-US" sz="3200" dirty="0">
                <a:solidFill>
                  <a:srgbClr val="00A4DE"/>
                </a:solidFill>
                <a:latin typeface="+mj-lt"/>
              </a:rPr>
              <a:t>The problem of weight growth</a:t>
            </a:r>
          </a:p>
        </p:txBody>
      </p:sp>
      <p:sp>
        <p:nvSpPr>
          <p:cNvPr id="11" name="Rectangle 6"/>
          <p:cNvSpPr>
            <a:spLocks noChangeArrowheads="1"/>
          </p:cNvSpPr>
          <p:nvPr/>
        </p:nvSpPr>
        <p:spPr bwMode="auto">
          <a:xfrm>
            <a:off x="5523478" y="1551753"/>
            <a:ext cx="5469066"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65125" indent="-255588">
              <a:spcBef>
                <a:spcPct val="20000"/>
              </a:spcBef>
              <a:buFont typeface="Times" pitchFamily="18" charset="0"/>
              <a:buChar char="•"/>
              <a:defRPr sz="2400">
                <a:solidFill>
                  <a:schemeClr val="tx1"/>
                </a:solidFill>
                <a:latin typeface="Tahoma" pitchFamily="34" charset="0"/>
              </a:defRPr>
            </a:lvl1pPr>
            <a:lvl2pPr marL="742950" indent="-285750">
              <a:spcBef>
                <a:spcPct val="20000"/>
              </a:spcBef>
              <a:buFont typeface="Times" pitchFamily="18" charset="0"/>
              <a:buChar char="•"/>
              <a:defRPr sz="2400">
                <a:solidFill>
                  <a:schemeClr val="tx1"/>
                </a:solidFill>
                <a:latin typeface="Tahoma" pitchFamily="34" charset="0"/>
              </a:defRPr>
            </a:lvl2pPr>
            <a:lvl3pPr marL="1143000" indent="-228600">
              <a:spcBef>
                <a:spcPct val="20000"/>
              </a:spcBef>
              <a:buFont typeface="Times" pitchFamily="18" charset="0"/>
              <a:buChar char="•"/>
              <a:defRPr sz="2400">
                <a:solidFill>
                  <a:schemeClr val="tx1"/>
                </a:solidFill>
                <a:latin typeface="Tahoma" pitchFamily="34" charset="0"/>
              </a:defRPr>
            </a:lvl3pPr>
            <a:lvl4pPr marL="1600200" indent="-228600">
              <a:spcBef>
                <a:spcPct val="20000"/>
              </a:spcBef>
              <a:buFont typeface="Times" pitchFamily="18" charset="0"/>
              <a:buChar char="•"/>
              <a:defRPr sz="2400">
                <a:solidFill>
                  <a:schemeClr val="tx1"/>
                </a:solidFill>
                <a:latin typeface="Tahoma" pitchFamily="34" charset="0"/>
              </a:defRPr>
            </a:lvl4pPr>
            <a:lvl5pPr marL="2057400" indent="-228600">
              <a:spcBef>
                <a:spcPct val="20000"/>
              </a:spcBef>
              <a:buFont typeface="Times" pitchFamily="18" charset="0"/>
              <a:buChar char="•"/>
              <a:defRPr sz="2400">
                <a:solidFill>
                  <a:schemeClr val="tx1"/>
                </a:solidFill>
                <a:latin typeface="Tahoma" pitchFamily="34" charset="0"/>
              </a:defRPr>
            </a:lvl5pPr>
            <a:lvl6pPr marL="25146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6pPr>
            <a:lvl7pPr marL="29718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7pPr>
            <a:lvl8pPr marL="34290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8pPr>
            <a:lvl9pPr marL="38862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9pPr>
          </a:lstStyle>
          <a:p>
            <a:pPr>
              <a:spcBef>
                <a:spcPts val="400"/>
              </a:spcBef>
              <a:buClr>
                <a:schemeClr val="accent1"/>
              </a:buClr>
              <a:buSzPct val="68000"/>
              <a:buFont typeface="Wingdings 3" pitchFamily="18" charset="2"/>
              <a:buChar char=""/>
            </a:pPr>
            <a:r>
              <a:rPr lang="en-US" altLang="nl-NL" sz="1800" dirty="0"/>
              <a:t>For a typical passenger aircraft with MTOW about 60,000 kg:</a:t>
            </a:r>
          </a:p>
          <a:p>
            <a:pPr>
              <a:spcBef>
                <a:spcPts val="400"/>
              </a:spcBef>
              <a:buClr>
                <a:schemeClr val="accent1"/>
              </a:buClr>
              <a:buSzPct val="68000"/>
              <a:buFont typeface="Wingdings 3" pitchFamily="18" charset="2"/>
              <a:buChar char=""/>
            </a:pPr>
            <a:endParaRPr lang="en-US" altLang="nl-NL" sz="1800" dirty="0"/>
          </a:p>
          <a:p>
            <a:pPr marL="109537" indent="0">
              <a:spcBef>
                <a:spcPts val="400"/>
              </a:spcBef>
              <a:buClr>
                <a:schemeClr val="accent1"/>
              </a:buClr>
              <a:buSzPct val="68000"/>
              <a:buNone/>
            </a:pPr>
            <a:endParaRPr lang="en-US" altLang="nl-NL" sz="1800" dirty="0"/>
          </a:p>
        </p:txBody>
      </p:sp>
      <p:graphicFrame>
        <p:nvGraphicFramePr>
          <p:cNvPr id="12" name="Object 7"/>
          <p:cNvGraphicFramePr>
            <a:graphicFrameLocks noChangeAspect="1"/>
          </p:cNvGraphicFramePr>
          <p:nvPr>
            <p:extLst>
              <p:ext uri="{D42A27DB-BD31-4B8C-83A1-F6EECF244321}">
                <p14:modId xmlns:p14="http://schemas.microsoft.com/office/powerpoint/2010/main" val="330008577"/>
              </p:ext>
            </p:extLst>
          </p:nvPr>
        </p:nvGraphicFramePr>
        <p:xfrm>
          <a:off x="7702476" y="2214779"/>
          <a:ext cx="1436850" cy="675021"/>
        </p:xfrm>
        <a:graphic>
          <a:graphicData uri="http://schemas.openxmlformats.org/presentationml/2006/ole">
            <mc:AlternateContent xmlns:mc="http://schemas.openxmlformats.org/markup-compatibility/2006">
              <mc:Choice xmlns:v="urn:schemas-microsoft-com:vml" Requires="v">
                <p:oleObj name="Equation" r:id="rId3" imgW="837836" imgH="393529" progId="Equation.DSMT4">
                  <p:embed/>
                </p:oleObj>
              </mc:Choice>
              <mc:Fallback>
                <p:oleObj name="Equation" r:id="rId3" imgW="837836" imgH="393529" progId="Equation.DSMT4">
                  <p:embed/>
                  <p:pic>
                    <p:nvPicPr>
                      <p:cNvPr id="12"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2476" y="2214779"/>
                        <a:ext cx="1436850" cy="675021"/>
                      </a:xfrm>
                      <a:prstGeom prst="rect">
                        <a:avLst/>
                      </a:prstGeom>
                      <a:noFill/>
                      <a:ln>
                        <a:noFill/>
                      </a:ln>
                      <a:effectLst/>
                    </p:spPr>
                  </p:pic>
                </p:oleObj>
              </mc:Fallback>
            </mc:AlternateContent>
          </a:graphicData>
        </a:graphic>
      </p:graphicFrame>
      <p:sp>
        <p:nvSpPr>
          <p:cNvPr id="13" name="Rectangle 9"/>
          <p:cNvSpPr>
            <a:spLocks noChangeArrowheads="1"/>
          </p:cNvSpPr>
          <p:nvPr/>
        </p:nvSpPr>
        <p:spPr bwMode="auto">
          <a:xfrm>
            <a:off x="5794551" y="3064640"/>
            <a:ext cx="5112569" cy="42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65125" indent="-255588">
              <a:spcBef>
                <a:spcPct val="20000"/>
              </a:spcBef>
              <a:buFont typeface="Times" pitchFamily="18" charset="0"/>
              <a:buChar char="•"/>
              <a:defRPr sz="2400">
                <a:solidFill>
                  <a:schemeClr val="tx1"/>
                </a:solidFill>
                <a:latin typeface="Tahoma" pitchFamily="34" charset="0"/>
              </a:defRPr>
            </a:lvl1pPr>
            <a:lvl2pPr marL="742950" indent="-285750">
              <a:spcBef>
                <a:spcPct val="20000"/>
              </a:spcBef>
              <a:buFont typeface="Times" pitchFamily="18" charset="0"/>
              <a:buChar char="•"/>
              <a:defRPr sz="2400">
                <a:solidFill>
                  <a:schemeClr val="tx1"/>
                </a:solidFill>
                <a:latin typeface="Tahoma" pitchFamily="34" charset="0"/>
              </a:defRPr>
            </a:lvl2pPr>
            <a:lvl3pPr marL="1143000" indent="-228600">
              <a:spcBef>
                <a:spcPct val="20000"/>
              </a:spcBef>
              <a:buFont typeface="Times" pitchFamily="18" charset="0"/>
              <a:buChar char="•"/>
              <a:defRPr sz="2400">
                <a:solidFill>
                  <a:schemeClr val="tx1"/>
                </a:solidFill>
                <a:latin typeface="Tahoma" pitchFamily="34" charset="0"/>
              </a:defRPr>
            </a:lvl3pPr>
            <a:lvl4pPr marL="1600200" indent="-228600">
              <a:spcBef>
                <a:spcPct val="20000"/>
              </a:spcBef>
              <a:buFont typeface="Times" pitchFamily="18" charset="0"/>
              <a:buChar char="•"/>
              <a:defRPr sz="2400">
                <a:solidFill>
                  <a:schemeClr val="tx1"/>
                </a:solidFill>
                <a:latin typeface="Tahoma" pitchFamily="34" charset="0"/>
              </a:defRPr>
            </a:lvl4pPr>
            <a:lvl5pPr marL="2057400" indent="-228600">
              <a:spcBef>
                <a:spcPct val="20000"/>
              </a:spcBef>
              <a:buFont typeface="Times" pitchFamily="18" charset="0"/>
              <a:buChar char="•"/>
              <a:defRPr sz="2400">
                <a:solidFill>
                  <a:schemeClr val="tx1"/>
                </a:solidFill>
                <a:latin typeface="Tahoma" pitchFamily="34" charset="0"/>
              </a:defRPr>
            </a:lvl5pPr>
            <a:lvl6pPr marL="25146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6pPr>
            <a:lvl7pPr marL="29718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7pPr>
            <a:lvl8pPr marL="34290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8pPr>
            <a:lvl9pPr marL="38862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9pPr>
          </a:lstStyle>
          <a:p>
            <a:pPr marL="109537" indent="0">
              <a:spcBef>
                <a:spcPts val="400"/>
              </a:spcBef>
              <a:buClr>
                <a:schemeClr val="accent1"/>
              </a:buClr>
              <a:buSzPct val="68000"/>
              <a:buNone/>
            </a:pPr>
            <a:r>
              <a:rPr lang="en-US" altLang="nl-NL" sz="1800" dirty="0"/>
              <a:t>Reducing OEW by </a:t>
            </a:r>
            <a:r>
              <a:rPr lang="en-US" altLang="nl-NL" sz="1800" dirty="0">
                <a:solidFill>
                  <a:srgbClr val="FF0000"/>
                </a:solidFill>
              </a:rPr>
              <a:t>1</a:t>
            </a:r>
            <a:r>
              <a:rPr lang="en-US" altLang="nl-NL" sz="1800" dirty="0"/>
              <a:t> kg, reduces MTOW by </a:t>
            </a:r>
            <a:r>
              <a:rPr lang="en-US" altLang="nl-NL" sz="1800" dirty="0">
                <a:solidFill>
                  <a:srgbClr val="FF0000"/>
                </a:solidFill>
              </a:rPr>
              <a:t>2</a:t>
            </a:r>
            <a:r>
              <a:rPr lang="en-US" altLang="nl-NL" sz="1800" dirty="0"/>
              <a:t> kg!</a:t>
            </a:r>
          </a:p>
        </p:txBody>
      </p:sp>
      <p:sp>
        <p:nvSpPr>
          <p:cNvPr id="15" name="Rectangle 14"/>
          <p:cNvSpPr/>
          <p:nvPr/>
        </p:nvSpPr>
        <p:spPr>
          <a:xfrm>
            <a:off x="1942220" y="5670261"/>
            <a:ext cx="7635874" cy="338554"/>
          </a:xfrm>
          <a:prstGeom prst="rect">
            <a:avLst/>
          </a:prstGeom>
        </p:spPr>
        <p:txBody>
          <a:bodyPr wrap="square">
            <a:spAutoFit/>
          </a:bodyPr>
          <a:lstStyle/>
          <a:p>
            <a:r>
              <a:rPr lang="en-US" sz="1600" dirty="0"/>
              <a:t>Other problem: the weight </a:t>
            </a:r>
            <a:r>
              <a:rPr lang="en-US" sz="1600" b="1" dirty="0"/>
              <a:t>keeps growing </a:t>
            </a:r>
            <a:r>
              <a:rPr lang="en-US" sz="1600" dirty="0"/>
              <a:t>during the operational life! </a:t>
            </a:r>
            <a:endParaRPr lang="en-GB" sz="1600" b="1" dirty="0">
              <a:solidFill>
                <a:srgbClr val="FF0000"/>
              </a:solidFill>
            </a:endParaRPr>
          </a:p>
        </p:txBody>
      </p:sp>
      <p:sp>
        <p:nvSpPr>
          <p:cNvPr id="16" name="Rectangle 15"/>
          <p:cNvSpPr/>
          <p:nvPr/>
        </p:nvSpPr>
        <p:spPr>
          <a:xfrm>
            <a:off x="8766434" y="5682734"/>
            <a:ext cx="1722057" cy="338554"/>
          </a:xfrm>
          <a:prstGeom prst="rect">
            <a:avLst/>
          </a:prstGeom>
          <a:solidFill>
            <a:srgbClr val="FFFF00"/>
          </a:solidFill>
        </p:spPr>
        <p:txBody>
          <a:bodyPr wrap="square">
            <a:spAutoFit/>
          </a:bodyPr>
          <a:lstStyle/>
          <a:p>
            <a:r>
              <a:rPr lang="en-US" sz="1600" dirty="0"/>
              <a:t>Why is that?*</a:t>
            </a:r>
            <a:endParaRPr lang="en-GB" sz="1600" dirty="0"/>
          </a:p>
        </p:txBody>
      </p:sp>
      <p:pic>
        <p:nvPicPr>
          <p:cNvPr id="14" name="Picture 2" descr="http://www.eaa297.org/images/overweight_2.jpg"/>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992544" y="375199"/>
            <a:ext cx="896020" cy="155708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5" descr="SnowballEffec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5440" y="1647414"/>
            <a:ext cx="3307067" cy="3307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7"/>
          <p:cNvSpPr/>
          <p:nvPr/>
        </p:nvSpPr>
        <p:spPr>
          <a:xfrm>
            <a:off x="767408" y="855837"/>
            <a:ext cx="9433048" cy="646331"/>
          </a:xfrm>
          <a:prstGeom prst="rect">
            <a:avLst/>
          </a:prstGeom>
        </p:spPr>
        <p:txBody>
          <a:bodyPr wrap="square">
            <a:spAutoFit/>
          </a:bodyPr>
          <a:lstStyle/>
          <a:p>
            <a:r>
              <a:rPr lang="en-US" dirty="0"/>
              <a:t>An example of the “snowball effect”: </a:t>
            </a:r>
            <a:r>
              <a:rPr lang="en-US" altLang="nl-NL" kern="0" dirty="0"/>
              <a:t>any reduction in aircraft structural weight results in …</a:t>
            </a:r>
          </a:p>
          <a:p>
            <a:endParaRPr lang="en-GB" dirty="0"/>
          </a:p>
        </p:txBody>
      </p:sp>
      <p:pic>
        <p:nvPicPr>
          <p:cNvPr id="2" name="Picture 1">
            <a:extLst>
              <a:ext uri="{FF2B5EF4-FFF2-40B4-BE49-F238E27FC236}">
                <a16:creationId xmlns:a16="http://schemas.microsoft.com/office/drawing/2014/main" id="{5D95A5E7-E891-EFBA-7682-0867E9D10A0B}"/>
              </a:ext>
            </a:extLst>
          </p:cNvPr>
          <p:cNvPicPr>
            <a:picLocks noChangeAspect="1"/>
          </p:cNvPicPr>
          <p:nvPr/>
        </p:nvPicPr>
        <p:blipFill>
          <a:blip r:embed="rId7"/>
          <a:stretch>
            <a:fillRect/>
          </a:stretch>
        </p:blipFill>
        <p:spPr>
          <a:xfrm>
            <a:off x="5715651" y="3802152"/>
            <a:ext cx="5121341" cy="1807532"/>
          </a:xfrm>
          <a:prstGeom prst="rect">
            <a:avLst/>
          </a:prstGeom>
        </p:spPr>
      </p:pic>
    </p:spTree>
    <p:extLst>
      <p:ext uri="{BB962C8B-B14F-4D97-AF65-F5344CB8AC3E}">
        <p14:creationId xmlns:p14="http://schemas.microsoft.com/office/powerpoint/2010/main" val="317282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408" y="-63500"/>
            <a:ext cx="9283055" cy="760413"/>
          </a:xfrm>
        </p:spPr>
        <p:txBody>
          <a:bodyPr/>
          <a:lstStyle/>
          <a:p>
            <a:r>
              <a:rPr lang="en-US" b="0" dirty="0"/>
              <a:t>The problem of weight growth</a:t>
            </a:r>
          </a:p>
        </p:txBody>
      </p:sp>
      <p:sp>
        <p:nvSpPr>
          <p:cNvPr id="4" name="AutoShape 14" descr="data:image/jpeg;base64,/9j/4AAQSkZJRgABAQAAAQABAAD/2wBDAAkGBwgHBgkIBwgKCgkLDRYPDQwMDRsUFRAWIB0iIiAdHx8kKDQsJCYxJx8fLT0tMTU3Ojo6Iys/RD84QzQ5Ojf/2wBDAQoKCg0MDRoPDxo3JR8lNzc3Nzc3Nzc3Nzc3Nzc3Nzc3Nzc3Nzc3Nzc3Nzc3Nzc3Nzc3Nzc3Nzc3Nzc3Nzc3Nzf/wAARCAB2ANwDASIAAhEBAxEB/8QAHAAAAQUBAQEAAAAAAAAAAAAABAACAwUGBwEI/8QAOhAAAgEDAwIEBAMHAwQDAAAAAQIDAAQRBRIhMUEGE1FhIjJxgRSRoQcjQlJisdEVJOFygpLBM0Tw/8QAFwEBAQEBAAAAAAAAAAAAAAAAAQACA//EABwRAQEBAAMBAQEAAAAAAAAAAAABEQISITFRYf/aAAwDAQACEQMRAD8A7HimtT8io361MGMeKjJHrTnPBoSRypzWmU+cU0yYoZpSTUTOfXFS0W02BmoDPvodnPQmlGRng0rR8XaiozzQUB5o1KK1DwOaeFpqmnbqCdjFB6peWum6fc6hfv5dtbRmSVsZwoGeB3NFF6rtcjhu9IvLe4iSWN4mDI6hgeM8g9alrA6Z+0i413UmXTdElj0zaw/GSnBZuxA6Y68cnkVuy6lA6sSGAYfQjOax98doJXAVOQoHQDmtBptwJNLjB5MeY/y6foRTGafM3xU0PgU2dgegqLdha1AmMlIysRgdKFL14JccVJOWweaA1XUrbToDcXkywxjChmGSST0UdSfYVOZN1ZrxnpUF9BY3c0ko/C3GUjQgKWxkMT1yPQEVkyD9I1uDVLu5tYFkWS2keORXwCrK20jg1pIU2oK534SdbbXYY0UKkgZCPfr/AM/euhu+1QKlZlHQMBg5o1ZM45qjScggCrG0fdzmqmLANUgNQjjFSA8UEwPXoOagDinBxUEjrmhZY80RuqOQioWA3TbUMmO1Ey9KFIOa0EL+1NjJDUSIlf60lgVWySKQlgJ44o1WIAzQyyKoGK9MoNZagrzPekZBjORQTS9s0NcXRhVvLXzmT50jkUsuOuRnNFaWDTc0FqFyq28qu6gtGwAzyTg1QXGvRXCt5THbjnaen1qjvNQkL4idmcdAvNWrFhP8e7gle/HSjfD8wNuYzn5QRnvjj/FZzbfSkT+d5BVsMN3JH2q88PQRRytc3lwyICwSNRtznBOfbJOKZVYtZGJ9wO4qIuOcnp1r27uICP8Abpk9izZFVV5cXRXL3OyPptTjH5VazIOaUfzD7mo2k96pG1q70+UYumcKfh83Egz988Ve6PeyeJm8xraC1jRiDMqY8zHBC468569PvVpsIMQcHg0D4jy2iAjtccf+NaP/AEaOFhi9Q5GAChGeP+KqfFtkbTR4wXjIacEbT/TVqk9c6tJmtPEJcyFxFIjjHIRRtbBx0PJ+1dTJzIwJ6ciuYXRGUYgAsq7seuNv/qt3pF2Z7G2fd80Yz7nHP65qh5LTkcijbOXHBPNV4cVJ5m3GOtTC/WUN0NSBjVPbTkjk0YJuOtTWpDkV6G96bKwRCzHAFAtcuThCAP1oZWW7jnpUbt6VVuruwLSOORwD1/8AdeO1wpzEyY/qJzStWD9M5GKgYHPHeoDdyICWjJwOdpBpQ3qTAlM/D1DqVxUhEWQ2CMV6+M81X3Wr2Flzd3ltESQAplBYnOMBRyT7AZNT2V2l3bxXEO/yZV3p5iFWx7g8j6GpJS+3gdK88ynSjPyioCrD88fX6UoL4hubi20DVLm0Ypcw2rtE+M7W6Zx7DJrhhtbjTPE9pOb+TTVF2YZb7k7MEYLdc5A75HrX0DGiPlZAGRlKup6MpByPyrG614Zjnhl09iJ45FwDj4tq/Lu7K46bgTnHSufLddeNmBX1DS7ye0u40Ux36sd8OQHYOUOB6FkOBzwe1aI6X5a/KkKAYKDjPsW/xVDp/hDTrY6YHubiVrCIJBFFIVAbcXLHGCSWZvbGBitJeJK0fm3DiJASfiIZufrwKRsVuowTaRFcXSWcTwxW+5ZGJCtKWwi7e45JJPoOOeOe6R408W3Xim3sUvG1BLmQqbS6C+W65PQgfDwvBHT0PStTqPiKBLk6ZfHybS7VofxMmcRPnKO2ei5GCT0znpVB4o8LTzqtzppktdTt3P7oHa2SeRxzz1VhlWB461m3K3JsbLWp001oZYyfwtyMoSc7TnBUn1B4rF+MJL3UrRBaPc53ZSKH4d7gZyT6AZ4omS6fStD0nQ9TYSahAXluYg28q7OzheOrAMMgdDmpVsNW1iMsifgYgSN1wjK32UgZH6GtRmzPrL6TazG2i04fiJr+VsmJW6DPPJ7AdfrXUbC7udM0q20+zMlosQO6QWxdnYncxyTxkk/bFD+H9DstDif8KrPPIB5s8vLuff0HsKsSCX4A49qerN5ruzurie2RzqUe9lJIkhxz9M1U+MblDo8MbOGk87JORlvhPapoWIxnPtVb4psbjU9PRbJ4hcRybkErFVIPBycH+1XUS/rEhJtVm/C28XmuVG6RwCka54Pufr04x7bawhjsokgiJ2qDk56knJ/XJqPT9LTToCuVluHO6eULt3t3wOw9BRcUYznvWpMVuphLyAc81N5nQ1BKpC55pglA47+lLKztSR1I5ozfjvVMlxtx/mp/xBPNWFfPC8+DPtVQciNP7E9/pTXsIXGQpQ9yDkH7VaLFjr2pwjA7Vg4opLGaIHy3Lr/KT/mhnM0RxJHznGOn9604QYI7HrxXKP2s+NdU8P65Y2ehsmY4vMukeISRtuOFDDHHQ88GrV1a4tH/ABkIPRuP1rz8RHglHXA4ypzXPtB/apDeSLbavpDwT9POsn3ISMk5RuQMDPBP0rbWUWm61ZC8DrHDMhYtLG0UgXvgEBvv0/OrV1G288SkmAxDccsUADE+p71OkoGd2Bk8cVj9Z8Q6L4clRzp9zfW4kCGQ3KsQduRheAf+496r9L8b6jq195UFnp8CPIY0hiQyMmDyzOcD7ACjT08dBd1KNIVYqoyxUE4oLU7cXFhd2/4g28s0TxK8bfFGWGAwPqOtBXOpMoAWQyMow5AGPsB+tUd7rb7lMeCpPOD0GK0zGmlvVjRMNl4+A5YjPGDkd6qbvUN0ixmQuXO0AnAz2rOT6xI0yENGsRUgrg7mb1Jz0x2xRuissrNezfEsWRFk9T6j6etTXxqGlWC3EcSBTxudh1PrVRLNLNqS28P765KbsnovPXj2zTlNxqbSRxfBBj/5W6Y9vXvzVpYWVra24iSTcudzOsZ8x2xjJYnJ+2PQAUJifE/hl7qBmdwbhBlcAce2OmKB8LWGt3RNja69e2thCvxLFKSUGcbUzyn/AGkV02aKxVCJIssx4Mr9TUUiRxkmGwtkOePg5xQe3jP6XoVpo97NPZ7wZY0RhId2CpJLZPO5ick1ZkE9c59Sc1MxmdRgwxKTywhUE/c5xUkcAIXccnuWatawE2ehp8acnHNWENuhO3EbN7KKJSABcBVA9QBToVEjrGpZyEUDJLdh616RcGLKxSFeu4Kf71dJAqA7V5bqd3XtVfeC6EwEGm+bwT5rzhlBz3G4EevXj3oOAoYZGPMbfX1qYQNuG0ZGSPyqwggLRj8XHapJjkQsWQnvjIBFOFvbB1JWIsp+HAHH0q0ApYG25KEDuTgChXs5dw2RMc9COh+lXjQxt86pgcnI6VU6lrAjkWG0UuzHDPjJA7n7VagEsUsLfvEdfqKcHOKqVuLmaUSTThox8zK+4Ocn5eBxjHrz3ok3C9yy+wrUum+OsFQaaVxUleGuboy/jDxJDo9v+Hiaf8dOpNskEHnO5HJAQZPQHnGBye1cevo/EXiq7nittOmuZY2Pn+WqooYd2ZiBnGMc/QV9CNGm/wAzYm/GN20Z/Om/LgD14FClcPTwnaeEfDL3+uWtmNfu94top5d626gcnA4LDvjPUc1Q6zrcFraLp2qNcXN4qIXRiu2Nn3blJOSrIu0DBHJJ7Crzxb4gtta8Qz6oq7tO0UyKjk8TNkKqr/1OCc98DPFYmw8O6r4guJLiYvDbyv5kk8uQrE55Ve/cD2oa/qGBZZHWx06JrqSX4o1VMLtJ+Zuy4zyTjHNbjRLa08OWZhFwst64JuJi3OeuF9F/q79RT7Ow0/w7ZLDA29AwZ/M53kZ//Y6VQS6ldyB4Z5jM7yMQ+wAsmeAcelakjO2rqTV2mtgJAqNt2uqOSo9RnjIrMajd3QufKt3nSMAiLy03Av8ACAOP4cZ/M1JJDvjCh2jHzHb1NRXlxHAiqzYBI4H8Xtj8qocH20MlzPDGJWLKuGcnA255Y/2+9bO3lsle3tZJ47WCRhGJpmEaIMfzHAyen1NZ7RbC4t7IvcwyW4nGSZUOdnpyOPvRepaU8ulzzyWkrRYwGdC7yE8ABepye2KRcdVsdH0maMCARSrwQYpd3A+hp2sQado+l3GoXIkWO3j3kh+WPGFGe5JAHua4Z4e/Zrf3Uy3WuBbCBWDLDER5rY9x8v8Af6Vshpgn8VWduzzxaTZ2pllgMzGO4fcNocE84Pxc+goxmtbamU2az38UaTbSSFx8IPQD1xRrRSNJwjZGc/Dk59Kx3jjxKbazlttPkzLIuGkXjYD159azXhqXxXrZS91fxDqS6crfu0in8tp9vB5XHw9ueppWea6fc6M12ytNDcNtzgKpVRnv0qODSbW3HloH2jk5JP5kVzb9oEt1cT2yQaxNaJHCWnd7twoG74cjdyTggDvXK5zJdXHwvLcSsdqBsszemAcmhY+nZb/R9PYR3GsaXavnlZr+ND+rVBH4h8PTXS2sWvWE87ZwlvK0pOBn+EHtXDLjw5d6tqkFlp9qI3jgjWTcm0R8ZLPxx178mug+HfCQ0rTbuDSEie+kj8h76VgDvIBbA/hRR19eKtPWL6bx/wCEInWMarLK5IHwWkn92wO4GadqPjrw5pt8lnPHqEk7Y2iGFH3ZGeCpOftWFtvBFtMwR8XEuMTXZOV9SI19MdGPHuTxWm03wzo2mKBDaCN8BQ68t9yep60zarJGrXVoHjDJp8oyNy+bLgkdiQB3qOXWQi5Wyhz6F2NV8cQWFY1beUGDmoZoGYZ6Adq0xh1/rlxcZQiOJSckIOv61VPtYlm59j0p88LA1G6bcKDmtYHjye/WvPMPqaY6c8cU3gd6U7dSNKvG4BycVwdTDVTqF2rMbKOaMSupyCwzj12k8j1p+v3d3aafL/pkcM18ynyllkCIv9TH+Ufr0rA6fYyaVPcXuqXCXmr3C7ZbkAZReuwEdv8AApFsEz6do+m2McENhZvIknmO6QBEMgBAdVycEDge1UWp6h5YJZgT2HGB9BUWua9bw/BNL8bkBVAJ69OnQe5rNXV4ZZx5kJZQRuUnAIHPX36fenwSWhtXvi3mSyFygQtnB5A6mq+5YtLw5iKKfjHccGrCGzvNd1RbbS7ZS5Z3RPMCxwxBgOWbqBkA4B+lb3R/B9npzJNcgXN0Rjcw/dp/0j/P6UZreyRjNN0vUtckRoII7S2K58x0ZR7nJ5Y5P6dulbLRvC+n6VIs6I11eD/7U6gsh/oHRPqOfetCyfEAFOBwBTyu34gOB1rUc7y0PAD5jcnp3qwTOM5OSeaDRhuJFGK6KnWllFOgySfzqinsIwLxbJvwk92wM1wkYd+BjjcSBwcdKu5nU5w3NASEhuOtWaY51qvgrWbi7aOPUbeSzJJ8yQlXXPOSq4yf0rZWdsljZW9hZAFIIhHGJG27sDqx7ZOSfrRjsDn1qLbuHTNWHd+ufyaNq/ivUzPrMwitYR5SlYgvCsQFjTH33HPzc57arR9D03RV/wBhaKrkYaUndK3r8RP6DAq2YbRnGDUBYZ56fSqTDyuhNP8A9SluJLnUEgXOVjjhkJ8kevoWPc9ugx1qO/bU7y6SwsjHZ2CbTPOVDGbHOxB1wO/PJODkAg2AkUDEY+pprSBflOT/AHq6xCTOTIXldmlIG5mxk46ZI4x7dK8aRn+JOR6UIrI5xIcH9KZLL8W1SEA7butOBZW5cSZwffiipUJAYkgHtVDHNInxZP8A5Cj47ncgDE7qsGp5UQoemarjCASwNGF/hNCTOdoxSAkx6ioBgivZHG4+tR7qjjuteN0r2kRkVxdGb8Tag2noXkSMxuvG5eDz61xnWfEN84862UkGbKxRsMkDB+I9hwfzrqXjzw14h8RX9jFpmrJY6ZH8c6lQSzg91x8XHqcDHQ9QXp/gHQLOKT8TYW+oXEoHm3F5AkjP9FxtUeygCnRjhljpGu+Kr4eWijA27YBuKD+p+g/PnsK6Zov7ONL06CAajJLfyxptCSMRGnqAB159a3tjp1rpdotnp9tDbWqfJFCgVRn2Hf370pIu9Qt/FDBptpaJELa0ihECMkIRcbFbqB9cUjHz8u0DsOlW8kfFBzIR2rTILbg5FMl3YohU56VFOQrnce1SBfLzT2l+Co5j27VHK2Y+OKYseGXLHnGehphRm/iNQIx3M4GSOp9qcZCVznFI0nQjgks3bFNDLGSrYLeg60x5jjH6jrTVmjQ5QFpP5mqOp2iXaGnPB520LOFLllAA7c17JKSeSST61GsbM3B/4qP1EWJ47U0jbznn0qeQAMFDbj9KTocdB96lqFZIurxgMO4oeTJJcHvU7JuyMYx3qMx4pGolDetG26Nx6U2CMuMkCiUXYtQSDLDBHSoJYwc5PHqabJcbDjNIyb05NCVl0GQ/CM0EWfPV6OuWycHOKDOM9TSdd+pUqVcXQjTSKVKpI2UGoZEFKlSzQzoKEnQUqVIoKQbTxQN2ckGlSpEV0zlSc80M8rZK9qVKmKvUO0D3qGYknAOBSpVpioGyvOa9UZINKlQokeMEFj0WofMZhtBwtKlU1HmcMpFeFmZutKlUkrHCHcMiofl565pUqUmX5OOKdIxEeaVKoAZH53VAZmB9qVKooZGLdaHY80qVSf/Z"/>
          <p:cNvSpPr>
            <a:spLocks noChangeAspect="1" noChangeArrowheads="1"/>
          </p:cNvSpPr>
          <p:nvPr/>
        </p:nvSpPr>
        <p:spPr bwMode="auto">
          <a:xfrm>
            <a:off x="1595439" y="-422275"/>
            <a:ext cx="1590675" cy="857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16" descr="data:image/jpeg;base64,/9j/4AAQSkZJRgABAQAAAQABAAD/2wBDAAkGBwgHBgkIBwgKCgkLDRYPDQwMDRsUFRAWIB0iIiAdHx8kKDQsJCYxJx8fLT0tMTU3Ojo6Iys/RD84QzQ5Ojf/2wBDAQoKCg0MDRoPDxo3JR8lNzc3Nzc3Nzc3Nzc3Nzc3Nzc3Nzc3Nzc3Nzc3Nzc3Nzc3Nzc3Nzc3Nzc3Nzc3Nzc3Nzf/wAARCAB2ANwDASIAAhEBAxEB/8QAHAAAAQUBAQEAAAAAAAAAAAAABAACAwUGBwEI/8QAOhAAAgEDAwIEBAMHAwQDAAAAAQIDAAQRBRIhMUEGE1FhIjJxgRSRoQcjQlJisdEVJOFygpLBM0Tw/8QAFwEBAQEBAAAAAAAAAAAAAAAAAQACA//EABwRAQEBAAMBAQEAAAAAAAAAAAABEQISITFRYf/aAAwDAQACEQMRAD8A7HimtT8io361MGMeKjJHrTnPBoSRypzWmU+cU0yYoZpSTUTOfXFS0W02BmoDPvodnPQmlGRng0rR8XaiozzQUB5o1KK1DwOaeFpqmnbqCdjFB6peWum6fc6hfv5dtbRmSVsZwoGeB3NFF6rtcjhu9IvLe4iSWN4mDI6hgeM8g9alrA6Z+0i413UmXTdElj0zaw/GSnBZuxA6Y68cnkVuy6lA6sSGAYfQjOax98doJXAVOQoHQDmtBptwJNLjB5MeY/y6foRTGafM3xU0PgU2dgegqLdha1AmMlIysRgdKFL14JccVJOWweaA1XUrbToDcXkywxjChmGSST0UdSfYVOZN1ZrxnpUF9BY3c0ko/C3GUjQgKWxkMT1yPQEVkyD9I1uDVLu5tYFkWS2keORXwCrK20jg1pIU2oK534SdbbXYY0UKkgZCPfr/AM/euhu+1QKlZlHQMBg5o1ZM45qjScggCrG0fdzmqmLANUgNQjjFSA8UEwPXoOagDinBxUEjrmhZY80RuqOQioWA3TbUMmO1Ey9KFIOa0EL+1NjJDUSIlf60lgVWySKQlgJ44o1WIAzQyyKoGK9MoNZagrzPekZBjORQTS9s0NcXRhVvLXzmT50jkUsuOuRnNFaWDTc0FqFyq28qu6gtGwAzyTg1QXGvRXCt5THbjnaen1qjvNQkL4idmcdAvNWrFhP8e7gle/HSjfD8wNuYzn5QRnvjj/FZzbfSkT+d5BVsMN3JH2q88PQRRytc3lwyICwSNRtznBOfbJOKZVYtZGJ9wO4qIuOcnp1r27uICP8Abpk9izZFVV5cXRXL3OyPptTjH5VazIOaUfzD7mo2k96pG1q70+UYumcKfh83Egz988Ve6PeyeJm8xraC1jRiDMqY8zHBC468569PvVpsIMQcHg0D4jy2iAjtccf+NaP/AEaOFhi9Q5GAChGeP+KqfFtkbTR4wXjIacEbT/TVqk9c6tJmtPEJcyFxFIjjHIRRtbBx0PJ+1dTJzIwJ6ciuYXRGUYgAsq7seuNv/qt3pF2Z7G2fd80Yz7nHP65qh5LTkcijbOXHBPNV4cVJ5m3GOtTC/WUN0NSBjVPbTkjk0YJuOtTWpDkV6G96bKwRCzHAFAtcuThCAP1oZWW7jnpUbt6VVuruwLSOORwD1/8AdeO1wpzEyY/qJzStWD9M5GKgYHPHeoDdyICWjJwOdpBpQ3qTAlM/D1DqVxUhEWQ2CMV6+M81X3Wr2Flzd3ltESQAplBYnOMBRyT7AZNT2V2l3bxXEO/yZV3p5iFWx7g8j6GpJS+3gdK88ynSjPyioCrD88fX6UoL4hubi20DVLm0Ypcw2rtE+M7W6Zx7DJrhhtbjTPE9pOb+TTVF2YZb7k7MEYLdc5A75HrX0DGiPlZAGRlKup6MpByPyrG614Zjnhl09iJ45FwDj4tq/Lu7K46bgTnHSufLddeNmBX1DS7ye0u40Ux36sd8OQHYOUOB6FkOBzwe1aI6X5a/KkKAYKDjPsW/xVDp/hDTrY6YHubiVrCIJBFFIVAbcXLHGCSWZvbGBitJeJK0fm3DiJASfiIZufrwKRsVuowTaRFcXSWcTwxW+5ZGJCtKWwi7e45JJPoOOeOe6R408W3Xim3sUvG1BLmQqbS6C+W65PQgfDwvBHT0PStTqPiKBLk6ZfHybS7VofxMmcRPnKO2ei5GCT0znpVB4o8LTzqtzppktdTt3P7oHa2SeRxzz1VhlWB461m3K3JsbLWp001oZYyfwtyMoSc7TnBUn1B4rF+MJL3UrRBaPc53ZSKH4d7gZyT6AZ4omS6fStD0nQ9TYSahAXluYg28q7OzheOrAMMgdDmpVsNW1iMsifgYgSN1wjK32UgZH6GtRmzPrL6TazG2i04fiJr+VsmJW6DPPJ7AdfrXUbC7udM0q20+zMlosQO6QWxdnYncxyTxkk/bFD+H9DstDif8KrPPIB5s8vLuff0HsKsSCX4A49qerN5ruzurie2RzqUe9lJIkhxz9M1U+MblDo8MbOGk87JORlvhPapoWIxnPtVb4psbjU9PRbJ4hcRybkErFVIPBycH+1XUS/rEhJtVm/C28XmuVG6RwCka54Pufr04x7bawhjsokgiJ2qDk56knJ/XJqPT9LTToCuVluHO6eULt3t3wOw9BRcUYznvWpMVuphLyAc81N5nQ1BKpC55pglA47+lLKztSR1I5ozfjvVMlxtx/mp/xBPNWFfPC8+DPtVQciNP7E9/pTXsIXGQpQ9yDkH7VaLFjr2pwjA7Vg4opLGaIHy3Lr/KT/mhnM0RxJHznGOn9604QYI7HrxXKP2s+NdU8P65Y2ehsmY4vMukeISRtuOFDDHHQ88GrV1a4tH/ABkIPRuP1rz8RHglHXA4ypzXPtB/apDeSLbavpDwT9POsn3ISMk5RuQMDPBP0rbWUWm61ZC8DrHDMhYtLG0UgXvgEBvv0/OrV1G288SkmAxDccsUADE+p71OkoGd2Bk8cVj9Z8Q6L4clRzp9zfW4kCGQ3KsQduRheAf+496r9L8b6jq195UFnp8CPIY0hiQyMmDyzOcD7ACjT08dBd1KNIVYqoyxUE4oLU7cXFhd2/4g28s0TxK8bfFGWGAwPqOtBXOpMoAWQyMow5AGPsB+tUd7rb7lMeCpPOD0GK0zGmlvVjRMNl4+A5YjPGDkd6qbvUN0ixmQuXO0AnAz2rOT6xI0yENGsRUgrg7mb1Jz0x2xRuissrNezfEsWRFk9T6j6etTXxqGlWC3EcSBTxudh1PrVRLNLNqS28P765KbsnovPXj2zTlNxqbSRxfBBj/5W6Y9vXvzVpYWVra24iSTcudzOsZ8x2xjJYnJ+2PQAUJifE/hl7qBmdwbhBlcAce2OmKB8LWGt3RNja69e2thCvxLFKSUGcbUzyn/AGkV02aKxVCJIssx4Mr9TUUiRxkmGwtkOePg5xQe3jP6XoVpo97NPZ7wZY0RhId2CpJLZPO5ick1ZkE9c59Sc1MxmdRgwxKTywhUE/c5xUkcAIXccnuWatawE2ehp8acnHNWENuhO3EbN7KKJSABcBVA9QBToVEjrGpZyEUDJLdh616RcGLKxSFeu4Kf71dJAqA7V5bqd3XtVfeC6EwEGm+bwT5rzhlBz3G4EevXj3oOAoYZGPMbfX1qYQNuG0ZGSPyqwggLRj8XHapJjkQsWQnvjIBFOFvbB1JWIsp+HAHH0q0ApYG25KEDuTgChXs5dw2RMc9COh+lXjQxt86pgcnI6VU6lrAjkWG0UuzHDPjJA7n7VagEsUsLfvEdfqKcHOKqVuLmaUSTThox8zK+4Ocn5eBxjHrz3ok3C9yy+wrUum+OsFQaaVxUleGuboy/jDxJDo9v+Hiaf8dOpNskEHnO5HJAQZPQHnGBye1cevo/EXiq7nittOmuZY2Pn+WqooYd2ZiBnGMc/QV9CNGm/wAzYm/GN20Z/Om/LgD14FClcPTwnaeEfDL3+uWtmNfu94top5d626gcnA4LDvjPUc1Q6zrcFraLp2qNcXN4qIXRiu2Nn3blJOSrIu0DBHJJ7Crzxb4gtta8Qz6oq7tO0UyKjk8TNkKqr/1OCc98DPFYmw8O6r4guJLiYvDbyv5kk8uQrE55Ve/cD2oa/qGBZZHWx06JrqSX4o1VMLtJ+Zuy4zyTjHNbjRLa08OWZhFwst64JuJi3OeuF9F/q79RT7Ow0/w7ZLDA29AwZ/M53kZ//Y6VQS6ldyB4Z5jM7yMQ+wAsmeAcelakjO2rqTV2mtgJAqNt2uqOSo9RnjIrMajd3QufKt3nSMAiLy03Av8ACAOP4cZ/M1JJDvjCh2jHzHb1NRXlxHAiqzYBI4H8Xtj8qocH20MlzPDGJWLKuGcnA255Y/2+9bO3lsle3tZJ47WCRhGJpmEaIMfzHAyen1NZ7RbC4t7IvcwyW4nGSZUOdnpyOPvRepaU8ulzzyWkrRYwGdC7yE8ABepye2KRcdVsdH0maMCARSrwQYpd3A+hp2sQado+l3GoXIkWO3j3kh+WPGFGe5JAHua4Z4e/Zrf3Uy3WuBbCBWDLDER5rY9x8v8Af6Vshpgn8VWduzzxaTZ2pllgMzGO4fcNocE84Pxc+goxmtbamU2az38UaTbSSFx8IPQD1xRrRSNJwjZGc/Dk59Kx3jjxKbazlttPkzLIuGkXjYD159azXhqXxXrZS91fxDqS6crfu0in8tp9vB5XHw9ueppWea6fc6M12ytNDcNtzgKpVRnv0qODSbW3HloH2jk5JP5kVzb9oEt1cT2yQaxNaJHCWnd7twoG74cjdyTggDvXK5zJdXHwvLcSsdqBsszemAcmhY+nZb/R9PYR3GsaXavnlZr+ND+rVBH4h8PTXS2sWvWE87ZwlvK0pOBn+EHtXDLjw5d6tqkFlp9qI3jgjWTcm0R8ZLPxx178mug+HfCQ0rTbuDSEie+kj8h76VgDvIBbA/hRR19eKtPWL6bx/wCEInWMarLK5IHwWkn92wO4GadqPjrw5pt8lnPHqEk7Y2iGFH3ZGeCpOftWFtvBFtMwR8XEuMTXZOV9SI19MdGPHuTxWm03wzo2mKBDaCN8BQ68t9yep60zarJGrXVoHjDJp8oyNy+bLgkdiQB3qOXWQi5Wyhz6F2NV8cQWFY1beUGDmoZoGYZ6Adq0xh1/rlxcZQiOJSckIOv61VPtYlm59j0p88LA1G6bcKDmtYHjye/WvPMPqaY6c8cU3gd6U7dSNKvG4BycVwdTDVTqF2rMbKOaMSupyCwzj12k8j1p+v3d3aafL/pkcM18ynyllkCIv9TH+Ufr0rA6fYyaVPcXuqXCXmr3C7ZbkAZReuwEdv8AApFsEz6do+m2McENhZvIknmO6QBEMgBAdVycEDge1UWp6h5YJZgT2HGB9BUWua9bw/BNL8bkBVAJ69OnQe5rNXV4ZZx5kJZQRuUnAIHPX36fenwSWhtXvi3mSyFygQtnB5A6mq+5YtLw5iKKfjHccGrCGzvNd1RbbS7ZS5Z3RPMCxwxBgOWbqBkA4B+lb3R/B9npzJNcgXN0Rjcw/dp/0j/P6UZreyRjNN0vUtckRoII7S2K58x0ZR7nJ5Y5P6dulbLRvC+n6VIs6I11eD/7U6gsh/oHRPqOfetCyfEAFOBwBTyu34gOB1rUc7y0PAD5jcnp3qwTOM5OSeaDRhuJFGK6KnWllFOgySfzqinsIwLxbJvwk92wM1wkYd+BjjcSBwcdKu5nU5w3NASEhuOtWaY51qvgrWbi7aOPUbeSzJJ8yQlXXPOSq4yf0rZWdsljZW9hZAFIIhHGJG27sDqx7ZOSfrRjsDn1qLbuHTNWHd+ufyaNq/ivUzPrMwitYR5SlYgvCsQFjTH33HPzc57arR9D03RV/wBhaKrkYaUndK3r8RP6DAq2YbRnGDUBYZ56fSqTDyuhNP8A9SluJLnUEgXOVjjhkJ8kevoWPc9ugx1qO/bU7y6SwsjHZ2CbTPOVDGbHOxB1wO/PJODkAg2AkUDEY+pprSBflOT/AHq6xCTOTIXldmlIG5mxk46ZI4x7dK8aRn+JOR6UIrI5xIcH9KZLL8W1SEA7butOBZW5cSZwffiipUJAYkgHtVDHNInxZP8A5Cj47ncgDE7qsGp5UQoemarjCASwNGF/hNCTOdoxSAkx6ioBgivZHG4+tR7qjjuteN0r2kRkVxdGb8Tag2noXkSMxuvG5eDz61xnWfEN84862UkGbKxRsMkDB+I9hwfzrqXjzw14h8RX9jFpmrJY6ZH8c6lQSzg91x8XHqcDHQ9QXp/gHQLOKT8TYW+oXEoHm3F5AkjP9FxtUeygCnRjhljpGu+Kr4eWijA27YBuKD+p+g/PnsK6Zov7ONL06CAajJLfyxptCSMRGnqAB159a3tjp1rpdotnp9tDbWqfJFCgVRn2Hf370pIu9Qt/FDBptpaJELa0ihECMkIRcbFbqB9cUjHz8u0DsOlW8kfFBzIR2rTILbg5FMl3YohU56VFOQrnce1SBfLzT2l+Co5j27VHK2Y+OKYseGXLHnGehphRm/iNQIx3M4GSOp9qcZCVznFI0nQjgks3bFNDLGSrYLeg60x5jjH6jrTVmjQ5QFpP5mqOp2iXaGnPB520LOFLllAA7c17JKSeSST61GsbM3B/4qP1EWJ47U0jbznn0qeQAMFDbj9KTocdB96lqFZIurxgMO4oeTJJcHvU7JuyMYx3qMx4pGolDetG26Nx6U2CMuMkCiUXYtQSDLDBHSoJYwc5PHqabJcbDjNIyb05NCVl0GQ/CM0EWfPV6OuWycHOKDOM9TSdd+pUqVcXQjTSKVKpI2UGoZEFKlSzQzoKEnQUqVIoKQbTxQN2ckGlSpEV0zlSc80M8rZK9qVKmKvUO0D3qGYknAOBSpVpioGyvOa9UZINKlQokeMEFj0WofMZhtBwtKlU1HmcMpFeFmZutKlUkrHCHcMiofl565pUqUmX5OOKdIxEeaVKoAZH53VAZmB9qVKooZGLdaHY80qVSf/Z"/>
          <p:cNvSpPr>
            <a:spLocks noChangeAspect="1" noChangeArrowheads="1"/>
          </p:cNvSpPr>
          <p:nvPr/>
        </p:nvSpPr>
        <p:spPr bwMode="auto">
          <a:xfrm>
            <a:off x="1747839" y="-269875"/>
            <a:ext cx="1590675" cy="857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B32CBC8A-B8ED-5CF3-0915-FCC0D5E5F6E2}"/>
              </a:ext>
            </a:extLst>
          </p:cNvPr>
          <p:cNvPicPr>
            <a:picLocks noChangeAspect="1"/>
          </p:cNvPicPr>
          <p:nvPr/>
        </p:nvPicPr>
        <p:blipFill>
          <a:blip r:embed="rId3"/>
          <a:stretch>
            <a:fillRect/>
          </a:stretch>
        </p:blipFill>
        <p:spPr>
          <a:xfrm>
            <a:off x="551384" y="1916832"/>
            <a:ext cx="5388568" cy="4132358"/>
          </a:xfrm>
          <a:prstGeom prst="rect">
            <a:avLst/>
          </a:prstGeom>
        </p:spPr>
      </p:pic>
      <p:pic>
        <p:nvPicPr>
          <p:cNvPr id="231426" name="Picture 2" descr="C-5 Galaxy | Lockheed Martin">
            <a:extLst>
              <a:ext uri="{FF2B5EF4-FFF2-40B4-BE49-F238E27FC236}">
                <a16:creationId xmlns:a16="http://schemas.microsoft.com/office/drawing/2014/main" id="{C867DA75-7FAF-FC74-BF07-567B5AF8FA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8328" y="285990"/>
            <a:ext cx="3024619" cy="180724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AEA4E91-2678-20E0-FB7F-581F581F9117}"/>
              </a:ext>
            </a:extLst>
          </p:cNvPr>
          <p:cNvSpPr txBox="1"/>
          <p:nvPr/>
        </p:nvSpPr>
        <p:spPr>
          <a:xfrm>
            <a:off x="695400" y="1004945"/>
            <a:ext cx="8352928" cy="369332"/>
          </a:xfrm>
          <a:prstGeom prst="rect">
            <a:avLst/>
          </a:prstGeom>
          <a:noFill/>
        </p:spPr>
        <p:txBody>
          <a:bodyPr wrap="square">
            <a:spAutoFit/>
          </a:bodyPr>
          <a:lstStyle/>
          <a:p>
            <a:r>
              <a:rPr lang="en-US" sz="1800" dirty="0"/>
              <a:t>Practical example of the weight growth during the design for the LM-C5A Galaxy</a:t>
            </a:r>
            <a:endParaRPr lang="en-GB" dirty="0"/>
          </a:p>
        </p:txBody>
      </p:sp>
      <mc:AlternateContent xmlns:mc="http://schemas.openxmlformats.org/markup-compatibility/2006" xmlns:a14="http://schemas.microsoft.com/office/drawing/2010/main">
        <mc:Choice Requires="a14">
          <p:graphicFrame>
            <p:nvGraphicFramePr>
              <p:cNvPr id="11" name="Table 11">
                <a:extLst>
                  <a:ext uri="{FF2B5EF4-FFF2-40B4-BE49-F238E27FC236}">
                    <a16:creationId xmlns:a16="http://schemas.microsoft.com/office/drawing/2014/main" id="{543ACAF5-6EDA-AD7B-51E9-6C01EB82D93A}"/>
                  </a:ext>
                </a:extLst>
              </p:cNvPr>
              <p:cNvGraphicFramePr>
                <a:graphicFrameLocks noGrp="1"/>
              </p:cNvGraphicFramePr>
              <p:nvPr>
                <p:extLst>
                  <p:ext uri="{D42A27DB-BD31-4B8C-83A1-F6EECF244321}">
                    <p14:modId xmlns:p14="http://schemas.microsoft.com/office/powerpoint/2010/main" val="518714321"/>
                  </p:ext>
                </p:extLst>
              </p:nvPr>
            </p:nvGraphicFramePr>
            <p:xfrm>
              <a:off x="6304199" y="2327193"/>
              <a:ext cx="5336417" cy="2966720"/>
            </p:xfrm>
            <a:graphic>
              <a:graphicData uri="http://schemas.openxmlformats.org/drawingml/2006/table">
                <a:tbl>
                  <a:tblPr firstRow="1" bandRow="1">
                    <a:tableStyleId>{9DCAF9ED-07DC-4A11-8D7F-57B35C25682E}</a:tableStyleId>
                  </a:tblPr>
                  <a:tblGrid>
                    <a:gridCol w="379730">
                      <a:extLst>
                        <a:ext uri="{9D8B030D-6E8A-4147-A177-3AD203B41FA5}">
                          <a16:colId xmlns:a16="http://schemas.microsoft.com/office/drawing/2014/main" val="46411275"/>
                        </a:ext>
                      </a:extLst>
                    </a:gridCol>
                    <a:gridCol w="988422">
                      <a:extLst>
                        <a:ext uri="{9D8B030D-6E8A-4147-A177-3AD203B41FA5}">
                          <a16:colId xmlns:a16="http://schemas.microsoft.com/office/drawing/2014/main" val="2797085504"/>
                        </a:ext>
                      </a:extLst>
                    </a:gridCol>
                    <a:gridCol w="3968265">
                      <a:extLst>
                        <a:ext uri="{9D8B030D-6E8A-4147-A177-3AD203B41FA5}">
                          <a16:colId xmlns:a16="http://schemas.microsoft.com/office/drawing/2014/main" val="74429821"/>
                        </a:ext>
                      </a:extLst>
                    </a:gridCol>
                  </a:tblGrid>
                  <a:tr h="370840">
                    <a:tc>
                      <a:txBody>
                        <a:bodyPr/>
                        <a:lstStyle/>
                        <a:p>
                          <a:endParaRPr lang="en-GB" sz="1600" dirty="0"/>
                        </a:p>
                      </a:txBody>
                      <a:tcPr/>
                    </a:tc>
                    <a:tc>
                      <a:txBody>
                        <a:bodyPr/>
                        <a:lstStyle/>
                        <a:p>
                          <a14:m>
                            <m:oMath xmlns:m="http://schemas.openxmlformats.org/officeDocument/2006/math">
                              <m:r>
                                <a:rPr lang="en-GB" sz="1600" b="0" i="1" smtClean="0">
                                  <a:latin typeface="Cambria Math" panose="02040503050406030204" pitchFamily="18" charset="0"/>
                                  <a:ea typeface="Cambria Math" panose="02040503050406030204" pitchFamily="18" charset="0"/>
                                </a:rPr>
                                <m:t>∆</m:t>
                              </m:r>
                              <m:r>
                                <a:rPr lang="nl-NL" sz="1600" b="0" i="1" smtClean="0">
                                  <a:latin typeface="Cambria Math" panose="02040503050406030204" pitchFamily="18" charset="0"/>
                                  <a:ea typeface="Cambria Math" panose="02040503050406030204" pitchFamily="18" charset="0"/>
                                </a:rPr>
                                <m:t>𝑊</m:t>
                              </m:r>
                            </m:oMath>
                          </a14:m>
                          <a:r>
                            <a:rPr lang="en-GB" sz="1600" b="0" dirty="0"/>
                            <a:t> [lbs]</a:t>
                          </a:r>
                        </a:p>
                      </a:txBody>
                      <a:tcPr/>
                    </a:tc>
                    <a:tc>
                      <a:txBody>
                        <a:bodyPr/>
                        <a:lstStyle/>
                        <a:p>
                          <a:r>
                            <a:rPr lang="en-GB" sz="1600" b="0" dirty="0"/>
                            <a:t>Reason</a:t>
                          </a:r>
                        </a:p>
                      </a:txBody>
                      <a:tcPr/>
                    </a:tc>
                    <a:extLst>
                      <a:ext uri="{0D108BD9-81ED-4DB2-BD59-A6C34878D82A}">
                        <a16:rowId xmlns:a16="http://schemas.microsoft.com/office/drawing/2014/main" val="1858270012"/>
                      </a:ext>
                    </a:extLst>
                  </a:tr>
                  <a:tr h="370840">
                    <a:tc>
                      <a:txBody>
                        <a:bodyPr/>
                        <a:lstStyle/>
                        <a:p>
                          <a:r>
                            <a:rPr lang="en-GB" sz="1600" dirty="0"/>
                            <a:t>1</a:t>
                          </a:r>
                        </a:p>
                      </a:txBody>
                      <a:tcPr/>
                    </a:tc>
                    <a:tc>
                      <a:txBody>
                        <a:bodyPr/>
                        <a:lstStyle/>
                        <a:p>
                          <a:r>
                            <a:rPr lang="en-GB" sz="1600" dirty="0"/>
                            <a:t>-4000</a:t>
                          </a:r>
                        </a:p>
                      </a:txBody>
                      <a:tcPr/>
                    </a:tc>
                    <a:tc>
                      <a:txBody>
                        <a:bodyPr/>
                        <a:lstStyle/>
                        <a:p>
                          <a:r>
                            <a:rPr lang="en-GB" sz="1600" dirty="0"/>
                            <a:t>Design re-evaluation of subsystems</a:t>
                          </a:r>
                        </a:p>
                      </a:txBody>
                      <a:tcPr/>
                    </a:tc>
                    <a:extLst>
                      <a:ext uri="{0D108BD9-81ED-4DB2-BD59-A6C34878D82A}">
                        <a16:rowId xmlns:a16="http://schemas.microsoft.com/office/drawing/2014/main" val="3549142664"/>
                      </a:ext>
                    </a:extLst>
                  </a:tr>
                  <a:tr h="370840">
                    <a:tc>
                      <a:txBody>
                        <a:bodyPr/>
                        <a:lstStyle/>
                        <a:p>
                          <a:r>
                            <a:rPr lang="en-GB" sz="1600" dirty="0"/>
                            <a:t>2</a:t>
                          </a:r>
                        </a:p>
                      </a:txBody>
                      <a:tcPr/>
                    </a:tc>
                    <a:tc>
                      <a:txBody>
                        <a:bodyPr/>
                        <a:lstStyle/>
                        <a:p>
                          <a:r>
                            <a:rPr lang="en-GB" sz="1600" dirty="0"/>
                            <a:t>+6500</a:t>
                          </a:r>
                        </a:p>
                      </a:txBody>
                      <a:tcPr/>
                    </a:tc>
                    <a:tc>
                      <a:txBody>
                        <a:bodyPr/>
                        <a:lstStyle/>
                        <a:p>
                          <a:r>
                            <a:rPr lang="en-GB" sz="1600" dirty="0"/>
                            <a:t>Structure design of HT and connections</a:t>
                          </a:r>
                        </a:p>
                      </a:txBody>
                      <a:tcPr/>
                    </a:tc>
                    <a:extLst>
                      <a:ext uri="{0D108BD9-81ED-4DB2-BD59-A6C34878D82A}">
                        <a16:rowId xmlns:a16="http://schemas.microsoft.com/office/drawing/2014/main" val="2914684602"/>
                      </a:ext>
                    </a:extLst>
                  </a:tr>
                  <a:tr h="370840">
                    <a:tc>
                      <a:txBody>
                        <a:bodyPr/>
                        <a:lstStyle/>
                        <a:p>
                          <a:r>
                            <a:rPr lang="en-GB" sz="1600" dirty="0"/>
                            <a:t>3</a:t>
                          </a:r>
                        </a:p>
                      </a:txBody>
                      <a:tcPr/>
                    </a:tc>
                    <a:tc>
                      <a:txBody>
                        <a:bodyPr/>
                        <a:lstStyle/>
                        <a:p>
                          <a:r>
                            <a:rPr lang="en-GB" sz="1600" dirty="0"/>
                            <a:t>-7000</a:t>
                          </a:r>
                        </a:p>
                      </a:txBody>
                      <a:tcPr/>
                    </a:tc>
                    <a:tc>
                      <a:txBody>
                        <a:bodyPr/>
                        <a:lstStyle/>
                        <a:p>
                          <a:r>
                            <a:rPr lang="en-GB" sz="1600" dirty="0"/>
                            <a:t>Structural and LGs optimization</a:t>
                          </a:r>
                        </a:p>
                      </a:txBody>
                      <a:tcPr/>
                    </a:tc>
                    <a:extLst>
                      <a:ext uri="{0D108BD9-81ED-4DB2-BD59-A6C34878D82A}">
                        <a16:rowId xmlns:a16="http://schemas.microsoft.com/office/drawing/2014/main" val="112806456"/>
                      </a:ext>
                    </a:extLst>
                  </a:tr>
                  <a:tr h="370840">
                    <a:tc>
                      <a:txBody>
                        <a:bodyPr/>
                        <a:lstStyle/>
                        <a:p>
                          <a:r>
                            <a:rPr lang="en-GB" sz="1600" dirty="0"/>
                            <a:t>4</a:t>
                          </a:r>
                        </a:p>
                      </a:txBody>
                      <a:tcPr/>
                    </a:tc>
                    <a:tc>
                      <a:txBody>
                        <a:bodyPr/>
                        <a:lstStyle/>
                        <a:p>
                          <a:r>
                            <a:rPr lang="en-GB" sz="1600" dirty="0"/>
                            <a:t>+6800</a:t>
                          </a:r>
                        </a:p>
                      </a:txBody>
                      <a:tcPr/>
                    </a:tc>
                    <a:tc>
                      <a:txBody>
                        <a:bodyPr/>
                        <a:lstStyle/>
                        <a:p>
                          <a:r>
                            <a:rPr lang="en-GB" sz="1600" dirty="0"/>
                            <a:t>HLD structures</a:t>
                          </a:r>
                        </a:p>
                      </a:txBody>
                      <a:tcPr/>
                    </a:tc>
                    <a:extLst>
                      <a:ext uri="{0D108BD9-81ED-4DB2-BD59-A6C34878D82A}">
                        <a16:rowId xmlns:a16="http://schemas.microsoft.com/office/drawing/2014/main" val="197918123"/>
                      </a:ext>
                    </a:extLst>
                  </a:tr>
                  <a:tr h="370840">
                    <a:tc>
                      <a:txBody>
                        <a:bodyPr/>
                        <a:lstStyle/>
                        <a:p>
                          <a:r>
                            <a:rPr lang="en-GB" sz="1600" dirty="0"/>
                            <a:t>5</a:t>
                          </a:r>
                        </a:p>
                      </a:txBody>
                      <a:tcPr/>
                    </a:tc>
                    <a:tc>
                      <a:txBody>
                        <a:bodyPr/>
                        <a:lstStyle/>
                        <a:p>
                          <a:r>
                            <a:rPr lang="en-GB" sz="1600" dirty="0"/>
                            <a:t>-2500</a:t>
                          </a:r>
                        </a:p>
                      </a:txBody>
                      <a:tcPr/>
                    </a:tc>
                    <a:tc>
                      <a:txBody>
                        <a:bodyPr/>
                        <a:lstStyle/>
                        <a:p>
                          <a:r>
                            <a:rPr lang="en-GB" sz="1600" dirty="0"/>
                            <a:t>Structure opt &amp; material change</a:t>
                          </a:r>
                        </a:p>
                      </a:txBody>
                      <a:tcPr/>
                    </a:tc>
                    <a:extLst>
                      <a:ext uri="{0D108BD9-81ED-4DB2-BD59-A6C34878D82A}">
                        <a16:rowId xmlns:a16="http://schemas.microsoft.com/office/drawing/2014/main" val="463321571"/>
                      </a:ext>
                    </a:extLst>
                  </a:tr>
                  <a:tr h="370840">
                    <a:tc>
                      <a:txBody>
                        <a:bodyPr/>
                        <a:lstStyle/>
                        <a:p>
                          <a:r>
                            <a:rPr lang="en-GB" sz="1600" dirty="0"/>
                            <a:t>6</a:t>
                          </a:r>
                        </a:p>
                      </a:txBody>
                      <a:tcPr/>
                    </a:tc>
                    <a:tc>
                      <a:txBody>
                        <a:bodyPr/>
                        <a:lstStyle/>
                        <a:p>
                          <a:r>
                            <a:rPr lang="en-GB" sz="1600" dirty="0"/>
                            <a:t>+8200</a:t>
                          </a:r>
                        </a:p>
                      </a:txBody>
                      <a:tcPr/>
                    </a:tc>
                    <a:tc>
                      <a:txBody>
                        <a:bodyPr/>
                        <a:lstStyle/>
                        <a:p>
                          <a:r>
                            <a:rPr lang="en-GB" sz="1600" dirty="0"/>
                            <a:t>Design for manufacture</a:t>
                          </a:r>
                        </a:p>
                      </a:txBody>
                      <a:tcPr/>
                    </a:tc>
                    <a:extLst>
                      <a:ext uri="{0D108BD9-81ED-4DB2-BD59-A6C34878D82A}">
                        <a16:rowId xmlns:a16="http://schemas.microsoft.com/office/drawing/2014/main" val="398887074"/>
                      </a:ext>
                    </a:extLst>
                  </a:tr>
                  <a:tr h="370840">
                    <a:tc>
                      <a:txBody>
                        <a:bodyPr/>
                        <a:lstStyle/>
                        <a:p>
                          <a:r>
                            <a:rPr lang="en-GB" sz="1600" dirty="0"/>
                            <a:t>8</a:t>
                          </a:r>
                        </a:p>
                      </a:txBody>
                      <a:tcPr/>
                    </a:tc>
                    <a:tc>
                      <a:txBody>
                        <a:bodyPr/>
                        <a:lstStyle/>
                        <a:p>
                          <a:r>
                            <a:rPr lang="en-GB" sz="1600" dirty="0"/>
                            <a:t>+1500</a:t>
                          </a:r>
                        </a:p>
                      </a:txBody>
                      <a:tcPr/>
                    </a:tc>
                    <a:tc>
                      <a:txBody>
                        <a:bodyPr/>
                        <a:lstStyle/>
                        <a:p>
                          <a:r>
                            <a:rPr lang="en-GB" sz="1600" dirty="0"/>
                            <a:t>Design changes</a:t>
                          </a:r>
                        </a:p>
                      </a:txBody>
                      <a:tcPr/>
                    </a:tc>
                    <a:extLst>
                      <a:ext uri="{0D108BD9-81ED-4DB2-BD59-A6C34878D82A}">
                        <a16:rowId xmlns:a16="http://schemas.microsoft.com/office/drawing/2014/main" val="2013274061"/>
                      </a:ext>
                    </a:extLst>
                  </a:tr>
                </a:tbl>
              </a:graphicData>
            </a:graphic>
          </p:graphicFrame>
        </mc:Choice>
        <mc:Fallback xmlns="">
          <p:graphicFrame>
            <p:nvGraphicFramePr>
              <p:cNvPr id="11" name="Table 11">
                <a:extLst>
                  <a:ext uri="{FF2B5EF4-FFF2-40B4-BE49-F238E27FC236}">
                    <a16:creationId xmlns:a16="http://schemas.microsoft.com/office/drawing/2014/main" id="{543ACAF5-6EDA-AD7B-51E9-6C01EB82D93A}"/>
                  </a:ext>
                </a:extLst>
              </p:cNvPr>
              <p:cNvGraphicFramePr>
                <a:graphicFrameLocks noGrp="1"/>
              </p:cNvGraphicFramePr>
              <p:nvPr>
                <p:extLst>
                  <p:ext uri="{D42A27DB-BD31-4B8C-83A1-F6EECF244321}">
                    <p14:modId xmlns:p14="http://schemas.microsoft.com/office/powerpoint/2010/main" val="518714321"/>
                  </p:ext>
                </p:extLst>
              </p:nvPr>
            </p:nvGraphicFramePr>
            <p:xfrm>
              <a:off x="6304199" y="2327193"/>
              <a:ext cx="5336417" cy="2966720"/>
            </p:xfrm>
            <a:graphic>
              <a:graphicData uri="http://schemas.openxmlformats.org/drawingml/2006/table">
                <a:tbl>
                  <a:tblPr firstRow="1" bandRow="1">
                    <a:tableStyleId>{9DCAF9ED-07DC-4A11-8D7F-57B35C25682E}</a:tableStyleId>
                  </a:tblPr>
                  <a:tblGrid>
                    <a:gridCol w="379730">
                      <a:extLst>
                        <a:ext uri="{9D8B030D-6E8A-4147-A177-3AD203B41FA5}">
                          <a16:colId xmlns:a16="http://schemas.microsoft.com/office/drawing/2014/main" val="46411275"/>
                        </a:ext>
                      </a:extLst>
                    </a:gridCol>
                    <a:gridCol w="988422">
                      <a:extLst>
                        <a:ext uri="{9D8B030D-6E8A-4147-A177-3AD203B41FA5}">
                          <a16:colId xmlns:a16="http://schemas.microsoft.com/office/drawing/2014/main" val="2797085504"/>
                        </a:ext>
                      </a:extLst>
                    </a:gridCol>
                    <a:gridCol w="3968265">
                      <a:extLst>
                        <a:ext uri="{9D8B030D-6E8A-4147-A177-3AD203B41FA5}">
                          <a16:colId xmlns:a16="http://schemas.microsoft.com/office/drawing/2014/main" val="74429821"/>
                        </a:ext>
                      </a:extLst>
                    </a:gridCol>
                  </a:tblGrid>
                  <a:tr h="370840">
                    <a:tc>
                      <a:txBody>
                        <a:bodyPr/>
                        <a:lstStyle/>
                        <a:p>
                          <a:endParaRPr lang="en-GB" sz="1600" dirty="0"/>
                        </a:p>
                      </a:txBody>
                      <a:tcPr/>
                    </a:tc>
                    <a:tc>
                      <a:txBody>
                        <a:bodyPr/>
                        <a:lstStyle/>
                        <a:p>
                          <a:endParaRPr lang="en-NL"/>
                        </a:p>
                      </a:txBody>
                      <a:tcPr>
                        <a:blipFill>
                          <a:blip r:embed="rId5"/>
                          <a:stretch>
                            <a:fillRect l="-39744" t="-6897" r="-402564" b="-720690"/>
                          </a:stretch>
                        </a:blipFill>
                      </a:tcPr>
                    </a:tc>
                    <a:tc>
                      <a:txBody>
                        <a:bodyPr/>
                        <a:lstStyle/>
                        <a:p>
                          <a:r>
                            <a:rPr lang="en-GB" sz="1600" b="0" dirty="0"/>
                            <a:t>Reason</a:t>
                          </a:r>
                        </a:p>
                      </a:txBody>
                      <a:tcPr/>
                    </a:tc>
                    <a:extLst>
                      <a:ext uri="{0D108BD9-81ED-4DB2-BD59-A6C34878D82A}">
                        <a16:rowId xmlns:a16="http://schemas.microsoft.com/office/drawing/2014/main" val="1858270012"/>
                      </a:ext>
                    </a:extLst>
                  </a:tr>
                  <a:tr h="370840">
                    <a:tc>
                      <a:txBody>
                        <a:bodyPr/>
                        <a:lstStyle/>
                        <a:p>
                          <a:r>
                            <a:rPr lang="en-GB" sz="1600" dirty="0"/>
                            <a:t>1</a:t>
                          </a:r>
                        </a:p>
                      </a:txBody>
                      <a:tcPr/>
                    </a:tc>
                    <a:tc>
                      <a:txBody>
                        <a:bodyPr/>
                        <a:lstStyle/>
                        <a:p>
                          <a:r>
                            <a:rPr lang="en-GB" sz="1600" dirty="0"/>
                            <a:t>-4000</a:t>
                          </a:r>
                        </a:p>
                      </a:txBody>
                      <a:tcPr/>
                    </a:tc>
                    <a:tc>
                      <a:txBody>
                        <a:bodyPr/>
                        <a:lstStyle/>
                        <a:p>
                          <a:r>
                            <a:rPr lang="en-GB" sz="1600" dirty="0"/>
                            <a:t>Design re-evaluation of subsystems</a:t>
                          </a:r>
                        </a:p>
                      </a:txBody>
                      <a:tcPr/>
                    </a:tc>
                    <a:extLst>
                      <a:ext uri="{0D108BD9-81ED-4DB2-BD59-A6C34878D82A}">
                        <a16:rowId xmlns:a16="http://schemas.microsoft.com/office/drawing/2014/main" val="3549142664"/>
                      </a:ext>
                    </a:extLst>
                  </a:tr>
                  <a:tr h="370840">
                    <a:tc>
                      <a:txBody>
                        <a:bodyPr/>
                        <a:lstStyle/>
                        <a:p>
                          <a:r>
                            <a:rPr lang="en-GB" sz="1600" dirty="0"/>
                            <a:t>2</a:t>
                          </a:r>
                        </a:p>
                      </a:txBody>
                      <a:tcPr/>
                    </a:tc>
                    <a:tc>
                      <a:txBody>
                        <a:bodyPr/>
                        <a:lstStyle/>
                        <a:p>
                          <a:r>
                            <a:rPr lang="en-GB" sz="1600" dirty="0"/>
                            <a:t>+6500</a:t>
                          </a:r>
                        </a:p>
                      </a:txBody>
                      <a:tcPr/>
                    </a:tc>
                    <a:tc>
                      <a:txBody>
                        <a:bodyPr/>
                        <a:lstStyle/>
                        <a:p>
                          <a:r>
                            <a:rPr lang="en-GB" sz="1600" dirty="0"/>
                            <a:t>Structure design of HT and connections</a:t>
                          </a:r>
                        </a:p>
                      </a:txBody>
                      <a:tcPr/>
                    </a:tc>
                    <a:extLst>
                      <a:ext uri="{0D108BD9-81ED-4DB2-BD59-A6C34878D82A}">
                        <a16:rowId xmlns:a16="http://schemas.microsoft.com/office/drawing/2014/main" val="2914684602"/>
                      </a:ext>
                    </a:extLst>
                  </a:tr>
                  <a:tr h="370840">
                    <a:tc>
                      <a:txBody>
                        <a:bodyPr/>
                        <a:lstStyle/>
                        <a:p>
                          <a:r>
                            <a:rPr lang="en-GB" sz="1600" dirty="0"/>
                            <a:t>3</a:t>
                          </a:r>
                        </a:p>
                      </a:txBody>
                      <a:tcPr/>
                    </a:tc>
                    <a:tc>
                      <a:txBody>
                        <a:bodyPr/>
                        <a:lstStyle/>
                        <a:p>
                          <a:r>
                            <a:rPr lang="en-GB" sz="1600" dirty="0"/>
                            <a:t>-7000</a:t>
                          </a:r>
                        </a:p>
                      </a:txBody>
                      <a:tcPr/>
                    </a:tc>
                    <a:tc>
                      <a:txBody>
                        <a:bodyPr/>
                        <a:lstStyle/>
                        <a:p>
                          <a:r>
                            <a:rPr lang="en-GB" sz="1600" dirty="0"/>
                            <a:t>Structural and LGs optimization</a:t>
                          </a:r>
                        </a:p>
                      </a:txBody>
                      <a:tcPr/>
                    </a:tc>
                    <a:extLst>
                      <a:ext uri="{0D108BD9-81ED-4DB2-BD59-A6C34878D82A}">
                        <a16:rowId xmlns:a16="http://schemas.microsoft.com/office/drawing/2014/main" val="112806456"/>
                      </a:ext>
                    </a:extLst>
                  </a:tr>
                  <a:tr h="370840">
                    <a:tc>
                      <a:txBody>
                        <a:bodyPr/>
                        <a:lstStyle/>
                        <a:p>
                          <a:r>
                            <a:rPr lang="en-GB" sz="1600" dirty="0"/>
                            <a:t>4</a:t>
                          </a:r>
                        </a:p>
                      </a:txBody>
                      <a:tcPr/>
                    </a:tc>
                    <a:tc>
                      <a:txBody>
                        <a:bodyPr/>
                        <a:lstStyle/>
                        <a:p>
                          <a:r>
                            <a:rPr lang="en-GB" sz="1600" dirty="0"/>
                            <a:t>+6800</a:t>
                          </a:r>
                        </a:p>
                      </a:txBody>
                      <a:tcPr/>
                    </a:tc>
                    <a:tc>
                      <a:txBody>
                        <a:bodyPr/>
                        <a:lstStyle/>
                        <a:p>
                          <a:r>
                            <a:rPr lang="en-GB" sz="1600" dirty="0"/>
                            <a:t>HLD structures</a:t>
                          </a:r>
                        </a:p>
                      </a:txBody>
                      <a:tcPr/>
                    </a:tc>
                    <a:extLst>
                      <a:ext uri="{0D108BD9-81ED-4DB2-BD59-A6C34878D82A}">
                        <a16:rowId xmlns:a16="http://schemas.microsoft.com/office/drawing/2014/main" val="197918123"/>
                      </a:ext>
                    </a:extLst>
                  </a:tr>
                  <a:tr h="370840">
                    <a:tc>
                      <a:txBody>
                        <a:bodyPr/>
                        <a:lstStyle/>
                        <a:p>
                          <a:r>
                            <a:rPr lang="en-GB" sz="1600" dirty="0"/>
                            <a:t>5</a:t>
                          </a:r>
                        </a:p>
                      </a:txBody>
                      <a:tcPr/>
                    </a:tc>
                    <a:tc>
                      <a:txBody>
                        <a:bodyPr/>
                        <a:lstStyle/>
                        <a:p>
                          <a:r>
                            <a:rPr lang="en-GB" sz="1600" dirty="0"/>
                            <a:t>-2500</a:t>
                          </a:r>
                        </a:p>
                      </a:txBody>
                      <a:tcPr/>
                    </a:tc>
                    <a:tc>
                      <a:txBody>
                        <a:bodyPr/>
                        <a:lstStyle/>
                        <a:p>
                          <a:r>
                            <a:rPr lang="en-GB" sz="1600" dirty="0"/>
                            <a:t>Structure opt &amp; material change</a:t>
                          </a:r>
                        </a:p>
                      </a:txBody>
                      <a:tcPr/>
                    </a:tc>
                    <a:extLst>
                      <a:ext uri="{0D108BD9-81ED-4DB2-BD59-A6C34878D82A}">
                        <a16:rowId xmlns:a16="http://schemas.microsoft.com/office/drawing/2014/main" val="463321571"/>
                      </a:ext>
                    </a:extLst>
                  </a:tr>
                  <a:tr h="370840">
                    <a:tc>
                      <a:txBody>
                        <a:bodyPr/>
                        <a:lstStyle/>
                        <a:p>
                          <a:r>
                            <a:rPr lang="en-GB" sz="1600" dirty="0"/>
                            <a:t>6</a:t>
                          </a:r>
                        </a:p>
                      </a:txBody>
                      <a:tcPr/>
                    </a:tc>
                    <a:tc>
                      <a:txBody>
                        <a:bodyPr/>
                        <a:lstStyle/>
                        <a:p>
                          <a:r>
                            <a:rPr lang="en-GB" sz="1600" dirty="0"/>
                            <a:t>+8200</a:t>
                          </a:r>
                        </a:p>
                      </a:txBody>
                      <a:tcPr/>
                    </a:tc>
                    <a:tc>
                      <a:txBody>
                        <a:bodyPr/>
                        <a:lstStyle/>
                        <a:p>
                          <a:r>
                            <a:rPr lang="en-GB" sz="1600" dirty="0"/>
                            <a:t>Design for manufacture</a:t>
                          </a:r>
                        </a:p>
                      </a:txBody>
                      <a:tcPr/>
                    </a:tc>
                    <a:extLst>
                      <a:ext uri="{0D108BD9-81ED-4DB2-BD59-A6C34878D82A}">
                        <a16:rowId xmlns:a16="http://schemas.microsoft.com/office/drawing/2014/main" val="398887074"/>
                      </a:ext>
                    </a:extLst>
                  </a:tr>
                  <a:tr h="370840">
                    <a:tc>
                      <a:txBody>
                        <a:bodyPr/>
                        <a:lstStyle/>
                        <a:p>
                          <a:r>
                            <a:rPr lang="en-GB" sz="1600" dirty="0"/>
                            <a:t>8</a:t>
                          </a:r>
                        </a:p>
                      </a:txBody>
                      <a:tcPr/>
                    </a:tc>
                    <a:tc>
                      <a:txBody>
                        <a:bodyPr/>
                        <a:lstStyle/>
                        <a:p>
                          <a:r>
                            <a:rPr lang="en-GB" sz="1600" dirty="0"/>
                            <a:t>+1500</a:t>
                          </a:r>
                        </a:p>
                      </a:txBody>
                      <a:tcPr/>
                    </a:tc>
                    <a:tc>
                      <a:txBody>
                        <a:bodyPr/>
                        <a:lstStyle/>
                        <a:p>
                          <a:r>
                            <a:rPr lang="en-GB" sz="1600" dirty="0"/>
                            <a:t>Design changes</a:t>
                          </a:r>
                        </a:p>
                      </a:txBody>
                      <a:tcPr/>
                    </a:tc>
                    <a:extLst>
                      <a:ext uri="{0D108BD9-81ED-4DB2-BD59-A6C34878D82A}">
                        <a16:rowId xmlns:a16="http://schemas.microsoft.com/office/drawing/2014/main" val="2013274061"/>
                      </a:ext>
                    </a:extLst>
                  </a:tr>
                </a:tbl>
              </a:graphicData>
            </a:graphic>
          </p:graphicFrame>
        </mc:Fallback>
      </mc:AlternateContent>
      <p:sp>
        <p:nvSpPr>
          <p:cNvPr id="12" name="Oval 11">
            <a:extLst>
              <a:ext uri="{FF2B5EF4-FFF2-40B4-BE49-F238E27FC236}">
                <a16:creationId xmlns:a16="http://schemas.microsoft.com/office/drawing/2014/main" id="{54C51C35-06EC-7F0E-B3A1-0CF5CE5E4B9E}"/>
              </a:ext>
            </a:extLst>
          </p:cNvPr>
          <p:cNvSpPr/>
          <p:nvPr/>
        </p:nvSpPr>
        <p:spPr bwMode="auto">
          <a:xfrm>
            <a:off x="2141537" y="2348880"/>
            <a:ext cx="3018359" cy="288032"/>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85653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3"/>
          <p:cNvSpPr txBox="1">
            <a:spLocks noChangeArrowheads="1"/>
          </p:cNvSpPr>
          <p:nvPr/>
        </p:nvSpPr>
        <p:spPr bwMode="auto">
          <a:xfrm>
            <a:off x="767409" y="980728"/>
            <a:ext cx="9508482" cy="4844403"/>
          </a:xfrm>
          <a:prstGeom prst="rect">
            <a:avLst/>
          </a:prstGeom>
          <a:noFill/>
          <a:ln w="9525" algn="ctr">
            <a:noFill/>
            <a:miter lim="800000"/>
            <a:headEnd/>
            <a:tailEnd/>
          </a:ln>
        </p:spPr>
        <p:txBody>
          <a:bodyPr wrap="square">
            <a:spAutoFit/>
          </a:bodyPr>
          <a:lstStyle/>
          <a:p>
            <a:pPr marL="342900" indent="-342900">
              <a:lnSpc>
                <a:spcPct val="110000"/>
              </a:lnSpc>
              <a:spcBef>
                <a:spcPct val="50000"/>
              </a:spcBef>
              <a:buClr>
                <a:srgbClr val="00A4DE"/>
              </a:buClr>
              <a:buFontTx/>
              <a:buChar char="•"/>
            </a:pPr>
            <a:r>
              <a:rPr lang="en-US" sz="1600" dirty="0"/>
              <a:t>The Boeing 747-100 was initially designed to carry 350 passengers over 5,100 nm with a MTOW of </a:t>
            </a:r>
            <a:r>
              <a:rPr lang="en-US" sz="1600" dirty="0">
                <a:solidFill>
                  <a:srgbClr val="FF3300"/>
                </a:solidFill>
              </a:rPr>
              <a:t>550,000 </a:t>
            </a:r>
            <a:r>
              <a:rPr lang="en-US" sz="1600" dirty="0" err="1">
                <a:solidFill>
                  <a:srgbClr val="FF3300"/>
                </a:solidFill>
              </a:rPr>
              <a:t>lb</a:t>
            </a:r>
            <a:r>
              <a:rPr lang="en-US" sz="1600" dirty="0"/>
              <a:t>…..</a:t>
            </a:r>
          </a:p>
          <a:p>
            <a:pPr marL="342900" indent="-342900">
              <a:lnSpc>
                <a:spcPct val="110000"/>
              </a:lnSpc>
              <a:spcBef>
                <a:spcPct val="50000"/>
              </a:spcBef>
              <a:buClr>
                <a:srgbClr val="00A4DE"/>
              </a:buClr>
              <a:buFontTx/>
              <a:buChar char="•"/>
            </a:pPr>
            <a:endParaRPr lang="en-US" sz="1600" dirty="0"/>
          </a:p>
          <a:p>
            <a:pPr marL="342900" indent="-342900">
              <a:lnSpc>
                <a:spcPct val="110000"/>
              </a:lnSpc>
              <a:spcBef>
                <a:spcPct val="50000"/>
              </a:spcBef>
              <a:buClr>
                <a:srgbClr val="00A4DE"/>
              </a:buClr>
              <a:buFontTx/>
              <a:buChar char="•"/>
            </a:pPr>
            <a:r>
              <a:rPr lang="en-US" sz="1600" dirty="0"/>
              <a:t>.... but was finally certified with a MTOW of </a:t>
            </a:r>
            <a:r>
              <a:rPr lang="en-US" sz="1600" dirty="0">
                <a:solidFill>
                  <a:srgbClr val="FF3300"/>
                </a:solidFill>
              </a:rPr>
              <a:t>710,000 </a:t>
            </a:r>
            <a:r>
              <a:rPr lang="en-US" sz="1600" dirty="0" err="1">
                <a:solidFill>
                  <a:srgbClr val="FF3300"/>
                </a:solidFill>
              </a:rPr>
              <a:t>lb</a:t>
            </a:r>
            <a:r>
              <a:rPr lang="en-US" sz="1600" dirty="0"/>
              <a:t> </a:t>
            </a:r>
            <a:r>
              <a:rPr lang="en-US" sz="1600" b="1" dirty="0"/>
              <a:t>(+29%</a:t>
            </a:r>
            <a:r>
              <a:rPr lang="en-US" sz="1600" dirty="0"/>
              <a:t>).</a:t>
            </a:r>
          </a:p>
          <a:p>
            <a:pPr marL="342900" indent="-342900">
              <a:lnSpc>
                <a:spcPct val="110000"/>
              </a:lnSpc>
              <a:spcBef>
                <a:spcPct val="50000"/>
              </a:spcBef>
              <a:buClr>
                <a:srgbClr val="00A4DE"/>
              </a:buClr>
              <a:buFontTx/>
              <a:buChar char="•"/>
            </a:pPr>
            <a:endParaRPr lang="en-US" sz="1600" dirty="0"/>
          </a:p>
          <a:p>
            <a:pPr>
              <a:lnSpc>
                <a:spcPct val="110000"/>
              </a:lnSpc>
              <a:spcBef>
                <a:spcPct val="50000"/>
              </a:spcBef>
              <a:buClr>
                <a:srgbClr val="00A4DE"/>
              </a:buClr>
            </a:pPr>
            <a:endParaRPr lang="en-US" sz="1600" dirty="0"/>
          </a:p>
          <a:p>
            <a:pPr>
              <a:lnSpc>
                <a:spcPct val="110000"/>
              </a:lnSpc>
              <a:spcBef>
                <a:spcPct val="50000"/>
              </a:spcBef>
              <a:buClr>
                <a:srgbClr val="00A4DE"/>
              </a:buClr>
            </a:pPr>
            <a:r>
              <a:rPr lang="en-US" sz="1600" dirty="0"/>
              <a:t> </a:t>
            </a:r>
          </a:p>
          <a:p>
            <a:pPr marL="342900" indent="-342900">
              <a:lnSpc>
                <a:spcPct val="110000"/>
              </a:lnSpc>
              <a:spcBef>
                <a:spcPct val="50000"/>
              </a:spcBef>
              <a:buClr>
                <a:srgbClr val="00A4DE"/>
              </a:buClr>
              <a:buFontTx/>
              <a:buChar char="•"/>
            </a:pPr>
            <a:endParaRPr lang="en-US" sz="1600" dirty="0"/>
          </a:p>
          <a:p>
            <a:pPr marL="342900" indent="-342900">
              <a:lnSpc>
                <a:spcPct val="110000"/>
              </a:lnSpc>
              <a:spcBef>
                <a:spcPct val="50000"/>
              </a:spcBef>
              <a:buClr>
                <a:srgbClr val="00A4DE"/>
              </a:buClr>
              <a:buFontTx/>
              <a:buChar char="•"/>
            </a:pPr>
            <a:endParaRPr lang="en-US" sz="1600" dirty="0"/>
          </a:p>
          <a:p>
            <a:pPr marL="342900" indent="-342900">
              <a:lnSpc>
                <a:spcPct val="110000"/>
              </a:lnSpc>
              <a:spcBef>
                <a:spcPct val="50000"/>
              </a:spcBef>
              <a:buClr>
                <a:srgbClr val="00A4DE"/>
              </a:buClr>
              <a:buFontTx/>
              <a:buChar char="•"/>
            </a:pPr>
            <a:endParaRPr lang="en-US" sz="1600" dirty="0"/>
          </a:p>
          <a:p>
            <a:pPr>
              <a:lnSpc>
                <a:spcPct val="110000"/>
              </a:lnSpc>
              <a:spcBef>
                <a:spcPct val="50000"/>
              </a:spcBef>
              <a:buClr>
                <a:srgbClr val="00A4DE"/>
              </a:buClr>
            </a:pPr>
            <a:endParaRPr lang="en-US" sz="1600" dirty="0"/>
          </a:p>
          <a:p>
            <a:pPr marL="342900" indent="-342900">
              <a:lnSpc>
                <a:spcPct val="110000"/>
              </a:lnSpc>
              <a:spcBef>
                <a:spcPct val="50000"/>
              </a:spcBef>
              <a:buClr>
                <a:srgbClr val="00A4DE"/>
              </a:buClr>
              <a:buFontTx/>
              <a:buChar char="•"/>
            </a:pPr>
            <a:r>
              <a:rPr lang="en-US" sz="1600" dirty="0"/>
              <a:t>The later B747-400 carried 416 </a:t>
            </a:r>
            <a:r>
              <a:rPr lang="en-US" sz="1600" dirty="0" err="1"/>
              <a:t>pax</a:t>
            </a:r>
            <a:r>
              <a:rPr lang="en-US" sz="1600" dirty="0"/>
              <a:t> (+19%) over 7,670 nm (+50%) with a MTOW of </a:t>
            </a:r>
            <a:r>
              <a:rPr lang="en-US" sz="1600" dirty="0">
                <a:solidFill>
                  <a:srgbClr val="FF0000"/>
                </a:solidFill>
              </a:rPr>
              <a:t>910,000 </a:t>
            </a:r>
            <a:r>
              <a:rPr lang="en-US" sz="1600" dirty="0" err="1">
                <a:solidFill>
                  <a:srgbClr val="FF0000"/>
                </a:solidFill>
              </a:rPr>
              <a:t>lb</a:t>
            </a:r>
            <a:r>
              <a:rPr lang="en-US" sz="1600" dirty="0">
                <a:solidFill>
                  <a:srgbClr val="FF0000"/>
                </a:solidFill>
              </a:rPr>
              <a:t> </a:t>
            </a:r>
            <a:r>
              <a:rPr lang="en-US" sz="1600" dirty="0"/>
              <a:t>(+28%) largely due to improved engine SFC.</a:t>
            </a:r>
          </a:p>
        </p:txBody>
      </p:sp>
      <p:sp>
        <p:nvSpPr>
          <p:cNvPr id="19459" name="Rectangle 4"/>
          <p:cNvSpPr>
            <a:spLocks noChangeArrowheads="1"/>
          </p:cNvSpPr>
          <p:nvPr/>
        </p:nvSpPr>
        <p:spPr bwMode="auto">
          <a:xfrm>
            <a:off x="767409" y="246063"/>
            <a:ext cx="9508482" cy="523220"/>
          </a:xfrm>
          <a:prstGeom prst="rect">
            <a:avLst/>
          </a:prstGeom>
          <a:noFill/>
          <a:ln w="9525" algn="ctr">
            <a:noFill/>
            <a:miter lim="800000"/>
            <a:headEnd/>
            <a:tailEnd/>
          </a:ln>
        </p:spPr>
        <p:txBody>
          <a:bodyPr wrap="square">
            <a:spAutoFit/>
          </a:bodyPr>
          <a:lstStyle/>
          <a:p>
            <a:pPr>
              <a:spcBef>
                <a:spcPct val="0"/>
              </a:spcBef>
              <a:buClrTx/>
            </a:pPr>
            <a:r>
              <a:rPr lang="en-US" sz="2800" dirty="0">
                <a:solidFill>
                  <a:srgbClr val="00A4DE"/>
                </a:solidFill>
                <a:latin typeface="+mj-lt"/>
              </a:rPr>
              <a:t>The problem of weight growth – Example 1</a:t>
            </a:r>
          </a:p>
        </p:txBody>
      </p:sp>
      <p:sp>
        <p:nvSpPr>
          <p:cNvPr id="5" name="Text Box 3"/>
          <p:cNvSpPr txBox="1">
            <a:spLocks noChangeArrowheads="1"/>
          </p:cNvSpPr>
          <p:nvPr/>
        </p:nvSpPr>
        <p:spPr bwMode="auto">
          <a:xfrm>
            <a:off x="695400" y="2556543"/>
            <a:ext cx="6480720" cy="1670970"/>
          </a:xfrm>
          <a:prstGeom prst="rect">
            <a:avLst/>
          </a:prstGeom>
          <a:noFill/>
          <a:ln w="9525" algn="ctr">
            <a:noFill/>
            <a:miter lim="800000"/>
            <a:headEnd/>
            <a:tailEnd/>
          </a:ln>
        </p:spPr>
        <p:txBody>
          <a:bodyPr wrap="square">
            <a:spAutoFit/>
          </a:bodyPr>
          <a:lstStyle/>
          <a:p>
            <a:pPr lvl="1">
              <a:lnSpc>
                <a:spcPct val="110000"/>
              </a:lnSpc>
              <a:spcBef>
                <a:spcPct val="50000"/>
              </a:spcBef>
              <a:buClr>
                <a:srgbClr val="00A4DE"/>
              </a:buClr>
            </a:pPr>
            <a:r>
              <a:rPr lang="en-US" sz="1600" dirty="0">
                <a:sym typeface="Wingdings" pitchFamily="2" charset="2"/>
              </a:rPr>
              <a:t> </a:t>
            </a:r>
            <a:r>
              <a:rPr lang="en-US" sz="1600" b="1" dirty="0"/>
              <a:t>Engine thrust </a:t>
            </a:r>
            <a:r>
              <a:rPr lang="en-US" sz="1600" dirty="0"/>
              <a:t>for the Pratt &amp; Whitney JT9D-7A had to be increased from 41,000 </a:t>
            </a:r>
            <a:r>
              <a:rPr lang="en-US" sz="1600" dirty="0" err="1"/>
              <a:t>lb</a:t>
            </a:r>
            <a:r>
              <a:rPr lang="en-US" sz="1600" dirty="0"/>
              <a:t> to 46,500 </a:t>
            </a:r>
            <a:r>
              <a:rPr lang="en-US" sz="1600" dirty="0" err="1"/>
              <a:t>lb</a:t>
            </a:r>
            <a:r>
              <a:rPr lang="en-US" sz="1600" dirty="0"/>
              <a:t> </a:t>
            </a:r>
            <a:r>
              <a:rPr lang="en-US" sz="1600" b="1" dirty="0"/>
              <a:t>(+13.4%) </a:t>
            </a:r>
          </a:p>
          <a:p>
            <a:pPr lvl="1">
              <a:lnSpc>
                <a:spcPct val="110000"/>
              </a:lnSpc>
              <a:spcBef>
                <a:spcPct val="50000"/>
              </a:spcBef>
              <a:buClr>
                <a:srgbClr val="00A4DE"/>
              </a:buClr>
            </a:pPr>
            <a:r>
              <a:rPr lang="en-US" sz="1600" dirty="0">
                <a:sym typeface="Wingdings" pitchFamily="2" charset="2"/>
              </a:rPr>
              <a:t> </a:t>
            </a:r>
            <a:r>
              <a:rPr lang="en-US" sz="1600" b="1" dirty="0"/>
              <a:t>Take-off field length </a:t>
            </a:r>
            <a:r>
              <a:rPr lang="en-US" sz="1600" dirty="0"/>
              <a:t>had increased from 8,000 </a:t>
            </a:r>
            <a:r>
              <a:rPr lang="en-US" sz="1600" dirty="0" err="1"/>
              <a:t>ft</a:t>
            </a:r>
            <a:r>
              <a:rPr lang="en-US" sz="1600" dirty="0"/>
              <a:t> to 11,750 </a:t>
            </a:r>
            <a:r>
              <a:rPr lang="en-US" sz="1600" dirty="0" err="1"/>
              <a:t>ft</a:t>
            </a:r>
            <a:r>
              <a:rPr lang="en-US" sz="1600" dirty="0"/>
              <a:t> </a:t>
            </a:r>
            <a:r>
              <a:rPr lang="en-US" sz="1600" b="1" dirty="0"/>
              <a:t>(+47%)</a:t>
            </a:r>
            <a:r>
              <a:rPr lang="en-US" sz="1600" dirty="0"/>
              <a:t>*  </a:t>
            </a:r>
          </a:p>
          <a:p>
            <a:pPr lvl="1">
              <a:lnSpc>
                <a:spcPct val="110000"/>
              </a:lnSpc>
              <a:spcBef>
                <a:spcPct val="50000"/>
              </a:spcBef>
              <a:buClr>
                <a:srgbClr val="00A4DE"/>
              </a:buClr>
            </a:pPr>
            <a:r>
              <a:rPr lang="en-US" sz="1600" dirty="0">
                <a:sym typeface="Wingdings" pitchFamily="2" charset="2"/>
              </a:rPr>
              <a:t> </a:t>
            </a:r>
            <a:r>
              <a:rPr lang="en-US" sz="1600" dirty="0"/>
              <a:t>Initial cruise altitude had dropped from FL 350 to FL 310* </a:t>
            </a:r>
          </a:p>
        </p:txBody>
      </p:sp>
      <p:pic>
        <p:nvPicPr>
          <p:cNvPr id="21197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2718" b="16222"/>
          <a:stretch/>
        </p:blipFill>
        <p:spPr bwMode="auto">
          <a:xfrm>
            <a:off x="7896200" y="1772816"/>
            <a:ext cx="4025403" cy="2664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0308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8">
                                            <p:txEl>
                                              <p:pRg st="2" end="2"/>
                                            </p:txEl>
                                          </p:spTgt>
                                        </p:tgtEl>
                                        <p:attrNameLst>
                                          <p:attrName>style.visibility</p:attrName>
                                        </p:attrNameLst>
                                      </p:cBhvr>
                                      <p:to>
                                        <p:strVal val="visible"/>
                                      </p:to>
                                    </p:set>
                                    <p:animEffect transition="in" filter="fade">
                                      <p:cBhvr>
                                        <p:cTn id="7" dur="500"/>
                                        <p:tgtEl>
                                          <p:spTgt spid="1945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8">
                                            <p:txEl>
                                              <p:pRg st="10" end="10"/>
                                            </p:txEl>
                                          </p:spTgt>
                                        </p:tgtEl>
                                        <p:attrNameLst>
                                          <p:attrName>style.visibility</p:attrName>
                                        </p:attrNameLst>
                                      </p:cBhvr>
                                      <p:to>
                                        <p:strVal val="visible"/>
                                      </p:to>
                                    </p:set>
                                    <p:animEffect transition="in" filter="fade">
                                      <p:cBhvr>
                                        <p:cTn id="27" dur="500"/>
                                        <p:tgtEl>
                                          <p:spTgt spid="1945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551385" y="246063"/>
            <a:ext cx="9793090" cy="523220"/>
          </a:xfrm>
          <a:prstGeom prst="rect">
            <a:avLst/>
          </a:prstGeom>
          <a:noFill/>
          <a:ln w="9525" algn="ctr">
            <a:noFill/>
            <a:miter lim="800000"/>
            <a:headEnd/>
            <a:tailEnd/>
          </a:ln>
        </p:spPr>
        <p:txBody>
          <a:bodyPr wrap="square">
            <a:spAutoFit/>
          </a:bodyPr>
          <a:lstStyle/>
          <a:p>
            <a:pPr>
              <a:spcBef>
                <a:spcPct val="0"/>
              </a:spcBef>
              <a:buClrTx/>
            </a:pPr>
            <a:r>
              <a:rPr lang="en-US" sz="2800" dirty="0">
                <a:solidFill>
                  <a:srgbClr val="00A4DE"/>
                </a:solidFill>
                <a:latin typeface="+mj-lt"/>
              </a:rPr>
              <a:t>The problem of weight growth – Example 2</a:t>
            </a:r>
          </a:p>
        </p:txBody>
      </p:sp>
      <p:sp>
        <p:nvSpPr>
          <p:cNvPr id="20483" name="Rectangle 3"/>
          <p:cNvSpPr>
            <a:spLocks noChangeArrowheads="1"/>
          </p:cNvSpPr>
          <p:nvPr/>
        </p:nvSpPr>
        <p:spPr bwMode="auto">
          <a:xfrm>
            <a:off x="695400" y="3959616"/>
            <a:ext cx="10569811" cy="1224951"/>
          </a:xfrm>
          <a:prstGeom prst="rect">
            <a:avLst/>
          </a:prstGeom>
          <a:noFill/>
          <a:ln w="9525">
            <a:noFill/>
            <a:miter lim="800000"/>
            <a:headEnd/>
            <a:tailEnd/>
          </a:ln>
        </p:spPr>
        <p:txBody>
          <a:bodyPr wrap="square">
            <a:spAutoFit/>
          </a:bodyPr>
          <a:lstStyle/>
          <a:p>
            <a:pPr fontAlgn="t">
              <a:spcBef>
                <a:spcPct val="50000"/>
              </a:spcBef>
              <a:buClrTx/>
            </a:pPr>
            <a:r>
              <a:rPr lang="en-US" sz="1600" dirty="0"/>
              <a:t>A </a:t>
            </a:r>
            <a:r>
              <a:rPr lang="en-GB" sz="1600" b="1" dirty="0">
                <a:solidFill>
                  <a:srgbClr val="FF3300"/>
                </a:solidFill>
              </a:rPr>
              <a:t>Super Weight Improvement Program</a:t>
            </a:r>
            <a:r>
              <a:rPr lang="en-GB" sz="1600" b="1" dirty="0"/>
              <a:t> </a:t>
            </a:r>
            <a:r>
              <a:rPr lang="en-GB" sz="1600" dirty="0"/>
              <a:t>(SWIP), was followed by the </a:t>
            </a:r>
            <a:r>
              <a:rPr lang="en-GB" sz="1600" b="1" dirty="0">
                <a:solidFill>
                  <a:srgbClr val="FF3300"/>
                </a:solidFill>
              </a:rPr>
              <a:t>Colossal Weight Improvement Programs I, II and III</a:t>
            </a:r>
            <a:r>
              <a:rPr lang="en-US" sz="1600" b="1" dirty="0"/>
              <a:t> </a:t>
            </a:r>
            <a:r>
              <a:rPr lang="en-US" sz="1600" dirty="0"/>
              <a:t>- to no avail </a:t>
            </a:r>
            <a:r>
              <a:rPr lang="en-US" sz="1600" dirty="0">
                <a:sym typeface="Wingdings" panose="05000000000000000000" pitchFamily="2" charset="2"/>
              </a:rPr>
              <a:t></a:t>
            </a:r>
            <a:r>
              <a:rPr lang="en-US" sz="1600" dirty="0"/>
              <a:t>. </a:t>
            </a:r>
          </a:p>
          <a:p>
            <a:pPr>
              <a:spcBef>
                <a:spcPct val="30000"/>
              </a:spcBef>
              <a:buClrTx/>
            </a:pPr>
            <a:endParaRPr lang="en-GB" sz="1600" dirty="0"/>
          </a:p>
          <a:p>
            <a:pPr>
              <a:spcBef>
                <a:spcPct val="30000"/>
              </a:spcBef>
              <a:buClrTx/>
            </a:pPr>
            <a:r>
              <a:rPr lang="en-GB" sz="1600" dirty="0"/>
              <a:t>That role was eventually performed by the Grumman F</a:t>
            </a:r>
            <a:r>
              <a:rPr lang="en-US" sz="1600" dirty="0"/>
              <a:t>-</a:t>
            </a:r>
            <a:r>
              <a:rPr lang="en-GB" sz="1600" dirty="0"/>
              <a:t>14 Tomcat using the same engines, weapons and avionics.</a:t>
            </a:r>
          </a:p>
        </p:txBody>
      </p:sp>
      <p:pic>
        <p:nvPicPr>
          <p:cNvPr id="20484" name="Picture 4" descr="f111b-i"/>
          <p:cNvPicPr>
            <a:picLocks noChangeAspect="1" noChangeArrowheads="1"/>
          </p:cNvPicPr>
          <p:nvPr/>
        </p:nvPicPr>
        <p:blipFill>
          <a:blip r:embed="rId3" cstate="print"/>
          <a:srcRect/>
          <a:stretch>
            <a:fillRect/>
          </a:stretch>
        </p:blipFill>
        <p:spPr bwMode="auto">
          <a:xfrm>
            <a:off x="7176120" y="1052736"/>
            <a:ext cx="4089091" cy="2304256"/>
          </a:xfrm>
          <a:prstGeom prst="rect">
            <a:avLst/>
          </a:prstGeom>
          <a:noFill/>
          <a:ln w="9525">
            <a:noFill/>
            <a:miter lim="800000"/>
            <a:headEnd/>
            <a:tailEnd/>
          </a:ln>
        </p:spPr>
      </p:pic>
      <p:sp>
        <p:nvSpPr>
          <p:cNvPr id="20486" name="Text Box 7"/>
          <p:cNvSpPr txBox="1">
            <a:spLocks noChangeArrowheads="1"/>
          </p:cNvSpPr>
          <p:nvPr/>
        </p:nvSpPr>
        <p:spPr bwMode="auto">
          <a:xfrm>
            <a:off x="695400" y="1196752"/>
            <a:ext cx="5322374" cy="2086725"/>
          </a:xfrm>
          <a:prstGeom prst="rect">
            <a:avLst/>
          </a:prstGeom>
          <a:noFill/>
          <a:ln w="9525">
            <a:noFill/>
            <a:miter lim="800000"/>
            <a:headEnd/>
            <a:tailEnd/>
          </a:ln>
        </p:spPr>
        <p:txBody>
          <a:bodyPr wrap="square">
            <a:spAutoFit/>
          </a:bodyPr>
          <a:lstStyle/>
          <a:p>
            <a:pPr>
              <a:spcBef>
                <a:spcPct val="30000"/>
              </a:spcBef>
              <a:buClrTx/>
            </a:pPr>
            <a:r>
              <a:rPr lang="en-GB" sz="1600" dirty="0"/>
              <a:t>The </a:t>
            </a:r>
            <a:r>
              <a:rPr lang="en-GB" sz="1600" b="1" dirty="0"/>
              <a:t>General Dynamics F</a:t>
            </a:r>
            <a:r>
              <a:rPr lang="en-US" sz="1600" b="1" dirty="0"/>
              <a:t>-</a:t>
            </a:r>
            <a:r>
              <a:rPr lang="en-GB" sz="1600" b="1" dirty="0"/>
              <a:t>111</a:t>
            </a:r>
            <a:r>
              <a:rPr lang="en-US" sz="1600" b="1" dirty="0"/>
              <a:t>B</a:t>
            </a:r>
            <a:r>
              <a:rPr lang="en-GB" sz="1600" dirty="0"/>
              <a:t> was a notorious example of </a:t>
            </a:r>
            <a:r>
              <a:rPr lang="en-GB" sz="1600" dirty="0" err="1"/>
              <a:t>unco</a:t>
            </a:r>
            <a:r>
              <a:rPr lang="en-US" sz="1600" dirty="0" err="1"/>
              <a:t>ntained</a:t>
            </a:r>
            <a:r>
              <a:rPr lang="en-GB" sz="1600" dirty="0"/>
              <a:t> weight growth, effectively denying </a:t>
            </a:r>
            <a:r>
              <a:rPr lang="en-GB" sz="1600" b="1" dirty="0"/>
              <a:t>carrier vessel operation</a:t>
            </a:r>
            <a:r>
              <a:rPr lang="en-GB" sz="1600" dirty="0"/>
              <a:t>. </a:t>
            </a:r>
          </a:p>
          <a:p>
            <a:pPr>
              <a:spcBef>
                <a:spcPct val="30000"/>
              </a:spcBef>
              <a:buClrTx/>
            </a:pPr>
            <a:endParaRPr lang="en-GB" sz="1600" dirty="0"/>
          </a:p>
          <a:p>
            <a:pPr>
              <a:spcBef>
                <a:spcPct val="30000"/>
              </a:spcBef>
              <a:buClrTx/>
            </a:pPr>
            <a:r>
              <a:rPr lang="en-US" sz="1600" dirty="0">
                <a:sym typeface="Wingdings" pitchFamily="2" charset="2"/>
              </a:rPr>
              <a:t> </a:t>
            </a:r>
            <a:r>
              <a:rPr lang="en-US" sz="1600" dirty="0"/>
              <a:t>An aircraft carrier poses an absolute weight limit due to the catapult!!</a:t>
            </a:r>
            <a:endParaRPr lang="en-GB" sz="1600" dirty="0"/>
          </a:p>
          <a:p>
            <a:pPr>
              <a:spcBef>
                <a:spcPct val="50000"/>
              </a:spcBef>
              <a:buClrTx/>
              <a:buFontTx/>
              <a:buChar char="•"/>
            </a:pPr>
            <a:endParaRPr lang="en-GB" sz="1600" dirty="0">
              <a:sym typeface="Wingdings" pitchFamily="2" charset="2"/>
            </a:endParaRPr>
          </a:p>
        </p:txBody>
      </p:sp>
      <p:sp>
        <p:nvSpPr>
          <p:cNvPr id="2" name="Cross 1"/>
          <p:cNvSpPr/>
          <p:nvPr/>
        </p:nvSpPr>
        <p:spPr bwMode="auto">
          <a:xfrm rot="3320751">
            <a:off x="7319957" y="564053"/>
            <a:ext cx="3437292" cy="3411054"/>
          </a:xfrm>
          <a:prstGeom prst="plus">
            <a:avLst>
              <a:gd name="adj" fmla="val 48133"/>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pic>
        <p:nvPicPr>
          <p:cNvPr id="210946" name="Picture 2" descr="Image result for f-14 carrier launch"/>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76186" y="1147923"/>
            <a:ext cx="3888958" cy="2243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664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6">
                                            <p:txEl>
                                              <p:pRg st="2" end="2"/>
                                            </p:txEl>
                                          </p:spTgt>
                                        </p:tgtEl>
                                        <p:attrNameLst>
                                          <p:attrName>style.visibility</p:attrName>
                                        </p:attrNameLst>
                                      </p:cBhvr>
                                      <p:to>
                                        <p:strVal val="visible"/>
                                      </p:to>
                                    </p:set>
                                    <p:animEffect transition="in" filter="fade">
                                      <p:cBhvr>
                                        <p:cTn id="7" dur="500"/>
                                        <p:tgtEl>
                                          <p:spTgt spid="2048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83">
                                            <p:txEl>
                                              <p:pRg st="0" end="0"/>
                                            </p:txEl>
                                          </p:spTgt>
                                        </p:tgtEl>
                                        <p:attrNameLst>
                                          <p:attrName>style.visibility</p:attrName>
                                        </p:attrNameLst>
                                      </p:cBhvr>
                                      <p:to>
                                        <p:strVal val="visible"/>
                                      </p:to>
                                    </p:set>
                                    <p:animEffect transition="in" filter="fade">
                                      <p:cBhvr>
                                        <p:cTn id="12" dur="500"/>
                                        <p:tgtEl>
                                          <p:spTgt spid="2048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483">
                                            <p:txEl>
                                              <p:pRg st="2" end="2"/>
                                            </p:txEl>
                                          </p:spTgt>
                                        </p:tgtEl>
                                        <p:attrNameLst>
                                          <p:attrName>style.visibility</p:attrName>
                                        </p:attrNameLst>
                                      </p:cBhvr>
                                      <p:to>
                                        <p:strVal val="visible"/>
                                      </p:to>
                                    </p:set>
                                    <p:animEffect transition="in" filter="fade">
                                      <p:cBhvr>
                                        <p:cTn id="22" dur="500"/>
                                        <p:tgtEl>
                                          <p:spTgt spid="20483">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10946"/>
                                        </p:tgtEl>
                                        <p:attrNameLst>
                                          <p:attrName>style.visibility</p:attrName>
                                        </p:attrNameLst>
                                      </p:cBhvr>
                                      <p:to>
                                        <p:strVal val="visible"/>
                                      </p:to>
                                    </p:set>
                                    <p:animEffect transition="in" filter="fade">
                                      <p:cBhvr>
                                        <p:cTn id="25" dur="500"/>
                                        <p:tgtEl>
                                          <p:spTgt spid="210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94562"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21540000">
            <a:off x="2027757" y="1733575"/>
            <a:ext cx="5256573" cy="4469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564" name="Picture 4" descr="http://t2.gstatic.com/images?q=tbn:ANd9GcTutbEw9qqt-tYPSZkWT6G90qYkpUn6cZHCHwTbtdjPc54ck6zm5F0ucqWK"/>
          <p:cNvPicPr>
            <a:picLocks noChangeAspect="1" noChangeArrowheads="1"/>
          </p:cNvPicPr>
          <p:nvPr/>
        </p:nvPicPr>
        <p:blipFill>
          <a:blip r:embed="rId4" cstate="print">
            <a:extLst>
              <a:ext uri="{BEBA8EAE-BF5A-486C-A8C5-ECC9F3942E4B}">
                <a14:imgProps xmlns:a14="http://schemas.microsoft.com/office/drawing/2010/main">
                  <a14:imgLayer r:embed="rId5">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Lst>
          </a:blip>
          <a:srcRect/>
          <a:stretch>
            <a:fillRect/>
          </a:stretch>
        </p:blipFill>
        <p:spPr bwMode="auto">
          <a:xfrm>
            <a:off x="7536160" y="2051452"/>
            <a:ext cx="1104454" cy="734964"/>
          </a:xfrm>
          <a:prstGeom prst="rect">
            <a:avLst/>
          </a:prstGeom>
          <a:ln>
            <a:noFill/>
          </a:ln>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767408" y="-63500"/>
            <a:ext cx="9283055" cy="760413"/>
          </a:xfrm>
        </p:spPr>
        <p:txBody>
          <a:bodyPr/>
          <a:lstStyle/>
          <a:p>
            <a:r>
              <a:rPr lang="en-US" b="0" dirty="0"/>
              <a:t>The problem of weight growth</a:t>
            </a:r>
          </a:p>
        </p:txBody>
      </p:sp>
      <p:pic>
        <p:nvPicPr>
          <p:cNvPr id="194566" name="Picture 6" descr="http://www.fas.org/man/dod-101/sys/ac/f-15c-dfst9011899.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02714" y="5412713"/>
            <a:ext cx="1032166" cy="680585"/>
          </a:xfrm>
          <a:prstGeom prst="rect">
            <a:avLst/>
          </a:prstGeom>
          <a:noFill/>
          <a:extLst>
            <a:ext uri="{909E8E84-426E-40DD-AFC4-6F175D3DCCD1}">
              <a14:hiddenFill xmlns:a14="http://schemas.microsoft.com/office/drawing/2010/main">
                <a:solidFill>
                  <a:srgbClr val="FFFFFF"/>
                </a:solidFill>
              </a14:hiddenFill>
            </a:ext>
          </a:extLst>
        </p:spPr>
      </p:pic>
      <p:pic>
        <p:nvPicPr>
          <p:cNvPr id="194568" name="Picture 8" descr="http://www.abpic.co.uk/images/images/1169323M.jpg"/>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b="23001"/>
          <a:stretch/>
        </p:blipFill>
        <p:spPr bwMode="auto">
          <a:xfrm>
            <a:off x="8806295" y="2412584"/>
            <a:ext cx="1416655" cy="723900"/>
          </a:xfrm>
          <a:prstGeom prst="rect">
            <a:avLst/>
          </a:prstGeom>
          <a:noFill/>
          <a:extLst>
            <a:ext uri="{909E8E84-426E-40DD-AFC4-6F175D3DCCD1}">
              <a14:hiddenFill xmlns:a14="http://schemas.microsoft.com/office/drawing/2010/main">
                <a:solidFill>
                  <a:srgbClr val="FFFFFF"/>
                </a:solidFill>
              </a14:hiddenFill>
            </a:ext>
          </a:extLst>
        </p:spPr>
      </p:pic>
      <p:pic>
        <p:nvPicPr>
          <p:cNvPr id="194570" name="Picture 10" descr="http://www.highgallery.com/USmilitaryAircraft/VoughtLTV/VOUGHT-7U-1_2.JPG"/>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12685"/>
          <a:stretch/>
        </p:blipFill>
        <p:spPr bwMode="auto">
          <a:xfrm>
            <a:off x="6083303" y="1721082"/>
            <a:ext cx="1064907" cy="754484"/>
          </a:xfrm>
          <a:prstGeom prst="rect">
            <a:avLst/>
          </a:prstGeom>
          <a:noFill/>
          <a:extLst>
            <a:ext uri="{909E8E84-426E-40DD-AFC4-6F175D3DCCD1}">
              <a14:hiddenFill xmlns:a14="http://schemas.microsoft.com/office/drawing/2010/main">
                <a:solidFill>
                  <a:srgbClr val="FFFFFF"/>
                </a:solidFill>
              </a14:hiddenFill>
            </a:ext>
          </a:extLst>
        </p:spPr>
      </p:pic>
      <p:pic>
        <p:nvPicPr>
          <p:cNvPr id="194572" name="Picture 12" descr="http://3.bp.blogspot.com/-3FeRWlWNAeg/Tnw8zyKSFgI/AAAAAAAADIM/DBrBi6IfvBk/s1600/A5A+Vigilante-3.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176477" y="3270111"/>
            <a:ext cx="1054993" cy="710362"/>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14" descr="data:image/jpeg;base64,/9j/4AAQSkZJRgABAQAAAQABAAD/2wBDAAkGBwgHBgkIBwgKCgkLDRYPDQwMDRsUFRAWIB0iIiAdHx8kKDQsJCYxJx8fLT0tMTU3Ojo6Iys/RD84QzQ5Ojf/2wBDAQoKCg0MDRoPDxo3JR8lNzc3Nzc3Nzc3Nzc3Nzc3Nzc3Nzc3Nzc3Nzc3Nzc3Nzc3Nzc3Nzc3Nzc3Nzc3Nzc3Nzf/wAARCAB2ANwDASIAAhEBAxEB/8QAHAAAAQUBAQEAAAAAAAAAAAAABAACAwUGBwEI/8QAOhAAAgEDAwIEBAMHAwQDAAAAAQIDAAQRBRIhMUEGE1FhIjJxgRSRoQcjQlJisdEVJOFygpLBM0Tw/8QAFwEBAQEBAAAAAAAAAAAAAAAAAQACA//EABwRAQEBAAMBAQEAAAAAAAAAAAABEQISITFRYf/aAAwDAQACEQMRAD8A7HimtT8io361MGMeKjJHrTnPBoSRypzWmU+cU0yYoZpSTUTOfXFS0W02BmoDPvodnPQmlGRng0rR8XaiozzQUB5o1KK1DwOaeFpqmnbqCdjFB6peWum6fc6hfv5dtbRmSVsZwoGeB3NFF6rtcjhu9IvLe4iSWN4mDI6hgeM8g9alrA6Z+0i413UmXTdElj0zaw/GSnBZuxA6Y68cnkVuy6lA6sSGAYfQjOax98doJXAVOQoHQDmtBptwJNLjB5MeY/y6foRTGafM3xU0PgU2dgegqLdha1AmMlIysRgdKFL14JccVJOWweaA1XUrbToDcXkywxjChmGSST0UdSfYVOZN1ZrxnpUF9BY3c0ko/C3GUjQgKWxkMT1yPQEVkyD9I1uDVLu5tYFkWS2keORXwCrK20jg1pIU2oK534SdbbXYY0UKkgZCPfr/AM/euhu+1QKlZlHQMBg5o1ZM45qjScggCrG0fdzmqmLANUgNQjjFSA8UEwPXoOagDinBxUEjrmhZY80RuqOQioWA3TbUMmO1Ey9KFIOa0EL+1NjJDUSIlf60lgVWySKQlgJ44o1WIAzQyyKoGK9MoNZagrzPekZBjORQTS9s0NcXRhVvLXzmT50jkUsuOuRnNFaWDTc0FqFyq28qu6gtGwAzyTg1QXGvRXCt5THbjnaen1qjvNQkL4idmcdAvNWrFhP8e7gle/HSjfD8wNuYzn5QRnvjj/FZzbfSkT+d5BVsMN3JH2q88PQRRytc3lwyICwSNRtznBOfbJOKZVYtZGJ9wO4qIuOcnp1r27uICP8Abpk9izZFVV5cXRXL3OyPptTjH5VazIOaUfzD7mo2k96pG1q70+UYumcKfh83Egz988Ve6PeyeJm8xraC1jRiDMqY8zHBC468569PvVpsIMQcHg0D4jy2iAjtccf+NaP/AEaOFhi9Q5GAChGeP+KqfFtkbTR4wXjIacEbT/TVqk9c6tJmtPEJcyFxFIjjHIRRtbBx0PJ+1dTJzIwJ6ciuYXRGUYgAsq7seuNv/qt3pF2Z7G2fd80Yz7nHP65qh5LTkcijbOXHBPNV4cVJ5m3GOtTC/WUN0NSBjVPbTkjk0YJuOtTWpDkV6G96bKwRCzHAFAtcuThCAP1oZWW7jnpUbt6VVuruwLSOORwD1/8AdeO1wpzEyY/qJzStWD9M5GKgYHPHeoDdyICWjJwOdpBpQ3qTAlM/D1DqVxUhEWQ2CMV6+M81X3Wr2Flzd3ltESQAplBYnOMBRyT7AZNT2V2l3bxXEO/yZV3p5iFWx7g8j6GpJS+3gdK88ynSjPyioCrD88fX6UoL4hubi20DVLm0Ypcw2rtE+M7W6Zx7DJrhhtbjTPE9pOb+TTVF2YZb7k7MEYLdc5A75HrX0DGiPlZAGRlKup6MpByPyrG614Zjnhl09iJ45FwDj4tq/Lu7K46bgTnHSufLddeNmBX1DS7ye0u40Ux36sd8OQHYOUOB6FkOBzwe1aI6X5a/KkKAYKDjPsW/xVDp/hDTrY6YHubiVrCIJBFFIVAbcXLHGCSWZvbGBitJeJK0fm3DiJASfiIZufrwKRsVuowTaRFcXSWcTwxW+5ZGJCtKWwi7e45JJPoOOeOe6R408W3Xim3sUvG1BLmQqbS6C+W65PQgfDwvBHT0PStTqPiKBLk6ZfHybS7VofxMmcRPnKO2ei5GCT0znpVB4o8LTzqtzppktdTt3P7oHa2SeRxzz1VhlWB461m3K3JsbLWp001oZYyfwtyMoSc7TnBUn1B4rF+MJL3UrRBaPc53ZSKH4d7gZyT6AZ4omS6fStD0nQ9TYSahAXluYg28q7OzheOrAMMgdDmpVsNW1iMsifgYgSN1wjK32UgZH6GtRmzPrL6TazG2i04fiJr+VsmJW6DPPJ7AdfrXUbC7udM0q20+zMlosQO6QWxdnYncxyTxkk/bFD+H9DstDif8KrPPIB5s8vLuff0HsKsSCX4A49qerN5ruzurie2RzqUe9lJIkhxz9M1U+MblDo8MbOGk87JORlvhPapoWIxnPtVb4psbjU9PRbJ4hcRybkErFVIPBycH+1XUS/rEhJtVm/C28XmuVG6RwCka54Pufr04x7bawhjsokgiJ2qDk56knJ/XJqPT9LTToCuVluHO6eULt3t3wOw9BRcUYznvWpMVuphLyAc81N5nQ1BKpC55pglA47+lLKztSR1I5ozfjvVMlxtx/mp/xBPNWFfPC8+DPtVQciNP7E9/pTXsIXGQpQ9yDkH7VaLFjr2pwjA7Vg4opLGaIHy3Lr/KT/mhnM0RxJHznGOn9604QYI7HrxXKP2s+NdU8P65Y2ehsmY4vMukeISRtuOFDDHHQ88GrV1a4tH/ABkIPRuP1rz8RHglHXA4ypzXPtB/apDeSLbavpDwT9POsn3ISMk5RuQMDPBP0rbWUWm61ZC8DrHDMhYtLG0UgXvgEBvv0/OrV1G288SkmAxDccsUADE+p71OkoGd2Bk8cVj9Z8Q6L4clRzp9zfW4kCGQ3KsQduRheAf+496r9L8b6jq195UFnp8CPIY0hiQyMmDyzOcD7ACjT08dBd1KNIVYqoyxUE4oLU7cXFhd2/4g28s0TxK8bfFGWGAwPqOtBXOpMoAWQyMow5AGPsB+tUd7rb7lMeCpPOD0GK0zGmlvVjRMNl4+A5YjPGDkd6qbvUN0ixmQuXO0AnAz2rOT6xI0yENGsRUgrg7mb1Jz0x2xRuissrNezfEsWRFk9T6j6etTXxqGlWC3EcSBTxudh1PrVRLNLNqS28P765KbsnovPXj2zTlNxqbSRxfBBj/5W6Y9vXvzVpYWVra24iSTcudzOsZ8x2xjJYnJ+2PQAUJifE/hl7qBmdwbhBlcAce2OmKB8LWGt3RNja69e2thCvxLFKSUGcbUzyn/AGkV02aKxVCJIssx4Mr9TUUiRxkmGwtkOePg5xQe3jP6XoVpo97NPZ7wZY0RhId2CpJLZPO5ick1ZkE9c59Sc1MxmdRgwxKTywhUE/c5xUkcAIXccnuWatawE2ehp8acnHNWENuhO3EbN7KKJSABcBVA9QBToVEjrGpZyEUDJLdh616RcGLKxSFeu4Kf71dJAqA7V5bqd3XtVfeC6EwEGm+bwT5rzhlBz3G4EevXj3oOAoYZGPMbfX1qYQNuG0ZGSPyqwggLRj8XHapJjkQsWQnvjIBFOFvbB1JWIsp+HAHH0q0ApYG25KEDuTgChXs5dw2RMc9COh+lXjQxt86pgcnI6VU6lrAjkWG0UuzHDPjJA7n7VagEsUsLfvEdfqKcHOKqVuLmaUSTThox8zK+4Ocn5eBxjHrz3ok3C9yy+wrUum+OsFQaaVxUleGuboy/jDxJDo9v+Hiaf8dOpNskEHnO5HJAQZPQHnGBye1cevo/EXiq7nittOmuZY2Pn+WqooYd2ZiBnGMc/QV9CNGm/wAzYm/GN20Z/Om/LgD14FClcPTwnaeEfDL3+uWtmNfu94top5d626gcnA4LDvjPUc1Q6zrcFraLp2qNcXN4qIXRiu2Nn3blJOSrIu0DBHJJ7Crzxb4gtta8Qz6oq7tO0UyKjk8TNkKqr/1OCc98DPFYmw8O6r4guJLiYvDbyv5kk8uQrE55Ve/cD2oa/qGBZZHWx06JrqSX4o1VMLtJ+Zuy4zyTjHNbjRLa08OWZhFwst64JuJi3OeuF9F/q79RT7Ow0/w7ZLDA29AwZ/M53kZ//Y6VQS6ldyB4Z5jM7yMQ+wAsmeAcelakjO2rqTV2mtgJAqNt2uqOSo9RnjIrMajd3QufKt3nSMAiLy03Av8ACAOP4cZ/M1JJDvjCh2jHzHb1NRXlxHAiqzYBI4H8Xtj8qocH20MlzPDGJWLKuGcnA255Y/2+9bO3lsle3tZJ47WCRhGJpmEaIMfzHAyen1NZ7RbC4t7IvcwyW4nGSZUOdnpyOPvRepaU8ulzzyWkrRYwGdC7yE8ABepye2KRcdVsdH0maMCARSrwQYpd3A+hp2sQado+l3GoXIkWO3j3kh+WPGFGe5JAHua4Z4e/Zrf3Uy3WuBbCBWDLDER5rY9x8v8Af6Vshpgn8VWduzzxaTZ2pllgMzGO4fcNocE84Pxc+goxmtbamU2az38UaTbSSFx8IPQD1xRrRSNJwjZGc/Dk59Kx3jjxKbazlttPkzLIuGkXjYD159azXhqXxXrZS91fxDqS6crfu0in8tp9vB5XHw9ueppWea6fc6M12ytNDcNtzgKpVRnv0qODSbW3HloH2jk5JP5kVzb9oEt1cT2yQaxNaJHCWnd7twoG74cjdyTggDvXK5zJdXHwvLcSsdqBsszemAcmhY+nZb/R9PYR3GsaXavnlZr+ND+rVBH4h8PTXS2sWvWE87ZwlvK0pOBn+EHtXDLjw5d6tqkFlp9qI3jgjWTcm0R8ZLPxx178mug+HfCQ0rTbuDSEie+kj8h76VgDvIBbA/hRR19eKtPWL6bx/wCEInWMarLK5IHwWkn92wO4GadqPjrw5pt8lnPHqEk7Y2iGFH3ZGeCpOftWFtvBFtMwR8XEuMTXZOV9SI19MdGPHuTxWm03wzo2mKBDaCN8BQ68t9yep60zarJGrXVoHjDJp8oyNy+bLgkdiQB3qOXWQi5Wyhz6F2NV8cQWFY1beUGDmoZoGYZ6Adq0xh1/rlxcZQiOJSckIOv61VPtYlm59j0p88LA1G6bcKDmtYHjye/WvPMPqaY6c8cU3gd6U7dSNKvG4BycVwdTDVTqF2rMbKOaMSupyCwzj12k8j1p+v3d3aafL/pkcM18ynyllkCIv9TH+Ufr0rA6fYyaVPcXuqXCXmr3C7ZbkAZReuwEdv8AApFsEz6do+m2McENhZvIknmO6QBEMgBAdVycEDge1UWp6h5YJZgT2HGB9BUWua9bw/BNL8bkBVAJ69OnQe5rNXV4ZZx5kJZQRuUnAIHPX36fenwSWhtXvi3mSyFygQtnB5A6mq+5YtLw5iKKfjHccGrCGzvNd1RbbS7ZS5Z3RPMCxwxBgOWbqBkA4B+lb3R/B9npzJNcgXN0Rjcw/dp/0j/P6UZreyRjNN0vUtckRoII7S2K58x0ZR7nJ5Y5P6dulbLRvC+n6VIs6I11eD/7U6gsh/oHRPqOfetCyfEAFOBwBTyu34gOB1rUc7y0PAD5jcnp3qwTOM5OSeaDRhuJFGK6KnWllFOgySfzqinsIwLxbJvwk92wM1wkYd+BjjcSBwcdKu5nU5w3NASEhuOtWaY51qvgrWbi7aOPUbeSzJJ8yQlXXPOSq4yf0rZWdsljZW9hZAFIIhHGJG27sDqx7ZOSfrRjsDn1qLbuHTNWHd+ufyaNq/ivUzPrMwitYR5SlYgvCsQFjTH33HPzc57arR9D03RV/wBhaKrkYaUndK3r8RP6DAq2YbRnGDUBYZ56fSqTDyuhNP8A9SluJLnUEgXOVjjhkJ8kevoWPc9ugx1qO/bU7y6SwsjHZ2CbTPOVDGbHOxB1wO/PJODkAg2AkUDEY+pprSBflOT/AHq6xCTOTIXldmlIG5mxk46ZI4x7dK8aRn+JOR6UIrI5xIcH9KZLL8W1SEA7butOBZW5cSZwffiipUJAYkgHtVDHNInxZP8A5Cj47ncgDE7qsGp5UQoemarjCASwNGF/hNCTOdoxSAkx6ioBgivZHG4+tR7qjjuteN0r2kRkVxdGb8Tag2noXkSMxuvG5eDz61xnWfEN84862UkGbKxRsMkDB+I9hwfzrqXjzw14h8RX9jFpmrJY6ZH8c6lQSzg91x8XHqcDHQ9QXp/gHQLOKT8TYW+oXEoHm3F5AkjP9FxtUeygCnRjhljpGu+Kr4eWijA27YBuKD+p+g/PnsK6Zov7ONL06CAajJLfyxptCSMRGnqAB159a3tjp1rpdotnp9tDbWqfJFCgVRn2Hf370pIu9Qt/FDBptpaJELa0ihECMkIRcbFbqB9cUjHz8u0DsOlW8kfFBzIR2rTILbg5FMl3YohU56VFOQrnce1SBfLzT2l+Co5j27VHK2Y+OKYseGXLHnGehphRm/iNQIx3M4GSOp9qcZCVznFI0nQjgks3bFNDLGSrYLeg60x5jjH6jrTVmjQ5QFpP5mqOp2iXaGnPB520LOFLllAA7c17JKSeSST61GsbM3B/4qP1EWJ47U0jbznn0qeQAMFDbj9KTocdB96lqFZIurxgMO4oeTJJcHvU7JuyMYx3qMx4pGolDetG26Nx6U2CMuMkCiUXYtQSDLDBHSoJYwc5PHqabJcbDjNIyb05NCVl0GQ/CM0EWfPV6OuWycHOKDOM9TSdd+pUqVcXQjTSKVKpI2UGoZEFKlSzQzoKEnQUqVIoKQbTxQN2ckGlSpEV0zlSc80M8rZK9qVKmKvUO0D3qGYknAOBSpVpioGyvOa9UZINKlQokeMEFj0WofMZhtBwtKlU1HmcMpFeFmZutKlUkrHCHcMiofl565pUqUmX5OOKdIxEeaVKoAZH53VAZmB9qVKooZGLdaHY80qVSf/Z"/>
          <p:cNvSpPr>
            <a:spLocks noChangeAspect="1" noChangeArrowheads="1"/>
          </p:cNvSpPr>
          <p:nvPr/>
        </p:nvSpPr>
        <p:spPr bwMode="auto">
          <a:xfrm>
            <a:off x="1595439" y="-422275"/>
            <a:ext cx="1590675" cy="857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16" descr="data:image/jpeg;base64,/9j/4AAQSkZJRgABAQAAAQABAAD/2wBDAAkGBwgHBgkIBwgKCgkLDRYPDQwMDRsUFRAWIB0iIiAdHx8kKDQsJCYxJx8fLT0tMTU3Ojo6Iys/RD84QzQ5Ojf/2wBDAQoKCg0MDRoPDxo3JR8lNzc3Nzc3Nzc3Nzc3Nzc3Nzc3Nzc3Nzc3Nzc3Nzc3Nzc3Nzc3Nzc3Nzc3Nzc3Nzc3Nzf/wAARCAB2ANwDASIAAhEBAxEB/8QAHAAAAQUBAQEAAAAAAAAAAAAABAACAwUGBwEI/8QAOhAAAgEDAwIEBAMHAwQDAAAAAQIDAAQRBRIhMUEGE1FhIjJxgRSRoQcjQlJisdEVJOFygpLBM0Tw/8QAFwEBAQEBAAAAAAAAAAAAAAAAAQACA//EABwRAQEBAAMBAQEAAAAAAAAAAAABEQISITFRYf/aAAwDAQACEQMRAD8A7HimtT8io361MGMeKjJHrTnPBoSRypzWmU+cU0yYoZpSTUTOfXFS0W02BmoDPvodnPQmlGRng0rR8XaiozzQUB5o1KK1DwOaeFpqmnbqCdjFB6peWum6fc6hfv5dtbRmSVsZwoGeB3NFF6rtcjhu9IvLe4iSWN4mDI6hgeM8g9alrA6Z+0i413UmXTdElj0zaw/GSnBZuxA6Y68cnkVuy6lA6sSGAYfQjOax98doJXAVOQoHQDmtBptwJNLjB5MeY/y6foRTGafM3xU0PgU2dgegqLdha1AmMlIysRgdKFL14JccVJOWweaA1XUrbToDcXkywxjChmGSST0UdSfYVOZN1ZrxnpUF9BY3c0ko/C3GUjQgKWxkMT1yPQEVkyD9I1uDVLu5tYFkWS2keORXwCrK20jg1pIU2oK534SdbbXYY0UKkgZCPfr/AM/euhu+1QKlZlHQMBg5o1ZM45qjScggCrG0fdzmqmLANUgNQjjFSA8UEwPXoOagDinBxUEjrmhZY80RuqOQioWA3TbUMmO1Ey9KFIOa0EL+1NjJDUSIlf60lgVWySKQlgJ44o1WIAzQyyKoGK9MoNZagrzPekZBjORQTS9s0NcXRhVvLXzmT50jkUsuOuRnNFaWDTc0FqFyq28qu6gtGwAzyTg1QXGvRXCt5THbjnaen1qjvNQkL4idmcdAvNWrFhP8e7gle/HSjfD8wNuYzn5QRnvjj/FZzbfSkT+d5BVsMN3JH2q88PQRRytc3lwyICwSNRtznBOfbJOKZVYtZGJ9wO4qIuOcnp1r27uICP8Abpk9izZFVV5cXRXL3OyPptTjH5VazIOaUfzD7mo2k96pG1q70+UYumcKfh83Egz988Ve6PeyeJm8xraC1jRiDMqY8zHBC468569PvVpsIMQcHg0D4jy2iAjtccf+NaP/AEaOFhi9Q5GAChGeP+KqfFtkbTR4wXjIacEbT/TVqk9c6tJmtPEJcyFxFIjjHIRRtbBx0PJ+1dTJzIwJ6ciuYXRGUYgAsq7seuNv/qt3pF2Z7G2fd80Yz7nHP65qh5LTkcijbOXHBPNV4cVJ5m3GOtTC/WUN0NSBjVPbTkjk0YJuOtTWpDkV6G96bKwRCzHAFAtcuThCAP1oZWW7jnpUbt6VVuruwLSOORwD1/8AdeO1wpzEyY/qJzStWD9M5GKgYHPHeoDdyICWjJwOdpBpQ3qTAlM/D1DqVxUhEWQ2CMV6+M81X3Wr2Flzd3ltESQAplBYnOMBRyT7AZNT2V2l3bxXEO/yZV3p5iFWx7g8j6GpJS+3gdK88ynSjPyioCrD88fX6UoL4hubi20DVLm0Ypcw2rtE+M7W6Zx7DJrhhtbjTPE9pOb+TTVF2YZb7k7MEYLdc5A75HrX0DGiPlZAGRlKup6MpByPyrG614Zjnhl09iJ45FwDj4tq/Lu7K46bgTnHSufLddeNmBX1DS7ye0u40Ux36sd8OQHYOUOB6FkOBzwe1aI6X5a/KkKAYKDjPsW/xVDp/hDTrY6YHubiVrCIJBFFIVAbcXLHGCSWZvbGBitJeJK0fm3DiJASfiIZufrwKRsVuowTaRFcXSWcTwxW+5ZGJCtKWwi7e45JJPoOOeOe6R408W3Xim3sUvG1BLmQqbS6C+W65PQgfDwvBHT0PStTqPiKBLk6ZfHybS7VofxMmcRPnKO2ei5GCT0znpVB4o8LTzqtzppktdTt3P7oHa2SeRxzz1VhlWB461m3K3JsbLWp001oZYyfwtyMoSc7TnBUn1B4rF+MJL3UrRBaPc53ZSKH4d7gZyT6AZ4omS6fStD0nQ9TYSahAXluYg28q7OzheOrAMMgdDmpVsNW1iMsifgYgSN1wjK32UgZH6GtRmzPrL6TazG2i04fiJr+VsmJW6DPPJ7AdfrXUbC7udM0q20+zMlosQO6QWxdnYncxyTxkk/bFD+H9DstDif8KrPPIB5s8vLuff0HsKsSCX4A49qerN5ruzurie2RzqUe9lJIkhxz9M1U+MblDo8MbOGk87JORlvhPapoWIxnPtVb4psbjU9PRbJ4hcRybkErFVIPBycH+1XUS/rEhJtVm/C28XmuVG6RwCka54Pufr04x7bawhjsokgiJ2qDk56knJ/XJqPT9LTToCuVluHO6eULt3t3wOw9BRcUYznvWpMVuphLyAc81N5nQ1BKpC55pglA47+lLKztSR1I5ozfjvVMlxtx/mp/xBPNWFfPC8+DPtVQciNP7E9/pTXsIXGQpQ9yDkH7VaLFjr2pwjA7Vg4opLGaIHy3Lr/KT/mhnM0RxJHznGOn9604QYI7HrxXKP2s+NdU8P65Y2ehsmY4vMukeISRtuOFDDHHQ88GrV1a4tH/ABkIPRuP1rz8RHglHXA4ypzXPtB/apDeSLbavpDwT9POsn3ISMk5RuQMDPBP0rbWUWm61ZC8DrHDMhYtLG0UgXvgEBvv0/OrV1G288SkmAxDccsUADE+p71OkoGd2Bk8cVj9Z8Q6L4clRzp9zfW4kCGQ3KsQduRheAf+496r9L8b6jq195UFnp8CPIY0hiQyMmDyzOcD7ACjT08dBd1KNIVYqoyxUE4oLU7cXFhd2/4g28s0TxK8bfFGWGAwPqOtBXOpMoAWQyMow5AGPsB+tUd7rb7lMeCpPOD0GK0zGmlvVjRMNl4+A5YjPGDkd6qbvUN0ixmQuXO0AnAz2rOT6xI0yENGsRUgrg7mb1Jz0x2xRuissrNezfEsWRFk9T6j6etTXxqGlWC3EcSBTxudh1PrVRLNLNqS28P765KbsnovPXj2zTlNxqbSRxfBBj/5W6Y9vXvzVpYWVra24iSTcudzOsZ8x2xjJYnJ+2PQAUJifE/hl7qBmdwbhBlcAce2OmKB8LWGt3RNja69e2thCvxLFKSUGcbUzyn/AGkV02aKxVCJIssx4Mr9TUUiRxkmGwtkOePg5xQe3jP6XoVpo97NPZ7wZY0RhId2CpJLZPO5ick1ZkE9c59Sc1MxmdRgwxKTywhUE/c5xUkcAIXccnuWatawE2ehp8acnHNWENuhO3EbN7KKJSABcBVA9QBToVEjrGpZyEUDJLdh616RcGLKxSFeu4Kf71dJAqA7V5bqd3XtVfeC6EwEGm+bwT5rzhlBz3G4EevXj3oOAoYZGPMbfX1qYQNuG0ZGSPyqwggLRj8XHapJjkQsWQnvjIBFOFvbB1JWIsp+HAHH0q0ApYG25KEDuTgChXs5dw2RMc9COh+lXjQxt86pgcnI6VU6lrAjkWG0UuzHDPjJA7n7VagEsUsLfvEdfqKcHOKqVuLmaUSTThox8zK+4Ocn5eBxjHrz3ok3C9yy+wrUum+OsFQaaVxUleGuboy/jDxJDo9v+Hiaf8dOpNskEHnO5HJAQZPQHnGBye1cevo/EXiq7nittOmuZY2Pn+WqooYd2ZiBnGMc/QV9CNGm/wAzYm/GN20Z/Om/LgD14FClcPTwnaeEfDL3+uWtmNfu94top5d626gcnA4LDvjPUc1Q6zrcFraLp2qNcXN4qIXRiu2Nn3blJOSrIu0DBHJJ7Crzxb4gtta8Qz6oq7tO0UyKjk8TNkKqr/1OCc98DPFYmw8O6r4guJLiYvDbyv5kk8uQrE55Ve/cD2oa/qGBZZHWx06JrqSX4o1VMLtJ+Zuy4zyTjHNbjRLa08OWZhFwst64JuJi3OeuF9F/q79RT7Ow0/w7ZLDA29AwZ/M53kZ//Y6VQS6ldyB4Z5jM7yMQ+wAsmeAcelakjO2rqTV2mtgJAqNt2uqOSo9RnjIrMajd3QufKt3nSMAiLy03Av8ACAOP4cZ/M1JJDvjCh2jHzHb1NRXlxHAiqzYBI4H8Xtj8qocH20MlzPDGJWLKuGcnA255Y/2+9bO3lsle3tZJ47WCRhGJpmEaIMfzHAyen1NZ7RbC4t7IvcwyW4nGSZUOdnpyOPvRepaU8ulzzyWkrRYwGdC7yE8ABepye2KRcdVsdH0maMCARSrwQYpd3A+hp2sQado+l3GoXIkWO3j3kh+WPGFGe5JAHua4Z4e/Zrf3Uy3WuBbCBWDLDER5rY9x8v8Af6Vshpgn8VWduzzxaTZ2pllgMzGO4fcNocE84Pxc+goxmtbamU2az38UaTbSSFx8IPQD1xRrRSNJwjZGc/Dk59Kx3jjxKbazlttPkzLIuGkXjYD159azXhqXxXrZS91fxDqS6crfu0in8tp9vB5XHw9ueppWea6fc6M12ytNDcNtzgKpVRnv0qODSbW3HloH2jk5JP5kVzb9oEt1cT2yQaxNaJHCWnd7twoG74cjdyTggDvXK5zJdXHwvLcSsdqBsszemAcmhY+nZb/R9PYR3GsaXavnlZr+ND+rVBH4h8PTXS2sWvWE87ZwlvK0pOBn+EHtXDLjw5d6tqkFlp9qI3jgjWTcm0R8ZLPxx178mug+HfCQ0rTbuDSEie+kj8h76VgDvIBbA/hRR19eKtPWL6bx/wCEInWMarLK5IHwWkn92wO4GadqPjrw5pt8lnPHqEk7Y2iGFH3ZGeCpOftWFtvBFtMwR8XEuMTXZOV9SI19MdGPHuTxWm03wzo2mKBDaCN8BQ68t9yep60zarJGrXVoHjDJp8oyNy+bLgkdiQB3qOXWQi5Wyhz6F2NV8cQWFY1beUGDmoZoGYZ6Adq0xh1/rlxcZQiOJSckIOv61VPtYlm59j0p88LA1G6bcKDmtYHjye/WvPMPqaY6c8cU3gd6U7dSNKvG4BycVwdTDVTqF2rMbKOaMSupyCwzj12k8j1p+v3d3aafL/pkcM18ynyllkCIv9TH+Ufr0rA6fYyaVPcXuqXCXmr3C7ZbkAZReuwEdv8AApFsEz6do+m2McENhZvIknmO6QBEMgBAdVycEDge1UWp6h5YJZgT2HGB9BUWua9bw/BNL8bkBVAJ69OnQe5rNXV4ZZx5kJZQRuUnAIHPX36fenwSWhtXvi3mSyFygQtnB5A6mq+5YtLw5iKKfjHccGrCGzvNd1RbbS7ZS5Z3RPMCxwxBgOWbqBkA4B+lb3R/B9npzJNcgXN0Rjcw/dp/0j/P6UZreyRjNN0vUtckRoII7S2K58x0ZR7nJ5Y5P6dulbLRvC+n6VIs6I11eD/7U6gsh/oHRPqOfetCyfEAFOBwBTyu34gOB1rUc7y0PAD5jcnp3qwTOM5OSeaDRhuJFGK6KnWllFOgySfzqinsIwLxbJvwk92wM1wkYd+BjjcSBwcdKu5nU5w3NASEhuOtWaY51qvgrWbi7aOPUbeSzJJ8yQlXXPOSq4yf0rZWdsljZW9hZAFIIhHGJG27sDqx7ZOSfrRjsDn1qLbuHTNWHd+ufyaNq/ivUzPrMwitYR5SlYgvCsQFjTH33HPzc57arR9D03RV/wBhaKrkYaUndK3r8RP6DAq2YbRnGDUBYZ56fSqTDyuhNP8A9SluJLnUEgXOVjjhkJ8kevoWPc9ugx1qO/bU7y6SwsjHZ2CbTPOVDGbHOxB1wO/PJODkAg2AkUDEY+pprSBflOT/AHq6xCTOTIXldmlIG5mxk46ZI4x7dK8aRn+JOR6UIrI5xIcH9KZLL8W1SEA7butOBZW5cSZwffiipUJAYkgHtVDHNInxZP8A5Cj47ncgDE7qsGp5UQoemarjCASwNGF/hNCTOdoxSAkx6ioBgivZHG4+tR7qjjuteN0r2kRkVxdGb8Tag2noXkSMxuvG5eDz61xnWfEN84862UkGbKxRsMkDB+I9hwfzrqXjzw14h8RX9jFpmrJY6ZH8c6lQSzg91x8XHqcDHQ9QXp/gHQLOKT8TYW+oXEoHm3F5AkjP9FxtUeygCnRjhljpGu+Kr4eWijA27YBuKD+p+g/PnsK6Zov7ONL06CAajJLfyxptCSMRGnqAB159a3tjp1rpdotnp9tDbWqfJFCgVRn2Hf370pIu9Qt/FDBptpaJELa0ihECMkIRcbFbqB9cUjHz8u0DsOlW8kfFBzIR2rTILbg5FMl3YohU56VFOQrnce1SBfLzT2l+Co5j27VHK2Y+OKYseGXLHnGehphRm/iNQIx3M4GSOp9qcZCVznFI0nQjgks3bFNDLGSrYLeg60x5jjH6jrTVmjQ5QFpP5mqOp2iXaGnPB520LOFLllAA7c17JKSeSST61GsbM3B/4qP1EWJ47U0jbznn0qeQAMFDbj9KTocdB96lqFZIurxgMO4oeTJJcHvU7JuyMYx3qMx4pGolDetG26Nx6U2CMuMkCiUXYtQSDLDBHSoJYwc5PHqabJcbDjNIyb05NCVl0GQ/CM0EWfPV6OuWycHOKDOM9TSdd+pUqVcXQjTSKVKpI2UGoZEFKlSzQzoKEnQUqVIoKQbTxQN2ckGlSpEV0zlSc80M8rZK9qVKmKvUO0D3qGYknAOBSpVpioGyvOa9UZINKlQokeMEFj0WofMZhtBwtKlU1HmcMpFeFmZutKlUkrHCHcMiofl565pUqUmX5OOKdIxEeaVKoAZH53VAZmB9qVKooZGLdaHY80qVSf/Z"/>
          <p:cNvSpPr>
            <a:spLocks noChangeAspect="1" noChangeArrowheads="1"/>
          </p:cNvSpPr>
          <p:nvPr/>
        </p:nvSpPr>
        <p:spPr bwMode="auto">
          <a:xfrm>
            <a:off x="1747839" y="-269875"/>
            <a:ext cx="1590675" cy="857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94578" name="Picture 18" descr="http://upload.wikimedia.org/wikipedia/commons/thumb/c/cf/A-10_Thunderbolt_II_In-flight-2.jpg/300px-A-10_Thunderbolt_II_In-flight-2.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94078" y="4789051"/>
            <a:ext cx="1082396" cy="580886"/>
          </a:xfrm>
          <a:prstGeom prst="rect">
            <a:avLst/>
          </a:prstGeom>
          <a:noFill/>
          <a:extLst>
            <a:ext uri="{909E8E84-426E-40DD-AFC4-6F175D3DCCD1}">
              <a14:hiddenFill xmlns:a14="http://schemas.microsoft.com/office/drawing/2010/main">
                <a:solidFill>
                  <a:srgbClr val="FFFFFF"/>
                </a:solidFill>
              </a14:hiddenFill>
            </a:ext>
          </a:extLst>
        </p:spPr>
      </p:pic>
      <p:pic>
        <p:nvPicPr>
          <p:cNvPr id="194580" name="Picture 20" descr="http://pagesbybutch.homestead.com/files/A6Aintruder.jp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945304" y="4079698"/>
            <a:ext cx="1138632" cy="63376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789415" y="838854"/>
            <a:ext cx="9261048" cy="661720"/>
          </a:xfrm>
          <a:prstGeom prst="rect">
            <a:avLst/>
          </a:prstGeom>
        </p:spPr>
        <p:txBody>
          <a:bodyPr wrap="square">
            <a:spAutoFit/>
          </a:bodyPr>
          <a:lstStyle/>
          <a:p>
            <a:pPr marL="285750" indent="-285750">
              <a:spcAft>
                <a:spcPts val="600"/>
              </a:spcAft>
              <a:buFont typeface="Arial" pitchFamily="34" charset="0"/>
              <a:buChar char="•"/>
            </a:pPr>
            <a:r>
              <a:rPr lang="en-US" sz="1600" dirty="0"/>
              <a:t>An empty weight increase of 5% in the first year was common*</a:t>
            </a:r>
          </a:p>
          <a:p>
            <a:pPr marL="285750" indent="-285750">
              <a:spcAft>
                <a:spcPts val="600"/>
              </a:spcAft>
              <a:buFont typeface="Arial" pitchFamily="34" charset="0"/>
              <a:buChar char="•"/>
            </a:pPr>
            <a:r>
              <a:rPr lang="en-US" sz="1600" dirty="0"/>
              <a:t>Today, better design techniques have reduced it to 2%.</a:t>
            </a:r>
          </a:p>
        </p:txBody>
      </p:sp>
      <p:cxnSp>
        <p:nvCxnSpPr>
          <p:cNvPr id="8" name="Straight Connector 7"/>
          <p:cNvCxnSpPr>
            <a:endCxn id="194570" idx="1"/>
          </p:cNvCxnSpPr>
          <p:nvPr/>
        </p:nvCxnSpPr>
        <p:spPr bwMode="auto">
          <a:xfrm flipV="1">
            <a:off x="5638800" y="2098324"/>
            <a:ext cx="444500" cy="8766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Straight Connector 17"/>
          <p:cNvCxnSpPr>
            <a:endCxn id="194564" idx="1"/>
          </p:cNvCxnSpPr>
          <p:nvPr/>
        </p:nvCxnSpPr>
        <p:spPr bwMode="auto">
          <a:xfrm flipV="1">
            <a:off x="5638800" y="2418937"/>
            <a:ext cx="1897360" cy="85117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 name="Straight Connector 20"/>
          <p:cNvCxnSpPr>
            <a:endCxn id="194568" idx="1"/>
          </p:cNvCxnSpPr>
          <p:nvPr/>
        </p:nvCxnSpPr>
        <p:spPr bwMode="auto">
          <a:xfrm flipV="1">
            <a:off x="7098996" y="2774534"/>
            <a:ext cx="1707299" cy="58245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6" name="Straight Connector 25"/>
          <p:cNvCxnSpPr>
            <a:endCxn id="194572" idx="1"/>
          </p:cNvCxnSpPr>
          <p:nvPr/>
        </p:nvCxnSpPr>
        <p:spPr bwMode="auto">
          <a:xfrm flipV="1">
            <a:off x="6019800" y="3625292"/>
            <a:ext cx="3156674" cy="84510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9" name="Straight Connector 28"/>
          <p:cNvCxnSpPr>
            <a:endCxn id="194580" idx="1"/>
          </p:cNvCxnSpPr>
          <p:nvPr/>
        </p:nvCxnSpPr>
        <p:spPr bwMode="auto">
          <a:xfrm flipV="1">
            <a:off x="6083300" y="4396582"/>
            <a:ext cx="2862004" cy="30242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2" name="Straight Connector 31"/>
          <p:cNvCxnSpPr>
            <a:endCxn id="194578" idx="1"/>
          </p:cNvCxnSpPr>
          <p:nvPr/>
        </p:nvCxnSpPr>
        <p:spPr bwMode="auto">
          <a:xfrm flipV="1">
            <a:off x="6845300" y="5079494"/>
            <a:ext cx="1248778" cy="2590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5" name="Straight Connector 34"/>
          <p:cNvCxnSpPr>
            <a:endCxn id="194566" idx="1"/>
          </p:cNvCxnSpPr>
          <p:nvPr/>
        </p:nvCxnSpPr>
        <p:spPr bwMode="auto">
          <a:xfrm>
            <a:off x="6743700" y="5422903"/>
            <a:ext cx="559014" cy="33010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 name="Rectangle 6"/>
          <p:cNvSpPr/>
          <p:nvPr/>
        </p:nvSpPr>
        <p:spPr>
          <a:xfrm>
            <a:off x="2973118" y="4685134"/>
            <a:ext cx="7400428" cy="1369606"/>
          </a:xfrm>
          <a:prstGeom prst="rect">
            <a:avLst/>
          </a:prstGeom>
          <a:solidFill>
            <a:schemeClr val="accent2">
              <a:lumMod val="10000"/>
              <a:lumOff val="90000"/>
            </a:schemeClr>
          </a:solidFill>
        </p:spPr>
        <p:txBody>
          <a:bodyPr wrap="square">
            <a:spAutoFit/>
          </a:bodyPr>
          <a:lstStyle/>
          <a:p>
            <a:endParaRPr lang="en-US" sz="900" dirty="0"/>
          </a:p>
          <a:p>
            <a:pPr marL="342900" indent="-342900">
              <a:buFont typeface="Arial" pitchFamily="34" charset="0"/>
              <a:buChar char="•"/>
            </a:pPr>
            <a:r>
              <a:rPr lang="en-US" sz="1600" dirty="0"/>
              <a:t>One could account for this growth, by making use of a </a:t>
            </a:r>
            <a:r>
              <a:rPr lang="en-US" sz="1600" b="1" dirty="0"/>
              <a:t>contingency factor </a:t>
            </a:r>
            <a:r>
              <a:rPr lang="en-US" sz="1600" dirty="0"/>
              <a:t>for the aircraft empty weight (3-6%)</a:t>
            </a:r>
          </a:p>
          <a:p>
            <a:pPr marL="342900" indent="-342900">
              <a:buFont typeface="Arial" pitchFamily="34" charset="0"/>
              <a:buChar char="•"/>
            </a:pPr>
            <a:endParaRPr lang="en-US" sz="1600" dirty="0"/>
          </a:p>
          <a:p>
            <a:pPr marL="342900" indent="-342900">
              <a:buFont typeface="Arial" pitchFamily="34" charset="0"/>
              <a:buChar char="•"/>
            </a:pPr>
            <a:r>
              <a:rPr lang="en-US" sz="1600" dirty="0"/>
              <a:t>However, beware of </a:t>
            </a:r>
            <a:r>
              <a:rPr lang="en-US" sz="1600" b="1" dirty="0"/>
              <a:t>self fulfilling prophecy</a:t>
            </a:r>
            <a:r>
              <a:rPr lang="en-US" sz="1600" dirty="0"/>
              <a:t>!**</a:t>
            </a:r>
          </a:p>
          <a:p>
            <a:endParaRPr lang="en-US" sz="900" dirty="0"/>
          </a:p>
        </p:txBody>
      </p:sp>
    </p:spTree>
    <p:extLst>
      <p:ext uri="{BB962C8B-B14F-4D97-AF65-F5344CB8AC3E}">
        <p14:creationId xmlns:p14="http://schemas.microsoft.com/office/powerpoint/2010/main" val="576974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808986" y="188640"/>
            <a:ext cx="8399175" cy="584775"/>
          </a:xfrm>
          <a:prstGeom prst="rect">
            <a:avLst/>
          </a:prstGeom>
          <a:noFill/>
          <a:ln w="9525" algn="ctr">
            <a:noFill/>
            <a:miter lim="800000"/>
            <a:headEnd/>
            <a:tailEnd/>
          </a:ln>
        </p:spPr>
        <p:txBody>
          <a:bodyPr wrap="square">
            <a:spAutoFit/>
          </a:bodyPr>
          <a:lstStyle/>
          <a:p>
            <a:pPr>
              <a:spcBef>
                <a:spcPct val="0"/>
              </a:spcBef>
              <a:buClrTx/>
            </a:pPr>
            <a:r>
              <a:rPr lang="en-US" sz="3200" dirty="0">
                <a:solidFill>
                  <a:srgbClr val="00A4DE"/>
                </a:solidFill>
                <a:latin typeface="+mj-lt"/>
              </a:rPr>
              <a:t>The problem of weight growth</a:t>
            </a:r>
          </a:p>
        </p:txBody>
      </p:sp>
      <p:sp>
        <p:nvSpPr>
          <p:cNvPr id="21507" name="Rectangle 5"/>
          <p:cNvSpPr>
            <a:spLocks noChangeArrowheads="1"/>
          </p:cNvSpPr>
          <p:nvPr/>
        </p:nvSpPr>
        <p:spPr bwMode="auto">
          <a:xfrm>
            <a:off x="808986" y="1124744"/>
            <a:ext cx="11119662" cy="1243417"/>
          </a:xfrm>
          <a:prstGeom prst="rect">
            <a:avLst/>
          </a:prstGeom>
          <a:solidFill>
            <a:srgbClr val="FFFF00"/>
          </a:solidFill>
          <a:ln w="9525" algn="ctr">
            <a:noFill/>
            <a:miter lim="800000"/>
            <a:headEnd/>
            <a:tailEnd/>
          </a:ln>
        </p:spPr>
        <p:txBody>
          <a:bodyPr wrap="square">
            <a:spAutoFit/>
          </a:bodyPr>
          <a:lstStyle/>
          <a:p>
            <a:pPr>
              <a:lnSpc>
                <a:spcPct val="90000"/>
              </a:lnSpc>
              <a:spcAft>
                <a:spcPts val="600"/>
              </a:spcAft>
            </a:pPr>
            <a:r>
              <a:rPr lang="en-US" b="1" dirty="0"/>
              <a:t>THE LESSON</a:t>
            </a:r>
            <a:r>
              <a:rPr lang="en-US" dirty="0"/>
              <a:t>: </a:t>
            </a:r>
          </a:p>
          <a:p>
            <a:pPr>
              <a:lnSpc>
                <a:spcPct val="90000"/>
              </a:lnSpc>
              <a:spcAft>
                <a:spcPts val="600"/>
              </a:spcAft>
            </a:pPr>
            <a:r>
              <a:rPr lang="en-US" dirty="0"/>
              <a:t>A </a:t>
            </a:r>
            <a:r>
              <a:rPr lang="en-US" dirty="0">
                <a:solidFill>
                  <a:srgbClr val="FF3300"/>
                </a:solidFill>
              </a:rPr>
              <a:t>highly accurate</a:t>
            </a:r>
            <a:r>
              <a:rPr lang="en-US" dirty="0"/>
              <a:t> (first) weight estimate and a systematic </a:t>
            </a:r>
            <a:r>
              <a:rPr lang="en-US" dirty="0">
                <a:solidFill>
                  <a:srgbClr val="FF3300"/>
                </a:solidFill>
              </a:rPr>
              <a:t>weight control</a:t>
            </a:r>
            <a:r>
              <a:rPr lang="en-US" dirty="0"/>
              <a:t> during the whole design process are of utmost importance for several reasons:</a:t>
            </a:r>
          </a:p>
          <a:p>
            <a:pPr>
              <a:lnSpc>
                <a:spcPct val="90000"/>
              </a:lnSpc>
              <a:spcAft>
                <a:spcPts val="600"/>
              </a:spcAft>
            </a:pPr>
            <a:endParaRPr lang="en-US" dirty="0"/>
          </a:p>
        </p:txBody>
      </p:sp>
      <p:sp>
        <p:nvSpPr>
          <p:cNvPr id="3" name="TextBox 2">
            <a:extLst>
              <a:ext uri="{FF2B5EF4-FFF2-40B4-BE49-F238E27FC236}">
                <a16:creationId xmlns:a16="http://schemas.microsoft.com/office/drawing/2014/main" id="{5DB33C7F-B1B0-4C8B-41A4-E483A9644B7E}"/>
              </a:ext>
            </a:extLst>
          </p:cNvPr>
          <p:cNvSpPr txBox="1"/>
          <p:nvPr/>
        </p:nvSpPr>
        <p:spPr>
          <a:xfrm>
            <a:off x="808986" y="2368161"/>
            <a:ext cx="4926974" cy="1320361"/>
          </a:xfrm>
          <a:prstGeom prst="rect">
            <a:avLst/>
          </a:prstGeom>
          <a:noFill/>
        </p:spPr>
        <p:txBody>
          <a:bodyPr wrap="square">
            <a:spAutoFit/>
          </a:bodyPr>
          <a:lstStyle/>
          <a:p>
            <a:pPr>
              <a:lnSpc>
                <a:spcPct val="90000"/>
              </a:lnSpc>
              <a:spcAft>
                <a:spcPts val="600"/>
              </a:spcAft>
            </a:pPr>
            <a:endParaRPr lang="en-US" dirty="0"/>
          </a:p>
          <a:p>
            <a:pPr marL="285750" indent="-285750">
              <a:lnSpc>
                <a:spcPct val="90000"/>
              </a:lnSpc>
              <a:spcAft>
                <a:spcPts val="600"/>
              </a:spcAft>
              <a:buFont typeface="Arial" panose="020B0604020202020204" pitchFamily="34" charset="0"/>
              <a:buChar char="•"/>
            </a:pPr>
            <a:r>
              <a:rPr lang="en-US" dirty="0"/>
              <a:t>To limit the uncertainties </a:t>
            </a:r>
          </a:p>
          <a:p>
            <a:pPr marL="285750" indent="-285750">
              <a:lnSpc>
                <a:spcPct val="90000"/>
              </a:lnSpc>
              <a:spcAft>
                <a:spcPts val="600"/>
              </a:spcAft>
              <a:buFont typeface="Arial" panose="020B0604020202020204" pitchFamily="34" charset="0"/>
              <a:buChar char="•"/>
            </a:pPr>
            <a:r>
              <a:rPr lang="en-US" dirty="0"/>
              <a:t>To limit design iterations</a:t>
            </a:r>
          </a:p>
          <a:p>
            <a:pPr marL="285750" indent="-285750">
              <a:lnSpc>
                <a:spcPct val="90000"/>
              </a:lnSpc>
              <a:spcAft>
                <a:spcPts val="600"/>
              </a:spcAft>
              <a:buFont typeface="Arial" panose="020B0604020202020204" pitchFamily="34" charset="0"/>
              <a:buChar char="•"/>
            </a:pPr>
            <a:r>
              <a:rPr lang="en-US" dirty="0"/>
              <a:t>To freeze the design as soon as possible</a:t>
            </a:r>
          </a:p>
        </p:txBody>
      </p:sp>
    </p:spTree>
    <p:extLst>
      <p:ext uri="{BB962C8B-B14F-4D97-AF65-F5344CB8AC3E}">
        <p14:creationId xmlns:p14="http://schemas.microsoft.com/office/powerpoint/2010/main" val="1914802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ChangeArrowheads="1"/>
          </p:cNvSpPr>
          <p:nvPr/>
        </p:nvSpPr>
        <p:spPr bwMode="auto">
          <a:xfrm>
            <a:off x="911425" y="165100"/>
            <a:ext cx="8783442" cy="750888"/>
          </a:xfrm>
          <a:prstGeom prst="rect">
            <a:avLst/>
          </a:prstGeom>
          <a:noFill/>
          <a:ln w="9525">
            <a:noFill/>
            <a:miter lim="800000"/>
            <a:headEnd/>
            <a:tailEnd/>
          </a:ln>
        </p:spPr>
        <p:txBody>
          <a:bodyPr/>
          <a:lstStyle/>
          <a:p>
            <a:pPr>
              <a:spcBef>
                <a:spcPct val="0"/>
              </a:spcBef>
              <a:buClrTx/>
            </a:pPr>
            <a:r>
              <a:rPr lang="en-US" sz="3200" dirty="0">
                <a:solidFill>
                  <a:srgbClr val="00A4DE"/>
                </a:solidFill>
                <a:latin typeface="+mj-lt"/>
              </a:rPr>
              <a:t>Example of wing weight prediction</a:t>
            </a:r>
          </a:p>
        </p:txBody>
      </p:sp>
      <p:sp>
        <p:nvSpPr>
          <p:cNvPr id="1028" name="Rectangle 4"/>
          <p:cNvSpPr>
            <a:spLocks noChangeArrowheads="1"/>
          </p:cNvSpPr>
          <p:nvPr/>
        </p:nvSpPr>
        <p:spPr bwMode="auto">
          <a:xfrm>
            <a:off x="2395538" y="2740303"/>
            <a:ext cx="2614612" cy="369332"/>
          </a:xfrm>
          <a:prstGeom prst="rect">
            <a:avLst/>
          </a:prstGeom>
          <a:solidFill>
            <a:schemeClr val="bg1"/>
          </a:solidFill>
          <a:ln w="9525" algn="ctr">
            <a:noFill/>
            <a:miter lim="800000"/>
            <a:headEnd/>
            <a:tailEnd/>
          </a:ln>
        </p:spPr>
        <p:txBody>
          <a:bodyPr anchor="ctr">
            <a:spAutoFit/>
          </a:bodyPr>
          <a:lstStyle/>
          <a:p>
            <a:endParaRPr lang="nl-NL"/>
          </a:p>
        </p:txBody>
      </p:sp>
      <p:sp>
        <p:nvSpPr>
          <p:cNvPr id="1030" name="Text Box 6"/>
          <p:cNvSpPr txBox="1">
            <a:spLocks noChangeArrowheads="1"/>
          </p:cNvSpPr>
          <p:nvPr/>
        </p:nvSpPr>
        <p:spPr bwMode="auto">
          <a:xfrm>
            <a:off x="6096000" y="1372408"/>
            <a:ext cx="5832648" cy="2785378"/>
          </a:xfrm>
          <a:prstGeom prst="rect">
            <a:avLst/>
          </a:prstGeom>
          <a:noFill/>
          <a:ln w="9525" algn="ctr">
            <a:noFill/>
            <a:miter lim="800000"/>
            <a:headEnd/>
            <a:tailEnd/>
          </a:ln>
        </p:spPr>
        <p:txBody>
          <a:bodyPr wrap="square">
            <a:spAutoFit/>
          </a:bodyPr>
          <a:lstStyle/>
          <a:p>
            <a:pPr marL="285750" indent="-285750">
              <a:spcAft>
                <a:spcPts val="600"/>
              </a:spcAft>
              <a:buFont typeface="Arial" pitchFamily="34" charset="0"/>
              <a:buChar char="•"/>
            </a:pPr>
            <a:r>
              <a:rPr lang="en-GB" sz="1600" dirty="0"/>
              <a:t>Let assume we want to perform the weight estimation of a wing</a:t>
            </a:r>
          </a:p>
          <a:p>
            <a:pPr marL="285750" indent="-285750">
              <a:spcAft>
                <a:spcPts val="600"/>
              </a:spcAft>
              <a:buFont typeface="Arial" pitchFamily="34" charset="0"/>
              <a:buChar char="•"/>
            </a:pPr>
            <a:r>
              <a:rPr lang="en-GB" sz="1600" dirty="0"/>
              <a:t>An appropriate prediction of the wing weight can be performed once the main wing structural components have been sized. </a:t>
            </a:r>
          </a:p>
          <a:p>
            <a:pPr marL="285750" indent="-285750">
              <a:spcAft>
                <a:spcPts val="600"/>
              </a:spcAft>
              <a:buFont typeface="Arial" pitchFamily="34" charset="0"/>
              <a:buChar char="•"/>
            </a:pPr>
            <a:r>
              <a:rPr lang="en-GB" sz="1600" dirty="0"/>
              <a:t>To perform the sizing, however, the critical wing load cases are required and it can depend also on how the weight is distributed along the wingspan.</a:t>
            </a:r>
          </a:p>
          <a:p>
            <a:pPr marL="285750" indent="-285750">
              <a:spcAft>
                <a:spcPts val="600"/>
              </a:spcAft>
              <a:buFont typeface="Arial" pitchFamily="34" charset="0"/>
              <a:buChar char="•"/>
            </a:pPr>
            <a:r>
              <a:rPr lang="en-GB" sz="1600" dirty="0"/>
              <a:t>…</a:t>
            </a:r>
            <a:r>
              <a:rPr lang="en-GB" sz="1600" b="1" dirty="0"/>
              <a:t>but the weight estimation is exactly the goal of the calculation!</a:t>
            </a:r>
          </a:p>
        </p:txBody>
      </p:sp>
      <p:pic>
        <p:nvPicPr>
          <p:cNvPr id="13" name="Picture 10" descr="http://www.almightydad.com/wp-content/uploads/2010/09/chicken-or-eg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4235" y="4622031"/>
            <a:ext cx="2243921" cy="150237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Rectangle 1"/>
          <p:cNvSpPr/>
          <p:nvPr/>
        </p:nvSpPr>
        <p:spPr>
          <a:xfrm rot="20865454">
            <a:off x="8976074" y="4604342"/>
            <a:ext cx="651140" cy="707886"/>
          </a:xfrm>
          <a:prstGeom prst="rect">
            <a:avLst/>
          </a:prstGeom>
          <a:noFill/>
        </p:spPr>
        <p:txBody>
          <a:bodyPr wrap="none" lIns="91440" tIns="45720" rIns="91440" bIns="45720">
            <a:spAutoFit/>
          </a:bodyPr>
          <a:lstStyle/>
          <a:p>
            <a:pPr algn="ctr"/>
            <a:r>
              <a:rPr lang="en-US" sz="40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a:t>
            </a:r>
          </a:p>
        </p:txBody>
      </p:sp>
      <p:sp>
        <p:nvSpPr>
          <p:cNvPr id="14" name="Rectangle 4"/>
          <p:cNvSpPr>
            <a:spLocks noChangeArrowheads="1"/>
          </p:cNvSpPr>
          <p:nvPr/>
        </p:nvSpPr>
        <p:spPr bwMode="auto">
          <a:xfrm>
            <a:off x="1638946" y="2689101"/>
            <a:ext cx="2614612" cy="357188"/>
          </a:xfrm>
          <a:prstGeom prst="rect">
            <a:avLst/>
          </a:prstGeom>
          <a:solidFill>
            <a:schemeClr val="bg1"/>
          </a:solidFill>
          <a:ln w="9525" algn="ctr">
            <a:noFill/>
            <a:miter lim="800000"/>
            <a:headEnd/>
            <a:tailEnd/>
          </a:ln>
        </p:spPr>
        <p:txBody>
          <a:bodyPr anchor="ctr">
            <a:spAutoFit/>
          </a:bodyPr>
          <a:lstStyle/>
          <a:p>
            <a:endParaRPr lang="nl-NL"/>
          </a:p>
        </p:txBody>
      </p:sp>
      <p:pic>
        <p:nvPicPr>
          <p:cNvPr id="15" name="Picture 14"/>
          <p:cNvPicPr>
            <a:picLocks noChangeAspect="1"/>
          </p:cNvPicPr>
          <p:nvPr/>
        </p:nvPicPr>
        <p:blipFill>
          <a:blip r:embed="rId4"/>
          <a:stretch>
            <a:fillRect/>
          </a:stretch>
        </p:blipFill>
        <p:spPr>
          <a:xfrm>
            <a:off x="767408" y="1052736"/>
            <a:ext cx="4788166" cy="4623246"/>
          </a:xfrm>
          <a:prstGeom prst="rect">
            <a:avLst/>
          </a:prstGeom>
        </p:spPr>
      </p:pic>
      <p:grpSp>
        <p:nvGrpSpPr>
          <p:cNvPr id="16" name="Group 15"/>
          <p:cNvGrpSpPr/>
          <p:nvPr/>
        </p:nvGrpSpPr>
        <p:grpSpPr>
          <a:xfrm>
            <a:off x="2170144" y="1238561"/>
            <a:ext cx="2877291" cy="1100720"/>
            <a:chOff x="1706668" y="1120863"/>
            <a:chExt cx="2877291" cy="1100720"/>
          </a:xfrm>
        </p:grpSpPr>
        <p:sp>
          <p:nvSpPr>
            <p:cNvPr id="17" name="Line 8"/>
            <p:cNvSpPr>
              <a:spLocks noChangeShapeType="1"/>
            </p:cNvSpPr>
            <p:nvPr/>
          </p:nvSpPr>
          <p:spPr bwMode="auto">
            <a:xfrm flipH="1">
              <a:off x="1706668" y="1582738"/>
              <a:ext cx="426932" cy="638845"/>
            </a:xfrm>
            <a:prstGeom prst="line">
              <a:avLst/>
            </a:prstGeom>
            <a:noFill/>
            <a:ln w="9525">
              <a:solidFill>
                <a:schemeClr val="tx1"/>
              </a:solidFill>
              <a:round/>
              <a:headEnd type="oval" w="med" len="med"/>
              <a:tailEnd type="oval" w="med" len="med"/>
            </a:ln>
          </p:spPr>
          <p:txBody>
            <a:bodyPr wrap="square">
              <a:spAutoFit/>
            </a:bodyPr>
            <a:lstStyle/>
            <a:p>
              <a:endParaRPr lang="nl-NL"/>
            </a:p>
          </p:txBody>
        </p:sp>
        <p:sp>
          <p:nvSpPr>
            <p:cNvPr id="18" name="Text Box 7"/>
            <p:cNvSpPr txBox="1">
              <a:spLocks noChangeArrowheads="1"/>
            </p:cNvSpPr>
            <p:nvPr/>
          </p:nvSpPr>
          <p:spPr bwMode="auto">
            <a:xfrm>
              <a:off x="1920134" y="1120863"/>
              <a:ext cx="2663825" cy="523220"/>
            </a:xfrm>
            <a:prstGeom prst="rect">
              <a:avLst/>
            </a:prstGeom>
            <a:solidFill>
              <a:srgbClr val="FFFF00"/>
            </a:solidFill>
            <a:ln w="9525" algn="ctr">
              <a:noFill/>
              <a:miter lim="800000"/>
              <a:headEnd/>
              <a:tailEnd/>
            </a:ln>
          </p:spPr>
          <p:txBody>
            <a:bodyPr>
              <a:spAutoFit/>
            </a:bodyPr>
            <a:lstStyle/>
            <a:p>
              <a:r>
                <a:rPr lang="en-GB" sz="1400" dirty="0"/>
                <a:t>Bending relief by wing and fuel weight</a:t>
              </a:r>
            </a:p>
          </p:txBody>
        </p:sp>
      </p:grpSp>
      <p:grpSp>
        <p:nvGrpSpPr>
          <p:cNvPr id="19" name="Group 18"/>
          <p:cNvGrpSpPr/>
          <p:nvPr/>
        </p:nvGrpSpPr>
        <p:grpSpPr>
          <a:xfrm>
            <a:off x="1522984" y="2222294"/>
            <a:ext cx="3147722" cy="2241567"/>
            <a:chOff x="755576" y="1919528"/>
            <a:chExt cx="3147722" cy="2241567"/>
          </a:xfrm>
        </p:grpSpPr>
        <p:sp>
          <p:nvSpPr>
            <p:cNvPr id="20" name="Freeform 5"/>
            <p:cNvSpPr>
              <a:spLocks/>
            </p:cNvSpPr>
            <p:nvPr/>
          </p:nvSpPr>
          <p:spPr bwMode="auto">
            <a:xfrm>
              <a:off x="755576" y="1919528"/>
              <a:ext cx="2520280" cy="1005416"/>
            </a:xfrm>
            <a:custGeom>
              <a:avLst/>
              <a:gdLst>
                <a:gd name="T0" fmla="*/ 2147483647 w 1638"/>
                <a:gd name="T1" fmla="*/ 1587698219 h 630"/>
                <a:gd name="T2" fmla="*/ 2147483647 w 1638"/>
                <a:gd name="T3" fmla="*/ 763608040 h 630"/>
                <a:gd name="T4" fmla="*/ 1224795969 w 1638"/>
                <a:gd name="T5" fmla="*/ 226814074 h 630"/>
                <a:gd name="T6" fmla="*/ 854333905 w 1638"/>
                <a:gd name="T7" fmla="*/ 98286874 h 630"/>
                <a:gd name="T8" fmla="*/ 468749121 w 1638"/>
                <a:gd name="T9" fmla="*/ 7559675 h 630"/>
                <a:gd name="T10" fmla="*/ 415826550 w 1638"/>
                <a:gd name="T11" fmla="*/ 136088434 h 630"/>
                <a:gd name="T12" fmla="*/ 415826550 w 1638"/>
                <a:gd name="T13" fmla="*/ 294857472 h 630"/>
                <a:gd name="T14" fmla="*/ 385584684 w 1638"/>
                <a:gd name="T15" fmla="*/ 468749079 h 630"/>
                <a:gd name="T16" fmla="*/ 189012506 w 1638"/>
                <a:gd name="T17" fmla="*/ 423386284 h 630"/>
                <a:gd name="T18" fmla="*/ 0 w 1638"/>
                <a:gd name="T19" fmla="*/ 317539664 h 6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8"/>
                <a:gd name="T31" fmla="*/ 0 h 630"/>
                <a:gd name="T32" fmla="*/ 1638 w 1638"/>
                <a:gd name="T33" fmla="*/ 630 h 6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8" h="630">
                  <a:moveTo>
                    <a:pt x="1638" y="630"/>
                  </a:moveTo>
                  <a:cubicBezTo>
                    <a:pt x="1536" y="576"/>
                    <a:pt x="1218" y="393"/>
                    <a:pt x="1026" y="303"/>
                  </a:cubicBezTo>
                  <a:cubicBezTo>
                    <a:pt x="834" y="213"/>
                    <a:pt x="600" y="134"/>
                    <a:pt x="486" y="90"/>
                  </a:cubicBezTo>
                  <a:cubicBezTo>
                    <a:pt x="372" y="46"/>
                    <a:pt x="389" y="54"/>
                    <a:pt x="339" y="39"/>
                  </a:cubicBezTo>
                  <a:cubicBezTo>
                    <a:pt x="289" y="24"/>
                    <a:pt x="215" y="0"/>
                    <a:pt x="186" y="3"/>
                  </a:cubicBezTo>
                  <a:cubicBezTo>
                    <a:pt x="157" y="6"/>
                    <a:pt x="168" y="35"/>
                    <a:pt x="165" y="54"/>
                  </a:cubicBezTo>
                  <a:cubicBezTo>
                    <a:pt x="162" y="73"/>
                    <a:pt x="167" y="95"/>
                    <a:pt x="165" y="117"/>
                  </a:cubicBezTo>
                  <a:cubicBezTo>
                    <a:pt x="163" y="139"/>
                    <a:pt x="168" y="178"/>
                    <a:pt x="153" y="186"/>
                  </a:cubicBezTo>
                  <a:cubicBezTo>
                    <a:pt x="138" y="194"/>
                    <a:pt x="100" y="178"/>
                    <a:pt x="75" y="168"/>
                  </a:cubicBezTo>
                  <a:cubicBezTo>
                    <a:pt x="50" y="158"/>
                    <a:pt x="12" y="133"/>
                    <a:pt x="0" y="126"/>
                  </a:cubicBezTo>
                </a:path>
              </a:pathLst>
            </a:custGeom>
            <a:noFill/>
            <a:ln w="57150" cap="flat" cmpd="sng">
              <a:solidFill>
                <a:srgbClr val="FF0000"/>
              </a:solidFill>
              <a:prstDash val="solid"/>
              <a:round/>
              <a:headEnd/>
              <a:tailEnd/>
            </a:ln>
          </p:spPr>
          <p:txBody>
            <a:bodyPr wrap="square">
              <a:spAutoFit/>
            </a:bodyPr>
            <a:lstStyle/>
            <a:p>
              <a:endParaRPr lang="nl-NL"/>
            </a:p>
          </p:txBody>
        </p:sp>
        <p:sp>
          <p:nvSpPr>
            <p:cNvPr id="21" name="Freeform 5"/>
            <p:cNvSpPr>
              <a:spLocks/>
            </p:cNvSpPr>
            <p:nvPr/>
          </p:nvSpPr>
          <p:spPr bwMode="auto">
            <a:xfrm>
              <a:off x="3274343" y="2924944"/>
              <a:ext cx="628955" cy="1236151"/>
            </a:xfrm>
            <a:custGeom>
              <a:avLst/>
              <a:gdLst>
                <a:gd name="T0" fmla="*/ 2147483647 w 1638"/>
                <a:gd name="T1" fmla="*/ 1587698219 h 630"/>
                <a:gd name="T2" fmla="*/ 2147483647 w 1638"/>
                <a:gd name="T3" fmla="*/ 763608040 h 630"/>
                <a:gd name="T4" fmla="*/ 1224795969 w 1638"/>
                <a:gd name="T5" fmla="*/ 226814074 h 630"/>
                <a:gd name="T6" fmla="*/ 854333905 w 1638"/>
                <a:gd name="T7" fmla="*/ 98286874 h 630"/>
                <a:gd name="T8" fmla="*/ 468749121 w 1638"/>
                <a:gd name="T9" fmla="*/ 7559675 h 630"/>
                <a:gd name="T10" fmla="*/ 415826550 w 1638"/>
                <a:gd name="T11" fmla="*/ 136088434 h 630"/>
                <a:gd name="T12" fmla="*/ 415826550 w 1638"/>
                <a:gd name="T13" fmla="*/ 294857472 h 630"/>
                <a:gd name="T14" fmla="*/ 385584684 w 1638"/>
                <a:gd name="T15" fmla="*/ 468749079 h 630"/>
                <a:gd name="T16" fmla="*/ 189012506 w 1638"/>
                <a:gd name="T17" fmla="*/ 423386284 h 630"/>
                <a:gd name="T18" fmla="*/ 0 w 1638"/>
                <a:gd name="T19" fmla="*/ 317539664 h 6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8"/>
                <a:gd name="T31" fmla="*/ 0 h 630"/>
                <a:gd name="T32" fmla="*/ 1638 w 1638"/>
                <a:gd name="T33" fmla="*/ 630 h 630"/>
                <a:gd name="connsiteX0" fmla="*/ 11337 w 11337"/>
                <a:gd name="connsiteY0" fmla="*/ 9957 h 9957"/>
                <a:gd name="connsiteX1" fmla="*/ 7601 w 11337"/>
                <a:gd name="connsiteY1" fmla="*/ 4767 h 9957"/>
                <a:gd name="connsiteX2" fmla="*/ 4304 w 11337"/>
                <a:gd name="connsiteY2" fmla="*/ 1386 h 9957"/>
                <a:gd name="connsiteX3" fmla="*/ 3407 w 11337"/>
                <a:gd name="connsiteY3" fmla="*/ 576 h 9957"/>
                <a:gd name="connsiteX4" fmla="*/ 2473 w 11337"/>
                <a:gd name="connsiteY4" fmla="*/ 5 h 9957"/>
                <a:gd name="connsiteX5" fmla="*/ 2344 w 11337"/>
                <a:gd name="connsiteY5" fmla="*/ 814 h 9957"/>
                <a:gd name="connsiteX6" fmla="*/ 2344 w 11337"/>
                <a:gd name="connsiteY6" fmla="*/ 1814 h 9957"/>
                <a:gd name="connsiteX7" fmla="*/ 3 w 11337"/>
                <a:gd name="connsiteY7" fmla="*/ 1772 h 9957"/>
                <a:gd name="connsiteX8" fmla="*/ 1795 w 11337"/>
                <a:gd name="connsiteY8" fmla="*/ 2624 h 9957"/>
                <a:gd name="connsiteX9" fmla="*/ 1337 w 11337"/>
                <a:gd name="connsiteY9" fmla="*/ 1957 h 9957"/>
                <a:gd name="connsiteX0" fmla="*/ 8821 w 8821"/>
                <a:gd name="connsiteY0" fmla="*/ 10000 h 10000"/>
                <a:gd name="connsiteX1" fmla="*/ 5526 w 8821"/>
                <a:gd name="connsiteY1" fmla="*/ 4788 h 10000"/>
                <a:gd name="connsiteX2" fmla="*/ 2617 w 8821"/>
                <a:gd name="connsiteY2" fmla="*/ 1392 h 10000"/>
                <a:gd name="connsiteX3" fmla="*/ 1826 w 8821"/>
                <a:gd name="connsiteY3" fmla="*/ 578 h 10000"/>
                <a:gd name="connsiteX4" fmla="*/ 1002 w 8821"/>
                <a:gd name="connsiteY4" fmla="*/ 5 h 10000"/>
                <a:gd name="connsiteX5" fmla="*/ 889 w 8821"/>
                <a:gd name="connsiteY5" fmla="*/ 818 h 10000"/>
                <a:gd name="connsiteX6" fmla="*/ 889 w 8821"/>
                <a:gd name="connsiteY6" fmla="*/ 1822 h 10000"/>
                <a:gd name="connsiteX7" fmla="*/ 404 w 8821"/>
                <a:gd name="connsiteY7" fmla="*/ 2635 h 10000"/>
                <a:gd name="connsiteX8" fmla="*/ 0 w 8821"/>
                <a:gd name="connsiteY8" fmla="*/ 1965 h 10000"/>
                <a:gd name="connsiteX0" fmla="*/ 9542 w 9542"/>
                <a:gd name="connsiteY0" fmla="*/ 10000 h 10000"/>
                <a:gd name="connsiteX1" fmla="*/ 5807 w 9542"/>
                <a:gd name="connsiteY1" fmla="*/ 4788 h 10000"/>
                <a:gd name="connsiteX2" fmla="*/ 2509 w 9542"/>
                <a:gd name="connsiteY2" fmla="*/ 1392 h 10000"/>
                <a:gd name="connsiteX3" fmla="*/ 1612 w 9542"/>
                <a:gd name="connsiteY3" fmla="*/ 578 h 10000"/>
                <a:gd name="connsiteX4" fmla="*/ 678 w 9542"/>
                <a:gd name="connsiteY4" fmla="*/ 5 h 10000"/>
                <a:gd name="connsiteX5" fmla="*/ 550 w 9542"/>
                <a:gd name="connsiteY5" fmla="*/ 818 h 10000"/>
                <a:gd name="connsiteX6" fmla="*/ 550 w 9542"/>
                <a:gd name="connsiteY6" fmla="*/ 1822 h 10000"/>
                <a:gd name="connsiteX7" fmla="*/ 0 w 9542"/>
                <a:gd name="connsiteY7" fmla="*/ 2635 h 10000"/>
                <a:gd name="connsiteX0" fmla="*/ 10158 w 10158"/>
                <a:gd name="connsiteY0" fmla="*/ 10000 h 10000"/>
                <a:gd name="connsiteX1" fmla="*/ 6244 w 10158"/>
                <a:gd name="connsiteY1" fmla="*/ 4788 h 10000"/>
                <a:gd name="connsiteX2" fmla="*/ 2787 w 10158"/>
                <a:gd name="connsiteY2" fmla="*/ 1392 h 10000"/>
                <a:gd name="connsiteX3" fmla="*/ 1847 w 10158"/>
                <a:gd name="connsiteY3" fmla="*/ 578 h 10000"/>
                <a:gd name="connsiteX4" fmla="*/ 869 w 10158"/>
                <a:gd name="connsiteY4" fmla="*/ 5 h 10000"/>
                <a:gd name="connsiteX5" fmla="*/ 734 w 10158"/>
                <a:gd name="connsiteY5" fmla="*/ 818 h 10000"/>
                <a:gd name="connsiteX6" fmla="*/ 734 w 10158"/>
                <a:gd name="connsiteY6" fmla="*/ 1822 h 10000"/>
                <a:gd name="connsiteX7" fmla="*/ 0 w 10158"/>
                <a:gd name="connsiteY7" fmla="*/ 2635 h 10000"/>
                <a:gd name="connsiteX0" fmla="*/ 9426 w 9426"/>
                <a:gd name="connsiteY0" fmla="*/ 10000 h 10000"/>
                <a:gd name="connsiteX1" fmla="*/ 5512 w 9426"/>
                <a:gd name="connsiteY1" fmla="*/ 4788 h 10000"/>
                <a:gd name="connsiteX2" fmla="*/ 2055 w 9426"/>
                <a:gd name="connsiteY2" fmla="*/ 1392 h 10000"/>
                <a:gd name="connsiteX3" fmla="*/ 1115 w 9426"/>
                <a:gd name="connsiteY3" fmla="*/ 578 h 10000"/>
                <a:gd name="connsiteX4" fmla="*/ 137 w 9426"/>
                <a:gd name="connsiteY4" fmla="*/ 5 h 10000"/>
                <a:gd name="connsiteX5" fmla="*/ 2 w 9426"/>
                <a:gd name="connsiteY5" fmla="*/ 818 h 10000"/>
                <a:gd name="connsiteX6" fmla="*/ 2 w 9426"/>
                <a:gd name="connsiteY6" fmla="*/ 1822 h 10000"/>
                <a:gd name="connsiteX0" fmla="*/ 9998 w 9998"/>
                <a:gd name="connsiteY0" fmla="*/ 10000 h 10000"/>
                <a:gd name="connsiteX1" fmla="*/ 5846 w 9998"/>
                <a:gd name="connsiteY1" fmla="*/ 4788 h 10000"/>
                <a:gd name="connsiteX2" fmla="*/ 2178 w 9998"/>
                <a:gd name="connsiteY2" fmla="*/ 1392 h 10000"/>
                <a:gd name="connsiteX3" fmla="*/ 1181 w 9998"/>
                <a:gd name="connsiteY3" fmla="*/ 578 h 10000"/>
                <a:gd name="connsiteX4" fmla="*/ 143 w 9998"/>
                <a:gd name="connsiteY4" fmla="*/ 5 h 10000"/>
                <a:gd name="connsiteX5" fmla="*/ 0 w 9998"/>
                <a:gd name="connsiteY5" fmla="*/ 818 h 10000"/>
                <a:gd name="connsiteX0" fmla="*/ 9857 w 9857"/>
                <a:gd name="connsiteY0" fmla="*/ 10000 h 10000"/>
                <a:gd name="connsiteX1" fmla="*/ 5704 w 9857"/>
                <a:gd name="connsiteY1" fmla="*/ 4788 h 10000"/>
                <a:gd name="connsiteX2" fmla="*/ 2035 w 9857"/>
                <a:gd name="connsiteY2" fmla="*/ 1392 h 10000"/>
                <a:gd name="connsiteX3" fmla="*/ 1038 w 9857"/>
                <a:gd name="connsiteY3" fmla="*/ 578 h 10000"/>
                <a:gd name="connsiteX4" fmla="*/ 0 w 9857"/>
                <a:gd name="connsiteY4" fmla="*/ 5 h 10000"/>
                <a:gd name="connsiteX0" fmla="*/ 8947 w 8947"/>
                <a:gd name="connsiteY0" fmla="*/ 9422 h 9422"/>
                <a:gd name="connsiteX1" fmla="*/ 4734 w 8947"/>
                <a:gd name="connsiteY1" fmla="*/ 4210 h 9422"/>
                <a:gd name="connsiteX2" fmla="*/ 1012 w 8947"/>
                <a:gd name="connsiteY2" fmla="*/ 814 h 9422"/>
                <a:gd name="connsiteX3" fmla="*/ 0 w 8947"/>
                <a:gd name="connsiteY3" fmla="*/ 0 h 9422"/>
                <a:gd name="connsiteX0" fmla="*/ 8869 w 8869"/>
                <a:gd name="connsiteY0" fmla="*/ 9136 h 9136"/>
                <a:gd name="connsiteX1" fmla="*/ 4160 w 8869"/>
                <a:gd name="connsiteY1" fmla="*/ 3604 h 9136"/>
                <a:gd name="connsiteX2" fmla="*/ 0 w 8869"/>
                <a:gd name="connsiteY2" fmla="*/ 0 h 9136"/>
                <a:gd name="connsiteX0" fmla="*/ 5310 w 5310"/>
                <a:gd name="connsiteY0" fmla="*/ 6055 h 6055"/>
                <a:gd name="connsiteX1" fmla="*/ 0 w 5310"/>
                <a:gd name="connsiteY1" fmla="*/ 0 h 6055"/>
                <a:gd name="connsiteX0" fmla="*/ 6661 w 6661"/>
                <a:gd name="connsiteY0" fmla="*/ 23691 h 23691"/>
                <a:gd name="connsiteX1" fmla="*/ 0 w 6661"/>
                <a:gd name="connsiteY1" fmla="*/ 0 h 23691"/>
                <a:gd name="connsiteX0" fmla="*/ 10000 w 10006"/>
                <a:gd name="connsiteY0" fmla="*/ 10000 h 10000"/>
                <a:gd name="connsiteX1" fmla="*/ 0 w 10006"/>
                <a:gd name="connsiteY1" fmla="*/ 0 h 10000"/>
                <a:gd name="connsiteX0" fmla="*/ 10000 w 10000"/>
                <a:gd name="connsiteY0" fmla="*/ 10000 h 10000"/>
                <a:gd name="connsiteX1" fmla="*/ 0 w 10000"/>
                <a:gd name="connsiteY1" fmla="*/ 0 h 10000"/>
                <a:gd name="connsiteX0" fmla="*/ 10000 w 10000"/>
                <a:gd name="connsiteY0" fmla="*/ 10000 h 10000"/>
                <a:gd name="connsiteX1" fmla="*/ 6416 w 10000"/>
                <a:gd name="connsiteY1" fmla="*/ 2614 h 10000"/>
                <a:gd name="connsiteX2" fmla="*/ 0 w 10000"/>
                <a:gd name="connsiteY2" fmla="*/ 0 h 10000"/>
                <a:gd name="connsiteX0" fmla="*/ 10000 w 10000"/>
                <a:gd name="connsiteY0" fmla="*/ 10000 h 10000"/>
                <a:gd name="connsiteX1" fmla="*/ 6416 w 10000"/>
                <a:gd name="connsiteY1" fmla="*/ 2614 h 10000"/>
                <a:gd name="connsiteX2" fmla="*/ 0 w 10000"/>
                <a:gd name="connsiteY2" fmla="*/ 0 h 10000"/>
                <a:gd name="connsiteX0" fmla="*/ 10000 w 10000"/>
                <a:gd name="connsiteY0" fmla="*/ 10000 h 10000"/>
                <a:gd name="connsiteX1" fmla="*/ 6416 w 10000"/>
                <a:gd name="connsiteY1" fmla="*/ 2614 h 10000"/>
                <a:gd name="connsiteX2" fmla="*/ 0 w 10000"/>
                <a:gd name="connsiteY2" fmla="*/ 0 h 10000"/>
                <a:gd name="connsiteX0" fmla="*/ 10000 w 10000"/>
                <a:gd name="connsiteY0" fmla="*/ 10000 h 10000"/>
                <a:gd name="connsiteX1" fmla="*/ 7783 w 10000"/>
                <a:gd name="connsiteY1" fmla="*/ 2768 h 10000"/>
                <a:gd name="connsiteX2" fmla="*/ 0 w 10000"/>
                <a:gd name="connsiteY2" fmla="*/ 0 h 10000"/>
                <a:gd name="connsiteX0" fmla="*/ 10000 w 10031"/>
                <a:gd name="connsiteY0" fmla="*/ 10000 h 10000"/>
                <a:gd name="connsiteX1" fmla="*/ 7783 w 10031"/>
                <a:gd name="connsiteY1" fmla="*/ 2768 h 10000"/>
                <a:gd name="connsiteX2" fmla="*/ 0 w 10031"/>
                <a:gd name="connsiteY2" fmla="*/ 0 h 10000"/>
                <a:gd name="connsiteX0" fmla="*/ 10000 w 10031"/>
                <a:gd name="connsiteY0" fmla="*/ 10000 h 10000"/>
                <a:gd name="connsiteX1" fmla="*/ 7783 w 10031"/>
                <a:gd name="connsiteY1" fmla="*/ 2768 h 10000"/>
                <a:gd name="connsiteX2" fmla="*/ 0 w 10031"/>
                <a:gd name="connsiteY2" fmla="*/ 0 h 10000"/>
              </a:gdLst>
              <a:ahLst/>
              <a:cxnLst>
                <a:cxn ang="0">
                  <a:pos x="connsiteX0" y="connsiteY0"/>
                </a:cxn>
                <a:cxn ang="0">
                  <a:pos x="connsiteX1" y="connsiteY1"/>
                </a:cxn>
                <a:cxn ang="0">
                  <a:pos x="connsiteX2" y="connsiteY2"/>
                </a:cxn>
              </a:cxnLst>
              <a:rect l="l" t="t" r="r" b="b"/>
              <a:pathLst>
                <a:path w="10031" h="10000">
                  <a:moveTo>
                    <a:pt x="10000" y="10000"/>
                  </a:moveTo>
                  <a:cubicBezTo>
                    <a:pt x="9403" y="8705"/>
                    <a:pt x="11416" y="7623"/>
                    <a:pt x="7783" y="2768"/>
                  </a:cubicBezTo>
                  <a:cubicBezTo>
                    <a:pt x="6429" y="1368"/>
                    <a:pt x="4708" y="1161"/>
                    <a:pt x="0" y="0"/>
                  </a:cubicBezTo>
                </a:path>
              </a:pathLst>
            </a:custGeom>
            <a:noFill/>
            <a:ln w="57150" cap="flat" cmpd="sng">
              <a:solidFill>
                <a:srgbClr val="FF0000"/>
              </a:solidFill>
              <a:prstDash val="solid"/>
              <a:round/>
              <a:headEnd/>
              <a:tailEnd/>
            </a:ln>
          </p:spPr>
          <p:txBody>
            <a:bodyPr wrap="square">
              <a:spAutoFit/>
            </a:bodyPr>
            <a:lstStyle/>
            <a:p>
              <a:endParaRPr lang="nl-NL"/>
            </a:p>
          </p:txBody>
        </p:sp>
      </p:grpSp>
    </p:spTree>
    <p:extLst>
      <p:ext uri="{BB962C8B-B14F-4D97-AF65-F5344CB8AC3E}">
        <p14:creationId xmlns:p14="http://schemas.microsoft.com/office/powerpoint/2010/main" val="2588361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0">
                                            <p:txEl>
                                              <p:pRg st="3" end="3"/>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500"/>
                                        <p:tgtEl>
                                          <p:spTgt spid="13"/>
                                        </p:tgtEl>
                                      </p:cBhvr>
                                    </p:animEffect>
                                  </p:childTnLst>
                                </p:cTn>
                              </p:par>
                              <p:par>
                                <p:cTn id="10" presetID="1"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5"/>
          <p:cNvSpPr>
            <a:spLocks noGrp="1" noChangeArrowheads="1"/>
          </p:cNvSpPr>
          <p:nvPr>
            <p:ph type="body" idx="1"/>
          </p:nvPr>
        </p:nvSpPr>
        <p:spPr bwMode="auto">
          <a:xfrm>
            <a:off x="2051050" y="3362584"/>
            <a:ext cx="8224838" cy="1563687"/>
          </a:xfrm>
          <a:noFill/>
          <a:ln>
            <a:miter lim="800000"/>
            <a:headEnd/>
            <a:tailEnd/>
          </a:ln>
        </p:spPr>
        <p:txBody>
          <a:bodyPr vert="horz" wrap="square" lIns="91440" tIns="45720" rIns="91440" bIns="45720" numCol="1" anchor="t" anchorCtr="0" compatLnSpc="1">
            <a:prstTxWarp prst="textNoShape">
              <a:avLst/>
            </a:prstTxWarp>
          </a:bodyPr>
          <a:lstStyle/>
          <a:p>
            <a:pPr marL="0" indent="0" eaLnBrk="1" hangingPunct="1">
              <a:buClr>
                <a:srgbClr val="00A4DE"/>
              </a:buClr>
              <a:buNone/>
            </a:pPr>
            <a:r>
              <a:rPr lang="en-US" sz="1800" b="1" dirty="0">
                <a:latin typeface="Tahoma" pitchFamily="34" charset="0"/>
              </a:rPr>
              <a:t>Industrial weight information is difficult to obtain for outsiders</a:t>
            </a:r>
            <a:r>
              <a:rPr lang="en-US" sz="1800" dirty="0">
                <a:latin typeface="Tahoma" pitchFamily="34" charset="0"/>
              </a:rPr>
              <a:t>. Aircraft industries have developed in-house weight prediction methods. Since these contain sensitive design information, their essence is not published. </a:t>
            </a:r>
          </a:p>
          <a:p>
            <a:pPr marL="0" indent="0" eaLnBrk="1" hangingPunct="1">
              <a:buClr>
                <a:srgbClr val="00A4DE"/>
              </a:buClr>
              <a:buNone/>
            </a:pPr>
            <a:r>
              <a:rPr lang="en-US" sz="1800" dirty="0">
                <a:latin typeface="Tahoma" pitchFamily="34" charset="0"/>
              </a:rPr>
              <a:t>Most publications by industrial parties contain little (explicit**) information on modern aircraft and material applications.</a:t>
            </a:r>
            <a:endParaRPr lang="en-US" sz="1800" dirty="0">
              <a:solidFill>
                <a:srgbClr val="FF3300"/>
              </a:solidFill>
              <a:latin typeface="Tahoma" pitchFamily="34" charset="0"/>
            </a:endParaRPr>
          </a:p>
        </p:txBody>
      </p:sp>
      <p:sp>
        <p:nvSpPr>
          <p:cNvPr id="24579" name="Rectangle 7"/>
          <p:cNvSpPr>
            <a:spLocks noChangeArrowheads="1"/>
          </p:cNvSpPr>
          <p:nvPr/>
        </p:nvSpPr>
        <p:spPr bwMode="auto">
          <a:xfrm>
            <a:off x="2116141" y="1787012"/>
            <a:ext cx="7033695" cy="1477328"/>
          </a:xfrm>
          <a:prstGeom prst="rect">
            <a:avLst/>
          </a:prstGeom>
          <a:noFill/>
          <a:ln w="9525" algn="ctr">
            <a:noFill/>
            <a:miter lim="800000"/>
            <a:headEnd/>
            <a:tailEnd/>
          </a:ln>
        </p:spPr>
        <p:txBody>
          <a:bodyPr wrap="square">
            <a:spAutoFit/>
          </a:bodyPr>
          <a:lstStyle/>
          <a:p>
            <a:r>
              <a:rPr lang="en-US" dirty="0"/>
              <a:t>However, much more relevance is typically given to other specific disciplines, such as aerodynamics and control. </a:t>
            </a:r>
          </a:p>
          <a:p>
            <a:r>
              <a:rPr lang="en-US" dirty="0"/>
              <a:t>Besides (or as a consequence!), there is a terrible lack of available literature, and adequate (up to date) information and reliable weight data.</a:t>
            </a:r>
            <a:endParaRPr lang="en-GB" dirty="0"/>
          </a:p>
        </p:txBody>
      </p:sp>
      <p:sp>
        <p:nvSpPr>
          <p:cNvPr id="24580" name="Rectangle 13"/>
          <p:cNvSpPr>
            <a:spLocks noGrp="1" noChangeArrowheads="1"/>
          </p:cNvSpPr>
          <p:nvPr>
            <p:ph type="title"/>
          </p:nvPr>
        </p:nvSpPr>
        <p:spPr bwMode="auto">
          <a:xfrm>
            <a:off x="2109791" y="285750"/>
            <a:ext cx="8086725" cy="700088"/>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sz="2400" dirty="0">
                <a:solidFill>
                  <a:srgbClr val="00A4DE"/>
                </a:solidFill>
                <a:latin typeface="Tahoma" pitchFamily="34" charset="0"/>
                <a:cs typeface="Tahoma" pitchFamily="34" charset="0"/>
              </a:rPr>
              <a:t>Preliminary weight estimation. An occult science?</a:t>
            </a:r>
          </a:p>
        </p:txBody>
      </p:sp>
      <p:pic>
        <p:nvPicPr>
          <p:cNvPr id="24581" name="Picture 14" descr="Home">
            <a:hlinkClick r:id="rId3" tooltip="Home"/>
          </p:cNvPr>
          <p:cNvPicPr>
            <a:picLocks noChangeAspect="1" noChangeArrowheads="1"/>
          </p:cNvPicPr>
          <p:nvPr/>
        </p:nvPicPr>
        <p:blipFill>
          <a:blip r:embed="rId4" cstate="print"/>
          <a:srcRect/>
          <a:stretch>
            <a:fillRect/>
          </a:stretch>
        </p:blipFill>
        <p:spPr bwMode="auto">
          <a:xfrm>
            <a:off x="2116138" y="5160171"/>
            <a:ext cx="2381250" cy="828675"/>
          </a:xfrm>
          <a:prstGeom prst="rect">
            <a:avLst/>
          </a:prstGeom>
          <a:noFill/>
          <a:ln w="9525">
            <a:noFill/>
            <a:miter lim="800000"/>
            <a:headEnd/>
            <a:tailEnd/>
          </a:ln>
        </p:spPr>
      </p:pic>
      <p:sp>
        <p:nvSpPr>
          <p:cNvPr id="24582" name="Rectangle 15"/>
          <p:cNvSpPr>
            <a:spLocks noChangeArrowheads="1"/>
          </p:cNvSpPr>
          <p:nvPr/>
        </p:nvSpPr>
        <p:spPr bwMode="auto">
          <a:xfrm>
            <a:off x="4574138" y="5449860"/>
            <a:ext cx="4810612" cy="249299"/>
          </a:xfrm>
          <a:prstGeom prst="rect">
            <a:avLst/>
          </a:prstGeom>
          <a:noFill/>
          <a:ln w="9525" algn="ctr">
            <a:noFill/>
            <a:miter lim="800000"/>
            <a:headEnd/>
            <a:tailEnd/>
          </a:ln>
        </p:spPr>
        <p:txBody>
          <a:bodyPr wrap="none" lIns="0" tIns="0" rIns="0" bIns="0" anchor="ctr">
            <a:spAutoFit/>
          </a:bodyPr>
          <a:lstStyle/>
          <a:p>
            <a:pPr algn="ctr">
              <a:lnSpc>
                <a:spcPct val="90000"/>
              </a:lnSpc>
            </a:pPr>
            <a:r>
              <a:rPr lang="en-US" b="1"/>
              <a:t>SAWE: Society of Allied Weight Engineers</a:t>
            </a:r>
            <a:endParaRPr lang="en-US" b="1" i="1"/>
          </a:p>
        </p:txBody>
      </p:sp>
      <p:sp>
        <p:nvSpPr>
          <p:cNvPr id="24583" name="Rectangle 16"/>
          <p:cNvSpPr>
            <a:spLocks noChangeArrowheads="1"/>
          </p:cNvSpPr>
          <p:nvPr/>
        </p:nvSpPr>
        <p:spPr bwMode="auto">
          <a:xfrm>
            <a:off x="2116138" y="901703"/>
            <a:ext cx="6572150" cy="769441"/>
          </a:xfrm>
          <a:prstGeom prst="rect">
            <a:avLst/>
          </a:prstGeom>
          <a:noFill/>
          <a:ln w="9525" algn="ctr">
            <a:noFill/>
            <a:miter lim="800000"/>
            <a:headEnd/>
            <a:tailEnd/>
          </a:ln>
        </p:spPr>
        <p:txBody>
          <a:bodyPr wrap="square">
            <a:spAutoFit/>
          </a:bodyPr>
          <a:lstStyle/>
          <a:p>
            <a:pPr>
              <a:lnSpc>
                <a:spcPct val="110000"/>
              </a:lnSpc>
            </a:pPr>
            <a:r>
              <a:rPr lang="en-US" sz="2000" b="1" dirty="0">
                <a:solidFill>
                  <a:srgbClr val="FF3300"/>
                </a:solidFill>
              </a:rPr>
              <a:t>Weight is an indication of design quality, because that is where all disciplines come together*.</a:t>
            </a:r>
            <a:endParaRPr lang="en-GB" sz="2000" dirty="0"/>
          </a:p>
        </p:txBody>
      </p:sp>
      <p:pic>
        <p:nvPicPr>
          <p:cNvPr id="212994" name="Picture 2" descr="http://2.imimg.com/data2/HT/QC/IMVENDOR-2078824/secrets-20of-20occult-20sciences-250x250.jpg"/>
          <p:cNvPicPr>
            <a:picLocks noChangeAspect="1" noChangeArrowheads="1"/>
          </p:cNvPicPr>
          <p:nvPr/>
        </p:nvPicPr>
        <p:blipFill rotWithShape="1">
          <a:blip r:embed="rId5">
            <a:extLst>
              <a:ext uri="{28A0092B-C50C-407E-A947-70E740481C1C}">
                <a14:useLocalDpi xmlns:a14="http://schemas.microsoft.com/office/drawing/2010/main" val="0"/>
              </a:ext>
            </a:extLst>
          </a:blip>
          <a:srcRect l="25065" t="12611" r="24768" b="22890"/>
          <a:stretch/>
        </p:blipFill>
        <p:spPr bwMode="auto">
          <a:xfrm>
            <a:off x="9024930" y="905406"/>
            <a:ext cx="1643073" cy="2112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7964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299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4578">
                                            <p:txEl>
                                              <p:pRg st="0" end="0"/>
                                            </p:txEl>
                                          </p:spTgt>
                                        </p:tgtEl>
                                        <p:attrNameLst>
                                          <p:attrName>style.visibility</p:attrName>
                                        </p:attrNameLst>
                                      </p:cBhvr>
                                      <p:to>
                                        <p:strVal val="visible"/>
                                      </p:to>
                                    </p:set>
                                    <p:animEffect transition="in" filter="fade">
                                      <p:cBhvr>
                                        <p:cTn id="13" dur="500"/>
                                        <p:tgtEl>
                                          <p:spTgt spid="2457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4578">
                                            <p:txEl>
                                              <p:pRg st="1" end="1"/>
                                            </p:txEl>
                                          </p:spTgt>
                                        </p:tgtEl>
                                        <p:attrNameLst>
                                          <p:attrName>style.visibility</p:attrName>
                                        </p:attrNameLst>
                                      </p:cBhvr>
                                      <p:to>
                                        <p:strVal val="visible"/>
                                      </p:to>
                                    </p:set>
                                    <p:animEffect transition="in" filter="fade">
                                      <p:cBhvr>
                                        <p:cTn id="18" dur="500"/>
                                        <p:tgtEl>
                                          <p:spTgt spid="24578">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581"/>
                                        </p:tgtEl>
                                        <p:attrNameLst>
                                          <p:attrName>style.visibility</p:attrName>
                                        </p:attrNameLst>
                                      </p:cBhvr>
                                      <p:to>
                                        <p:strVal val="visible"/>
                                      </p:to>
                                    </p:set>
                                    <p:animEffect transition="in" filter="fade">
                                      <p:cBhvr>
                                        <p:cTn id="23" dur="500"/>
                                        <p:tgtEl>
                                          <p:spTgt spid="2458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582"/>
                                        </p:tgtEl>
                                        <p:attrNameLst>
                                          <p:attrName>style.visibility</p:attrName>
                                        </p:attrNameLst>
                                      </p:cBhvr>
                                      <p:to>
                                        <p:strVal val="visible"/>
                                      </p:to>
                                    </p:set>
                                    <p:animEffect transition="in" filter="fade">
                                      <p:cBhvr>
                                        <p:cTn id="26" dur="500"/>
                                        <p:tgtEl>
                                          <p:spTgt spid="24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build="p"/>
      <p:bldP spid="24579" grpId="0"/>
      <p:bldP spid="2458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0" y="0"/>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nl-NL" sz="2200"/>
          </a:p>
        </p:txBody>
      </p:sp>
      <p:sp>
        <p:nvSpPr>
          <p:cNvPr id="6" name="Rectangle 4"/>
          <p:cNvSpPr>
            <a:spLocks noChangeArrowheads="1"/>
          </p:cNvSpPr>
          <p:nvPr/>
        </p:nvSpPr>
        <p:spPr bwMode="auto">
          <a:xfrm>
            <a:off x="191344" y="581800"/>
            <a:ext cx="114492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b="1" dirty="0">
                <a:solidFill>
                  <a:schemeClr val="bg1"/>
                </a:solidFill>
                <a:latin typeface="Bookman Old Style" pitchFamily="18" charset="0"/>
              </a:rPr>
              <a:t>2: Classification of weight estimation  procedures</a:t>
            </a:r>
          </a:p>
        </p:txBody>
      </p:sp>
    </p:spTree>
    <p:extLst>
      <p:ext uri="{BB962C8B-B14F-4D97-AF65-F5344CB8AC3E}">
        <p14:creationId xmlns:p14="http://schemas.microsoft.com/office/powerpoint/2010/main" val="4178610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p:cNvSpPr>
            <a:spLocks noGrp="1" noChangeArrowheads="1"/>
          </p:cNvSpPr>
          <p:nvPr>
            <p:ph type="title"/>
          </p:nvPr>
        </p:nvSpPr>
        <p:spPr bwMode="auto">
          <a:xfrm>
            <a:off x="767408" y="228600"/>
            <a:ext cx="9793091" cy="700088"/>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sz="3200" b="0" dirty="0">
                <a:solidFill>
                  <a:srgbClr val="00A4DE"/>
                </a:solidFill>
              </a:rPr>
              <a:t>Weight estimation in the a/c design process</a:t>
            </a:r>
          </a:p>
        </p:txBody>
      </p:sp>
      <p:sp>
        <p:nvSpPr>
          <p:cNvPr id="22531" name="Rectangle 1027"/>
          <p:cNvSpPr>
            <a:spLocks noGrp="1" noChangeArrowheads="1"/>
          </p:cNvSpPr>
          <p:nvPr>
            <p:ph type="body" idx="1"/>
          </p:nvPr>
        </p:nvSpPr>
        <p:spPr bwMode="auto">
          <a:xfrm>
            <a:off x="4566696" y="1040656"/>
            <a:ext cx="6696744" cy="480060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10000"/>
              </a:lnSpc>
              <a:spcAft>
                <a:spcPts val="2400"/>
              </a:spcAft>
              <a:buClr>
                <a:schemeClr val="tx1"/>
              </a:buClr>
            </a:pPr>
            <a:r>
              <a:rPr lang="en-US" sz="1600" dirty="0">
                <a:latin typeface="Tahoma" pitchFamily="34" charset="0"/>
              </a:rPr>
              <a:t>During the </a:t>
            </a:r>
            <a:r>
              <a:rPr lang="en-US" sz="1600" b="1" dirty="0">
                <a:latin typeface="Tahoma" pitchFamily="34" charset="0"/>
              </a:rPr>
              <a:t>conceptual design </a:t>
            </a:r>
            <a:r>
              <a:rPr lang="en-US" sz="1600" dirty="0">
                <a:latin typeface="Tahoma" pitchFamily="34" charset="0"/>
              </a:rPr>
              <a:t>phase weight </a:t>
            </a:r>
            <a:r>
              <a:rPr lang="en-US" sz="1600" b="1" dirty="0">
                <a:solidFill>
                  <a:srgbClr val="FF0000"/>
                </a:solidFill>
                <a:latin typeface="Tahoma" pitchFamily="34" charset="0"/>
              </a:rPr>
              <a:t>is estimated (or predicted, but not determined!) </a:t>
            </a:r>
            <a:r>
              <a:rPr lang="en-US" sz="1600" dirty="0">
                <a:latin typeface="Tahoma" pitchFamily="34" charset="0"/>
              </a:rPr>
              <a:t>with simple methods based on </a:t>
            </a:r>
            <a:r>
              <a:rPr lang="en-US" sz="1600" dirty="0">
                <a:solidFill>
                  <a:srgbClr val="FF3300"/>
                </a:solidFill>
                <a:latin typeface="Tahoma" pitchFamily="34" charset="0"/>
              </a:rPr>
              <a:t>aircraft mission analysis and largely doped with statistics</a:t>
            </a:r>
            <a:r>
              <a:rPr lang="en-US" sz="1600" dirty="0">
                <a:latin typeface="Tahoma" pitchFamily="34" charset="0"/>
              </a:rPr>
              <a:t>. </a:t>
            </a:r>
            <a:br>
              <a:rPr lang="en-US" sz="1600" dirty="0">
                <a:latin typeface="Tahoma" pitchFamily="34" charset="0"/>
              </a:rPr>
            </a:br>
            <a:r>
              <a:rPr lang="en-US" sz="1600" b="1" dirty="0">
                <a:latin typeface="Tahoma" pitchFamily="34" charset="0"/>
              </a:rPr>
              <a:t>The results from these conceptual estimations feed the tools used in the following design phase.</a:t>
            </a:r>
            <a:endParaRPr lang="en-US" sz="1050" dirty="0">
              <a:latin typeface="Tahoma" pitchFamily="34" charset="0"/>
            </a:endParaRPr>
          </a:p>
          <a:p>
            <a:pPr eaLnBrk="1" hangingPunct="1">
              <a:lnSpc>
                <a:spcPct val="110000"/>
              </a:lnSpc>
              <a:spcAft>
                <a:spcPts val="2400"/>
              </a:spcAft>
              <a:buClr>
                <a:schemeClr val="tx1"/>
              </a:buClr>
            </a:pPr>
            <a:r>
              <a:rPr lang="en-US" sz="1600" dirty="0">
                <a:latin typeface="Tahoma" pitchFamily="34" charset="0"/>
              </a:rPr>
              <a:t>During </a:t>
            </a:r>
            <a:r>
              <a:rPr lang="en-US" sz="1600" b="1" dirty="0">
                <a:latin typeface="Tahoma" pitchFamily="34" charset="0"/>
              </a:rPr>
              <a:t>the preliminary design </a:t>
            </a:r>
            <a:r>
              <a:rPr lang="en-US" sz="1600" dirty="0">
                <a:latin typeface="Tahoma" pitchFamily="34" charset="0"/>
              </a:rPr>
              <a:t>phase, weight is again </a:t>
            </a:r>
            <a:r>
              <a:rPr lang="en-US" sz="1600" dirty="0">
                <a:solidFill>
                  <a:srgbClr val="FF0000"/>
                </a:solidFill>
                <a:latin typeface="Tahoma" pitchFamily="34" charset="0"/>
              </a:rPr>
              <a:t>not determined </a:t>
            </a:r>
            <a:r>
              <a:rPr lang="en-US" sz="1600" dirty="0">
                <a:latin typeface="Tahoma" pitchFamily="34" charset="0"/>
              </a:rPr>
              <a:t>but </a:t>
            </a:r>
            <a:r>
              <a:rPr lang="en-US" sz="1600" dirty="0">
                <a:solidFill>
                  <a:srgbClr val="FF3300"/>
                </a:solidFill>
                <a:latin typeface="Tahoma" pitchFamily="34" charset="0"/>
              </a:rPr>
              <a:t>estimated,</a:t>
            </a:r>
            <a:r>
              <a:rPr lang="en-US" sz="1600" dirty="0">
                <a:latin typeface="Tahoma" pitchFamily="34" charset="0"/>
              </a:rPr>
              <a:t> using (semi-)analytical tools, based on </a:t>
            </a:r>
            <a:r>
              <a:rPr lang="en-US" sz="1600" dirty="0">
                <a:solidFill>
                  <a:srgbClr val="FF3300"/>
                </a:solidFill>
                <a:latin typeface="Tahoma" pitchFamily="34" charset="0"/>
              </a:rPr>
              <a:t>a mix of load cases and statistical data…including the weight estimations from conceptual design!</a:t>
            </a:r>
            <a:r>
              <a:rPr lang="en-US" sz="1600" dirty="0">
                <a:latin typeface="Tahoma" pitchFamily="34" charset="0"/>
              </a:rPr>
              <a:t>.</a:t>
            </a:r>
            <a:endParaRPr lang="en-US" sz="1200" dirty="0">
              <a:latin typeface="Tahoma" pitchFamily="34" charset="0"/>
            </a:endParaRPr>
          </a:p>
          <a:p>
            <a:pPr eaLnBrk="1" hangingPunct="1">
              <a:lnSpc>
                <a:spcPct val="110000"/>
              </a:lnSpc>
              <a:spcAft>
                <a:spcPts val="2400"/>
              </a:spcAft>
              <a:buClr>
                <a:schemeClr val="tx1"/>
              </a:buClr>
            </a:pPr>
            <a:r>
              <a:rPr lang="en-US" sz="1600" dirty="0">
                <a:latin typeface="Tahoma" pitchFamily="34" charset="0"/>
              </a:rPr>
              <a:t>These estimates represent the </a:t>
            </a:r>
            <a:r>
              <a:rPr lang="en-US" sz="1600" b="1" dirty="0">
                <a:solidFill>
                  <a:srgbClr val="FF3300"/>
                </a:solidFill>
                <a:latin typeface="Tahoma" pitchFamily="34" charset="0"/>
              </a:rPr>
              <a:t>design goals</a:t>
            </a:r>
            <a:r>
              <a:rPr lang="en-US" sz="1600" dirty="0">
                <a:solidFill>
                  <a:srgbClr val="FF3300"/>
                </a:solidFill>
                <a:latin typeface="Tahoma" pitchFamily="34" charset="0"/>
              </a:rPr>
              <a:t>*</a:t>
            </a:r>
            <a:r>
              <a:rPr lang="en-US" sz="1600" dirty="0">
                <a:latin typeface="Tahoma" pitchFamily="34" charset="0"/>
              </a:rPr>
              <a:t> (or </a:t>
            </a:r>
            <a:r>
              <a:rPr lang="en-US" sz="1600" dirty="0">
                <a:solidFill>
                  <a:srgbClr val="FF0000"/>
                </a:solidFill>
                <a:latin typeface="Tahoma" pitchFamily="34" charset="0"/>
              </a:rPr>
              <a:t>weight specifications</a:t>
            </a:r>
            <a:r>
              <a:rPr lang="en-US" sz="1600" dirty="0">
                <a:latin typeface="Tahoma" pitchFamily="34" charset="0"/>
              </a:rPr>
              <a:t>) for the structural and system engineers, who must design the actual structures (</a:t>
            </a:r>
            <a:r>
              <a:rPr lang="en-US" sz="1600" b="1" dirty="0">
                <a:latin typeface="Tahoma" pitchFamily="34" charset="0"/>
              </a:rPr>
              <a:t>still in the preliminary design phase and later in the detail phase</a:t>
            </a:r>
            <a:r>
              <a:rPr lang="en-US" sz="1600" dirty="0">
                <a:latin typeface="Tahoma" pitchFamily="34" charset="0"/>
              </a:rPr>
              <a:t>). These engineers use also sophisticated analysis and sizing methods, in order to achieve the best possible estimations.</a:t>
            </a:r>
          </a:p>
        </p:txBody>
      </p:sp>
      <p:graphicFrame>
        <p:nvGraphicFramePr>
          <p:cNvPr id="4" name="Diagram 3">
            <a:extLst>
              <a:ext uri="{FF2B5EF4-FFF2-40B4-BE49-F238E27FC236}">
                <a16:creationId xmlns:a16="http://schemas.microsoft.com/office/drawing/2014/main" id="{677AB6B4-1C85-3F9A-0662-2320558957A1}"/>
              </a:ext>
            </a:extLst>
          </p:cNvPr>
          <p:cNvGraphicFramePr/>
          <p:nvPr>
            <p:extLst>
              <p:ext uri="{D42A27DB-BD31-4B8C-83A1-F6EECF244321}">
                <p14:modId xmlns:p14="http://schemas.microsoft.com/office/powerpoint/2010/main" val="2997121717"/>
              </p:ext>
            </p:extLst>
          </p:nvPr>
        </p:nvGraphicFramePr>
        <p:xfrm>
          <a:off x="119336" y="116632"/>
          <a:ext cx="4508932" cy="6021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172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fade">
                                      <p:cBhvr>
                                        <p:cTn id="7" dur="500"/>
                                        <p:tgtEl>
                                          <p:spTgt spid="225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fade">
                                      <p:cBhvr>
                                        <p:cTn id="12" dur="500"/>
                                        <p:tgtEl>
                                          <p:spTgt spid="225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8"/>
          <p:cNvSpPr txBox="1">
            <a:spLocks noChangeArrowheads="1"/>
          </p:cNvSpPr>
          <p:nvPr/>
        </p:nvSpPr>
        <p:spPr bwMode="auto">
          <a:xfrm>
            <a:off x="983432" y="1250942"/>
            <a:ext cx="10945216" cy="4130361"/>
          </a:xfrm>
          <a:prstGeom prst="rect">
            <a:avLst/>
          </a:prstGeom>
          <a:noFill/>
          <a:ln w="9525" algn="ctr">
            <a:noFill/>
            <a:miter lim="800000"/>
            <a:headEnd/>
            <a:tailEnd/>
          </a:ln>
        </p:spPr>
        <p:txBody>
          <a:bodyPr wrap="square">
            <a:spAutoFit/>
          </a:bodyPr>
          <a:lstStyle/>
          <a:p>
            <a:pPr>
              <a:lnSpc>
                <a:spcPct val="80000"/>
              </a:lnSpc>
            </a:pPr>
            <a:r>
              <a:rPr lang="en-GB" sz="2000" b="1" dirty="0">
                <a:solidFill>
                  <a:srgbClr val="FF3300"/>
                </a:solidFill>
              </a:rPr>
              <a:t>Class I:  </a:t>
            </a:r>
            <a:r>
              <a:rPr lang="en-GB" sz="2000" dirty="0">
                <a:solidFill>
                  <a:srgbClr val="FF3300"/>
                </a:solidFill>
              </a:rPr>
              <a:t>Early conceptual methods </a:t>
            </a:r>
          </a:p>
          <a:p>
            <a:pPr>
              <a:lnSpc>
                <a:spcPct val="80000"/>
              </a:lnSpc>
            </a:pPr>
            <a:r>
              <a:rPr lang="en-GB" sz="1600" dirty="0">
                <a:solidFill>
                  <a:srgbClr val="FF3300"/>
                </a:solidFill>
              </a:rPr>
              <a:t>	     or pre-configuration selection methods </a:t>
            </a:r>
            <a:r>
              <a:rPr lang="en-GB" sz="1600" dirty="0"/>
              <a:t>	</a:t>
            </a:r>
          </a:p>
          <a:p>
            <a:pPr>
              <a:lnSpc>
                <a:spcPct val="80000"/>
              </a:lnSpc>
            </a:pPr>
            <a:r>
              <a:rPr lang="en-GB" sz="1600" dirty="0"/>
              <a:t>	When you know almost nothing about the aircraft, apart from its requirements*</a:t>
            </a:r>
          </a:p>
          <a:p>
            <a:pPr>
              <a:lnSpc>
                <a:spcPct val="80000"/>
              </a:lnSpc>
            </a:pPr>
            <a:endParaRPr lang="en-GB" sz="1600" dirty="0"/>
          </a:p>
          <a:p>
            <a:pPr>
              <a:lnSpc>
                <a:spcPct val="80000"/>
              </a:lnSpc>
            </a:pPr>
            <a:r>
              <a:rPr lang="en-GB" sz="2000" b="1" dirty="0">
                <a:solidFill>
                  <a:srgbClr val="FF3300"/>
                </a:solidFill>
              </a:rPr>
              <a:t>Class II: </a:t>
            </a:r>
            <a:r>
              <a:rPr lang="en-GB" sz="2000" dirty="0">
                <a:solidFill>
                  <a:srgbClr val="FF3300"/>
                </a:solidFill>
              </a:rPr>
              <a:t>Conceptual stage methods*</a:t>
            </a:r>
          </a:p>
          <a:p>
            <a:pPr>
              <a:lnSpc>
                <a:spcPct val="80000"/>
              </a:lnSpc>
            </a:pPr>
            <a:r>
              <a:rPr lang="en-GB" sz="1600" dirty="0"/>
              <a:t>	</a:t>
            </a:r>
            <a:r>
              <a:rPr lang="en-GB" sz="1600" dirty="0">
                <a:solidFill>
                  <a:srgbClr val="FF3300"/>
                </a:solidFill>
              </a:rPr>
              <a:t> or configuration selection methods </a:t>
            </a:r>
          </a:p>
          <a:p>
            <a:pPr>
              <a:lnSpc>
                <a:spcPct val="80000"/>
              </a:lnSpc>
            </a:pPr>
            <a:r>
              <a:rPr lang="en-GB" sz="1600" dirty="0">
                <a:solidFill>
                  <a:srgbClr val="FF3300"/>
                </a:solidFill>
              </a:rPr>
              <a:t>	</a:t>
            </a:r>
            <a:r>
              <a:rPr lang="en-GB" sz="1600" dirty="0"/>
              <a:t>When results from Class I are available, as well as a simplified geometric definition of the aircraft</a:t>
            </a:r>
          </a:p>
          <a:p>
            <a:pPr>
              <a:lnSpc>
                <a:spcPct val="80000"/>
              </a:lnSpc>
            </a:pPr>
            <a:endParaRPr lang="en-GB" sz="1600" dirty="0"/>
          </a:p>
          <a:p>
            <a:pPr>
              <a:lnSpc>
                <a:spcPct val="80000"/>
              </a:lnSpc>
            </a:pPr>
            <a:r>
              <a:rPr lang="en-GB" sz="2000" b="1" dirty="0">
                <a:solidFill>
                  <a:srgbClr val="FF3300"/>
                </a:solidFill>
              </a:rPr>
              <a:t>Class III: </a:t>
            </a:r>
            <a:r>
              <a:rPr lang="en-GB" sz="2000" dirty="0">
                <a:solidFill>
                  <a:srgbClr val="FF3300"/>
                </a:solidFill>
              </a:rPr>
              <a:t>Preliminary design methods</a:t>
            </a:r>
          </a:p>
          <a:p>
            <a:pPr>
              <a:lnSpc>
                <a:spcPct val="80000"/>
              </a:lnSpc>
            </a:pPr>
            <a:r>
              <a:rPr lang="en-GB" sz="1600" dirty="0">
                <a:solidFill>
                  <a:srgbClr val="FF3300"/>
                </a:solidFill>
              </a:rPr>
              <a:t>	or post-configuration selection methods</a:t>
            </a:r>
          </a:p>
          <a:p>
            <a:pPr>
              <a:lnSpc>
                <a:spcPct val="80000"/>
              </a:lnSpc>
            </a:pPr>
            <a:r>
              <a:rPr lang="en-GB" sz="1600" dirty="0"/>
              <a:t>	When results from previous methods are available, plus tools for accurate aerodynamic analysis and structural sizing</a:t>
            </a:r>
          </a:p>
          <a:p>
            <a:pPr>
              <a:lnSpc>
                <a:spcPct val="80000"/>
              </a:lnSpc>
            </a:pPr>
            <a:endParaRPr lang="en-GB" sz="1600" dirty="0"/>
          </a:p>
          <a:p>
            <a:pPr>
              <a:lnSpc>
                <a:spcPct val="80000"/>
              </a:lnSpc>
            </a:pPr>
            <a:endParaRPr lang="en-GB" sz="1600" dirty="0"/>
          </a:p>
          <a:p>
            <a:pPr>
              <a:lnSpc>
                <a:spcPct val="80000"/>
              </a:lnSpc>
            </a:pPr>
            <a:r>
              <a:rPr lang="en-GB" sz="1600" dirty="0"/>
              <a:t>----------------------  conceptual/preliminary design concluded -----------------</a:t>
            </a:r>
          </a:p>
          <a:p>
            <a:pPr>
              <a:lnSpc>
                <a:spcPct val="80000"/>
              </a:lnSpc>
            </a:pPr>
            <a:endParaRPr lang="en-GB" sz="2000" dirty="0">
              <a:solidFill>
                <a:srgbClr val="FF3300"/>
              </a:solidFill>
            </a:endParaRPr>
          </a:p>
          <a:p>
            <a:pPr>
              <a:lnSpc>
                <a:spcPct val="80000"/>
              </a:lnSpc>
            </a:pPr>
            <a:endParaRPr lang="en-GB" sz="2000" b="1" dirty="0">
              <a:solidFill>
                <a:srgbClr val="FF3300"/>
              </a:solidFill>
            </a:endParaRPr>
          </a:p>
          <a:p>
            <a:pPr>
              <a:lnSpc>
                <a:spcPct val="80000"/>
              </a:lnSpc>
            </a:pPr>
            <a:r>
              <a:rPr lang="en-GB" sz="2000" b="1" dirty="0">
                <a:solidFill>
                  <a:srgbClr val="FF3300"/>
                </a:solidFill>
              </a:rPr>
              <a:t>Class IV: </a:t>
            </a:r>
            <a:r>
              <a:rPr lang="en-GB" sz="2000" dirty="0">
                <a:solidFill>
                  <a:srgbClr val="FF3300"/>
                </a:solidFill>
              </a:rPr>
              <a:t>Preproduction stage methods</a:t>
            </a:r>
          </a:p>
          <a:p>
            <a:pPr>
              <a:lnSpc>
                <a:spcPct val="80000"/>
              </a:lnSpc>
            </a:pPr>
            <a:r>
              <a:rPr lang="en-GB" sz="1600" dirty="0"/>
              <a:t>	When the </a:t>
            </a:r>
            <a:r>
              <a:rPr lang="en-GB" sz="1600" u="sng" dirty="0"/>
              <a:t>exact</a:t>
            </a:r>
            <a:r>
              <a:rPr lang="en-GB" sz="1600" dirty="0"/>
              <a:t> geometry of each component and the characteristics of the 	material are known</a:t>
            </a:r>
          </a:p>
        </p:txBody>
      </p:sp>
      <p:sp>
        <p:nvSpPr>
          <p:cNvPr id="6" name="Rectangle 1026"/>
          <p:cNvSpPr txBox="1">
            <a:spLocks noChangeArrowheads="1"/>
          </p:cNvSpPr>
          <p:nvPr/>
        </p:nvSpPr>
        <p:spPr bwMode="auto">
          <a:xfrm>
            <a:off x="839416" y="136624"/>
            <a:ext cx="9721081" cy="700088"/>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857250" algn="l" rtl="0" eaLnBrk="0" fontAlgn="base" hangingPunct="0">
              <a:spcBef>
                <a:spcPct val="0"/>
              </a:spcBef>
              <a:spcAft>
                <a:spcPct val="0"/>
              </a:spcAft>
              <a:defRPr sz="3300" b="1">
                <a:solidFill>
                  <a:srgbClr val="00B0F0"/>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eaLnBrk="1" hangingPunct="1"/>
            <a:r>
              <a:rPr lang="en-US" sz="2800" b="0" dirty="0">
                <a:solidFill>
                  <a:srgbClr val="00A4DE"/>
                </a:solidFill>
              </a:rPr>
              <a:t>Weight estimation in the a/c design process</a:t>
            </a:r>
          </a:p>
          <a:p>
            <a:pPr eaLnBrk="1" hangingPunct="1"/>
            <a:r>
              <a:rPr lang="en-US" sz="2000" b="0" dirty="0">
                <a:solidFill>
                  <a:srgbClr val="00A4DE"/>
                </a:solidFill>
              </a:rPr>
              <a:t>What methods exist and when they are used</a:t>
            </a:r>
          </a:p>
        </p:txBody>
      </p:sp>
    </p:spTree>
    <p:extLst>
      <p:ext uri="{BB962C8B-B14F-4D97-AF65-F5344CB8AC3E}">
        <p14:creationId xmlns:p14="http://schemas.microsoft.com/office/powerpoint/2010/main" val="1930370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03">
                                            <p:txEl>
                                              <p:pRg st="4" end="4"/>
                                            </p:txEl>
                                          </p:spTgt>
                                        </p:tgtEl>
                                        <p:attrNameLst>
                                          <p:attrName>style.visibility</p:attrName>
                                        </p:attrNameLst>
                                      </p:cBhvr>
                                      <p:to>
                                        <p:strVal val="visible"/>
                                      </p:to>
                                    </p:set>
                                    <p:animEffect transition="in" filter="fade">
                                      <p:cBhvr>
                                        <p:cTn id="7" dur="500"/>
                                        <p:tgtEl>
                                          <p:spTgt spid="2560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603">
                                            <p:txEl>
                                              <p:pRg st="5" end="5"/>
                                            </p:txEl>
                                          </p:spTgt>
                                        </p:tgtEl>
                                        <p:attrNameLst>
                                          <p:attrName>style.visibility</p:attrName>
                                        </p:attrNameLst>
                                      </p:cBhvr>
                                      <p:to>
                                        <p:strVal val="visible"/>
                                      </p:to>
                                    </p:set>
                                    <p:animEffect transition="in" filter="fade">
                                      <p:cBhvr>
                                        <p:cTn id="10" dur="500"/>
                                        <p:tgtEl>
                                          <p:spTgt spid="2560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5603">
                                            <p:txEl>
                                              <p:pRg st="6" end="6"/>
                                            </p:txEl>
                                          </p:spTgt>
                                        </p:tgtEl>
                                        <p:attrNameLst>
                                          <p:attrName>style.visibility</p:attrName>
                                        </p:attrNameLst>
                                      </p:cBhvr>
                                      <p:to>
                                        <p:strVal val="visible"/>
                                      </p:to>
                                    </p:set>
                                    <p:animEffect transition="in" filter="fade">
                                      <p:cBhvr>
                                        <p:cTn id="13" dur="500"/>
                                        <p:tgtEl>
                                          <p:spTgt spid="2560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5603">
                                            <p:txEl>
                                              <p:pRg st="8" end="8"/>
                                            </p:txEl>
                                          </p:spTgt>
                                        </p:tgtEl>
                                        <p:attrNameLst>
                                          <p:attrName>style.visibility</p:attrName>
                                        </p:attrNameLst>
                                      </p:cBhvr>
                                      <p:to>
                                        <p:strVal val="visible"/>
                                      </p:to>
                                    </p:set>
                                    <p:animEffect transition="in" filter="fade">
                                      <p:cBhvr>
                                        <p:cTn id="18" dur="500"/>
                                        <p:tgtEl>
                                          <p:spTgt spid="25603">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603">
                                            <p:txEl>
                                              <p:pRg st="9" end="9"/>
                                            </p:txEl>
                                          </p:spTgt>
                                        </p:tgtEl>
                                        <p:attrNameLst>
                                          <p:attrName>style.visibility</p:attrName>
                                        </p:attrNameLst>
                                      </p:cBhvr>
                                      <p:to>
                                        <p:strVal val="visible"/>
                                      </p:to>
                                    </p:set>
                                    <p:animEffect transition="in" filter="fade">
                                      <p:cBhvr>
                                        <p:cTn id="23" dur="500"/>
                                        <p:tgtEl>
                                          <p:spTgt spid="25603">
                                            <p:txEl>
                                              <p:pRg st="9" end="9"/>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5603">
                                            <p:txEl>
                                              <p:pRg st="10" end="10"/>
                                            </p:txEl>
                                          </p:spTgt>
                                        </p:tgtEl>
                                        <p:attrNameLst>
                                          <p:attrName>style.visibility</p:attrName>
                                        </p:attrNameLst>
                                      </p:cBhvr>
                                      <p:to>
                                        <p:strVal val="visible"/>
                                      </p:to>
                                    </p:set>
                                    <p:animEffect transition="in" filter="fade">
                                      <p:cBhvr>
                                        <p:cTn id="26" dur="500"/>
                                        <p:tgtEl>
                                          <p:spTgt spid="25603">
                                            <p:txEl>
                                              <p:pRg st="10" end="10"/>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5603">
                                            <p:txEl>
                                              <p:pRg st="13" end="13"/>
                                            </p:txEl>
                                          </p:spTgt>
                                        </p:tgtEl>
                                        <p:attrNameLst>
                                          <p:attrName>style.visibility</p:attrName>
                                        </p:attrNameLst>
                                      </p:cBhvr>
                                      <p:to>
                                        <p:strVal val="visible"/>
                                      </p:to>
                                    </p:set>
                                    <p:animEffect transition="in" filter="fade">
                                      <p:cBhvr>
                                        <p:cTn id="29" dur="500"/>
                                        <p:tgtEl>
                                          <p:spTgt spid="25603">
                                            <p:txEl>
                                              <p:pRg st="13" end="1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603">
                                            <p:txEl>
                                              <p:pRg st="16" end="16"/>
                                            </p:txEl>
                                          </p:spTgt>
                                        </p:tgtEl>
                                        <p:attrNameLst>
                                          <p:attrName>style.visibility</p:attrName>
                                        </p:attrNameLst>
                                      </p:cBhvr>
                                      <p:to>
                                        <p:strVal val="visible"/>
                                      </p:to>
                                    </p:set>
                                    <p:animEffect transition="in" filter="fade">
                                      <p:cBhvr>
                                        <p:cTn id="34" dur="500"/>
                                        <p:tgtEl>
                                          <p:spTgt spid="25603">
                                            <p:txEl>
                                              <p:pRg st="16" end="1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5603">
                                            <p:txEl>
                                              <p:pRg st="17" end="17"/>
                                            </p:txEl>
                                          </p:spTgt>
                                        </p:tgtEl>
                                        <p:attrNameLst>
                                          <p:attrName>style.visibility</p:attrName>
                                        </p:attrNameLst>
                                      </p:cBhvr>
                                      <p:to>
                                        <p:strVal val="visible"/>
                                      </p:to>
                                    </p:set>
                                    <p:animEffect transition="in" filter="fade">
                                      <p:cBhvr>
                                        <p:cTn id="37" dur="500"/>
                                        <p:tgtEl>
                                          <p:spTgt spid="2560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3165670351"/>
              </p:ext>
            </p:extLst>
          </p:nvPr>
        </p:nvGraphicFramePr>
        <p:xfrm>
          <a:off x="2927648" y="260648"/>
          <a:ext cx="6984776" cy="648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009113158"/>
              </p:ext>
            </p:extLst>
          </p:nvPr>
        </p:nvGraphicFramePr>
        <p:xfrm>
          <a:off x="2279576" y="1772816"/>
          <a:ext cx="4056112" cy="3601720"/>
        </p:xfrm>
        <a:graphic>
          <a:graphicData uri="http://schemas.openxmlformats.org/drawingml/2006/table">
            <a:tbl>
              <a:tblPr firstRow="1" bandRow="1">
                <a:tableStyleId>{35758FB7-9AC5-4552-8A53-C91805E547FA}</a:tableStyleId>
              </a:tblPr>
              <a:tblGrid>
                <a:gridCol w="1296144">
                  <a:extLst>
                    <a:ext uri="{9D8B030D-6E8A-4147-A177-3AD203B41FA5}">
                      <a16:colId xmlns:a16="http://schemas.microsoft.com/office/drawing/2014/main" val="20000"/>
                    </a:ext>
                  </a:extLst>
                </a:gridCol>
                <a:gridCol w="2759968">
                  <a:extLst>
                    <a:ext uri="{9D8B030D-6E8A-4147-A177-3AD203B41FA5}">
                      <a16:colId xmlns:a16="http://schemas.microsoft.com/office/drawing/2014/main" val="20001"/>
                    </a:ext>
                  </a:extLst>
                </a:gridCol>
              </a:tblGrid>
              <a:tr h="370840">
                <a:tc gridSpan="2">
                  <a:txBody>
                    <a:bodyPr/>
                    <a:lstStyle/>
                    <a:p>
                      <a:r>
                        <a:rPr lang="en-US" dirty="0">
                          <a:solidFill>
                            <a:schemeClr val="tx1"/>
                          </a:solidFill>
                        </a:rPr>
                        <a:t>CLASS I</a:t>
                      </a:r>
                    </a:p>
                  </a:txBody>
                  <a:tcPr/>
                </a:tc>
                <a:tc hMerge="1">
                  <a:txBody>
                    <a:bodyPr/>
                    <a:lstStyle/>
                    <a:p>
                      <a:endParaRPr lang="en-US" b="0" dirty="0"/>
                    </a:p>
                  </a:txBody>
                  <a:tcPr/>
                </a:tc>
                <a:extLst>
                  <a:ext uri="{0D108BD9-81ED-4DB2-BD59-A6C34878D82A}">
                    <a16:rowId xmlns:a16="http://schemas.microsoft.com/office/drawing/2014/main" val="10000"/>
                  </a:ext>
                </a:extLst>
              </a:tr>
              <a:tr h="370840">
                <a:tc>
                  <a:txBody>
                    <a:bodyPr/>
                    <a:lstStyle/>
                    <a:p>
                      <a:r>
                        <a:rPr lang="en-US" b="1" dirty="0"/>
                        <a:t>Approach</a:t>
                      </a:r>
                    </a:p>
                  </a:txBody>
                  <a:tcPr/>
                </a:tc>
                <a:tc>
                  <a:txBody>
                    <a:bodyPr/>
                    <a:lstStyle/>
                    <a:p>
                      <a:r>
                        <a:rPr lang="en-US" dirty="0"/>
                        <a:t>Fuel fractions method </a:t>
                      </a:r>
                      <a:r>
                        <a:rPr lang="en-US" sz="1600" dirty="0"/>
                        <a:t>(use of </a:t>
                      </a:r>
                      <a:r>
                        <a:rPr lang="en-US" sz="1600" dirty="0" err="1"/>
                        <a:t>Breguet</a:t>
                      </a:r>
                      <a:r>
                        <a:rPr lang="en-US" sz="1600" baseline="0" dirty="0"/>
                        <a:t> formulas)</a:t>
                      </a:r>
                      <a:endParaRPr lang="en-US" sz="1600" b="0" dirty="0"/>
                    </a:p>
                  </a:txBody>
                  <a:tcPr/>
                </a:tc>
                <a:extLst>
                  <a:ext uri="{0D108BD9-81ED-4DB2-BD59-A6C34878D82A}">
                    <a16:rowId xmlns:a16="http://schemas.microsoft.com/office/drawing/2014/main" val="10001"/>
                  </a:ext>
                </a:extLst>
              </a:tr>
              <a:tr h="370840">
                <a:tc>
                  <a:txBody>
                    <a:bodyPr/>
                    <a:lstStyle/>
                    <a:p>
                      <a:r>
                        <a:rPr lang="en-US" b="1" dirty="0"/>
                        <a:t>Input</a:t>
                      </a:r>
                    </a:p>
                  </a:txBody>
                  <a:tcPr/>
                </a:tc>
                <a:tc>
                  <a:txBody>
                    <a:bodyPr/>
                    <a:lstStyle/>
                    <a:p>
                      <a:pPr marL="285750" indent="-285750">
                        <a:buFont typeface="Arial" pitchFamily="34" charset="0"/>
                        <a:buChar char="•"/>
                      </a:pPr>
                      <a:r>
                        <a:rPr lang="en-US" sz="1600" dirty="0"/>
                        <a:t>Payload, range, speed, SFC, prop efficiency,</a:t>
                      </a:r>
                      <a:r>
                        <a:rPr lang="en-US" sz="1600" baseline="0" dirty="0"/>
                        <a:t> L/D</a:t>
                      </a:r>
                    </a:p>
                    <a:p>
                      <a:pPr marL="285750" indent="-285750">
                        <a:buFont typeface="Arial" pitchFamily="34" charset="0"/>
                        <a:buChar char="•"/>
                      </a:pPr>
                      <a:r>
                        <a:rPr lang="en-US" sz="1600" baseline="0" dirty="0"/>
                        <a:t>statistic based fuel fractions estimation</a:t>
                      </a:r>
                    </a:p>
                    <a:p>
                      <a:pPr marL="285750" indent="-285750">
                        <a:buFont typeface="Arial" pitchFamily="34" charset="0"/>
                        <a:buChar char="•"/>
                      </a:pPr>
                      <a:r>
                        <a:rPr lang="en-US" sz="1600" baseline="0" dirty="0"/>
                        <a:t>Statistic based </a:t>
                      </a:r>
                      <a:r>
                        <a:rPr lang="en-US" sz="1600" b="1" baseline="0" dirty="0"/>
                        <a:t>OEW/MTOW</a:t>
                      </a:r>
                      <a:r>
                        <a:rPr lang="en-US" sz="1600" baseline="0" dirty="0"/>
                        <a:t> estimation</a:t>
                      </a:r>
                      <a:endParaRPr lang="en-US" sz="1600" dirty="0"/>
                    </a:p>
                  </a:txBody>
                  <a:tcPr/>
                </a:tc>
                <a:extLst>
                  <a:ext uri="{0D108BD9-81ED-4DB2-BD59-A6C34878D82A}">
                    <a16:rowId xmlns:a16="http://schemas.microsoft.com/office/drawing/2014/main" val="10002"/>
                  </a:ext>
                </a:extLst>
              </a:tr>
              <a:tr h="370840">
                <a:tc>
                  <a:txBody>
                    <a:bodyPr/>
                    <a:lstStyle/>
                    <a:p>
                      <a:r>
                        <a:rPr lang="en-US" b="1" dirty="0"/>
                        <a:t>Output</a:t>
                      </a:r>
                    </a:p>
                  </a:txBody>
                  <a:tcPr/>
                </a:tc>
                <a:tc>
                  <a:txBody>
                    <a:bodyPr/>
                    <a:lstStyle/>
                    <a:p>
                      <a:pPr marL="285750" indent="-285750">
                        <a:buFont typeface="Arial" pitchFamily="34" charset="0"/>
                        <a:buChar char="•"/>
                      </a:pPr>
                      <a:r>
                        <a:rPr lang="en-US" sz="1600" dirty="0"/>
                        <a:t>MTOW</a:t>
                      </a:r>
                    </a:p>
                    <a:p>
                      <a:pPr marL="285750" indent="-285750">
                        <a:buFont typeface="Arial" pitchFamily="34" charset="0"/>
                        <a:buChar char="•"/>
                      </a:pPr>
                      <a:r>
                        <a:rPr lang="en-US" sz="1600" b="1" dirty="0"/>
                        <a:t>OEW</a:t>
                      </a:r>
                    </a:p>
                    <a:p>
                      <a:pPr marL="285750" indent="-285750">
                        <a:buFont typeface="Arial" pitchFamily="34" charset="0"/>
                        <a:buChar char="•"/>
                      </a:pPr>
                      <a:r>
                        <a:rPr lang="en-US" sz="1600" dirty="0"/>
                        <a:t>Fuel weight (with reserves)</a:t>
                      </a:r>
                    </a:p>
                  </a:txBody>
                  <a:tcPr/>
                </a:tc>
                <a:extLst>
                  <a:ext uri="{0D108BD9-81ED-4DB2-BD59-A6C34878D82A}">
                    <a16:rowId xmlns:a16="http://schemas.microsoft.com/office/drawing/2014/main" val="10003"/>
                  </a:ext>
                </a:extLst>
              </a:tr>
            </a:tbl>
          </a:graphicData>
        </a:graphic>
      </p:graphicFrame>
      <p:pic>
        <p:nvPicPr>
          <p:cNvPr id="7"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888088" y="1628800"/>
            <a:ext cx="3493596" cy="117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 3"/>
          <p:cNvGrpSpPr/>
          <p:nvPr/>
        </p:nvGrpSpPr>
        <p:grpSpPr>
          <a:xfrm>
            <a:off x="7248128" y="2708920"/>
            <a:ext cx="2808312" cy="3003674"/>
            <a:chOff x="5724128" y="2708920"/>
            <a:chExt cx="2808312" cy="3003674"/>
          </a:xfrm>
        </p:grpSpPr>
        <p:graphicFrame>
          <p:nvGraphicFramePr>
            <p:cNvPr id="5" name="Chart 4"/>
            <p:cNvGraphicFramePr/>
            <p:nvPr>
              <p:extLst>
                <p:ext uri="{D42A27DB-BD31-4B8C-83A1-F6EECF244321}">
                  <p14:modId xmlns:p14="http://schemas.microsoft.com/office/powerpoint/2010/main" val="544559707"/>
                </p:ext>
              </p:extLst>
            </p:nvPr>
          </p:nvGraphicFramePr>
          <p:xfrm>
            <a:off x="5724128" y="3356992"/>
            <a:ext cx="2808312" cy="2355602"/>
          </p:xfrm>
          <a:graphic>
            <a:graphicData uri="http://schemas.openxmlformats.org/drawingml/2006/chart">
              <c:chart xmlns:c="http://schemas.openxmlformats.org/drawingml/2006/chart" xmlns:r="http://schemas.openxmlformats.org/officeDocument/2006/relationships" r:id="rId9"/>
            </a:graphicData>
          </a:graphic>
        </p:graphicFrame>
        <p:sp>
          <p:nvSpPr>
            <p:cNvPr id="6" name="Down Arrow 5"/>
            <p:cNvSpPr/>
            <p:nvPr/>
          </p:nvSpPr>
          <p:spPr bwMode="auto">
            <a:xfrm>
              <a:off x="6732240" y="2708920"/>
              <a:ext cx="504056" cy="432048"/>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grpSp>
      <p:sp>
        <p:nvSpPr>
          <p:cNvPr id="8" name="Rectangular Callout 7"/>
          <p:cNvSpPr/>
          <p:nvPr/>
        </p:nvSpPr>
        <p:spPr bwMode="auto">
          <a:xfrm>
            <a:off x="2135560" y="1628800"/>
            <a:ext cx="4320480" cy="3888432"/>
          </a:xfrm>
          <a:prstGeom prst="wedgeRectCallout">
            <a:avLst>
              <a:gd name="adj1" fmla="val -30239"/>
              <a:gd name="adj2" fmla="val -68471"/>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9" name="Text Box 4"/>
          <p:cNvSpPr txBox="1">
            <a:spLocks noChangeArrowheads="1"/>
          </p:cNvSpPr>
          <p:nvPr/>
        </p:nvSpPr>
        <p:spPr bwMode="auto">
          <a:xfrm>
            <a:off x="2155404" y="5647655"/>
            <a:ext cx="2753382" cy="387798"/>
          </a:xfrm>
          <a:prstGeom prst="rect">
            <a:avLst/>
          </a:prstGeom>
          <a:solidFill>
            <a:srgbClr val="FFFF00"/>
          </a:solidFill>
          <a:ln w="9525" algn="ctr">
            <a:noFill/>
            <a:miter lim="800000"/>
            <a:headEnd/>
            <a:tailEnd/>
          </a:ln>
        </p:spPr>
        <p:txBody>
          <a:bodyPr wrap="none">
            <a:spAutoFit/>
          </a:bodyPr>
          <a:lstStyle/>
          <a:p>
            <a:pPr>
              <a:lnSpc>
                <a:spcPct val="80000"/>
              </a:lnSpc>
            </a:pPr>
            <a:r>
              <a:rPr lang="en-GB" sz="2400" dirty="0"/>
              <a:t>Covered in AE1201</a:t>
            </a:r>
          </a:p>
        </p:txBody>
      </p:sp>
    </p:spTree>
    <p:extLst>
      <p:ext uri="{BB962C8B-B14F-4D97-AF65-F5344CB8AC3E}">
        <p14:creationId xmlns:p14="http://schemas.microsoft.com/office/powerpoint/2010/main" val="4253483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bwMode="auto">
          <a:xfrm>
            <a:off x="2016128" y="230191"/>
            <a:ext cx="8544371" cy="795337"/>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r>
              <a:rPr lang="en-US" sz="2800" dirty="0">
                <a:solidFill>
                  <a:srgbClr val="00A4DE"/>
                </a:solidFill>
              </a:rPr>
              <a:t>Early conceptual weight prediction (Class I)</a:t>
            </a:r>
          </a:p>
        </p:txBody>
      </p:sp>
      <p:sp>
        <p:nvSpPr>
          <p:cNvPr id="26627" name="Rectangle 3"/>
          <p:cNvSpPr>
            <a:spLocks noGrp="1" noChangeArrowheads="1"/>
          </p:cNvSpPr>
          <p:nvPr>
            <p:ph type="body" idx="1"/>
          </p:nvPr>
        </p:nvSpPr>
        <p:spPr bwMode="auto">
          <a:xfrm>
            <a:off x="2063552" y="1065466"/>
            <a:ext cx="8229600" cy="4335463"/>
          </a:xfrm>
          <a:noFill/>
          <a:ln>
            <a:miter lim="800000"/>
            <a:headEnd/>
            <a:tailEnd/>
          </a:ln>
        </p:spPr>
        <p:txBody>
          <a:bodyPr vert="horz" wrap="square" lIns="91440" tIns="45720" rIns="91440" bIns="45720" numCol="1" anchor="t" anchorCtr="0" compatLnSpc="1">
            <a:prstTxWarp prst="textNoShape">
              <a:avLst/>
            </a:prstTxWarp>
          </a:bodyPr>
          <a:lstStyle/>
          <a:p>
            <a:pPr eaLnBrk="1" hangingPunct="1">
              <a:buClr>
                <a:srgbClr val="00A4DE"/>
              </a:buClr>
            </a:pPr>
            <a:r>
              <a:rPr lang="en-US" dirty="0"/>
              <a:t>The weight data required during the </a:t>
            </a:r>
            <a:r>
              <a:rPr lang="en-US" u="sng" dirty="0"/>
              <a:t>early</a:t>
            </a:r>
            <a:r>
              <a:rPr lang="en-US" dirty="0"/>
              <a:t> conceptual design phase are </a:t>
            </a:r>
            <a:r>
              <a:rPr lang="en-US" b="1" dirty="0"/>
              <a:t>total aircraft group weights</a:t>
            </a:r>
            <a:r>
              <a:rPr lang="en-US" dirty="0"/>
              <a:t> such as </a:t>
            </a:r>
            <a:r>
              <a:rPr lang="en-US" b="1" dirty="0">
                <a:solidFill>
                  <a:srgbClr val="FF3300"/>
                </a:solidFill>
              </a:rPr>
              <a:t>empty weight</a:t>
            </a:r>
            <a:r>
              <a:rPr lang="en-US" dirty="0"/>
              <a:t>, </a:t>
            </a:r>
            <a:r>
              <a:rPr lang="en-US" b="1" dirty="0">
                <a:solidFill>
                  <a:srgbClr val="FF3300"/>
                </a:solidFill>
              </a:rPr>
              <a:t>payload</a:t>
            </a:r>
            <a:r>
              <a:rPr lang="en-US" dirty="0"/>
              <a:t> weight, and </a:t>
            </a:r>
            <a:r>
              <a:rPr lang="en-US" b="1" dirty="0">
                <a:solidFill>
                  <a:srgbClr val="FF3300"/>
                </a:solidFill>
              </a:rPr>
              <a:t>take-off and landing gross weights</a:t>
            </a:r>
            <a:r>
              <a:rPr lang="en-US" dirty="0"/>
              <a:t>. </a:t>
            </a:r>
          </a:p>
          <a:p>
            <a:pPr eaLnBrk="1" hangingPunct="1">
              <a:buClr>
                <a:srgbClr val="00A4DE"/>
              </a:buClr>
            </a:pPr>
            <a:endParaRPr lang="en-US" dirty="0"/>
          </a:p>
          <a:p>
            <a:pPr eaLnBrk="1" hangingPunct="1">
              <a:buClr>
                <a:srgbClr val="00A4DE"/>
              </a:buClr>
            </a:pPr>
            <a:r>
              <a:rPr lang="en-US" dirty="0"/>
              <a:t>Since the </a:t>
            </a:r>
            <a:r>
              <a:rPr lang="en-US" b="1" dirty="0">
                <a:solidFill>
                  <a:srgbClr val="FF3300"/>
                </a:solidFill>
              </a:rPr>
              <a:t>type of aircraft, speed, range, payload and technology level are generally the only design criteria available</a:t>
            </a:r>
            <a:r>
              <a:rPr lang="en-US" dirty="0"/>
              <a:t>, the weight estimating relationships are preferably expressed in terms of this information (</a:t>
            </a:r>
            <a:r>
              <a:rPr lang="en-US" b="1" dirty="0" err="1"/>
              <a:t>Breguet</a:t>
            </a:r>
            <a:r>
              <a:rPr lang="en-US" b="1" dirty="0"/>
              <a:t> equation</a:t>
            </a:r>
            <a:r>
              <a:rPr lang="en-US" dirty="0"/>
              <a:t>). </a:t>
            </a:r>
          </a:p>
          <a:p>
            <a:pPr eaLnBrk="1" hangingPunct="1">
              <a:buClr>
                <a:srgbClr val="00A4DE"/>
              </a:buClr>
            </a:pPr>
            <a:endParaRPr lang="en-US" dirty="0"/>
          </a:p>
          <a:p>
            <a:pPr eaLnBrk="1" hangingPunct="1">
              <a:buClr>
                <a:srgbClr val="00A4DE"/>
              </a:buClr>
            </a:pPr>
            <a:r>
              <a:rPr lang="en-US" b="1" dirty="0">
                <a:solidFill>
                  <a:srgbClr val="FF3300"/>
                </a:solidFill>
              </a:rPr>
              <a:t>Reliable* statistical information on weight fractions</a:t>
            </a:r>
            <a:r>
              <a:rPr lang="en-US" dirty="0"/>
              <a:t> of similar existing or projected (competing) aircraft can be helpful when interpreted carefully.</a:t>
            </a:r>
          </a:p>
        </p:txBody>
      </p:sp>
      <p:sp>
        <p:nvSpPr>
          <p:cNvPr id="26628" name="Text Box 4"/>
          <p:cNvSpPr txBox="1">
            <a:spLocks noChangeArrowheads="1"/>
          </p:cNvSpPr>
          <p:nvPr/>
        </p:nvSpPr>
        <p:spPr bwMode="auto">
          <a:xfrm>
            <a:off x="2279576" y="5441279"/>
            <a:ext cx="2753382" cy="387798"/>
          </a:xfrm>
          <a:prstGeom prst="rect">
            <a:avLst/>
          </a:prstGeom>
          <a:solidFill>
            <a:srgbClr val="FFFF00"/>
          </a:solidFill>
          <a:ln w="9525" algn="ctr">
            <a:noFill/>
            <a:miter lim="800000"/>
            <a:headEnd/>
            <a:tailEnd/>
          </a:ln>
        </p:spPr>
        <p:txBody>
          <a:bodyPr wrap="none">
            <a:spAutoFit/>
          </a:bodyPr>
          <a:lstStyle/>
          <a:p>
            <a:pPr>
              <a:lnSpc>
                <a:spcPct val="80000"/>
              </a:lnSpc>
            </a:pPr>
            <a:r>
              <a:rPr lang="en-GB" sz="2400" dirty="0"/>
              <a:t>Covered in AE1201</a:t>
            </a:r>
          </a:p>
        </p:txBody>
      </p:sp>
    </p:spTree>
    <p:extLst>
      <p:ext uri="{BB962C8B-B14F-4D97-AF65-F5344CB8AC3E}">
        <p14:creationId xmlns:p14="http://schemas.microsoft.com/office/powerpoint/2010/main" val="810840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3148920308"/>
              </p:ext>
            </p:extLst>
          </p:nvPr>
        </p:nvGraphicFramePr>
        <p:xfrm>
          <a:off x="2927648" y="260648"/>
          <a:ext cx="6984776" cy="648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763608177"/>
              </p:ext>
            </p:extLst>
          </p:nvPr>
        </p:nvGraphicFramePr>
        <p:xfrm>
          <a:off x="2207568" y="1772816"/>
          <a:ext cx="4464496" cy="3744416"/>
        </p:xfrm>
        <a:graphic>
          <a:graphicData uri="http://schemas.openxmlformats.org/drawingml/2006/table">
            <a:tbl>
              <a:tblPr firstRow="1" bandRow="1">
                <a:tableStyleId>{35758FB7-9AC5-4552-8A53-C91805E547FA}</a:tableStyleId>
              </a:tblPr>
              <a:tblGrid>
                <a:gridCol w="1385534">
                  <a:extLst>
                    <a:ext uri="{9D8B030D-6E8A-4147-A177-3AD203B41FA5}">
                      <a16:colId xmlns:a16="http://schemas.microsoft.com/office/drawing/2014/main" val="20000"/>
                    </a:ext>
                  </a:extLst>
                </a:gridCol>
                <a:gridCol w="3078962">
                  <a:extLst>
                    <a:ext uri="{9D8B030D-6E8A-4147-A177-3AD203B41FA5}">
                      <a16:colId xmlns:a16="http://schemas.microsoft.com/office/drawing/2014/main" val="20001"/>
                    </a:ext>
                  </a:extLst>
                </a:gridCol>
              </a:tblGrid>
              <a:tr h="382297">
                <a:tc gridSpan="2">
                  <a:txBody>
                    <a:bodyPr/>
                    <a:lstStyle/>
                    <a:p>
                      <a:r>
                        <a:rPr lang="en-US" dirty="0">
                          <a:solidFill>
                            <a:schemeClr val="tx1"/>
                          </a:solidFill>
                        </a:rPr>
                        <a:t>CLASS II</a:t>
                      </a:r>
                    </a:p>
                  </a:txBody>
                  <a:tcPr/>
                </a:tc>
                <a:tc hMerge="1">
                  <a:txBody>
                    <a:bodyPr/>
                    <a:lstStyle/>
                    <a:p>
                      <a:endParaRPr lang="en-US" b="0" dirty="0"/>
                    </a:p>
                  </a:txBody>
                  <a:tcPr/>
                </a:tc>
                <a:extLst>
                  <a:ext uri="{0D108BD9-81ED-4DB2-BD59-A6C34878D82A}">
                    <a16:rowId xmlns:a16="http://schemas.microsoft.com/office/drawing/2014/main" val="10000"/>
                  </a:ext>
                </a:extLst>
              </a:tr>
              <a:tr h="659855">
                <a:tc>
                  <a:txBody>
                    <a:bodyPr/>
                    <a:lstStyle/>
                    <a:p>
                      <a:r>
                        <a:rPr lang="en-US" b="1" dirty="0"/>
                        <a:t>Approach</a:t>
                      </a:r>
                    </a:p>
                  </a:txBody>
                  <a:tcPr/>
                </a:tc>
                <a:tc>
                  <a:txBody>
                    <a:bodyPr/>
                    <a:lstStyle/>
                    <a:p>
                      <a:r>
                        <a:rPr lang="en-US" dirty="0"/>
                        <a:t>Component</a:t>
                      </a:r>
                      <a:r>
                        <a:rPr lang="en-US" baseline="0" dirty="0"/>
                        <a:t> weight estimation equations</a:t>
                      </a:r>
                      <a:endParaRPr lang="en-US" sz="1600" b="0" dirty="0"/>
                    </a:p>
                  </a:txBody>
                  <a:tcPr/>
                </a:tc>
                <a:extLst>
                  <a:ext uri="{0D108BD9-81ED-4DB2-BD59-A6C34878D82A}">
                    <a16:rowId xmlns:a16="http://schemas.microsoft.com/office/drawing/2014/main" val="10001"/>
                  </a:ext>
                </a:extLst>
              </a:tr>
              <a:tr h="1853879">
                <a:tc>
                  <a:txBody>
                    <a:bodyPr/>
                    <a:lstStyle/>
                    <a:p>
                      <a:r>
                        <a:rPr lang="en-US" b="1" dirty="0"/>
                        <a:t>Input</a:t>
                      </a:r>
                    </a:p>
                  </a:txBody>
                  <a:tcPr/>
                </a:tc>
                <a:tc>
                  <a:txBody>
                    <a:bodyPr/>
                    <a:lstStyle/>
                    <a:p>
                      <a:pPr marL="285750" indent="-285750">
                        <a:buFont typeface="Arial" pitchFamily="34" charset="0"/>
                        <a:buChar char="•"/>
                      </a:pPr>
                      <a:endParaRPr lang="en-US" sz="1600" baseline="0" dirty="0"/>
                    </a:p>
                    <a:p>
                      <a:pPr marL="285750" indent="-285750">
                        <a:buFont typeface="Arial" pitchFamily="34" charset="0"/>
                        <a:buChar char="•"/>
                      </a:pPr>
                      <a:endParaRPr lang="en-US" sz="1600" baseline="0" dirty="0"/>
                    </a:p>
                    <a:p>
                      <a:pPr marL="285750" indent="-285750">
                        <a:buFont typeface="Arial" pitchFamily="34" charset="0"/>
                        <a:buChar char="•"/>
                      </a:pPr>
                      <a:endParaRPr lang="en-US" sz="1600" baseline="0" dirty="0"/>
                    </a:p>
                    <a:p>
                      <a:pPr marL="285750" indent="-285750">
                        <a:buFont typeface="Arial" pitchFamily="34" charset="0"/>
                        <a:buChar char="•"/>
                      </a:pPr>
                      <a:endParaRPr lang="en-US" sz="1600" baseline="0" dirty="0"/>
                    </a:p>
                    <a:p>
                      <a:pPr marL="285750" indent="-285750">
                        <a:buFont typeface="Arial" pitchFamily="34" charset="0"/>
                        <a:buChar char="•"/>
                      </a:pPr>
                      <a:endParaRPr lang="en-US" sz="1600" baseline="0" dirty="0"/>
                    </a:p>
                    <a:p>
                      <a:pPr marL="285750" indent="-285750">
                        <a:buFont typeface="Arial" pitchFamily="34" charset="0"/>
                        <a:buChar char="•"/>
                      </a:pPr>
                      <a:endParaRPr lang="en-US" sz="1600" baseline="0" dirty="0"/>
                    </a:p>
                    <a:p>
                      <a:pPr marL="285750" indent="-285750">
                        <a:buFont typeface="Arial" pitchFamily="34" charset="0"/>
                        <a:buChar char="•"/>
                      </a:pPr>
                      <a:endParaRPr lang="en-US" sz="1600" baseline="0" dirty="0"/>
                    </a:p>
                  </a:txBody>
                  <a:tcPr/>
                </a:tc>
                <a:extLst>
                  <a:ext uri="{0D108BD9-81ED-4DB2-BD59-A6C34878D82A}">
                    <a16:rowId xmlns:a16="http://schemas.microsoft.com/office/drawing/2014/main" val="10002"/>
                  </a:ext>
                </a:extLst>
              </a:tr>
              <a:tr h="848385">
                <a:tc>
                  <a:txBody>
                    <a:bodyPr/>
                    <a:lstStyle/>
                    <a:p>
                      <a:r>
                        <a:rPr lang="en-US" b="1" dirty="0"/>
                        <a:t>Output</a:t>
                      </a:r>
                    </a:p>
                  </a:txBody>
                  <a:tcPr/>
                </a:tc>
                <a:tc>
                  <a:txBody>
                    <a:bodyPr/>
                    <a:lstStyle/>
                    <a:p>
                      <a:pPr marL="285750" indent="-285750">
                        <a:buFont typeface="Arial" pitchFamily="34" charset="0"/>
                        <a:buChar char="•"/>
                      </a:pPr>
                      <a:endParaRPr lang="en-US" sz="1600" b="1" dirty="0"/>
                    </a:p>
                    <a:p>
                      <a:pPr marL="285750" indent="-285750">
                        <a:buFont typeface="Arial" pitchFamily="34" charset="0"/>
                        <a:buChar char="•"/>
                      </a:pPr>
                      <a:endParaRPr lang="en-US" sz="1600" b="1" dirty="0"/>
                    </a:p>
                    <a:p>
                      <a:pPr marL="285750" indent="-285750">
                        <a:buFont typeface="Arial" pitchFamily="34" charset="0"/>
                        <a:buChar char="•"/>
                      </a:pPr>
                      <a:endParaRPr lang="en-US" sz="1600" b="1" dirty="0"/>
                    </a:p>
                  </a:txBody>
                  <a:tcPr/>
                </a:tc>
                <a:extLst>
                  <a:ext uri="{0D108BD9-81ED-4DB2-BD59-A6C34878D82A}">
                    <a16:rowId xmlns:a16="http://schemas.microsoft.com/office/drawing/2014/main" val="10003"/>
                  </a:ext>
                </a:extLst>
              </a:tr>
            </a:tbl>
          </a:graphicData>
        </a:graphic>
      </p:graphicFrame>
      <p:pic>
        <p:nvPicPr>
          <p:cNvPr id="19558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86094" y="1913757"/>
            <a:ext cx="2348409" cy="1302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Chart 4"/>
          <p:cNvGraphicFramePr/>
          <p:nvPr>
            <p:extLst>
              <p:ext uri="{D42A27DB-BD31-4B8C-83A1-F6EECF244321}">
                <p14:modId xmlns:p14="http://schemas.microsoft.com/office/powerpoint/2010/main" val="3395715468"/>
              </p:ext>
            </p:extLst>
          </p:nvPr>
        </p:nvGraphicFramePr>
        <p:xfrm>
          <a:off x="6888088" y="1196752"/>
          <a:ext cx="1260140" cy="118923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4126987483"/>
              </p:ext>
            </p:extLst>
          </p:nvPr>
        </p:nvGraphicFramePr>
        <p:xfrm>
          <a:off x="8328248" y="1074544"/>
          <a:ext cx="1606252" cy="872126"/>
        </p:xfrm>
        <a:graphic>
          <a:graphicData uri="http://schemas.openxmlformats.org/presentationml/2006/ole">
            <mc:AlternateContent xmlns:mc="http://schemas.openxmlformats.org/markup-compatibility/2006">
              <mc:Choice xmlns:v="urn:schemas-microsoft-com:vml" Requires="v">
                <p:oleObj name="Bitmap-afbeelding" r:id="rId10" imgW="9815411" imgH="11438611" progId="PBrush">
                  <p:embed/>
                </p:oleObj>
              </mc:Choice>
              <mc:Fallback>
                <p:oleObj name="Bitmap-afbeelding" r:id="rId10" imgW="9815411" imgH="11438611" progId="PBrush">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b="52722"/>
                      <a:stretch>
                        <a:fillRect/>
                      </a:stretch>
                    </p:blipFill>
                    <p:spPr bwMode="auto">
                      <a:xfrm>
                        <a:off x="8328248" y="1074544"/>
                        <a:ext cx="1606252" cy="872126"/>
                      </a:xfrm>
                      <a:prstGeom prst="rect">
                        <a:avLst/>
                      </a:prstGeom>
                      <a:noFill/>
                      <a:ln w="9525">
                        <a:solidFill>
                          <a:schemeClr val="tx1"/>
                        </a:solidFill>
                        <a:miter lim="800000"/>
                        <a:headEnd/>
                        <a:tailEnd/>
                      </a:ln>
                      <a:effectLst/>
                    </p:spPr>
                  </p:pic>
                </p:oleObj>
              </mc:Fallback>
            </mc:AlternateContent>
          </a:graphicData>
        </a:graphic>
      </p:graphicFrame>
      <p:grpSp>
        <p:nvGrpSpPr>
          <p:cNvPr id="7" name="Group 6"/>
          <p:cNvGrpSpPr/>
          <p:nvPr/>
        </p:nvGrpSpPr>
        <p:grpSpPr>
          <a:xfrm>
            <a:off x="7032104" y="3175667"/>
            <a:ext cx="3816424" cy="2912435"/>
            <a:chOff x="5148064" y="3216053"/>
            <a:chExt cx="3816424" cy="2912435"/>
          </a:xfrm>
        </p:grpSpPr>
        <p:pic>
          <p:nvPicPr>
            <p:cNvPr id="11" name="Grafiek 1"/>
            <p:cNvPicPr>
              <a:picLocks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148064" y="3432077"/>
              <a:ext cx="3816424" cy="2696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own Arrow 5"/>
            <p:cNvSpPr/>
            <p:nvPr/>
          </p:nvSpPr>
          <p:spPr bwMode="auto">
            <a:xfrm>
              <a:off x="6877743" y="3216053"/>
              <a:ext cx="504056" cy="432048"/>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grpSp>
      <p:sp>
        <p:nvSpPr>
          <p:cNvPr id="13" name="Rectangular Callout 12"/>
          <p:cNvSpPr/>
          <p:nvPr/>
        </p:nvSpPr>
        <p:spPr bwMode="auto">
          <a:xfrm>
            <a:off x="2135560" y="1628800"/>
            <a:ext cx="4608512" cy="4012700"/>
          </a:xfrm>
          <a:prstGeom prst="wedgeRectCallout">
            <a:avLst>
              <a:gd name="adj1" fmla="val 16798"/>
              <a:gd name="adj2" fmla="val -71125"/>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12" name="Text Box 7"/>
          <p:cNvSpPr txBox="1">
            <a:spLocks noChangeArrowheads="1"/>
          </p:cNvSpPr>
          <p:nvPr/>
        </p:nvSpPr>
        <p:spPr bwMode="auto">
          <a:xfrm>
            <a:off x="2150347" y="5700304"/>
            <a:ext cx="3312367" cy="387798"/>
          </a:xfrm>
          <a:prstGeom prst="rect">
            <a:avLst/>
          </a:prstGeom>
          <a:solidFill>
            <a:srgbClr val="FFFF00"/>
          </a:solidFill>
          <a:ln w="9525" algn="ctr">
            <a:noFill/>
            <a:miter lim="800000"/>
            <a:headEnd/>
            <a:tailEnd/>
          </a:ln>
        </p:spPr>
        <p:txBody>
          <a:bodyPr wrap="square">
            <a:spAutoFit/>
          </a:bodyPr>
          <a:lstStyle/>
          <a:p>
            <a:pPr>
              <a:lnSpc>
                <a:spcPct val="80000"/>
              </a:lnSpc>
            </a:pPr>
            <a:r>
              <a:rPr lang="en-GB" sz="2400" dirty="0"/>
              <a:t>Covered in this course</a:t>
            </a:r>
          </a:p>
        </p:txBody>
      </p:sp>
      <p:sp>
        <p:nvSpPr>
          <p:cNvPr id="8" name="Rectangle 7"/>
          <p:cNvSpPr/>
          <p:nvPr/>
        </p:nvSpPr>
        <p:spPr>
          <a:xfrm>
            <a:off x="3647728" y="2808644"/>
            <a:ext cx="2736304" cy="646331"/>
          </a:xfrm>
          <a:prstGeom prst="rect">
            <a:avLst/>
          </a:prstGeom>
        </p:spPr>
        <p:txBody>
          <a:bodyPr wrap="square">
            <a:spAutoFit/>
          </a:bodyPr>
          <a:lstStyle/>
          <a:p>
            <a:pPr marL="285750" indent="-285750">
              <a:buFont typeface="Arial" pitchFamily="34" charset="0"/>
              <a:buChar char="•"/>
            </a:pPr>
            <a:r>
              <a:rPr lang="en-US" dirty="0"/>
              <a:t>MTOW, gross weight, </a:t>
            </a:r>
            <a:r>
              <a:rPr lang="en-US" b="1" dirty="0"/>
              <a:t>OEW</a:t>
            </a:r>
            <a:r>
              <a:rPr lang="en-US" dirty="0"/>
              <a:t>, MZFW, …</a:t>
            </a:r>
          </a:p>
        </p:txBody>
      </p:sp>
      <p:sp>
        <p:nvSpPr>
          <p:cNvPr id="9" name="Rectangle 8"/>
          <p:cNvSpPr/>
          <p:nvPr/>
        </p:nvSpPr>
        <p:spPr>
          <a:xfrm>
            <a:off x="3647728" y="3388350"/>
            <a:ext cx="2272482" cy="369332"/>
          </a:xfrm>
          <a:prstGeom prst="rect">
            <a:avLst/>
          </a:prstGeom>
        </p:spPr>
        <p:txBody>
          <a:bodyPr wrap="none">
            <a:spAutoFit/>
          </a:bodyPr>
          <a:lstStyle/>
          <a:p>
            <a:pPr marL="285750" indent="-285750">
              <a:buFont typeface="Arial" pitchFamily="34" charset="0"/>
              <a:buChar char="•"/>
            </a:pPr>
            <a:r>
              <a:rPr lang="en-US" dirty="0"/>
              <a:t>Load factors (</a:t>
            </a:r>
            <a:r>
              <a:rPr lang="en-US" dirty="0" err="1"/>
              <a:t>n</a:t>
            </a:r>
            <a:r>
              <a:rPr lang="en-US" baseline="-25000" dirty="0" err="1"/>
              <a:t>ult</a:t>
            </a:r>
            <a:r>
              <a:rPr lang="en-US" dirty="0"/>
              <a:t>)</a:t>
            </a:r>
          </a:p>
        </p:txBody>
      </p:sp>
      <p:sp>
        <p:nvSpPr>
          <p:cNvPr id="14" name="Rectangle 13"/>
          <p:cNvSpPr/>
          <p:nvPr/>
        </p:nvSpPr>
        <p:spPr>
          <a:xfrm>
            <a:off x="3647728" y="3648101"/>
            <a:ext cx="3158984" cy="923330"/>
          </a:xfrm>
          <a:prstGeom prst="rect">
            <a:avLst/>
          </a:prstGeom>
        </p:spPr>
        <p:txBody>
          <a:bodyPr wrap="square">
            <a:spAutoFit/>
          </a:bodyPr>
          <a:lstStyle/>
          <a:p>
            <a:pPr marL="285750" indent="-285750">
              <a:buFont typeface="Arial" pitchFamily="34" charset="0"/>
              <a:buChar char="•"/>
            </a:pPr>
            <a:r>
              <a:rPr lang="en-US" dirty="0"/>
              <a:t>Geometric parameters (span, sweep, chord, t/c, taper, diameter, surface..)</a:t>
            </a:r>
          </a:p>
        </p:txBody>
      </p:sp>
      <p:sp>
        <p:nvSpPr>
          <p:cNvPr id="15" name="Rectangle 14"/>
          <p:cNvSpPr/>
          <p:nvPr/>
        </p:nvSpPr>
        <p:spPr>
          <a:xfrm>
            <a:off x="3593976" y="4663244"/>
            <a:ext cx="3150096" cy="923330"/>
          </a:xfrm>
          <a:prstGeom prst="rect">
            <a:avLst/>
          </a:prstGeom>
        </p:spPr>
        <p:txBody>
          <a:bodyPr wrap="square">
            <a:spAutoFit/>
          </a:bodyPr>
          <a:lstStyle/>
          <a:p>
            <a:pPr marL="285750" indent="-285750">
              <a:buFont typeface="Arial" pitchFamily="34" charset="0"/>
              <a:buChar char="•"/>
            </a:pPr>
            <a:r>
              <a:rPr lang="en-US" dirty="0"/>
              <a:t>Weights of a/c main components and systems</a:t>
            </a:r>
          </a:p>
          <a:p>
            <a:pPr marL="285750" indent="-285750">
              <a:buFont typeface="Arial" pitchFamily="34" charset="0"/>
              <a:buChar char="•"/>
            </a:pPr>
            <a:r>
              <a:rPr lang="en-US" b="1" dirty="0"/>
              <a:t>OEW</a:t>
            </a:r>
          </a:p>
        </p:txBody>
      </p:sp>
    </p:spTree>
    <p:extLst>
      <p:ext uri="{BB962C8B-B14F-4D97-AF65-F5344CB8AC3E}">
        <p14:creationId xmlns:p14="http://schemas.microsoft.com/office/powerpoint/2010/main" val="252707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195586"/>
                                        </p:tgtEl>
                                        <p:attrNameLst>
                                          <p:attrName>style.visibility</p:attrName>
                                        </p:attrNameLst>
                                      </p:cBhvr>
                                      <p:to>
                                        <p:strVal val="visible"/>
                                      </p:to>
                                    </p:set>
                                    <p:animEffect transition="in" filter="fade">
                                      <p:cBhvr>
                                        <p:cTn id="26" dur="500"/>
                                        <p:tgtEl>
                                          <p:spTgt spid="19558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8" grpId="0"/>
      <p:bldP spid="9" grpId="0"/>
      <p:bldP spid="14" grpId="0"/>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bwMode="auto">
          <a:xfrm>
            <a:off x="2016128" y="977903"/>
            <a:ext cx="8456613" cy="4672013"/>
          </a:xfrm>
          <a:noFill/>
          <a:ln>
            <a:miter lim="800000"/>
            <a:headEnd/>
            <a:tailEnd/>
          </a:ln>
        </p:spPr>
        <p:txBody>
          <a:bodyPr vert="horz" wrap="square" lIns="91440" tIns="45720" rIns="91440" bIns="45720" numCol="1" anchor="t" anchorCtr="0" compatLnSpc="1">
            <a:prstTxWarp prst="textNoShape">
              <a:avLst/>
            </a:prstTxWarp>
          </a:bodyPr>
          <a:lstStyle/>
          <a:p>
            <a:pPr eaLnBrk="1" hangingPunct="1">
              <a:buClr>
                <a:srgbClr val="00A4DE"/>
              </a:buClr>
            </a:pPr>
            <a:r>
              <a:rPr lang="en-US" dirty="0"/>
              <a:t>Results of these conceptual weight prediction methods are </a:t>
            </a:r>
            <a:r>
              <a:rPr lang="en-US" b="1" dirty="0">
                <a:solidFill>
                  <a:srgbClr val="FF3300"/>
                </a:solidFill>
              </a:rPr>
              <a:t>the weight of the main aircraft components</a:t>
            </a:r>
            <a:r>
              <a:rPr lang="en-US" dirty="0"/>
              <a:t>, as well as an </a:t>
            </a:r>
            <a:r>
              <a:rPr lang="en-US" b="1" dirty="0">
                <a:solidFill>
                  <a:srgbClr val="FF3300"/>
                </a:solidFill>
              </a:rPr>
              <a:t>educated guess of the </a:t>
            </a:r>
            <a:r>
              <a:rPr lang="en-US" b="1" dirty="0" err="1">
                <a:solidFill>
                  <a:srgbClr val="FF3300"/>
                </a:solidFill>
              </a:rPr>
              <a:t>c.g.</a:t>
            </a:r>
            <a:r>
              <a:rPr lang="en-US" b="1" dirty="0">
                <a:solidFill>
                  <a:srgbClr val="FF3300"/>
                </a:solidFill>
              </a:rPr>
              <a:t> location of each component*</a:t>
            </a:r>
            <a:r>
              <a:rPr lang="en-US" dirty="0"/>
              <a:t>. </a:t>
            </a:r>
          </a:p>
          <a:p>
            <a:pPr eaLnBrk="1" hangingPunct="1">
              <a:buClr>
                <a:srgbClr val="00A4DE"/>
              </a:buClr>
            </a:pPr>
            <a:endParaRPr lang="en-US" dirty="0"/>
          </a:p>
          <a:p>
            <a:pPr eaLnBrk="1" hangingPunct="1">
              <a:buClr>
                <a:srgbClr val="00A4DE"/>
              </a:buClr>
            </a:pPr>
            <a:r>
              <a:rPr lang="en-US" dirty="0"/>
              <a:t>Input is formed by initial estimate of OEW, MZFW, MTOW, and take-off thrust, </a:t>
            </a:r>
            <a:r>
              <a:rPr lang="en-US" b="1" dirty="0">
                <a:solidFill>
                  <a:srgbClr val="FF3300"/>
                </a:solidFill>
              </a:rPr>
              <a:t>as well as an initial three-view drawings</a:t>
            </a:r>
            <a:r>
              <a:rPr lang="en-US" dirty="0"/>
              <a:t>. </a:t>
            </a:r>
          </a:p>
          <a:p>
            <a:pPr eaLnBrk="1" hangingPunct="1">
              <a:buClr>
                <a:srgbClr val="00A4DE"/>
              </a:buClr>
            </a:pPr>
            <a:endParaRPr lang="en-US" dirty="0"/>
          </a:p>
          <a:p>
            <a:pPr eaLnBrk="1" hangingPunct="1">
              <a:buClr>
                <a:srgbClr val="00A4DE"/>
              </a:buClr>
            </a:pPr>
            <a:r>
              <a:rPr lang="en-US" dirty="0"/>
              <a:t>The limited amount of conceptual design optimization will also require some information on </a:t>
            </a:r>
            <a:r>
              <a:rPr lang="en-US" b="1" dirty="0">
                <a:solidFill>
                  <a:srgbClr val="FF3300"/>
                </a:solidFill>
              </a:rPr>
              <a:t>weight component sensitivity to variation of basic design variables</a:t>
            </a:r>
            <a:r>
              <a:rPr lang="en-US" dirty="0"/>
              <a:t> such as wing area, aspect ratio, angle of sweep, type of high lift devices, etc.** </a:t>
            </a:r>
          </a:p>
          <a:p>
            <a:pPr eaLnBrk="1" hangingPunct="1">
              <a:buClr>
                <a:srgbClr val="00A4DE"/>
              </a:buClr>
            </a:pPr>
            <a:endParaRPr lang="en-US" dirty="0"/>
          </a:p>
          <a:p>
            <a:pPr eaLnBrk="1" hangingPunct="1">
              <a:buClr>
                <a:srgbClr val="00A4DE"/>
              </a:buClr>
            </a:pPr>
            <a:r>
              <a:rPr lang="en-US" dirty="0"/>
              <a:t>At this stage weight engineering is </a:t>
            </a:r>
            <a:r>
              <a:rPr lang="en-US" b="1" dirty="0">
                <a:solidFill>
                  <a:srgbClr val="FF3300"/>
                </a:solidFill>
              </a:rPr>
              <a:t>still augmented by statistical data.</a:t>
            </a:r>
          </a:p>
        </p:txBody>
      </p:sp>
      <p:sp>
        <p:nvSpPr>
          <p:cNvPr id="27651" name="Rectangle 5"/>
          <p:cNvSpPr>
            <a:spLocks noChangeArrowheads="1"/>
          </p:cNvSpPr>
          <p:nvPr/>
        </p:nvSpPr>
        <p:spPr bwMode="auto">
          <a:xfrm>
            <a:off x="2016128" y="230191"/>
            <a:ext cx="8170863" cy="795337"/>
          </a:xfrm>
          <a:prstGeom prst="rect">
            <a:avLst/>
          </a:prstGeom>
          <a:noFill/>
          <a:ln w="9525">
            <a:noFill/>
            <a:miter lim="800000"/>
            <a:headEnd/>
            <a:tailEnd/>
          </a:ln>
        </p:spPr>
        <p:txBody>
          <a:bodyPr/>
          <a:lstStyle/>
          <a:p>
            <a:pPr>
              <a:spcBef>
                <a:spcPct val="0"/>
              </a:spcBef>
              <a:buClrTx/>
            </a:pPr>
            <a:r>
              <a:rPr lang="en-US" sz="2400" b="1" dirty="0">
                <a:solidFill>
                  <a:srgbClr val="00A4DE"/>
                </a:solidFill>
                <a:latin typeface="+mj-lt"/>
              </a:rPr>
              <a:t>Conceptual stage weight prediction (Class II)</a:t>
            </a:r>
          </a:p>
        </p:txBody>
      </p:sp>
      <p:sp>
        <p:nvSpPr>
          <p:cNvPr id="27652" name="Text Box 7"/>
          <p:cNvSpPr txBox="1">
            <a:spLocks noChangeArrowheads="1"/>
          </p:cNvSpPr>
          <p:nvPr/>
        </p:nvSpPr>
        <p:spPr bwMode="auto">
          <a:xfrm>
            <a:off x="2135563" y="5661248"/>
            <a:ext cx="3192605" cy="387798"/>
          </a:xfrm>
          <a:prstGeom prst="rect">
            <a:avLst/>
          </a:prstGeom>
          <a:solidFill>
            <a:srgbClr val="FFFF00"/>
          </a:solidFill>
          <a:ln w="9525" algn="ctr">
            <a:noFill/>
            <a:miter lim="800000"/>
            <a:headEnd/>
            <a:tailEnd/>
          </a:ln>
        </p:spPr>
        <p:txBody>
          <a:bodyPr wrap="none">
            <a:spAutoFit/>
          </a:bodyPr>
          <a:lstStyle/>
          <a:p>
            <a:pPr>
              <a:lnSpc>
                <a:spcPct val="80000"/>
              </a:lnSpc>
            </a:pPr>
            <a:r>
              <a:rPr lang="en-GB" sz="2400" dirty="0"/>
              <a:t>Covered in this course</a:t>
            </a:r>
          </a:p>
        </p:txBody>
      </p:sp>
    </p:spTree>
    <p:extLst>
      <p:ext uri="{BB962C8B-B14F-4D97-AF65-F5344CB8AC3E}">
        <p14:creationId xmlns:p14="http://schemas.microsoft.com/office/powerpoint/2010/main" val="1104656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680880724"/>
              </p:ext>
            </p:extLst>
          </p:nvPr>
        </p:nvGraphicFramePr>
        <p:xfrm>
          <a:off x="2927648" y="260648"/>
          <a:ext cx="6984776" cy="648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50579764"/>
              </p:ext>
            </p:extLst>
          </p:nvPr>
        </p:nvGraphicFramePr>
        <p:xfrm>
          <a:off x="2207568" y="1357944"/>
          <a:ext cx="4248472" cy="3967480"/>
        </p:xfrm>
        <a:graphic>
          <a:graphicData uri="http://schemas.openxmlformats.org/drawingml/2006/table">
            <a:tbl>
              <a:tblPr firstRow="1" bandRow="1">
                <a:tableStyleId>{35758FB7-9AC5-4552-8A53-C91805E547FA}</a:tableStyleId>
              </a:tblPr>
              <a:tblGrid>
                <a:gridCol w="1318492">
                  <a:extLst>
                    <a:ext uri="{9D8B030D-6E8A-4147-A177-3AD203B41FA5}">
                      <a16:colId xmlns:a16="http://schemas.microsoft.com/office/drawing/2014/main" val="20000"/>
                    </a:ext>
                  </a:extLst>
                </a:gridCol>
                <a:gridCol w="2929980">
                  <a:extLst>
                    <a:ext uri="{9D8B030D-6E8A-4147-A177-3AD203B41FA5}">
                      <a16:colId xmlns:a16="http://schemas.microsoft.com/office/drawing/2014/main" val="20001"/>
                    </a:ext>
                  </a:extLst>
                </a:gridCol>
              </a:tblGrid>
              <a:tr h="370840">
                <a:tc gridSpan="2">
                  <a:txBody>
                    <a:bodyPr/>
                    <a:lstStyle/>
                    <a:p>
                      <a:r>
                        <a:rPr lang="en-US" dirty="0">
                          <a:solidFill>
                            <a:schemeClr val="tx1"/>
                          </a:solidFill>
                        </a:rPr>
                        <a:t>CLASS III</a:t>
                      </a:r>
                    </a:p>
                  </a:txBody>
                  <a:tcPr/>
                </a:tc>
                <a:tc hMerge="1">
                  <a:txBody>
                    <a:bodyPr/>
                    <a:lstStyle/>
                    <a:p>
                      <a:endParaRPr lang="en-US" b="0" dirty="0"/>
                    </a:p>
                  </a:txBody>
                  <a:tcPr/>
                </a:tc>
                <a:extLst>
                  <a:ext uri="{0D108BD9-81ED-4DB2-BD59-A6C34878D82A}">
                    <a16:rowId xmlns:a16="http://schemas.microsoft.com/office/drawing/2014/main" val="10000"/>
                  </a:ext>
                </a:extLst>
              </a:tr>
              <a:tr h="370840">
                <a:tc>
                  <a:txBody>
                    <a:bodyPr/>
                    <a:lstStyle/>
                    <a:p>
                      <a:r>
                        <a:rPr lang="en-US" b="1" dirty="0"/>
                        <a:t>Approach</a:t>
                      </a:r>
                    </a:p>
                  </a:txBody>
                  <a:tcPr/>
                </a:tc>
                <a:tc>
                  <a:txBody>
                    <a:bodyPr/>
                    <a:lstStyle/>
                    <a:p>
                      <a:r>
                        <a:rPr lang="en-US" dirty="0"/>
                        <a:t>Semi-analytical and FEM based methods</a:t>
                      </a:r>
                      <a:endParaRPr lang="en-US" sz="1600" b="0" dirty="0"/>
                    </a:p>
                  </a:txBody>
                  <a:tcPr/>
                </a:tc>
                <a:extLst>
                  <a:ext uri="{0D108BD9-81ED-4DB2-BD59-A6C34878D82A}">
                    <a16:rowId xmlns:a16="http://schemas.microsoft.com/office/drawing/2014/main" val="10001"/>
                  </a:ext>
                </a:extLst>
              </a:tr>
              <a:tr h="370840">
                <a:tc>
                  <a:txBody>
                    <a:bodyPr/>
                    <a:lstStyle/>
                    <a:p>
                      <a:r>
                        <a:rPr lang="en-US" b="1" dirty="0"/>
                        <a:t>Input</a:t>
                      </a:r>
                    </a:p>
                  </a:txBody>
                  <a:tcPr/>
                </a:tc>
                <a:tc>
                  <a:txBody>
                    <a:bodyPr/>
                    <a:lstStyle/>
                    <a:p>
                      <a:pPr marL="285750" indent="-285750">
                        <a:buFont typeface="Arial" pitchFamily="34" charset="0"/>
                        <a:buChar char="•"/>
                      </a:pPr>
                      <a:r>
                        <a:rPr lang="en-US" sz="1400" dirty="0"/>
                        <a:t>Sets of (aero) load cases</a:t>
                      </a:r>
                      <a:endParaRPr lang="en-US" sz="1400" baseline="0" dirty="0"/>
                    </a:p>
                    <a:p>
                      <a:pPr marL="285750" indent="-285750">
                        <a:buFont typeface="Arial" pitchFamily="34" charset="0"/>
                        <a:buChar char="•"/>
                      </a:pPr>
                      <a:r>
                        <a:rPr lang="en-US" sz="1400" baseline="0" dirty="0"/>
                        <a:t>material data and allowables</a:t>
                      </a:r>
                    </a:p>
                    <a:p>
                      <a:pPr marL="285750" indent="-285750">
                        <a:buFont typeface="Arial" pitchFamily="34" charset="0"/>
                        <a:buChar char="•"/>
                      </a:pPr>
                      <a:r>
                        <a:rPr lang="en-US" sz="1400" baseline="0" dirty="0"/>
                        <a:t>Preliminary CAD models of outer surfaces and internal structure layout (no production models)</a:t>
                      </a:r>
                    </a:p>
                    <a:p>
                      <a:pPr marL="285750" indent="-285750">
                        <a:buFont typeface="Arial" pitchFamily="34" charset="0"/>
                        <a:buChar char="•"/>
                      </a:pPr>
                      <a:r>
                        <a:rPr lang="en-US" sz="1400" baseline="0" dirty="0"/>
                        <a:t>Preliminary thickness distributions</a:t>
                      </a:r>
                    </a:p>
                    <a:p>
                      <a:pPr marL="285750" indent="-285750">
                        <a:buFont typeface="Arial" pitchFamily="34" charset="0"/>
                        <a:buChar char="•"/>
                      </a:pPr>
                      <a:r>
                        <a:rPr lang="en-US" sz="1400" baseline="0" dirty="0"/>
                        <a:t>Non-structural items masses</a:t>
                      </a:r>
                      <a:endParaRPr lang="en-US" sz="1400" dirty="0"/>
                    </a:p>
                  </a:txBody>
                  <a:tcPr/>
                </a:tc>
                <a:extLst>
                  <a:ext uri="{0D108BD9-81ED-4DB2-BD59-A6C34878D82A}">
                    <a16:rowId xmlns:a16="http://schemas.microsoft.com/office/drawing/2014/main" val="10002"/>
                  </a:ext>
                </a:extLst>
              </a:tr>
              <a:tr h="370840">
                <a:tc>
                  <a:txBody>
                    <a:bodyPr/>
                    <a:lstStyle/>
                    <a:p>
                      <a:r>
                        <a:rPr lang="en-US" b="1" dirty="0"/>
                        <a:t>Output</a:t>
                      </a:r>
                    </a:p>
                  </a:txBody>
                  <a:tcPr/>
                </a:tc>
                <a:tc>
                  <a:txBody>
                    <a:bodyPr/>
                    <a:lstStyle/>
                    <a:p>
                      <a:pPr marL="285750" indent="-285750">
                        <a:buFont typeface="Arial" pitchFamily="34" charset="0"/>
                        <a:buChar char="•"/>
                      </a:pPr>
                      <a:r>
                        <a:rPr lang="en-US" sz="1400" dirty="0"/>
                        <a:t>Thickness distributions and weight of main</a:t>
                      </a:r>
                      <a:r>
                        <a:rPr lang="en-US" sz="1400" baseline="0" dirty="0"/>
                        <a:t> structural elements (skin panels, spars, ribs, frames,…)</a:t>
                      </a:r>
                      <a:endParaRPr lang="en-US" sz="1400" dirty="0"/>
                    </a:p>
                  </a:txBody>
                  <a:tcPr/>
                </a:tc>
                <a:extLst>
                  <a:ext uri="{0D108BD9-81ED-4DB2-BD59-A6C34878D82A}">
                    <a16:rowId xmlns:a16="http://schemas.microsoft.com/office/drawing/2014/main" val="10003"/>
                  </a:ext>
                </a:extLst>
              </a:tr>
            </a:tbl>
          </a:graphicData>
        </a:graphic>
      </p:graphicFrame>
      <p:sp>
        <p:nvSpPr>
          <p:cNvPr id="6" name="Down Arrow 5"/>
          <p:cNvSpPr/>
          <p:nvPr/>
        </p:nvSpPr>
        <p:spPr bwMode="auto">
          <a:xfrm>
            <a:off x="8383398" y="3573016"/>
            <a:ext cx="504056" cy="432048"/>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13" name="Rectangular Callout 12"/>
          <p:cNvSpPr/>
          <p:nvPr/>
        </p:nvSpPr>
        <p:spPr bwMode="auto">
          <a:xfrm>
            <a:off x="2135560" y="1268763"/>
            <a:ext cx="4392488" cy="4218805"/>
          </a:xfrm>
          <a:prstGeom prst="wedgeRectCallout">
            <a:avLst>
              <a:gd name="adj1" fmla="val 49759"/>
              <a:gd name="adj2" fmla="val -60039"/>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pic>
        <p:nvPicPr>
          <p:cNvPr id="12" name="Picture 8" descr="fuselage with floor"/>
          <p:cNvPicPr>
            <a:picLocks noChangeAspect="1" noChangeArrowheads="1"/>
          </p:cNvPicPr>
          <p:nvPr/>
        </p:nvPicPr>
        <p:blipFill>
          <a:blip r:embed="rId8" cstate="print"/>
          <a:srcRect l="4332" t="7648" b="11848"/>
          <a:stretch>
            <a:fillRect/>
          </a:stretch>
        </p:blipFill>
        <p:spPr bwMode="auto">
          <a:xfrm>
            <a:off x="6960099" y="1421947"/>
            <a:ext cx="1797999" cy="1046691"/>
          </a:xfrm>
          <a:prstGeom prst="rect">
            <a:avLst/>
          </a:prstGeom>
          <a:ln>
            <a:noFill/>
          </a:ln>
          <a:effectLst>
            <a:outerShdw blurRad="292100" dist="139700" dir="2700000" algn="tl" rotWithShape="0">
              <a:srgbClr val="333333">
                <a:alpha val="65000"/>
              </a:srgbClr>
            </a:outerShdw>
          </a:effectLst>
        </p:spPr>
      </p:pic>
      <p:pic>
        <p:nvPicPr>
          <p:cNvPr id="14" name="Picture 125"/>
          <p:cNvPicPr>
            <a:picLocks noChangeAspect="1" noChangeArrowheads="1"/>
          </p:cNvPicPr>
          <p:nvPr/>
        </p:nvPicPr>
        <p:blipFill>
          <a:blip r:embed="rId9" cstate="print"/>
          <a:srcRect/>
          <a:stretch>
            <a:fillRect/>
          </a:stretch>
        </p:blipFill>
        <p:spPr bwMode="auto">
          <a:xfrm>
            <a:off x="8920486" y="1601465"/>
            <a:ext cx="1396763" cy="1008112"/>
          </a:xfrm>
          <a:prstGeom prst="rect">
            <a:avLst/>
          </a:prstGeom>
          <a:ln>
            <a:noFill/>
          </a:ln>
          <a:effectLst>
            <a:outerShdw blurRad="292100" dist="139700" dir="2700000" algn="tl" rotWithShape="0">
              <a:srgbClr val="333333">
                <a:alpha val="65000"/>
              </a:srgbClr>
            </a:outerShdw>
          </a:effectLst>
        </p:spPr>
      </p:pic>
      <p:pic>
        <p:nvPicPr>
          <p:cNvPr id="17" name="Picture 135" descr="VTAILisometric"/>
          <p:cNvPicPr>
            <a:picLocks noChangeAspect="1" noChangeArrowheads="1"/>
          </p:cNvPicPr>
          <p:nvPr/>
        </p:nvPicPr>
        <p:blipFill>
          <a:blip r:embed="rId10" cstate="print">
            <a:clrChange>
              <a:clrFrom>
                <a:srgbClr val="FFFFFF"/>
              </a:clrFrom>
              <a:clrTo>
                <a:srgbClr val="FFFFFF">
                  <a:alpha val="0"/>
                </a:srgbClr>
              </a:clrTo>
            </a:clrChange>
          </a:blip>
          <a:srcRect/>
          <a:stretch>
            <a:fillRect/>
          </a:stretch>
        </p:blipFill>
        <p:spPr bwMode="auto">
          <a:xfrm>
            <a:off x="7135653" y="2225273"/>
            <a:ext cx="1820639" cy="1353890"/>
          </a:xfrm>
          <a:prstGeom prst="rect">
            <a:avLst/>
          </a:prstGeom>
          <a:noFill/>
          <a:ln w="9525">
            <a:noFill/>
            <a:miter lim="800000"/>
            <a:headEnd/>
            <a:tailEnd/>
          </a:ln>
        </p:spPr>
      </p:pic>
      <p:pic>
        <p:nvPicPr>
          <p:cNvPr id="19" name="Picture 9"/>
          <p:cNvPicPr>
            <a:picLocks noChangeAspect="1" noChangeArrowheads="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98304" y="3789040"/>
            <a:ext cx="2089150" cy="105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pic>
        <p:nvPicPr>
          <p:cNvPr id="22" name="Picture 12"/>
          <p:cNvPicPr>
            <a:picLocks noChangeAspect="1" noChangeArrowheads="1"/>
          </p:cNvPicPr>
          <p:nvPr/>
        </p:nvPicPr>
        <p:blipFill>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79391" y="4913687"/>
            <a:ext cx="2157413" cy="114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pic>
      <p:sp>
        <p:nvSpPr>
          <p:cNvPr id="11" name="Text Box 7"/>
          <p:cNvSpPr txBox="1">
            <a:spLocks noChangeArrowheads="1"/>
          </p:cNvSpPr>
          <p:nvPr/>
        </p:nvSpPr>
        <p:spPr bwMode="auto">
          <a:xfrm>
            <a:off x="2096324" y="5673649"/>
            <a:ext cx="3842783" cy="387798"/>
          </a:xfrm>
          <a:prstGeom prst="rect">
            <a:avLst/>
          </a:prstGeom>
          <a:solidFill>
            <a:srgbClr val="FFFF00"/>
          </a:solidFill>
          <a:ln w="9525" algn="ctr">
            <a:noFill/>
            <a:miter lim="800000"/>
            <a:headEnd/>
            <a:tailEnd/>
          </a:ln>
        </p:spPr>
        <p:txBody>
          <a:bodyPr wrap="none">
            <a:spAutoFit/>
          </a:bodyPr>
          <a:lstStyle/>
          <a:p>
            <a:pPr>
              <a:lnSpc>
                <a:spcPct val="80000"/>
              </a:lnSpc>
            </a:pPr>
            <a:r>
              <a:rPr lang="en-GB" sz="2400" dirty="0"/>
              <a:t>NOT covered in this course</a:t>
            </a:r>
            <a:endParaRPr lang="en-GB" dirty="0"/>
          </a:p>
        </p:txBody>
      </p:sp>
    </p:spTree>
    <p:extLst>
      <p:ext uri="{BB962C8B-B14F-4D97-AF65-F5344CB8AC3E}">
        <p14:creationId xmlns:p14="http://schemas.microsoft.com/office/powerpoint/2010/main" val="227551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3"/>
          <p:cNvSpPr>
            <a:spLocks noGrp="1" noChangeArrowheads="1"/>
          </p:cNvSpPr>
          <p:nvPr>
            <p:ph type="body" idx="1"/>
          </p:nvPr>
        </p:nvSpPr>
        <p:spPr bwMode="auto">
          <a:xfrm>
            <a:off x="2016127" y="1050928"/>
            <a:ext cx="8150225" cy="4308475"/>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00A4DE"/>
              </a:buClr>
            </a:pPr>
            <a:r>
              <a:rPr lang="en-US" dirty="0"/>
              <a:t>Weight engineering at this stage involves a detailed and well-defined breakdown of weight components and their </a:t>
            </a:r>
            <a:r>
              <a:rPr lang="en-US" dirty="0" err="1"/>
              <a:t>c.g.</a:t>
            </a:r>
            <a:r>
              <a:rPr lang="en-US" dirty="0"/>
              <a:t> locations at subsystem level, derived from refined </a:t>
            </a:r>
            <a:r>
              <a:rPr lang="en-US" b="1" dirty="0">
                <a:solidFill>
                  <a:srgbClr val="FF3300"/>
                </a:solidFill>
              </a:rPr>
              <a:t>loads analysis and preliminary structural sizing. </a:t>
            </a:r>
          </a:p>
          <a:p>
            <a:pPr eaLnBrk="1" hangingPunct="1">
              <a:lnSpc>
                <a:spcPct val="90000"/>
              </a:lnSpc>
              <a:buClr>
                <a:srgbClr val="00A4DE"/>
              </a:buClr>
            </a:pPr>
            <a:endParaRPr lang="en-US" b="1" dirty="0">
              <a:solidFill>
                <a:srgbClr val="FF3300"/>
              </a:solidFill>
            </a:endParaRPr>
          </a:p>
          <a:p>
            <a:pPr eaLnBrk="1" hangingPunct="1">
              <a:lnSpc>
                <a:spcPct val="90000"/>
              </a:lnSpc>
              <a:buClr>
                <a:srgbClr val="00A4DE"/>
              </a:buClr>
            </a:pPr>
            <a:r>
              <a:rPr lang="en-US" dirty="0"/>
              <a:t>Since many of these use geometric information as input, </a:t>
            </a:r>
            <a:r>
              <a:rPr lang="en-US" b="1" dirty="0">
                <a:solidFill>
                  <a:srgbClr val="FF3300"/>
                </a:solidFill>
              </a:rPr>
              <a:t>a fairly detailed digital model of the a/c baseline design is required</a:t>
            </a:r>
            <a:r>
              <a:rPr lang="en-US" dirty="0"/>
              <a:t>. </a:t>
            </a:r>
          </a:p>
          <a:p>
            <a:pPr eaLnBrk="1" hangingPunct="1">
              <a:lnSpc>
                <a:spcPct val="90000"/>
              </a:lnSpc>
              <a:buClr>
                <a:srgbClr val="00A4DE"/>
              </a:buClr>
            </a:pPr>
            <a:endParaRPr lang="en-US" dirty="0"/>
          </a:p>
          <a:p>
            <a:pPr eaLnBrk="1" hangingPunct="1">
              <a:lnSpc>
                <a:spcPct val="90000"/>
              </a:lnSpc>
              <a:buClr>
                <a:srgbClr val="00A4DE"/>
              </a:buClr>
            </a:pPr>
            <a:endParaRPr lang="en-US" dirty="0"/>
          </a:p>
          <a:p>
            <a:pPr eaLnBrk="1" hangingPunct="1">
              <a:lnSpc>
                <a:spcPct val="90000"/>
              </a:lnSpc>
              <a:buClr>
                <a:srgbClr val="00A4DE"/>
              </a:buClr>
            </a:pPr>
            <a:r>
              <a:rPr lang="en-US" dirty="0"/>
              <a:t>Results from preliminary design weight predictions </a:t>
            </a:r>
            <a:r>
              <a:rPr lang="en-US" b="1" dirty="0">
                <a:solidFill>
                  <a:srgbClr val="FF3300"/>
                </a:solidFill>
              </a:rPr>
              <a:t>represent input</a:t>
            </a:r>
            <a:r>
              <a:rPr lang="en-US" dirty="0"/>
              <a:t> for performance and flight dynamics analysis, and for economic assessment.</a:t>
            </a:r>
          </a:p>
          <a:p>
            <a:pPr eaLnBrk="1" hangingPunct="1">
              <a:lnSpc>
                <a:spcPct val="90000"/>
              </a:lnSpc>
              <a:buClr>
                <a:srgbClr val="00A4DE"/>
              </a:buClr>
            </a:pPr>
            <a:endParaRPr lang="en-US" dirty="0"/>
          </a:p>
        </p:txBody>
      </p:sp>
      <p:sp>
        <p:nvSpPr>
          <p:cNvPr id="28675" name="Rectangle 5"/>
          <p:cNvSpPr>
            <a:spLocks noChangeArrowheads="1"/>
          </p:cNvSpPr>
          <p:nvPr/>
        </p:nvSpPr>
        <p:spPr bwMode="auto">
          <a:xfrm>
            <a:off x="2016128" y="230191"/>
            <a:ext cx="8400355" cy="795337"/>
          </a:xfrm>
          <a:prstGeom prst="rect">
            <a:avLst/>
          </a:prstGeom>
          <a:noFill/>
          <a:ln w="9525">
            <a:noFill/>
            <a:miter lim="800000"/>
            <a:headEnd/>
            <a:tailEnd/>
          </a:ln>
        </p:spPr>
        <p:txBody>
          <a:bodyPr/>
          <a:lstStyle/>
          <a:p>
            <a:pPr>
              <a:spcBef>
                <a:spcPct val="0"/>
              </a:spcBef>
              <a:buClrTx/>
            </a:pPr>
            <a:r>
              <a:rPr lang="en-US" sz="2400" b="1" dirty="0">
                <a:solidFill>
                  <a:srgbClr val="00A4DE"/>
                </a:solidFill>
                <a:latin typeface="+mj-lt"/>
              </a:rPr>
              <a:t>Preliminary design weight prediction </a:t>
            </a:r>
            <a:r>
              <a:rPr lang="en-US" sz="2000" b="1" dirty="0">
                <a:solidFill>
                  <a:srgbClr val="00A4DE"/>
                </a:solidFill>
                <a:latin typeface="+mj-lt"/>
              </a:rPr>
              <a:t>(Class III)</a:t>
            </a:r>
            <a:endParaRPr lang="en-US" sz="2400" b="1" dirty="0">
              <a:solidFill>
                <a:srgbClr val="00A4DE"/>
              </a:solidFill>
              <a:latin typeface="+mj-lt"/>
            </a:endParaRPr>
          </a:p>
        </p:txBody>
      </p:sp>
      <p:sp>
        <p:nvSpPr>
          <p:cNvPr id="28676" name="Text Box 7"/>
          <p:cNvSpPr txBox="1">
            <a:spLocks noChangeArrowheads="1"/>
          </p:cNvSpPr>
          <p:nvPr/>
        </p:nvSpPr>
        <p:spPr bwMode="auto">
          <a:xfrm>
            <a:off x="2214591" y="4869160"/>
            <a:ext cx="6875921" cy="609398"/>
          </a:xfrm>
          <a:prstGeom prst="rect">
            <a:avLst/>
          </a:prstGeom>
          <a:solidFill>
            <a:srgbClr val="FFFF00"/>
          </a:solidFill>
          <a:ln w="9525" algn="ctr">
            <a:noFill/>
            <a:miter lim="800000"/>
            <a:headEnd/>
            <a:tailEnd/>
          </a:ln>
        </p:spPr>
        <p:txBody>
          <a:bodyPr wrap="none">
            <a:spAutoFit/>
          </a:bodyPr>
          <a:lstStyle/>
          <a:p>
            <a:pPr>
              <a:lnSpc>
                <a:spcPct val="80000"/>
              </a:lnSpc>
            </a:pPr>
            <a:r>
              <a:rPr lang="en-GB" sz="2400" dirty="0"/>
              <a:t>NOT covered in this course series. </a:t>
            </a:r>
            <a:br>
              <a:rPr lang="en-GB" sz="2400" dirty="0"/>
            </a:br>
            <a:r>
              <a:rPr lang="en-GB" dirty="0"/>
              <a:t>(yet still in the hands of the conceptual/preliminary design group)</a:t>
            </a:r>
          </a:p>
        </p:txBody>
      </p:sp>
    </p:spTree>
    <p:extLst>
      <p:ext uri="{BB962C8B-B14F-4D97-AF65-F5344CB8AC3E}">
        <p14:creationId xmlns:p14="http://schemas.microsoft.com/office/powerpoint/2010/main" val="2374877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293020681"/>
              </p:ext>
            </p:extLst>
          </p:nvPr>
        </p:nvGraphicFramePr>
        <p:xfrm>
          <a:off x="2927648" y="260648"/>
          <a:ext cx="6984776" cy="648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214226306"/>
              </p:ext>
            </p:extLst>
          </p:nvPr>
        </p:nvGraphicFramePr>
        <p:xfrm>
          <a:off x="2207568" y="1778413"/>
          <a:ext cx="4248472" cy="3083560"/>
        </p:xfrm>
        <a:graphic>
          <a:graphicData uri="http://schemas.openxmlformats.org/drawingml/2006/table">
            <a:tbl>
              <a:tblPr firstRow="1" bandRow="1">
                <a:tableStyleId>{35758FB7-9AC5-4552-8A53-C91805E547FA}</a:tableStyleId>
              </a:tblPr>
              <a:tblGrid>
                <a:gridCol w="1318492">
                  <a:extLst>
                    <a:ext uri="{9D8B030D-6E8A-4147-A177-3AD203B41FA5}">
                      <a16:colId xmlns:a16="http://schemas.microsoft.com/office/drawing/2014/main" val="20000"/>
                    </a:ext>
                  </a:extLst>
                </a:gridCol>
                <a:gridCol w="2929980">
                  <a:extLst>
                    <a:ext uri="{9D8B030D-6E8A-4147-A177-3AD203B41FA5}">
                      <a16:colId xmlns:a16="http://schemas.microsoft.com/office/drawing/2014/main" val="20001"/>
                    </a:ext>
                  </a:extLst>
                </a:gridCol>
              </a:tblGrid>
              <a:tr h="370840">
                <a:tc gridSpan="2">
                  <a:txBody>
                    <a:bodyPr/>
                    <a:lstStyle/>
                    <a:p>
                      <a:r>
                        <a:rPr lang="en-US" dirty="0">
                          <a:solidFill>
                            <a:schemeClr val="tx1"/>
                          </a:solidFill>
                        </a:rPr>
                        <a:t>CLASS IV</a:t>
                      </a:r>
                    </a:p>
                  </a:txBody>
                  <a:tcPr/>
                </a:tc>
                <a:tc hMerge="1">
                  <a:txBody>
                    <a:bodyPr/>
                    <a:lstStyle/>
                    <a:p>
                      <a:endParaRPr lang="en-US" b="0" dirty="0"/>
                    </a:p>
                  </a:txBody>
                  <a:tcPr/>
                </a:tc>
                <a:extLst>
                  <a:ext uri="{0D108BD9-81ED-4DB2-BD59-A6C34878D82A}">
                    <a16:rowId xmlns:a16="http://schemas.microsoft.com/office/drawing/2014/main" val="10000"/>
                  </a:ext>
                </a:extLst>
              </a:tr>
              <a:tr h="370840">
                <a:tc>
                  <a:txBody>
                    <a:bodyPr/>
                    <a:lstStyle/>
                    <a:p>
                      <a:r>
                        <a:rPr lang="en-US" b="1" dirty="0"/>
                        <a:t>Approach</a:t>
                      </a:r>
                    </a:p>
                  </a:txBody>
                  <a:tcPr/>
                </a:tc>
                <a:tc>
                  <a:txBody>
                    <a:bodyPr/>
                    <a:lstStyle/>
                    <a:p>
                      <a:r>
                        <a:rPr lang="en-US" sz="1600" dirty="0"/>
                        <a:t>FEM based methods</a:t>
                      </a:r>
                      <a:r>
                        <a:rPr lang="en-US" sz="1400" b="0" dirty="0"/>
                        <a:t>,</a:t>
                      </a:r>
                    </a:p>
                    <a:p>
                      <a:r>
                        <a:rPr lang="en-US" sz="1600" b="0" dirty="0"/>
                        <a:t>Sizing</a:t>
                      </a:r>
                      <a:r>
                        <a:rPr lang="en-US" sz="1600" b="0" baseline="0" dirty="0"/>
                        <a:t> handbooks, catalogues</a:t>
                      </a:r>
                      <a:endParaRPr lang="en-US" dirty="0"/>
                    </a:p>
                  </a:txBody>
                  <a:tcPr/>
                </a:tc>
                <a:extLst>
                  <a:ext uri="{0D108BD9-81ED-4DB2-BD59-A6C34878D82A}">
                    <a16:rowId xmlns:a16="http://schemas.microsoft.com/office/drawing/2014/main" val="10001"/>
                  </a:ext>
                </a:extLst>
              </a:tr>
              <a:tr h="370840">
                <a:tc>
                  <a:txBody>
                    <a:bodyPr/>
                    <a:lstStyle/>
                    <a:p>
                      <a:r>
                        <a:rPr lang="en-US" b="1" dirty="0"/>
                        <a:t>Input</a:t>
                      </a:r>
                    </a:p>
                  </a:txBody>
                  <a:tcPr/>
                </a:tc>
                <a:tc>
                  <a:txBody>
                    <a:bodyPr/>
                    <a:lstStyle/>
                    <a:p>
                      <a:pPr marL="285750" indent="-285750">
                        <a:buFont typeface="Arial" pitchFamily="34" charset="0"/>
                        <a:buChar char="•"/>
                      </a:pPr>
                      <a:r>
                        <a:rPr lang="en-US" sz="1600" dirty="0"/>
                        <a:t>Load cases</a:t>
                      </a:r>
                      <a:endParaRPr lang="en-US" sz="1600" baseline="0" dirty="0"/>
                    </a:p>
                    <a:p>
                      <a:pPr marL="285750" indent="-285750">
                        <a:buFont typeface="Arial" pitchFamily="34" charset="0"/>
                        <a:buChar char="•"/>
                      </a:pPr>
                      <a:r>
                        <a:rPr lang="en-US" sz="1600" baseline="0" dirty="0"/>
                        <a:t>material data and allowables</a:t>
                      </a:r>
                    </a:p>
                    <a:p>
                      <a:pPr marL="285750" indent="-285750">
                        <a:buFont typeface="Arial" pitchFamily="34" charset="0"/>
                        <a:buChar char="•"/>
                      </a:pPr>
                      <a:r>
                        <a:rPr lang="en-US" sz="1600" baseline="0" dirty="0"/>
                        <a:t>Detailed CAD models of all components (production ready)</a:t>
                      </a:r>
                    </a:p>
                  </a:txBody>
                  <a:tcPr/>
                </a:tc>
                <a:extLst>
                  <a:ext uri="{0D108BD9-81ED-4DB2-BD59-A6C34878D82A}">
                    <a16:rowId xmlns:a16="http://schemas.microsoft.com/office/drawing/2014/main" val="10002"/>
                  </a:ext>
                </a:extLst>
              </a:tr>
              <a:tr h="370840">
                <a:tc>
                  <a:txBody>
                    <a:bodyPr/>
                    <a:lstStyle/>
                    <a:p>
                      <a:r>
                        <a:rPr lang="en-US" b="1" dirty="0"/>
                        <a:t>Output</a:t>
                      </a:r>
                    </a:p>
                  </a:txBody>
                  <a:tcPr/>
                </a:tc>
                <a:tc>
                  <a:txBody>
                    <a:bodyPr/>
                    <a:lstStyle/>
                    <a:p>
                      <a:pPr marL="285750" indent="-285750">
                        <a:buFont typeface="Arial" pitchFamily="34" charset="0"/>
                        <a:buChar char="•"/>
                      </a:pPr>
                      <a:r>
                        <a:rPr lang="en-US" sz="1600" dirty="0"/>
                        <a:t>Detailed</a:t>
                      </a:r>
                      <a:r>
                        <a:rPr lang="en-US" sz="1600" baseline="0" dirty="0"/>
                        <a:t> weight estimation of each single component</a:t>
                      </a:r>
                      <a:endParaRPr lang="en-US" sz="1600" dirty="0"/>
                    </a:p>
                  </a:txBody>
                  <a:tcPr/>
                </a:tc>
                <a:extLst>
                  <a:ext uri="{0D108BD9-81ED-4DB2-BD59-A6C34878D82A}">
                    <a16:rowId xmlns:a16="http://schemas.microsoft.com/office/drawing/2014/main" val="10003"/>
                  </a:ext>
                </a:extLst>
              </a:tr>
            </a:tbl>
          </a:graphicData>
        </a:graphic>
      </p:graphicFrame>
      <p:sp>
        <p:nvSpPr>
          <p:cNvPr id="6" name="Down Arrow 5"/>
          <p:cNvSpPr/>
          <p:nvPr/>
        </p:nvSpPr>
        <p:spPr bwMode="auto">
          <a:xfrm>
            <a:off x="8180186" y="3216053"/>
            <a:ext cx="504056" cy="432048"/>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13" name="Rectangular Callout 12"/>
          <p:cNvSpPr/>
          <p:nvPr/>
        </p:nvSpPr>
        <p:spPr bwMode="auto">
          <a:xfrm>
            <a:off x="2135560" y="1663700"/>
            <a:ext cx="4392488" cy="3349476"/>
          </a:xfrm>
          <a:prstGeom prst="wedgeRectCallout">
            <a:avLst>
              <a:gd name="adj1" fmla="val 90526"/>
              <a:gd name="adj2" fmla="val -77925"/>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pic>
        <p:nvPicPr>
          <p:cNvPr id="197634" name="Picture 2" descr="http://origin-ars.sciencedirect.com/content/image/1-s2.0-S0965997806002146-gr12.jpg"/>
          <p:cNvPicPr>
            <a:picLocks noChangeAspect="1" noChangeArrowheads="1"/>
          </p:cNvPicPr>
          <p:nvPr/>
        </p:nvPicPr>
        <p:blipFill rotWithShape="1">
          <a:blip r:embed="rId8">
            <a:extLst>
              <a:ext uri="{28A0092B-C50C-407E-A947-70E740481C1C}">
                <a14:useLocalDpi xmlns:a14="http://schemas.microsoft.com/office/drawing/2010/main" val="0"/>
              </a:ext>
            </a:extLst>
          </a:blip>
          <a:srcRect r="47543" b="23229"/>
          <a:stretch/>
        </p:blipFill>
        <p:spPr bwMode="auto">
          <a:xfrm>
            <a:off x="7955494" y="1696991"/>
            <a:ext cx="892503" cy="1299221"/>
          </a:xfrm>
          <a:prstGeom prst="rect">
            <a:avLst/>
          </a:prstGeom>
          <a:noFill/>
          <a:extLst>
            <a:ext uri="{909E8E84-426E-40DD-AFC4-6F175D3DCCD1}">
              <a14:hiddenFill xmlns:a14="http://schemas.microsoft.com/office/drawing/2010/main">
                <a:solidFill>
                  <a:srgbClr val="FFFFFF"/>
                </a:solidFill>
              </a14:hiddenFill>
            </a:ext>
          </a:extLst>
        </p:spPr>
      </p:pic>
      <p:pic>
        <p:nvPicPr>
          <p:cNvPr id="197636" name="Picture 4" descr="http://t0.gstatic.com/images?q=tbn:ANd9GcQtMgZMO2du0rVRFKhtd8bEg2pES-VL7slozP_yziDtnbHSElrLoYiuZ-V5"/>
          <p:cNvPicPr>
            <a:picLocks noChangeAspect="1" noChangeArrowheads="1"/>
          </p:cNvPicPr>
          <p:nvPr/>
        </p:nvPicPr>
        <p:blipFill rotWithShape="1">
          <a:blip r:embed="rId9">
            <a:extLst>
              <a:ext uri="{28A0092B-C50C-407E-A947-70E740481C1C}">
                <a14:useLocalDpi xmlns:a14="http://schemas.microsoft.com/office/drawing/2010/main" val="0"/>
              </a:ext>
            </a:extLst>
          </a:blip>
          <a:srcRect l="3701" t="7431" b="16172"/>
          <a:stretch/>
        </p:blipFill>
        <p:spPr bwMode="auto">
          <a:xfrm>
            <a:off x="7432200" y="4005064"/>
            <a:ext cx="2504084" cy="1346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7"/>
          <p:cNvSpPr txBox="1">
            <a:spLocks noChangeArrowheads="1"/>
          </p:cNvSpPr>
          <p:nvPr/>
        </p:nvSpPr>
        <p:spPr bwMode="auto">
          <a:xfrm>
            <a:off x="2096324" y="5501899"/>
            <a:ext cx="4807791" cy="387798"/>
          </a:xfrm>
          <a:prstGeom prst="rect">
            <a:avLst/>
          </a:prstGeom>
          <a:solidFill>
            <a:srgbClr val="FFFF00"/>
          </a:solidFill>
          <a:ln w="9525" algn="ctr">
            <a:noFill/>
            <a:miter lim="800000"/>
            <a:headEnd/>
            <a:tailEnd/>
          </a:ln>
        </p:spPr>
        <p:txBody>
          <a:bodyPr wrap="none">
            <a:spAutoFit/>
          </a:bodyPr>
          <a:lstStyle/>
          <a:p>
            <a:pPr>
              <a:lnSpc>
                <a:spcPct val="80000"/>
              </a:lnSpc>
            </a:pPr>
            <a:r>
              <a:rPr lang="en-GB" sz="2400" dirty="0"/>
              <a:t>NOT covered in this course series</a:t>
            </a:r>
            <a:endParaRPr lang="en-GB" dirty="0"/>
          </a:p>
        </p:txBody>
      </p:sp>
    </p:spTree>
    <p:extLst>
      <p:ext uri="{BB962C8B-B14F-4D97-AF65-F5344CB8AC3E}">
        <p14:creationId xmlns:p14="http://schemas.microsoft.com/office/powerpoint/2010/main" val="1903237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bwMode="auto">
          <a:xfrm>
            <a:off x="2207571" y="1196752"/>
            <a:ext cx="7987357" cy="276860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buClr>
                <a:srgbClr val="00A4DE"/>
              </a:buClr>
            </a:pPr>
            <a:r>
              <a:rPr lang="en-US" dirty="0"/>
              <a:t>A </a:t>
            </a:r>
            <a:r>
              <a:rPr lang="en-US" b="1" dirty="0">
                <a:solidFill>
                  <a:srgbClr val="FF3300"/>
                </a:solidFill>
              </a:rPr>
              <a:t>large amount of detail layout drawings</a:t>
            </a:r>
            <a:r>
              <a:rPr lang="en-US" dirty="0"/>
              <a:t> is produced for a relatively consolidated design.</a:t>
            </a:r>
          </a:p>
          <a:p>
            <a:pPr eaLnBrk="1" hangingPunct="1">
              <a:lnSpc>
                <a:spcPct val="120000"/>
              </a:lnSpc>
              <a:buClr>
                <a:srgbClr val="00A4DE"/>
              </a:buClr>
            </a:pPr>
            <a:endParaRPr lang="en-US" dirty="0"/>
          </a:p>
          <a:p>
            <a:pPr eaLnBrk="1" hangingPunct="1">
              <a:lnSpc>
                <a:spcPct val="120000"/>
              </a:lnSpc>
              <a:buClr>
                <a:srgbClr val="00A4DE"/>
              </a:buClr>
            </a:pPr>
            <a:r>
              <a:rPr lang="en-US" dirty="0"/>
              <a:t>The associated weight engineering task is primarily </a:t>
            </a:r>
            <a:r>
              <a:rPr lang="en-US" b="1" dirty="0">
                <a:solidFill>
                  <a:srgbClr val="FF3300"/>
                </a:solidFill>
              </a:rPr>
              <a:t>maintaining an up-to-date and accurate inventory of detail masses and moments of inertia for all the items</a:t>
            </a:r>
            <a:r>
              <a:rPr lang="en-US" dirty="0"/>
              <a:t> designed in-house and for those designed by external partners.</a:t>
            </a:r>
          </a:p>
          <a:p>
            <a:pPr eaLnBrk="1" hangingPunct="1">
              <a:lnSpc>
                <a:spcPct val="120000"/>
              </a:lnSpc>
              <a:buClr>
                <a:srgbClr val="00A4DE"/>
              </a:buClr>
            </a:pPr>
            <a:endParaRPr lang="en-US" dirty="0"/>
          </a:p>
          <a:p>
            <a:pPr eaLnBrk="1" hangingPunct="1">
              <a:lnSpc>
                <a:spcPct val="120000"/>
              </a:lnSpc>
              <a:buClr>
                <a:srgbClr val="00A4DE"/>
              </a:buClr>
            </a:pPr>
            <a:r>
              <a:rPr lang="en-US" dirty="0"/>
              <a:t>Large use of digital models to extract exact mass values of components</a:t>
            </a:r>
          </a:p>
        </p:txBody>
      </p:sp>
      <p:sp>
        <p:nvSpPr>
          <p:cNvPr id="29699" name="Rectangle 5"/>
          <p:cNvSpPr>
            <a:spLocks noChangeArrowheads="1"/>
          </p:cNvSpPr>
          <p:nvPr/>
        </p:nvSpPr>
        <p:spPr bwMode="auto">
          <a:xfrm>
            <a:off x="2135560" y="230191"/>
            <a:ext cx="8532440" cy="795337"/>
          </a:xfrm>
          <a:prstGeom prst="rect">
            <a:avLst/>
          </a:prstGeom>
          <a:noFill/>
          <a:ln w="9525">
            <a:noFill/>
            <a:miter lim="800000"/>
            <a:headEnd/>
            <a:tailEnd/>
          </a:ln>
        </p:spPr>
        <p:txBody>
          <a:bodyPr/>
          <a:lstStyle/>
          <a:p>
            <a:pPr>
              <a:spcBef>
                <a:spcPct val="0"/>
              </a:spcBef>
              <a:buClrTx/>
            </a:pPr>
            <a:r>
              <a:rPr lang="en-US" sz="2400" b="1" dirty="0">
                <a:solidFill>
                  <a:srgbClr val="00A4DE"/>
                </a:solidFill>
                <a:latin typeface="+mj-lt"/>
                <a:cs typeface="Tahoma" pitchFamily="34" charset="0"/>
              </a:rPr>
              <a:t>Preproduction stage weight prediction (</a:t>
            </a:r>
            <a:r>
              <a:rPr lang="en-US" sz="2000" b="1" dirty="0">
                <a:solidFill>
                  <a:srgbClr val="00A4DE"/>
                </a:solidFill>
                <a:latin typeface="+mj-lt"/>
                <a:cs typeface="Tahoma" pitchFamily="34" charset="0"/>
              </a:rPr>
              <a:t>Class</a:t>
            </a:r>
            <a:r>
              <a:rPr lang="en-US" sz="2400" b="1" dirty="0">
                <a:solidFill>
                  <a:srgbClr val="00A4DE"/>
                </a:solidFill>
                <a:latin typeface="+mj-lt"/>
                <a:cs typeface="Tahoma" pitchFamily="34" charset="0"/>
              </a:rPr>
              <a:t> IV)</a:t>
            </a:r>
          </a:p>
        </p:txBody>
      </p:sp>
      <p:sp>
        <p:nvSpPr>
          <p:cNvPr id="5" name="Text Box 7"/>
          <p:cNvSpPr txBox="1">
            <a:spLocks noChangeArrowheads="1"/>
          </p:cNvSpPr>
          <p:nvPr/>
        </p:nvSpPr>
        <p:spPr bwMode="auto">
          <a:xfrm>
            <a:off x="2351587" y="5173859"/>
            <a:ext cx="6419899" cy="609398"/>
          </a:xfrm>
          <a:prstGeom prst="rect">
            <a:avLst/>
          </a:prstGeom>
          <a:solidFill>
            <a:srgbClr val="FFFF00"/>
          </a:solidFill>
          <a:ln w="9525" algn="ctr">
            <a:noFill/>
            <a:miter lim="800000"/>
            <a:headEnd/>
            <a:tailEnd/>
          </a:ln>
        </p:spPr>
        <p:txBody>
          <a:bodyPr wrap="none">
            <a:spAutoFit/>
          </a:bodyPr>
          <a:lstStyle/>
          <a:p>
            <a:pPr>
              <a:lnSpc>
                <a:spcPct val="80000"/>
              </a:lnSpc>
            </a:pPr>
            <a:r>
              <a:rPr lang="en-GB" sz="2400" dirty="0"/>
              <a:t>NOT covered in this course series. </a:t>
            </a:r>
            <a:br>
              <a:rPr lang="en-GB" sz="2400" dirty="0"/>
            </a:br>
            <a:r>
              <a:rPr lang="en-GB" dirty="0"/>
              <a:t>Not in the hands of the conceptual/preliminary design group</a:t>
            </a:r>
          </a:p>
        </p:txBody>
      </p:sp>
    </p:spTree>
    <p:extLst>
      <p:ext uri="{BB962C8B-B14F-4D97-AF65-F5344CB8AC3E}">
        <p14:creationId xmlns:p14="http://schemas.microsoft.com/office/powerpoint/2010/main" val="2344557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559278263"/>
              </p:ext>
            </p:extLst>
          </p:nvPr>
        </p:nvGraphicFramePr>
        <p:xfrm>
          <a:off x="2927648" y="260648"/>
          <a:ext cx="6984776" cy="648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126253230"/>
              </p:ext>
            </p:extLst>
          </p:nvPr>
        </p:nvGraphicFramePr>
        <p:xfrm>
          <a:off x="2207568" y="1778413"/>
          <a:ext cx="3312368" cy="1483360"/>
        </p:xfrm>
        <a:graphic>
          <a:graphicData uri="http://schemas.openxmlformats.org/drawingml/2006/table">
            <a:tbl>
              <a:tblPr firstRow="1" bandRow="1">
                <a:tableStyleId>{35758FB7-9AC5-4552-8A53-C91805E547FA}</a:tableStyleId>
              </a:tblPr>
              <a:tblGrid>
                <a:gridCol w="1296144">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tblGrid>
              <a:tr h="370840">
                <a:tc gridSpan="2">
                  <a:txBody>
                    <a:bodyPr/>
                    <a:lstStyle/>
                    <a:p>
                      <a:r>
                        <a:rPr lang="en-US" dirty="0">
                          <a:solidFill>
                            <a:schemeClr val="tx1"/>
                          </a:solidFill>
                        </a:rPr>
                        <a:t>CLASS &gt;</a:t>
                      </a:r>
                      <a:r>
                        <a:rPr lang="en-US" baseline="0" dirty="0">
                          <a:solidFill>
                            <a:schemeClr val="tx1"/>
                          </a:solidFill>
                        </a:rPr>
                        <a:t> </a:t>
                      </a:r>
                      <a:r>
                        <a:rPr lang="en-US" dirty="0">
                          <a:solidFill>
                            <a:schemeClr val="tx1"/>
                          </a:solidFill>
                        </a:rPr>
                        <a:t>IV!</a:t>
                      </a:r>
                    </a:p>
                  </a:txBody>
                  <a:tcPr/>
                </a:tc>
                <a:tc hMerge="1">
                  <a:txBody>
                    <a:bodyPr/>
                    <a:lstStyle/>
                    <a:p>
                      <a:endParaRPr lang="en-US" b="0" dirty="0"/>
                    </a:p>
                  </a:txBody>
                  <a:tcPr/>
                </a:tc>
                <a:extLst>
                  <a:ext uri="{0D108BD9-81ED-4DB2-BD59-A6C34878D82A}">
                    <a16:rowId xmlns:a16="http://schemas.microsoft.com/office/drawing/2014/main" val="10000"/>
                  </a:ext>
                </a:extLst>
              </a:tr>
              <a:tr h="370840">
                <a:tc>
                  <a:txBody>
                    <a:bodyPr/>
                    <a:lstStyle/>
                    <a:p>
                      <a:r>
                        <a:rPr lang="en-US" b="1" dirty="0"/>
                        <a:t>Approach</a:t>
                      </a:r>
                    </a:p>
                  </a:txBody>
                  <a:tcPr/>
                </a:tc>
                <a:tc>
                  <a:txBody>
                    <a:bodyPr/>
                    <a:lstStyle/>
                    <a:p>
                      <a:r>
                        <a:rPr lang="en-US" sz="1600" dirty="0"/>
                        <a:t>scale</a:t>
                      </a:r>
                      <a:endParaRPr lang="en-US" dirty="0"/>
                    </a:p>
                  </a:txBody>
                  <a:tcPr/>
                </a:tc>
                <a:extLst>
                  <a:ext uri="{0D108BD9-81ED-4DB2-BD59-A6C34878D82A}">
                    <a16:rowId xmlns:a16="http://schemas.microsoft.com/office/drawing/2014/main" val="10001"/>
                  </a:ext>
                </a:extLst>
              </a:tr>
              <a:tr h="370840">
                <a:tc>
                  <a:txBody>
                    <a:bodyPr/>
                    <a:lstStyle/>
                    <a:p>
                      <a:r>
                        <a:rPr lang="en-US" b="1" dirty="0"/>
                        <a:t>Input</a:t>
                      </a:r>
                    </a:p>
                  </a:txBody>
                  <a:tcPr/>
                </a:tc>
                <a:tc>
                  <a:txBody>
                    <a:bodyPr/>
                    <a:lstStyle/>
                    <a:p>
                      <a:pPr marL="285750" indent="-285750">
                        <a:buFont typeface="Arial" pitchFamily="34" charset="0"/>
                        <a:buChar char="•"/>
                      </a:pPr>
                      <a:r>
                        <a:rPr lang="en-US" sz="1600" dirty="0"/>
                        <a:t>Aircraft</a:t>
                      </a:r>
                      <a:endParaRPr lang="en-US" sz="1600" baseline="0" dirty="0"/>
                    </a:p>
                  </a:txBody>
                  <a:tcPr/>
                </a:tc>
                <a:extLst>
                  <a:ext uri="{0D108BD9-81ED-4DB2-BD59-A6C34878D82A}">
                    <a16:rowId xmlns:a16="http://schemas.microsoft.com/office/drawing/2014/main" val="10002"/>
                  </a:ext>
                </a:extLst>
              </a:tr>
              <a:tr h="370840">
                <a:tc>
                  <a:txBody>
                    <a:bodyPr/>
                    <a:lstStyle/>
                    <a:p>
                      <a:r>
                        <a:rPr lang="en-US" b="1" dirty="0"/>
                        <a:t>Output</a:t>
                      </a:r>
                    </a:p>
                  </a:txBody>
                  <a:tcPr/>
                </a:tc>
                <a:tc>
                  <a:txBody>
                    <a:bodyPr/>
                    <a:lstStyle/>
                    <a:p>
                      <a:pPr marL="285750" indent="-285750">
                        <a:buFont typeface="Arial" pitchFamily="34" charset="0"/>
                        <a:buChar char="•"/>
                      </a:pPr>
                      <a:r>
                        <a:rPr lang="en-US" sz="1600" dirty="0"/>
                        <a:t>Actual </a:t>
                      </a:r>
                      <a:r>
                        <a:rPr lang="en-US" sz="1600" baseline="0" dirty="0"/>
                        <a:t>weight</a:t>
                      </a:r>
                      <a:endParaRPr lang="en-US" sz="1600" dirty="0"/>
                    </a:p>
                  </a:txBody>
                  <a:tcPr/>
                </a:tc>
                <a:extLst>
                  <a:ext uri="{0D108BD9-81ED-4DB2-BD59-A6C34878D82A}">
                    <a16:rowId xmlns:a16="http://schemas.microsoft.com/office/drawing/2014/main" val="10003"/>
                  </a:ext>
                </a:extLst>
              </a:tr>
            </a:tbl>
          </a:graphicData>
        </a:graphic>
      </p:graphicFrame>
      <p:sp>
        <p:nvSpPr>
          <p:cNvPr id="6" name="Down Arrow 5"/>
          <p:cNvSpPr/>
          <p:nvPr/>
        </p:nvSpPr>
        <p:spPr bwMode="auto">
          <a:xfrm rot="1648028">
            <a:off x="7228845" y="4474500"/>
            <a:ext cx="504056" cy="585604"/>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13" name="Rectangular Callout 12"/>
          <p:cNvSpPr/>
          <p:nvPr/>
        </p:nvSpPr>
        <p:spPr bwMode="auto">
          <a:xfrm>
            <a:off x="2135560" y="1663703"/>
            <a:ext cx="3528392" cy="1768377"/>
          </a:xfrm>
          <a:prstGeom prst="wedgeRectCallout">
            <a:avLst>
              <a:gd name="adj1" fmla="val 175472"/>
              <a:gd name="adj2" fmla="val -95759"/>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grpSp>
        <p:nvGrpSpPr>
          <p:cNvPr id="10" name="Group 9"/>
          <p:cNvGrpSpPr/>
          <p:nvPr/>
        </p:nvGrpSpPr>
        <p:grpSpPr>
          <a:xfrm>
            <a:off x="5951987" y="1887775"/>
            <a:ext cx="4500449" cy="3511081"/>
            <a:chOff x="4279880" y="2147416"/>
            <a:chExt cx="4500449" cy="3511081"/>
          </a:xfrm>
        </p:grpSpPr>
        <p:pic>
          <p:nvPicPr>
            <p:cNvPr id="199682"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48264" y="3414218"/>
              <a:ext cx="1832065" cy="2244279"/>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9683" name="Picture 3"/>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79880" y="2147416"/>
              <a:ext cx="3831046" cy="200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bwMode="auto">
            <a:xfrm>
              <a:off x="5986464" y="3252788"/>
              <a:ext cx="361950" cy="390525"/>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cxnSp>
          <p:nvCxnSpPr>
            <p:cNvPr id="7" name="Straight Connector 6"/>
            <p:cNvCxnSpPr/>
            <p:nvPr/>
          </p:nvCxnSpPr>
          <p:spPr bwMode="auto">
            <a:xfrm>
              <a:off x="5986464" y="3643313"/>
              <a:ext cx="961800" cy="2015184"/>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4" name="Straight Connector 13"/>
            <p:cNvCxnSpPr/>
            <p:nvPr/>
          </p:nvCxnSpPr>
          <p:spPr bwMode="auto">
            <a:xfrm>
              <a:off x="6348414" y="3252788"/>
              <a:ext cx="2431915" cy="161430"/>
            </a:xfrm>
            <a:prstGeom prst="line">
              <a:avLst/>
            </a:prstGeom>
            <a:solidFill>
              <a:schemeClr val="accent1"/>
            </a:solidFill>
            <a:ln w="9525" cap="flat" cmpd="sng" algn="ctr">
              <a:solidFill>
                <a:srgbClr val="FF0000"/>
              </a:solidFill>
              <a:prstDash val="solid"/>
              <a:round/>
              <a:headEnd type="none" w="med" len="med"/>
              <a:tailEnd type="none" w="med" len="med"/>
            </a:ln>
            <a:effectLst/>
          </p:spPr>
        </p:cxnSp>
      </p:grpSp>
      <p:sp>
        <p:nvSpPr>
          <p:cNvPr id="11" name="TextBox 10"/>
          <p:cNvSpPr txBox="1"/>
          <p:nvPr/>
        </p:nvSpPr>
        <p:spPr>
          <a:xfrm>
            <a:off x="5807968" y="5229200"/>
            <a:ext cx="1532792" cy="523220"/>
          </a:xfrm>
          <a:prstGeom prst="rect">
            <a:avLst/>
          </a:prstGeom>
          <a:solidFill>
            <a:schemeClr val="bg2">
              <a:lumMod val="20000"/>
              <a:lumOff val="80000"/>
            </a:schemeClr>
          </a:solidFill>
          <a:ln>
            <a:solidFill>
              <a:schemeClr val="tx1"/>
            </a:solidFill>
          </a:ln>
        </p:spPr>
        <p:txBody>
          <a:bodyPr wrap="none" rtlCol="0">
            <a:spAutoFit/>
          </a:bodyPr>
          <a:lstStyle/>
          <a:p>
            <a:r>
              <a:rPr lang="en-US" sz="2800" dirty="0" err="1">
                <a:latin typeface="Arial" pitchFamily="34" charset="0"/>
                <a:cs typeface="Arial" pitchFamily="34" charset="0"/>
              </a:rPr>
              <a:t>xxxx</a:t>
            </a:r>
            <a:r>
              <a:rPr lang="en-US" sz="2800" dirty="0">
                <a:latin typeface="Arial" pitchFamily="34" charset="0"/>
                <a:cs typeface="Arial" pitchFamily="34" charset="0"/>
              </a:rPr>
              <a:t> </a:t>
            </a:r>
            <a:r>
              <a:rPr lang="en-US" sz="2800" dirty="0" err="1">
                <a:latin typeface="Arial" pitchFamily="34" charset="0"/>
                <a:cs typeface="Arial" pitchFamily="34" charset="0"/>
              </a:rPr>
              <a:t>Kgf</a:t>
            </a:r>
            <a:endParaRPr lang="en-US" sz="2800" dirty="0">
              <a:latin typeface="Arial" pitchFamily="34" charset="0"/>
              <a:cs typeface="Arial" pitchFamily="34" charset="0"/>
            </a:endParaRPr>
          </a:p>
        </p:txBody>
      </p:sp>
      <p:sp>
        <p:nvSpPr>
          <p:cNvPr id="5" name="TextBox 4"/>
          <p:cNvSpPr txBox="1"/>
          <p:nvPr/>
        </p:nvSpPr>
        <p:spPr>
          <a:xfrm>
            <a:off x="2071316" y="4198247"/>
            <a:ext cx="3448620" cy="1569660"/>
          </a:xfrm>
          <a:prstGeom prst="rect">
            <a:avLst/>
          </a:prstGeom>
          <a:solidFill>
            <a:srgbClr val="FFFF00"/>
          </a:solidFill>
        </p:spPr>
        <p:txBody>
          <a:bodyPr wrap="square" rtlCol="0">
            <a:spAutoFit/>
          </a:bodyPr>
          <a:lstStyle/>
          <a:p>
            <a:r>
              <a:rPr lang="en-US" sz="2400" dirty="0"/>
              <a:t>There is no real weight estimation until the ready-to-fly aircraft is put on the scale</a:t>
            </a:r>
          </a:p>
        </p:txBody>
      </p:sp>
    </p:spTree>
    <p:extLst>
      <p:ext uri="{BB962C8B-B14F-4D97-AF65-F5344CB8AC3E}">
        <p14:creationId xmlns:p14="http://schemas.microsoft.com/office/powerpoint/2010/main" val="3132967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nvGraphicFramePr>
        <p:xfrm>
          <a:off x="2927648" y="260648"/>
          <a:ext cx="6984776" cy="648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289373225"/>
              </p:ext>
            </p:extLst>
          </p:nvPr>
        </p:nvGraphicFramePr>
        <p:xfrm>
          <a:off x="2207568" y="1357944"/>
          <a:ext cx="4248472" cy="3540760"/>
        </p:xfrm>
        <a:graphic>
          <a:graphicData uri="http://schemas.openxmlformats.org/drawingml/2006/table">
            <a:tbl>
              <a:tblPr firstRow="1" bandRow="1">
                <a:tableStyleId>{35758FB7-9AC5-4552-8A53-C91805E547FA}</a:tableStyleId>
              </a:tblPr>
              <a:tblGrid>
                <a:gridCol w="1318492">
                  <a:extLst>
                    <a:ext uri="{9D8B030D-6E8A-4147-A177-3AD203B41FA5}">
                      <a16:colId xmlns:a16="http://schemas.microsoft.com/office/drawing/2014/main" val="20000"/>
                    </a:ext>
                  </a:extLst>
                </a:gridCol>
                <a:gridCol w="2929980">
                  <a:extLst>
                    <a:ext uri="{9D8B030D-6E8A-4147-A177-3AD203B41FA5}">
                      <a16:colId xmlns:a16="http://schemas.microsoft.com/office/drawing/2014/main" val="20001"/>
                    </a:ext>
                  </a:extLst>
                </a:gridCol>
              </a:tblGrid>
              <a:tr h="370840">
                <a:tc gridSpan="2">
                  <a:txBody>
                    <a:bodyPr/>
                    <a:lstStyle/>
                    <a:p>
                      <a:r>
                        <a:rPr lang="en-US" dirty="0">
                          <a:solidFill>
                            <a:schemeClr val="tx1"/>
                          </a:solidFill>
                        </a:rPr>
                        <a:t>CLASS II.5</a:t>
                      </a:r>
                    </a:p>
                  </a:txBody>
                  <a:tcPr/>
                </a:tc>
                <a:tc hMerge="1">
                  <a:txBody>
                    <a:bodyPr/>
                    <a:lstStyle/>
                    <a:p>
                      <a:endParaRPr lang="en-US" b="0" dirty="0"/>
                    </a:p>
                  </a:txBody>
                  <a:tcPr/>
                </a:tc>
                <a:extLst>
                  <a:ext uri="{0D108BD9-81ED-4DB2-BD59-A6C34878D82A}">
                    <a16:rowId xmlns:a16="http://schemas.microsoft.com/office/drawing/2014/main" val="10000"/>
                  </a:ext>
                </a:extLst>
              </a:tr>
              <a:tr h="370840">
                <a:tc>
                  <a:txBody>
                    <a:bodyPr/>
                    <a:lstStyle/>
                    <a:p>
                      <a:r>
                        <a:rPr lang="en-US" b="1" dirty="0"/>
                        <a:t>Approach</a:t>
                      </a:r>
                    </a:p>
                  </a:txBody>
                  <a:tcPr/>
                </a:tc>
                <a:tc>
                  <a:txBody>
                    <a:bodyPr/>
                    <a:lstStyle/>
                    <a:p>
                      <a:r>
                        <a:rPr lang="en-US" dirty="0"/>
                        <a:t>Semi-analytical beam </a:t>
                      </a:r>
                      <a:r>
                        <a:rPr lang="en-US" dirty="0" err="1"/>
                        <a:t>anaysis</a:t>
                      </a:r>
                      <a:endParaRPr lang="en-US" sz="1600" b="0" dirty="0"/>
                    </a:p>
                  </a:txBody>
                  <a:tcPr/>
                </a:tc>
                <a:extLst>
                  <a:ext uri="{0D108BD9-81ED-4DB2-BD59-A6C34878D82A}">
                    <a16:rowId xmlns:a16="http://schemas.microsoft.com/office/drawing/2014/main" val="10001"/>
                  </a:ext>
                </a:extLst>
              </a:tr>
              <a:tr h="370840">
                <a:tc>
                  <a:txBody>
                    <a:bodyPr/>
                    <a:lstStyle/>
                    <a:p>
                      <a:r>
                        <a:rPr lang="en-US" b="1" dirty="0"/>
                        <a:t>Input</a:t>
                      </a:r>
                    </a:p>
                  </a:txBody>
                  <a:tcPr/>
                </a:tc>
                <a:tc>
                  <a:txBody>
                    <a:bodyPr/>
                    <a:lstStyle/>
                    <a:p>
                      <a:pPr marL="285750" indent="-285750">
                        <a:buFont typeface="Arial" pitchFamily="34" charset="0"/>
                        <a:buChar char="•"/>
                      </a:pPr>
                      <a:r>
                        <a:rPr lang="en-US" sz="1400" dirty="0"/>
                        <a:t>Sets of (aero) load cases</a:t>
                      </a:r>
                      <a:endParaRPr lang="en-US" sz="1400" baseline="0" dirty="0"/>
                    </a:p>
                    <a:p>
                      <a:pPr marL="285750" indent="-285750">
                        <a:buFont typeface="Arial" pitchFamily="34" charset="0"/>
                        <a:buChar char="•"/>
                      </a:pPr>
                      <a:r>
                        <a:rPr lang="en-US" sz="1400" baseline="0" dirty="0"/>
                        <a:t>material data and allowables</a:t>
                      </a:r>
                    </a:p>
                    <a:p>
                      <a:pPr marL="285750" indent="-285750">
                        <a:buFont typeface="Arial" pitchFamily="34" charset="0"/>
                        <a:buChar char="•"/>
                      </a:pPr>
                      <a:r>
                        <a:rPr lang="en-US" sz="1400" baseline="0" dirty="0"/>
                        <a:t>Preliminary CAD models of outer surfaces and internal structure layout (no production models)</a:t>
                      </a:r>
                    </a:p>
                    <a:p>
                      <a:pPr marL="285750" indent="-285750">
                        <a:buFont typeface="Arial" pitchFamily="34" charset="0"/>
                        <a:buChar char="•"/>
                      </a:pPr>
                      <a:r>
                        <a:rPr lang="en-US" sz="1400" baseline="0" dirty="0"/>
                        <a:t>Preliminary thickness distributions</a:t>
                      </a:r>
                    </a:p>
                    <a:p>
                      <a:pPr marL="285750" indent="-285750">
                        <a:buFont typeface="Arial" pitchFamily="34" charset="0"/>
                        <a:buChar char="•"/>
                      </a:pPr>
                      <a:r>
                        <a:rPr lang="en-US" sz="1400" baseline="0" dirty="0"/>
                        <a:t>Non-structural items masses</a:t>
                      </a:r>
                      <a:endParaRPr lang="en-US" sz="1400" dirty="0"/>
                    </a:p>
                  </a:txBody>
                  <a:tcPr/>
                </a:tc>
                <a:extLst>
                  <a:ext uri="{0D108BD9-81ED-4DB2-BD59-A6C34878D82A}">
                    <a16:rowId xmlns:a16="http://schemas.microsoft.com/office/drawing/2014/main" val="10002"/>
                  </a:ext>
                </a:extLst>
              </a:tr>
              <a:tr h="370840">
                <a:tc>
                  <a:txBody>
                    <a:bodyPr/>
                    <a:lstStyle/>
                    <a:p>
                      <a:r>
                        <a:rPr lang="en-US" b="1" dirty="0"/>
                        <a:t>Output</a:t>
                      </a:r>
                    </a:p>
                  </a:txBody>
                  <a:tcPr/>
                </a:tc>
                <a:tc>
                  <a:txBody>
                    <a:bodyPr/>
                    <a:lstStyle/>
                    <a:p>
                      <a:pPr marL="285750" indent="-285750">
                        <a:buFont typeface="Arial" pitchFamily="34" charset="0"/>
                        <a:buChar char="•"/>
                      </a:pPr>
                      <a:r>
                        <a:rPr lang="en-US" sz="1400" dirty="0"/>
                        <a:t>Thickness distributions and weight of the main</a:t>
                      </a:r>
                      <a:r>
                        <a:rPr lang="en-US" sz="1400" baseline="0" dirty="0"/>
                        <a:t> structure</a:t>
                      </a:r>
                      <a:endParaRPr lang="en-US" sz="1400" dirty="0"/>
                    </a:p>
                  </a:txBody>
                  <a:tcPr/>
                </a:tc>
                <a:extLst>
                  <a:ext uri="{0D108BD9-81ED-4DB2-BD59-A6C34878D82A}">
                    <a16:rowId xmlns:a16="http://schemas.microsoft.com/office/drawing/2014/main" val="10003"/>
                  </a:ext>
                </a:extLst>
              </a:tr>
            </a:tbl>
          </a:graphicData>
        </a:graphic>
      </p:graphicFrame>
      <p:sp>
        <p:nvSpPr>
          <p:cNvPr id="13" name="Rectangular Callout 12"/>
          <p:cNvSpPr/>
          <p:nvPr/>
        </p:nvSpPr>
        <p:spPr bwMode="auto">
          <a:xfrm>
            <a:off x="2135560" y="1268763"/>
            <a:ext cx="4392488" cy="4218805"/>
          </a:xfrm>
          <a:prstGeom prst="wedgeRectCallout">
            <a:avLst>
              <a:gd name="adj1" fmla="val 19640"/>
              <a:gd name="adj2" fmla="val -59578"/>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11" name="Text Box 7"/>
          <p:cNvSpPr txBox="1">
            <a:spLocks noChangeArrowheads="1"/>
          </p:cNvSpPr>
          <p:nvPr/>
        </p:nvSpPr>
        <p:spPr bwMode="auto">
          <a:xfrm>
            <a:off x="2096324" y="5673649"/>
            <a:ext cx="3842783" cy="387798"/>
          </a:xfrm>
          <a:prstGeom prst="rect">
            <a:avLst/>
          </a:prstGeom>
          <a:solidFill>
            <a:srgbClr val="FFFF00"/>
          </a:solidFill>
          <a:ln w="9525" algn="ctr">
            <a:noFill/>
            <a:miter lim="800000"/>
            <a:headEnd/>
            <a:tailEnd/>
          </a:ln>
        </p:spPr>
        <p:txBody>
          <a:bodyPr wrap="none">
            <a:spAutoFit/>
          </a:bodyPr>
          <a:lstStyle/>
          <a:p>
            <a:pPr>
              <a:lnSpc>
                <a:spcPct val="80000"/>
              </a:lnSpc>
            </a:pPr>
            <a:r>
              <a:rPr lang="en-GB" sz="2400" dirty="0"/>
              <a:t>NOT covered in this course</a:t>
            </a:r>
            <a:endParaRPr lang="en-GB" dirty="0"/>
          </a:p>
        </p:txBody>
      </p:sp>
      <p:pic>
        <p:nvPicPr>
          <p:cNvPr id="15" name="Picture 14">
            <a:extLst>
              <a:ext uri="{FF2B5EF4-FFF2-40B4-BE49-F238E27FC236}">
                <a16:creationId xmlns:a16="http://schemas.microsoft.com/office/drawing/2014/main" id="{9461361A-B2BC-6F4A-AEA7-B82CC48624DF}"/>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349218" y="3400882"/>
            <a:ext cx="3787342" cy="236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a:extLst>
              <a:ext uri="{FF2B5EF4-FFF2-40B4-BE49-F238E27FC236}">
                <a16:creationId xmlns:a16="http://schemas.microsoft.com/office/drawing/2014/main" id="{E964ACBC-3512-4A4F-B439-128B26FE367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464152" y="3501008"/>
            <a:ext cx="3684883" cy="193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0" descr="D:\aelham\Desktop\Lift.jpg">
            <a:extLst>
              <a:ext uri="{FF2B5EF4-FFF2-40B4-BE49-F238E27FC236}">
                <a16:creationId xmlns:a16="http://schemas.microsoft.com/office/drawing/2014/main" id="{1CAD9BEB-6EAF-BC4E-843E-3A759653E31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08168" y="1357944"/>
            <a:ext cx="2972302" cy="1937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8873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15"/>
                                        </p:tgtEl>
                                        <p:attrNameLst>
                                          <p:attrName>style.opacity</p:attrName>
                                        </p:attrNameLst>
                                      </p:cBhvr>
                                      <p:to>
                                        <p:strVal val="0.5"/>
                                      </p:to>
                                    </p:set>
                                    <p:animEffect filter="image" prLst="opacity: 0.5">
                                      <p:cBhvr rctx="IE">
                                        <p:cTn id="7" dur="indefinite"/>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0" y="0"/>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nl-NL" sz="2200"/>
          </a:p>
        </p:txBody>
      </p:sp>
      <p:sp>
        <p:nvSpPr>
          <p:cNvPr id="6" name="Rectangle 4"/>
          <p:cNvSpPr>
            <a:spLocks noChangeArrowheads="1"/>
          </p:cNvSpPr>
          <p:nvPr/>
        </p:nvSpPr>
        <p:spPr bwMode="auto">
          <a:xfrm>
            <a:off x="191344" y="581800"/>
            <a:ext cx="114492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b="1" dirty="0">
                <a:solidFill>
                  <a:schemeClr val="bg1"/>
                </a:solidFill>
                <a:latin typeface="Bookman Old Style" pitchFamily="18" charset="0"/>
              </a:rPr>
              <a:t>2:  Class II weight estimation methods</a:t>
            </a:r>
          </a:p>
        </p:txBody>
      </p:sp>
    </p:spTree>
    <p:extLst>
      <p:ext uri="{BB962C8B-B14F-4D97-AF65-F5344CB8AC3E}">
        <p14:creationId xmlns:p14="http://schemas.microsoft.com/office/powerpoint/2010/main" val="37025355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ChangeArrowheads="1"/>
          </p:cNvSpPr>
          <p:nvPr/>
        </p:nvSpPr>
        <p:spPr bwMode="auto">
          <a:xfrm>
            <a:off x="2052638" y="2203450"/>
            <a:ext cx="8153400" cy="457200"/>
          </a:xfrm>
          <a:prstGeom prst="rect">
            <a:avLst/>
          </a:prstGeom>
          <a:noFill/>
          <a:ln w="9525">
            <a:noFill/>
            <a:miter lim="800000"/>
            <a:headEnd/>
            <a:tailEnd/>
          </a:ln>
        </p:spPr>
        <p:txBody>
          <a:bodyPr>
            <a:spAutoFit/>
          </a:bodyPr>
          <a:lstStyle/>
          <a:p>
            <a:pPr marL="457200" indent="-457200"/>
            <a:endParaRPr lang="en-GB" sz="2400"/>
          </a:p>
        </p:txBody>
      </p:sp>
      <p:sp>
        <p:nvSpPr>
          <p:cNvPr id="31765" name="Rectangle 22"/>
          <p:cNvSpPr>
            <a:spLocks noChangeArrowheads="1"/>
          </p:cNvSpPr>
          <p:nvPr/>
        </p:nvSpPr>
        <p:spPr bwMode="auto">
          <a:xfrm>
            <a:off x="2289178" y="877891"/>
            <a:ext cx="8061325" cy="1665287"/>
          </a:xfrm>
          <a:prstGeom prst="rect">
            <a:avLst/>
          </a:prstGeom>
          <a:noFill/>
          <a:ln w="9525">
            <a:solidFill>
              <a:schemeClr val="tx1"/>
            </a:solidFill>
            <a:miter lim="800000"/>
            <a:headEnd/>
            <a:tailEnd type="none" w="lg" len="lg"/>
          </a:ln>
        </p:spPr>
        <p:txBody>
          <a:bodyPr wrap="none" anchor="ctr"/>
          <a:lstStyle/>
          <a:p>
            <a:endParaRPr lang="nl-NL"/>
          </a:p>
        </p:txBody>
      </p:sp>
      <p:sp>
        <p:nvSpPr>
          <p:cNvPr id="31767" name="Text Box 24"/>
          <p:cNvSpPr txBox="1">
            <a:spLocks noChangeArrowheads="1"/>
          </p:cNvSpPr>
          <p:nvPr/>
        </p:nvSpPr>
        <p:spPr bwMode="auto">
          <a:xfrm rot="-5400000">
            <a:off x="2083597" y="1753397"/>
            <a:ext cx="982663"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a:t>
            </a:r>
          </a:p>
          <a:p>
            <a:pPr eaLnBrk="0" hangingPunct="0">
              <a:spcBef>
                <a:spcPct val="0"/>
              </a:spcBef>
              <a:buClrTx/>
            </a:pPr>
            <a:r>
              <a:rPr lang="en-US" sz="1600"/>
              <a:t>structure</a:t>
            </a:r>
          </a:p>
        </p:txBody>
      </p:sp>
      <p:sp>
        <p:nvSpPr>
          <p:cNvPr id="31768" name="Line 25"/>
          <p:cNvSpPr>
            <a:spLocks noChangeShapeType="1"/>
          </p:cNvSpPr>
          <p:nvPr/>
        </p:nvSpPr>
        <p:spPr bwMode="auto">
          <a:xfrm>
            <a:off x="3025775" y="889003"/>
            <a:ext cx="0" cy="1649413"/>
          </a:xfrm>
          <a:prstGeom prst="line">
            <a:avLst/>
          </a:prstGeom>
          <a:noFill/>
          <a:ln w="9525">
            <a:solidFill>
              <a:schemeClr val="tx1"/>
            </a:solidFill>
            <a:round/>
            <a:headEnd/>
            <a:tailEnd type="none" w="lg" len="lg"/>
          </a:ln>
        </p:spPr>
        <p:txBody>
          <a:bodyPr/>
          <a:lstStyle/>
          <a:p>
            <a:endParaRPr lang="nl-NL"/>
          </a:p>
        </p:txBody>
      </p:sp>
      <p:sp>
        <p:nvSpPr>
          <p:cNvPr id="31769" name="Rectangle 26"/>
          <p:cNvSpPr>
            <a:spLocks noChangeArrowheads="1"/>
          </p:cNvSpPr>
          <p:nvPr/>
        </p:nvSpPr>
        <p:spPr bwMode="auto">
          <a:xfrm>
            <a:off x="3683000" y="1389063"/>
            <a:ext cx="2497138" cy="1154112"/>
          </a:xfrm>
          <a:prstGeom prst="rect">
            <a:avLst/>
          </a:prstGeom>
          <a:noFill/>
          <a:ln w="9525">
            <a:solidFill>
              <a:schemeClr val="tx1"/>
            </a:solidFill>
            <a:miter lim="800000"/>
            <a:headEnd/>
            <a:tailEnd type="none" w="lg" len="lg"/>
          </a:ln>
        </p:spPr>
        <p:txBody>
          <a:bodyPr wrap="none" anchor="ctr"/>
          <a:lstStyle/>
          <a:p>
            <a:endParaRPr lang="nl-NL"/>
          </a:p>
        </p:txBody>
      </p:sp>
      <p:sp>
        <p:nvSpPr>
          <p:cNvPr id="31770" name="Text Box 27"/>
          <p:cNvSpPr txBox="1">
            <a:spLocks noChangeArrowheads="1"/>
          </p:cNvSpPr>
          <p:nvPr/>
        </p:nvSpPr>
        <p:spPr bwMode="auto">
          <a:xfrm>
            <a:off x="3663950" y="835028"/>
            <a:ext cx="17668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 services </a:t>
            </a:r>
          </a:p>
          <a:p>
            <a:pPr eaLnBrk="0" hangingPunct="0">
              <a:spcBef>
                <a:spcPct val="0"/>
              </a:spcBef>
              <a:buClrTx/>
            </a:pPr>
            <a:r>
              <a:rPr lang="en-US" sz="1600"/>
              <a:t>and equipment</a:t>
            </a:r>
          </a:p>
        </p:txBody>
      </p:sp>
      <p:sp>
        <p:nvSpPr>
          <p:cNvPr id="31771" name="Line 28"/>
          <p:cNvSpPr>
            <a:spLocks noChangeShapeType="1"/>
          </p:cNvSpPr>
          <p:nvPr/>
        </p:nvSpPr>
        <p:spPr bwMode="auto">
          <a:xfrm flipV="1">
            <a:off x="4899025" y="1382716"/>
            <a:ext cx="0" cy="1152525"/>
          </a:xfrm>
          <a:prstGeom prst="line">
            <a:avLst/>
          </a:prstGeom>
          <a:noFill/>
          <a:ln w="9525">
            <a:solidFill>
              <a:schemeClr val="tx1"/>
            </a:solidFill>
            <a:round/>
            <a:headEnd/>
            <a:tailEnd type="none" w="lg" len="lg"/>
          </a:ln>
        </p:spPr>
        <p:txBody>
          <a:bodyPr/>
          <a:lstStyle/>
          <a:p>
            <a:endParaRPr lang="nl-NL"/>
          </a:p>
        </p:txBody>
      </p:sp>
      <p:sp>
        <p:nvSpPr>
          <p:cNvPr id="31772" name="Text Box 29"/>
          <p:cNvSpPr txBox="1">
            <a:spLocks noChangeArrowheads="1"/>
          </p:cNvSpPr>
          <p:nvPr/>
        </p:nvSpPr>
        <p:spPr bwMode="auto">
          <a:xfrm rot="-5400000">
            <a:off x="2750344" y="1688309"/>
            <a:ext cx="111283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propulsion</a:t>
            </a:r>
          </a:p>
          <a:p>
            <a:pPr eaLnBrk="0" hangingPunct="0">
              <a:spcBef>
                <a:spcPct val="0"/>
              </a:spcBef>
              <a:buClrTx/>
            </a:pPr>
            <a:r>
              <a:rPr lang="en-US" sz="1600"/>
              <a:t>group</a:t>
            </a:r>
          </a:p>
        </p:txBody>
      </p:sp>
      <p:sp>
        <p:nvSpPr>
          <p:cNvPr id="31773" name="Line 30"/>
          <p:cNvSpPr>
            <a:spLocks noChangeShapeType="1"/>
          </p:cNvSpPr>
          <p:nvPr/>
        </p:nvSpPr>
        <p:spPr bwMode="auto">
          <a:xfrm>
            <a:off x="4897438" y="1611313"/>
            <a:ext cx="1274762" cy="0"/>
          </a:xfrm>
          <a:prstGeom prst="line">
            <a:avLst/>
          </a:prstGeom>
          <a:noFill/>
          <a:ln w="9525">
            <a:solidFill>
              <a:schemeClr val="tx1"/>
            </a:solidFill>
            <a:round/>
            <a:headEnd/>
            <a:tailEnd type="none" w="lg" len="lg"/>
          </a:ln>
        </p:spPr>
        <p:txBody>
          <a:bodyPr/>
          <a:lstStyle/>
          <a:p>
            <a:endParaRPr lang="nl-NL"/>
          </a:p>
        </p:txBody>
      </p:sp>
      <p:sp>
        <p:nvSpPr>
          <p:cNvPr id="31774" name="Text Box 31"/>
          <p:cNvSpPr txBox="1">
            <a:spLocks noChangeArrowheads="1"/>
          </p:cNvSpPr>
          <p:nvPr/>
        </p:nvSpPr>
        <p:spPr bwMode="auto">
          <a:xfrm>
            <a:off x="4943475" y="1296988"/>
            <a:ext cx="1119188"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removable</a:t>
            </a:r>
          </a:p>
        </p:txBody>
      </p:sp>
      <p:sp>
        <p:nvSpPr>
          <p:cNvPr id="31775" name="Text Box 32"/>
          <p:cNvSpPr txBox="1">
            <a:spLocks noChangeArrowheads="1"/>
          </p:cNvSpPr>
          <p:nvPr/>
        </p:nvSpPr>
        <p:spPr bwMode="auto">
          <a:xfrm rot="-5400000">
            <a:off x="3617121" y="2043907"/>
            <a:ext cx="614363"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fixed</a:t>
            </a:r>
          </a:p>
        </p:txBody>
      </p:sp>
      <p:sp>
        <p:nvSpPr>
          <p:cNvPr id="31776" name="Text Box 33"/>
          <p:cNvSpPr txBox="1">
            <a:spLocks noChangeArrowheads="1"/>
          </p:cNvSpPr>
          <p:nvPr/>
        </p:nvSpPr>
        <p:spPr bwMode="auto">
          <a:xfrm rot="-5400000">
            <a:off x="4644232" y="1818484"/>
            <a:ext cx="9667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items</a:t>
            </a:r>
          </a:p>
        </p:txBody>
      </p:sp>
      <p:sp>
        <p:nvSpPr>
          <p:cNvPr id="31777" name="Line 34"/>
          <p:cNvSpPr>
            <a:spLocks noChangeShapeType="1"/>
          </p:cNvSpPr>
          <p:nvPr/>
        </p:nvSpPr>
        <p:spPr bwMode="auto">
          <a:xfrm flipV="1">
            <a:off x="5411788" y="1606550"/>
            <a:ext cx="0" cy="928688"/>
          </a:xfrm>
          <a:prstGeom prst="line">
            <a:avLst/>
          </a:prstGeom>
          <a:noFill/>
          <a:ln w="9525">
            <a:solidFill>
              <a:schemeClr val="tx1"/>
            </a:solidFill>
            <a:round/>
            <a:headEnd/>
            <a:tailEnd type="none" w="lg" len="lg"/>
          </a:ln>
        </p:spPr>
        <p:txBody>
          <a:bodyPr/>
          <a:lstStyle/>
          <a:p>
            <a:endParaRPr lang="nl-NL"/>
          </a:p>
        </p:txBody>
      </p:sp>
      <p:sp>
        <p:nvSpPr>
          <p:cNvPr id="31778" name="Text Box 35"/>
          <p:cNvSpPr txBox="1">
            <a:spLocks noChangeArrowheads="1"/>
          </p:cNvSpPr>
          <p:nvPr/>
        </p:nvSpPr>
        <p:spPr bwMode="auto">
          <a:xfrm rot="-5400000">
            <a:off x="5236371" y="1650207"/>
            <a:ext cx="1046163" cy="82550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a:t>
            </a:r>
          </a:p>
          <a:p>
            <a:pPr eaLnBrk="0" hangingPunct="0">
              <a:spcBef>
                <a:spcPct val="0"/>
              </a:spcBef>
              <a:buClrTx/>
            </a:pPr>
            <a:r>
              <a:rPr lang="en-US" sz="1600"/>
              <a:t>variations</a:t>
            </a:r>
          </a:p>
        </p:txBody>
      </p:sp>
      <p:sp>
        <p:nvSpPr>
          <p:cNvPr id="31779" name="Rectangle 36"/>
          <p:cNvSpPr>
            <a:spLocks noChangeArrowheads="1"/>
          </p:cNvSpPr>
          <p:nvPr/>
        </p:nvSpPr>
        <p:spPr bwMode="auto">
          <a:xfrm>
            <a:off x="6180141" y="876303"/>
            <a:ext cx="238125" cy="1660525"/>
          </a:xfrm>
          <a:prstGeom prst="rect">
            <a:avLst/>
          </a:prstGeom>
          <a:noFill/>
          <a:ln w="9525">
            <a:solidFill>
              <a:schemeClr val="tx1"/>
            </a:solidFill>
            <a:miter lim="800000"/>
            <a:headEnd/>
            <a:tailEnd type="none" w="lg" len="lg"/>
          </a:ln>
        </p:spPr>
        <p:txBody>
          <a:bodyPr wrap="none" anchor="ctr"/>
          <a:lstStyle/>
          <a:p>
            <a:endParaRPr lang="nl-NL"/>
          </a:p>
        </p:txBody>
      </p:sp>
      <p:sp>
        <p:nvSpPr>
          <p:cNvPr id="31780" name="Text Box 37"/>
          <p:cNvSpPr txBox="1">
            <a:spLocks noChangeArrowheads="1"/>
          </p:cNvSpPr>
          <p:nvPr/>
        </p:nvSpPr>
        <p:spPr bwMode="auto">
          <a:xfrm rot="-5400000">
            <a:off x="5403853" y="1565276"/>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operational items</a:t>
            </a:r>
          </a:p>
        </p:txBody>
      </p:sp>
      <p:sp>
        <p:nvSpPr>
          <p:cNvPr id="31781" name="Rectangle 38"/>
          <p:cNvSpPr>
            <a:spLocks noChangeArrowheads="1"/>
          </p:cNvSpPr>
          <p:nvPr/>
        </p:nvSpPr>
        <p:spPr bwMode="auto">
          <a:xfrm>
            <a:off x="3683000" y="876300"/>
            <a:ext cx="2497138" cy="514350"/>
          </a:xfrm>
          <a:prstGeom prst="rect">
            <a:avLst/>
          </a:prstGeom>
          <a:noFill/>
          <a:ln w="9525">
            <a:solidFill>
              <a:schemeClr val="tx1"/>
            </a:solidFill>
            <a:miter lim="800000"/>
            <a:headEnd/>
            <a:tailEnd type="none" w="lg" len="lg"/>
          </a:ln>
        </p:spPr>
        <p:txBody>
          <a:bodyPr wrap="none" anchor="ctr"/>
          <a:lstStyle/>
          <a:p>
            <a:endParaRPr lang="nl-NL"/>
          </a:p>
        </p:txBody>
      </p:sp>
      <p:sp>
        <p:nvSpPr>
          <p:cNvPr id="31782" name="Rectangle 39"/>
          <p:cNvSpPr>
            <a:spLocks noChangeArrowheads="1"/>
          </p:cNvSpPr>
          <p:nvPr/>
        </p:nvSpPr>
        <p:spPr bwMode="auto">
          <a:xfrm>
            <a:off x="6418266" y="876303"/>
            <a:ext cx="814387" cy="1666875"/>
          </a:xfrm>
          <a:prstGeom prst="rect">
            <a:avLst/>
          </a:prstGeom>
          <a:noFill/>
          <a:ln w="9525">
            <a:solidFill>
              <a:schemeClr val="tx1"/>
            </a:solidFill>
            <a:miter lim="800000"/>
            <a:headEnd/>
            <a:tailEnd type="none" w="lg" len="lg"/>
          </a:ln>
        </p:spPr>
        <p:txBody>
          <a:bodyPr wrap="none" anchor="ctr"/>
          <a:lstStyle/>
          <a:p>
            <a:endParaRPr lang="nl-NL"/>
          </a:p>
        </p:txBody>
      </p:sp>
      <p:sp>
        <p:nvSpPr>
          <p:cNvPr id="31783" name="Text Box 40"/>
          <p:cNvSpPr txBox="1">
            <a:spLocks noChangeArrowheads="1"/>
          </p:cNvSpPr>
          <p:nvPr/>
        </p:nvSpPr>
        <p:spPr bwMode="auto">
          <a:xfrm rot="-5400000">
            <a:off x="5913440" y="1566863"/>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payload</a:t>
            </a:r>
          </a:p>
        </p:txBody>
      </p:sp>
      <p:sp>
        <p:nvSpPr>
          <p:cNvPr id="31784" name="Text Box 41"/>
          <p:cNvSpPr txBox="1">
            <a:spLocks noChangeArrowheads="1"/>
          </p:cNvSpPr>
          <p:nvPr/>
        </p:nvSpPr>
        <p:spPr bwMode="auto">
          <a:xfrm>
            <a:off x="8151816" y="830263"/>
            <a:ext cx="1133475"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(total) fuel</a:t>
            </a:r>
          </a:p>
        </p:txBody>
      </p:sp>
      <p:sp>
        <p:nvSpPr>
          <p:cNvPr id="31785" name="Line 42"/>
          <p:cNvSpPr>
            <a:spLocks noChangeShapeType="1"/>
          </p:cNvSpPr>
          <p:nvPr/>
        </p:nvSpPr>
        <p:spPr bwMode="auto">
          <a:xfrm>
            <a:off x="7226303" y="1130300"/>
            <a:ext cx="3122613" cy="0"/>
          </a:xfrm>
          <a:prstGeom prst="line">
            <a:avLst/>
          </a:prstGeom>
          <a:noFill/>
          <a:ln w="9525">
            <a:solidFill>
              <a:schemeClr val="tx1"/>
            </a:solidFill>
            <a:prstDash val="sysDot"/>
            <a:round/>
            <a:headEnd/>
            <a:tailEnd type="none" w="lg" len="lg"/>
          </a:ln>
        </p:spPr>
        <p:txBody>
          <a:bodyPr/>
          <a:lstStyle/>
          <a:p>
            <a:endParaRPr lang="nl-NL"/>
          </a:p>
        </p:txBody>
      </p:sp>
      <p:sp>
        <p:nvSpPr>
          <p:cNvPr id="31786" name="Text Box 43"/>
          <p:cNvSpPr txBox="1">
            <a:spLocks noChangeArrowheads="1"/>
          </p:cNvSpPr>
          <p:nvPr/>
        </p:nvSpPr>
        <p:spPr bwMode="auto">
          <a:xfrm>
            <a:off x="7208841" y="1081088"/>
            <a:ext cx="915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rest fuel</a:t>
            </a:r>
          </a:p>
        </p:txBody>
      </p:sp>
      <p:sp>
        <p:nvSpPr>
          <p:cNvPr id="31787" name="Text Box 44"/>
          <p:cNvSpPr txBox="1">
            <a:spLocks noChangeArrowheads="1"/>
          </p:cNvSpPr>
          <p:nvPr/>
        </p:nvSpPr>
        <p:spPr bwMode="auto">
          <a:xfrm>
            <a:off x="8758241" y="1092200"/>
            <a:ext cx="1042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block fuel</a:t>
            </a:r>
          </a:p>
        </p:txBody>
      </p:sp>
      <p:sp>
        <p:nvSpPr>
          <p:cNvPr id="31788" name="Line 45"/>
          <p:cNvSpPr>
            <a:spLocks noChangeShapeType="1"/>
          </p:cNvSpPr>
          <p:nvPr/>
        </p:nvSpPr>
        <p:spPr bwMode="auto">
          <a:xfrm>
            <a:off x="7237413" y="1390650"/>
            <a:ext cx="3103562" cy="0"/>
          </a:xfrm>
          <a:prstGeom prst="line">
            <a:avLst/>
          </a:prstGeom>
          <a:noFill/>
          <a:ln w="9525">
            <a:solidFill>
              <a:schemeClr val="tx1"/>
            </a:solidFill>
            <a:round/>
            <a:headEnd/>
            <a:tailEnd type="none" w="lg" len="lg"/>
          </a:ln>
        </p:spPr>
        <p:txBody>
          <a:bodyPr/>
          <a:lstStyle/>
          <a:p>
            <a:endParaRPr lang="nl-NL"/>
          </a:p>
        </p:txBody>
      </p:sp>
      <p:sp>
        <p:nvSpPr>
          <p:cNvPr id="31789" name="Line 46"/>
          <p:cNvSpPr>
            <a:spLocks noChangeShapeType="1"/>
          </p:cNvSpPr>
          <p:nvPr/>
        </p:nvSpPr>
        <p:spPr bwMode="auto">
          <a:xfrm flipH="1">
            <a:off x="8478841" y="1130300"/>
            <a:ext cx="9525" cy="266700"/>
          </a:xfrm>
          <a:prstGeom prst="line">
            <a:avLst/>
          </a:prstGeom>
          <a:noFill/>
          <a:ln w="9525">
            <a:solidFill>
              <a:schemeClr val="tx1"/>
            </a:solidFill>
            <a:prstDash val="sysDot"/>
            <a:round/>
            <a:headEnd/>
            <a:tailEnd type="none" w="lg" len="lg"/>
          </a:ln>
        </p:spPr>
        <p:txBody>
          <a:bodyPr/>
          <a:lstStyle/>
          <a:p>
            <a:endParaRPr lang="nl-NL"/>
          </a:p>
        </p:txBody>
      </p:sp>
      <p:sp>
        <p:nvSpPr>
          <p:cNvPr id="31790" name="Text Box 47"/>
          <p:cNvSpPr txBox="1">
            <a:spLocks noChangeArrowheads="1"/>
          </p:cNvSpPr>
          <p:nvPr/>
        </p:nvSpPr>
        <p:spPr bwMode="auto">
          <a:xfrm>
            <a:off x="7189788" y="1325563"/>
            <a:ext cx="1465262"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fuel at landing</a:t>
            </a:r>
          </a:p>
        </p:txBody>
      </p:sp>
      <p:sp>
        <p:nvSpPr>
          <p:cNvPr id="31791" name="Text Box 48"/>
          <p:cNvSpPr txBox="1">
            <a:spLocks noChangeArrowheads="1"/>
          </p:cNvSpPr>
          <p:nvPr/>
        </p:nvSpPr>
        <p:spPr bwMode="auto">
          <a:xfrm rot="-5400000">
            <a:off x="7088188" y="1838328"/>
            <a:ext cx="920750"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reserve</a:t>
            </a:r>
          </a:p>
          <a:p>
            <a:pPr eaLnBrk="0" hangingPunct="0">
              <a:spcBef>
                <a:spcPct val="0"/>
              </a:spcBef>
              <a:buClrTx/>
            </a:pPr>
            <a:r>
              <a:rPr lang="en-US" sz="1600"/>
              <a:t>fuel</a:t>
            </a:r>
          </a:p>
        </p:txBody>
      </p:sp>
      <p:sp>
        <p:nvSpPr>
          <p:cNvPr id="31792" name="Text Box 49"/>
          <p:cNvSpPr txBox="1">
            <a:spLocks noChangeArrowheads="1"/>
          </p:cNvSpPr>
          <p:nvPr/>
        </p:nvSpPr>
        <p:spPr bwMode="auto">
          <a:xfrm rot="-5400000">
            <a:off x="760730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additional</a:t>
            </a:r>
          </a:p>
          <a:p>
            <a:pPr eaLnBrk="0" hangingPunct="0">
              <a:spcBef>
                <a:spcPct val="0"/>
              </a:spcBef>
              <a:buClrTx/>
            </a:pPr>
            <a:r>
              <a:rPr lang="en-US" sz="1600"/>
              <a:t>fuel</a:t>
            </a:r>
          </a:p>
        </p:txBody>
      </p:sp>
      <p:sp>
        <p:nvSpPr>
          <p:cNvPr id="31793" name="Line 50"/>
          <p:cNvSpPr>
            <a:spLocks noChangeShapeType="1"/>
          </p:cNvSpPr>
          <p:nvPr/>
        </p:nvSpPr>
        <p:spPr bwMode="auto">
          <a:xfrm flipV="1">
            <a:off x="8639175" y="1390653"/>
            <a:ext cx="0" cy="1152525"/>
          </a:xfrm>
          <a:prstGeom prst="line">
            <a:avLst/>
          </a:prstGeom>
          <a:noFill/>
          <a:ln w="9525">
            <a:solidFill>
              <a:schemeClr val="tx1"/>
            </a:solidFill>
            <a:round/>
            <a:headEnd/>
            <a:tailEnd type="none" w="lg" len="lg"/>
          </a:ln>
        </p:spPr>
        <p:txBody>
          <a:bodyPr/>
          <a:lstStyle/>
          <a:p>
            <a:endParaRPr lang="nl-NL"/>
          </a:p>
        </p:txBody>
      </p:sp>
      <p:sp>
        <p:nvSpPr>
          <p:cNvPr id="31794" name="Line 51"/>
          <p:cNvSpPr>
            <a:spLocks noChangeShapeType="1"/>
          </p:cNvSpPr>
          <p:nvPr/>
        </p:nvSpPr>
        <p:spPr bwMode="auto">
          <a:xfrm flipH="1">
            <a:off x="7229475" y="1619250"/>
            <a:ext cx="1409700" cy="0"/>
          </a:xfrm>
          <a:prstGeom prst="line">
            <a:avLst/>
          </a:prstGeom>
          <a:noFill/>
          <a:ln w="9525">
            <a:solidFill>
              <a:schemeClr val="tx1"/>
            </a:solidFill>
            <a:round/>
            <a:headEnd/>
            <a:tailEnd type="none" w="lg" len="lg"/>
          </a:ln>
        </p:spPr>
        <p:txBody>
          <a:bodyPr/>
          <a:lstStyle/>
          <a:p>
            <a:endParaRPr lang="nl-NL"/>
          </a:p>
        </p:txBody>
      </p:sp>
      <p:sp>
        <p:nvSpPr>
          <p:cNvPr id="31795" name="Line 52"/>
          <p:cNvSpPr>
            <a:spLocks noChangeShapeType="1"/>
          </p:cNvSpPr>
          <p:nvPr/>
        </p:nvSpPr>
        <p:spPr bwMode="auto">
          <a:xfrm>
            <a:off x="7867650" y="1619253"/>
            <a:ext cx="0" cy="923925"/>
          </a:xfrm>
          <a:prstGeom prst="line">
            <a:avLst/>
          </a:prstGeom>
          <a:noFill/>
          <a:ln w="9525">
            <a:solidFill>
              <a:schemeClr val="tx1"/>
            </a:solidFill>
            <a:round/>
            <a:headEnd/>
            <a:tailEnd type="none" w="lg" len="lg"/>
          </a:ln>
        </p:spPr>
        <p:txBody>
          <a:bodyPr/>
          <a:lstStyle/>
          <a:p>
            <a:endParaRPr lang="nl-NL"/>
          </a:p>
        </p:txBody>
      </p:sp>
      <p:sp>
        <p:nvSpPr>
          <p:cNvPr id="31796" name="Line 53"/>
          <p:cNvSpPr>
            <a:spLocks noChangeShapeType="1"/>
          </p:cNvSpPr>
          <p:nvPr/>
        </p:nvSpPr>
        <p:spPr bwMode="auto">
          <a:xfrm flipV="1">
            <a:off x="9820275" y="1390653"/>
            <a:ext cx="0" cy="1152525"/>
          </a:xfrm>
          <a:prstGeom prst="line">
            <a:avLst/>
          </a:prstGeom>
          <a:noFill/>
          <a:ln w="9525">
            <a:solidFill>
              <a:schemeClr val="tx1"/>
            </a:solidFill>
            <a:round/>
            <a:headEnd/>
            <a:tailEnd type="none" w="lg" len="lg"/>
          </a:ln>
        </p:spPr>
        <p:txBody>
          <a:bodyPr/>
          <a:lstStyle/>
          <a:p>
            <a:endParaRPr lang="nl-NL"/>
          </a:p>
        </p:txBody>
      </p:sp>
      <p:sp>
        <p:nvSpPr>
          <p:cNvPr id="31797" name="Text Box 54"/>
          <p:cNvSpPr txBox="1">
            <a:spLocks noChangeArrowheads="1"/>
          </p:cNvSpPr>
          <p:nvPr/>
        </p:nvSpPr>
        <p:spPr bwMode="auto">
          <a:xfrm rot="-5400000">
            <a:off x="873125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trip</a:t>
            </a:r>
          </a:p>
          <a:p>
            <a:pPr eaLnBrk="0" hangingPunct="0">
              <a:spcBef>
                <a:spcPct val="0"/>
              </a:spcBef>
              <a:buClrTx/>
            </a:pPr>
            <a:r>
              <a:rPr lang="en-US" sz="1600"/>
              <a:t>fuel</a:t>
            </a:r>
          </a:p>
        </p:txBody>
      </p:sp>
      <p:sp>
        <p:nvSpPr>
          <p:cNvPr id="31798" name="Text Box 55"/>
          <p:cNvSpPr txBox="1">
            <a:spLocks noChangeArrowheads="1"/>
          </p:cNvSpPr>
          <p:nvPr/>
        </p:nvSpPr>
        <p:spPr bwMode="auto">
          <a:xfrm rot="-5400000">
            <a:off x="9169403" y="1443041"/>
            <a:ext cx="173037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pre-take-off </a:t>
            </a:r>
          </a:p>
          <a:p>
            <a:pPr eaLnBrk="0" hangingPunct="0">
              <a:spcBef>
                <a:spcPct val="0"/>
              </a:spcBef>
              <a:buClrTx/>
            </a:pPr>
            <a:r>
              <a:rPr lang="en-US" sz="1600"/>
              <a:t>fuel</a:t>
            </a:r>
          </a:p>
        </p:txBody>
      </p:sp>
      <p:sp>
        <p:nvSpPr>
          <p:cNvPr id="56" name="Rectangle 39"/>
          <p:cNvSpPr>
            <a:spLocks noChangeArrowheads="1"/>
          </p:cNvSpPr>
          <p:nvPr/>
        </p:nvSpPr>
        <p:spPr bwMode="auto">
          <a:xfrm>
            <a:off x="767408" y="188640"/>
            <a:ext cx="10154592" cy="795337"/>
          </a:xfrm>
          <a:prstGeom prst="rect">
            <a:avLst/>
          </a:prstGeom>
          <a:noFill/>
          <a:ln w="9525">
            <a:noFill/>
            <a:miter lim="800000"/>
            <a:headEnd/>
            <a:tailEnd/>
          </a:ln>
        </p:spPr>
        <p:txBody>
          <a:bodyPr/>
          <a:lstStyle/>
          <a:p>
            <a:pPr>
              <a:spcBef>
                <a:spcPct val="0"/>
              </a:spcBef>
              <a:buClrTx/>
            </a:pPr>
            <a:r>
              <a:rPr lang="en-US" sz="3200" dirty="0">
                <a:solidFill>
                  <a:srgbClr val="00A4DE"/>
                </a:solidFill>
                <a:cs typeface="Tahoma" pitchFamily="34" charset="0"/>
              </a:rPr>
              <a:t>Weights: what are we talking about…</a:t>
            </a:r>
          </a:p>
        </p:txBody>
      </p:sp>
      <p:grpSp>
        <p:nvGrpSpPr>
          <p:cNvPr id="3" name="Group 2"/>
          <p:cNvGrpSpPr/>
          <p:nvPr/>
        </p:nvGrpSpPr>
        <p:grpSpPr>
          <a:xfrm>
            <a:off x="1480947" y="2557463"/>
            <a:ext cx="8867966" cy="3205162"/>
            <a:chOff x="-43053" y="2557463"/>
            <a:chExt cx="8867966" cy="3205162"/>
          </a:xfrm>
        </p:grpSpPr>
        <p:sp>
          <p:nvSpPr>
            <p:cNvPr id="31747" name="Rectangle 4"/>
            <p:cNvSpPr>
              <a:spLocks noChangeArrowheads="1"/>
            </p:cNvSpPr>
            <p:nvPr/>
          </p:nvSpPr>
          <p:spPr bwMode="auto">
            <a:xfrm>
              <a:off x="757238" y="2686050"/>
              <a:ext cx="2609850" cy="333375"/>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dirty="0"/>
                <a:t>Manufacturer’s empty weight</a:t>
              </a:r>
            </a:p>
          </p:txBody>
        </p:sp>
        <p:sp>
          <p:nvSpPr>
            <p:cNvPr id="31748" name="Rectangle 5"/>
            <p:cNvSpPr>
              <a:spLocks noChangeArrowheads="1"/>
            </p:cNvSpPr>
            <p:nvPr/>
          </p:nvSpPr>
          <p:spPr bwMode="auto">
            <a:xfrm>
              <a:off x="757238" y="3019425"/>
              <a:ext cx="3133725"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(Delivery) empty weight</a:t>
              </a:r>
            </a:p>
          </p:txBody>
        </p:sp>
        <p:sp>
          <p:nvSpPr>
            <p:cNvPr id="31749" name="Rectangle 6"/>
            <p:cNvSpPr>
              <a:spLocks noChangeArrowheads="1"/>
            </p:cNvSpPr>
            <p:nvPr/>
          </p:nvSpPr>
          <p:spPr bwMode="auto">
            <a:xfrm>
              <a:off x="757238" y="3324225"/>
              <a:ext cx="3897312"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Basic (empty) weight</a:t>
              </a:r>
            </a:p>
          </p:txBody>
        </p:sp>
        <p:sp>
          <p:nvSpPr>
            <p:cNvPr id="31750" name="Rectangle 7"/>
            <p:cNvSpPr>
              <a:spLocks noChangeArrowheads="1"/>
            </p:cNvSpPr>
            <p:nvPr/>
          </p:nvSpPr>
          <p:spPr bwMode="auto">
            <a:xfrm>
              <a:off x="757238" y="3629025"/>
              <a:ext cx="4133850"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dirty="0"/>
                <a:t>Operational empty weight</a:t>
              </a:r>
            </a:p>
          </p:txBody>
        </p:sp>
        <p:sp>
          <p:nvSpPr>
            <p:cNvPr id="31751" name="Rectangle 8"/>
            <p:cNvSpPr>
              <a:spLocks noChangeArrowheads="1"/>
            </p:cNvSpPr>
            <p:nvPr/>
          </p:nvSpPr>
          <p:spPr bwMode="auto">
            <a:xfrm>
              <a:off x="757238" y="3933825"/>
              <a:ext cx="4953000"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Zero fuel weight</a:t>
              </a:r>
            </a:p>
          </p:txBody>
        </p:sp>
        <p:sp>
          <p:nvSpPr>
            <p:cNvPr id="31752" name="Rectangle 9"/>
            <p:cNvSpPr>
              <a:spLocks noChangeArrowheads="1"/>
            </p:cNvSpPr>
            <p:nvPr/>
          </p:nvSpPr>
          <p:spPr bwMode="auto">
            <a:xfrm>
              <a:off x="757238" y="4238625"/>
              <a:ext cx="7543800"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Take-off weight</a:t>
              </a:r>
            </a:p>
          </p:txBody>
        </p:sp>
        <p:sp>
          <p:nvSpPr>
            <p:cNvPr id="31753" name="Rectangle 10"/>
            <p:cNvSpPr>
              <a:spLocks noChangeArrowheads="1"/>
            </p:cNvSpPr>
            <p:nvPr/>
          </p:nvSpPr>
          <p:spPr bwMode="auto">
            <a:xfrm>
              <a:off x="757238" y="4543425"/>
              <a:ext cx="8067675"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Ramp weight</a:t>
              </a:r>
            </a:p>
          </p:txBody>
        </p:sp>
        <p:sp>
          <p:nvSpPr>
            <p:cNvPr id="31754" name="Rectangle 11"/>
            <p:cNvSpPr>
              <a:spLocks noChangeArrowheads="1"/>
            </p:cNvSpPr>
            <p:nvPr/>
          </p:nvSpPr>
          <p:spPr bwMode="auto">
            <a:xfrm>
              <a:off x="757238" y="4848225"/>
              <a:ext cx="6048375"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Landing weight</a:t>
              </a:r>
            </a:p>
          </p:txBody>
        </p:sp>
        <p:sp>
          <p:nvSpPr>
            <p:cNvPr id="31755" name="Rectangle 12"/>
            <p:cNvSpPr>
              <a:spLocks noChangeArrowheads="1"/>
            </p:cNvSpPr>
            <p:nvPr/>
          </p:nvSpPr>
          <p:spPr bwMode="auto">
            <a:xfrm>
              <a:off x="757238" y="5153025"/>
              <a:ext cx="5257800"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Gross weight</a:t>
              </a:r>
            </a:p>
          </p:txBody>
        </p:sp>
        <p:sp>
          <p:nvSpPr>
            <p:cNvPr id="31756" name="Rectangle 13"/>
            <p:cNvSpPr>
              <a:spLocks noChangeArrowheads="1"/>
            </p:cNvSpPr>
            <p:nvPr/>
          </p:nvSpPr>
          <p:spPr bwMode="auto">
            <a:xfrm>
              <a:off x="757238" y="5457825"/>
              <a:ext cx="5638800"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dirty="0"/>
                <a:t>Operating weight</a:t>
              </a:r>
            </a:p>
          </p:txBody>
        </p:sp>
        <p:sp>
          <p:nvSpPr>
            <p:cNvPr id="31757" name="Rectangle 14"/>
            <p:cNvSpPr>
              <a:spLocks noChangeArrowheads="1"/>
            </p:cNvSpPr>
            <p:nvPr/>
          </p:nvSpPr>
          <p:spPr bwMode="auto">
            <a:xfrm>
              <a:off x="4664075" y="3324225"/>
              <a:ext cx="3636963" cy="304800"/>
            </a:xfrm>
            <a:prstGeom prst="rect">
              <a:avLst/>
            </a:prstGeom>
            <a:solidFill>
              <a:srgbClr val="FFFF00"/>
            </a:solidFill>
            <a:ln w="9525">
              <a:solidFill>
                <a:schemeClr val="tx1"/>
              </a:solidFill>
              <a:miter lim="800000"/>
              <a:headEnd/>
              <a:tailEnd type="none" w="lg" len="lg"/>
            </a:ln>
          </p:spPr>
          <p:txBody>
            <a:bodyPr wrap="none" anchor="ctr"/>
            <a:lstStyle/>
            <a:p>
              <a:pPr algn="r" eaLnBrk="0" hangingPunct="0">
                <a:spcBef>
                  <a:spcPct val="0"/>
                </a:spcBef>
                <a:buClrTx/>
              </a:pPr>
              <a:r>
                <a:rPr lang="en-US"/>
                <a:t>Disposable load </a:t>
              </a:r>
            </a:p>
          </p:txBody>
        </p:sp>
        <p:sp>
          <p:nvSpPr>
            <p:cNvPr id="31758" name="Rectangle 15"/>
            <p:cNvSpPr>
              <a:spLocks noChangeArrowheads="1"/>
            </p:cNvSpPr>
            <p:nvPr/>
          </p:nvSpPr>
          <p:spPr bwMode="auto">
            <a:xfrm>
              <a:off x="4892675" y="3629025"/>
              <a:ext cx="3408363" cy="304800"/>
            </a:xfrm>
            <a:prstGeom prst="rect">
              <a:avLst/>
            </a:prstGeom>
            <a:solidFill>
              <a:srgbClr val="FFFF00"/>
            </a:solidFill>
            <a:ln w="9525">
              <a:solidFill>
                <a:schemeClr val="tx1"/>
              </a:solidFill>
              <a:miter lim="800000"/>
              <a:headEnd/>
              <a:tailEnd type="none" w="lg" len="lg"/>
            </a:ln>
          </p:spPr>
          <p:txBody>
            <a:bodyPr wrap="none" anchor="ctr"/>
            <a:lstStyle/>
            <a:p>
              <a:pPr algn="r" eaLnBrk="0" hangingPunct="0">
                <a:spcBef>
                  <a:spcPct val="0"/>
                </a:spcBef>
                <a:buClrTx/>
              </a:pPr>
              <a:r>
                <a:rPr lang="en-US"/>
                <a:t>Useful load </a:t>
              </a:r>
            </a:p>
          </p:txBody>
        </p:sp>
        <p:sp>
          <p:nvSpPr>
            <p:cNvPr id="31759" name="Rectangle 16"/>
            <p:cNvSpPr>
              <a:spLocks noChangeArrowheads="1"/>
            </p:cNvSpPr>
            <p:nvPr/>
          </p:nvSpPr>
          <p:spPr bwMode="auto">
            <a:xfrm>
              <a:off x="5703888" y="3933825"/>
              <a:ext cx="2597150" cy="304800"/>
            </a:xfrm>
            <a:prstGeom prst="rect">
              <a:avLst/>
            </a:prstGeom>
            <a:solidFill>
              <a:srgbClr val="FFFF00"/>
            </a:solidFill>
            <a:ln w="9525">
              <a:solidFill>
                <a:schemeClr val="tx1"/>
              </a:solidFill>
              <a:miter lim="800000"/>
              <a:headEnd/>
              <a:tailEnd type="none" w="lg" len="lg"/>
            </a:ln>
          </p:spPr>
          <p:txBody>
            <a:bodyPr wrap="none" anchor="ctr"/>
            <a:lstStyle/>
            <a:p>
              <a:pPr algn="r" eaLnBrk="0" hangingPunct="0">
                <a:spcBef>
                  <a:spcPct val="0"/>
                </a:spcBef>
                <a:buClrTx/>
              </a:pPr>
              <a:r>
                <a:rPr lang="en-US"/>
                <a:t>Fuel at take-off </a:t>
              </a:r>
            </a:p>
          </p:txBody>
        </p:sp>
        <p:sp>
          <p:nvSpPr>
            <p:cNvPr id="31760" name="Rectangle 17"/>
            <p:cNvSpPr>
              <a:spLocks noChangeArrowheads="1"/>
            </p:cNvSpPr>
            <p:nvPr/>
          </p:nvSpPr>
          <p:spPr bwMode="auto">
            <a:xfrm>
              <a:off x="6015038" y="5153025"/>
              <a:ext cx="2809875" cy="304800"/>
            </a:xfrm>
            <a:prstGeom prst="rect">
              <a:avLst/>
            </a:prstGeom>
            <a:solidFill>
              <a:srgbClr val="FFFF00"/>
            </a:solidFill>
            <a:ln w="9525">
              <a:solidFill>
                <a:schemeClr val="tx1"/>
              </a:solidFill>
              <a:miter lim="800000"/>
              <a:headEnd/>
              <a:tailEnd type="none" w="lg" len="lg"/>
            </a:ln>
          </p:spPr>
          <p:txBody>
            <a:bodyPr wrap="none" anchor="ctr"/>
            <a:lstStyle/>
            <a:p>
              <a:pPr algn="r" eaLnBrk="0" hangingPunct="0">
                <a:spcBef>
                  <a:spcPct val="0"/>
                </a:spcBef>
                <a:buClrTx/>
              </a:pPr>
              <a:r>
                <a:rPr lang="en-US"/>
                <a:t>Burnoff fuel        </a:t>
              </a:r>
            </a:p>
          </p:txBody>
        </p:sp>
        <p:sp>
          <p:nvSpPr>
            <p:cNvPr id="31761" name="Line 18"/>
            <p:cNvSpPr>
              <a:spLocks noChangeShapeType="1"/>
            </p:cNvSpPr>
            <p:nvPr/>
          </p:nvSpPr>
          <p:spPr bwMode="auto">
            <a:xfrm>
              <a:off x="5557838" y="5305425"/>
              <a:ext cx="838200" cy="0"/>
            </a:xfrm>
            <a:prstGeom prst="line">
              <a:avLst/>
            </a:prstGeom>
            <a:noFill/>
            <a:ln w="9525">
              <a:solidFill>
                <a:schemeClr val="tx1"/>
              </a:solidFill>
              <a:round/>
              <a:headEnd type="triangle" w="med" len="med"/>
              <a:tailEnd type="triangle" w="med" len="med"/>
            </a:ln>
          </p:spPr>
          <p:txBody>
            <a:bodyPr/>
            <a:lstStyle/>
            <a:p>
              <a:endParaRPr lang="nl-NL"/>
            </a:p>
          </p:txBody>
        </p:sp>
        <p:sp>
          <p:nvSpPr>
            <p:cNvPr id="31762" name="Rectangle 19"/>
            <p:cNvSpPr>
              <a:spLocks noChangeArrowheads="1"/>
            </p:cNvSpPr>
            <p:nvPr/>
          </p:nvSpPr>
          <p:spPr bwMode="auto">
            <a:xfrm>
              <a:off x="6396038" y="5457825"/>
              <a:ext cx="2428875" cy="304800"/>
            </a:xfrm>
            <a:prstGeom prst="rect">
              <a:avLst/>
            </a:prstGeom>
            <a:solidFill>
              <a:srgbClr val="FFFF00"/>
            </a:solidFill>
            <a:ln w="9525">
              <a:solidFill>
                <a:schemeClr val="tx1"/>
              </a:solidFill>
              <a:miter lim="800000"/>
              <a:headEnd/>
              <a:tailEnd type="none" w="lg" len="lg"/>
            </a:ln>
          </p:spPr>
          <p:txBody>
            <a:bodyPr wrap="none" anchor="ctr"/>
            <a:lstStyle/>
            <a:p>
              <a:pPr algn="r" eaLnBrk="0" hangingPunct="0">
                <a:spcBef>
                  <a:spcPct val="0"/>
                </a:spcBef>
                <a:buClrTx/>
              </a:pPr>
              <a:r>
                <a:rPr lang="en-US"/>
                <a:t>Payload        </a:t>
              </a:r>
            </a:p>
          </p:txBody>
        </p:sp>
        <p:sp>
          <p:nvSpPr>
            <p:cNvPr id="31763" name="Line 20"/>
            <p:cNvSpPr>
              <a:spLocks noChangeShapeType="1"/>
            </p:cNvSpPr>
            <p:nvPr/>
          </p:nvSpPr>
          <p:spPr bwMode="auto">
            <a:xfrm>
              <a:off x="8301038" y="2562225"/>
              <a:ext cx="0" cy="3200400"/>
            </a:xfrm>
            <a:prstGeom prst="line">
              <a:avLst/>
            </a:prstGeom>
            <a:noFill/>
            <a:ln w="9525">
              <a:solidFill>
                <a:schemeClr val="tx1"/>
              </a:solidFill>
              <a:round/>
              <a:headEnd/>
              <a:tailEnd type="none" w="lg" len="lg"/>
            </a:ln>
          </p:spPr>
          <p:txBody>
            <a:bodyPr/>
            <a:lstStyle/>
            <a:p>
              <a:endParaRPr lang="nl-NL"/>
            </a:p>
          </p:txBody>
        </p:sp>
        <p:sp>
          <p:nvSpPr>
            <p:cNvPr id="31764" name="Line 21"/>
            <p:cNvSpPr>
              <a:spLocks noChangeShapeType="1"/>
            </p:cNvSpPr>
            <p:nvPr/>
          </p:nvSpPr>
          <p:spPr bwMode="auto">
            <a:xfrm>
              <a:off x="757238" y="2562225"/>
              <a:ext cx="0" cy="3200400"/>
            </a:xfrm>
            <a:prstGeom prst="line">
              <a:avLst/>
            </a:prstGeom>
            <a:noFill/>
            <a:ln w="9525">
              <a:solidFill>
                <a:schemeClr val="tx1"/>
              </a:solidFill>
              <a:round/>
              <a:headEnd/>
              <a:tailEnd type="none" w="lg" len="lg"/>
            </a:ln>
          </p:spPr>
          <p:txBody>
            <a:bodyPr/>
            <a:lstStyle/>
            <a:p>
              <a:endParaRPr lang="nl-NL"/>
            </a:p>
          </p:txBody>
        </p:sp>
        <p:sp>
          <p:nvSpPr>
            <p:cNvPr id="31766" name="Line 23"/>
            <p:cNvSpPr>
              <a:spLocks noChangeShapeType="1"/>
            </p:cNvSpPr>
            <p:nvPr/>
          </p:nvSpPr>
          <p:spPr bwMode="auto">
            <a:xfrm>
              <a:off x="8820150" y="2557463"/>
              <a:ext cx="0" cy="3200400"/>
            </a:xfrm>
            <a:prstGeom prst="line">
              <a:avLst/>
            </a:prstGeom>
            <a:noFill/>
            <a:ln w="9525">
              <a:solidFill>
                <a:schemeClr val="tx1"/>
              </a:solidFill>
              <a:round/>
              <a:headEnd/>
              <a:tailEnd type="none" w="lg" len="lg"/>
            </a:ln>
          </p:spPr>
          <p:txBody>
            <a:bodyPr/>
            <a:lstStyle/>
            <a:p>
              <a:endParaRPr lang="nl-NL"/>
            </a:p>
          </p:txBody>
        </p:sp>
        <p:sp>
          <p:nvSpPr>
            <p:cNvPr id="2" name="TextBox 1"/>
            <p:cNvSpPr txBox="1"/>
            <p:nvPr/>
          </p:nvSpPr>
          <p:spPr>
            <a:xfrm>
              <a:off x="71251" y="2688808"/>
              <a:ext cx="643125" cy="338554"/>
            </a:xfrm>
            <a:prstGeom prst="rect">
              <a:avLst/>
            </a:prstGeom>
            <a:noFill/>
          </p:spPr>
          <p:txBody>
            <a:bodyPr wrap="none" rtlCol="0">
              <a:spAutoFit/>
            </a:bodyPr>
            <a:lstStyle/>
            <a:p>
              <a:r>
                <a:rPr lang="en-US" sz="1600" dirty="0"/>
                <a:t>MEW</a:t>
              </a:r>
            </a:p>
          </p:txBody>
        </p:sp>
        <p:sp>
          <p:nvSpPr>
            <p:cNvPr id="57" name="TextBox 56"/>
            <p:cNvSpPr txBox="1"/>
            <p:nvPr/>
          </p:nvSpPr>
          <p:spPr>
            <a:xfrm>
              <a:off x="58738" y="3019425"/>
              <a:ext cx="643125" cy="338554"/>
            </a:xfrm>
            <a:prstGeom prst="rect">
              <a:avLst/>
            </a:prstGeom>
            <a:noFill/>
          </p:spPr>
          <p:txBody>
            <a:bodyPr wrap="none" rtlCol="0">
              <a:spAutoFit/>
            </a:bodyPr>
            <a:lstStyle/>
            <a:p>
              <a:r>
                <a:rPr lang="en-US" sz="1600" dirty="0"/>
                <a:t>DEW</a:t>
              </a:r>
            </a:p>
          </p:txBody>
        </p:sp>
        <p:sp>
          <p:nvSpPr>
            <p:cNvPr id="58" name="TextBox 57"/>
            <p:cNvSpPr txBox="1"/>
            <p:nvPr/>
          </p:nvSpPr>
          <p:spPr>
            <a:xfrm>
              <a:off x="71251" y="3329404"/>
              <a:ext cx="604653" cy="338554"/>
            </a:xfrm>
            <a:prstGeom prst="rect">
              <a:avLst/>
            </a:prstGeom>
            <a:noFill/>
          </p:spPr>
          <p:txBody>
            <a:bodyPr wrap="none" rtlCol="0">
              <a:spAutoFit/>
            </a:bodyPr>
            <a:lstStyle/>
            <a:p>
              <a:r>
                <a:rPr lang="en-US" sz="1600" dirty="0"/>
                <a:t>BEW</a:t>
              </a:r>
            </a:p>
          </p:txBody>
        </p:sp>
        <p:sp>
          <p:nvSpPr>
            <p:cNvPr id="59" name="TextBox 58"/>
            <p:cNvSpPr txBox="1"/>
            <p:nvPr/>
          </p:nvSpPr>
          <p:spPr>
            <a:xfrm>
              <a:off x="71251" y="3629025"/>
              <a:ext cx="630301" cy="338554"/>
            </a:xfrm>
            <a:prstGeom prst="rect">
              <a:avLst/>
            </a:prstGeom>
            <a:noFill/>
          </p:spPr>
          <p:txBody>
            <a:bodyPr wrap="none" rtlCol="0">
              <a:spAutoFit/>
            </a:bodyPr>
            <a:lstStyle/>
            <a:p>
              <a:r>
                <a:rPr lang="en-US" sz="1600" dirty="0"/>
                <a:t>OEW</a:t>
              </a:r>
            </a:p>
          </p:txBody>
        </p:sp>
        <p:sp>
          <p:nvSpPr>
            <p:cNvPr id="60" name="TextBox 59"/>
            <p:cNvSpPr txBox="1"/>
            <p:nvPr/>
          </p:nvSpPr>
          <p:spPr>
            <a:xfrm>
              <a:off x="71251" y="3900071"/>
              <a:ext cx="591829" cy="338554"/>
            </a:xfrm>
            <a:prstGeom prst="rect">
              <a:avLst/>
            </a:prstGeom>
            <a:noFill/>
          </p:spPr>
          <p:txBody>
            <a:bodyPr wrap="none" rtlCol="0">
              <a:spAutoFit/>
            </a:bodyPr>
            <a:lstStyle/>
            <a:p>
              <a:r>
                <a:rPr lang="en-US" sz="1600" dirty="0"/>
                <a:t>ZFW</a:t>
              </a:r>
            </a:p>
          </p:txBody>
        </p:sp>
        <p:sp>
          <p:nvSpPr>
            <p:cNvPr id="61" name="TextBox 60"/>
            <p:cNvSpPr txBox="1"/>
            <p:nvPr/>
          </p:nvSpPr>
          <p:spPr>
            <a:xfrm>
              <a:off x="58738" y="4221748"/>
              <a:ext cx="630429" cy="338554"/>
            </a:xfrm>
            <a:prstGeom prst="rect">
              <a:avLst/>
            </a:prstGeom>
            <a:noFill/>
          </p:spPr>
          <p:txBody>
            <a:bodyPr wrap="none" rtlCol="0">
              <a:spAutoFit/>
            </a:bodyPr>
            <a:lstStyle/>
            <a:p>
              <a:r>
                <a:rPr lang="en-US" sz="1600" dirty="0"/>
                <a:t>TOW</a:t>
              </a:r>
            </a:p>
          </p:txBody>
        </p:sp>
        <p:sp>
          <p:nvSpPr>
            <p:cNvPr id="62" name="TextBox 61"/>
            <p:cNvSpPr txBox="1"/>
            <p:nvPr/>
          </p:nvSpPr>
          <p:spPr>
            <a:xfrm>
              <a:off x="83947" y="4543425"/>
              <a:ext cx="495649" cy="338554"/>
            </a:xfrm>
            <a:prstGeom prst="rect">
              <a:avLst/>
            </a:prstGeom>
            <a:noFill/>
          </p:spPr>
          <p:txBody>
            <a:bodyPr wrap="none" rtlCol="0">
              <a:spAutoFit/>
            </a:bodyPr>
            <a:lstStyle/>
            <a:p>
              <a:r>
                <a:rPr lang="en-US" sz="1600" dirty="0"/>
                <a:t>RW</a:t>
              </a:r>
            </a:p>
          </p:txBody>
        </p:sp>
        <p:sp>
          <p:nvSpPr>
            <p:cNvPr id="63" name="TextBox 62"/>
            <p:cNvSpPr txBox="1"/>
            <p:nvPr/>
          </p:nvSpPr>
          <p:spPr>
            <a:xfrm>
              <a:off x="83947" y="4848225"/>
              <a:ext cx="462178" cy="338554"/>
            </a:xfrm>
            <a:prstGeom prst="rect">
              <a:avLst/>
            </a:prstGeom>
            <a:noFill/>
          </p:spPr>
          <p:txBody>
            <a:bodyPr wrap="none" rtlCol="0">
              <a:spAutoFit/>
            </a:bodyPr>
            <a:lstStyle/>
            <a:p>
              <a:r>
                <a:rPr lang="en-US" sz="1600" dirty="0"/>
                <a:t>LW</a:t>
              </a:r>
            </a:p>
          </p:txBody>
        </p:sp>
        <p:sp>
          <p:nvSpPr>
            <p:cNvPr id="64" name="TextBox 63"/>
            <p:cNvSpPr txBox="1"/>
            <p:nvPr/>
          </p:nvSpPr>
          <p:spPr>
            <a:xfrm>
              <a:off x="83947" y="5153025"/>
              <a:ext cx="505267" cy="338554"/>
            </a:xfrm>
            <a:prstGeom prst="rect">
              <a:avLst/>
            </a:prstGeom>
            <a:noFill/>
          </p:spPr>
          <p:txBody>
            <a:bodyPr wrap="none" rtlCol="0">
              <a:spAutoFit/>
            </a:bodyPr>
            <a:lstStyle/>
            <a:p>
              <a:r>
                <a:rPr lang="en-US" sz="1600" dirty="0"/>
                <a:t>GW</a:t>
              </a:r>
            </a:p>
          </p:txBody>
        </p:sp>
        <p:sp>
          <p:nvSpPr>
            <p:cNvPr id="65" name="TextBox 64"/>
            <p:cNvSpPr txBox="1"/>
            <p:nvPr/>
          </p:nvSpPr>
          <p:spPr>
            <a:xfrm>
              <a:off x="-43053" y="5480864"/>
              <a:ext cx="803425" cy="276999"/>
            </a:xfrm>
            <a:prstGeom prst="rect">
              <a:avLst/>
            </a:prstGeom>
            <a:noFill/>
          </p:spPr>
          <p:txBody>
            <a:bodyPr wrap="none" rtlCol="0">
              <a:spAutoFit/>
            </a:bodyPr>
            <a:lstStyle/>
            <a:p>
              <a:r>
                <a:rPr lang="en-US" sz="1200" dirty="0"/>
                <a:t>OW/ZPW</a:t>
              </a:r>
            </a:p>
          </p:txBody>
        </p:sp>
      </p:grpSp>
    </p:spTree>
    <p:extLst>
      <p:ext uri="{BB962C8B-B14F-4D97-AF65-F5344CB8AC3E}">
        <p14:creationId xmlns:p14="http://schemas.microsoft.com/office/powerpoint/2010/main" val="4052463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2052638" y="2203450"/>
            <a:ext cx="8153400" cy="457200"/>
          </a:xfrm>
          <a:prstGeom prst="rect">
            <a:avLst/>
          </a:prstGeom>
          <a:noFill/>
          <a:ln w="9525">
            <a:noFill/>
            <a:miter lim="800000"/>
            <a:headEnd/>
            <a:tailEnd/>
          </a:ln>
        </p:spPr>
        <p:txBody>
          <a:bodyPr>
            <a:spAutoFit/>
          </a:bodyPr>
          <a:lstStyle/>
          <a:p>
            <a:pPr marL="457200" indent="-457200"/>
            <a:endParaRPr lang="en-GB" sz="2400"/>
          </a:p>
        </p:txBody>
      </p:sp>
      <p:sp>
        <p:nvSpPr>
          <p:cNvPr id="32771" name="Rectangle 3"/>
          <p:cNvSpPr>
            <a:spLocks noChangeArrowheads="1"/>
          </p:cNvSpPr>
          <p:nvPr/>
        </p:nvSpPr>
        <p:spPr bwMode="auto">
          <a:xfrm>
            <a:off x="2281238" y="2686053"/>
            <a:ext cx="2609850" cy="333375"/>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Manufact. empty weight</a:t>
            </a:r>
          </a:p>
        </p:txBody>
      </p:sp>
      <p:sp>
        <p:nvSpPr>
          <p:cNvPr id="32772" name="Rectangle 4"/>
          <p:cNvSpPr>
            <a:spLocks noChangeArrowheads="1"/>
          </p:cNvSpPr>
          <p:nvPr/>
        </p:nvSpPr>
        <p:spPr bwMode="auto">
          <a:xfrm>
            <a:off x="2281241" y="3019425"/>
            <a:ext cx="3133725"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(Delivery) empty weight</a:t>
            </a:r>
          </a:p>
        </p:txBody>
      </p:sp>
      <p:sp>
        <p:nvSpPr>
          <p:cNvPr id="32773" name="Rectangle 5"/>
          <p:cNvSpPr>
            <a:spLocks noChangeArrowheads="1"/>
          </p:cNvSpPr>
          <p:nvPr/>
        </p:nvSpPr>
        <p:spPr bwMode="auto">
          <a:xfrm>
            <a:off x="2281238" y="3324225"/>
            <a:ext cx="3897312"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Basic (empty) weight</a:t>
            </a:r>
          </a:p>
        </p:txBody>
      </p:sp>
      <p:sp>
        <p:nvSpPr>
          <p:cNvPr id="32774" name="Rectangle 6"/>
          <p:cNvSpPr>
            <a:spLocks noChangeArrowheads="1"/>
          </p:cNvSpPr>
          <p:nvPr/>
        </p:nvSpPr>
        <p:spPr bwMode="auto">
          <a:xfrm>
            <a:off x="2281238" y="3629025"/>
            <a:ext cx="4133850"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Operational empty weight</a:t>
            </a:r>
          </a:p>
        </p:txBody>
      </p:sp>
      <p:sp>
        <p:nvSpPr>
          <p:cNvPr id="32775" name="Rectangle 7"/>
          <p:cNvSpPr>
            <a:spLocks noChangeArrowheads="1"/>
          </p:cNvSpPr>
          <p:nvPr/>
        </p:nvSpPr>
        <p:spPr bwMode="auto">
          <a:xfrm>
            <a:off x="2281238" y="3933825"/>
            <a:ext cx="4953000"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Zero fuel weight</a:t>
            </a:r>
          </a:p>
        </p:txBody>
      </p:sp>
      <p:sp>
        <p:nvSpPr>
          <p:cNvPr id="32776" name="Rectangle 8"/>
          <p:cNvSpPr>
            <a:spLocks noChangeArrowheads="1"/>
          </p:cNvSpPr>
          <p:nvPr/>
        </p:nvSpPr>
        <p:spPr bwMode="auto">
          <a:xfrm>
            <a:off x="2281238" y="4238625"/>
            <a:ext cx="7543800"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Take-off weight</a:t>
            </a:r>
          </a:p>
        </p:txBody>
      </p:sp>
      <p:sp>
        <p:nvSpPr>
          <p:cNvPr id="32777" name="Rectangle 9"/>
          <p:cNvSpPr>
            <a:spLocks noChangeArrowheads="1"/>
          </p:cNvSpPr>
          <p:nvPr/>
        </p:nvSpPr>
        <p:spPr bwMode="auto">
          <a:xfrm>
            <a:off x="2281241" y="4543425"/>
            <a:ext cx="8067675"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Ramp weight</a:t>
            </a:r>
          </a:p>
        </p:txBody>
      </p:sp>
      <p:sp>
        <p:nvSpPr>
          <p:cNvPr id="32778" name="Rectangle 10"/>
          <p:cNvSpPr>
            <a:spLocks noChangeArrowheads="1"/>
          </p:cNvSpPr>
          <p:nvPr/>
        </p:nvSpPr>
        <p:spPr bwMode="auto">
          <a:xfrm>
            <a:off x="2281241" y="4848225"/>
            <a:ext cx="6048375"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dirty="0"/>
              <a:t>Landing weight</a:t>
            </a:r>
          </a:p>
        </p:txBody>
      </p:sp>
      <p:sp>
        <p:nvSpPr>
          <p:cNvPr id="32779" name="Rectangle 11"/>
          <p:cNvSpPr>
            <a:spLocks noChangeArrowheads="1"/>
          </p:cNvSpPr>
          <p:nvPr/>
        </p:nvSpPr>
        <p:spPr bwMode="auto">
          <a:xfrm>
            <a:off x="2281238" y="5153025"/>
            <a:ext cx="5257800"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Gross weight</a:t>
            </a:r>
          </a:p>
        </p:txBody>
      </p:sp>
      <p:sp>
        <p:nvSpPr>
          <p:cNvPr id="32780" name="Rectangle 12"/>
          <p:cNvSpPr>
            <a:spLocks noChangeArrowheads="1"/>
          </p:cNvSpPr>
          <p:nvPr/>
        </p:nvSpPr>
        <p:spPr bwMode="auto">
          <a:xfrm>
            <a:off x="2281238" y="5457825"/>
            <a:ext cx="5638800"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Operating weight</a:t>
            </a:r>
          </a:p>
        </p:txBody>
      </p:sp>
      <p:sp>
        <p:nvSpPr>
          <p:cNvPr id="32781" name="Rectangle 13"/>
          <p:cNvSpPr>
            <a:spLocks noChangeArrowheads="1"/>
          </p:cNvSpPr>
          <p:nvPr/>
        </p:nvSpPr>
        <p:spPr bwMode="auto">
          <a:xfrm>
            <a:off x="6188078" y="3324225"/>
            <a:ext cx="3636963" cy="304800"/>
          </a:xfrm>
          <a:prstGeom prst="rect">
            <a:avLst/>
          </a:prstGeom>
          <a:solidFill>
            <a:srgbClr val="FFFF00"/>
          </a:solidFill>
          <a:ln w="9525">
            <a:solidFill>
              <a:schemeClr val="tx1"/>
            </a:solidFill>
            <a:miter lim="800000"/>
            <a:headEnd/>
            <a:tailEnd type="none" w="lg" len="lg"/>
          </a:ln>
        </p:spPr>
        <p:txBody>
          <a:bodyPr wrap="none" anchor="ctr"/>
          <a:lstStyle/>
          <a:p>
            <a:pPr algn="r" eaLnBrk="0" hangingPunct="0">
              <a:spcBef>
                <a:spcPct val="0"/>
              </a:spcBef>
              <a:buClrTx/>
            </a:pPr>
            <a:r>
              <a:rPr lang="en-US"/>
              <a:t>Disposable load </a:t>
            </a:r>
          </a:p>
        </p:txBody>
      </p:sp>
      <p:sp>
        <p:nvSpPr>
          <p:cNvPr id="32782" name="Rectangle 14"/>
          <p:cNvSpPr>
            <a:spLocks noChangeArrowheads="1"/>
          </p:cNvSpPr>
          <p:nvPr/>
        </p:nvSpPr>
        <p:spPr bwMode="auto">
          <a:xfrm>
            <a:off x="6416678" y="3629025"/>
            <a:ext cx="3408363" cy="304800"/>
          </a:xfrm>
          <a:prstGeom prst="rect">
            <a:avLst/>
          </a:prstGeom>
          <a:solidFill>
            <a:srgbClr val="FFFF00"/>
          </a:solidFill>
          <a:ln w="9525">
            <a:solidFill>
              <a:schemeClr val="tx1"/>
            </a:solidFill>
            <a:miter lim="800000"/>
            <a:headEnd/>
            <a:tailEnd type="none" w="lg" len="lg"/>
          </a:ln>
        </p:spPr>
        <p:txBody>
          <a:bodyPr wrap="none" anchor="ctr"/>
          <a:lstStyle/>
          <a:p>
            <a:pPr algn="r" eaLnBrk="0" hangingPunct="0">
              <a:spcBef>
                <a:spcPct val="0"/>
              </a:spcBef>
              <a:buClrTx/>
            </a:pPr>
            <a:r>
              <a:rPr lang="en-US"/>
              <a:t>Useful load </a:t>
            </a:r>
          </a:p>
        </p:txBody>
      </p:sp>
      <p:sp>
        <p:nvSpPr>
          <p:cNvPr id="32783" name="Rectangle 15"/>
          <p:cNvSpPr>
            <a:spLocks noChangeArrowheads="1"/>
          </p:cNvSpPr>
          <p:nvPr/>
        </p:nvSpPr>
        <p:spPr bwMode="auto">
          <a:xfrm>
            <a:off x="7227888" y="3933825"/>
            <a:ext cx="2597150" cy="304800"/>
          </a:xfrm>
          <a:prstGeom prst="rect">
            <a:avLst/>
          </a:prstGeom>
          <a:solidFill>
            <a:srgbClr val="FFFF00"/>
          </a:solidFill>
          <a:ln w="9525">
            <a:solidFill>
              <a:schemeClr val="tx1"/>
            </a:solidFill>
            <a:miter lim="800000"/>
            <a:headEnd/>
            <a:tailEnd type="none" w="lg" len="lg"/>
          </a:ln>
        </p:spPr>
        <p:txBody>
          <a:bodyPr wrap="none" anchor="ctr"/>
          <a:lstStyle/>
          <a:p>
            <a:pPr algn="r" eaLnBrk="0" hangingPunct="0">
              <a:spcBef>
                <a:spcPct val="0"/>
              </a:spcBef>
              <a:buClrTx/>
            </a:pPr>
            <a:r>
              <a:rPr lang="en-US"/>
              <a:t>Fuel at take-off </a:t>
            </a:r>
          </a:p>
        </p:txBody>
      </p:sp>
      <p:sp>
        <p:nvSpPr>
          <p:cNvPr id="32784" name="Rectangle 16"/>
          <p:cNvSpPr>
            <a:spLocks noChangeArrowheads="1"/>
          </p:cNvSpPr>
          <p:nvPr/>
        </p:nvSpPr>
        <p:spPr bwMode="auto">
          <a:xfrm>
            <a:off x="7539041" y="5153025"/>
            <a:ext cx="2809875" cy="304800"/>
          </a:xfrm>
          <a:prstGeom prst="rect">
            <a:avLst/>
          </a:prstGeom>
          <a:solidFill>
            <a:srgbClr val="FFFF00"/>
          </a:solidFill>
          <a:ln w="9525">
            <a:solidFill>
              <a:schemeClr val="tx1"/>
            </a:solidFill>
            <a:miter lim="800000"/>
            <a:headEnd/>
            <a:tailEnd type="none" w="lg" len="lg"/>
          </a:ln>
        </p:spPr>
        <p:txBody>
          <a:bodyPr wrap="none" anchor="ctr"/>
          <a:lstStyle/>
          <a:p>
            <a:pPr algn="r" eaLnBrk="0" hangingPunct="0">
              <a:spcBef>
                <a:spcPct val="0"/>
              </a:spcBef>
              <a:buClrTx/>
            </a:pPr>
            <a:r>
              <a:rPr lang="en-US"/>
              <a:t>Burnoff fuel        </a:t>
            </a:r>
          </a:p>
        </p:txBody>
      </p:sp>
      <p:sp>
        <p:nvSpPr>
          <p:cNvPr id="32785" name="Line 17"/>
          <p:cNvSpPr>
            <a:spLocks noChangeShapeType="1"/>
          </p:cNvSpPr>
          <p:nvPr/>
        </p:nvSpPr>
        <p:spPr bwMode="auto">
          <a:xfrm>
            <a:off x="7081838" y="5305425"/>
            <a:ext cx="838200" cy="0"/>
          </a:xfrm>
          <a:prstGeom prst="line">
            <a:avLst/>
          </a:prstGeom>
          <a:noFill/>
          <a:ln w="9525">
            <a:solidFill>
              <a:schemeClr val="tx1"/>
            </a:solidFill>
            <a:round/>
            <a:headEnd type="triangle" w="med" len="med"/>
            <a:tailEnd type="triangle" w="med" len="med"/>
          </a:ln>
        </p:spPr>
        <p:txBody>
          <a:bodyPr/>
          <a:lstStyle/>
          <a:p>
            <a:endParaRPr lang="nl-NL"/>
          </a:p>
        </p:txBody>
      </p:sp>
      <p:sp>
        <p:nvSpPr>
          <p:cNvPr id="32786" name="Rectangle 18"/>
          <p:cNvSpPr>
            <a:spLocks noChangeArrowheads="1"/>
          </p:cNvSpPr>
          <p:nvPr/>
        </p:nvSpPr>
        <p:spPr bwMode="auto">
          <a:xfrm>
            <a:off x="7920041" y="5457825"/>
            <a:ext cx="2428875" cy="304800"/>
          </a:xfrm>
          <a:prstGeom prst="rect">
            <a:avLst/>
          </a:prstGeom>
          <a:solidFill>
            <a:srgbClr val="FFFF00"/>
          </a:solidFill>
          <a:ln w="9525">
            <a:solidFill>
              <a:schemeClr val="tx1"/>
            </a:solidFill>
            <a:miter lim="800000"/>
            <a:headEnd/>
            <a:tailEnd type="none" w="lg" len="lg"/>
          </a:ln>
        </p:spPr>
        <p:txBody>
          <a:bodyPr wrap="none" anchor="ctr"/>
          <a:lstStyle/>
          <a:p>
            <a:pPr algn="r" eaLnBrk="0" hangingPunct="0">
              <a:spcBef>
                <a:spcPct val="0"/>
              </a:spcBef>
              <a:buClrTx/>
            </a:pPr>
            <a:r>
              <a:rPr lang="en-US"/>
              <a:t>Payload        </a:t>
            </a:r>
          </a:p>
        </p:txBody>
      </p:sp>
      <p:sp>
        <p:nvSpPr>
          <p:cNvPr id="32787" name="Line 19"/>
          <p:cNvSpPr>
            <a:spLocks noChangeShapeType="1"/>
          </p:cNvSpPr>
          <p:nvPr/>
        </p:nvSpPr>
        <p:spPr bwMode="auto">
          <a:xfrm>
            <a:off x="9825038" y="2562225"/>
            <a:ext cx="0" cy="3200400"/>
          </a:xfrm>
          <a:prstGeom prst="line">
            <a:avLst/>
          </a:prstGeom>
          <a:noFill/>
          <a:ln w="9525">
            <a:solidFill>
              <a:schemeClr val="tx1"/>
            </a:solidFill>
            <a:round/>
            <a:headEnd/>
            <a:tailEnd type="none" w="lg" len="lg"/>
          </a:ln>
        </p:spPr>
        <p:txBody>
          <a:bodyPr/>
          <a:lstStyle/>
          <a:p>
            <a:endParaRPr lang="nl-NL"/>
          </a:p>
        </p:txBody>
      </p:sp>
      <p:sp>
        <p:nvSpPr>
          <p:cNvPr id="32788" name="Line 20"/>
          <p:cNvSpPr>
            <a:spLocks noChangeShapeType="1"/>
          </p:cNvSpPr>
          <p:nvPr/>
        </p:nvSpPr>
        <p:spPr bwMode="auto">
          <a:xfrm>
            <a:off x="2281238" y="2562225"/>
            <a:ext cx="0" cy="3200400"/>
          </a:xfrm>
          <a:prstGeom prst="line">
            <a:avLst/>
          </a:prstGeom>
          <a:noFill/>
          <a:ln w="9525">
            <a:solidFill>
              <a:schemeClr val="tx1"/>
            </a:solidFill>
            <a:round/>
            <a:headEnd/>
            <a:tailEnd type="none" w="lg" len="lg"/>
          </a:ln>
        </p:spPr>
        <p:txBody>
          <a:bodyPr/>
          <a:lstStyle/>
          <a:p>
            <a:endParaRPr lang="nl-NL"/>
          </a:p>
        </p:txBody>
      </p:sp>
      <p:sp>
        <p:nvSpPr>
          <p:cNvPr id="32789" name="Rectangle 21"/>
          <p:cNvSpPr>
            <a:spLocks noChangeArrowheads="1"/>
          </p:cNvSpPr>
          <p:nvPr/>
        </p:nvSpPr>
        <p:spPr bwMode="auto">
          <a:xfrm>
            <a:off x="2289178" y="877891"/>
            <a:ext cx="8061325" cy="1665287"/>
          </a:xfrm>
          <a:prstGeom prst="rect">
            <a:avLst/>
          </a:prstGeom>
          <a:noFill/>
          <a:ln w="9525">
            <a:solidFill>
              <a:schemeClr val="tx1"/>
            </a:solidFill>
            <a:miter lim="800000"/>
            <a:headEnd/>
            <a:tailEnd type="none" w="lg" len="lg"/>
          </a:ln>
        </p:spPr>
        <p:txBody>
          <a:bodyPr wrap="none" anchor="ctr"/>
          <a:lstStyle/>
          <a:p>
            <a:endParaRPr lang="nl-NL"/>
          </a:p>
        </p:txBody>
      </p:sp>
      <p:sp>
        <p:nvSpPr>
          <p:cNvPr id="32790" name="Line 22"/>
          <p:cNvSpPr>
            <a:spLocks noChangeShapeType="1"/>
          </p:cNvSpPr>
          <p:nvPr/>
        </p:nvSpPr>
        <p:spPr bwMode="auto">
          <a:xfrm>
            <a:off x="10344150" y="2557463"/>
            <a:ext cx="0" cy="3200400"/>
          </a:xfrm>
          <a:prstGeom prst="line">
            <a:avLst/>
          </a:prstGeom>
          <a:noFill/>
          <a:ln w="9525">
            <a:solidFill>
              <a:schemeClr val="tx1"/>
            </a:solidFill>
            <a:round/>
            <a:headEnd/>
            <a:tailEnd type="none" w="lg" len="lg"/>
          </a:ln>
        </p:spPr>
        <p:txBody>
          <a:bodyPr/>
          <a:lstStyle/>
          <a:p>
            <a:endParaRPr lang="nl-NL"/>
          </a:p>
        </p:txBody>
      </p:sp>
      <p:sp>
        <p:nvSpPr>
          <p:cNvPr id="32791" name="Text Box 23"/>
          <p:cNvSpPr txBox="1">
            <a:spLocks noChangeArrowheads="1"/>
          </p:cNvSpPr>
          <p:nvPr/>
        </p:nvSpPr>
        <p:spPr bwMode="auto">
          <a:xfrm rot="-5400000">
            <a:off x="2083597" y="1753397"/>
            <a:ext cx="982663"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a:t>
            </a:r>
          </a:p>
          <a:p>
            <a:pPr eaLnBrk="0" hangingPunct="0">
              <a:spcBef>
                <a:spcPct val="0"/>
              </a:spcBef>
              <a:buClrTx/>
            </a:pPr>
            <a:r>
              <a:rPr lang="en-US" sz="1600"/>
              <a:t>structure</a:t>
            </a:r>
          </a:p>
        </p:txBody>
      </p:sp>
      <p:sp>
        <p:nvSpPr>
          <p:cNvPr id="32792" name="Line 24"/>
          <p:cNvSpPr>
            <a:spLocks noChangeShapeType="1"/>
          </p:cNvSpPr>
          <p:nvPr/>
        </p:nvSpPr>
        <p:spPr bwMode="auto">
          <a:xfrm>
            <a:off x="3025775" y="889003"/>
            <a:ext cx="0" cy="1649413"/>
          </a:xfrm>
          <a:prstGeom prst="line">
            <a:avLst/>
          </a:prstGeom>
          <a:noFill/>
          <a:ln w="9525">
            <a:solidFill>
              <a:schemeClr val="tx1"/>
            </a:solidFill>
            <a:round/>
            <a:headEnd/>
            <a:tailEnd type="none" w="lg" len="lg"/>
          </a:ln>
        </p:spPr>
        <p:txBody>
          <a:bodyPr/>
          <a:lstStyle/>
          <a:p>
            <a:endParaRPr lang="nl-NL"/>
          </a:p>
        </p:txBody>
      </p:sp>
      <p:sp>
        <p:nvSpPr>
          <p:cNvPr id="32793" name="Rectangle 25"/>
          <p:cNvSpPr>
            <a:spLocks noChangeArrowheads="1"/>
          </p:cNvSpPr>
          <p:nvPr/>
        </p:nvSpPr>
        <p:spPr bwMode="auto">
          <a:xfrm>
            <a:off x="3683000" y="1389063"/>
            <a:ext cx="2497138" cy="1154112"/>
          </a:xfrm>
          <a:prstGeom prst="rect">
            <a:avLst/>
          </a:prstGeom>
          <a:noFill/>
          <a:ln w="9525">
            <a:solidFill>
              <a:schemeClr val="tx1"/>
            </a:solidFill>
            <a:miter lim="800000"/>
            <a:headEnd/>
            <a:tailEnd type="none" w="lg" len="lg"/>
          </a:ln>
        </p:spPr>
        <p:txBody>
          <a:bodyPr wrap="none" anchor="ctr"/>
          <a:lstStyle/>
          <a:p>
            <a:endParaRPr lang="nl-NL"/>
          </a:p>
        </p:txBody>
      </p:sp>
      <p:sp>
        <p:nvSpPr>
          <p:cNvPr id="32794" name="Text Box 26"/>
          <p:cNvSpPr txBox="1">
            <a:spLocks noChangeArrowheads="1"/>
          </p:cNvSpPr>
          <p:nvPr/>
        </p:nvSpPr>
        <p:spPr bwMode="auto">
          <a:xfrm>
            <a:off x="3663950" y="835028"/>
            <a:ext cx="17668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 services </a:t>
            </a:r>
          </a:p>
          <a:p>
            <a:pPr eaLnBrk="0" hangingPunct="0">
              <a:spcBef>
                <a:spcPct val="0"/>
              </a:spcBef>
              <a:buClrTx/>
            </a:pPr>
            <a:r>
              <a:rPr lang="en-US" sz="1600"/>
              <a:t>and equipment</a:t>
            </a:r>
          </a:p>
        </p:txBody>
      </p:sp>
      <p:sp>
        <p:nvSpPr>
          <p:cNvPr id="32795" name="Line 27"/>
          <p:cNvSpPr>
            <a:spLocks noChangeShapeType="1"/>
          </p:cNvSpPr>
          <p:nvPr/>
        </p:nvSpPr>
        <p:spPr bwMode="auto">
          <a:xfrm flipV="1">
            <a:off x="4899025" y="1382716"/>
            <a:ext cx="0" cy="1152525"/>
          </a:xfrm>
          <a:prstGeom prst="line">
            <a:avLst/>
          </a:prstGeom>
          <a:noFill/>
          <a:ln w="9525">
            <a:solidFill>
              <a:schemeClr val="tx1"/>
            </a:solidFill>
            <a:round/>
            <a:headEnd/>
            <a:tailEnd type="none" w="lg" len="lg"/>
          </a:ln>
        </p:spPr>
        <p:txBody>
          <a:bodyPr/>
          <a:lstStyle/>
          <a:p>
            <a:endParaRPr lang="nl-NL"/>
          </a:p>
        </p:txBody>
      </p:sp>
      <p:sp>
        <p:nvSpPr>
          <p:cNvPr id="32796" name="Text Box 28"/>
          <p:cNvSpPr txBox="1">
            <a:spLocks noChangeArrowheads="1"/>
          </p:cNvSpPr>
          <p:nvPr/>
        </p:nvSpPr>
        <p:spPr bwMode="auto">
          <a:xfrm rot="-5400000">
            <a:off x="2750344" y="1688309"/>
            <a:ext cx="111283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propulsion</a:t>
            </a:r>
          </a:p>
          <a:p>
            <a:pPr eaLnBrk="0" hangingPunct="0">
              <a:spcBef>
                <a:spcPct val="0"/>
              </a:spcBef>
              <a:buClrTx/>
            </a:pPr>
            <a:r>
              <a:rPr lang="en-US" sz="1600"/>
              <a:t>group</a:t>
            </a:r>
          </a:p>
        </p:txBody>
      </p:sp>
      <p:sp>
        <p:nvSpPr>
          <p:cNvPr id="32797" name="Line 29"/>
          <p:cNvSpPr>
            <a:spLocks noChangeShapeType="1"/>
          </p:cNvSpPr>
          <p:nvPr/>
        </p:nvSpPr>
        <p:spPr bwMode="auto">
          <a:xfrm>
            <a:off x="4897438" y="1611313"/>
            <a:ext cx="1274762" cy="0"/>
          </a:xfrm>
          <a:prstGeom prst="line">
            <a:avLst/>
          </a:prstGeom>
          <a:noFill/>
          <a:ln w="9525">
            <a:solidFill>
              <a:schemeClr val="tx1"/>
            </a:solidFill>
            <a:round/>
            <a:headEnd/>
            <a:tailEnd type="none" w="lg" len="lg"/>
          </a:ln>
        </p:spPr>
        <p:txBody>
          <a:bodyPr/>
          <a:lstStyle/>
          <a:p>
            <a:endParaRPr lang="nl-NL"/>
          </a:p>
        </p:txBody>
      </p:sp>
      <p:sp>
        <p:nvSpPr>
          <p:cNvPr id="32798" name="Text Box 30"/>
          <p:cNvSpPr txBox="1">
            <a:spLocks noChangeArrowheads="1"/>
          </p:cNvSpPr>
          <p:nvPr/>
        </p:nvSpPr>
        <p:spPr bwMode="auto">
          <a:xfrm>
            <a:off x="4943475" y="1296988"/>
            <a:ext cx="1119188"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removable</a:t>
            </a:r>
          </a:p>
        </p:txBody>
      </p:sp>
      <p:sp>
        <p:nvSpPr>
          <p:cNvPr id="32799" name="Text Box 31"/>
          <p:cNvSpPr txBox="1">
            <a:spLocks noChangeArrowheads="1"/>
          </p:cNvSpPr>
          <p:nvPr/>
        </p:nvSpPr>
        <p:spPr bwMode="auto">
          <a:xfrm rot="-5400000">
            <a:off x="3617121" y="2043907"/>
            <a:ext cx="614363"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fixed</a:t>
            </a:r>
          </a:p>
        </p:txBody>
      </p:sp>
      <p:sp>
        <p:nvSpPr>
          <p:cNvPr id="32800" name="Text Box 32"/>
          <p:cNvSpPr txBox="1">
            <a:spLocks noChangeArrowheads="1"/>
          </p:cNvSpPr>
          <p:nvPr/>
        </p:nvSpPr>
        <p:spPr bwMode="auto">
          <a:xfrm rot="-5400000">
            <a:off x="4644232" y="1818484"/>
            <a:ext cx="9667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items</a:t>
            </a:r>
          </a:p>
        </p:txBody>
      </p:sp>
      <p:sp>
        <p:nvSpPr>
          <p:cNvPr id="32801" name="Line 33"/>
          <p:cNvSpPr>
            <a:spLocks noChangeShapeType="1"/>
          </p:cNvSpPr>
          <p:nvPr/>
        </p:nvSpPr>
        <p:spPr bwMode="auto">
          <a:xfrm flipV="1">
            <a:off x="5411788" y="1606550"/>
            <a:ext cx="0" cy="928688"/>
          </a:xfrm>
          <a:prstGeom prst="line">
            <a:avLst/>
          </a:prstGeom>
          <a:noFill/>
          <a:ln w="9525">
            <a:solidFill>
              <a:schemeClr val="tx1"/>
            </a:solidFill>
            <a:round/>
            <a:headEnd/>
            <a:tailEnd type="none" w="lg" len="lg"/>
          </a:ln>
        </p:spPr>
        <p:txBody>
          <a:bodyPr/>
          <a:lstStyle/>
          <a:p>
            <a:endParaRPr lang="nl-NL"/>
          </a:p>
        </p:txBody>
      </p:sp>
      <p:sp>
        <p:nvSpPr>
          <p:cNvPr id="32802" name="Text Box 34"/>
          <p:cNvSpPr txBox="1">
            <a:spLocks noChangeArrowheads="1"/>
          </p:cNvSpPr>
          <p:nvPr/>
        </p:nvSpPr>
        <p:spPr bwMode="auto">
          <a:xfrm rot="-5400000">
            <a:off x="5236371" y="1650207"/>
            <a:ext cx="1046163" cy="82550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a:t>
            </a:r>
          </a:p>
          <a:p>
            <a:pPr eaLnBrk="0" hangingPunct="0">
              <a:spcBef>
                <a:spcPct val="0"/>
              </a:spcBef>
              <a:buClrTx/>
            </a:pPr>
            <a:r>
              <a:rPr lang="en-US" sz="1600"/>
              <a:t>variations</a:t>
            </a:r>
          </a:p>
        </p:txBody>
      </p:sp>
      <p:sp>
        <p:nvSpPr>
          <p:cNvPr id="32803" name="Rectangle 35"/>
          <p:cNvSpPr>
            <a:spLocks noChangeArrowheads="1"/>
          </p:cNvSpPr>
          <p:nvPr/>
        </p:nvSpPr>
        <p:spPr bwMode="auto">
          <a:xfrm>
            <a:off x="6180141" y="876303"/>
            <a:ext cx="238125" cy="1660525"/>
          </a:xfrm>
          <a:prstGeom prst="rect">
            <a:avLst/>
          </a:prstGeom>
          <a:noFill/>
          <a:ln w="9525">
            <a:solidFill>
              <a:schemeClr val="tx1"/>
            </a:solidFill>
            <a:miter lim="800000"/>
            <a:headEnd/>
            <a:tailEnd type="none" w="lg" len="lg"/>
          </a:ln>
        </p:spPr>
        <p:txBody>
          <a:bodyPr wrap="none" anchor="ctr"/>
          <a:lstStyle/>
          <a:p>
            <a:endParaRPr lang="nl-NL"/>
          </a:p>
        </p:txBody>
      </p:sp>
      <p:sp>
        <p:nvSpPr>
          <p:cNvPr id="32804" name="Text Box 36"/>
          <p:cNvSpPr txBox="1">
            <a:spLocks noChangeArrowheads="1"/>
          </p:cNvSpPr>
          <p:nvPr/>
        </p:nvSpPr>
        <p:spPr bwMode="auto">
          <a:xfrm rot="-5400000">
            <a:off x="5403853" y="1565276"/>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operational items</a:t>
            </a:r>
          </a:p>
        </p:txBody>
      </p:sp>
      <p:sp>
        <p:nvSpPr>
          <p:cNvPr id="32805" name="Rectangle 37"/>
          <p:cNvSpPr>
            <a:spLocks noChangeArrowheads="1"/>
          </p:cNvSpPr>
          <p:nvPr/>
        </p:nvSpPr>
        <p:spPr bwMode="auto">
          <a:xfrm>
            <a:off x="3683000" y="876300"/>
            <a:ext cx="2497138" cy="514350"/>
          </a:xfrm>
          <a:prstGeom prst="rect">
            <a:avLst/>
          </a:prstGeom>
          <a:noFill/>
          <a:ln w="9525">
            <a:solidFill>
              <a:schemeClr val="tx1"/>
            </a:solidFill>
            <a:miter lim="800000"/>
            <a:headEnd/>
            <a:tailEnd type="none" w="lg" len="lg"/>
          </a:ln>
        </p:spPr>
        <p:txBody>
          <a:bodyPr wrap="none" anchor="ctr"/>
          <a:lstStyle/>
          <a:p>
            <a:endParaRPr lang="nl-NL"/>
          </a:p>
        </p:txBody>
      </p:sp>
      <p:sp>
        <p:nvSpPr>
          <p:cNvPr id="32806" name="Rectangle 38"/>
          <p:cNvSpPr>
            <a:spLocks noChangeArrowheads="1"/>
          </p:cNvSpPr>
          <p:nvPr/>
        </p:nvSpPr>
        <p:spPr bwMode="auto">
          <a:xfrm>
            <a:off x="6418266" y="876303"/>
            <a:ext cx="814387" cy="1666875"/>
          </a:xfrm>
          <a:prstGeom prst="rect">
            <a:avLst/>
          </a:prstGeom>
          <a:noFill/>
          <a:ln w="9525">
            <a:solidFill>
              <a:schemeClr val="tx1"/>
            </a:solidFill>
            <a:miter lim="800000"/>
            <a:headEnd/>
            <a:tailEnd type="none" w="lg" len="lg"/>
          </a:ln>
        </p:spPr>
        <p:txBody>
          <a:bodyPr wrap="none" anchor="ctr"/>
          <a:lstStyle/>
          <a:p>
            <a:endParaRPr lang="nl-NL"/>
          </a:p>
        </p:txBody>
      </p:sp>
      <p:sp>
        <p:nvSpPr>
          <p:cNvPr id="32807" name="Text Box 39"/>
          <p:cNvSpPr txBox="1">
            <a:spLocks noChangeArrowheads="1"/>
          </p:cNvSpPr>
          <p:nvPr/>
        </p:nvSpPr>
        <p:spPr bwMode="auto">
          <a:xfrm rot="-5400000">
            <a:off x="6111084" y="1453357"/>
            <a:ext cx="1484313" cy="457200"/>
          </a:xfrm>
          <a:prstGeom prst="rect">
            <a:avLst/>
          </a:prstGeom>
          <a:solidFill>
            <a:srgbClr val="FFFF00"/>
          </a:solidFill>
          <a:ln w="9525">
            <a:noFill/>
            <a:miter lim="800000"/>
            <a:headEnd/>
            <a:tailEnd type="none" w="lg" len="lg"/>
          </a:ln>
        </p:spPr>
        <p:txBody>
          <a:bodyPr>
            <a:spAutoFit/>
          </a:bodyPr>
          <a:lstStyle/>
          <a:p>
            <a:pPr eaLnBrk="0" hangingPunct="0">
              <a:spcBef>
                <a:spcPct val="0"/>
              </a:spcBef>
              <a:buClrTx/>
            </a:pPr>
            <a:r>
              <a:rPr lang="en-US" sz="2400"/>
              <a:t>payload</a:t>
            </a:r>
          </a:p>
        </p:txBody>
      </p:sp>
      <p:sp>
        <p:nvSpPr>
          <p:cNvPr id="32808" name="Text Box 40"/>
          <p:cNvSpPr txBox="1">
            <a:spLocks noChangeArrowheads="1"/>
          </p:cNvSpPr>
          <p:nvPr/>
        </p:nvSpPr>
        <p:spPr bwMode="auto">
          <a:xfrm>
            <a:off x="8151816" y="830263"/>
            <a:ext cx="1133475"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(total) fuel</a:t>
            </a:r>
          </a:p>
        </p:txBody>
      </p:sp>
      <p:sp>
        <p:nvSpPr>
          <p:cNvPr id="32809" name="Line 41"/>
          <p:cNvSpPr>
            <a:spLocks noChangeShapeType="1"/>
          </p:cNvSpPr>
          <p:nvPr/>
        </p:nvSpPr>
        <p:spPr bwMode="auto">
          <a:xfrm>
            <a:off x="7226303" y="1130300"/>
            <a:ext cx="3122613" cy="0"/>
          </a:xfrm>
          <a:prstGeom prst="line">
            <a:avLst/>
          </a:prstGeom>
          <a:noFill/>
          <a:ln w="9525">
            <a:solidFill>
              <a:schemeClr val="tx1"/>
            </a:solidFill>
            <a:prstDash val="sysDot"/>
            <a:round/>
            <a:headEnd/>
            <a:tailEnd type="none" w="lg" len="lg"/>
          </a:ln>
        </p:spPr>
        <p:txBody>
          <a:bodyPr/>
          <a:lstStyle/>
          <a:p>
            <a:endParaRPr lang="nl-NL"/>
          </a:p>
        </p:txBody>
      </p:sp>
      <p:sp>
        <p:nvSpPr>
          <p:cNvPr id="32810" name="Text Box 42"/>
          <p:cNvSpPr txBox="1">
            <a:spLocks noChangeArrowheads="1"/>
          </p:cNvSpPr>
          <p:nvPr/>
        </p:nvSpPr>
        <p:spPr bwMode="auto">
          <a:xfrm>
            <a:off x="7208841" y="1081088"/>
            <a:ext cx="915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rest fuel</a:t>
            </a:r>
          </a:p>
        </p:txBody>
      </p:sp>
      <p:sp>
        <p:nvSpPr>
          <p:cNvPr id="32811" name="Text Box 43"/>
          <p:cNvSpPr txBox="1">
            <a:spLocks noChangeArrowheads="1"/>
          </p:cNvSpPr>
          <p:nvPr/>
        </p:nvSpPr>
        <p:spPr bwMode="auto">
          <a:xfrm>
            <a:off x="8758241" y="1092200"/>
            <a:ext cx="1042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block fuel</a:t>
            </a:r>
          </a:p>
        </p:txBody>
      </p:sp>
      <p:sp>
        <p:nvSpPr>
          <p:cNvPr id="32812" name="Line 44"/>
          <p:cNvSpPr>
            <a:spLocks noChangeShapeType="1"/>
          </p:cNvSpPr>
          <p:nvPr/>
        </p:nvSpPr>
        <p:spPr bwMode="auto">
          <a:xfrm>
            <a:off x="7237413" y="1390650"/>
            <a:ext cx="3103562" cy="0"/>
          </a:xfrm>
          <a:prstGeom prst="line">
            <a:avLst/>
          </a:prstGeom>
          <a:noFill/>
          <a:ln w="9525">
            <a:solidFill>
              <a:schemeClr val="tx1"/>
            </a:solidFill>
            <a:round/>
            <a:headEnd/>
            <a:tailEnd type="none" w="lg" len="lg"/>
          </a:ln>
        </p:spPr>
        <p:txBody>
          <a:bodyPr/>
          <a:lstStyle/>
          <a:p>
            <a:endParaRPr lang="nl-NL"/>
          </a:p>
        </p:txBody>
      </p:sp>
      <p:sp>
        <p:nvSpPr>
          <p:cNvPr id="32813" name="Line 45"/>
          <p:cNvSpPr>
            <a:spLocks noChangeShapeType="1"/>
          </p:cNvSpPr>
          <p:nvPr/>
        </p:nvSpPr>
        <p:spPr bwMode="auto">
          <a:xfrm flipH="1">
            <a:off x="8478841" y="1130300"/>
            <a:ext cx="9525" cy="266700"/>
          </a:xfrm>
          <a:prstGeom prst="line">
            <a:avLst/>
          </a:prstGeom>
          <a:noFill/>
          <a:ln w="9525">
            <a:solidFill>
              <a:schemeClr val="tx1"/>
            </a:solidFill>
            <a:prstDash val="sysDot"/>
            <a:round/>
            <a:headEnd/>
            <a:tailEnd type="none" w="lg" len="lg"/>
          </a:ln>
        </p:spPr>
        <p:txBody>
          <a:bodyPr/>
          <a:lstStyle/>
          <a:p>
            <a:endParaRPr lang="nl-NL"/>
          </a:p>
        </p:txBody>
      </p:sp>
      <p:sp>
        <p:nvSpPr>
          <p:cNvPr id="32814" name="Text Box 46"/>
          <p:cNvSpPr txBox="1">
            <a:spLocks noChangeArrowheads="1"/>
          </p:cNvSpPr>
          <p:nvPr/>
        </p:nvSpPr>
        <p:spPr bwMode="auto">
          <a:xfrm>
            <a:off x="7189788" y="1325563"/>
            <a:ext cx="1465262"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fuel at landing</a:t>
            </a:r>
          </a:p>
        </p:txBody>
      </p:sp>
      <p:sp>
        <p:nvSpPr>
          <p:cNvPr id="32815" name="Text Box 47"/>
          <p:cNvSpPr txBox="1">
            <a:spLocks noChangeArrowheads="1"/>
          </p:cNvSpPr>
          <p:nvPr/>
        </p:nvSpPr>
        <p:spPr bwMode="auto">
          <a:xfrm rot="-5400000">
            <a:off x="7088188" y="1838328"/>
            <a:ext cx="920750"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reserve</a:t>
            </a:r>
          </a:p>
          <a:p>
            <a:pPr eaLnBrk="0" hangingPunct="0">
              <a:spcBef>
                <a:spcPct val="0"/>
              </a:spcBef>
              <a:buClrTx/>
            </a:pPr>
            <a:r>
              <a:rPr lang="en-US" sz="1600"/>
              <a:t>fuel</a:t>
            </a:r>
          </a:p>
        </p:txBody>
      </p:sp>
      <p:sp>
        <p:nvSpPr>
          <p:cNvPr id="32816" name="Text Box 48"/>
          <p:cNvSpPr txBox="1">
            <a:spLocks noChangeArrowheads="1"/>
          </p:cNvSpPr>
          <p:nvPr/>
        </p:nvSpPr>
        <p:spPr bwMode="auto">
          <a:xfrm rot="-5400000">
            <a:off x="760730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additional</a:t>
            </a:r>
          </a:p>
          <a:p>
            <a:pPr eaLnBrk="0" hangingPunct="0">
              <a:spcBef>
                <a:spcPct val="0"/>
              </a:spcBef>
              <a:buClrTx/>
            </a:pPr>
            <a:r>
              <a:rPr lang="en-US" sz="1600"/>
              <a:t>fuel</a:t>
            </a:r>
          </a:p>
        </p:txBody>
      </p:sp>
      <p:sp>
        <p:nvSpPr>
          <p:cNvPr id="32817" name="Line 49"/>
          <p:cNvSpPr>
            <a:spLocks noChangeShapeType="1"/>
          </p:cNvSpPr>
          <p:nvPr/>
        </p:nvSpPr>
        <p:spPr bwMode="auto">
          <a:xfrm flipV="1">
            <a:off x="8639175" y="1390653"/>
            <a:ext cx="0" cy="1152525"/>
          </a:xfrm>
          <a:prstGeom prst="line">
            <a:avLst/>
          </a:prstGeom>
          <a:noFill/>
          <a:ln w="9525">
            <a:solidFill>
              <a:schemeClr val="tx1"/>
            </a:solidFill>
            <a:round/>
            <a:headEnd/>
            <a:tailEnd type="none" w="lg" len="lg"/>
          </a:ln>
        </p:spPr>
        <p:txBody>
          <a:bodyPr/>
          <a:lstStyle/>
          <a:p>
            <a:endParaRPr lang="nl-NL"/>
          </a:p>
        </p:txBody>
      </p:sp>
      <p:sp>
        <p:nvSpPr>
          <p:cNvPr id="32818" name="Line 50"/>
          <p:cNvSpPr>
            <a:spLocks noChangeShapeType="1"/>
          </p:cNvSpPr>
          <p:nvPr/>
        </p:nvSpPr>
        <p:spPr bwMode="auto">
          <a:xfrm flipH="1">
            <a:off x="7229475" y="1619250"/>
            <a:ext cx="1409700" cy="0"/>
          </a:xfrm>
          <a:prstGeom prst="line">
            <a:avLst/>
          </a:prstGeom>
          <a:noFill/>
          <a:ln w="9525">
            <a:solidFill>
              <a:schemeClr val="tx1"/>
            </a:solidFill>
            <a:round/>
            <a:headEnd/>
            <a:tailEnd type="none" w="lg" len="lg"/>
          </a:ln>
        </p:spPr>
        <p:txBody>
          <a:bodyPr/>
          <a:lstStyle/>
          <a:p>
            <a:endParaRPr lang="nl-NL"/>
          </a:p>
        </p:txBody>
      </p:sp>
      <p:sp>
        <p:nvSpPr>
          <p:cNvPr id="32819" name="Line 51"/>
          <p:cNvSpPr>
            <a:spLocks noChangeShapeType="1"/>
          </p:cNvSpPr>
          <p:nvPr/>
        </p:nvSpPr>
        <p:spPr bwMode="auto">
          <a:xfrm>
            <a:off x="7867650" y="1619253"/>
            <a:ext cx="0" cy="923925"/>
          </a:xfrm>
          <a:prstGeom prst="line">
            <a:avLst/>
          </a:prstGeom>
          <a:noFill/>
          <a:ln w="9525">
            <a:solidFill>
              <a:schemeClr val="tx1"/>
            </a:solidFill>
            <a:round/>
            <a:headEnd/>
            <a:tailEnd type="none" w="lg" len="lg"/>
          </a:ln>
        </p:spPr>
        <p:txBody>
          <a:bodyPr/>
          <a:lstStyle/>
          <a:p>
            <a:endParaRPr lang="nl-NL"/>
          </a:p>
        </p:txBody>
      </p:sp>
      <p:sp>
        <p:nvSpPr>
          <p:cNvPr id="32820" name="Line 52"/>
          <p:cNvSpPr>
            <a:spLocks noChangeShapeType="1"/>
          </p:cNvSpPr>
          <p:nvPr/>
        </p:nvSpPr>
        <p:spPr bwMode="auto">
          <a:xfrm flipV="1">
            <a:off x="9820275" y="1390653"/>
            <a:ext cx="0" cy="1152525"/>
          </a:xfrm>
          <a:prstGeom prst="line">
            <a:avLst/>
          </a:prstGeom>
          <a:noFill/>
          <a:ln w="9525">
            <a:solidFill>
              <a:schemeClr val="tx1"/>
            </a:solidFill>
            <a:round/>
            <a:headEnd/>
            <a:tailEnd type="none" w="lg" len="lg"/>
          </a:ln>
        </p:spPr>
        <p:txBody>
          <a:bodyPr/>
          <a:lstStyle/>
          <a:p>
            <a:endParaRPr lang="nl-NL"/>
          </a:p>
        </p:txBody>
      </p:sp>
      <p:sp>
        <p:nvSpPr>
          <p:cNvPr id="32821" name="Text Box 53"/>
          <p:cNvSpPr txBox="1">
            <a:spLocks noChangeArrowheads="1"/>
          </p:cNvSpPr>
          <p:nvPr/>
        </p:nvSpPr>
        <p:spPr bwMode="auto">
          <a:xfrm rot="-5400000">
            <a:off x="873125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trip</a:t>
            </a:r>
          </a:p>
          <a:p>
            <a:pPr eaLnBrk="0" hangingPunct="0">
              <a:spcBef>
                <a:spcPct val="0"/>
              </a:spcBef>
              <a:buClrTx/>
            </a:pPr>
            <a:r>
              <a:rPr lang="en-US" sz="1600"/>
              <a:t>fuel</a:t>
            </a:r>
          </a:p>
        </p:txBody>
      </p:sp>
      <p:sp>
        <p:nvSpPr>
          <p:cNvPr id="32822" name="Text Box 54"/>
          <p:cNvSpPr txBox="1">
            <a:spLocks noChangeArrowheads="1"/>
          </p:cNvSpPr>
          <p:nvPr/>
        </p:nvSpPr>
        <p:spPr bwMode="auto">
          <a:xfrm rot="-5400000">
            <a:off x="9169403" y="1443041"/>
            <a:ext cx="173037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pre-take-off </a:t>
            </a:r>
          </a:p>
          <a:p>
            <a:pPr eaLnBrk="0" hangingPunct="0">
              <a:spcBef>
                <a:spcPct val="0"/>
              </a:spcBef>
              <a:buClrTx/>
            </a:pPr>
            <a:r>
              <a:rPr lang="en-US" sz="1600"/>
              <a:t>fuel</a:t>
            </a:r>
          </a:p>
        </p:txBody>
      </p:sp>
      <p:sp>
        <p:nvSpPr>
          <p:cNvPr id="32824" name="Rectangle 56"/>
          <p:cNvSpPr>
            <a:spLocks noChangeArrowheads="1"/>
          </p:cNvSpPr>
          <p:nvPr/>
        </p:nvSpPr>
        <p:spPr bwMode="auto">
          <a:xfrm>
            <a:off x="2074866" y="739778"/>
            <a:ext cx="4340225" cy="1901825"/>
          </a:xfrm>
          <a:prstGeom prst="rect">
            <a:avLst/>
          </a:prstGeom>
          <a:solidFill>
            <a:schemeClr val="bg1">
              <a:alpha val="85881"/>
            </a:schemeClr>
          </a:solidFill>
          <a:ln w="28575" algn="ctr">
            <a:solidFill>
              <a:srgbClr val="FF3300"/>
            </a:solidFill>
            <a:miter lim="800000"/>
            <a:headEnd/>
            <a:tailEnd/>
          </a:ln>
        </p:spPr>
        <p:txBody>
          <a:bodyPr wrap="none" anchor="ctr"/>
          <a:lstStyle/>
          <a:p>
            <a:endParaRPr lang="nl-NL"/>
          </a:p>
        </p:txBody>
      </p:sp>
      <p:sp>
        <p:nvSpPr>
          <p:cNvPr id="32825" name="Rectangle 58"/>
          <p:cNvSpPr>
            <a:spLocks noChangeArrowheads="1"/>
          </p:cNvSpPr>
          <p:nvPr/>
        </p:nvSpPr>
        <p:spPr bwMode="auto">
          <a:xfrm>
            <a:off x="6429375" y="725488"/>
            <a:ext cx="769938" cy="1916112"/>
          </a:xfrm>
          <a:prstGeom prst="rect">
            <a:avLst/>
          </a:prstGeom>
          <a:noFill/>
          <a:ln w="57150" algn="ctr">
            <a:solidFill>
              <a:schemeClr val="accent2"/>
            </a:solidFill>
            <a:miter lim="800000"/>
            <a:headEnd/>
            <a:tailEnd/>
          </a:ln>
        </p:spPr>
        <p:txBody>
          <a:bodyPr wrap="none" anchor="ctr"/>
          <a:lstStyle/>
          <a:p>
            <a:endParaRPr lang="nl-NL"/>
          </a:p>
        </p:txBody>
      </p:sp>
      <p:sp>
        <p:nvSpPr>
          <p:cNvPr id="32826" name="Rectangle 59"/>
          <p:cNvSpPr>
            <a:spLocks noChangeArrowheads="1"/>
          </p:cNvSpPr>
          <p:nvPr/>
        </p:nvSpPr>
        <p:spPr bwMode="auto">
          <a:xfrm>
            <a:off x="7227891" y="725491"/>
            <a:ext cx="3222625" cy="1944687"/>
          </a:xfrm>
          <a:prstGeom prst="rect">
            <a:avLst/>
          </a:prstGeom>
          <a:solidFill>
            <a:schemeClr val="bg1">
              <a:alpha val="81960"/>
            </a:schemeClr>
          </a:solidFill>
          <a:ln w="38100" algn="ctr">
            <a:solidFill>
              <a:srgbClr val="00FF00"/>
            </a:solidFill>
            <a:miter lim="800000"/>
            <a:headEnd/>
            <a:tailEnd/>
          </a:ln>
        </p:spPr>
        <p:txBody>
          <a:bodyPr wrap="none" anchor="ctr"/>
          <a:lstStyle/>
          <a:p>
            <a:endParaRPr lang="nl-NL"/>
          </a:p>
        </p:txBody>
      </p:sp>
      <p:sp>
        <p:nvSpPr>
          <p:cNvPr id="32827" name="Text Box 60"/>
          <p:cNvSpPr txBox="1">
            <a:spLocks noChangeArrowheads="1"/>
          </p:cNvSpPr>
          <p:nvPr/>
        </p:nvSpPr>
        <p:spPr bwMode="auto">
          <a:xfrm>
            <a:off x="2413794" y="1474563"/>
            <a:ext cx="3686971" cy="387798"/>
          </a:xfrm>
          <a:prstGeom prst="rect">
            <a:avLst/>
          </a:prstGeom>
          <a:solidFill>
            <a:srgbClr val="FFFF00"/>
          </a:solidFill>
          <a:ln w="9525" algn="ctr">
            <a:noFill/>
            <a:miter lim="800000"/>
            <a:headEnd/>
            <a:tailEnd/>
          </a:ln>
        </p:spPr>
        <p:txBody>
          <a:bodyPr wrap="none">
            <a:spAutoFit/>
          </a:bodyPr>
          <a:lstStyle/>
          <a:p>
            <a:pPr>
              <a:lnSpc>
                <a:spcPct val="80000"/>
              </a:lnSpc>
            </a:pPr>
            <a:r>
              <a:rPr lang="en-GB" sz="2400" dirty="0"/>
              <a:t>Operational empty weight</a:t>
            </a:r>
          </a:p>
        </p:txBody>
      </p:sp>
      <p:sp>
        <p:nvSpPr>
          <p:cNvPr id="32828" name="Text Box 61"/>
          <p:cNvSpPr txBox="1">
            <a:spLocks noChangeArrowheads="1"/>
          </p:cNvSpPr>
          <p:nvPr/>
        </p:nvSpPr>
        <p:spPr bwMode="auto">
          <a:xfrm>
            <a:off x="8094663" y="1439866"/>
            <a:ext cx="836612" cy="433387"/>
          </a:xfrm>
          <a:prstGeom prst="rect">
            <a:avLst/>
          </a:prstGeom>
          <a:solidFill>
            <a:srgbClr val="FFFF00"/>
          </a:solidFill>
          <a:ln w="9525" algn="ctr">
            <a:noFill/>
            <a:miter lim="800000"/>
            <a:headEnd/>
            <a:tailEnd/>
          </a:ln>
        </p:spPr>
        <p:txBody>
          <a:bodyPr wrap="none">
            <a:spAutoFit/>
          </a:bodyPr>
          <a:lstStyle/>
          <a:p>
            <a:pPr>
              <a:lnSpc>
                <a:spcPct val="80000"/>
              </a:lnSpc>
            </a:pPr>
            <a:r>
              <a:rPr lang="en-GB" sz="2800"/>
              <a:t>Fuel</a:t>
            </a:r>
          </a:p>
        </p:txBody>
      </p:sp>
      <p:sp>
        <p:nvSpPr>
          <p:cNvPr id="61" name="Rectangle 39"/>
          <p:cNvSpPr>
            <a:spLocks noChangeArrowheads="1"/>
          </p:cNvSpPr>
          <p:nvPr/>
        </p:nvSpPr>
        <p:spPr bwMode="auto">
          <a:xfrm>
            <a:off x="695400" y="144463"/>
            <a:ext cx="10226600" cy="795337"/>
          </a:xfrm>
          <a:prstGeom prst="rect">
            <a:avLst/>
          </a:prstGeom>
          <a:noFill/>
          <a:ln w="9525">
            <a:noFill/>
            <a:miter lim="800000"/>
            <a:headEnd/>
            <a:tailEnd/>
          </a:ln>
        </p:spPr>
        <p:txBody>
          <a:bodyPr/>
          <a:lstStyle/>
          <a:p>
            <a:pPr>
              <a:spcBef>
                <a:spcPct val="0"/>
              </a:spcBef>
              <a:buClrTx/>
            </a:pPr>
            <a:r>
              <a:rPr lang="en-US" sz="3200" dirty="0">
                <a:solidFill>
                  <a:srgbClr val="00A4DE"/>
                </a:solidFill>
                <a:cs typeface="Tahoma" pitchFamily="34" charset="0"/>
              </a:rPr>
              <a:t>Weights: what are we talking about…</a:t>
            </a:r>
          </a:p>
        </p:txBody>
      </p:sp>
      <p:graphicFrame>
        <p:nvGraphicFramePr>
          <p:cNvPr id="62" name="Chart 61"/>
          <p:cNvGraphicFramePr/>
          <p:nvPr>
            <p:extLst>
              <p:ext uri="{D42A27DB-BD31-4B8C-83A1-F6EECF244321}">
                <p14:modId xmlns:p14="http://schemas.microsoft.com/office/powerpoint/2010/main" val="3333115790"/>
              </p:ext>
            </p:extLst>
          </p:nvPr>
        </p:nvGraphicFramePr>
        <p:xfrm>
          <a:off x="6030913" y="2887727"/>
          <a:ext cx="3681412" cy="30066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82952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1"/>
          <p:cNvSpPr>
            <a:spLocks noChangeArrowheads="1"/>
          </p:cNvSpPr>
          <p:nvPr/>
        </p:nvSpPr>
        <p:spPr bwMode="auto">
          <a:xfrm>
            <a:off x="2278063" y="871538"/>
            <a:ext cx="741362" cy="1668462"/>
          </a:xfrm>
          <a:prstGeom prst="rect">
            <a:avLst/>
          </a:prstGeom>
          <a:solidFill>
            <a:srgbClr val="FFFF00"/>
          </a:solidFill>
          <a:ln w="9525" algn="ctr">
            <a:noFill/>
            <a:miter lim="800000"/>
            <a:headEnd/>
            <a:tailEnd/>
          </a:ln>
        </p:spPr>
        <p:txBody>
          <a:bodyPr wrap="none" anchor="ctr"/>
          <a:lstStyle/>
          <a:p>
            <a:endParaRPr lang="nl-NL"/>
          </a:p>
        </p:txBody>
      </p:sp>
      <p:sp>
        <p:nvSpPr>
          <p:cNvPr id="41987" name="Rectangle 2"/>
          <p:cNvSpPr>
            <a:spLocks noChangeArrowheads="1"/>
          </p:cNvSpPr>
          <p:nvPr/>
        </p:nvSpPr>
        <p:spPr bwMode="auto">
          <a:xfrm>
            <a:off x="3683000" y="876300"/>
            <a:ext cx="2497138" cy="514350"/>
          </a:xfrm>
          <a:prstGeom prst="rect">
            <a:avLst/>
          </a:prstGeom>
          <a:noFill/>
          <a:ln w="9525">
            <a:solidFill>
              <a:schemeClr val="tx1"/>
            </a:solidFill>
            <a:miter lim="800000"/>
            <a:headEnd/>
            <a:tailEnd type="none" w="lg" len="lg"/>
          </a:ln>
        </p:spPr>
        <p:txBody>
          <a:bodyPr wrap="none" anchor="ctr"/>
          <a:lstStyle/>
          <a:p>
            <a:endParaRPr lang="nl-NL"/>
          </a:p>
        </p:txBody>
      </p:sp>
      <p:sp>
        <p:nvSpPr>
          <p:cNvPr id="41988" name="Rectangle 3"/>
          <p:cNvSpPr>
            <a:spLocks noChangeArrowheads="1"/>
          </p:cNvSpPr>
          <p:nvPr/>
        </p:nvSpPr>
        <p:spPr bwMode="auto">
          <a:xfrm>
            <a:off x="2262191" y="3820978"/>
            <a:ext cx="8594725" cy="400110"/>
          </a:xfrm>
          <a:prstGeom prst="rect">
            <a:avLst/>
          </a:prstGeom>
          <a:noFill/>
          <a:ln w="9525" algn="ctr">
            <a:noFill/>
            <a:miter lim="800000"/>
            <a:headEnd/>
            <a:tailEnd/>
          </a:ln>
        </p:spPr>
        <p:txBody>
          <a:bodyPr>
            <a:spAutoFit/>
          </a:bodyPr>
          <a:lstStyle/>
          <a:p>
            <a:pPr>
              <a:spcBef>
                <a:spcPct val="0"/>
              </a:spcBef>
              <a:buClrTx/>
            </a:pPr>
            <a:r>
              <a:rPr lang="en-US" sz="2000" dirty="0">
                <a:solidFill>
                  <a:srgbClr val="FF3300"/>
                </a:solidFill>
              </a:rPr>
              <a:t>Airframe structure</a:t>
            </a:r>
          </a:p>
        </p:txBody>
      </p:sp>
      <p:sp>
        <p:nvSpPr>
          <p:cNvPr id="41989" name="Rectangle 6"/>
          <p:cNvSpPr>
            <a:spLocks noChangeArrowheads="1"/>
          </p:cNvSpPr>
          <p:nvPr/>
        </p:nvSpPr>
        <p:spPr bwMode="auto">
          <a:xfrm>
            <a:off x="2052638" y="2203450"/>
            <a:ext cx="8153400" cy="457200"/>
          </a:xfrm>
          <a:prstGeom prst="rect">
            <a:avLst/>
          </a:prstGeom>
          <a:noFill/>
          <a:ln w="9525">
            <a:noFill/>
            <a:miter lim="800000"/>
            <a:headEnd/>
            <a:tailEnd/>
          </a:ln>
        </p:spPr>
        <p:txBody>
          <a:bodyPr>
            <a:spAutoFit/>
          </a:bodyPr>
          <a:lstStyle/>
          <a:p>
            <a:pPr marL="457200" indent="-457200"/>
            <a:endParaRPr lang="en-GB" sz="2400"/>
          </a:p>
        </p:txBody>
      </p:sp>
      <p:sp>
        <p:nvSpPr>
          <p:cNvPr id="41990" name="Rectangle 7"/>
          <p:cNvSpPr>
            <a:spLocks noChangeArrowheads="1"/>
          </p:cNvSpPr>
          <p:nvPr/>
        </p:nvSpPr>
        <p:spPr bwMode="auto">
          <a:xfrm>
            <a:off x="2289178" y="877891"/>
            <a:ext cx="8061325" cy="1665287"/>
          </a:xfrm>
          <a:prstGeom prst="rect">
            <a:avLst/>
          </a:prstGeom>
          <a:noFill/>
          <a:ln w="9525">
            <a:solidFill>
              <a:schemeClr val="tx1"/>
            </a:solidFill>
            <a:miter lim="800000"/>
            <a:headEnd/>
            <a:tailEnd type="none" w="lg" len="lg"/>
          </a:ln>
        </p:spPr>
        <p:txBody>
          <a:bodyPr wrap="none" anchor="ctr"/>
          <a:lstStyle/>
          <a:p>
            <a:endParaRPr lang="nl-NL"/>
          </a:p>
        </p:txBody>
      </p:sp>
      <p:sp>
        <p:nvSpPr>
          <p:cNvPr id="41991" name="Text Box 8"/>
          <p:cNvSpPr txBox="1">
            <a:spLocks noChangeArrowheads="1"/>
          </p:cNvSpPr>
          <p:nvPr/>
        </p:nvSpPr>
        <p:spPr bwMode="auto">
          <a:xfrm rot="-5400000">
            <a:off x="2083597" y="1753397"/>
            <a:ext cx="982663"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a:t>
            </a:r>
          </a:p>
          <a:p>
            <a:pPr eaLnBrk="0" hangingPunct="0">
              <a:spcBef>
                <a:spcPct val="0"/>
              </a:spcBef>
              <a:buClrTx/>
            </a:pPr>
            <a:r>
              <a:rPr lang="en-US" sz="1600"/>
              <a:t>structure</a:t>
            </a:r>
          </a:p>
        </p:txBody>
      </p:sp>
      <p:sp>
        <p:nvSpPr>
          <p:cNvPr id="41992" name="Line 9"/>
          <p:cNvSpPr>
            <a:spLocks noChangeShapeType="1"/>
          </p:cNvSpPr>
          <p:nvPr/>
        </p:nvSpPr>
        <p:spPr bwMode="auto">
          <a:xfrm>
            <a:off x="3025775" y="889003"/>
            <a:ext cx="0" cy="1649413"/>
          </a:xfrm>
          <a:prstGeom prst="line">
            <a:avLst/>
          </a:prstGeom>
          <a:noFill/>
          <a:ln w="9525">
            <a:solidFill>
              <a:schemeClr val="tx1"/>
            </a:solidFill>
            <a:round/>
            <a:headEnd/>
            <a:tailEnd type="none" w="lg" len="lg"/>
          </a:ln>
        </p:spPr>
        <p:txBody>
          <a:bodyPr/>
          <a:lstStyle/>
          <a:p>
            <a:endParaRPr lang="nl-NL"/>
          </a:p>
        </p:txBody>
      </p:sp>
      <p:sp>
        <p:nvSpPr>
          <p:cNvPr id="41993" name="Rectangle 10"/>
          <p:cNvSpPr>
            <a:spLocks noChangeArrowheads="1"/>
          </p:cNvSpPr>
          <p:nvPr/>
        </p:nvSpPr>
        <p:spPr bwMode="auto">
          <a:xfrm>
            <a:off x="3683000" y="1389063"/>
            <a:ext cx="2497138" cy="1154112"/>
          </a:xfrm>
          <a:prstGeom prst="rect">
            <a:avLst/>
          </a:prstGeom>
          <a:noFill/>
          <a:ln w="9525">
            <a:solidFill>
              <a:schemeClr val="tx1"/>
            </a:solidFill>
            <a:miter lim="800000"/>
            <a:headEnd/>
            <a:tailEnd type="none" w="lg" len="lg"/>
          </a:ln>
        </p:spPr>
        <p:txBody>
          <a:bodyPr wrap="none" anchor="ctr"/>
          <a:lstStyle/>
          <a:p>
            <a:endParaRPr lang="nl-NL"/>
          </a:p>
        </p:txBody>
      </p:sp>
      <p:sp>
        <p:nvSpPr>
          <p:cNvPr id="41994" name="Text Box 11"/>
          <p:cNvSpPr txBox="1">
            <a:spLocks noChangeArrowheads="1"/>
          </p:cNvSpPr>
          <p:nvPr/>
        </p:nvSpPr>
        <p:spPr bwMode="auto">
          <a:xfrm>
            <a:off x="3663950" y="835028"/>
            <a:ext cx="17668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 services </a:t>
            </a:r>
          </a:p>
          <a:p>
            <a:pPr eaLnBrk="0" hangingPunct="0">
              <a:spcBef>
                <a:spcPct val="0"/>
              </a:spcBef>
              <a:buClrTx/>
            </a:pPr>
            <a:r>
              <a:rPr lang="en-US" sz="1600"/>
              <a:t>and equipment</a:t>
            </a:r>
          </a:p>
        </p:txBody>
      </p:sp>
      <p:sp>
        <p:nvSpPr>
          <p:cNvPr id="41995" name="Line 12"/>
          <p:cNvSpPr>
            <a:spLocks noChangeShapeType="1"/>
          </p:cNvSpPr>
          <p:nvPr/>
        </p:nvSpPr>
        <p:spPr bwMode="auto">
          <a:xfrm flipV="1">
            <a:off x="4899025" y="1382716"/>
            <a:ext cx="0" cy="1152525"/>
          </a:xfrm>
          <a:prstGeom prst="line">
            <a:avLst/>
          </a:prstGeom>
          <a:noFill/>
          <a:ln w="9525">
            <a:solidFill>
              <a:schemeClr val="tx1"/>
            </a:solidFill>
            <a:round/>
            <a:headEnd/>
            <a:tailEnd type="none" w="lg" len="lg"/>
          </a:ln>
        </p:spPr>
        <p:txBody>
          <a:bodyPr/>
          <a:lstStyle/>
          <a:p>
            <a:endParaRPr lang="nl-NL"/>
          </a:p>
        </p:txBody>
      </p:sp>
      <p:sp>
        <p:nvSpPr>
          <p:cNvPr id="41996" name="Text Box 13"/>
          <p:cNvSpPr txBox="1">
            <a:spLocks noChangeArrowheads="1"/>
          </p:cNvSpPr>
          <p:nvPr/>
        </p:nvSpPr>
        <p:spPr bwMode="auto">
          <a:xfrm rot="-5400000">
            <a:off x="2750344" y="1688309"/>
            <a:ext cx="111283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propulsion</a:t>
            </a:r>
          </a:p>
          <a:p>
            <a:pPr eaLnBrk="0" hangingPunct="0">
              <a:spcBef>
                <a:spcPct val="0"/>
              </a:spcBef>
              <a:buClrTx/>
            </a:pPr>
            <a:r>
              <a:rPr lang="en-US" sz="1600"/>
              <a:t>group</a:t>
            </a:r>
          </a:p>
        </p:txBody>
      </p:sp>
      <p:sp>
        <p:nvSpPr>
          <p:cNvPr id="41997" name="Line 14"/>
          <p:cNvSpPr>
            <a:spLocks noChangeShapeType="1"/>
          </p:cNvSpPr>
          <p:nvPr/>
        </p:nvSpPr>
        <p:spPr bwMode="auto">
          <a:xfrm>
            <a:off x="4897438" y="1611313"/>
            <a:ext cx="1274762" cy="0"/>
          </a:xfrm>
          <a:prstGeom prst="line">
            <a:avLst/>
          </a:prstGeom>
          <a:noFill/>
          <a:ln w="9525">
            <a:solidFill>
              <a:schemeClr val="tx1"/>
            </a:solidFill>
            <a:round/>
            <a:headEnd/>
            <a:tailEnd type="none" w="lg" len="lg"/>
          </a:ln>
        </p:spPr>
        <p:txBody>
          <a:bodyPr/>
          <a:lstStyle/>
          <a:p>
            <a:endParaRPr lang="nl-NL"/>
          </a:p>
        </p:txBody>
      </p:sp>
      <p:sp>
        <p:nvSpPr>
          <p:cNvPr id="41998" name="Text Box 15"/>
          <p:cNvSpPr txBox="1">
            <a:spLocks noChangeArrowheads="1"/>
          </p:cNvSpPr>
          <p:nvPr/>
        </p:nvSpPr>
        <p:spPr bwMode="auto">
          <a:xfrm>
            <a:off x="4943475" y="1296988"/>
            <a:ext cx="1119188"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removable</a:t>
            </a:r>
          </a:p>
        </p:txBody>
      </p:sp>
      <p:sp>
        <p:nvSpPr>
          <p:cNvPr id="41999" name="Text Box 16"/>
          <p:cNvSpPr txBox="1">
            <a:spLocks noChangeArrowheads="1"/>
          </p:cNvSpPr>
          <p:nvPr/>
        </p:nvSpPr>
        <p:spPr bwMode="auto">
          <a:xfrm rot="-5400000">
            <a:off x="3617121" y="2043907"/>
            <a:ext cx="614363"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fixed</a:t>
            </a:r>
          </a:p>
        </p:txBody>
      </p:sp>
      <p:sp>
        <p:nvSpPr>
          <p:cNvPr id="42000" name="Text Box 17"/>
          <p:cNvSpPr txBox="1">
            <a:spLocks noChangeArrowheads="1"/>
          </p:cNvSpPr>
          <p:nvPr/>
        </p:nvSpPr>
        <p:spPr bwMode="auto">
          <a:xfrm rot="-5400000">
            <a:off x="4644232" y="1818484"/>
            <a:ext cx="9667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items</a:t>
            </a:r>
          </a:p>
        </p:txBody>
      </p:sp>
      <p:sp>
        <p:nvSpPr>
          <p:cNvPr id="42001" name="Line 18"/>
          <p:cNvSpPr>
            <a:spLocks noChangeShapeType="1"/>
          </p:cNvSpPr>
          <p:nvPr/>
        </p:nvSpPr>
        <p:spPr bwMode="auto">
          <a:xfrm flipV="1">
            <a:off x="5411788" y="1606550"/>
            <a:ext cx="0" cy="928688"/>
          </a:xfrm>
          <a:prstGeom prst="line">
            <a:avLst/>
          </a:prstGeom>
          <a:noFill/>
          <a:ln w="9525">
            <a:solidFill>
              <a:schemeClr val="tx1"/>
            </a:solidFill>
            <a:round/>
            <a:headEnd/>
            <a:tailEnd type="none" w="lg" len="lg"/>
          </a:ln>
        </p:spPr>
        <p:txBody>
          <a:bodyPr/>
          <a:lstStyle/>
          <a:p>
            <a:endParaRPr lang="nl-NL"/>
          </a:p>
        </p:txBody>
      </p:sp>
      <p:sp>
        <p:nvSpPr>
          <p:cNvPr id="42002" name="Text Box 19"/>
          <p:cNvSpPr txBox="1">
            <a:spLocks noChangeArrowheads="1"/>
          </p:cNvSpPr>
          <p:nvPr/>
        </p:nvSpPr>
        <p:spPr bwMode="auto">
          <a:xfrm rot="-5400000">
            <a:off x="5236371" y="1650207"/>
            <a:ext cx="1046163" cy="82550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a:t>
            </a:r>
          </a:p>
          <a:p>
            <a:pPr eaLnBrk="0" hangingPunct="0">
              <a:spcBef>
                <a:spcPct val="0"/>
              </a:spcBef>
              <a:buClrTx/>
            </a:pPr>
            <a:r>
              <a:rPr lang="en-US" sz="1600"/>
              <a:t>variations</a:t>
            </a:r>
          </a:p>
        </p:txBody>
      </p:sp>
      <p:sp>
        <p:nvSpPr>
          <p:cNvPr id="42003" name="Rectangle 20"/>
          <p:cNvSpPr>
            <a:spLocks noChangeArrowheads="1"/>
          </p:cNvSpPr>
          <p:nvPr/>
        </p:nvSpPr>
        <p:spPr bwMode="auto">
          <a:xfrm>
            <a:off x="6180141" y="876303"/>
            <a:ext cx="238125" cy="1660525"/>
          </a:xfrm>
          <a:prstGeom prst="rect">
            <a:avLst/>
          </a:prstGeom>
          <a:noFill/>
          <a:ln w="9525">
            <a:solidFill>
              <a:schemeClr val="tx1"/>
            </a:solidFill>
            <a:miter lim="800000"/>
            <a:headEnd/>
            <a:tailEnd type="none" w="lg" len="lg"/>
          </a:ln>
        </p:spPr>
        <p:txBody>
          <a:bodyPr wrap="none" anchor="ctr"/>
          <a:lstStyle/>
          <a:p>
            <a:endParaRPr lang="nl-NL"/>
          </a:p>
        </p:txBody>
      </p:sp>
      <p:sp>
        <p:nvSpPr>
          <p:cNvPr id="42004" name="Text Box 21"/>
          <p:cNvSpPr txBox="1">
            <a:spLocks noChangeArrowheads="1"/>
          </p:cNvSpPr>
          <p:nvPr/>
        </p:nvSpPr>
        <p:spPr bwMode="auto">
          <a:xfrm rot="-5400000">
            <a:off x="5432428" y="1546226"/>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operational items</a:t>
            </a:r>
          </a:p>
        </p:txBody>
      </p:sp>
      <p:sp>
        <p:nvSpPr>
          <p:cNvPr id="42005" name="Rectangle 22"/>
          <p:cNvSpPr>
            <a:spLocks noChangeArrowheads="1"/>
          </p:cNvSpPr>
          <p:nvPr/>
        </p:nvSpPr>
        <p:spPr bwMode="auto">
          <a:xfrm>
            <a:off x="6418266" y="876303"/>
            <a:ext cx="814387" cy="1666875"/>
          </a:xfrm>
          <a:prstGeom prst="rect">
            <a:avLst/>
          </a:prstGeom>
          <a:noFill/>
          <a:ln w="9525">
            <a:solidFill>
              <a:schemeClr val="tx1"/>
            </a:solidFill>
            <a:miter lim="800000"/>
            <a:headEnd/>
            <a:tailEnd type="none" w="lg" len="lg"/>
          </a:ln>
        </p:spPr>
        <p:txBody>
          <a:bodyPr wrap="none" anchor="ctr"/>
          <a:lstStyle/>
          <a:p>
            <a:endParaRPr lang="nl-NL"/>
          </a:p>
        </p:txBody>
      </p:sp>
      <p:sp>
        <p:nvSpPr>
          <p:cNvPr id="42006" name="Text Box 23"/>
          <p:cNvSpPr txBox="1">
            <a:spLocks noChangeArrowheads="1"/>
          </p:cNvSpPr>
          <p:nvPr/>
        </p:nvSpPr>
        <p:spPr bwMode="auto">
          <a:xfrm rot="-5400000">
            <a:off x="5913440" y="1566863"/>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payload</a:t>
            </a:r>
          </a:p>
        </p:txBody>
      </p:sp>
      <p:sp>
        <p:nvSpPr>
          <p:cNvPr id="42007" name="Text Box 24"/>
          <p:cNvSpPr txBox="1">
            <a:spLocks noChangeArrowheads="1"/>
          </p:cNvSpPr>
          <p:nvPr/>
        </p:nvSpPr>
        <p:spPr bwMode="auto">
          <a:xfrm>
            <a:off x="8151816" y="830263"/>
            <a:ext cx="1133475"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(total) fuel</a:t>
            </a:r>
          </a:p>
        </p:txBody>
      </p:sp>
      <p:sp>
        <p:nvSpPr>
          <p:cNvPr id="42008" name="Line 25"/>
          <p:cNvSpPr>
            <a:spLocks noChangeShapeType="1"/>
          </p:cNvSpPr>
          <p:nvPr/>
        </p:nvSpPr>
        <p:spPr bwMode="auto">
          <a:xfrm>
            <a:off x="7226303" y="1130300"/>
            <a:ext cx="3122613" cy="0"/>
          </a:xfrm>
          <a:prstGeom prst="line">
            <a:avLst/>
          </a:prstGeom>
          <a:noFill/>
          <a:ln w="9525">
            <a:solidFill>
              <a:schemeClr val="tx1"/>
            </a:solidFill>
            <a:prstDash val="sysDot"/>
            <a:round/>
            <a:headEnd/>
            <a:tailEnd type="none" w="lg" len="lg"/>
          </a:ln>
        </p:spPr>
        <p:txBody>
          <a:bodyPr/>
          <a:lstStyle/>
          <a:p>
            <a:endParaRPr lang="nl-NL"/>
          </a:p>
        </p:txBody>
      </p:sp>
      <p:sp>
        <p:nvSpPr>
          <p:cNvPr id="42009" name="Text Box 26"/>
          <p:cNvSpPr txBox="1">
            <a:spLocks noChangeArrowheads="1"/>
          </p:cNvSpPr>
          <p:nvPr/>
        </p:nvSpPr>
        <p:spPr bwMode="auto">
          <a:xfrm>
            <a:off x="7208841" y="1081088"/>
            <a:ext cx="915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rest fuel</a:t>
            </a:r>
          </a:p>
        </p:txBody>
      </p:sp>
      <p:sp>
        <p:nvSpPr>
          <p:cNvPr id="42010" name="Text Box 27"/>
          <p:cNvSpPr txBox="1">
            <a:spLocks noChangeArrowheads="1"/>
          </p:cNvSpPr>
          <p:nvPr/>
        </p:nvSpPr>
        <p:spPr bwMode="auto">
          <a:xfrm>
            <a:off x="8758241" y="1092200"/>
            <a:ext cx="1042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block fuel</a:t>
            </a:r>
          </a:p>
        </p:txBody>
      </p:sp>
      <p:sp>
        <p:nvSpPr>
          <p:cNvPr id="42011" name="Line 28"/>
          <p:cNvSpPr>
            <a:spLocks noChangeShapeType="1"/>
          </p:cNvSpPr>
          <p:nvPr/>
        </p:nvSpPr>
        <p:spPr bwMode="auto">
          <a:xfrm>
            <a:off x="7237413" y="1390650"/>
            <a:ext cx="3103562" cy="0"/>
          </a:xfrm>
          <a:prstGeom prst="line">
            <a:avLst/>
          </a:prstGeom>
          <a:noFill/>
          <a:ln w="9525">
            <a:solidFill>
              <a:schemeClr val="tx1"/>
            </a:solidFill>
            <a:round/>
            <a:headEnd/>
            <a:tailEnd type="none" w="lg" len="lg"/>
          </a:ln>
        </p:spPr>
        <p:txBody>
          <a:bodyPr/>
          <a:lstStyle/>
          <a:p>
            <a:endParaRPr lang="nl-NL"/>
          </a:p>
        </p:txBody>
      </p:sp>
      <p:sp>
        <p:nvSpPr>
          <p:cNvPr id="42012" name="Line 29"/>
          <p:cNvSpPr>
            <a:spLocks noChangeShapeType="1"/>
          </p:cNvSpPr>
          <p:nvPr/>
        </p:nvSpPr>
        <p:spPr bwMode="auto">
          <a:xfrm flipH="1">
            <a:off x="8478841" y="1130300"/>
            <a:ext cx="9525" cy="266700"/>
          </a:xfrm>
          <a:prstGeom prst="line">
            <a:avLst/>
          </a:prstGeom>
          <a:noFill/>
          <a:ln w="9525">
            <a:solidFill>
              <a:schemeClr val="tx1"/>
            </a:solidFill>
            <a:prstDash val="sysDot"/>
            <a:round/>
            <a:headEnd/>
            <a:tailEnd type="none" w="lg" len="lg"/>
          </a:ln>
        </p:spPr>
        <p:txBody>
          <a:bodyPr/>
          <a:lstStyle/>
          <a:p>
            <a:endParaRPr lang="nl-NL"/>
          </a:p>
        </p:txBody>
      </p:sp>
      <p:sp>
        <p:nvSpPr>
          <p:cNvPr id="42013" name="Text Box 30"/>
          <p:cNvSpPr txBox="1">
            <a:spLocks noChangeArrowheads="1"/>
          </p:cNvSpPr>
          <p:nvPr/>
        </p:nvSpPr>
        <p:spPr bwMode="auto">
          <a:xfrm>
            <a:off x="7189788" y="1325563"/>
            <a:ext cx="1465262"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fuel at landing</a:t>
            </a:r>
          </a:p>
        </p:txBody>
      </p:sp>
      <p:sp>
        <p:nvSpPr>
          <p:cNvPr id="42014" name="Text Box 31"/>
          <p:cNvSpPr txBox="1">
            <a:spLocks noChangeArrowheads="1"/>
          </p:cNvSpPr>
          <p:nvPr/>
        </p:nvSpPr>
        <p:spPr bwMode="auto">
          <a:xfrm rot="-5400000">
            <a:off x="7088188" y="1838328"/>
            <a:ext cx="920750"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reserve</a:t>
            </a:r>
          </a:p>
          <a:p>
            <a:pPr eaLnBrk="0" hangingPunct="0">
              <a:spcBef>
                <a:spcPct val="0"/>
              </a:spcBef>
              <a:buClrTx/>
            </a:pPr>
            <a:r>
              <a:rPr lang="en-US" sz="1600"/>
              <a:t>fuel</a:t>
            </a:r>
          </a:p>
        </p:txBody>
      </p:sp>
      <p:sp>
        <p:nvSpPr>
          <p:cNvPr id="42015" name="Text Box 32"/>
          <p:cNvSpPr txBox="1">
            <a:spLocks noChangeArrowheads="1"/>
          </p:cNvSpPr>
          <p:nvPr/>
        </p:nvSpPr>
        <p:spPr bwMode="auto">
          <a:xfrm rot="-5400000">
            <a:off x="760730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additional</a:t>
            </a:r>
          </a:p>
          <a:p>
            <a:pPr eaLnBrk="0" hangingPunct="0">
              <a:spcBef>
                <a:spcPct val="0"/>
              </a:spcBef>
              <a:buClrTx/>
            </a:pPr>
            <a:r>
              <a:rPr lang="en-US" sz="1600"/>
              <a:t>fuel</a:t>
            </a:r>
          </a:p>
        </p:txBody>
      </p:sp>
      <p:sp>
        <p:nvSpPr>
          <p:cNvPr id="42016" name="Line 33"/>
          <p:cNvSpPr>
            <a:spLocks noChangeShapeType="1"/>
          </p:cNvSpPr>
          <p:nvPr/>
        </p:nvSpPr>
        <p:spPr bwMode="auto">
          <a:xfrm flipV="1">
            <a:off x="8639175" y="1390653"/>
            <a:ext cx="0" cy="1152525"/>
          </a:xfrm>
          <a:prstGeom prst="line">
            <a:avLst/>
          </a:prstGeom>
          <a:noFill/>
          <a:ln w="9525">
            <a:solidFill>
              <a:schemeClr val="tx1"/>
            </a:solidFill>
            <a:round/>
            <a:headEnd/>
            <a:tailEnd type="none" w="lg" len="lg"/>
          </a:ln>
        </p:spPr>
        <p:txBody>
          <a:bodyPr/>
          <a:lstStyle/>
          <a:p>
            <a:endParaRPr lang="nl-NL"/>
          </a:p>
        </p:txBody>
      </p:sp>
      <p:sp>
        <p:nvSpPr>
          <p:cNvPr id="42017" name="Line 34"/>
          <p:cNvSpPr>
            <a:spLocks noChangeShapeType="1"/>
          </p:cNvSpPr>
          <p:nvPr/>
        </p:nvSpPr>
        <p:spPr bwMode="auto">
          <a:xfrm flipH="1">
            <a:off x="7229475" y="1619250"/>
            <a:ext cx="1409700" cy="0"/>
          </a:xfrm>
          <a:prstGeom prst="line">
            <a:avLst/>
          </a:prstGeom>
          <a:noFill/>
          <a:ln w="9525">
            <a:solidFill>
              <a:schemeClr val="tx1"/>
            </a:solidFill>
            <a:round/>
            <a:headEnd/>
            <a:tailEnd type="none" w="lg" len="lg"/>
          </a:ln>
        </p:spPr>
        <p:txBody>
          <a:bodyPr/>
          <a:lstStyle/>
          <a:p>
            <a:endParaRPr lang="nl-NL"/>
          </a:p>
        </p:txBody>
      </p:sp>
      <p:sp>
        <p:nvSpPr>
          <p:cNvPr id="42018" name="Line 35"/>
          <p:cNvSpPr>
            <a:spLocks noChangeShapeType="1"/>
          </p:cNvSpPr>
          <p:nvPr/>
        </p:nvSpPr>
        <p:spPr bwMode="auto">
          <a:xfrm>
            <a:off x="7867650" y="1619253"/>
            <a:ext cx="0" cy="923925"/>
          </a:xfrm>
          <a:prstGeom prst="line">
            <a:avLst/>
          </a:prstGeom>
          <a:noFill/>
          <a:ln w="9525">
            <a:solidFill>
              <a:schemeClr val="tx1"/>
            </a:solidFill>
            <a:round/>
            <a:headEnd/>
            <a:tailEnd type="none" w="lg" len="lg"/>
          </a:ln>
        </p:spPr>
        <p:txBody>
          <a:bodyPr/>
          <a:lstStyle/>
          <a:p>
            <a:endParaRPr lang="nl-NL"/>
          </a:p>
        </p:txBody>
      </p:sp>
      <p:sp>
        <p:nvSpPr>
          <p:cNvPr id="42019" name="Line 36"/>
          <p:cNvSpPr>
            <a:spLocks noChangeShapeType="1"/>
          </p:cNvSpPr>
          <p:nvPr/>
        </p:nvSpPr>
        <p:spPr bwMode="auto">
          <a:xfrm flipV="1">
            <a:off x="9820275" y="1390653"/>
            <a:ext cx="0" cy="1152525"/>
          </a:xfrm>
          <a:prstGeom prst="line">
            <a:avLst/>
          </a:prstGeom>
          <a:noFill/>
          <a:ln w="9525">
            <a:solidFill>
              <a:schemeClr val="tx1"/>
            </a:solidFill>
            <a:round/>
            <a:headEnd/>
            <a:tailEnd type="none" w="lg" len="lg"/>
          </a:ln>
        </p:spPr>
        <p:txBody>
          <a:bodyPr/>
          <a:lstStyle/>
          <a:p>
            <a:endParaRPr lang="nl-NL"/>
          </a:p>
        </p:txBody>
      </p:sp>
      <p:sp>
        <p:nvSpPr>
          <p:cNvPr id="42020" name="Text Box 37"/>
          <p:cNvSpPr txBox="1">
            <a:spLocks noChangeArrowheads="1"/>
          </p:cNvSpPr>
          <p:nvPr/>
        </p:nvSpPr>
        <p:spPr bwMode="auto">
          <a:xfrm rot="-5400000">
            <a:off x="873125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trip</a:t>
            </a:r>
          </a:p>
          <a:p>
            <a:pPr eaLnBrk="0" hangingPunct="0">
              <a:spcBef>
                <a:spcPct val="0"/>
              </a:spcBef>
              <a:buClrTx/>
            </a:pPr>
            <a:r>
              <a:rPr lang="en-US" sz="1600"/>
              <a:t>fuel</a:t>
            </a:r>
          </a:p>
        </p:txBody>
      </p:sp>
      <p:sp>
        <p:nvSpPr>
          <p:cNvPr id="42021" name="Text Box 38"/>
          <p:cNvSpPr txBox="1">
            <a:spLocks noChangeArrowheads="1"/>
          </p:cNvSpPr>
          <p:nvPr/>
        </p:nvSpPr>
        <p:spPr bwMode="auto">
          <a:xfrm rot="-5400000">
            <a:off x="9169403" y="1443041"/>
            <a:ext cx="173037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pre-take-off </a:t>
            </a:r>
          </a:p>
          <a:p>
            <a:pPr eaLnBrk="0" hangingPunct="0">
              <a:spcBef>
                <a:spcPct val="0"/>
              </a:spcBef>
              <a:buClrTx/>
            </a:pPr>
            <a:r>
              <a:rPr lang="en-US" sz="1600"/>
              <a:t>fuel</a:t>
            </a:r>
          </a:p>
        </p:txBody>
      </p:sp>
      <p:sp>
        <p:nvSpPr>
          <p:cNvPr id="42023" name="Rectangle 40"/>
          <p:cNvSpPr>
            <a:spLocks noChangeArrowheads="1"/>
          </p:cNvSpPr>
          <p:nvPr/>
        </p:nvSpPr>
        <p:spPr bwMode="auto">
          <a:xfrm>
            <a:off x="2227266" y="4154304"/>
            <a:ext cx="8199437" cy="1754326"/>
          </a:xfrm>
          <a:prstGeom prst="rect">
            <a:avLst/>
          </a:prstGeom>
          <a:noFill/>
          <a:ln w="9525" algn="ctr">
            <a:noFill/>
            <a:miter lim="800000"/>
            <a:headEnd/>
            <a:tailEnd/>
          </a:ln>
        </p:spPr>
        <p:txBody>
          <a:bodyPr>
            <a:spAutoFit/>
          </a:bodyPr>
          <a:lstStyle/>
          <a:p>
            <a:pPr lvl="1"/>
            <a:r>
              <a:rPr lang="en-US" dirty="0"/>
              <a:t>- </a:t>
            </a:r>
            <a:r>
              <a:rPr lang="en-US" dirty="0">
                <a:solidFill>
                  <a:srgbClr val="FF0000"/>
                </a:solidFill>
              </a:rPr>
              <a:t>Wing group</a:t>
            </a:r>
            <a:r>
              <a:rPr lang="en-US" dirty="0"/>
              <a:t> </a:t>
            </a:r>
            <a:r>
              <a:rPr lang="en-US" sz="1400" dirty="0"/>
              <a:t>(includes wing, wing center section, and all moveable's)</a:t>
            </a:r>
          </a:p>
          <a:p>
            <a:pPr lvl="1"/>
            <a:r>
              <a:rPr lang="en-US" dirty="0"/>
              <a:t>- </a:t>
            </a:r>
            <a:r>
              <a:rPr lang="en-US" dirty="0">
                <a:solidFill>
                  <a:srgbClr val="FF0000"/>
                </a:solidFill>
              </a:rPr>
              <a:t>Tail group </a:t>
            </a:r>
            <a:r>
              <a:rPr lang="en-US" sz="1400" dirty="0"/>
              <a:t>(includes stabilizer(s), fin(s), elevator(s), rudder(s))</a:t>
            </a:r>
          </a:p>
          <a:p>
            <a:pPr lvl="1"/>
            <a:r>
              <a:rPr lang="en-US" dirty="0"/>
              <a:t>- </a:t>
            </a:r>
            <a:r>
              <a:rPr lang="en-US" dirty="0">
                <a:solidFill>
                  <a:srgbClr val="FF0000"/>
                </a:solidFill>
              </a:rPr>
              <a:t>Body group </a:t>
            </a:r>
            <a:r>
              <a:rPr lang="en-US" sz="1400" dirty="0"/>
              <a:t>(fuselage, including doors, </a:t>
            </a:r>
            <a:r>
              <a:rPr lang="en-US" sz="1400" dirty="0" err="1"/>
              <a:t>fus</a:t>
            </a:r>
            <a:r>
              <a:rPr lang="en-US" sz="1400" dirty="0"/>
              <a:t>. mounted speed brakes)</a:t>
            </a:r>
            <a:endParaRPr lang="en-US" dirty="0"/>
          </a:p>
          <a:p>
            <a:pPr lvl="1"/>
            <a:r>
              <a:rPr lang="en-US" dirty="0"/>
              <a:t>- </a:t>
            </a:r>
            <a:r>
              <a:rPr lang="en-US" dirty="0">
                <a:solidFill>
                  <a:srgbClr val="FF0000"/>
                </a:solidFill>
              </a:rPr>
              <a:t>Landing gear* group </a:t>
            </a:r>
            <a:r>
              <a:rPr lang="en-US" sz="1400" dirty="0"/>
              <a:t>(main and nose gear, tail bumper)</a:t>
            </a:r>
          </a:p>
          <a:p>
            <a:pPr lvl="1"/>
            <a:r>
              <a:rPr lang="en-US" dirty="0"/>
              <a:t>- </a:t>
            </a:r>
            <a:r>
              <a:rPr lang="en-US" dirty="0">
                <a:solidFill>
                  <a:srgbClr val="FF0000"/>
                </a:solidFill>
              </a:rPr>
              <a:t>Surface controls group</a:t>
            </a:r>
            <a:r>
              <a:rPr lang="en-US" dirty="0"/>
              <a:t>** </a:t>
            </a:r>
            <a:r>
              <a:rPr lang="en-US" sz="1400" dirty="0"/>
              <a:t>(cockpit control, autopilot, system controls)</a:t>
            </a:r>
          </a:p>
          <a:p>
            <a:pPr lvl="1"/>
            <a:r>
              <a:rPr lang="en-US" dirty="0"/>
              <a:t>- </a:t>
            </a:r>
            <a:r>
              <a:rPr lang="en-US" dirty="0">
                <a:solidFill>
                  <a:srgbClr val="FF0000"/>
                </a:solidFill>
              </a:rPr>
              <a:t>Engine section or nacelle*** group </a:t>
            </a:r>
            <a:r>
              <a:rPr lang="en-US" dirty="0"/>
              <a:t>(but not the engine!)</a:t>
            </a:r>
            <a:endParaRPr lang="en-GB" dirty="0"/>
          </a:p>
        </p:txBody>
      </p:sp>
      <p:sp>
        <p:nvSpPr>
          <p:cNvPr id="42024" name="Rectangle 42"/>
          <p:cNvSpPr>
            <a:spLocks noChangeArrowheads="1"/>
          </p:cNvSpPr>
          <p:nvPr/>
        </p:nvSpPr>
        <p:spPr bwMode="auto">
          <a:xfrm>
            <a:off x="2281238" y="2540000"/>
            <a:ext cx="3897312"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Basic (empty) weight</a:t>
            </a:r>
          </a:p>
        </p:txBody>
      </p:sp>
      <p:sp>
        <p:nvSpPr>
          <p:cNvPr id="2" name="Rectangle 1"/>
          <p:cNvSpPr/>
          <p:nvPr/>
        </p:nvSpPr>
        <p:spPr>
          <a:xfrm>
            <a:off x="1775520" y="3105835"/>
            <a:ext cx="8651180" cy="338554"/>
          </a:xfrm>
          <a:prstGeom prst="rect">
            <a:avLst/>
          </a:prstGeom>
        </p:spPr>
        <p:txBody>
          <a:bodyPr wrap="square">
            <a:spAutoFit/>
          </a:bodyPr>
          <a:lstStyle/>
          <a:p>
            <a:r>
              <a:rPr lang="en-US" sz="1600" dirty="0"/>
              <a:t>A class II estimation method provides the weight of several components:</a:t>
            </a:r>
            <a:endParaRPr lang="en-GB" sz="1600" dirty="0"/>
          </a:p>
        </p:txBody>
      </p:sp>
      <p:sp>
        <p:nvSpPr>
          <p:cNvPr id="42" name="Rectangle 39"/>
          <p:cNvSpPr>
            <a:spLocks noChangeArrowheads="1"/>
          </p:cNvSpPr>
          <p:nvPr/>
        </p:nvSpPr>
        <p:spPr bwMode="auto">
          <a:xfrm>
            <a:off x="695400" y="144463"/>
            <a:ext cx="10226600" cy="795337"/>
          </a:xfrm>
          <a:prstGeom prst="rect">
            <a:avLst/>
          </a:prstGeom>
          <a:noFill/>
          <a:ln w="9525">
            <a:noFill/>
            <a:miter lim="800000"/>
            <a:headEnd/>
            <a:tailEnd/>
          </a:ln>
        </p:spPr>
        <p:txBody>
          <a:bodyPr/>
          <a:lstStyle/>
          <a:p>
            <a:pPr>
              <a:spcBef>
                <a:spcPct val="0"/>
              </a:spcBef>
              <a:buClrTx/>
            </a:pPr>
            <a:r>
              <a:rPr lang="en-US" sz="3200" dirty="0">
                <a:solidFill>
                  <a:srgbClr val="00A4DE"/>
                </a:solidFill>
                <a:cs typeface="Tahoma" pitchFamily="34" charset="0"/>
              </a:rPr>
              <a:t>Weights: what are we talking about…</a:t>
            </a:r>
          </a:p>
        </p:txBody>
      </p:sp>
    </p:spTree>
    <p:extLst>
      <p:ext uri="{BB962C8B-B14F-4D97-AF65-F5344CB8AC3E}">
        <p14:creationId xmlns:p14="http://schemas.microsoft.com/office/powerpoint/2010/main" val="18063046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3033713" y="871538"/>
            <a:ext cx="654050" cy="1668462"/>
          </a:xfrm>
          <a:prstGeom prst="rect">
            <a:avLst/>
          </a:prstGeom>
          <a:solidFill>
            <a:srgbClr val="FFFF00"/>
          </a:solidFill>
          <a:ln w="9525" algn="ctr">
            <a:noFill/>
            <a:miter lim="800000"/>
            <a:headEnd/>
            <a:tailEnd/>
          </a:ln>
        </p:spPr>
        <p:txBody>
          <a:bodyPr wrap="none" anchor="ctr"/>
          <a:lstStyle/>
          <a:p>
            <a:endParaRPr lang="nl-NL"/>
          </a:p>
        </p:txBody>
      </p:sp>
      <p:sp>
        <p:nvSpPr>
          <p:cNvPr id="43011" name="Rectangle 3"/>
          <p:cNvSpPr>
            <a:spLocks noChangeArrowheads="1"/>
          </p:cNvSpPr>
          <p:nvPr/>
        </p:nvSpPr>
        <p:spPr bwMode="auto">
          <a:xfrm>
            <a:off x="3683000" y="876300"/>
            <a:ext cx="2497138" cy="514350"/>
          </a:xfrm>
          <a:prstGeom prst="rect">
            <a:avLst/>
          </a:prstGeom>
          <a:noFill/>
          <a:ln w="9525">
            <a:solidFill>
              <a:schemeClr val="tx1"/>
            </a:solidFill>
            <a:miter lim="800000"/>
            <a:headEnd/>
            <a:tailEnd type="none" w="lg" len="lg"/>
          </a:ln>
        </p:spPr>
        <p:txBody>
          <a:bodyPr wrap="none" anchor="ctr"/>
          <a:lstStyle/>
          <a:p>
            <a:endParaRPr lang="nl-NL"/>
          </a:p>
        </p:txBody>
      </p:sp>
      <p:sp>
        <p:nvSpPr>
          <p:cNvPr id="43012" name="Rectangle 4"/>
          <p:cNvSpPr>
            <a:spLocks noChangeArrowheads="1"/>
          </p:cNvSpPr>
          <p:nvPr/>
        </p:nvSpPr>
        <p:spPr bwMode="auto">
          <a:xfrm>
            <a:off x="2247900" y="3573016"/>
            <a:ext cx="8027988" cy="400110"/>
          </a:xfrm>
          <a:prstGeom prst="rect">
            <a:avLst/>
          </a:prstGeom>
          <a:noFill/>
          <a:ln w="9525" algn="ctr">
            <a:noFill/>
            <a:miter lim="800000"/>
            <a:headEnd/>
            <a:tailEnd/>
          </a:ln>
        </p:spPr>
        <p:txBody>
          <a:bodyPr>
            <a:spAutoFit/>
          </a:bodyPr>
          <a:lstStyle/>
          <a:p>
            <a:pPr>
              <a:spcBef>
                <a:spcPct val="0"/>
              </a:spcBef>
              <a:buClrTx/>
            </a:pPr>
            <a:r>
              <a:rPr lang="en-US" sz="2000" dirty="0">
                <a:solidFill>
                  <a:srgbClr val="FF3300"/>
                </a:solidFill>
              </a:rPr>
              <a:t>Propulsion group</a:t>
            </a:r>
          </a:p>
        </p:txBody>
      </p:sp>
      <p:sp>
        <p:nvSpPr>
          <p:cNvPr id="43013" name="Rectangle 5"/>
          <p:cNvSpPr>
            <a:spLocks noChangeArrowheads="1"/>
          </p:cNvSpPr>
          <p:nvPr/>
        </p:nvSpPr>
        <p:spPr bwMode="auto">
          <a:xfrm>
            <a:off x="2052638" y="2203450"/>
            <a:ext cx="8153400" cy="457200"/>
          </a:xfrm>
          <a:prstGeom prst="rect">
            <a:avLst/>
          </a:prstGeom>
          <a:noFill/>
          <a:ln w="9525">
            <a:noFill/>
            <a:miter lim="800000"/>
            <a:headEnd/>
            <a:tailEnd/>
          </a:ln>
        </p:spPr>
        <p:txBody>
          <a:bodyPr>
            <a:spAutoFit/>
          </a:bodyPr>
          <a:lstStyle/>
          <a:p>
            <a:pPr marL="457200" indent="-457200"/>
            <a:endParaRPr lang="en-GB" sz="2400"/>
          </a:p>
        </p:txBody>
      </p:sp>
      <p:sp>
        <p:nvSpPr>
          <p:cNvPr id="43014" name="Rectangle 6"/>
          <p:cNvSpPr>
            <a:spLocks noChangeArrowheads="1"/>
          </p:cNvSpPr>
          <p:nvPr/>
        </p:nvSpPr>
        <p:spPr bwMode="auto">
          <a:xfrm>
            <a:off x="2289178" y="877891"/>
            <a:ext cx="8061325" cy="1665287"/>
          </a:xfrm>
          <a:prstGeom prst="rect">
            <a:avLst/>
          </a:prstGeom>
          <a:noFill/>
          <a:ln w="9525">
            <a:solidFill>
              <a:schemeClr val="tx1"/>
            </a:solidFill>
            <a:miter lim="800000"/>
            <a:headEnd/>
            <a:tailEnd type="none" w="lg" len="lg"/>
          </a:ln>
        </p:spPr>
        <p:txBody>
          <a:bodyPr wrap="none" anchor="ctr"/>
          <a:lstStyle/>
          <a:p>
            <a:endParaRPr lang="nl-NL"/>
          </a:p>
        </p:txBody>
      </p:sp>
      <p:sp>
        <p:nvSpPr>
          <p:cNvPr id="43015" name="Text Box 7"/>
          <p:cNvSpPr txBox="1">
            <a:spLocks noChangeArrowheads="1"/>
          </p:cNvSpPr>
          <p:nvPr/>
        </p:nvSpPr>
        <p:spPr bwMode="auto">
          <a:xfrm rot="-5400000">
            <a:off x="2083597" y="1753397"/>
            <a:ext cx="982663"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a:t>
            </a:r>
          </a:p>
          <a:p>
            <a:pPr eaLnBrk="0" hangingPunct="0">
              <a:spcBef>
                <a:spcPct val="0"/>
              </a:spcBef>
              <a:buClrTx/>
            </a:pPr>
            <a:r>
              <a:rPr lang="en-US" sz="1600"/>
              <a:t>structure</a:t>
            </a:r>
          </a:p>
        </p:txBody>
      </p:sp>
      <p:sp>
        <p:nvSpPr>
          <p:cNvPr id="43016" name="Line 8"/>
          <p:cNvSpPr>
            <a:spLocks noChangeShapeType="1"/>
          </p:cNvSpPr>
          <p:nvPr/>
        </p:nvSpPr>
        <p:spPr bwMode="auto">
          <a:xfrm>
            <a:off x="3025775" y="889003"/>
            <a:ext cx="0" cy="1649413"/>
          </a:xfrm>
          <a:prstGeom prst="line">
            <a:avLst/>
          </a:prstGeom>
          <a:noFill/>
          <a:ln w="9525">
            <a:solidFill>
              <a:schemeClr val="tx1"/>
            </a:solidFill>
            <a:round/>
            <a:headEnd/>
            <a:tailEnd type="none" w="lg" len="lg"/>
          </a:ln>
        </p:spPr>
        <p:txBody>
          <a:bodyPr/>
          <a:lstStyle/>
          <a:p>
            <a:endParaRPr lang="nl-NL"/>
          </a:p>
        </p:txBody>
      </p:sp>
      <p:sp>
        <p:nvSpPr>
          <p:cNvPr id="43017" name="Rectangle 9"/>
          <p:cNvSpPr>
            <a:spLocks noChangeArrowheads="1"/>
          </p:cNvSpPr>
          <p:nvPr/>
        </p:nvSpPr>
        <p:spPr bwMode="auto">
          <a:xfrm>
            <a:off x="3683000" y="1389063"/>
            <a:ext cx="2497138" cy="1154112"/>
          </a:xfrm>
          <a:prstGeom prst="rect">
            <a:avLst/>
          </a:prstGeom>
          <a:noFill/>
          <a:ln w="9525">
            <a:solidFill>
              <a:schemeClr val="tx1"/>
            </a:solidFill>
            <a:miter lim="800000"/>
            <a:headEnd/>
            <a:tailEnd type="none" w="lg" len="lg"/>
          </a:ln>
        </p:spPr>
        <p:txBody>
          <a:bodyPr wrap="none" anchor="ctr"/>
          <a:lstStyle/>
          <a:p>
            <a:endParaRPr lang="nl-NL"/>
          </a:p>
        </p:txBody>
      </p:sp>
      <p:sp>
        <p:nvSpPr>
          <p:cNvPr id="43018" name="Text Box 10"/>
          <p:cNvSpPr txBox="1">
            <a:spLocks noChangeArrowheads="1"/>
          </p:cNvSpPr>
          <p:nvPr/>
        </p:nvSpPr>
        <p:spPr bwMode="auto">
          <a:xfrm>
            <a:off x="3663950" y="835028"/>
            <a:ext cx="17668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 services </a:t>
            </a:r>
          </a:p>
          <a:p>
            <a:pPr eaLnBrk="0" hangingPunct="0">
              <a:spcBef>
                <a:spcPct val="0"/>
              </a:spcBef>
              <a:buClrTx/>
            </a:pPr>
            <a:r>
              <a:rPr lang="en-US" sz="1600"/>
              <a:t>and equipment</a:t>
            </a:r>
          </a:p>
        </p:txBody>
      </p:sp>
      <p:sp>
        <p:nvSpPr>
          <p:cNvPr id="43019" name="Line 11"/>
          <p:cNvSpPr>
            <a:spLocks noChangeShapeType="1"/>
          </p:cNvSpPr>
          <p:nvPr/>
        </p:nvSpPr>
        <p:spPr bwMode="auto">
          <a:xfrm flipV="1">
            <a:off x="4899025" y="1382716"/>
            <a:ext cx="0" cy="1152525"/>
          </a:xfrm>
          <a:prstGeom prst="line">
            <a:avLst/>
          </a:prstGeom>
          <a:noFill/>
          <a:ln w="9525">
            <a:solidFill>
              <a:schemeClr val="tx1"/>
            </a:solidFill>
            <a:round/>
            <a:headEnd/>
            <a:tailEnd type="none" w="lg" len="lg"/>
          </a:ln>
        </p:spPr>
        <p:txBody>
          <a:bodyPr/>
          <a:lstStyle/>
          <a:p>
            <a:endParaRPr lang="nl-NL"/>
          </a:p>
        </p:txBody>
      </p:sp>
      <p:sp>
        <p:nvSpPr>
          <p:cNvPr id="43020" name="Text Box 12"/>
          <p:cNvSpPr txBox="1">
            <a:spLocks noChangeArrowheads="1"/>
          </p:cNvSpPr>
          <p:nvPr/>
        </p:nvSpPr>
        <p:spPr bwMode="auto">
          <a:xfrm rot="-5400000">
            <a:off x="2750344" y="1688309"/>
            <a:ext cx="111283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propulsion</a:t>
            </a:r>
          </a:p>
          <a:p>
            <a:pPr eaLnBrk="0" hangingPunct="0">
              <a:spcBef>
                <a:spcPct val="0"/>
              </a:spcBef>
              <a:buClrTx/>
            </a:pPr>
            <a:r>
              <a:rPr lang="en-US" sz="1600"/>
              <a:t>group</a:t>
            </a:r>
          </a:p>
        </p:txBody>
      </p:sp>
      <p:sp>
        <p:nvSpPr>
          <p:cNvPr id="43021" name="Line 13"/>
          <p:cNvSpPr>
            <a:spLocks noChangeShapeType="1"/>
          </p:cNvSpPr>
          <p:nvPr/>
        </p:nvSpPr>
        <p:spPr bwMode="auto">
          <a:xfrm>
            <a:off x="4897438" y="1611313"/>
            <a:ext cx="1274762" cy="0"/>
          </a:xfrm>
          <a:prstGeom prst="line">
            <a:avLst/>
          </a:prstGeom>
          <a:noFill/>
          <a:ln w="9525">
            <a:solidFill>
              <a:schemeClr val="tx1"/>
            </a:solidFill>
            <a:round/>
            <a:headEnd/>
            <a:tailEnd type="none" w="lg" len="lg"/>
          </a:ln>
        </p:spPr>
        <p:txBody>
          <a:bodyPr/>
          <a:lstStyle/>
          <a:p>
            <a:endParaRPr lang="nl-NL"/>
          </a:p>
        </p:txBody>
      </p:sp>
      <p:sp>
        <p:nvSpPr>
          <p:cNvPr id="43022" name="Text Box 14"/>
          <p:cNvSpPr txBox="1">
            <a:spLocks noChangeArrowheads="1"/>
          </p:cNvSpPr>
          <p:nvPr/>
        </p:nvSpPr>
        <p:spPr bwMode="auto">
          <a:xfrm>
            <a:off x="4943475" y="1296988"/>
            <a:ext cx="1119188"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removable</a:t>
            </a:r>
          </a:p>
        </p:txBody>
      </p:sp>
      <p:sp>
        <p:nvSpPr>
          <p:cNvPr id="43023" name="Text Box 15"/>
          <p:cNvSpPr txBox="1">
            <a:spLocks noChangeArrowheads="1"/>
          </p:cNvSpPr>
          <p:nvPr/>
        </p:nvSpPr>
        <p:spPr bwMode="auto">
          <a:xfrm rot="-5400000">
            <a:off x="3617121" y="2043907"/>
            <a:ext cx="614363"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fixed</a:t>
            </a:r>
          </a:p>
        </p:txBody>
      </p:sp>
      <p:sp>
        <p:nvSpPr>
          <p:cNvPr id="43024" name="Text Box 16"/>
          <p:cNvSpPr txBox="1">
            <a:spLocks noChangeArrowheads="1"/>
          </p:cNvSpPr>
          <p:nvPr/>
        </p:nvSpPr>
        <p:spPr bwMode="auto">
          <a:xfrm rot="-5400000">
            <a:off x="4644232" y="1818484"/>
            <a:ext cx="9667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items</a:t>
            </a:r>
          </a:p>
        </p:txBody>
      </p:sp>
      <p:sp>
        <p:nvSpPr>
          <p:cNvPr id="43025" name="Line 17"/>
          <p:cNvSpPr>
            <a:spLocks noChangeShapeType="1"/>
          </p:cNvSpPr>
          <p:nvPr/>
        </p:nvSpPr>
        <p:spPr bwMode="auto">
          <a:xfrm flipV="1">
            <a:off x="5411788" y="1606550"/>
            <a:ext cx="0" cy="928688"/>
          </a:xfrm>
          <a:prstGeom prst="line">
            <a:avLst/>
          </a:prstGeom>
          <a:noFill/>
          <a:ln w="9525">
            <a:solidFill>
              <a:schemeClr val="tx1"/>
            </a:solidFill>
            <a:round/>
            <a:headEnd/>
            <a:tailEnd type="none" w="lg" len="lg"/>
          </a:ln>
        </p:spPr>
        <p:txBody>
          <a:bodyPr/>
          <a:lstStyle/>
          <a:p>
            <a:endParaRPr lang="nl-NL"/>
          </a:p>
        </p:txBody>
      </p:sp>
      <p:sp>
        <p:nvSpPr>
          <p:cNvPr id="43026" name="Text Box 18"/>
          <p:cNvSpPr txBox="1">
            <a:spLocks noChangeArrowheads="1"/>
          </p:cNvSpPr>
          <p:nvPr/>
        </p:nvSpPr>
        <p:spPr bwMode="auto">
          <a:xfrm rot="-5400000">
            <a:off x="5236371" y="1650207"/>
            <a:ext cx="1046163" cy="82550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a:t>
            </a:r>
          </a:p>
          <a:p>
            <a:pPr eaLnBrk="0" hangingPunct="0">
              <a:spcBef>
                <a:spcPct val="0"/>
              </a:spcBef>
              <a:buClrTx/>
            </a:pPr>
            <a:r>
              <a:rPr lang="en-US" sz="1600"/>
              <a:t>variations</a:t>
            </a:r>
          </a:p>
        </p:txBody>
      </p:sp>
      <p:sp>
        <p:nvSpPr>
          <p:cNvPr id="43027" name="Rectangle 19"/>
          <p:cNvSpPr>
            <a:spLocks noChangeArrowheads="1"/>
          </p:cNvSpPr>
          <p:nvPr/>
        </p:nvSpPr>
        <p:spPr bwMode="auto">
          <a:xfrm>
            <a:off x="6180141" y="876303"/>
            <a:ext cx="238125" cy="1660525"/>
          </a:xfrm>
          <a:prstGeom prst="rect">
            <a:avLst/>
          </a:prstGeom>
          <a:noFill/>
          <a:ln w="9525">
            <a:solidFill>
              <a:schemeClr val="tx1"/>
            </a:solidFill>
            <a:miter lim="800000"/>
            <a:headEnd/>
            <a:tailEnd type="none" w="lg" len="lg"/>
          </a:ln>
        </p:spPr>
        <p:txBody>
          <a:bodyPr wrap="none" anchor="ctr"/>
          <a:lstStyle/>
          <a:p>
            <a:endParaRPr lang="nl-NL"/>
          </a:p>
        </p:txBody>
      </p:sp>
      <p:sp>
        <p:nvSpPr>
          <p:cNvPr id="43028" name="Text Box 20"/>
          <p:cNvSpPr txBox="1">
            <a:spLocks noChangeArrowheads="1"/>
          </p:cNvSpPr>
          <p:nvPr/>
        </p:nvSpPr>
        <p:spPr bwMode="auto">
          <a:xfrm rot="-5400000">
            <a:off x="5432428" y="1546226"/>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operational items</a:t>
            </a:r>
          </a:p>
        </p:txBody>
      </p:sp>
      <p:sp>
        <p:nvSpPr>
          <p:cNvPr id="43029" name="Rectangle 21"/>
          <p:cNvSpPr>
            <a:spLocks noChangeArrowheads="1"/>
          </p:cNvSpPr>
          <p:nvPr/>
        </p:nvSpPr>
        <p:spPr bwMode="auto">
          <a:xfrm>
            <a:off x="6418266" y="876303"/>
            <a:ext cx="814387" cy="1666875"/>
          </a:xfrm>
          <a:prstGeom prst="rect">
            <a:avLst/>
          </a:prstGeom>
          <a:noFill/>
          <a:ln w="9525">
            <a:solidFill>
              <a:schemeClr val="tx1"/>
            </a:solidFill>
            <a:miter lim="800000"/>
            <a:headEnd/>
            <a:tailEnd type="none" w="lg" len="lg"/>
          </a:ln>
        </p:spPr>
        <p:txBody>
          <a:bodyPr wrap="none" anchor="ctr"/>
          <a:lstStyle/>
          <a:p>
            <a:endParaRPr lang="nl-NL"/>
          </a:p>
        </p:txBody>
      </p:sp>
      <p:sp>
        <p:nvSpPr>
          <p:cNvPr id="43030" name="Text Box 22"/>
          <p:cNvSpPr txBox="1">
            <a:spLocks noChangeArrowheads="1"/>
          </p:cNvSpPr>
          <p:nvPr/>
        </p:nvSpPr>
        <p:spPr bwMode="auto">
          <a:xfrm rot="-5400000">
            <a:off x="5913440" y="1566863"/>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payload</a:t>
            </a:r>
          </a:p>
        </p:txBody>
      </p:sp>
      <p:sp>
        <p:nvSpPr>
          <p:cNvPr id="43031" name="Text Box 23"/>
          <p:cNvSpPr txBox="1">
            <a:spLocks noChangeArrowheads="1"/>
          </p:cNvSpPr>
          <p:nvPr/>
        </p:nvSpPr>
        <p:spPr bwMode="auto">
          <a:xfrm>
            <a:off x="8151816" y="830263"/>
            <a:ext cx="1133475"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(total) fuel</a:t>
            </a:r>
          </a:p>
        </p:txBody>
      </p:sp>
      <p:sp>
        <p:nvSpPr>
          <p:cNvPr id="43032" name="Line 24"/>
          <p:cNvSpPr>
            <a:spLocks noChangeShapeType="1"/>
          </p:cNvSpPr>
          <p:nvPr/>
        </p:nvSpPr>
        <p:spPr bwMode="auto">
          <a:xfrm>
            <a:off x="7226303" y="1130300"/>
            <a:ext cx="3122613" cy="0"/>
          </a:xfrm>
          <a:prstGeom prst="line">
            <a:avLst/>
          </a:prstGeom>
          <a:noFill/>
          <a:ln w="9525">
            <a:solidFill>
              <a:schemeClr val="tx1"/>
            </a:solidFill>
            <a:prstDash val="sysDot"/>
            <a:round/>
            <a:headEnd/>
            <a:tailEnd type="none" w="lg" len="lg"/>
          </a:ln>
        </p:spPr>
        <p:txBody>
          <a:bodyPr/>
          <a:lstStyle/>
          <a:p>
            <a:endParaRPr lang="nl-NL"/>
          </a:p>
        </p:txBody>
      </p:sp>
      <p:sp>
        <p:nvSpPr>
          <p:cNvPr id="43033" name="Text Box 25"/>
          <p:cNvSpPr txBox="1">
            <a:spLocks noChangeArrowheads="1"/>
          </p:cNvSpPr>
          <p:nvPr/>
        </p:nvSpPr>
        <p:spPr bwMode="auto">
          <a:xfrm>
            <a:off x="7208841" y="1081088"/>
            <a:ext cx="915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rest fuel</a:t>
            </a:r>
          </a:p>
        </p:txBody>
      </p:sp>
      <p:sp>
        <p:nvSpPr>
          <p:cNvPr id="43034" name="Text Box 26"/>
          <p:cNvSpPr txBox="1">
            <a:spLocks noChangeArrowheads="1"/>
          </p:cNvSpPr>
          <p:nvPr/>
        </p:nvSpPr>
        <p:spPr bwMode="auto">
          <a:xfrm>
            <a:off x="8758241" y="1092200"/>
            <a:ext cx="1042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block fuel</a:t>
            </a:r>
          </a:p>
        </p:txBody>
      </p:sp>
      <p:sp>
        <p:nvSpPr>
          <p:cNvPr id="43035" name="Line 27"/>
          <p:cNvSpPr>
            <a:spLocks noChangeShapeType="1"/>
          </p:cNvSpPr>
          <p:nvPr/>
        </p:nvSpPr>
        <p:spPr bwMode="auto">
          <a:xfrm>
            <a:off x="7237413" y="1390650"/>
            <a:ext cx="3103562" cy="0"/>
          </a:xfrm>
          <a:prstGeom prst="line">
            <a:avLst/>
          </a:prstGeom>
          <a:noFill/>
          <a:ln w="9525">
            <a:solidFill>
              <a:schemeClr val="tx1"/>
            </a:solidFill>
            <a:round/>
            <a:headEnd/>
            <a:tailEnd type="none" w="lg" len="lg"/>
          </a:ln>
        </p:spPr>
        <p:txBody>
          <a:bodyPr/>
          <a:lstStyle/>
          <a:p>
            <a:endParaRPr lang="nl-NL"/>
          </a:p>
        </p:txBody>
      </p:sp>
      <p:sp>
        <p:nvSpPr>
          <p:cNvPr id="43036" name="Line 28"/>
          <p:cNvSpPr>
            <a:spLocks noChangeShapeType="1"/>
          </p:cNvSpPr>
          <p:nvPr/>
        </p:nvSpPr>
        <p:spPr bwMode="auto">
          <a:xfrm flipH="1">
            <a:off x="8478841" y="1130300"/>
            <a:ext cx="9525" cy="266700"/>
          </a:xfrm>
          <a:prstGeom prst="line">
            <a:avLst/>
          </a:prstGeom>
          <a:noFill/>
          <a:ln w="9525">
            <a:solidFill>
              <a:schemeClr val="tx1"/>
            </a:solidFill>
            <a:prstDash val="sysDot"/>
            <a:round/>
            <a:headEnd/>
            <a:tailEnd type="none" w="lg" len="lg"/>
          </a:ln>
        </p:spPr>
        <p:txBody>
          <a:bodyPr/>
          <a:lstStyle/>
          <a:p>
            <a:endParaRPr lang="nl-NL"/>
          </a:p>
        </p:txBody>
      </p:sp>
      <p:sp>
        <p:nvSpPr>
          <p:cNvPr id="43037" name="Text Box 29"/>
          <p:cNvSpPr txBox="1">
            <a:spLocks noChangeArrowheads="1"/>
          </p:cNvSpPr>
          <p:nvPr/>
        </p:nvSpPr>
        <p:spPr bwMode="auto">
          <a:xfrm>
            <a:off x="7189788" y="1325563"/>
            <a:ext cx="1465262"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fuel at landing</a:t>
            </a:r>
          </a:p>
        </p:txBody>
      </p:sp>
      <p:sp>
        <p:nvSpPr>
          <p:cNvPr id="43038" name="Text Box 30"/>
          <p:cNvSpPr txBox="1">
            <a:spLocks noChangeArrowheads="1"/>
          </p:cNvSpPr>
          <p:nvPr/>
        </p:nvSpPr>
        <p:spPr bwMode="auto">
          <a:xfrm rot="-5400000">
            <a:off x="7088188" y="1838328"/>
            <a:ext cx="920750"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reserve</a:t>
            </a:r>
          </a:p>
          <a:p>
            <a:pPr eaLnBrk="0" hangingPunct="0">
              <a:spcBef>
                <a:spcPct val="0"/>
              </a:spcBef>
              <a:buClrTx/>
            </a:pPr>
            <a:r>
              <a:rPr lang="en-US" sz="1600"/>
              <a:t>fuel</a:t>
            </a:r>
          </a:p>
        </p:txBody>
      </p:sp>
      <p:sp>
        <p:nvSpPr>
          <p:cNvPr id="43039" name="Text Box 31"/>
          <p:cNvSpPr txBox="1">
            <a:spLocks noChangeArrowheads="1"/>
          </p:cNvSpPr>
          <p:nvPr/>
        </p:nvSpPr>
        <p:spPr bwMode="auto">
          <a:xfrm rot="-5400000">
            <a:off x="760730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additional</a:t>
            </a:r>
          </a:p>
          <a:p>
            <a:pPr eaLnBrk="0" hangingPunct="0">
              <a:spcBef>
                <a:spcPct val="0"/>
              </a:spcBef>
              <a:buClrTx/>
            </a:pPr>
            <a:r>
              <a:rPr lang="en-US" sz="1600"/>
              <a:t>fuel</a:t>
            </a:r>
          </a:p>
        </p:txBody>
      </p:sp>
      <p:sp>
        <p:nvSpPr>
          <p:cNvPr id="43040" name="Line 32"/>
          <p:cNvSpPr>
            <a:spLocks noChangeShapeType="1"/>
          </p:cNvSpPr>
          <p:nvPr/>
        </p:nvSpPr>
        <p:spPr bwMode="auto">
          <a:xfrm flipV="1">
            <a:off x="8639175" y="1390653"/>
            <a:ext cx="0" cy="1152525"/>
          </a:xfrm>
          <a:prstGeom prst="line">
            <a:avLst/>
          </a:prstGeom>
          <a:noFill/>
          <a:ln w="9525">
            <a:solidFill>
              <a:schemeClr val="tx1"/>
            </a:solidFill>
            <a:round/>
            <a:headEnd/>
            <a:tailEnd type="none" w="lg" len="lg"/>
          </a:ln>
        </p:spPr>
        <p:txBody>
          <a:bodyPr/>
          <a:lstStyle/>
          <a:p>
            <a:endParaRPr lang="nl-NL"/>
          </a:p>
        </p:txBody>
      </p:sp>
      <p:sp>
        <p:nvSpPr>
          <p:cNvPr id="43041" name="Line 33"/>
          <p:cNvSpPr>
            <a:spLocks noChangeShapeType="1"/>
          </p:cNvSpPr>
          <p:nvPr/>
        </p:nvSpPr>
        <p:spPr bwMode="auto">
          <a:xfrm flipH="1">
            <a:off x="7229475" y="1619250"/>
            <a:ext cx="1409700" cy="0"/>
          </a:xfrm>
          <a:prstGeom prst="line">
            <a:avLst/>
          </a:prstGeom>
          <a:noFill/>
          <a:ln w="9525">
            <a:solidFill>
              <a:schemeClr val="tx1"/>
            </a:solidFill>
            <a:round/>
            <a:headEnd/>
            <a:tailEnd type="none" w="lg" len="lg"/>
          </a:ln>
        </p:spPr>
        <p:txBody>
          <a:bodyPr/>
          <a:lstStyle/>
          <a:p>
            <a:endParaRPr lang="nl-NL"/>
          </a:p>
        </p:txBody>
      </p:sp>
      <p:sp>
        <p:nvSpPr>
          <p:cNvPr id="43042" name="Line 34"/>
          <p:cNvSpPr>
            <a:spLocks noChangeShapeType="1"/>
          </p:cNvSpPr>
          <p:nvPr/>
        </p:nvSpPr>
        <p:spPr bwMode="auto">
          <a:xfrm>
            <a:off x="7867650" y="1619253"/>
            <a:ext cx="0" cy="923925"/>
          </a:xfrm>
          <a:prstGeom prst="line">
            <a:avLst/>
          </a:prstGeom>
          <a:noFill/>
          <a:ln w="9525">
            <a:solidFill>
              <a:schemeClr val="tx1"/>
            </a:solidFill>
            <a:round/>
            <a:headEnd/>
            <a:tailEnd type="none" w="lg" len="lg"/>
          </a:ln>
        </p:spPr>
        <p:txBody>
          <a:bodyPr/>
          <a:lstStyle/>
          <a:p>
            <a:endParaRPr lang="nl-NL"/>
          </a:p>
        </p:txBody>
      </p:sp>
      <p:sp>
        <p:nvSpPr>
          <p:cNvPr id="43043" name="Line 35"/>
          <p:cNvSpPr>
            <a:spLocks noChangeShapeType="1"/>
          </p:cNvSpPr>
          <p:nvPr/>
        </p:nvSpPr>
        <p:spPr bwMode="auto">
          <a:xfrm flipV="1">
            <a:off x="9820275" y="1390653"/>
            <a:ext cx="0" cy="1152525"/>
          </a:xfrm>
          <a:prstGeom prst="line">
            <a:avLst/>
          </a:prstGeom>
          <a:noFill/>
          <a:ln w="9525">
            <a:solidFill>
              <a:schemeClr val="tx1"/>
            </a:solidFill>
            <a:round/>
            <a:headEnd/>
            <a:tailEnd type="none" w="lg" len="lg"/>
          </a:ln>
        </p:spPr>
        <p:txBody>
          <a:bodyPr/>
          <a:lstStyle/>
          <a:p>
            <a:endParaRPr lang="nl-NL"/>
          </a:p>
        </p:txBody>
      </p:sp>
      <p:sp>
        <p:nvSpPr>
          <p:cNvPr id="43044" name="Text Box 36"/>
          <p:cNvSpPr txBox="1">
            <a:spLocks noChangeArrowheads="1"/>
          </p:cNvSpPr>
          <p:nvPr/>
        </p:nvSpPr>
        <p:spPr bwMode="auto">
          <a:xfrm rot="-5400000">
            <a:off x="873125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trip</a:t>
            </a:r>
          </a:p>
          <a:p>
            <a:pPr eaLnBrk="0" hangingPunct="0">
              <a:spcBef>
                <a:spcPct val="0"/>
              </a:spcBef>
              <a:buClrTx/>
            </a:pPr>
            <a:r>
              <a:rPr lang="en-US" sz="1600"/>
              <a:t>fuel</a:t>
            </a:r>
          </a:p>
        </p:txBody>
      </p:sp>
      <p:sp>
        <p:nvSpPr>
          <p:cNvPr id="43045" name="Text Box 37"/>
          <p:cNvSpPr txBox="1">
            <a:spLocks noChangeArrowheads="1"/>
          </p:cNvSpPr>
          <p:nvPr/>
        </p:nvSpPr>
        <p:spPr bwMode="auto">
          <a:xfrm rot="-5400000">
            <a:off x="9169403" y="1443041"/>
            <a:ext cx="173037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pre-take-off </a:t>
            </a:r>
          </a:p>
          <a:p>
            <a:pPr eaLnBrk="0" hangingPunct="0">
              <a:spcBef>
                <a:spcPct val="0"/>
              </a:spcBef>
              <a:buClrTx/>
            </a:pPr>
            <a:r>
              <a:rPr lang="en-US" sz="1600"/>
              <a:t>fuel</a:t>
            </a:r>
          </a:p>
        </p:txBody>
      </p:sp>
      <p:sp>
        <p:nvSpPr>
          <p:cNvPr id="43047" name="Rectangle 39"/>
          <p:cNvSpPr>
            <a:spLocks noChangeArrowheads="1"/>
          </p:cNvSpPr>
          <p:nvPr/>
        </p:nvSpPr>
        <p:spPr bwMode="auto">
          <a:xfrm>
            <a:off x="2270128" y="3918538"/>
            <a:ext cx="7764463" cy="2031325"/>
          </a:xfrm>
          <a:prstGeom prst="rect">
            <a:avLst/>
          </a:prstGeom>
          <a:noFill/>
          <a:ln w="9525" algn="ctr">
            <a:noFill/>
            <a:miter lim="800000"/>
            <a:headEnd/>
            <a:tailEnd/>
          </a:ln>
        </p:spPr>
        <p:txBody>
          <a:bodyPr>
            <a:spAutoFit/>
          </a:bodyPr>
          <a:lstStyle/>
          <a:p>
            <a:pPr marL="800100" lvl="1" indent="-342900">
              <a:buFont typeface="Arial" pitchFamily="34" charset="0"/>
              <a:buChar char="•"/>
            </a:pPr>
            <a:r>
              <a:rPr lang="en-US" dirty="0"/>
              <a:t>Engine installation</a:t>
            </a:r>
          </a:p>
          <a:p>
            <a:pPr marL="800100" lvl="1" indent="-342900">
              <a:buFont typeface="Arial" pitchFamily="34" charset="0"/>
              <a:buChar char="•"/>
            </a:pPr>
            <a:r>
              <a:rPr lang="en-US" dirty="0"/>
              <a:t>Air induction system</a:t>
            </a:r>
          </a:p>
          <a:p>
            <a:pPr marL="800100" lvl="1" indent="-342900">
              <a:buFont typeface="Arial" pitchFamily="34" charset="0"/>
              <a:buChar char="•"/>
            </a:pPr>
            <a:r>
              <a:rPr lang="en-US" dirty="0"/>
              <a:t>Exhaust system</a:t>
            </a:r>
          </a:p>
          <a:p>
            <a:pPr marL="800100" lvl="1" indent="-342900">
              <a:buFont typeface="Arial" pitchFamily="34" charset="0"/>
              <a:buChar char="•"/>
            </a:pPr>
            <a:r>
              <a:rPr lang="en-US" dirty="0" err="1"/>
              <a:t>Powerplant</a:t>
            </a:r>
            <a:r>
              <a:rPr lang="en-US" dirty="0"/>
              <a:t> controls, starting and ignition system</a:t>
            </a:r>
          </a:p>
          <a:p>
            <a:pPr marL="800100" lvl="1" indent="-342900">
              <a:buFont typeface="Arial" pitchFamily="34" charset="0"/>
              <a:buChar char="•"/>
            </a:pPr>
            <a:r>
              <a:rPr lang="en-US" dirty="0"/>
              <a:t>Fuel system*</a:t>
            </a:r>
          </a:p>
          <a:p>
            <a:pPr marL="800100" lvl="1" indent="-342900">
              <a:buFont typeface="Arial" pitchFamily="34" charset="0"/>
              <a:buChar char="•"/>
            </a:pPr>
            <a:r>
              <a:rPr lang="en-US" dirty="0"/>
              <a:t>Propeller installation</a:t>
            </a:r>
          </a:p>
          <a:p>
            <a:pPr marL="800100" lvl="1" indent="-342900">
              <a:buFont typeface="Arial" pitchFamily="34" charset="0"/>
              <a:buChar char="•"/>
            </a:pPr>
            <a:r>
              <a:rPr lang="en-US" dirty="0"/>
              <a:t>Thrust reverser</a:t>
            </a:r>
            <a:endParaRPr lang="en-GB" dirty="0"/>
          </a:p>
        </p:txBody>
      </p:sp>
      <p:sp>
        <p:nvSpPr>
          <p:cNvPr id="43048" name="Rectangle 40"/>
          <p:cNvSpPr>
            <a:spLocks noChangeArrowheads="1"/>
          </p:cNvSpPr>
          <p:nvPr/>
        </p:nvSpPr>
        <p:spPr bwMode="auto">
          <a:xfrm>
            <a:off x="2281238" y="2540000"/>
            <a:ext cx="3897312"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Basic (empty) weight</a:t>
            </a:r>
          </a:p>
        </p:txBody>
      </p:sp>
      <p:sp>
        <p:nvSpPr>
          <p:cNvPr id="41" name="Rectangle 40"/>
          <p:cNvSpPr/>
          <p:nvPr/>
        </p:nvSpPr>
        <p:spPr>
          <a:xfrm>
            <a:off x="1775520" y="3105835"/>
            <a:ext cx="8651180" cy="338554"/>
          </a:xfrm>
          <a:prstGeom prst="rect">
            <a:avLst/>
          </a:prstGeom>
        </p:spPr>
        <p:txBody>
          <a:bodyPr wrap="square">
            <a:spAutoFit/>
          </a:bodyPr>
          <a:lstStyle/>
          <a:p>
            <a:r>
              <a:rPr lang="en-US" sz="1600" dirty="0"/>
              <a:t>A class II estimation method provides the weight of several components:</a:t>
            </a:r>
            <a:endParaRPr lang="en-GB" sz="1600" dirty="0"/>
          </a:p>
        </p:txBody>
      </p:sp>
      <p:sp>
        <p:nvSpPr>
          <p:cNvPr id="42" name="Rectangle 39"/>
          <p:cNvSpPr>
            <a:spLocks noChangeArrowheads="1"/>
          </p:cNvSpPr>
          <p:nvPr/>
        </p:nvSpPr>
        <p:spPr bwMode="auto">
          <a:xfrm>
            <a:off x="695400" y="144463"/>
            <a:ext cx="10226600" cy="795337"/>
          </a:xfrm>
          <a:prstGeom prst="rect">
            <a:avLst/>
          </a:prstGeom>
          <a:noFill/>
          <a:ln w="9525">
            <a:noFill/>
            <a:miter lim="800000"/>
            <a:headEnd/>
            <a:tailEnd/>
          </a:ln>
        </p:spPr>
        <p:txBody>
          <a:bodyPr/>
          <a:lstStyle/>
          <a:p>
            <a:pPr>
              <a:spcBef>
                <a:spcPct val="0"/>
              </a:spcBef>
              <a:buClrTx/>
            </a:pPr>
            <a:r>
              <a:rPr lang="en-US" sz="3200" dirty="0">
                <a:solidFill>
                  <a:srgbClr val="00A4DE"/>
                </a:solidFill>
                <a:cs typeface="Tahoma" pitchFamily="34" charset="0"/>
              </a:rPr>
              <a:t>Weights: what are we talking about…</a:t>
            </a:r>
          </a:p>
        </p:txBody>
      </p:sp>
    </p:spTree>
    <p:extLst>
      <p:ext uri="{BB962C8B-B14F-4D97-AF65-F5344CB8AC3E}">
        <p14:creationId xmlns:p14="http://schemas.microsoft.com/office/powerpoint/2010/main" val="2888588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3683000" y="876300"/>
            <a:ext cx="2497138" cy="514350"/>
          </a:xfrm>
          <a:prstGeom prst="rect">
            <a:avLst/>
          </a:prstGeom>
          <a:solidFill>
            <a:srgbClr val="FFFF00"/>
          </a:solidFill>
          <a:ln w="9525">
            <a:solidFill>
              <a:schemeClr val="tx1"/>
            </a:solidFill>
            <a:miter lim="800000"/>
            <a:headEnd/>
            <a:tailEnd type="none" w="lg" len="lg"/>
          </a:ln>
        </p:spPr>
        <p:txBody>
          <a:bodyPr wrap="none" anchor="ctr"/>
          <a:lstStyle/>
          <a:p>
            <a:endParaRPr lang="nl-NL"/>
          </a:p>
        </p:txBody>
      </p:sp>
      <p:sp>
        <p:nvSpPr>
          <p:cNvPr id="44035" name="Rectangle 3"/>
          <p:cNvSpPr>
            <a:spLocks noChangeArrowheads="1"/>
          </p:cNvSpPr>
          <p:nvPr/>
        </p:nvSpPr>
        <p:spPr bwMode="auto">
          <a:xfrm>
            <a:off x="2247900" y="3748970"/>
            <a:ext cx="7405688" cy="400110"/>
          </a:xfrm>
          <a:prstGeom prst="rect">
            <a:avLst/>
          </a:prstGeom>
          <a:noFill/>
          <a:ln w="9525" algn="ctr">
            <a:noFill/>
            <a:miter lim="800000"/>
            <a:headEnd/>
            <a:tailEnd/>
          </a:ln>
        </p:spPr>
        <p:txBody>
          <a:bodyPr>
            <a:spAutoFit/>
          </a:bodyPr>
          <a:lstStyle/>
          <a:p>
            <a:pPr>
              <a:spcBef>
                <a:spcPct val="0"/>
              </a:spcBef>
              <a:buClrTx/>
            </a:pPr>
            <a:r>
              <a:rPr lang="en-US" sz="2000" dirty="0">
                <a:solidFill>
                  <a:srgbClr val="FF3300"/>
                </a:solidFill>
              </a:rPr>
              <a:t>Airframe services and equipment 1/2</a:t>
            </a:r>
          </a:p>
        </p:txBody>
      </p:sp>
      <p:sp>
        <p:nvSpPr>
          <p:cNvPr id="44037" name="Rectangle 6"/>
          <p:cNvSpPr>
            <a:spLocks noChangeArrowheads="1"/>
          </p:cNvSpPr>
          <p:nvPr/>
        </p:nvSpPr>
        <p:spPr bwMode="auto">
          <a:xfrm>
            <a:off x="2052638" y="2203450"/>
            <a:ext cx="8153400" cy="457200"/>
          </a:xfrm>
          <a:prstGeom prst="rect">
            <a:avLst/>
          </a:prstGeom>
          <a:noFill/>
          <a:ln w="9525">
            <a:noFill/>
            <a:miter lim="800000"/>
            <a:headEnd/>
            <a:tailEnd/>
          </a:ln>
        </p:spPr>
        <p:txBody>
          <a:bodyPr>
            <a:spAutoFit/>
          </a:bodyPr>
          <a:lstStyle/>
          <a:p>
            <a:pPr marL="457200" indent="-457200"/>
            <a:endParaRPr lang="en-GB" sz="2400"/>
          </a:p>
        </p:txBody>
      </p:sp>
      <p:sp>
        <p:nvSpPr>
          <p:cNvPr id="44038" name="Rectangle 7"/>
          <p:cNvSpPr>
            <a:spLocks noChangeArrowheads="1"/>
          </p:cNvSpPr>
          <p:nvPr/>
        </p:nvSpPr>
        <p:spPr bwMode="auto">
          <a:xfrm>
            <a:off x="2289178" y="877891"/>
            <a:ext cx="8061325" cy="1665287"/>
          </a:xfrm>
          <a:prstGeom prst="rect">
            <a:avLst/>
          </a:prstGeom>
          <a:noFill/>
          <a:ln w="9525">
            <a:solidFill>
              <a:schemeClr val="tx1"/>
            </a:solidFill>
            <a:miter lim="800000"/>
            <a:headEnd/>
            <a:tailEnd type="none" w="lg" len="lg"/>
          </a:ln>
        </p:spPr>
        <p:txBody>
          <a:bodyPr wrap="none" anchor="ctr"/>
          <a:lstStyle/>
          <a:p>
            <a:endParaRPr lang="nl-NL"/>
          </a:p>
        </p:txBody>
      </p:sp>
      <p:sp>
        <p:nvSpPr>
          <p:cNvPr id="44039" name="Text Box 8"/>
          <p:cNvSpPr txBox="1">
            <a:spLocks noChangeArrowheads="1"/>
          </p:cNvSpPr>
          <p:nvPr/>
        </p:nvSpPr>
        <p:spPr bwMode="auto">
          <a:xfrm rot="-5400000">
            <a:off x="2083597" y="1753397"/>
            <a:ext cx="982663"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a:t>
            </a:r>
          </a:p>
          <a:p>
            <a:pPr eaLnBrk="0" hangingPunct="0">
              <a:spcBef>
                <a:spcPct val="0"/>
              </a:spcBef>
              <a:buClrTx/>
            </a:pPr>
            <a:r>
              <a:rPr lang="en-US" sz="1600"/>
              <a:t>structure</a:t>
            </a:r>
          </a:p>
        </p:txBody>
      </p:sp>
      <p:sp>
        <p:nvSpPr>
          <p:cNvPr id="44040" name="Line 9"/>
          <p:cNvSpPr>
            <a:spLocks noChangeShapeType="1"/>
          </p:cNvSpPr>
          <p:nvPr/>
        </p:nvSpPr>
        <p:spPr bwMode="auto">
          <a:xfrm>
            <a:off x="3025775" y="889003"/>
            <a:ext cx="0" cy="1649413"/>
          </a:xfrm>
          <a:prstGeom prst="line">
            <a:avLst/>
          </a:prstGeom>
          <a:noFill/>
          <a:ln w="9525">
            <a:solidFill>
              <a:schemeClr val="tx1"/>
            </a:solidFill>
            <a:round/>
            <a:headEnd/>
            <a:tailEnd type="none" w="lg" len="lg"/>
          </a:ln>
        </p:spPr>
        <p:txBody>
          <a:bodyPr/>
          <a:lstStyle/>
          <a:p>
            <a:endParaRPr lang="nl-NL"/>
          </a:p>
        </p:txBody>
      </p:sp>
      <p:sp>
        <p:nvSpPr>
          <p:cNvPr id="44041" name="Rectangle 10"/>
          <p:cNvSpPr>
            <a:spLocks noChangeArrowheads="1"/>
          </p:cNvSpPr>
          <p:nvPr/>
        </p:nvSpPr>
        <p:spPr bwMode="auto">
          <a:xfrm>
            <a:off x="3683000" y="1389063"/>
            <a:ext cx="2497138" cy="1154112"/>
          </a:xfrm>
          <a:prstGeom prst="rect">
            <a:avLst/>
          </a:prstGeom>
          <a:noFill/>
          <a:ln w="9525">
            <a:solidFill>
              <a:schemeClr val="tx1"/>
            </a:solidFill>
            <a:miter lim="800000"/>
            <a:headEnd/>
            <a:tailEnd type="none" w="lg" len="lg"/>
          </a:ln>
        </p:spPr>
        <p:txBody>
          <a:bodyPr wrap="none" anchor="ctr"/>
          <a:lstStyle/>
          <a:p>
            <a:endParaRPr lang="nl-NL"/>
          </a:p>
        </p:txBody>
      </p:sp>
      <p:sp>
        <p:nvSpPr>
          <p:cNvPr id="44042" name="Text Box 11"/>
          <p:cNvSpPr txBox="1">
            <a:spLocks noChangeArrowheads="1"/>
          </p:cNvSpPr>
          <p:nvPr/>
        </p:nvSpPr>
        <p:spPr bwMode="auto">
          <a:xfrm>
            <a:off x="3663950" y="835028"/>
            <a:ext cx="17668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 services </a:t>
            </a:r>
          </a:p>
          <a:p>
            <a:pPr eaLnBrk="0" hangingPunct="0">
              <a:spcBef>
                <a:spcPct val="0"/>
              </a:spcBef>
              <a:buClrTx/>
            </a:pPr>
            <a:r>
              <a:rPr lang="en-US" sz="1600"/>
              <a:t>and equipment</a:t>
            </a:r>
          </a:p>
        </p:txBody>
      </p:sp>
      <p:sp>
        <p:nvSpPr>
          <p:cNvPr id="44043" name="Line 12"/>
          <p:cNvSpPr>
            <a:spLocks noChangeShapeType="1"/>
          </p:cNvSpPr>
          <p:nvPr/>
        </p:nvSpPr>
        <p:spPr bwMode="auto">
          <a:xfrm flipV="1">
            <a:off x="4899025" y="1382716"/>
            <a:ext cx="0" cy="1152525"/>
          </a:xfrm>
          <a:prstGeom prst="line">
            <a:avLst/>
          </a:prstGeom>
          <a:noFill/>
          <a:ln w="9525">
            <a:solidFill>
              <a:schemeClr val="tx1"/>
            </a:solidFill>
            <a:round/>
            <a:headEnd/>
            <a:tailEnd type="none" w="lg" len="lg"/>
          </a:ln>
        </p:spPr>
        <p:txBody>
          <a:bodyPr/>
          <a:lstStyle/>
          <a:p>
            <a:endParaRPr lang="nl-NL"/>
          </a:p>
        </p:txBody>
      </p:sp>
      <p:sp>
        <p:nvSpPr>
          <p:cNvPr id="44044" name="Text Box 13"/>
          <p:cNvSpPr txBox="1">
            <a:spLocks noChangeArrowheads="1"/>
          </p:cNvSpPr>
          <p:nvPr/>
        </p:nvSpPr>
        <p:spPr bwMode="auto">
          <a:xfrm rot="-5400000">
            <a:off x="2750344" y="1688309"/>
            <a:ext cx="111283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propulsion</a:t>
            </a:r>
          </a:p>
          <a:p>
            <a:pPr eaLnBrk="0" hangingPunct="0">
              <a:spcBef>
                <a:spcPct val="0"/>
              </a:spcBef>
              <a:buClrTx/>
            </a:pPr>
            <a:r>
              <a:rPr lang="en-US" sz="1600"/>
              <a:t>group</a:t>
            </a:r>
          </a:p>
        </p:txBody>
      </p:sp>
      <p:sp>
        <p:nvSpPr>
          <p:cNvPr id="44045" name="Line 14"/>
          <p:cNvSpPr>
            <a:spLocks noChangeShapeType="1"/>
          </p:cNvSpPr>
          <p:nvPr/>
        </p:nvSpPr>
        <p:spPr bwMode="auto">
          <a:xfrm>
            <a:off x="4897438" y="1611313"/>
            <a:ext cx="1274762" cy="0"/>
          </a:xfrm>
          <a:prstGeom prst="line">
            <a:avLst/>
          </a:prstGeom>
          <a:noFill/>
          <a:ln w="9525">
            <a:solidFill>
              <a:schemeClr val="tx1"/>
            </a:solidFill>
            <a:round/>
            <a:headEnd/>
            <a:tailEnd type="none" w="lg" len="lg"/>
          </a:ln>
        </p:spPr>
        <p:txBody>
          <a:bodyPr/>
          <a:lstStyle/>
          <a:p>
            <a:endParaRPr lang="nl-NL"/>
          </a:p>
        </p:txBody>
      </p:sp>
      <p:sp>
        <p:nvSpPr>
          <p:cNvPr id="44046" name="Text Box 15"/>
          <p:cNvSpPr txBox="1">
            <a:spLocks noChangeArrowheads="1"/>
          </p:cNvSpPr>
          <p:nvPr/>
        </p:nvSpPr>
        <p:spPr bwMode="auto">
          <a:xfrm>
            <a:off x="4943475" y="1296988"/>
            <a:ext cx="1119188"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removable</a:t>
            </a:r>
          </a:p>
        </p:txBody>
      </p:sp>
      <p:sp>
        <p:nvSpPr>
          <p:cNvPr id="44047" name="Text Box 16"/>
          <p:cNvSpPr txBox="1">
            <a:spLocks noChangeArrowheads="1"/>
          </p:cNvSpPr>
          <p:nvPr/>
        </p:nvSpPr>
        <p:spPr bwMode="auto">
          <a:xfrm rot="-5400000">
            <a:off x="3617121" y="2043907"/>
            <a:ext cx="614363"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fixed</a:t>
            </a:r>
          </a:p>
        </p:txBody>
      </p:sp>
      <p:sp>
        <p:nvSpPr>
          <p:cNvPr id="44048" name="Text Box 17"/>
          <p:cNvSpPr txBox="1">
            <a:spLocks noChangeArrowheads="1"/>
          </p:cNvSpPr>
          <p:nvPr/>
        </p:nvSpPr>
        <p:spPr bwMode="auto">
          <a:xfrm rot="-5400000">
            <a:off x="4644232" y="1818484"/>
            <a:ext cx="9667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items</a:t>
            </a:r>
          </a:p>
        </p:txBody>
      </p:sp>
      <p:sp>
        <p:nvSpPr>
          <p:cNvPr id="44049" name="Line 18"/>
          <p:cNvSpPr>
            <a:spLocks noChangeShapeType="1"/>
          </p:cNvSpPr>
          <p:nvPr/>
        </p:nvSpPr>
        <p:spPr bwMode="auto">
          <a:xfrm flipV="1">
            <a:off x="5411788" y="1606550"/>
            <a:ext cx="0" cy="928688"/>
          </a:xfrm>
          <a:prstGeom prst="line">
            <a:avLst/>
          </a:prstGeom>
          <a:noFill/>
          <a:ln w="9525">
            <a:solidFill>
              <a:schemeClr val="tx1"/>
            </a:solidFill>
            <a:round/>
            <a:headEnd/>
            <a:tailEnd type="none" w="lg" len="lg"/>
          </a:ln>
        </p:spPr>
        <p:txBody>
          <a:bodyPr/>
          <a:lstStyle/>
          <a:p>
            <a:endParaRPr lang="nl-NL"/>
          </a:p>
        </p:txBody>
      </p:sp>
      <p:sp>
        <p:nvSpPr>
          <p:cNvPr id="44050" name="Text Box 19"/>
          <p:cNvSpPr txBox="1">
            <a:spLocks noChangeArrowheads="1"/>
          </p:cNvSpPr>
          <p:nvPr/>
        </p:nvSpPr>
        <p:spPr bwMode="auto">
          <a:xfrm rot="-5400000">
            <a:off x="5236371" y="1650207"/>
            <a:ext cx="1046163" cy="82550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a:t>
            </a:r>
          </a:p>
          <a:p>
            <a:pPr eaLnBrk="0" hangingPunct="0">
              <a:spcBef>
                <a:spcPct val="0"/>
              </a:spcBef>
              <a:buClrTx/>
            </a:pPr>
            <a:r>
              <a:rPr lang="en-US" sz="1600"/>
              <a:t>variations</a:t>
            </a:r>
          </a:p>
        </p:txBody>
      </p:sp>
      <p:sp>
        <p:nvSpPr>
          <p:cNvPr id="44051" name="Rectangle 20"/>
          <p:cNvSpPr>
            <a:spLocks noChangeArrowheads="1"/>
          </p:cNvSpPr>
          <p:nvPr/>
        </p:nvSpPr>
        <p:spPr bwMode="auto">
          <a:xfrm>
            <a:off x="6180141" y="876303"/>
            <a:ext cx="238125" cy="1660525"/>
          </a:xfrm>
          <a:prstGeom prst="rect">
            <a:avLst/>
          </a:prstGeom>
          <a:noFill/>
          <a:ln w="9525">
            <a:solidFill>
              <a:schemeClr val="tx1"/>
            </a:solidFill>
            <a:miter lim="800000"/>
            <a:headEnd/>
            <a:tailEnd type="none" w="lg" len="lg"/>
          </a:ln>
        </p:spPr>
        <p:txBody>
          <a:bodyPr wrap="none" anchor="ctr"/>
          <a:lstStyle/>
          <a:p>
            <a:endParaRPr lang="nl-NL"/>
          </a:p>
        </p:txBody>
      </p:sp>
      <p:sp>
        <p:nvSpPr>
          <p:cNvPr id="44052" name="Text Box 21"/>
          <p:cNvSpPr txBox="1">
            <a:spLocks noChangeArrowheads="1"/>
          </p:cNvSpPr>
          <p:nvPr/>
        </p:nvSpPr>
        <p:spPr bwMode="auto">
          <a:xfrm rot="-5400000">
            <a:off x="5432428" y="1546226"/>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operational items</a:t>
            </a:r>
          </a:p>
        </p:txBody>
      </p:sp>
      <p:sp>
        <p:nvSpPr>
          <p:cNvPr id="44053" name="Rectangle 22"/>
          <p:cNvSpPr>
            <a:spLocks noChangeArrowheads="1"/>
          </p:cNvSpPr>
          <p:nvPr/>
        </p:nvSpPr>
        <p:spPr bwMode="auto">
          <a:xfrm>
            <a:off x="6418266" y="876303"/>
            <a:ext cx="814387" cy="1666875"/>
          </a:xfrm>
          <a:prstGeom prst="rect">
            <a:avLst/>
          </a:prstGeom>
          <a:noFill/>
          <a:ln w="9525">
            <a:solidFill>
              <a:schemeClr val="tx1"/>
            </a:solidFill>
            <a:miter lim="800000"/>
            <a:headEnd/>
            <a:tailEnd type="none" w="lg" len="lg"/>
          </a:ln>
        </p:spPr>
        <p:txBody>
          <a:bodyPr wrap="none" anchor="ctr"/>
          <a:lstStyle/>
          <a:p>
            <a:endParaRPr lang="nl-NL"/>
          </a:p>
        </p:txBody>
      </p:sp>
      <p:sp>
        <p:nvSpPr>
          <p:cNvPr id="44054" name="Text Box 23"/>
          <p:cNvSpPr txBox="1">
            <a:spLocks noChangeArrowheads="1"/>
          </p:cNvSpPr>
          <p:nvPr/>
        </p:nvSpPr>
        <p:spPr bwMode="auto">
          <a:xfrm rot="-5400000">
            <a:off x="5913440" y="1566863"/>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payload</a:t>
            </a:r>
          </a:p>
        </p:txBody>
      </p:sp>
      <p:sp>
        <p:nvSpPr>
          <p:cNvPr id="44055" name="Text Box 24"/>
          <p:cNvSpPr txBox="1">
            <a:spLocks noChangeArrowheads="1"/>
          </p:cNvSpPr>
          <p:nvPr/>
        </p:nvSpPr>
        <p:spPr bwMode="auto">
          <a:xfrm>
            <a:off x="8151816" y="830263"/>
            <a:ext cx="1133475"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(total) fuel</a:t>
            </a:r>
          </a:p>
        </p:txBody>
      </p:sp>
      <p:sp>
        <p:nvSpPr>
          <p:cNvPr id="44056" name="Line 25"/>
          <p:cNvSpPr>
            <a:spLocks noChangeShapeType="1"/>
          </p:cNvSpPr>
          <p:nvPr/>
        </p:nvSpPr>
        <p:spPr bwMode="auto">
          <a:xfrm>
            <a:off x="7226303" y="1130300"/>
            <a:ext cx="3122613" cy="0"/>
          </a:xfrm>
          <a:prstGeom prst="line">
            <a:avLst/>
          </a:prstGeom>
          <a:noFill/>
          <a:ln w="9525">
            <a:solidFill>
              <a:schemeClr val="tx1"/>
            </a:solidFill>
            <a:prstDash val="sysDot"/>
            <a:round/>
            <a:headEnd/>
            <a:tailEnd type="none" w="lg" len="lg"/>
          </a:ln>
        </p:spPr>
        <p:txBody>
          <a:bodyPr/>
          <a:lstStyle/>
          <a:p>
            <a:endParaRPr lang="nl-NL"/>
          </a:p>
        </p:txBody>
      </p:sp>
      <p:sp>
        <p:nvSpPr>
          <p:cNvPr id="44057" name="Text Box 26"/>
          <p:cNvSpPr txBox="1">
            <a:spLocks noChangeArrowheads="1"/>
          </p:cNvSpPr>
          <p:nvPr/>
        </p:nvSpPr>
        <p:spPr bwMode="auto">
          <a:xfrm>
            <a:off x="7208841" y="1081088"/>
            <a:ext cx="915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rest fuel</a:t>
            </a:r>
          </a:p>
        </p:txBody>
      </p:sp>
      <p:sp>
        <p:nvSpPr>
          <p:cNvPr id="44058" name="Text Box 27"/>
          <p:cNvSpPr txBox="1">
            <a:spLocks noChangeArrowheads="1"/>
          </p:cNvSpPr>
          <p:nvPr/>
        </p:nvSpPr>
        <p:spPr bwMode="auto">
          <a:xfrm>
            <a:off x="8758241" y="1092200"/>
            <a:ext cx="1042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block fuel</a:t>
            </a:r>
          </a:p>
        </p:txBody>
      </p:sp>
      <p:sp>
        <p:nvSpPr>
          <p:cNvPr id="44059" name="Line 28"/>
          <p:cNvSpPr>
            <a:spLocks noChangeShapeType="1"/>
          </p:cNvSpPr>
          <p:nvPr/>
        </p:nvSpPr>
        <p:spPr bwMode="auto">
          <a:xfrm>
            <a:off x="7237413" y="1390650"/>
            <a:ext cx="3103562" cy="0"/>
          </a:xfrm>
          <a:prstGeom prst="line">
            <a:avLst/>
          </a:prstGeom>
          <a:noFill/>
          <a:ln w="9525">
            <a:solidFill>
              <a:schemeClr val="tx1"/>
            </a:solidFill>
            <a:round/>
            <a:headEnd/>
            <a:tailEnd type="none" w="lg" len="lg"/>
          </a:ln>
        </p:spPr>
        <p:txBody>
          <a:bodyPr/>
          <a:lstStyle/>
          <a:p>
            <a:endParaRPr lang="nl-NL"/>
          </a:p>
        </p:txBody>
      </p:sp>
      <p:sp>
        <p:nvSpPr>
          <p:cNvPr id="44060" name="Line 29"/>
          <p:cNvSpPr>
            <a:spLocks noChangeShapeType="1"/>
          </p:cNvSpPr>
          <p:nvPr/>
        </p:nvSpPr>
        <p:spPr bwMode="auto">
          <a:xfrm flipH="1">
            <a:off x="8478841" y="1130300"/>
            <a:ext cx="9525" cy="266700"/>
          </a:xfrm>
          <a:prstGeom prst="line">
            <a:avLst/>
          </a:prstGeom>
          <a:noFill/>
          <a:ln w="9525">
            <a:solidFill>
              <a:schemeClr val="tx1"/>
            </a:solidFill>
            <a:prstDash val="sysDot"/>
            <a:round/>
            <a:headEnd/>
            <a:tailEnd type="none" w="lg" len="lg"/>
          </a:ln>
        </p:spPr>
        <p:txBody>
          <a:bodyPr/>
          <a:lstStyle/>
          <a:p>
            <a:endParaRPr lang="nl-NL"/>
          </a:p>
        </p:txBody>
      </p:sp>
      <p:sp>
        <p:nvSpPr>
          <p:cNvPr id="44061" name="Text Box 30"/>
          <p:cNvSpPr txBox="1">
            <a:spLocks noChangeArrowheads="1"/>
          </p:cNvSpPr>
          <p:nvPr/>
        </p:nvSpPr>
        <p:spPr bwMode="auto">
          <a:xfrm>
            <a:off x="7189788" y="1325563"/>
            <a:ext cx="1465262"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fuel at landing</a:t>
            </a:r>
          </a:p>
        </p:txBody>
      </p:sp>
      <p:sp>
        <p:nvSpPr>
          <p:cNvPr id="44062" name="Text Box 31"/>
          <p:cNvSpPr txBox="1">
            <a:spLocks noChangeArrowheads="1"/>
          </p:cNvSpPr>
          <p:nvPr/>
        </p:nvSpPr>
        <p:spPr bwMode="auto">
          <a:xfrm rot="-5400000">
            <a:off x="7088188" y="1838328"/>
            <a:ext cx="920750"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reserve</a:t>
            </a:r>
          </a:p>
          <a:p>
            <a:pPr eaLnBrk="0" hangingPunct="0">
              <a:spcBef>
                <a:spcPct val="0"/>
              </a:spcBef>
              <a:buClrTx/>
            </a:pPr>
            <a:r>
              <a:rPr lang="en-US" sz="1600"/>
              <a:t>fuel</a:t>
            </a:r>
          </a:p>
        </p:txBody>
      </p:sp>
      <p:sp>
        <p:nvSpPr>
          <p:cNvPr id="44063" name="Text Box 32"/>
          <p:cNvSpPr txBox="1">
            <a:spLocks noChangeArrowheads="1"/>
          </p:cNvSpPr>
          <p:nvPr/>
        </p:nvSpPr>
        <p:spPr bwMode="auto">
          <a:xfrm rot="-5400000">
            <a:off x="760730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additional</a:t>
            </a:r>
          </a:p>
          <a:p>
            <a:pPr eaLnBrk="0" hangingPunct="0">
              <a:spcBef>
                <a:spcPct val="0"/>
              </a:spcBef>
              <a:buClrTx/>
            </a:pPr>
            <a:r>
              <a:rPr lang="en-US" sz="1600"/>
              <a:t>fuel</a:t>
            </a:r>
          </a:p>
        </p:txBody>
      </p:sp>
      <p:sp>
        <p:nvSpPr>
          <p:cNvPr id="44064" name="Line 33"/>
          <p:cNvSpPr>
            <a:spLocks noChangeShapeType="1"/>
          </p:cNvSpPr>
          <p:nvPr/>
        </p:nvSpPr>
        <p:spPr bwMode="auto">
          <a:xfrm flipV="1">
            <a:off x="8639175" y="1390653"/>
            <a:ext cx="0" cy="1152525"/>
          </a:xfrm>
          <a:prstGeom prst="line">
            <a:avLst/>
          </a:prstGeom>
          <a:noFill/>
          <a:ln w="9525">
            <a:solidFill>
              <a:schemeClr val="tx1"/>
            </a:solidFill>
            <a:round/>
            <a:headEnd/>
            <a:tailEnd type="none" w="lg" len="lg"/>
          </a:ln>
        </p:spPr>
        <p:txBody>
          <a:bodyPr/>
          <a:lstStyle/>
          <a:p>
            <a:endParaRPr lang="nl-NL"/>
          </a:p>
        </p:txBody>
      </p:sp>
      <p:sp>
        <p:nvSpPr>
          <p:cNvPr id="44065" name="Line 34"/>
          <p:cNvSpPr>
            <a:spLocks noChangeShapeType="1"/>
          </p:cNvSpPr>
          <p:nvPr/>
        </p:nvSpPr>
        <p:spPr bwMode="auto">
          <a:xfrm flipH="1">
            <a:off x="7229475" y="1619250"/>
            <a:ext cx="1409700" cy="0"/>
          </a:xfrm>
          <a:prstGeom prst="line">
            <a:avLst/>
          </a:prstGeom>
          <a:noFill/>
          <a:ln w="9525">
            <a:solidFill>
              <a:schemeClr val="tx1"/>
            </a:solidFill>
            <a:round/>
            <a:headEnd/>
            <a:tailEnd type="none" w="lg" len="lg"/>
          </a:ln>
        </p:spPr>
        <p:txBody>
          <a:bodyPr/>
          <a:lstStyle/>
          <a:p>
            <a:endParaRPr lang="nl-NL"/>
          </a:p>
        </p:txBody>
      </p:sp>
      <p:sp>
        <p:nvSpPr>
          <p:cNvPr id="44066" name="Line 35"/>
          <p:cNvSpPr>
            <a:spLocks noChangeShapeType="1"/>
          </p:cNvSpPr>
          <p:nvPr/>
        </p:nvSpPr>
        <p:spPr bwMode="auto">
          <a:xfrm>
            <a:off x="7867650" y="1619253"/>
            <a:ext cx="0" cy="923925"/>
          </a:xfrm>
          <a:prstGeom prst="line">
            <a:avLst/>
          </a:prstGeom>
          <a:noFill/>
          <a:ln w="9525">
            <a:solidFill>
              <a:schemeClr val="tx1"/>
            </a:solidFill>
            <a:round/>
            <a:headEnd/>
            <a:tailEnd type="none" w="lg" len="lg"/>
          </a:ln>
        </p:spPr>
        <p:txBody>
          <a:bodyPr/>
          <a:lstStyle/>
          <a:p>
            <a:endParaRPr lang="nl-NL"/>
          </a:p>
        </p:txBody>
      </p:sp>
      <p:sp>
        <p:nvSpPr>
          <p:cNvPr id="44067" name="Line 36"/>
          <p:cNvSpPr>
            <a:spLocks noChangeShapeType="1"/>
          </p:cNvSpPr>
          <p:nvPr/>
        </p:nvSpPr>
        <p:spPr bwMode="auto">
          <a:xfrm flipV="1">
            <a:off x="9820275" y="1390653"/>
            <a:ext cx="0" cy="1152525"/>
          </a:xfrm>
          <a:prstGeom prst="line">
            <a:avLst/>
          </a:prstGeom>
          <a:noFill/>
          <a:ln w="9525">
            <a:solidFill>
              <a:schemeClr val="tx1"/>
            </a:solidFill>
            <a:round/>
            <a:headEnd/>
            <a:tailEnd type="none" w="lg" len="lg"/>
          </a:ln>
        </p:spPr>
        <p:txBody>
          <a:bodyPr/>
          <a:lstStyle/>
          <a:p>
            <a:endParaRPr lang="nl-NL"/>
          </a:p>
        </p:txBody>
      </p:sp>
      <p:sp>
        <p:nvSpPr>
          <p:cNvPr id="44068" name="Text Box 37"/>
          <p:cNvSpPr txBox="1">
            <a:spLocks noChangeArrowheads="1"/>
          </p:cNvSpPr>
          <p:nvPr/>
        </p:nvSpPr>
        <p:spPr bwMode="auto">
          <a:xfrm rot="-5400000">
            <a:off x="873125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trip</a:t>
            </a:r>
          </a:p>
          <a:p>
            <a:pPr eaLnBrk="0" hangingPunct="0">
              <a:spcBef>
                <a:spcPct val="0"/>
              </a:spcBef>
              <a:buClrTx/>
            </a:pPr>
            <a:r>
              <a:rPr lang="en-US" sz="1600"/>
              <a:t>fuel</a:t>
            </a:r>
          </a:p>
        </p:txBody>
      </p:sp>
      <p:sp>
        <p:nvSpPr>
          <p:cNvPr id="44069" name="Text Box 38"/>
          <p:cNvSpPr txBox="1">
            <a:spLocks noChangeArrowheads="1"/>
          </p:cNvSpPr>
          <p:nvPr/>
        </p:nvSpPr>
        <p:spPr bwMode="auto">
          <a:xfrm rot="-5400000">
            <a:off x="9169403" y="1443041"/>
            <a:ext cx="173037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pre-take-off </a:t>
            </a:r>
          </a:p>
          <a:p>
            <a:pPr eaLnBrk="0" hangingPunct="0">
              <a:spcBef>
                <a:spcPct val="0"/>
              </a:spcBef>
              <a:buClrTx/>
            </a:pPr>
            <a:r>
              <a:rPr lang="en-US" sz="1600"/>
              <a:t>fuel</a:t>
            </a:r>
          </a:p>
        </p:txBody>
      </p:sp>
      <p:sp>
        <p:nvSpPr>
          <p:cNvPr id="44071" name="Rectangle 40"/>
          <p:cNvSpPr>
            <a:spLocks noChangeArrowheads="1"/>
          </p:cNvSpPr>
          <p:nvPr/>
        </p:nvSpPr>
        <p:spPr bwMode="auto">
          <a:xfrm>
            <a:off x="2281238" y="2540000"/>
            <a:ext cx="3897312"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Basic (empty) weight</a:t>
            </a:r>
          </a:p>
        </p:txBody>
      </p:sp>
      <p:sp>
        <p:nvSpPr>
          <p:cNvPr id="44072" name="Rectangle 41"/>
          <p:cNvSpPr>
            <a:spLocks noChangeArrowheads="1"/>
          </p:cNvSpPr>
          <p:nvPr/>
        </p:nvSpPr>
        <p:spPr bwMode="auto">
          <a:xfrm>
            <a:off x="2184400" y="4062551"/>
            <a:ext cx="8166100" cy="1754326"/>
          </a:xfrm>
          <a:prstGeom prst="rect">
            <a:avLst/>
          </a:prstGeom>
          <a:noFill/>
          <a:ln w="9525" algn="ctr">
            <a:noFill/>
            <a:miter lim="800000"/>
            <a:headEnd/>
            <a:tailEnd/>
          </a:ln>
        </p:spPr>
        <p:txBody>
          <a:bodyPr wrap="square">
            <a:spAutoFit/>
          </a:bodyPr>
          <a:lstStyle/>
          <a:p>
            <a:pPr marL="342900" indent="-342900">
              <a:buFontTx/>
              <a:buChar char="-"/>
            </a:pPr>
            <a:r>
              <a:rPr lang="en-US" dirty="0"/>
              <a:t>Auxiliary Power Unit (APU)</a:t>
            </a:r>
          </a:p>
          <a:p>
            <a:pPr marL="342900" indent="-342900">
              <a:buFontTx/>
              <a:buChar char="-"/>
            </a:pPr>
            <a:r>
              <a:rPr lang="en-US" dirty="0"/>
              <a:t>Instrumentation, navigational equipment &amp; electronics</a:t>
            </a:r>
          </a:p>
          <a:p>
            <a:pPr marL="342900" indent="-342900">
              <a:buFontTx/>
              <a:buChar char="-"/>
            </a:pPr>
            <a:r>
              <a:rPr lang="en-US" dirty="0"/>
              <a:t>Hydraulic, Pneumatic &amp; Electrical systems</a:t>
            </a:r>
          </a:p>
          <a:p>
            <a:pPr marL="342900" indent="-342900">
              <a:buFontTx/>
              <a:buChar char="-"/>
            </a:pPr>
            <a:r>
              <a:rPr lang="en-US" dirty="0"/>
              <a:t>Fuel system*	</a:t>
            </a:r>
          </a:p>
          <a:p>
            <a:pPr marL="342900" indent="-342900">
              <a:buFontTx/>
              <a:buChar char="-"/>
            </a:pPr>
            <a:r>
              <a:rPr lang="en-US" dirty="0"/>
              <a:t>Air conditioning, pressurization and anti-/de-icing systems</a:t>
            </a:r>
          </a:p>
          <a:p>
            <a:pPr marL="342900" indent="-342900">
              <a:buFontTx/>
              <a:buChar char="-"/>
            </a:pPr>
            <a:r>
              <a:rPr lang="en-US" dirty="0"/>
              <a:t>Furnishing and equipment** (see details in next slides)		</a:t>
            </a:r>
            <a:endParaRPr lang="en-GB" dirty="0"/>
          </a:p>
        </p:txBody>
      </p:sp>
      <p:sp>
        <p:nvSpPr>
          <p:cNvPr id="41" name="Rectangle 40"/>
          <p:cNvSpPr/>
          <p:nvPr/>
        </p:nvSpPr>
        <p:spPr>
          <a:xfrm>
            <a:off x="1775520" y="3105835"/>
            <a:ext cx="8651180" cy="338554"/>
          </a:xfrm>
          <a:prstGeom prst="rect">
            <a:avLst/>
          </a:prstGeom>
        </p:spPr>
        <p:txBody>
          <a:bodyPr wrap="square">
            <a:spAutoFit/>
          </a:bodyPr>
          <a:lstStyle/>
          <a:p>
            <a:r>
              <a:rPr lang="en-US" sz="1600" dirty="0"/>
              <a:t>A class II estimation method provides the weight of several components:</a:t>
            </a:r>
            <a:endParaRPr lang="en-GB" sz="1600" dirty="0"/>
          </a:p>
        </p:txBody>
      </p:sp>
      <p:sp>
        <p:nvSpPr>
          <p:cNvPr id="42" name="Rectangle 39"/>
          <p:cNvSpPr>
            <a:spLocks noChangeArrowheads="1"/>
          </p:cNvSpPr>
          <p:nvPr/>
        </p:nvSpPr>
        <p:spPr bwMode="auto">
          <a:xfrm>
            <a:off x="695400" y="144463"/>
            <a:ext cx="10226600" cy="795337"/>
          </a:xfrm>
          <a:prstGeom prst="rect">
            <a:avLst/>
          </a:prstGeom>
          <a:noFill/>
          <a:ln w="9525">
            <a:noFill/>
            <a:miter lim="800000"/>
            <a:headEnd/>
            <a:tailEnd/>
          </a:ln>
        </p:spPr>
        <p:txBody>
          <a:bodyPr/>
          <a:lstStyle/>
          <a:p>
            <a:pPr>
              <a:spcBef>
                <a:spcPct val="0"/>
              </a:spcBef>
              <a:buClrTx/>
            </a:pPr>
            <a:r>
              <a:rPr lang="en-US" sz="3200" dirty="0">
                <a:solidFill>
                  <a:srgbClr val="00A4DE"/>
                </a:solidFill>
                <a:cs typeface="Tahoma" pitchFamily="34" charset="0"/>
              </a:rPr>
              <a:t>Weights: what are we talking about…</a:t>
            </a:r>
          </a:p>
        </p:txBody>
      </p:sp>
    </p:spTree>
    <p:extLst>
      <p:ext uri="{BB962C8B-B14F-4D97-AF65-F5344CB8AC3E}">
        <p14:creationId xmlns:p14="http://schemas.microsoft.com/office/powerpoint/2010/main" val="39057353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2"/>
          <p:cNvSpPr>
            <a:spLocks noChangeArrowheads="1"/>
          </p:cNvSpPr>
          <p:nvPr/>
        </p:nvSpPr>
        <p:spPr bwMode="auto">
          <a:xfrm>
            <a:off x="3683000" y="876300"/>
            <a:ext cx="2497138" cy="514350"/>
          </a:xfrm>
          <a:prstGeom prst="rect">
            <a:avLst/>
          </a:prstGeom>
          <a:solidFill>
            <a:srgbClr val="FFFF00"/>
          </a:solidFill>
          <a:ln w="9525">
            <a:solidFill>
              <a:schemeClr val="tx1"/>
            </a:solidFill>
            <a:miter lim="800000"/>
            <a:headEnd/>
            <a:tailEnd type="none" w="lg" len="lg"/>
          </a:ln>
        </p:spPr>
        <p:txBody>
          <a:bodyPr wrap="none" anchor="ctr"/>
          <a:lstStyle/>
          <a:p>
            <a:endParaRPr lang="nl-NL"/>
          </a:p>
        </p:txBody>
      </p:sp>
      <p:sp>
        <p:nvSpPr>
          <p:cNvPr id="45060" name="Text Box 3"/>
          <p:cNvSpPr txBox="1">
            <a:spLocks noChangeArrowheads="1"/>
          </p:cNvSpPr>
          <p:nvPr/>
        </p:nvSpPr>
        <p:spPr bwMode="auto">
          <a:xfrm>
            <a:off x="2085975" y="3798889"/>
            <a:ext cx="6553200" cy="369332"/>
          </a:xfrm>
          <a:prstGeom prst="rect">
            <a:avLst/>
          </a:prstGeom>
          <a:noFill/>
          <a:ln w="9525" algn="ctr">
            <a:noFill/>
            <a:miter lim="800000"/>
            <a:headEnd/>
            <a:tailEnd/>
          </a:ln>
        </p:spPr>
        <p:txBody>
          <a:bodyPr>
            <a:spAutoFit/>
          </a:bodyPr>
          <a:lstStyle/>
          <a:p>
            <a:pPr>
              <a:spcBef>
                <a:spcPct val="50000"/>
              </a:spcBef>
              <a:buClrTx/>
            </a:pPr>
            <a:endParaRPr lang="en-GB" b="1"/>
          </a:p>
        </p:txBody>
      </p:sp>
      <p:sp>
        <p:nvSpPr>
          <p:cNvPr id="45061" name="Text Box 4"/>
          <p:cNvSpPr txBox="1">
            <a:spLocks noChangeArrowheads="1"/>
          </p:cNvSpPr>
          <p:nvPr/>
        </p:nvSpPr>
        <p:spPr bwMode="auto">
          <a:xfrm>
            <a:off x="2100144" y="4509123"/>
            <a:ext cx="8383588" cy="1541961"/>
          </a:xfrm>
          <a:prstGeom prst="rect">
            <a:avLst/>
          </a:prstGeom>
          <a:noFill/>
          <a:ln w="9525" algn="ctr">
            <a:noFill/>
            <a:miter lim="800000"/>
            <a:headEnd/>
            <a:tailEnd/>
          </a:ln>
        </p:spPr>
        <p:txBody>
          <a:bodyPr>
            <a:spAutoFit/>
          </a:bodyPr>
          <a:lstStyle/>
          <a:p>
            <a:pPr marL="285750" indent="-285750">
              <a:lnSpc>
                <a:spcPct val="90000"/>
              </a:lnSpc>
              <a:spcBef>
                <a:spcPct val="50000"/>
              </a:spcBef>
              <a:buFont typeface="Tahoma" panose="020B0604030504040204" pitchFamily="34" charset="0"/>
              <a:buChar char="−"/>
            </a:pPr>
            <a:r>
              <a:rPr lang="en-US" sz="1600" dirty="0"/>
              <a:t>Flight deck accommodations: </a:t>
            </a:r>
            <a:r>
              <a:rPr lang="en-US" sz="1400" i="1" dirty="0"/>
              <a:t>crew seats, instruments, floor covering, trim, wiring</a:t>
            </a:r>
          </a:p>
          <a:p>
            <a:pPr marL="285750" indent="-285750">
              <a:lnSpc>
                <a:spcPct val="90000"/>
              </a:lnSpc>
              <a:spcBef>
                <a:spcPct val="50000"/>
              </a:spcBef>
              <a:buFont typeface="Tahoma" panose="020B0604030504040204" pitchFamily="34" charset="0"/>
              <a:buChar char="−"/>
            </a:pPr>
            <a:r>
              <a:rPr lang="en-US" sz="1600" dirty="0"/>
              <a:t>Passenger cabin accommodations: </a:t>
            </a:r>
            <a:r>
              <a:rPr lang="en-US" sz="1400" i="1" dirty="0" err="1"/>
              <a:t>pax</a:t>
            </a:r>
            <a:r>
              <a:rPr lang="en-US" sz="1400" i="1" dirty="0"/>
              <a:t> and attendants seats, lavatories, galleys, tapestry, panels, partition walls, doors, wardrobes, IFES</a:t>
            </a:r>
            <a:endParaRPr lang="en-US" sz="1600" i="1" dirty="0"/>
          </a:p>
          <a:p>
            <a:pPr marL="285750" indent="-285750">
              <a:lnSpc>
                <a:spcPct val="90000"/>
              </a:lnSpc>
              <a:spcBef>
                <a:spcPct val="50000"/>
              </a:spcBef>
              <a:buFont typeface="Tahoma" panose="020B0604030504040204" pitchFamily="34" charset="0"/>
              <a:buChar char="−"/>
            </a:pPr>
            <a:r>
              <a:rPr lang="en-US" sz="1600" dirty="0"/>
              <a:t>Cargo accommodations: </a:t>
            </a:r>
            <a:r>
              <a:rPr lang="en-US" sz="1400" i="1" dirty="0"/>
              <a:t>containers and cargo handlings provision, partition panels</a:t>
            </a:r>
            <a:endParaRPr lang="en-US" sz="1600" i="1" dirty="0"/>
          </a:p>
          <a:p>
            <a:pPr marL="285750" indent="-285750">
              <a:lnSpc>
                <a:spcPct val="90000"/>
              </a:lnSpc>
              <a:spcBef>
                <a:spcPct val="50000"/>
              </a:spcBef>
              <a:buFont typeface="Tahoma" panose="020B0604030504040204" pitchFamily="34" charset="0"/>
              <a:buChar char="−"/>
            </a:pPr>
            <a:r>
              <a:rPr lang="en-US" sz="1600" dirty="0"/>
              <a:t>Standard emergency equipment: </a:t>
            </a:r>
            <a:r>
              <a:rPr lang="en-US" sz="1400" i="1" dirty="0"/>
              <a:t>fixed</a:t>
            </a:r>
            <a:r>
              <a:rPr lang="en-US" sz="1400" dirty="0"/>
              <a:t> </a:t>
            </a:r>
            <a:r>
              <a:rPr lang="en-US" sz="1400" i="1" dirty="0"/>
              <a:t>oxygen system, fire detection systems, evacuation slides </a:t>
            </a:r>
          </a:p>
        </p:txBody>
      </p:sp>
      <p:sp>
        <p:nvSpPr>
          <p:cNvPr id="45062" name="Rectangle 6"/>
          <p:cNvSpPr>
            <a:spLocks noChangeArrowheads="1"/>
          </p:cNvSpPr>
          <p:nvPr/>
        </p:nvSpPr>
        <p:spPr bwMode="auto">
          <a:xfrm>
            <a:off x="2052638" y="2203450"/>
            <a:ext cx="8153400" cy="457200"/>
          </a:xfrm>
          <a:prstGeom prst="rect">
            <a:avLst/>
          </a:prstGeom>
          <a:noFill/>
          <a:ln w="9525">
            <a:noFill/>
            <a:miter lim="800000"/>
            <a:headEnd/>
            <a:tailEnd/>
          </a:ln>
        </p:spPr>
        <p:txBody>
          <a:bodyPr>
            <a:spAutoFit/>
          </a:bodyPr>
          <a:lstStyle/>
          <a:p>
            <a:pPr marL="457200" indent="-457200"/>
            <a:endParaRPr lang="en-GB" sz="2400"/>
          </a:p>
        </p:txBody>
      </p:sp>
      <p:sp>
        <p:nvSpPr>
          <p:cNvPr id="45063" name="Rectangle 7"/>
          <p:cNvSpPr>
            <a:spLocks noChangeArrowheads="1"/>
          </p:cNvSpPr>
          <p:nvPr/>
        </p:nvSpPr>
        <p:spPr bwMode="auto">
          <a:xfrm>
            <a:off x="2289178" y="877891"/>
            <a:ext cx="8061325" cy="1665287"/>
          </a:xfrm>
          <a:prstGeom prst="rect">
            <a:avLst/>
          </a:prstGeom>
          <a:noFill/>
          <a:ln w="9525">
            <a:solidFill>
              <a:schemeClr val="tx1"/>
            </a:solidFill>
            <a:miter lim="800000"/>
            <a:headEnd/>
            <a:tailEnd type="none" w="lg" len="lg"/>
          </a:ln>
        </p:spPr>
        <p:txBody>
          <a:bodyPr wrap="none" anchor="ctr"/>
          <a:lstStyle/>
          <a:p>
            <a:endParaRPr lang="nl-NL"/>
          </a:p>
        </p:txBody>
      </p:sp>
      <p:sp>
        <p:nvSpPr>
          <p:cNvPr id="45064" name="Text Box 8"/>
          <p:cNvSpPr txBox="1">
            <a:spLocks noChangeArrowheads="1"/>
          </p:cNvSpPr>
          <p:nvPr/>
        </p:nvSpPr>
        <p:spPr bwMode="auto">
          <a:xfrm rot="-5400000">
            <a:off x="2083597" y="1753397"/>
            <a:ext cx="982663"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a:t>
            </a:r>
          </a:p>
          <a:p>
            <a:pPr eaLnBrk="0" hangingPunct="0">
              <a:spcBef>
                <a:spcPct val="0"/>
              </a:spcBef>
              <a:buClrTx/>
            </a:pPr>
            <a:r>
              <a:rPr lang="en-US" sz="1600"/>
              <a:t>structure</a:t>
            </a:r>
          </a:p>
        </p:txBody>
      </p:sp>
      <p:sp>
        <p:nvSpPr>
          <p:cNvPr id="45065" name="Line 9"/>
          <p:cNvSpPr>
            <a:spLocks noChangeShapeType="1"/>
          </p:cNvSpPr>
          <p:nvPr/>
        </p:nvSpPr>
        <p:spPr bwMode="auto">
          <a:xfrm>
            <a:off x="3025775" y="889003"/>
            <a:ext cx="0" cy="1649413"/>
          </a:xfrm>
          <a:prstGeom prst="line">
            <a:avLst/>
          </a:prstGeom>
          <a:noFill/>
          <a:ln w="9525">
            <a:solidFill>
              <a:schemeClr val="tx1"/>
            </a:solidFill>
            <a:round/>
            <a:headEnd/>
            <a:tailEnd type="none" w="lg" len="lg"/>
          </a:ln>
        </p:spPr>
        <p:txBody>
          <a:bodyPr/>
          <a:lstStyle/>
          <a:p>
            <a:endParaRPr lang="nl-NL"/>
          </a:p>
        </p:txBody>
      </p:sp>
      <p:sp>
        <p:nvSpPr>
          <p:cNvPr id="45066" name="Rectangle 10"/>
          <p:cNvSpPr>
            <a:spLocks noChangeArrowheads="1"/>
          </p:cNvSpPr>
          <p:nvPr/>
        </p:nvSpPr>
        <p:spPr bwMode="auto">
          <a:xfrm>
            <a:off x="3683000" y="1389063"/>
            <a:ext cx="2497138" cy="1154112"/>
          </a:xfrm>
          <a:prstGeom prst="rect">
            <a:avLst/>
          </a:prstGeom>
          <a:noFill/>
          <a:ln w="9525">
            <a:solidFill>
              <a:schemeClr val="tx1"/>
            </a:solidFill>
            <a:miter lim="800000"/>
            <a:headEnd/>
            <a:tailEnd type="none" w="lg" len="lg"/>
          </a:ln>
        </p:spPr>
        <p:txBody>
          <a:bodyPr wrap="none" anchor="ctr"/>
          <a:lstStyle/>
          <a:p>
            <a:endParaRPr lang="nl-NL"/>
          </a:p>
        </p:txBody>
      </p:sp>
      <p:sp>
        <p:nvSpPr>
          <p:cNvPr id="45067" name="Text Box 11"/>
          <p:cNvSpPr txBox="1">
            <a:spLocks noChangeArrowheads="1"/>
          </p:cNvSpPr>
          <p:nvPr/>
        </p:nvSpPr>
        <p:spPr bwMode="auto">
          <a:xfrm>
            <a:off x="3663950" y="835028"/>
            <a:ext cx="17668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 services </a:t>
            </a:r>
          </a:p>
          <a:p>
            <a:pPr eaLnBrk="0" hangingPunct="0">
              <a:spcBef>
                <a:spcPct val="0"/>
              </a:spcBef>
              <a:buClrTx/>
            </a:pPr>
            <a:r>
              <a:rPr lang="en-US" sz="1600"/>
              <a:t>and equipment</a:t>
            </a:r>
          </a:p>
        </p:txBody>
      </p:sp>
      <p:sp>
        <p:nvSpPr>
          <p:cNvPr id="45068" name="Line 12"/>
          <p:cNvSpPr>
            <a:spLocks noChangeShapeType="1"/>
          </p:cNvSpPr>
          <p:nvPr/>
        </p:nvSpPr>
        <p:spPr bwMode="auto">
          <a:xfrm flipV="1">
            <a:off x="4899025" y="1382716"/>
            <a:ext cx="0" cy="1152525"/>
          </a:xfrm>
          <a:prstGeom prst="line">
            <a:avLst/>
          </a:prstGeom>
          <a:noFill/>
          <a:ln w="9525">
            <a:solidFill>
              <a:schemeClr val="tx1"/>
            </a:solidFill>
            <a:round/>
            <a:headEnd/>
            <a:tailEnd type="none" w="lg" len="lg"/>
          </a:ln>
        </p:spPr>
        <p:txBody>
          <a:bodyPr/>
          <a:lstStyle/>
          <a:p>
            <a:endParaRPr lang="nl-NL"/>
          </a:p>
        </p:txBody>
      </p:sp>
      <p:sp>
        <p:nvSpPr>
          <p:cNvPr id="45069" name="Text Box 13"/>
          <p:cNvSpPr txBox="1">
            <a:spLocks noChangeArrowheads="1"/>
          </p:cNvSpPr>
          <p:nvPr/>
        </p:nvSpPr>
        <p:spPr bwMode="auto">
          <a:xfrm rot="-5400000">
            <a:off x="2750344" y="1688309"/>
            <a:ext cx="111283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propulsion</a:t>
            </a:r>
          </a:p>
          <a:p>
            <a:pPr eaLnBrk="0" hangingPunct="0">
              <a:spcBef>
                <a:spcPct val="0"/>
              </a:spcBef>
              <a:buClrTx/>
            </a:pPr>
            <a:r>
              <a:rPr lang="en-US" sz="1600"/>
              <a:t>group</a:t>
            </a:r>
          </a:p>
        </p:txBody>
      </p:sp>
      <p:sp>
        <p:nvSpPr>
          <p:cNvPr id="45070" name="Line 14"/>
          <p:cNvSpPr>
            <a:spLocks noChangeShapeType="1"/>
          </p:cNvSpPr>
          <p:nvPr/>
        </p:nvSpPr>
        <p:spPr bwMode="auto">
          <a:xfrm>
            <a:off x="4897438" y="1611313"/>
            <a:ext cx="1274762" cy="0"/>
          </a:xfrm>
          <a:prstGeom prst="line">
            <a:avLst/>
          </a:prstGeom>
          <a:noFill/>
          <a:ln w="9525">
            <a:solidFill>
              <a:schemeClr val="tx1"/>
            </a:solidFill>
            <a:round/>
            <a:headEnd/>
            <a:tailEnd type="none" w="lg" len="lg"/>
          </a:ln>
        </p:spPr>
        <p:txBody>
          <a:bodyPr/>
          <a:lstStyle/>
          <a:p>
            <a:endParaRPr lang="nl-NL"/>
          </a:p>
        </p:txBody>
      </p:sp>
      <p:sp>
        <p:nvSpPr>
          <p:cNvPr id="45071" name="Text Box 15"/>
          <p:cNvSpPr txBox="1">
            <a:spLocks noChangeArrowheads="1"/>
          </p:cNvSpPr>
          <p:nvPr/>
        </p:nvSpPr>
        <p:spPr bwMode="auto">
          <a:xfrm>
            <a:off x="4943475" y="1296988"/>
            <a:ext cx="1119188"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removable</a:t>
            </a:r>
          </a:p>
        </p:txBody>
      </p:sp>
      <p:sp>
        <p:nvSpPr>
          <p:cNvPr id="45072" name="Text Box 16"/>
          <p:cNvSpPr txBox="1">
            <a:spLocks noChangeArrowheads="1"/>
          </p:cNvSpPr>
          <p:nvPr/>
        </p:nvSpPr>
        <p:spPr bwMode="auto">
          <a:xfrm rot="-5400000">
            <a:off x="3617121" y="2043907"/>
            <a:ext cx="614363"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fixed</a:t>
            </a:r>
          </a:p>
        </p:txBody>
      </p:sp>
      <p:sp>
        <p:nvSpPr>
          <p:cNvPr id="45073" name="Text Box 17"/>
          <p:cNvSpPr txBox="1">
            <a:spLocks noChangeArrowheads="1"/>
          </p:cNvSpPr>
          <p:nvPr/>
        </p:nvSpPr>
        <p:spPr bwMode="auto">
          <a:xfrm rot="-5400000">
            <a:off x="4644232" y="1818484"/>
            <a:ext cx="9667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items</a:t>
            </a:r>
          </a:p>
        </p:txBody>
      </p:sp>
      <p:sp>
        <p:nvSpPr>
          <p:cNvPr id="45074" name="Line 18"/>
          <p:cNvSpPr>
            <a:spLocks noChangeShapeType="1"/>
          </p:cNvSpPr>
          <p:nvPr/>
        </p:nvSpPr>
        <p:spPr bwMode="auto">
          <a:xfrm flipV="1">
            <a:off x="5411788" y="1606550"/>
            <a:ext cx="0" cy="928688"/>
          </a:xfrm>
          <a:prstGeom prst="line">
            <a:avLst/>
          </a:prstGeom>
          <a:noFill/>
          <a:ln w="9525">
            <a:solidFill>
              <a:schemeClr val="tx1"/>
            </a:solidFill>
            <a:round/>
            <a:headEnd/>
            <a:tailEnd type="none" w="lg" len="lg"/>
          </a:ln>
        </p:spPr>
        <p:txBody>
          <a:bodyPr/>
          <a:lstStyle/>
          <a:p>
            <a:endParaRPr lang="nl-NL"/>
          </a:p>
        </p:txBody>
      </p:sp>
      <p:sp>
        <p:nvSpPr>
          <p:cNvPr id="45075" name="Text Box 19"/>
          <p:cNvSpPr txBox="1">
            <a:spLocks noChangeArrowheads="1"/>
          </p:cNvSpPr>
          <p:nvPr/>
        </p:nvSpPr>
        <p:spPr bwMode="auto">
          <a:xfrm rot="-5400000">
            <a:off x="5236371" y="1650207"/>
            <a:ext cx="1046163" cy="82550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a:t>
            </a:r>
          </a:p>
          <a:p>
            <a:pPr eaLnBrk="0" hangingPunct="0">
              <a:spcBef>
                <a:spcPct val="0"/>
              </a:spcBef>
              <a:buClrTx/>
            </a:pPr>
            <a:r>
              <a:rPr lang="en-US" sz="1600"/>
              <a:t>variations</a:t>
            </a:r>
          </a:p>
        </p:txBody>
      </p:sp>
      <p:sp>
        <p:nvSpPr>
          <p:cNvPr id="45076" name="Rectangle 20"/>
          <p:cNvSpPr>
            <a:spLocks noChangeArrowheads="1"/>
          </p:cNvSpPr>
          <p:nvPr/>
        </p:nvSpPr>
        <p:spPr bwMode="auto">
          <a:xfrm>
            <a:off x="6180141" y="876303"/>
            <a:ext cx="238125" cy="1660525"/>
          </a:xfrm>
          <a:prstGeom prst="rect">
            <a:avLst/>
          </a:prstGeom>
          <a:noFill/>
          <a:ln w="9525">
            <a:solidFill>
              <a:schemeClr val="tx1"/>
            </a:solidFill>
            <a:miter lim="800000"/>
            <a:headEnd/>
            <a:tailEnd type="none" w="lg" len="lg"/>
          </a:ln>
        </p:spPr>
        <p:txBody>
          <a:bodyPr wrap="none" anchor="ctr"/>
          <a:lstStyle/>
          <a:p>
            <a:endParaRPr lang="nl-NL"/>
          </a:p>
        </p:txBody>
      </p:sp>
      <p:sp>
        <p:nvSpPr>
          <p:cNvPr id="45077" name="Text Box 21"/>
          <p:cNvSpPr txBox="1">
            <a:spLocks noChangeArrowheads="1"/>
          </p:cNvSpPr>
          <p:nvPr/>
        </p:nvSpPr>
        <p:spPr bwMode="auto">
          <a:xfrm rot="-5400000">
            <a:off x="5432428" y="1546226"/>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operational items</a:t>
            </a:r>
          </a:p>
        </p:txBody>
      </p:sp>
      <p:sp>
        <p:nvSpPr>
          <p:cNvPr id="45078" name="Rectangle 23"/>
          <p:cNvSpPr>
            <a:spLocks noChangeArrowheads="1"/>
          </p:cNvSpPr>
          <p:nvPr/>
        </p:nvSpPr>
        <p:spPr bwMode="auto">
          <a:xfrm>
            <a:off x="6418266" y="876303"/>
            <a:ext cx="814387" cy="1666875"/>
          </a:xfrm>
          <a:prstGeom prst="rect">
            <a:avLst/>
          </a:prstGeom>
          <a:noFill/>
          <a:ln w="9525">
            <a:solidFill>
              <a:schemeClr val="tx1"/>
            </a:solidFill>
            <a:miter lim="800000"/>
            <a:headEnd/>
            <a:tailEnd type="none" w="lg" len="lg"/>
          </a:ln>
        </p:spPr>
        <p:txBody>
          <a:bodyPr wrap="none" anchor="ctr"/>
          <a:lstStyle/>
          <a:p>
            <a:endParaRPr lang="nl-NL"/>
          </a:p>
        </p:txBody>
      </p:sp>
      <p:sp>
        <p:nvSpPr>
          <p:cNvPr id="45079" name="Text Box 24"/>
          <p:cNvSpPr txBox="1">
            <a:spLocks noChangeArrowheads="1"/>
          </p:cNvSpPr>
          <p:nvPr/>
        </p:nvSpPr>
        <p:spPr bwMode="auto">
          <a:xfrm rot="-5400000">
            <a:off x="5913440" y="1566863"/>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payload</a:t>
            </a:r>
          </a:p>
        </p:txBody>
      </p:sp>
      <p:sp>
        <p:nvSpPr>
          <p:cNvPr id="45080" name="Text Box 25"/>
          <p:cNvSpPr txBox="1">
            <a:spLocks noChangeArrowheads="1"/>
          </p:cNvSpPr>
          <p:nvPr/>
        </p:nvSpPr>
        <p:spPr bwMode="auto">
          <a:xfrm>
            <a:off x="8151816" y="830263"/>
            <a:ext cx="1133475"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(total) fuel</a:t>
            </a:r>
          </a:p>
        </p:txBody>
      </p:sp>
      <p:sp>
        <p:nvSpPr>
          <p:cNvPr id="45081" name="Line 26"/>
          <p:cNvSpPr>
            <a:spLocks noChangeShapeType="1"/>
          </p:cNvSpPr>
          <p:nvPr/>
        </p:nvSpPr>
        <p:spPr bwMode="auto">
          <a:xfrm>
            <a:off x="7226303" y="1130300"/>
            <a:ext cx="3122613" cy="0"/>
          </a:xfrm>
          <a:prstGeom prst="line">
            <a:avLst/>
          </a:prstGeom>
          <a:noFill/>
          <a:ln w="9525">
            <a:solidFill>
              <a:schemeClr val="tx1"/>
            </a:solidFill>
            <a:prstDash val="sysDot"/>
            <a:round/>
            <a:headEnd/>
            <a:tailEnd type="none" w="lg" len="lg"/>
          </a:ln>
        </p:spPr>
        <p:txBody>
          <a:bodyPr/>
          <a:lstStyle/>
          <a:p>
            <a:endParaRPr lang="nl-NL"/>
          </a:p>
        </p:txBody>
      </p:sp>
      <p:sp>
        <p:nvSpPr>
          <p:cNvPr id="45082" name="Text Box 27"/>
          <p:cNvSpPr txBox="1">
            <a:spLocks noChangeArrowheads="1"/>
          </p:cNvSpPr>
          <p:nvPr/>
        </p:nvSpPr>
        <p:spPr bwMode="auto">
          <a:xfrm>
            <a:off x="7208841" y="1081088"/>
            <a:ext cx="915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rest fuel</a:t>
            </a:r>
          </a:p>
        </p:txBody>
      </p:sp>
      <p:sp>
        <p:nvSpPr>
          <p:cNvPr id="45083" name="Text Box 28"/>
          <p:cNvSpPr txBox="1">
            <a:spLocks noChangeArrowheads="1"/>
          </p:cNvSpPr>
          <p:nvPr/>
        </p:nvSpPr>
        <p:spPr bwMode="auto">
          <a:xfrm>
            <a:off x="8758241" y="1092200"/>
            <a:ext cx="1042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block fuel</a:t>
            </a:r>
          </a:p>
        </p:txBody>
      </p:sp>
      <p:sp>
        <p:nvSpPr>
          <p:cNvPr id="45084" name="Line 29"/>
          <p:cNvSpPr>
            <a:spLocks noChangeShapeType="1"/>
          </p:cNvSpPr>
          <p:nvPr/>
        </p:nvSpPr>
        <p:spPr bwMode="auto">
          <a:xfrm>
            <a:off x="7237413" y="1390650"/>
            <a:ext cx="3103562" cy="0"/>
          </a:xfrm>
          <a:prstGeom prst="line">
            <a:avLst/>
          </a:prstGeom>
          <a:noFill/>
          <a:ln w="9525">
            <a:solidFill>
              <a:schemeClr val="tx1"/>
            </a:solidFill>
            <a:round/>
            <a:headEnd/>
            <a:tailEnd type="none" w="lg" len="lg"/>
          </a:ln>
        </p:spPr>
        <p:txBody>
          <a:bodyPr/>
          <a:lstStyle/>
          <a:p>
            <a:endParaRPr lang="nl-NL"/>
          </a:p>
        </p:txBody>
      </p:sp>
      <p:sp>
        <p:nvSpPr>
          <p:cNvPr id="45085" name="Line 30"/>
          <p:cNvSpPr>
            <a:spLocks noChangeShapeType="1"/>
          </p:cNvSpPr>
          <p:nvPr/>
        </p:nvSpPr>
        <p:spPr bwMode="auto">
          <a:xfrm flipH="1">
            <a:off x="8478841" y="1130300"/>
            <a:ext cx="9525" cy="266700"/>
          </a:xfrm>
          <a:prstGeom prst="line">
            <a:avLst/>
          </a:prstGeom>
          <a:noFill/>
          <a:ln w="9525">
            <a:solidFill>
              <a:schemeClr val="tx1"/>
            </a:solidFill>
            <a:prstDash val="sysDot"/>
            <a:round/>
            <a:headEnd/>
            <a:tailEnd type="none" w="lg" len="lg"/>
          </a:ln>
        </p:spPr>
        <p:txBody>
          <a:bodyPr/>
          <a:lstStyle/>
          <a:p>
            <a:endParaRPr lang="nl-NL"/>
          </a:p>
        </p:txBody>
      </p:sp>
      <p:sp>
        <p:nvSpPr>
          <p:cNvPr id="45086" name="Text Box 31"/>
          <p:cNvSpPr txBox="1">
            <a:spLocks noChangeArrowheads="1"/>
          </p:cNvSpPr>
          <p:nvPr/>
        </p:nvSpPr>
        <p:spPr bwMode="auto">
          <a:xfrm>
            <a:off x="7189788" y="1325563"/>
            <a:ext cx="1465262"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fuel at landing</a:t>
            </a:r>
          </a:p>
        </p:txBody>
      </p:sp>
      <p:sp>
        <p:nvSpPr>
          <p:cNvPr id="45087" name="Text Box 32"/>
          <p:cNvSpPr txBox="1">
            <a:spLocks noChangeArrowheads="1"/>
          </p:cNvSpPr>
          <p:nvPr/>
        </p:nvSpPr>
        <p:spPr bwMode="auto">
          <a:xfrm rot="-5400000">
            <a:off x="7088188" y="1838328"/>
            <a:ext cx="920750"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reserve</a:t>
            </a:r>
          </a:p>
          <a:p>
            <a:pPr eaLnBrk="0" hangingPunct="0">
              <a:spcBef>
                <a:spcPct val="0"/>
              </a:spcBef>
              <a:buClrTx/>
            </a:pPr>
            <a:r>
              <a:rPr lang="en-US" sz="1600"/>
              <a:t>fuel</a:t>
            </a:r>
          </a:p>
        </p:txBody>
      </p:sp>
      <p:sp>
        <p:nvSpPr>
          <p:cNvPr id="45088" name="Text Box 33"/>
          <p:cNvSpPr txBox="1">
            <a:spLocks noChangeArrowheads="1"/>
          </p:cNvSpPr>
          <p:nvPr/>
        </p:nvSpPr>
        <p:spPr bwMode="auto">
          <a:xfrm rot="-5400000">
            <a:off x="760730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additional</a:t>
            </a:r>
          </a:p>
          <a:p>
            <a:pPr eaLnBrk="0" hangingPunct="0">
              <a:spcBef>
                <a:spcPct val="0"/>
              </a:spcBef>
              <a:buClrTx/>
            </a:pPr>
            <a:r>
              <a:rPr lang="en-US" sz="1600"/>
              <a:t>fuel</a:t>
            </a:r>
          </a:p>
        </p:txBody>
      </p:sp>
      <p:sp>
        <p:nvSpPr>
          <p:cNvPr id="45089" name="Line 34"/>
          <p:cNvSpPr>
            <a:spLocks noChangeShapeType="1"/>
          </p:cNvSpPr>
          <p:nvPr/>
        </p:nvSpPr>
        <p:spPr bwMode="auto">
          <a:xfrm flipV="1">
            <a:off x="8639175" y="1390653"/>
            <a:ext cx="0" cy="1152525"/>
          </a:xfrm>
          <a:prstGeom prst="line">
            <a:avLst/>
          </a:prstGeom>
          <a:noFill/>
          <a:ln w="9525">
            <a:solidFill>
              <a:schemeClr val="tx1"/>
            </a:solidFill>
            <a:round/>
            <a:headEnd/>
            <a:tailEnd type="none" w="lg" len="lg"/>
          </a:ln>
        </p:spPr>
        <p:txBody>
          <a:bodyPr/>
          <a:lstStyle/>
          <a:p>
            <a:endParaRPr lang="nl-NL"/>
          </a:p>
        </p:txBody>
      </p:sp>
      <p:sp>
        <p:nvSpPr>
          <p:cNvPr id="45090" name="Line 35"/>
          <p:cNvSpPr>
            <a:spLocks noChangeShapeType="1"/>
          </p:cNvSpPr>
          <p:nvPr/>
        </p:nvSpPr>
        <p:spPr bwMode="auto">
          <a:xfrm flipH="1">
            <a:off x="7229475" y="1619250"/>
            <a:ext cx="1409700" cy="0"/>
          </a:xfrm>
          <a:prstGeom prst="line">
            <a:avLst/>
          </a:prstGeom>
          <a:noFill/>
          <a:ln w="9525">
            <a:solidFill>
              <a:schemeClr val="tx1"/>
            </a:solidFill>
            <a:round/>
            <a:headEnd/>
            <a:tailEnd type="none" w="lg" len="lg"/>
          </a:ln>
        </p:spPr>
        <p:txBody>
          <a:bodyPr/>
          <a:lstStyle/>
          <a:p>
            <a:endParaRPr lang="nl-NL"/>
          </a:p>
        </p:txBody>
      </p:sp>
      <p:sp>
        <p:nvSpPr>
          <p:cNvPr id="45091" name="Line 36"/>
          <p:cNvSpPr>
            <a:spLocks noChangeShapeType="1"/>
          </p:cNvSpPr>
          <p:nvPr/>
        </p:nvSpPr>
        <p:spPr bwMode="auto">
          <a:xfrm>
            <a:off x="7867650" y="1619253"/>
            <a:ext cx="0" cy="923925"/>
          </a:xfrm>
          <a:prstGeom prst="line">
            <a:avLst/>
          </a:prstGeom>
          <a:noFill/>
          <a:ln w="9525">
            <a:solidFill>
              <a:schemeClr val="tx1"/>
            </a:solidFill>
            <a:round/>
            <a:headEnd/>
            <a:tailEnd type="none" w="lg" len="lg"/>
          </a:ln>
        </p:spPr>
        <p:txBody>
          <a:bodyPr/>
          <a:lstStyle/>
          <a:p>
            <a:endParaRPr lang="nl-NL"/>
          </a:p>
        </p:txBody>
      </p:sp>
      <p:sp>
        <p:nvSpPr>
          <p:cNvPr id="45092" name="Line 37"/>
          <p:cNvSpPr>
            <a:spLocks noChangeShapeType="1"/>
          </p:cNvSpPr>
          <p:nvPr/>
        </p:nvSpPr>
        <p:spPr bwMode="auto">
          <a:xfrm flipV="1">
            <a:off x="9820275" y="1390653"/>
            <a:ext cx="0" cy="1152525"/>
          </a:xfrm>
          <a:prstGeom prst="line">
            <a:avLst/>
          </a:prstGeom>
          <a:noFill/>
          <a:ln w="9525">
            <a:solidFill>
              <a:schemeClr val="tx1"/>
            </a:solidFill>
            <a:round/>
            <a:headEnd/>
            <a:tailEnd type="none" w="lg" len="lg"/>
          </a:ln>
        </p:spPr>
        <p:txBody>
          <a:bodyPr/>
          <a:lstStyle/>
          <a:p>
            <a:endParaRPr lang="nl-NL"/>
          </a:p>
        </p:txBody>
      </p:sp>
      <p:sp>
        <p:nvSpPr>
          <p:cNvPr id="45093" name="Text Box 38"/>
          <p:cNvSpPr txBox="1">
            <a:spLocks noChangeArrowheads="1"/>
          </p:cNvSpPr>
          <p:nvPr/>
        </p:nvSpPr>
        <p:spPr bwMode="auto">
          <a:xfrm rot="-5400000">
            <a:off x="873125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trip</a:t>
            </a:r>
          </a:p>
          <a:p>
            <a:pPr eaLnBrk="0" hangingPunct="0">
              <a:spcBef>
                <a:spcPct val="0"/>
              </a:spcBef>
              <a:buClrTx/>
            </a:pPr>
            <a:r>
              <a:rPr lang="en-US" sz="1600"/>
              <a:t>fuel</a:t>
            </a:r>
          </a:p>
        </p:txBody>
      </p:sp>
      <p:sp>
        <p:nvSpPr>
          <p:cNvPr id="45094" name="Text Box 39"/>
          <p:cNvSpPr txBox="1">
            <a:spLocks noChangeArrowheads="1"/>
          </p:cNvSpPr>
          <p:nvPr/>
        </p:nvSpPr>
        <p:spPr bwMode="auto">
          <a:xfrm rot="-5400000">
            <a:off x="9169403" y="1443041"/>
            <a:ext cx="173037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pre-take-off </a:t>
            </a:r>
          </a:p>
          <a:p>
            <a:pPr eaLnBrk="0" hangingPunct="0">
              <a:spcBef>
                <a:spcPct val="0"/>
              </a:spcBef>
              <a:buClrTx/>
            </a:pPr>
            <a:r>
              <a:rPr lang="en-US" sz="1600"/>
              <a:t>fuel</a:t>
            </a:r>
          </a:p>
        </p:txBody>
      </p:sp>
      <p:sp>
        <p:nvSpPr>
          <p:cNvPr id="45096" name="Rectangle 42"/>
          <p:cNvSpPr>
            <a:spLocks noChangeArrowheads="1"/>
          </p:cNvSpPr>
          <p:nvPr/>
        </p:nvSpPr>
        <p:spPr bwMode="auto">
          <a:xfrm>
            <a:off x="2281238" y="2540000"/>
            <a:ext cx="3897312"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Basic (empty) weight</a:t>
            </a:r>
          </a:p>
        </p:txBody>
      </p:sp>
      <p:sp>
        <p:nvSpPr>
          <p:cNvPr id="41" name="Rectangle 3"/>
          <p:cNvSpPr>
            <a:spLocks noChangeArrowheads="1"/>
          </p:cNvSpPr>
          <p:nvPr/>
        </p:nvSpPr>
        <p:spPr bwMode="auto">
          <a:xfrm>
            <a:off x="2247900" y="3790784"/>
            <a:ext cx="7405688" cy="646331"/>
          </a:xfrm>
          <a:prstGeom prst="rect">
            <a:avLst/>
          </a:prstGeom>
          <a:noFill/>
          <a:ln w="9525" algn="ctr">
            <a:noFill/>
            <a:miter lim="800000"/>
            <a:headEnd/>
            <a:tailEnd/>
          </a:ln>
        </p:spPr>
        <p:txBody>
          <a:bodyPr>
            <a:spAutoFit/>
          </a:bodyPr>
          <a:lstStyle/>
          <a:p>
            <a:pPr>
              <a:spcBef>
                <a:spcPct val="0"/>
              </a:spcBef>
              <a:buClrTx/>
            </a:pPr>
            <a:r>
              <a:rPr lang="en-US" sz="2000" dirty="0">
                <a:solidFill>
                  <a:srgbClr val="FF3300"/>
                </a:solidFill>
              </a:rPr>
              <a:t>Airframe services and equipment 2/2</a:t>
            </a:r>
          </a:p>
          <a:p>
            <a:pPr>
              <a:spcBef>
                <a:spcPct val="0"/>
              </a:spcBef>
              <a:buClrTx/>
            </a:pPr>
            <a:r>
              <a:rPr lang="en-US" sz="1600" dirty="0">
                <a:solidFill>
                  <a:srgbClr val="FF3300"/>
                </a:solidFill>
              </a:rPr>
              <a:t>Furnishing and equipment items:</a:t>
            </a:r>
          </a:p>
        </p:txBody>
      </p:sp>
      <p:sp>
        <p:nvSpPr>
          <p:cNvPr id="42" name="Rectangle 40"/>
          <p:cNvSpPr>
            <a:spLocks noChangeArrowheads="1"/>
          </p:cNvSpPr>
          <p:nvPr/>
        </p:nvSpPr>
        <p:spPr bwMode="auto">
          <a:xfrm rot="21288039">
            <a:off x="8018462" y="3557484"/>
            <a:ext cx="2533650" cy="830997"/>
          </a:xfrm>
          <a:prstGeom prst="rect">
            <a:avLst/>
          </a:prstGeom>
          <a:solidFill>
            <a:srgbClr val="FFFF00"/>
          </a:solidFill>
          <a:ln w="9525">
            <a:noFill/>
            <a:miter lim="800000"/>
            <a:headEnd/>
            <a:tailEnd/>
          </a:ln>
        </p:spPr>
        <p:txBody>
          <a:bodyPr>
            <a:spAutoFit/>
          </a:bodyPr>
          <a:lstStyle/>
          <a:p>
            <a:r>
              <a:rPr lang="en-GB" sz="1600" dirty="0"/>
              <a:t>Can be in the order of 50% of fuselage airframe weight!</a:t>
            </a:r>
          </a:p>
        </p:txBody>
      </p:sp>
      <p:sp>
        <p:nvSpPr>
          <p:cNvPr id="43" name="Rectangle 42"/>
          <p:cNvSpPr/>
          <p:nvPr/>
        </p:nvSpPr>
        <p:spPr>
          <a:xfrm>
            <a:off x="1775520" y="3105835"/>
            <a:ext cx="8651180" cy="338554"/>
          </a:xfrm>
          <a:prstGeom prst="rect">
            <a:avLst/>
          </a:prstGeom>
        </p:spPr>
        <p:txBody>
          <a:bodyPr wrap="square">
            <a:spAutoFit/>
          </a:bodyPr>
          <a:lstStyle/>
          <a:p>
            <a:r>
              <a:rPr lang="en-US" sz="1600" dirty="0"/>
              <a:t>A class II estimation method provides the weight of several components:</a:t>
            </a:r>
            <a:endParaRPr lang="en-GB" sz="1600" dirty="0"/>
          </a:p>
        </p:txBody>
      </p:sp>
      <p:sp>
        <p:nvSpPr>
          <p:cNvPr id="45" name="Rectangle 39"/>
          <p:cNvSpPr>
            <a:spLocks noChangeArrowheads="1"/>
          </p:cNvSpPr>
          <p:nvPr/>
        </p:nvSpPr>
        <p:spPr bwMode="auto">
          <a:xfrm>
            <a:off x="695400" y="144463"/>
            <a:ext cx="10226600" cy="795337"/>
          </a:xfrm>
          <a:prstGeom prst="rect">
            <a:avLst/>
          </a:prstGeom>
          <a:noFill/>
          <a:ln w="9525">
            <a:noFill/>
            <a:miter lim="800000"/>
            <a:headEnd/>
            <a:tailEnd/>
          </a:ln>
        </p:spPr>
        <p:txBody>
          <a:bodyPr/>
          <a:lstStyle/>
          <a:p>
            <a:pPr>
              <a:spcBef>
                <a:spcPct val="0"/>
              </a:spcBef>
              <a:buClrTx/>
            </a:pPr>
            <a:r>
              <a:rPr lang="en-US" sz="3200" dirty="0">
                <a:solidFill>
                  <a:srgbClr val="00A4DE"/>
                </a:solidFill>
                <a:cs typeface="Tahoma" pitchFamily="34" charset="0"/>
              </a:rPr>
              <a:t>Weights: what are we talking about…</a:t>
            </a:r>
          </a:p>
        </p:txBody>
      </p:sp>
    </p:spTree>
    <p:extLst>
      <p:ext uri="{BB962C8B-B14F-4D97-AF65-F5344CB8AC3E}">
        <p14:creationId xmlns:p14="http://schemas.microsoft.com/office/powerpoint/2010/main" val="9583578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2252663" y="3460938"/>
            <a:ext cx="6932612" cy="400110"/>
          </a:xfrm>
          <a:prstGeom prst="rect">
            <a:avLst/>
          </a:prstGeom>
          <a:noFill/>
          <a:ln w="9525" algn="ctr">
            <a:noFill/>
            <a:miter lim="800000"/>
            <a:headEnd/>
            <a:tailEnd/>
          </a:ln>
        </p:spPr>
        <p:txBody>
          <a:bodyPr>
            <a:spAutoFit/>
          </a:bodyPr>
          <a:lstStyle/>
          <a:p>
            <a:pPr>
              <a:spcBef>
                <a:spcPct val="0"/>
              </a:spcBef>
              <a:buClrTx/>
            </a:pPr>
            <a:r>
              <a:rPr lang="en-US" sz="2000" dirty="0">
                <a:solidFill>
                  <a:srgbClr val="FF3300"/>
                </a:solidFill>
              </a:rPr>
              <a:t>Operational items:</a:t>
            </a:r>
          </a:p>
        </p:txBody>
      </p:sp>
      <p:sp>
        <p:nvSpPr>
          <p:cNvPr id="46083" name="Text Box 3"/>
          <p:cNvSpPr txBox="1">
            <a:spLocks noChangeArrowheads="1"/>
          </p:cNvSpPr>
          <p:nvPr/>
        </p:nvSpPr>
        <p:spPr bwMode="auto">
          <a:xfrm>
            <a:off x="2057400" y="3581401"/>
            <a:ext cx="6553200" cy="369332"/>
          </a:xfrm>
          <a:prstGeom prst="rect">
            <a:avLst/>
          </a:prstGeom>
          <a:noFill/>
          <a:ln w="9525" algn="ctr">
            <a:noFill/>
            <a:miter lim="800000"/>
            <a:headEnd/>
            <a:tailEnd/>
          </a:ln>
        </p:spPr>
        <p:txBody>
          <a:bodyPr>
            <a:spAutoFit/>
          </a:bodyPr>
          <a:lstStyle/>
          <a:p>
            <a:pPr>
              <a:spcBef>
                <a:spcPct val="50000"/>
              </a:spcBef>
              <a:buClrTx/>
            </a:pPr>
            <a:endParaRPr lang="en-GB" b="1"/>
          </a:p>
        </p:txBody>
      </p:sp>
      <p:sp>
        <p:nvSpPr>
          <p:cNvPr id="46084" name="Text Box 4"/>
          <p:cNvSpPr txBox="1">
            <a:spLocks noChangeArrowheads="1"/>
          </p:cNvSpPr>
          <p:nvPr/>
        </p:nvSpPr>
        <p:spPr bwMode="auto">
          <a:xfrm>
            <a:off x="2084549" y="3836074"/>
            <a:ext cx="8153400" cy="2185214"/>
          </a:xfrm>
          <a:prstGeom prst="rect">
            <a:avLst/>
          </a:prstGeom>
          <a:noFill/>
          <a:ln w="9525" algn="ctr">
            <a:noFill/>
            <a:miter lim="800000"/>
            <a:headEnd/>
            <a:tailEnd/>
          </a:ln>
        </p:spPr>
        <p:txBody>
          <a:bodyPr wrap="square">
            <a:spAutoFit/>
          </a:bodyPr>
          <a:lstStyle/>
          <a:p>
            <a:pPr marL="285750" indent="-285750">
              <a:spcBef>
                <a:spcPct val="50000"/>
              </a:spcBef>
              <a:buFont typeface="Tahoma" panose="020B0604030504040204" pitchFamily="34" charset="0"/>
              <a:buChar char="−"/>
            </a:pPr>
            <a:r>
              <a:rPr lang="en-US" sz="1600" dirty="0"/>
              <a:t>Flight/cabin deck crew (with provisions*)</a:t>
            </a:r>
          </a:p>
          <a:p>
            <a:pPr marL="285750" indent="-285750">
              <a:spcBef>
                <a:spcPct val="50000"/>
              </a:spcBef>
              <a:buFont typeface="Tahoma" panose="020B0604030504040204" pitchFamily="34" charset="0"/>
              <a:buChar char="−"/>
            </a:pPr>
            <a:r>
              <a:rPr lang="en-US" sz="1600" dirty="0" err="1"/>
              <a:t>Pax</a:t>
            </a:r>
            <a:r>
              <a:rPr lang="en-US" sz="1600" dirty="0"/>
              <a:t> cabin supplies: </a:t>
            </a:r>
            <a:r>
              <a:rPr lang="en-US" sz="1400" i="1" dirty="0"/>
              <a:t>containers, trolleys &amp; galley inserts, food, drinks, magazines, pillows</a:t>
            </a:r>
          </a:p>
          <a:p>
            <a:pPr marL="285750" indent="-285750">
              <a:spcBef>
                <a:spcPct val="50000"/>
              </a:spcBef>
              <a:buFont typeface="Tahoma" panose="020B0604030504040204" pitchFamily="34" charset="0"/>
              <a:buChar char="−"/>
            </a:pPr>
            <a:r>
              <a:rPr lang="en-US" sz="1600" dirty="0"/>
              <a:t>Potable water, toilet chemicals and lavatory supplies</a:t>
            </a:r>
          </a:p>
          <a:p>
            <a:pPr marL="285750" indent="-285750">
              <a:spcBef>
                <a:spcPct val="50000"/>
              </a:spcBef>
              <a:buFont typeface="Tahoma" panose="020B0604030504040204" pitchFamily="34" charset="0"/>
              <a:buChar char="−"/>
            </a:pPr>
            <a:r>
              <a:rPr lang="en-US" sz="1600" dirty="0"/>
              <a:t>Safety equipment: </a:t>
            </a:r>
            <a:r>
              <a:rPr lang="en-US" sz="1400" i="1" dirty="0"/>
              <a:t>life jackets</a:t>
            </a:r>
            <a:endParaRPr lang="en-US" sz="1600" i="1" dirty="0"/>
          </a:p>
          <a:p>
            <a:pPr marL="285750" indent="-285750">
              <a:spcBef>
                <a:spcPct val="50000"/>
              </a:spcBef>
              <a:buFont typeface="Tahoma" panose="020B0604030504040204" pitchFamily="34" charset="0"/>
              <a:buChar char="−"/>
            </a:pPr>
            <a:r>
              <a:rPr lang="en-US" sz="1600" dirty="0"/>
              <a:t>Oil in engines &amp; Unusable fuel (</a:t>
            </a:r>
            <a:r>
              <a:rPr lang="en-US" sz="1600" i="1" dirty="0"/>
              <a:t>trapped</a:t>
            </a:r>
            <a:r>
              <a:rPr lang="en-US" sz="1600" dirty="0"/>
              <a:t> fuel)**</a:t>
            </a:r>
          </a:p>
          <a:p>
            <a:pPr marL="285750" indent="-285750">
              <a:spcBef>
                <a:spcPct val="50000"/>
              </a:spcBef>
              <a:buFont typeface="Tahoma" panose="020B0604030504040204" pitchFamily="34" charset="0"/>
              <a:buChar char="−"/>
            </a:pPr>
            <a:r>
              <a:rPr lang="en-US" sz="1600" dirty="0"/>
              <a:t>Cargo handling equipment: </a:t>
            </a:r>
            <a:r>
              <a:rPr lang="en-US" sz="1400" i="1" dirty="0"/>
              <a:t>pallets, containers</a:t>
            </a:r>
            <a:endParaRPr lang="en-US" sz="1600" i="1" dirty="0"/>
          </a:p>
        </p:txBody>
      </p:sp>
      <p:sp>
        <p:nvSpPr>
          <p:cNvPr id="46085" name="Rectangle 5"/>
          <p:cNvSpPr>
            <a:spLocks noChangeArrowheads="1"/>
          </p:cNvSpPr>
          <p:nvPr/>
        </p:nvSpPr>
        <p:spPr bwMode="auto">
          <a:xfrm>
            <a:off x="2052638" y="2203450"/>
            <a:ext cx="8153400" cy="457200"/>
          </a:xfrm>
          <a:prstGeom prst="rect">
            <a:avLst/>
          </a:prstGeom>
          <a:noFill/>
          <a:ln w="9525">
            <a:noFill/>
            <a:miter lim="800000"/>
            <a:headEnd/>
            <a:tailEnd/>
          </a:ln>
        </p:spPr>
        <p:txBody>
          <a:bodyPr>
            <a:spAutoFit/>
          </a:bodyPr>
          <a:lstStyle/>
          <a:p>
            <a:pPr marL="457200" indent="-457200"/>
            <a:endParaRPr lang="en-GB" sz="2400"/>
          </a:p>
        </p:txBody>
      </p:sp>
      <p:sp>
        <p:nvSpPr>
          <p:cNvPr id="46086" name="Rectangle 6"/>
          <p:cNvSpPr>
            <a:spLocks noChangeArrowheads="1"/>
          </p:cNvSpPr>
          <p:nvPr/>
        </p:nvSpPr>
        <p:spPr bwMode="auto">
          <a:xfrm>
            <a:off x="2289178" y="877891"/>
            <a:ext cx="8061325" cy="1665287"/>
          </a:xfrm>
          <a:prstGeom prst="rect">
            <a:avLst/>
          </a:prstGeom>
          <a:noFill/>
          <a:ln w="9525">
            <a:solidFill>
              <a:schemeClr val="tx1"/>
            </a:solidFill>
            <a:miter lim="800000"/>
            <a:headEnd/>
            <a:tailEnd type="none" w="lg" len="lg"/>
          </a:ln>
        </p:spPr>
        <p:txBody>
          <a:bodyPr wrap="none" anchor="ctr"/>
          <a:lstStyle/>
          <a:p>
            <a:endParaRPr lang="nl-NL"/>
          </a:p>
        </p:txBody>
      </p:sp>
      <p:sp>
        <p:nvSpPr>
          <p:cNvPr id="46087" name="Text Box 7"/>
          <p:cNvSpPr txBox="1">
            <a:spLocks noChangeArrowheads="1"/>
          </p:cNvSpPr>
          <p:nvPr/>
        </p:nvSpPr>
        <p:spPr bwMode="auto">
          <a:xfrm rot="-5400000">
            <a:off x="2083597" y="1753397"/>
            <a:ext cx="982663"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a:t>
            </a:r>
          </a:p>
          <a:p>
            <a:pPr eaLnBrk="0" hangingPunct="0">
              <a:spcBef>
                <a:spcPct val="0"/>
              </a:spcBef>
              <a:buClrTx/>
            </a:pPr>
            <a:r>
              <a:rPr lang="en-US" sz="1600"/>
              <a:t>structure</a:t>
            </a:r>
          </a:p>
        </p:txBody>
      </p:sp>
      <p:sp>
        <p:nvSpPr>
          <p:cNvPr id="46088" name="Line 8"/>
          <p:cNvSpPr>
            <a:spLocks noChangeShapeType="1"/>
          </p:cNvSpPr>
          <p:nvPr/>
        </p:nvSpPr>
        <p:spPr bwMode="auto">
          <a:xfrm>
            <a:off x="3025775" y="889003"/>
            <a:ext cx="0" cy="1649413"/>
          </a:xfrm>
          <a:prstGeom prst="line">
            <a:avLst/>
          </a:prstGeom>
          <a:noFill/>
          <a:ln w="9525">
            <a:solidFill>
              <a:schemeClr val="tx1"/>
            </a:solidFill>
            <a:round/>
            <a:headEnd/>
            <a:tailEnd type="none" w="lg" len="lg"/>
          </a:ln>
        </p:spPr>
        <p:txBody>
          <a:bodyPr/>
          <a:lstStyle/>
          <a:p>
            <a:endParaRPr lang="nl-NL"/>
          </a:p>
        </p:txBody>
      </p:sp>
      <p:sp>
        <p:nvSpPr>
          <p:cNvPr id="46089" name="Rectangle 9"/>
          <p:cNvSpPr>
            <a:spLocks noChangeArrowheads="1"/>
          </p:cNvSpPr>
          <p:nvPr/>
        </p:nvSpPr>
        <p:spPr bwMode="auto">
          <a:xfrm>
            <a:off x="3683000" y="1389063"/>
            <a:ext cx="2497138" cy="1154112"/>
          </a:xfrm>
          <a:prstGeom prst="rect">
            <a:avLst/>
          </a:prstGeom>
          <a:noFill/>
          <a:ln w="9525">
            <a:solidFill>
              <a:schemeClr val="tx1"/>
            </a:solidFill>
            <a:miter lim="800000"/>
            <a:headEnd/>
            <a:tailEnd type="none" w="lg" len="lg"/>
          </a:ln>
        </p:spPr>
        <p:txBody>
          <a:bodyPr wrap="none" anchor="ctr"/>
          <a:lstStyle/>
          <a:p>
            <a:endParaRPr lang="nl-NL"/>
          </a:p>
        </p:txBody>
      </p:sp>
      <p:sp>
        <p:nvSpPr>
          <p:cNvPr id="46090" name="Text Box 10"/>
          <p:cNvSpPr txBox="1">
            <a:spLocks noChangeArrowheads="1"/>
          </p:cNvSpPr>
          <p:nvPr/>
        </p:nvSpPr>
        <p:spPr bwMode="auto">
          <a:xfrm>
            <a:off x="3663950" y="835028"/>
            <a:ext cx="17668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airframe services </a:t>
            </a:r>
          </a:p>
          <a:p>
            <a:pPr eaLnBrk="0" hangingPunct="0">
              <a:spcBef>
                <a:spcPct val="0"/>
              </a:spcBef>
              <a:buClrTx/>
            </a:pPr>
            <a:r>
              <a:rPr lang="en-US" sz="1600"/>
              <a:t>and equipment</a:t>
            </a:r>
          </a:p>
        </p:txBody>
      </p:sp>
      <p:sp>
        <p:nvSpPr>
          <p:cNvPr id="46091" name="Line 11"/>
          <p:cNvSpPr>
            <a:spLocks noChangeShapeType="1"/>
          </p:cNvSpPr>
          <p:nvPr/>
        </p:nvSpPr>
        <p:spPr bwMode="auto">
          <a:xfrm flipV="1">
            <a:off x="4899025" y="1382716"/>
            <a:ext cx="0" cy="1152525"/>
          </a:xfrm>
          <a:prstGeom prst="line">
            <a:avLst/>
          </a:prstGeom>
          <a:noFill/>
          <a:ln w="9525">
            <a:solidFill>
              <a:schemeClr val="tx1"/>
            </a:solidFill>
            <a:round/>
            <a:headEnd/>
            <a:tailEnd type="none" w="lg" len="lg"/>
          </a:ln>
        </p:spPr>
        <p:txBody>
          <a:bodyPr/>
          <a:lstStyle/>
          <a:p>
            <a:endParaRPr lang="nl-NL"/>
          </a:p>
        </p:txBody>
      </p:sp>
      <p:sp>
        <p:nvSpPr>
          <p:cNvPr id="46092" name="Text Box 12"/>
          <p:cNvSpPr txBox="1">
            <a:spLocks noChangeArrowheads="1"/>
          </p:cNvSpPr>
          <p:nvPr/>
        </p:nvSpPr>
        <p:spPr bwMode="auto">
          <a:xfrm rot="-5400000">
            <a:off x="2750344" y="1688309"/>
            <a:ext cx="111283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propulsion</a:t>
            </a:r>
          </a:p>
          <a:p>
            <a:pPr eaLnBrk="0" hangingPunct="0">
              <a:spcBef>
                <a:spcPct val="0"/>
              </a:spcBef>
              <a:buClrTx/>
            </a:pPr>
            <a:r>
              <a:rPr lang="en-US" sz="1600"/>
              <a:t>group</a:t>
            </a:r>
          </a:p>
        </p:txBody>
      </p:sp>
      <p:sp>
        <p:nvSpPr>
          <p:cNvPr id="46093" name="Line 13"/>
          <p:cNvSpPr>
            <a:spLocks noChangeShapeType="1"/>
          </p:cNvSpPr>
          <p:nvPr/>
        </p:nvSpPr>
        <p:spPr bwMode="auto">
          <a:xfrm>
            <a:off x="4897438" y="1611313"/>
            <a:ext cx="1274762" cy="0"/>
          </a:xfrm>
          <a:prstGeom prst="line">
            <a:avLst/>
          </a:prstGeom>
          <a:noFill/>
          <a:ln w="9525">
            <a:solidFill>
              <a:schemeClr val="tx1"/>
            </a:solidFill>
            <a:round/>
            <a:headEnd/>
            <a:tailEnd type="none" w="lg" len="lg"/>
          </a:ln>
        </p:spPr>
        <p:txBody>
          <a:bodyPr/>
          <a:lstStyle/>
          <a:p>
            <a:endParaRPr lang="nl-NL"/>
          </a:p>
        </p:txBody>
      </p:sp>
      <p:sp>
        <p:nvSpPr>
          <p:cNvPr id="46094" name="Text Box 14"/>
          <p:cNvSpPr txBox="1">
            <a:spLocks noChangeArrowheads="1"/>
          </p:cNvSpPr>
          <p:nvPr/>
        </p:nvSpPr>
        <p:spPr bwMode="auto">
          <a:xfrm>
            <a:off x="4943475" y="1296988"/>
            <a:ext cx="1119188"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removable</a:t>
            </a:r>
          </a:p>
        </p:txBody>
      </p:sp>
      <p:sp>
        <p:nvSpPr>
          <p:cNvPr id="46095" name="Text Box 15"/>
          <p:cNvSpPr txBox="1">
            <a:spLocks noChangeArrowheads="1"/>
          </p:cNvSpPr>
          <p:nvPr/>
        </p:nvSpPr>
        <p:spPr bwMode="auto">
          <a:xfrm rot="-5400000">
            <a:off x="3617121" y="2043907"/>
            <a:ext cx="614363"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fixed</a:t>
            </a:r>
          </a:p>
        </p:txBody>
      </p:sp>
      <p:sp>
        <p:nvSpPr>
          <p:cNvPr id="46096" name="Text Box 16"/>
          <p:cNvSpPr txBox="1">
            <a:spLocks noChangeArrowheads="1"/>
          </p:cNvSpPr>
          <p:nvPr/>
        </p:nvSpPr>
        <p:spPr bwMode="auto">
          <a:xfrm rot="-5400000">
            <a:off x="4644232" y="1818484"/>
            <a:ext cx="966788" cy="581025"/>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items</a:t>
            </a:r>
          </a:p>
        </p:txBody>
      </p:sp>
      <p:sp>
        <p:nvSpPr>
          <p:cNvPr id="46097" name="Line 17"/>
          <p:cNvSpPr>
            <a:spLocks noChangeShapeType="1"/>
          </p:cNvSpPr>
          <p:nvPr/>
        </p:nvSpPr>
        <p:spPr bwMode="auto">
          <a:xfrm flipV="1">
            <a:off x="5411788" y="1606550"/>
            <a:ext cx="0" cy="928688"/>
          </a:xfrm>
          <a:prstGeom prst="line">
            <a:avLst/>
          </a:prstGeom>
          <a:noFill/>
          <a:ln w="9525">
            <a:solidFill>
              <a:schemeClr val="tx1"/>
            </a:solidFill>
            <a:round/>
            <a:headEnd/>
            <a:tailEnd type="none" w="lg" len="lg"/>
          </a:ln>
        </p:spPr>
        <p:txBody>
          <a:bodyPr/>
          <a:lstStyle/>
          <a:p>
            <a:endParaRPr lang="nl-NL"/>
          </a:p>
        </p:txBody>
      </p:sp>
      <p:sp>
        <p:nvSpPr>
          <p:cNvPr id="46098" name="Text Box 18"/>
          <p:cNvSpPr txBox="1">
            <a:spLocks noChangeArrowheads="1"/>
          </p:cNvSpPr>
          <p:nvPr/>
        </p:nvSpPr>
        <p:spPr bwMode="auto">
          <a:xfrm rot="-5400000">
            <a:off x="5236371" y="1650207"/>
            <a:ext cx="1046163" cy="82550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standard</a:t>
            </a:r>
          </a:p>
          <a:p>
            <a:pPr eaLnBrk="0" hangingPunct="0">
              <a:spcBef>
                <a:spcPct val="0"/>
              </a:spcBef>
              <a:buClrTx/>
            </a:pPr>
            <a:r>
              <a:rPr lang="en-US" sz="1600"/>
              <a:t>item</a:t>
            </a:r>
          </a:p>
          <a:p>
            <a:pPr eaLnBrk="0" hangingPunct="0">
              <a:spcBef>
                <a:spcPct val="0"/>
              </a:spcBef>
              <a:buClrTx/>
            </a:pPr>
            <a:r>
              <a:rPr lang="en-US" sz="1600"/>
              <a:t>variations</a:t>
            </a:r>
          </a:p>
        </p:txBody>
      </p:sp>
      <p:sp>
        <p:nvSpPr>
          <p:cNvPr id="46099" name="Rectangle 19"/>
          <p:cNvSpPr>
            <a:spLocks noChangeArrowheads="1"/>
          </p:cNvSpPr>
          <p:nvPr/>
        </p:nvSpPr>
        <p:spPr bwMode="auto">
          <a:xfrm>
            <a:off x="6180141" y="876303"/>
            <a:ext cx="238125" cy="1660525"/>
          </a:xfrm>
          <a:prstGeom prst="rect">
            <a:avLst/>
          </a:prstGeom>
          <a:solidFill>
            <a:srgbClr val="FFFF00"/>
          </a:solidFill>
          <a:ln w="9525">
            <a:solidFill>
              <a:schemeClr val="tx1"/>
            </a:solidFill>
            <a:miter lim="800000"/>
            <a:headEnd/>
            <a:tailEnd type="none" w="lg" len="lg"/>
          </a:ln>
        </p:spPr>
        <p:txBody>
          <a:bodyPr wrap="none" anchor="ctr"/>
          <a:lstStyle/>
          <a:p>
            <a:endParaRPr lang="nl-NL"/>
          </a:p>
        </p:txBody>
      </p:sp>
      <p:sp>
        <p:nvSpPr>
          <p:cNvPr id="46100" name="Text Box 20"/>
          <p:cNvSpPr txBox="1">
            <a:spLocks noChangeArrowheads="1"/>
          </p:cNvSpPr>
          <p:nvPr/>
        </p:nvSpPr>
        <p:spPr bwMode="auto">
          <a:xfrm rot="-5400000">
            <a:off x="5418140" y="1576388"/>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operational items</a:t>
            </a:r>
          </a:p>
        </p:txBody>
      </p:sp>
      <p:sp>
        <p:nvSpPr>
          <p:cNvPr id="46101" name="Rectangle 21"/>
          <p:cNvSpPr>
            <a:spLocks noChangeArrowheads="1"/>
          </p:cNvSpPr>
          <p:nvPr/>
        </p:nvSpPr>
        <p:spPr bwMode="auto">
          <a:xfrm>
            <a:off x="3683000" y="876300"/>
            <a:ext cx="2497138" cy="514350"/>
          </a:xfrm>
          <a:prstGeom prst="rect">
            <a:avLst/>
          </a:prstGeom>
          <a:noFill/>
          <a:ln w="9525">
            <a:solidFill>
              <a:schemeClr val="tx1"/>
            </a:solidFill>
            <a:miter lim="800000"/>
            <a:headEnd/>
            <a:tailEnd type="none" w="lg" len="lg"/>
          </a:ln>
        </p:spPr>
        <p:txBody>
          <a:bodyPr wrap="none" anchor="ctr"/>
          <a:lstStyle/>
          <a:p>
            <a:endParaRPr lang="nl-NL"/>
          </a:p>
        </p:txBody>
      </p:sp>
      <p:sp>
        <p:nvSpPr>
          <p:cNvPr id="46102" name="Rectangle 22"/>
          <p:cNvSpPr>
            <a:spLocks noChangeArrowheads="1"/>
          </p:cNvSpPr>
          <p:nvPr/>
        </p:nvSpPr>
        <p:spPr bwMode="auto">
          <a:xfrm>
            <a:off x="6418266" y="876303"/>
            <a:ext cx="814387" cy="1666875"/>
          </a:xfrm>
          <a:prstGeom prst="rect">
            <a:avLst/>
          </a:prstGeom>
          <a:noFill/>
          <a:ln w="9525">
            <a:solidFill>
              <a:schemeClr val="tx1"/>
            </a:solidFill>
            <a:miter lim="800000"/>
            <a:headEnd/>
            <a:tailEnd type="none" w="lg" len="lg"/>
          </a:ln>
        </p:spPr>
        <p:txBody>
          <a:bodyPr wrap="none" anchor="ctr"/>
          <a:lstStyle/>
          <a:p>
            <a:endParaRPr lang="nl-NL"/>
          </a:p>
        </p:txBody>
      </p:sp>
      <p:sp>
        <p:nvSpPr>
          <p:cNvPr id="46103" name="Text Box 23"/>
          <p:cNvSpPr txBox="1">
            <a:spLocks noChangeArrowheads="1"/>
          </p:cNvSpPr>
          <p:nvPr/>
        </p:nvSpPr>
        <p:spPr bwMode="auto">
          <a:xfrm rot="-5400000">
            <a:off x="5913440" y="1566863"/>
            <a:ext cx="1730375" cy="336550"/>
          </a:xfrm>
          <a:prstGeom prst="rect">
            <a:avLst/>
          </a:prstGeom>
          <a:noFill/>
          <a:ln w="9525">
            <a:noFill/>
            <a:miter lim="800000"/>
            <a:headEnd/>
            <a:tailEnd type="none" w="lg" len="lg"/>
          </a:ln>
        </p:spPr>
        <p:txBody>
          <a:bodyPr>
            <a:spAutoFit/>
          </a:bodyPr>
          <a:lstStyle/>
          <a:p>
            <a:pPr eaLnBrk="0" hangingPunct="0">
              <a:spcBef>
                <a:spcPct val="0"/>
              </a:spcBef>
              <a:buClrTx/>
            </a:pPr>
            <a:r>
              <a:rPr lang="en-US" sz="1600"/>
              <a:t>payload</a:t>
            </a:r>
          </a:p>
        </p:txBody>
      </p:sp>
      <p:sp>
        <p:nvSpPr>
          <p:cNvPr id="46104" name="Text Box 24"/>
          <p:cNvSpPr txBox="1">
            <a:spLocks noChangeArrowheads="1"/>
          </p:cNvSpPr>
          <p:nvPr/>
        </p:nvSpPr>
        <p:spPr bwMode="auto">
          <a:xfrm>
            <a:off x="8151816" y="830263"/>
            <a:ext cx="1133475"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(total) fuel</a:t>
            </a:r>
          </a:p>
        </p:txBody>
      </p:sp>
      <p:sp>
        <p:nvSpPr>
          <p:cNvPr id="46105" name="Line 25"/>
          <p:cNvSpPr>
            <a:spLocks noChangeShapeType="1"/>
          </p:cNvSpPr>
          <p:nvPr/>
        </p:nvSpPr>
        <p:spPr bwMode="auto">
          <a:xfrm>
            <a:off x="7226303" y="1130300"/>
            <a:ext cx="3122613" cy="0"/>
          </a:xfrm>
          <a:prstGeom prst="line">
            <a:avLst/>
          </a:prstGeom>
          <a:noFill/>
          <a:ln w="9525">
            <a:solidFill>
              <a:schemeClr val="tx1"/>
            </a:solidFill>
            <a:prstDash val="sysDot"/>
            <a:round/>
            <a:headEnd/>
            <a:tailEnd type="none" w="lg" len="lg"/>
          </a:ln>
        </p:spPr>
        <p:txBody>
          <a:bodyPr/>
          <a:lstStyle/>
          <a:p>
            <a:endParaRPr lang="nl-NL"/>
          </a:p>
        </p:txBody>
      </p:sp>
      <p:sp>
        <p:nvSpPr>
          <p:cNvPr id="46106" name="Text Box 26"/>
          <p:cNvSpPr txBox="1">
            <a:spLocks noChangeArrowheads="1"/>
          </p:cNvSpPr>
          <p:nvPr/>
        </p:nvSpPr>
        <p:spPr bwMode="auto">
          <a:xfrm>
            <a:off x="7208841" y="1081088"/>
            <a:ext cx="915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rest fuel</a:t>
            </a:r>
          </a:p>
        </p:txBody>
      </p:sp>
      <p:sp>
        <p:nvSpPr>
          <p:cNvPr id="46107" name="Text Box 27"/>
          <p:cNvSpPr txBox="1">
            <a:spLocks noChangeArrowheads="1"/>
          </p:cNvSpPr>
          <p:nvPr/>
        </p:nvSpPr>
        <p:spPr bwMode="auto">
          <a:xfrm>
            <a:off x="8758241" y="1092200"/>
            <a:ext cx="1042987"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block fuel</a:t>
            </a:r>
          </a:p>
        </p:txBody>
      </p:sp>
      <p:sp>
        <p:nvSpPr>
          <p:cNvPr id="46108" name="Line 28"/>
          <p:cNvSpPr>
            <a:spLocks noChangeShapeType="1"/>
          </p:cNvSpPr>
          <p:nvPr/>
        </p:nvSpPr>
        <p:spPr bwMode="auto">
          <a:xfrm>
            <a:off x="7237413" y="1390650"/>
            <a:ext cx="3103562" cy="0"/>
          </a:xfrm>
          <a:prstGeom prst="line">
            <a:avLst/>
          </a:prstGeom>
          <a:noFill/>
          <a:ln w="9525">
            <a:solidFill>
              <a:schemeClr val="tx1"/>
            </a:solidFill>
            <a:round/>
            <a:headEnd/>
            <a:tailEnd type="none" w="lg" len="lg"/>
          </a:ln>
        </p:spPr>
        <p:txBody>
          <a:bodyPr/>
          <a:lstStyle/>
          <a:p>
            <a:endParaRPr lang="nl-NL"/>
          </a:p>
        </p:txBody>
      </p:sp>
      <p:sp>
        <p:nvSpPr>
          <p:cNvPr id="46109" name="Line 29"/>
          <p:cNvSpPr>
            <a:spLocks noChangeShapeType="1"/>
          </p:cNvSpPr>
          <p:nvPr/>
        </p:nvSpPr>
        <p:spPr bwMode="auto">
          <a:xfrm flipH="1">
            <a:off x="8478841" y="1130300"/>
            <a:ext cx="9525" cy="266700"/>
          </a:xfrm>
          <a:prstGeom prst="line">
            <a:avLst/>
          </a:prstGeom>
          <a:noFill/>
          <a:ln w="9525">
            <a:solidFill>
              <a:schemeClr val="tx1"/>
            </a:solidFill>
            <a:prstDash val="sysDot"/>
            <a:round/>
            <a:headEnd/>
            <a:tailEnd type="none" w="lg" len="lg"/>
          </a:ln>
        </p:spPr>
        <p:txBody>
          <a:bodyPr/>
          <a:lstStyle/>
          <a:p>
            <a:endParaRPr lang="nl-NL"/>
          </a:p>
        </p:txBody>
      </p:sp>
      <p:sp>
        <p:nvSpPr>
          <p:cNvPr id="46110" name="Text Box 30"/>
          <p:cNvSpPr txBox="1">
            <a:spLocks noChangeArrowheads="1"/>
          </p:cNvSpPr>
          <p:nvPr/>
        </p:nvSpPr>
        <p:spPr bwMode="auto">
          <a:xfrm>
            <a:off x="7189788" y="1325563"/>
            <a:ext cx="1465262" cy="336550"/>
          </a:xfrm>
          <a:prstGeom prst="rect">
            <a:avLst/>
          </a:prstGeom>
          <a:noFill/>
          <a:ln w="9525">
            <a:noFill/>
            <a:miter lim="800000"/>
            <a:headEnd/>
            <a:tailEnd type="none" w="lg" len="lg"/>
          </a:ln>
        </p:spPr>
        <p:txBody>
          <a:bodyPr wrap="none">
            <a:spAutoFit/>
          </a:bodyPr>
          <a:lstStyle/>
          <a:p>
            <a:pPr eaLnBrk="0" hangingPunct="0">
              <a:spcBef>
                <a:spcPct val="0"/>
              </a:spcBef>
              <a:buClrTx/>
            </a:pPr>
            <a:r>
              <a:rPr lang="en-US" sz="1600"/>
              <a:t>fuel at landing</a:t>
            </a:r>
          </a:p>
        </p:txBody>
      </p:sp>
      <p:sp>
        <p:nvSpPr>
          <p:cNvPr id="46111" name="Text Box 31"/>
          <p:cNvSpPr txBox="1">
            <a:spLocks noChangeArrowheads="1"/>
          </p:cNvSpPr>
          <p:nvPr/>
        </p:nvSpPr>
        <p:spPr bwMode="auto">
          <a:xfrm rot="-5400000">
            <a:off x="7088188" y="1838328"/>
            <a:ext cx="920750"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reserve</a:t>
            </a:r>
          </a:p>
          <a:p>
            <a:pPr eaLnBrk="0" hangingPunct="0">
              <a:spcBef>
                <a:spcPct val="0"/>
              </a:spcBef>
              <a:buClrTx/>
            </a:pPr>
            <a:r>
              <a:rPr lang="en-US" sz="1600"/>
              <a:t>fuel</a:t>
            </a:r>
          </a:p>
        </p:txBody>
      </p:sp>
      <p:sp>
        <p:nvSpPr>
          <p:cNvPr id="46112" name="Text Box 32"/>
          <p:cNvSpPr txBox="1">
            <a:spLocks noChangeArrowheads="1"/>
          </p:cNvSpPr>
          <p:nvPr/>
        </p:nvSpPr>
        <p:spPr bwMode="auto">
          <a:xfrm rot="-5400000">
            <a:off x="760730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additional</a:t>
            </a:r>
          </a:p>
          <a:p>
            <a:pPr eaLnBrk="0" hangingPunct="0">
              <a:spcBef>
                <a:spcPct val="0"/>
              </a:spcBef>
              <a:buClrTx/>
            </a:pPr>
            <a:r>
              <a:rPr lang="en-US" sz="1600"/>
              <a:t>fuel</a:t>
            </a:r>
          </a:p>
        </p:txBody>
      </p:sp>
      <p:sp>
        <p:nvSpPr>
          <p:cNvPr id="46113" name="Line 33"/>
          <p:cNvSpPr>
            <a:spLocks noChangeShapeType="1"/>
          </p:cNvSpPr>
          <p:nvPr/>
        </p:nvSpPr>
        <p:spPr bwMode="auto">
          <a:xfrm flipV="1">
            <a:off x="8639175" y="1390653"/>
            <a:ext cx="0" cy="1152525"/>
          </a:xfrm>
          <a:prstGeom prst="line">
            <a:avLst/>
          </a:prstGeom>
          <a:noFill/>
          <a:ln w="9525">
            <a:solidFill>
              <a:schemeClr val="tx1"/>
            </a:solidFill>
            <a:round/>
            <a:headEnd/>
            <a:tailEnd type="none" w="lg" len="lg"/>
          </a:ln>
        </p:spPr>
        <p:txBody>
          <a:bodyPr/>
          <a:lstStyle/>
          <a:p>
            <a:endParaRPr lang="nl-NL"/>
          </a:p>
        </p:txBody>
      </p:sp>
      <p:sp>
        <p:nvSpPr>
          <p:cNvPr id="46114" name="Line 34"/>
          <p:cNvSpPr>
            <a:spLocks noChangeShapeType="1"/>
          </p:cNvSpPr>
          <p:nvPr/>
        </p:nvSpPr>
        <p:spPr bwMode="auto">
          <a:xfrm flipH="1">
            <a:off x="7229475" y="1619250"/>
            <a:ext cx="1409700" cy="0"/>
          </a:xfrm>
          <a:prstGeom prst="line">
            <a:avLst/>
          </a:prstGeom>
          <a:noFill/>
          <a:ln w="9525">
            <a:solidFill>
              <a:schemeClr val="tx1"/>
            </a:solidFill>
            <a:round/>
            <a:headEnd/>
            <a:tailEnd type="none" w="lg" len="lg"/>
          </a:ln>
        </p:spPr>
        <p:txBody>
          <a:bodyPr/>
          <a:lstStyle/>
          <a:p>
            <a:endParaRPr lang="nl-NL"/>
          </a:p>
        </p:txBody>
      </p:sp>
      <p:sp>
        <p:nvSpPr>
          <p:cNvPr id="46115" name="Line 35"/>
          <p:cNvSpPr>
            <a:spLocks noChangeShapeType="1"/>
          </p:cNvSpPr>
          <p:nvPr/>
        </p:nvSpPr>
        <p:spPr bwMode="auto">
          <a:xfrm>
            <a:off x="7867650" y="1619253"/>
            <a:ext cx="0" cy="923925"/>
          </a:xfrm>
          <a:prstGeom prst="line">
            <a:avLst/>
          </a:prstGeom>
          <a:noFill/>
          <a:ln w="9525">
            <a:solidFill>
              <a:schemeClr val="tx1"/>
            </a:solidFill>
            <a:round/>
            <a:headEnd/>
            <a:tailEnd type="none" w="lg" len="lg"/>
          </a:ln>
        </p:spPr>
        <p:txBody>
          <a:bodyPr/>
          <a:lstStyle/>
          <a:p>
            <a:endParaRPr lang="nl-NL"/>
          </a:p>
        </p:txBody>
      </p:sp>
      <p:sp>
        <p:nvSpPr>
          <p:cNvPr id="46116" name="Line 36"/>
          <p:cNvSpPr>
            <a:spLocks noChangeShapeType="1"/>
          </p:cNvSpPr>
          <p:nvPr/>
        </p:nvSpPr>
        <p:spPr bwMode="auto">
          <a:xfrm flipV="1">
            <a:off x="9820275" y="1390653"/>
            <a:ext cx="0" cy="1152525"/>
          </a:xfrm>
          <a:prstGeom prst="line">
            <a:avLst/>
          </a:prstGeom>
          <a:noFill/>
          <a:ln w="9525">
            <a:solidFill>
              <a:schemeClr val="tx1"/>
            </a:solidFill>
            <a:round/>
            <a:headEnd/>
            <a:tailEnd type="none" w="lg" len="lg"/>
          </a:ln>
        </p:spPr>
        <p:txBody>
          <a:bodyPr/>
          <a:lstStyle/>
          <a:p>
            <a:endParaRPr lang="nl-NL"/>
          </a:p>
        </p:txBody>
      </p:sp>
      <p:sp>
        <p:nvSpPr>
          <p:cNvPr id="46117" name="Text Box 37"/>
          <p:cNvSpPr txBox="1">
            <a:spLocks noChangeArrowheads="1"/>
          </p:cNvSpPr>
          <p:nvPr/>
        </p:nvSpPr>
        <p:spPr bwMode="auto">
          <a:xfrm rot="-5400000">
            <a:off x="8731253" y="1744666"/>
            <a:ext cx="110172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trip</a:t>
            </a:r>
          </a:p>
          <a:p>
            <a:pPr eaLnBrk="0" hangingPunct="0">
              <a:spcBef>
                <a:spcPct val="0"/>
              </a:spcBef>
              <a:buClrTx/>
            </a:pPr>
            <a:r>
              <a:rPr lang="en-US" sz="1600"/>
              <a:t>fuel</a:t>
            </a:r>
          </a:p>
        </p:txBody>
      </p:sp>
      <p:sp>
        <p:nvSpPr>
          <p:cNvPr id="46118" name="Text Box 38"/>
          <p:cNvSpPr txBox="1">
            <a:spLocks noChangeArrowheads="1"/>
          </p:cNvSpPr>
          <p:nvPr/>
        </p:nvSpPr>
        <p:spPr bwMode="auto">
          <a:xfrm rot="-5400000">
            <a:off x="9169403" y="1443041"/>
            <a:ext cx="1730375" cy="581025"/>
          </a:xfrm>
          <a:prstGeom prst="rect">
            <a:avLst/>
          </a:prstGeom>
          <a:noFill/>
          <a:ln w="9525">
            <a:noFill/>
            <a:miter lim="800000"/>
            <a:headEnd/>
            <a:tailEnd type="none" w="lg" len="lg"/>
          </a:ln>
        </p:spPr>
        <p:txBody>
          <a:bodyPr>
            <a:spAutoFit/>
          </a:bodyPr>
          <a:lstStyle/>
          <a:p>
            <a:pPr eaLnBrk="0" hangingPunct="0">
              <a:spcBef>
                <a:spcPct val="0"/>
              </a:spcBef>
              <a:buClrTx/>
            </a:pPr>
            <a:r>
              <a:rPr lang="en-US" sz="1600"/>
              <a:t>pre-take-off </a:t>
            </a:r>
          </a:p>
          <a:p>
            <a:pPr eaLnBrk="0" hangingPunct="0">
              <a:spcBef>
                <a:spcPct val="0"/>
              </a:spcBef>
              <a:buClrTx/>
            </a:pPr>
            <a:r>
              <a:rPr lang="en-US" sz="1600"/>
              <a:t>fuel</a:t>
            </a:r>
          </a:p>
        </p:txBody>
      </p:sp>
      <p:sp>
        <p:nvSpPr>
          <p:cNvPr id="46119" name="Rectangle 39"/>
          <p:cNvSpPr>
            <a:spLocks noChangeArrowheads="1"/>
          </p:cNvSpPr>
          <p:nvPr/>
        </p:nvSpPr>
        <p:spPr bwMode="auto">
          <a:xfrm>
            <a:off x="2072804" y="203204"/>
            <a:ext cx="8869362" cy="795337"/>
          </a:xfrm>
          <a:prstGeom prst="rect">
            <a:avLst/>
          </a:prstGeom>
          <a:noFill/>
          <a:ln w="9525">
            <a:noFill/>
            <a:miter lim="800000"/>
            <a:headEnd/>
            <a:tailEnd/>
          </a:ln>
        </p:spPr>
        <p:txBody>
          <a:bodyPr/>
          <a:lstStyle/>
          <a:p>
            <a:pPr>
              <a:spcBef>
                <a:spcPct val="0"/>
              </a:spcBef>
              <a:buClrTx/>
            </a:pPr>
            <a:r>
              <a:rPr lang="en-US" sz="2800" b="1" dirty="0">
                <a:solidFill>
                  <a:srgbClr val="00A4DE"/>
                </a:solidFill>
                <a:cs typeface="Tahoma" pitchFamily="34" charset="0"/>
              </a:rPr>
              <a:t>Weights: what are we talking about…</a:t>
            </a:r>
          </a:p>
        </p:txBody>
      </p:sp>
      <p:sp>
        <p:nvSpPr>
          <p:cNvPr id="46120" name="Rectangle 41"/>
          <p:cNvSpPr>
            <a:spLocks noChangeArrowheads="1"/>
          </p:cNvSpPr>
          <p:nvPr/>
        </p:nvSpPr>
        <p:spPr bwMode="auto">
          <a:xfrm>
            <a:off x="2266950" y="2555875"/>
            <a:ext cx="4133850" cy="304800"/>
          </a:xfrm>
          <a:prstGeom prst="rect">
            <a:avLst/>
          </a:prstGeom>
          <a:solidFill>
            <a:schemeClr val="accent1"/>
          </a:solidFill>
          <a:ln w="9525">
            <a:solidFill>
              <a:schemeClr val="tx1"/>
            </a:solidFill>
            <a:miter lim="800000"/>
            <a:headEnd/>
            <a:tailEnd type="none" w="lg" len="lg"/>
          </a:ln>
        </p:spPr>
        <p:txBody>
          <a:bodyPr wrap="none" anchor="ctr"/>
          <a:lstStyle/>
          <a:p>
            <a:pPr eaLnBrk="0" hangingPunct="0">
              <a:spcBef>
                <a:spcPct val="0"/>
              </a:spcBef>
              <a:buClrTx/>
            </a:pPr>
            <a:r>
              <a:rPr lang="en-US"/>
              <a:t>Operational empty weight</a:t>
            </a:r>
          </a:p>
        </p:txBody>
      </p:sp>
      <p:sp>
        <p:nvSpPr>
          <p:cNvPr id="46121" name="Rectangle 40"/>
          <p:cNvSpPr>
            <a:spLocks noChangeArrowheads="1"/>
          </p:cNvSpPr>
          <p:nvPr/>
        </p:nvSpPr>
        <p:spPr bwMode="auto">
          <a:xfrm rot="21128771">
            <a:off x="7689400" y="2940180"/>
            <a:ext cx="2533650" cy="646331"/>
          </a:xfrm>
          <a:prstGeom prst="rect">
            <a:avLst/>
          </a:prstGeom>
          <a:solidFill>
            <a:srgbClr val="FFFF00"/>
          </a:solidFill>
          <a:ln w="9525">
            <a:noFill/>
            <a:miter lim="800000"/>
            <a:headEnd/>
            <a:tailEnd/>
          </a:ln>
        </p:spPr>
        <p:txBody>
          <a:bodyPr>
            <a:spAutoFit/>
          </a:bodyPr>
          <a:lstStyle/>
          <a:p>
            <a:r>
              <a:rPr lang="en-GB" dirty="0"/>
              <a:t>Can be in the order of 5-10% of MTOW!</a:t>
            </a:r>
          </a:p>
        </p:txBody>
      </p:sp>
    </p:spTree>
    <p:extLst>
      <p:ext uri="{BB962C8B-B14F-4D97-AF65-F5344CB8AC3E}">
        <p14:creationId xmlns:p14="http://schemas.microsoft.com/office/powerpoint/2010/main" val="17269063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bwMode="auto">
          <a:xfrm>
            <a:off x="767408" y="182563"/>
            <a:ext cx="9030645" cy="46355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sz="3200" b="0" dirty="0">
                <a:solidFill>
                  <a:srgbClr val="00A4DE"/>
                </a:solidFill>
                <a:latin typeface="Tahoma" pitchFamily="34" charset="0"/>
              </a:rPr>
              <a:t>Class II weight estimation methods….</a:t>
            </a:r>
          </a:p>
        </p:txBody>
      </p:sp>
      <p:pic>
        <p:nvPicPr>
          <p:cNvPr id="47107" name="Picture 5" descr="F28_exploded"/>
          <p:cNvPicPr>
            <a:picLocks noChangeAspect="1" noChangeArrowheads="1"/>
          </p:cNvPicPr>
          <p:nvPr/>
        </p:nvPicPr>
        <p:blipFill>
          <a:blip r:embed="rId3" cstate="print"/>
          <a:srcRect l="7605" t="8896" r="11053" b="7849"/>
          <a:stretch>
            <a:fillRect/>
          </a:stretch>
        </p:blipFill>
        <p:spPr bwMode="auto">
          <a:xfrm>
            <a:off x="6101188" y="2204864"/>
            <a:ext cx="5017715" cy="3758926"/>
          </a:xfrm>
          <a:prstGeom prst="rect">
            <a:avLst/>
          </a:prstGeom>
          <a:noFill/>
          <a:ln w="9525">
            <a:noFill/>
            <a:miter lim="800000"/>
            <a:headEnd/>
            <a:tailEnd/>
          </a:ln>
        </p:spPr>
      </p:pic>
      <p:sp>
        <p:nvSpPr>
          <p:cNvPr id="47108" name="Text Box 7"/>
          <p:cNvSpPr txBox="1">
            <a:spLocks noChangeArrowheads="1"/>
          </p:cNvSpPr>
          <p:nvPr/>
        </p:nvSpPr>
        <p:spPr bwMode="auto">
          <a:xfrm>
            <a:off x="1026393" y="1021961"/>
            <a:ext cx="10686231" cy="984885"/>
          </a:xfrm>
          <a:prstGeom prst="rect">
            <a:avLst/>
          </a:prstGeom>
          <a:noFill/>
          <a:ln w="9525" algn="ctr">
            <a:noFill/>
            <a:miter lim="800000"/>
            <a:headEnd/>
            <a:tailEnd/>
          </a:ln>
        </p:spPr>
        <p:txBody>
          <a:bodyPr wrap="square">
            <a:spAutoFit/>
          </a:bodyPr>
          <a:lstStyle/>
          <a:p>
            <a:pPr>
              <a:spcAft>
                <a:spcPts val="1200"/>
              </a:spcAft>
            </a:pPr>
            <a:r>
              <a:rPr lang="en-GB" sz="1600" dirty="0"/>
              <a:t>… </a:t>
            </a:r>
            <a:r>
              <a:rPr lang="en-GB" sz="1600" b="1" u="sng" dirty="0">
                <a:solidFill>
                  <a:srgbClr val="FF0000"/>
                </a:solidFill>
              </a:rPr>
              <a:t>cannot</a:t>
            </a:r>
            <a:r>
              <a:rPr lang="en-GB" sz="1600" dirty="0">
                <a:solidFill>
                  <a:srgbClr val="FF0000"/>
                </a:solidFill>
              </a:rPr>
              <a:t> predict the weight of single structural details </a:t>
            </a:r>
            <a:r>
              <a:rPr lang="en-GB" sz="1600" dirty="0"/>
              <a:t>(e.g. ribs, spars, frames, etc.)</a:t>
            </a:r>
            <a:endParaRPr lang="en-GB" sz="600" dirty="0"/>
          </a:p>
          <a:p>
            <a:pPr>
              <a:spcAft>
                <a:spcPts val="1200"/>
              </a:spcAft>
            </a:pPr>
            <a:r>
              <a:rPr lang="en-GB" sz="1600" dirty="0"/>
              <a:t>… are good in estimating the weight of </a:t>
            </a:r>
            <a:r>
              <a:rPr lang="en-GB" sz="1600" b="1" dirty="0">
                <a:solidFill>
                  <a:srgbClr val="FF3300"/>
                </a:solidFill>
              </a:rPr>
              <a:t>component groups</a:t>
            </a:r>
            <a:r>
              <a:rPr lang="en-GB" sz="1600" b="1" dirty="0"/>
              <a:t> </a:t>
            </a:r>
            <a:r>
              <a:rPr lang="en-GB" sz="1600" dirty="0"/>
              <a:t>(e.g. wing, fuselage, Hor. and Ver. tail, landing gears, etc. and their main subsystems)</a:t>
            </a:r>
          </a:p>
        </p:txBody>
      </p:sp>
      <p:sp>
        <p:nvSpPr>
          <p:cNvPr id="47109" name="Text Box 8"/>
          <p:cNvSpPr txBox="1">
            <a:spLocks noChangeArrowheads="1"/>
          </p:cNvSpPr>
          <p:nvPr/>
        </p:nvSpPr>
        <p:spPr bwMode="auto">
          <a:xfrm>
            <a:off x="911424" y="2636912"/>
            <a:ext cx="4176464" cy="2585323"/>
          </a:xfrm>
          <a:prstGeom prst="rect">
            <a:avLst/>
          </a:prstGeom>
          <a:noFill/>
          <a:ln w="9525" algn="ctr">
            <a:noFill/>
            <a:miter lim="800000"/>
            <a:headEnd/>
            <a:tailEnd/>
          </a:ln>
        </p:spPr>
        <p:txBody>
          <a:bodyPr wrap="square">
            <a:spAutoFit/>
          </a:bodyPr>
          <a:lstStyle/>
          <a:p>
            <a:r>
              <a:rPr lang="en-GB" dirty="0"/>
              <a:t>…</a:t>
            </a:r>
            <a:r>
              <a:rPr lang="en-GB" sz="1600" dirty="0"/>
              <a:t>allow the user to evaluate the </a:t>
            </a:r>
            <a:r>
              <a:rPr lang="en-GB" sz="1600" b="1" dirty="0">
                <a:solidFill>
                  <a:srgbClr val="FF0000"/>
                </a:solidFill>
              </a:rPr>
              <a:t>sensitivity of the weight to a number of relevant design parameters </a:t>
            </a:r>
            <a:r>
              <a:rPr lang="en-GB" sz="1600" dirty="0"/>
              <a:t>such as:</a:t>
            </a:r>
          </a:p>
          <a:p>
            <a:endParaRPr lang="en-GB" sz="1600" dirty="0"/>
          </a:p>
          <a:p>
            <a:pPr marL="285750" indent="-285750">
              <a:buFont typeface="Arial" pitchFamily="34" charset="0"/>
              <a:buChar char="•"/>
            </a:pPr>
            <a:r>
              <a:rPr lang="en-GB" sz="1600" dirty="0"/>
              <a:t>Sweep angle</a:t>
            </a:r>
          </a:p>
          <a:p>
            <a:pPr marL="285750" indent="-285750">
              <a:buFont typeface="Arial" pitchFamily="34" charset="0"/>
              <a:buChar char="•"/>
            </a:pPr>
            <a:r>
              <a:rPr lang="en-GB" sz="1600" dirty="0"/>
              <a:t>Taper ratio</a:t>
            </a:r>
          </a:p>
          <a:p>
            <a:pPr marL="285750" indent="-285750">
              <a:buFont typeface="Arial" pitchFamily="34" charset="0"/>
              <a:buChar char="•"/>
            </a:pPr>
            <a:r>
              <a:rPr lang="en-GB" sz="1600" dirty="0"/>
              <a:t>Wing span</a:t>
            </a:r>
          </a:p>
          <a:p>
            <a:pPr marL="285750" indent="-285750">
              <a:buFont typeface="Arial" pitchFamily="34" charset="0"/>
              <a:buChar char="•"/>
            </a:pPr>
            <a:r>
              <a:rPr lang="en-GB" sz="1600" dirty="0"/>
              <a:t>Wing thickness</a:t>
            </a:r>
          </a:p>
          <a:p>
            <a:pPr marL="285750" indent="-285750">
              <a:buFont typeface="Arial" pitchFamily="34" charset="0"/>
              <a:buChar char="•"/>
            </a:pPr>
            <a:r>
              <a:rPr lang="en-GB" sz="1600" dirty="0"/>
              <a:t>Fuselage length and diameter</a:t>
            </a:r>
          </a:p>
          <a:p>
            <a:pPr marL="285750" indent="-285750">
              <a:buFont typeface="Arial" pitchFamily="34" charset="0"/>
              <a:buChar char="•"/>
            </a:pPr>
            <a:r>
              <a:rPr lang="en-GB" sz="1600" dirty="0"/>
              <a:t>… </a:t>
            </a:r>
          </a:p>
        </p:txBody>
      </p:sp>
      <p:cxnSp>
        <p:nvCxnSpPr>
          <p:cNvPr id="4" name="Straight Connector 3"/>
          <p:cNvCxnSpPr/>
          <p:nvPr/>
        </p:nvCxnSpPr>
        <p:spPr bwMode="auto">
          <a:xfrm flipV="1">
            <a:off x="5944171" y="2204864"/>
            <a:ext cx="5040560" cy="3043684"/>
          </a:xfrm>
          <a:prstGeom prst="line">
            <a:avLst/>
          </a:prstGeom>
          <a:solidFill>
            <a:schemeClr val="accent1"/>
          </a:solidFill>
          <a:ln w="76200" cap="flat" cmpd="sng" algn="ctr">
            <a:solidFill>
              <a:srgbClr val="FF0000"/>
            </a:solidFill>
            <a:prstDash val="solid"/>
            <a:round/>
            <a:headEnd type="none" w="med" len="med"/>
            <a:tailEnd type="none" w="med" len="med"/>
          </a:ln>
          <a:effectLst/>
        </p:spPr>
      </p:cxnSp>
      <p:cxnSp>
        <p:nvCxnSpPr>
          <p:cNvPr id="10" name="Straight Connector 9"/>
          <p:cNvCxnSpPr/>
          <p:nvPr/>
        </p:nvCxnSpPr>
        <p:spPr bwMode="auto">
          <a:xfrm>
            <a:off x="5944171" y="2656260"/>
            <a:ext cx="5328592" cy="2592288"/>
          </a:xfrm>
          <a:prstGeom prst="line">
            <a:avLst/>
          </a:prstGeom>
          <a:solidFill>
            <a:schemeClr val="accent1"/>
          </a:solidFill>
          <a:ln w="76200" cap="flat" cmpd="sng" algn="ctr">
            <a:solidFill>
              <a:srgbClr val="FF0000"/>
            </a:solidFill>
            <a:prstDash val="solid"/>
            <a:round/>
            <a:headEnd type="none" w="med" len="med"/>
            <a:tailEnd type="none" w="med" len="med"/>
          </a:ln>
          <a:effectLst/>
        </p:spPr>
      </p:cxnSp>
      <p:pic>
        <p:nvPicPr>
          <p:cNvPr id="20275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6000" y="2204864"/>
            <a:ext cx="5018832" cy="2787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446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108">
                                            <p:txEl>
                                              <p:pRg st="1" end="1"/>
                                            </p:txEl>
                                          </p:spTgt>
                                        </p:tgtEl>
                                        <p:attrNameLst>
                                          <p:attrName>style.visibility</p:attrName>
                                        </p:attrNameLst>
                                      </p:cBhvr>
                                      <p:to>
                                        <p:strVal val="visible"/>
                                      </p:to>
                                    </p:set>
                                    <p:animEffect transition="in" filter="fade">
                                      <p:cBhvr>
                                        <p:cTn id="7" dur="500"/>
                                        <p:tgtEl>
                                          <p:spTgt spid="4710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2754"/>
                                        </p:tgtEl>
                                        <p:attrNameLst>
                                          <p:attrName>style.visibility</p:attrName>
                                        </p:attrNameLst>
                                      </p:cBhvr>
                                      <p:to>
                                        <p:strVal val="visible"/>
                                      </p:to>
                                    </p:set>
                                    <p:animEffect transition="in" filter="fade">
                                      <p:cBhvr>
                                        <p:cTn id="10" dur="500"/>
                                        <p:tgtEl>
                                          <p:spTgt spid="20275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7109"/>
                                        </p:tgtEl>
                                        <p:attrNameLst>
                                          <p:attrName>style.visibility</p:attrName>
                                        </p:attrNameLst>
                                      </p:cBhvr>
                                      <p:to>
                                        <p:strVal val="visible"/>
                                      </p:to>
                                    </p:set>
                                    <p:animEffect transition="in" filter="fade">
                                      <p:cBhvr>
                                        <p:cTn id="15" dur="500"/>
                                        <p:tgtEl>
                                          <p:spTgt spid="47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14"/>
          <p:cNvSpPr txBox="1">
            <a:spLocks noChangeArrowheads="1"/>
          </p:cNvSpPr>
          <p:nvPr/>
        </p:nvSpPr>
        <p:spPr bwMode="auto">
          <a:xfrm>
            <a:off x="911424" y="2996955"/>
            <a:ext cx="10369151" cy="923330"/>
          </a:xfrm>
          <a:prstGeom prst="rect">
            <a:avLst/>
          </a:prstGeom>
          <a:solidFill>
            <a:srgbClr val="FFFF00"/>
          </a:solidFill>
          <a:ln w="9525" algn="ctr">
            <a:noFill/>
            <a:miter lim="800000"/>
            <a:headEnd/>
            <a:tailEnd/>
          </a:ln>
        </p:spPr>
        <p:txBody>
          <a:bodyPr wrap="square">
            <a:spAutoFit/>
          </a:bodyPr>
          <a:lstStyle/>
          <a:p>
            <a:pPr algn="just"/>
            <a:r>
              <a:rPr lang="en-GB" dirty="0"/>
              <a:t>A typical class II rule combines </a:t>
            </a:r>
            <a:r>
              <a:rPr lang="en-GB" b="1" dirty="0">
                <a:solidFill>
                  <a:srgbClr val="FF3300"/>
                </a:solidFill>
              </a:rPr>
              <a:t>relevant geometry (and inertial) parameters</a:t>
            </a:r>
            <a:r>
              <a:rPr lang="en-GB" b="1" dirty="0"/>
              <a:t> </a:t>
            </a:r>
            <a:r>
              <a:rPr lang="en-GB" dirty="0"/>
              <a:t>and </a:t>
            </a:r>
            <a:r>
              <a:rPr lang="en-GB" b="1" dirty="0">
                <a:solidFill>
                  <a:srgbClr val="FF3300"/>
                </a:solidFill>
              </a:rPr>
              <a:t>corrective coefficients</a:t>
            </a:r>
            <a:r>
              <a:rPr lang="en-GB" b="1" dirty="0"/>
              <a:t> </a:t>
            </a:r>
            <a:r>
              <a:rPr lang="en-GB" dirty="0"/>
              <a:t>to account, e.g., for engines and landing gear installation, presence of door cut-outs, as well as for sizing load cases (</a:t>
            </a:r>
            <a:r>
              <a:rPr lang="en-GB" dirty="0" err="1"/>
              <a:t>N</a:t>
            </a:r>
            <a:r>
              <a:rPr lang="en-GB" baseline="-25000" dirty="0" err="1"/>
              <a:t>z</a:t>
            </a:r>
            <a:r>
              <a:rPr lang="en-GB" dirty="0"/>
              <a:t>).</a:t>
            </a:r>
          </a:p>
        </p:txBody>
      </p:sp>
      <p:pic>
        <p:nvPicPr>
          <p:cNvPr id="49157" name="Picture 16"/>
          <p:cNvPicPr>
            <a:picLocks noChangeAspect="1" noChangeArrowheads="1"/>
          </p:cNvPicPr>
          <p:nvPr/>
        </p:nvPicPr>
        <p:blipFill>
          <a:blip r:embed="rId3" cstate="print"/>
          <a:srcRect/>
          <a:stretch>
            <a:fillRect/>
          </a:stretch>
        </p:blipFill>
        <p:spPr bwMode="auto">
          <a:xfrm>
            <a:off x="1055440" y="1942174"/>
            <a:ext cx="8928866" cy="658812"/>
          </a:xfrm>
          <a:prstGeom prst="rect">
            <a:avLst/>
          </a:prstGeom>
          <a:noFill/>
          <a:ln w="9525" algn="ctr">
            <a:noFill/>
            <a:miter lim="800000"/>
            <a:headEnd/>
            <a:tailEnd/>
          </a:ln>
        </p:spPr>
      </p:pic>
      <p:sp>
        <p:nvSpPr>
          <p:cNvPr id="7" name="Rectangle 6"/>
          <p:cNvSpPr>
            <a:spLocks noChangeArrowheads="1"/>
          </p:cNvSpPr>
          <p:nvPr/>
        </p:nvSpPr>
        <p:spPr bwMode="auto">
          <a:xfrm>
            <a:off x="839416" y="203200"/>
            <a:ext cx="10099848" cy="1143000"/>
          </a:xfrm>
          <a:prstGeom prst="rect">
            <a:avLst/>
          </a:prstGeom>
          <a:noFill/>
          <a:ln w="9525">
            <a:noFill/>
            <a:miter lim="800000"/>
            <a:headEnd/>
            <a:tailEnd/>
          </a:ln>
        </p:spPr>
        <p:txBody>
          <a:bodyPr/>
          <a:lstStyle/>
          <a:p>
            <a:pPr>
              <a:spcBef>
                <a:spcPct val="0"/>
              </a:spcBef>
              <a:buClrTx/>
            </a:pPr>
            <a:r>
              <a:rPr lang="en-US" sz="3200" dirty="0">
                <a:solidFill>
                  <a:srgbClr val="00A4DE"/>
                </a:solidFill>
                <a:latin typeface="+mj-lt"/>
              </a:rPr>
              <a:t>Examples of a Class II weight estimation methods</a:t>
            </a:r>
          </a:p>
        </p:txBody>
      </p:sp>
      <p:grpSp>
        <p:nvGrpSpPr>
          <p:cNvPr id="2" name="Group 1"/>
          <p:cNvGrpSpPr/>
          <p:nvPr/>
        </p:nvGrpSpPr>
        <p:grpSpPr>
          <a:xfrm>
            <a:off x="1052064" y="1150089"/>
            <a:ext cx="8932368" cy="638175"/>
            <a:chOff x="539552" y="1196752"/>
            <a:chExt cx="8662866" cy="638175"/>
          </a:xfrm>
        </p:grpSpPr>
        <p:pic>
          <p:nvPicPr>
            <p:cNvPr id="49158" name="Picture 17"/>
            <p:cNvPicPr>
              <a:picLocks noChangeAspect="1" noChangeArrowheads="1"/>
            </p:cNvPicPr>
            <p:nvPr/>
          </p:nvPicPr>
          <p:blipFill rotWithShape="1">
            <a:blip r:embed="rId4" cstate="print"/>
            <a:srcRect l="2211" r="1427" b="50000"/>
            <a:stretch/>
          </p:blipFill>
          <p:spPr bwMode="auto">
            <a:xfrm>
              <a:off x="539552" y="1196752"/>
              <a:ext cx="6848670" cy="638175"/>
            </a:xfrm>
            <a:prstGeom prst="rect">
              <a:avLst/>
            </a:prstGeom>
            <a:noFill/>
            <a:ln w="9525" algn="ctr">
              <a:noFill/>
              <a:miter lim="800000"/>
              <a:headEnd/>
              <a:tailEnd/>
            </a:ln>
          </p:spPr>
        </p:pic>
        <p:pic>
          <p:nvPicPr>
            <p:cNvPr id="6" name="Picture 17"/>
            <p:cNvPicPr>
              <a:picLocks noChangeAspect="1" noChangeArrowheads="1"/>
            </p:cNvPicPr>
            <p:nvPr/>
          </p:nvPicPr>
          <p:blipFill rotWithShape="1">
            <a:blip r:embed="rId4" cstate="print"/>
            <a:srcRect l="11108" t="59099" r="62242"/>
            <a:stretch/>
          </p:blipFill>
          <p:spPr bwMode="auto">
            <a:xfrm>
              <a:off x="7308304" y="1300849"/>
              <a:ext cx="1894114" cy="522036"/>
            </a:xfrm>
            <a:prstGeom prst="rect">
              <a:avLst/>
            </a:prstGeom>
            <a:noFill/>
            <a:ln w="9525" algn="ctr">
              <a:noFill/>
              <a:miter lim="800000"/>
              <a:headEnd/>
              <a:tailEnd/>
            </a:ln>
          </p:spPr>
        </p:pic>
      </p:grpSp>
      <p:sp>
        <p:nvSpPr>
          <p:cNvPr id="3" name="Rectangle 2"/>
          <p:cNvSpPr/>
          <p:nvPr/>
        </p:nvSpPr>
        <p:spPr>
          <a:xfrm>
            <a:off x="839416" y="4437112"/>
            <a:ext cx="10585176" cy="830997"/>
          </a:xfrm>
          <a:prstGeom prst="rect">
            <a:avLst/>
          </a:prstGeom>
        </p:spPr>
        <p:txBody>
          <a:bodyPr wrap="square">
            <a:spAutoFit/>
          </a:bodyPr>
          <a:lstStyle/>
          <a:p>
            <a:pPr algn="just"/>
            <a:r>
              <a:rPr lang="en-GB" sz="1600" dirty="0"/>
              <a:t>The values of the corrective coefficients derive from statistical regression and they are related to specific unit of measure: </a:t>
            </a:r>
            <a:r>
              <a:rPr lang="en-GB" sz="1600" b="1" dirty="0"/>
              <a:t>pay attention!!! </a:t>
            </a:r>
          </a:p>
          <a:p>
            <a:pPr algn="just"/>
            <a:r>
              <a:rPr lang="en-GB" sz="1600" dirty="0"/>
              <a:t>Example: the above equations return the weight in lbs only if the other parameters are expressed in imperial units.</a:t>
            </a:r>
          </a:p>
        </p:txBody>
      </p:sp>
      <p:sp>
        <p:nvSpPr>
          <p:cNvPr id="9" name="Rectangle 40"/>
          <p:cNvSpPr>
            <a:spLocks noChangeArrowheads="1"/>
          </p:cNvSpPr>
          <p:nvPr/>
        </p:nvSpPr>
        <p:spPr bwMode="auto">
          <a:xfrm rot="21235441">
            <a:off x="7703382" y="5381627"/>
            <a:ext cx="3916337" cy="646331"/>
          </a:xfrm>
          <a:prstGeom prst="rect">
            <a:avLst/>
          </a:prstGeom>
          <a:solidFill>
            <a:srgbClr val="FFFF00"/>
          </a:solidFill>
          <a:ln w="9525">
            <a:noFill/>
            <a:miter lim="800000"/>
            <a:headEnd/>
            <a:tailEnd/>
          </a:ln>
        </p:spPr>
        <p:txBody>
          <a:bodyPr wrap="square">
            <a:spAutoFit/>
          </a:bodyPr>
          <a:lstStyle/>
          <a:p>
            <a:r>
              <a:rPr lang="en-GB" dirty="0"/>
              <a:t>Check the methods reported in the </a:t>
            </a:r>
            <a:r>
              <a:rPr lang="en-GB" dirty="0" err="1"/>
              <a:t>BrightSpace</a:t>
            </a:r>
            <a:r>
              <a:rPr lang="en-GB" dirty="0"/>
              <a:t> page (.zip folder)!</a:t>
            </a:r>
          </a:p>
        </p:txBody>
      </p:sp>
    </p:spTree>
    <p:extLst>
      <p:ext uri="{BB962C8B-B14F-4D97-AF65-F5344CB8AC3E}">
        <p14:creationId xmlns:p14="http://schemas.microsoft.com/office/powerpoint/2010/main" val="251132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animBg="1"/>
      <p:bldP spid="3" grpId="0"/>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ChangeArrowheads="1"/>
          </p:cNvSpPr>
          <p:nvPr/>
        </p:nvSpPr>
        <p:spPr bwMode="auto">
          <a:xfrm>
            <a:off x="767408" y="203200"/>
            <a:ext cx="10171856" cy="1143000"/>
          </a:xfrm>
          <a:prstGeom prst="rect">
            <a:avLst/>
          </a:prstGeom>
          <a:noFill/>
          <a:ln w="9525">
            <a:noFill/>
            <a:miter lim="800000"/>
            <a:headEnd/>
            <a:tailEnd/>
          </a:ln>
        </p:spPr>
        <p:txBody>
          <a:bodyPr/>
          <a:lstStyle/>
          <a:p>
            <a:pPr>
              <a:spcBef>
                <a:spcPct val="0"/>
              </a:spcBef>
              <a:buClrTx/>
            </a:pPr>
            <a:r>
              <a:rPr lang="en-US" sz="2800" dirty="0">
                <a:solidFill>
                  <a:srgbClr val="00A4DE"/>
                </a:solidFill>
                <a:latin typeface="+mj-lt"/>
              </a:rPr>
              <a:t>Examples of a Class II weight estimation methods</a:t>
            </a:r>
          </a:p>
        </p:txBody>
      </p:sp>
      <p:sp>
        <p:nvSpPr>
          <p:cNvPr id="2" name="TextBox 1"/>
          <p:cNvSpPr txBox="1"/>
          <p:nvPr/>
        </p:nvSpPr>
        <p:spPr>
          <a:xfrm>
            <a:off x="2135563" y="2947241"/>
            <a:ext cx="4138175" cy="2277547"/>
          </a:xfrm>
          <a:prstGeom prst="rect">
            <a:avLst/>
          </a:prstGeom>
          <a:noFill/>
        </p:spPr>
        <p:txBody>
          <a:bodyPr wrap="square" rtlCol="0">
            <a:spAutoFit/>
          </a:bodyPr>
          <a:lstStyle/>
          <a:p>
            <a:pPr>
              <a:spcAft>
                <a:spcPts val="600"/>
              </a:spcAft>
            </a:pPr>
            <a:r>
              <a:rPr lang="en-US" sz="1600" i="1" dirty="0" err="1"/>
              <a:t>S</a:t>
            </a:r>
            <a:r>
              <a:rPr lang="en-US" sz="1600" i="1" baseline="-25000" dirty="0" err="1"/>
              <a:t>w</a:t>
            </a:r>
            <a:r>
              <a:rPr lang="en-US" sz="1600" dirty="0"/>
              <a:t>	= wing surface</a:t>
            </a:r>
          </a:p>
          <a:p>
            <a:pPr>
              <a:spcAft>
                <a:spcPts val="600"/>
              </a:spcAft>
            </a:pPr>
            <a:r>
              <a:rPr lang="en-US" sz="1600" i="1" dirty="0"/>
              <a:t>A</a:t>
            </a:r>
            <a:r>
              <a:rPr lang="en-US" sz="1600" dirty="0"/>
              <a:t>	= aspect ratio</a:t>
            </a:r>
          </a:p>
          <a:p>
            <a:pPr>
              <a:spcAft>
                <a:spcPts val="600"/>
              </a:spcAft>
            </a:pPr>
            <a:r>
              <a:rPr lang="en-US" sz="1600" i="1" dirty="0"/>
              <a:t>t/c</a:t>
            </a:r>
            <a:r>
              <a:rPr lang="en-US" sz="1600" dirty="0"/>
              <a:t>	= wing thickness ratio</a:t>
            </a:r>
          </a:p>
          <a:p>
            <a:pPr>
              <a:spcAft>
                <a:spcPts val="600"/>
              </a:spcAft>
            </a:pPr>
            <a:r>
              <a:rPr lang="el-GR" sz="1600" i="1" dirty="0"/>
              <a:t>λ</a:t>
            </a:r>
            <a:r>
              <a:rPr lang="en-US" sz="1600" dirty="0"/>
              <a:t>	= wing taper ratio</a:t>
            </a:r>
          </a:p>
          <a:p>
            <a:pPr>
              <a:spcAft>
                <a:spcPts val="600"/>
              </a:spcAft>
            </a:pPr>
            <a:r>
              <a:rPr lang="en-US" sz="1600" i="1" dirty="0"/>
              <a:t>Λ</a:t>
            </a:r>
            <a:r>
              <a:rPr lang="en-US" sz="1600" dirty="0"/>
              <a:t>	= wing sweep angle</a:t>
            </a:r>
          </a:p>
          <a:p>
            <a:pPr>
              <a:spcAft>
                <a:spcPts val="600"/>
              </a:spcAft>
            </a:pPr>
            <a:r>
              <a:rPr lang="en-US" sz="1600" i="1" dirty="0" err="1"/>
              <a:t>S</a:t>
            </a:r>
            <a:r>
              <a:rPr lang="en-US" sz="1600" i="1" baseline="-25000" dirty="0" err="1"/>
              <a:t>csw</a:t>
            </a:r>
            <a:r>
              <a:rPr lang="en-US" sz="1600" dirty="0"/>
              <a:t> 	= control surface area</a:t>
            </a:r>
          </a:p>
          <a:p>
            <a:pPr>
              <a:spcAft>
                <a:spcPts val="600"/>
              </a:spcAft>
            </a:pPr>
            <a:r>
              <a:rPr lang="en-US" sz="1600" i="1" dirty="0" err="1"/>
              <a:t>W</a:t>
            </a:r>
            <a:r>
              <a:rPr lang="en-US" sz="1600" i="1" baseline="-25000" dirty="0" err="1"/>
              <a:t>dg</a:t>
            </a:r>
            <a:r>
              <a:rPr lang="en-US" sz="1600" dirty="0"/>
              <a:t> 	= Design gross weight	</a:t>
            </a:r>
          </a:p>
        </p:txBody>
      </p:sp>
      <p:sp>
        <p:nvSpPr>
          <p:cNvPr id="3" name="Rectangle 2"/>
          <p:cNvSpPr/>
          <p:nvPr/>
        </p:nvSpPr>
        <p:spPr>
          <a:xfrm>
            <a:off x="6501408" y="3068960"/>
            <a:ext cx="3843064" cy="1200329"/>
          </a:xfrm>
          <a:prstGeom prst="rect">
            <a:avLst/>
          </a:prstGeom>
        </p:spPr>
        <p:txBody>
          <a:bodyPr wrap="square">
            <a:spAutoFit/>
          </a:bodyPr>
          <a:lstStyle/>
          <a:p>
            <a:r>
              <a:rPr lang="en-GB" b="1" i="1" dirty="0"/>
              <a:t>Can you see the effect of the main wing design parameters on the wing weight?</a:t>
            </a:r>
          </a:p>
          <a:p>
            <a:endParaRPr lang="en-GB" dirty="0"/>
          </a:p>
        </p:txBody>
      </p:sp>
      <p:grpSp>
        <p:nvGrpSpPr>
          <p:cNvPr id="8" name="Group 7"/>
          <p:cNvGrpSpPr/>
          <p:nvPr/>
        </p:nvGrpSpPr>
        <p:grpSpPr>
          <a:xfrm>
            <a:off x="1991544" y="1350668"/>
            <a:ext cx="8604448" cy="638175"/>
            <a:chOff x="539552" y="1196752"/>
            <a:chExt cx="8662866" cy="638175"/>
          </a:xfrm>
        </p:grpSpPr>
        <p:pic>
          <p:nvPicPr>
            <p:cNvPr id="9" name="Picture 17"/>
            <p:cNvPicPr>
              <a:picLocks noChangeAspect="1" noChangeArrowheads="1"/>
            </p:cNvPicPr>
            <p:nvPr/>
          </p:nvPicPr>
          <p:blipFill rotWithShape="1">
            <a:blip r:embed="rId3" cstate="print"/>
            <a:srcRect l="2211" r="1427" b="50000"/>
            <a:stretch/>
          </p:blipFill>
          <p:spPr bwMode="auto">
            <a:xfrm>
              <a:off x="539552" y="1196752"/>
              <a:ext cx="6848670" cy="638175"/>
            </a:xfrm>
            <a:prstGeom prst="rect">
              <a:avLst/>
            </a:prstGeom>
            <a:noFill/>
            <a:ln w="9525" algn="ctr">
              <a:noFill/>
              <a:miter lim="800000"/>
              <a:headEnd/>
              <a:tailEnd/>
            </a:ln>
          </p:spPr>
        </p:pic>
        <p:pic>
          <p:nvPicPr>
            <p:cNvPr id="10" name="Picture 17"/>
            <p:cNvPicPr>
              <a:picLocks noChangeAspect="1" noChangeArrowheads="1"/>
            </p:cNvPicPr>
            <p:nvPr/>
          </p:nvPicPr>
          <p:blipFill rotWithShape="1">
            <a:blip r:embed="rId3" cstate="print"/>
            <a:srcRect l="11108" t="59099" r="62242"/>
            <a:stretch/>
          </p:blipFill>
          <p:spPr bwMode="auto">
            <a:xfrm>
              <a:off x="7308304" y="1300849"/>
              <a:ext cx="1894114" cy="522036"/>
            </a:xfrm>
            <a:prstGeom prst="rect">
              <a:avLst/>
            </a:prstGeom>
            <a:noFill/>
            <a:ln w="9525" algn="ctr">
              <a:noFill/>
              <a:miter lim="800000"/>
              <a:headEnd/>
              <a:tailEnd/>
            </a:ln>
          </p:spPr>
        </p:pic>
      </p:grpSp>
      <p:sp>
        <p:nvSpPr>
          <p:cNvPr id="5" name="Rectangle 4"/>
          <p:cNvSpPr/>
          <p:nvPr/>
        </p:nvSpPr>
        <p:spPr>
          <a:xfrm>
            <a:off x="767408" y="922059"/>
            <a:ext cx="4950026" cy="369332"/>
          </a:xfrm>
          <a:prstGeom prst="rect">
            <a:avLst/>
          </a:prstGeom>
        </p:spPr>
        <p:txBody>
          <a:bodyPr wrap="square">
            <a:spAutoFit/>
          </a:bodyPr>
          <a:lstStyle/>
          <a:p>
            <a:r>
              <a:rPr lang="en-GB" dirty="0"/>
              <a:t>Let’s have a look on the wing weight equation:</a:t>
            </a:r>
          </a:p>
        </p:txBody>
      </p:sp>
      <p:sp>
        <p:nvSpPr>
          <p:cNvPr id="6" name="Oval 5"/>
          <p:cNvSpPr/>
          <p:nvPr/>
        </p:nvSpPr>
        <p:spPr bwMode="auto">
          <a:xfrm>
            <a:off x="3794399" y="1350665"/>
            <a:ext cx="820496" cy="78114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nl-NL" sz="2200"/>
          </a:p>
        </p:txBody>
      </p:sp>
      <p:cxnSp>
        <p:nvCxnSpPr>
          <p:cNvPr id="12" name="Elbow Connector 11"/>
          <p:cNvCxnSpPr>
            <a:stCxn id="6" idx="4"/>
          </p:cNvCxnSpPr>
          <p:nvPr/>
        </p:nvCxnSpPr>
        <p:spPr bwMode="auto">
          <a:xfrm rot="16200000" flipH="1">
            <a:off x="4429721" y="1906736"/>
            <a:ext cx="289083" cy="739225"/>
          </a:xfrm>
          <a:prstGeom prst="bentConnector2">
            <a:avLst/>
          </a:prstGeom>
          <a:solidFill>
            <a:schemeClr val="accent1"/>
          </a:solidFill>
          <a:ln w="19050" cap="flat" cmpd="sng" algn="ctr">
            <a:solidFill>
              <a:srgbClr val="FF0000"/>
            </a:solidFill>
            <a:prstDash val="solid"/>
            <a:round/>
            <a:headEnd type="none" w="med" len="med"/>
            <a:tailEnd type="arrow"/>
          </a:ln>
          <a:effectLst/>
        </p:spPr>
      </p:cxnSp>
      <p:sp>
        <p:nvSpPr>
          <p:cNvPr id="13" name="Rectangle 12"/>
          <p:cNvSpPr/>
          <p:nvPr/>
        </p:nvSpPr>
        <p:spPr>
          <a:xfrm>
            <a:off x="4943872" y="2250354"/>
            <a:ext cx="2257990" cy="369332"/>
          </a:xfrm>
          <a:prstGeom prst="rect">
            <a:avLst/>
          </a:prstGeom>
        </p:spPr>
        <p:txBody>
          <a:bodyPr wrap="none">
            <a:spAutoFit/>
          </a:bodyPr>
          <a:lstStyle/>
          <a:p>
            <a:r>
              <a:rPr lang="en-GB" dirty="0">
                <a:solidFill>
                  <a:srgbClr val="FF0000"/>
                </a:solidFill>
              </a:rPr>
              <a:t>Iterative calculation!</a:t>
            </a:r>
            <a:endParaRPr lang="nl-NL" dirty="0">
              <a:solidFill>
                <a:srgbClr val="FF0000"/>
              </a:solidFill>
            </a:endParaRPr>
          </a:p>
        </p:txBody>
      </p:sp>
    </p:spTree>
    <p:extLst>
      <p:ext uri="{BB962C8B-B14F-4D97-AF65-F5344CB8AC3E}">
        <p14:creationId xmlns:p14="http://schemas.microsoft.com/office/powerpoint/2010/main" val="3239868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ChangeArrowheads="1"/>
          </p:cNvSpPr>
          <p:nvPr/>
        </p:nvSpPr>
        <p:spPr bwMode="auto">
          <a:xfrm>
            <a:off x="767408" y="203200"/>
            <a:ext cx="10171856" cy="1143000"/>
          </a:xfrm>
          <a:prstGeom prst="rect">
            <a:avLst/>
          </a:prstGeom>
          <a:noFill/>
          <a:ln w="9525">
            <a:noFill/>
            <a:miter lim="800000"/>
            <a:headEnd/>
            <a:tailEnd/>
          </a:ln>
        </p:spPr>
        <p:txBody>
          <a:bodyPr/>
          <a:lstStyle/>
          <a:p>
            <a:pPr>
              <a:spcBef>
                <a:spcPct val="0"/>
              </a:spcBef>
              <a:buClrTx/>
            </a:pPr>
            <a:r>
              <a:rPr lang="en-US" sz="2800" dirty="0">
                <a:solidFill>
                  <a:srgbClr val="00A4DE"/>
                </a:solidFill>
                <a:latin typeface="+mj-lt"/>
              </a:rPr>
              <a:t>Examples of a Class II weight estimation methods</a:t>
            </a:r>
          </a:p>
        </p:txBody>
      </p:sp>
      <p:grpSp>
        <p:nvGrpSpPr>
          <p:cNvPr id="8" name="Group 7"/>
          <p:cNvGrpSpPr/>
          <p:nvPr/>
        </p:nvGrpSpPr>
        <p:grpSpPr>
          <a:xfrm>
            <a:off x="1991544" y="1350668"/>
            <a:ext cx="8604448" cy="638175"/>
            <a:chOff x="539552" y="1196752"/>
            <a:chExt cx="8662866" cy="638175"/>
          </a:xfrm>
        </p:grpSpPr>
        <p:pic>
          <p:nvPicPr>
            <p:cNvPr id="9" name="Picture 17"/>
            <p:cNvPicPr>
              <a:picLocks noChangeAspect="1" noChangeArrowheads="1"/>
            </p:cNvPicPr>
            <p:nvPr/>
          </p:nvPicPr>
          <p:blipFill rotWithShape="1">
            <a:blip r:embed="rId3" cstate="print"/>
            <a:srcRect l="2211" r="1427" b="50000"/>
            <a:stretch/>
          </p:blipFill>
          <p:spPr bwMode="auto">
            <a:xfrm>
              <a:off x="539552" y="1196752"/>
              <a:ext cx="6848670" cy="638175"/>
            </a:xfrm>
            <a:prstGeom prst="rect">
              <a:avLst/>
            </a:prstGeom>
            <a:noFill/>
            <a:ln w="9525" algn="ctr">
              <a:noFill/>
              <a:miter lim="800000"/>
              <a:headEnd/>
              <a:tailEnd/>
            </a:ln>
          </p:spPr>
        </p:pic>
        <p:pic>
          <p:nvPicPr>
            <p:cNvPr id="10" name="Picture 17"/>
            <p:cNvPicPr>
              <a:picLocks noChangeAspect="1" noChangeArrowheads="1"/>
            </p:cNvPicPr>
            <p:nvPr/>
          </p:nvPicPr>
          <p:blipFill rotWithShape="1">
            <a:blip r:embed="rId3" cstate="print"/>
            <a:srcRect l="11108" t="59099" r="62242"/>
            <a:stretch/>
          </p:blipFill>
          <p:spPr bwMode="auto">
            <a:xfrm>
              <a:off x="7308304" y="1300849"/>
              <a:ext cx="1894114" cy="522036"/>
            </a:xfrm>
            <a:prstGeom prst="rect">
              <a:avLst/>
            </a:prstGeom>
            <a:noFill/>
            <a:ln w="9525" algn="ctr">
              <a:noFill/>
              <a:miter lim="800000"/>
              <a:headEnd/>
              <a:tailEnd/>
            </a:ln>
          </p:spPr>
        </p:pic>
      </p:grpSp>
      <p:sp>
        <p:nvSpPr>
          <p:cNvPr id="5" name="Rectangle 4"/>
          <p:cNvSpPr/>
          <p:nvPr/>
        </p:nvSpPr>
        <p:spPr>
          <a:xfrm>
            <a:off x="767408" y="900213"/>
            <a:ext cx="4950026" cy="369332"/>
          </a:xfrm>
          <a:prstGeom prst="rect">
            <a:avLst/>
          </a:prstGeom>
        </p:spPr>
        <p:txBody>
          <a:bodyPr wrap="square">
            <a:spAutoFit/>
          </a:bodyPr>
          <a:lstStyle/>
          <a:p>
            <a:r>
              <a:rPr lang="en-GB" dirty="0"/>
              <a:t>Let’s have a look on the wing weight equation:</a:t>
            </a:r>
          </a:p>
        </p:txBody>
      </p:sp>
      <p:sp>
        <p:nvSpPr>
          <p:cNvPr id="6" name="Rectangle 5"/>
          <p:cNvSpPr/>
          <p:nvPr/>
        </p:nvSpPr>
        <p:spPr>
          <a:xfrm>
            <a:off x="803142" y="2299444"/>
            <a:ext cx="10837474" cy="646331"/>
          </a:xfrm>
          <a:prstGeom prst="rect">
            <a:avLst/>
          </a:prstGeom>
        </p:spPr>
        <p:txBody>
          <a:bodyPr wrap="square">
            <a:spAutoFit/>
          </a:bodyPr>
          <a:lstStyle/>
          <a:p>
            <a:r>
              <a:rPr lang="en-GB" dirty="0"/>
              <a:t>Even if the values of the factors are determined by some statistical regressions, the dependences of the wing weight on the geometric parameters can be physically explained:</a:t>
            </a:r>
          </a:p>
        </p:txBody>
      </p:sp>
      <p:sp>
        <p:nvSpPr>
          <p:cNvPr id="11" name="Rectangle 10"/>
          <p:cNvSpPr/>
          <p:nvPr/>
        </p:nvSpPr>
        <p:spPr>
          <a:xfrm>
            <a:off x="838954" y="3501008"/>
            <a:ext cx="10441160" cy="2446824"/>
          </a:xfrm>
          <a:prstGeom prst="rect">
            <a:avLst/>
          </a:prstGeom>
        </p:spPr>
        <p:txBody>
          <a:bodyPr wrap="square">
            <a:spAutoFit/>
          </a:bodyPr>
          <a:lstStyle/>
          <a:p>
            <a:pPr marL="342900" indent="-342900">
              <a:spcAft>
                <a:spcPts val="1800"/>
              </a:spcAft>
              <a:buFont typeface="Arial" pitchFamily="34" charset="0"/>
              <a:buChar char="•"/>
            </a:pPr>
            <a:r>
              <a:rPr lang="en-US" i="1" dirty="0"/>
              <a:t>Higher the aspect ratio, higher is the weight </a:t>
            </a:r>
            <a:r>
              <a:rPr lang="en-US" dirty="0"/>
              <a:t>because, for the same wing area, the larger aspect ratio means longer span and smaller chords so that the bending moment is increased. </a:t>
            </a:r>
          </a:p>
          <a:p>
            <a:pPr marL="342900" indent="-342900">
              <a:spcAft>
                <a:spcPts val="1800"/>
              </a:spcAft>
              <a:buFont typeface="Arial" pitchFamily="34" charset="0"/>
              <a:buChar char="•"/>
            </a:pPr>
            <a:r>
              <a:rPr lang="en-US" i="1" dirty="0"/>
              <a:t>Higher the sweep angle, higher is the weight </a:t>
            </a:r>
            <a:r>
              <a:rPr lang="en-US" dirty="0"/>
              <a:t>because the structural length of the wing increases</a:t>
            </a:r>
          </a:p>
          <a:p>
            <a:pPr marL="342900" indent="-342900">
              <a:spcAft>
                <a:spcPts val="1800"/>
              </a:spcAft>
              <a:buFont typeface="Arial" pitchFamily="34" charset="0"/>
              <a:buChar char="•"/>
            </a:pPr>
            <a:r>
              <a:rPr lang="en-US" i="1" dirty="0"/>
              <a:t>Higher the t/c lower the weight</a:t>
            </a:r>
            <a:r>
              <a:rPr lang="en-US" dirty="0"/>
              <a:t> , because of the higher moment of inertia contrasting the bending moment</a:t>
            </a:r>
          </a:p>
          <a:p>
            <a:pPr marL="342900" indent="-342900">
              <a:spcAft>
                <a:spcPts val="1800"/>
              </a:spcAft>
              <a:buFont typeface="Arial" pitchFamily="34" charset="0"/>
              <a:buChar char="•"/>
            </a:pPr>
            <a:r>
              <a:rPr lang="en-US" dirty="0"/>
              <a:t>…</a:t>
            </a:r>
          </a:p>
        </p:txBody>
      </p:sp>
    </p:spTree>
    <p:extLst>
      <p:ext uri="{BB962C8B-B14F-4D97-AF65-F5344CB8AC3E}">
        <p14:creationId xmlns:p14="http://schemas.microsoft.com/office/powerpoint/2010/main" val="31527686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b="15454"/>
          <a:stretch>
            <a:fillRect/>
          </a:stretch>
        </p:blipFill>
        <p:spPr bwMode="auto">
          <a:xfrm>
            <a:off x="1706117" y="2348883"/>
            <a:ext cx="5481638" cy="3413125"/>
          </a:xfrm>
          <a:prstGeom prst="rect">
            <a:avLst/>
          </a:prstGeom>
          <a:noFill/>
          <a:ln w="9525" algn="ctr">
            <a:solidFill>
              <a:schemeClr val="tx1"/>
            </a:solidFill>
            <a:miter lim="800000"/>
            <a:headEnd/>
            <a:tailEnd/>
          </a:ln>
        </p:spPr>
      </p:pic>
      <p:sp>
        <p:nvSpPr>
          <p:cNvPr id="48131" name="Rectangle 6"/>
          <p:cNvSpPr>
            <a:spLocks noChangeArrowheads="1"/>
          </p:cNvSpPr>
          <p:nvPr/>
        </p:nvSpPr>
        <p:spPr bwMode="auto">
          <a:xfrm>
            <a:off x="767408" y="203200"/>
            <a:ext cx="10171856" cy="1143000"/>
          </a:xfrm>
          <a:prstGeom prst="rect">
            <a:avLst/>
          </a:prstGeom>
          <a:noFill/>
          <a:ln w="9525">
            <a:noFill/>
            <a:miter lim="800000"/>
            <a:headEnd/>
            <a:tailEnd/>
          </a:ln>
        </p:spPr>
        <p:txBody>
          <a:bodyPr/>
          <a:lstStyle/>
          <a:p>
            <a:pPr>
              <a:spcBef>
                <a:spcPct val="0"/>
              </a:spcBef>
              <a:buClrTx/>
            </a:pPr>
            <a:r>
              <a:rPr lang="en-US" sz="2800" dirty="0">
                <a:solidFill>
                  <a:srgbClr val="00A4DE"/>
                </a:solidFill>
                <a:latin typeface="+mj-lt"/>
              </a:rPr>
              <a:t>Examples of a Class II weight estimation methods</a:t>
            </a:r>
          </a:p>
        </p:txBody>
      </p:sp>
      <p:pic>
        <p:nvPicPr>
          <p:cNvPr id="48132"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60916" y="3212976"/>
            <a:ext cx="5781879" cy="2789618"/>
          </a:xfrm>
          <a:prstGeom prst="rect">
            <a:avLst/>
          </a:prstGeom>
          <a:noFill/>
          <a:ln w="9525" algn="ctr">
            <a:solidFill>
              <a:schemeClr val="tx1"/>
            </a:solidFill>
            <a:miter lim="800000"/>
            <a:headEnd/>
            <a:tailEnd/>
          </a:ln>
        </p:spPr>
      </p:pic>
      <p:sp>
        <p:nvSpPr>
          <p:cNvPr id="48133" name="Text Box 8"/>
          <p:cNvSpPr txBox="1">
            <a:spLocks noChangeArrowheads="1"/>
          </p:cNvSpPr>
          <p:nvPr/>
        </p:nvSpPr>
        <p:spPr bwMode="auto">
          <a:xfrm>
            <a:off x="802047" y="912928"/>
            <a:ext cx="10694553" cy="1215717"/>
          </a:xfrm>
          <a:prstGeom prst="rect">
            <a:avLst/>
          </a:prstGeom>
          <a:noFill/>
          <a:ln w="9525" algn="ctr">
            <a:noFill/>
            <a:miter lim="800000"/>
            <a:headEnd/>
            <a:tailEnd/>
          </a:ln>
        </p:spPr>
        <p:txBody>
          <a:bodyPr wrap="square">
            <a:spAutoFit/>
          </a:bodyPr>
          <a:lstStyle/>
          <a:p>
            <a:r>
              <a:rPr lang="en-GB" sz="1600" dirty="0"/>
              <a:t>The corrective coefficients have been derived </a:t>
            </a:r>
            <a:r>
              <a:rPr lang="en-GB" sz="1600" b="1" dirty="0"/>
              <a:t>on the base of extensive databases of actual aircraft weights </a:t>
            </a:r>
            <a:r>
              <a:rPr lang="en-GB" sz="1600" dirty="0"/>
              <a:t>using regression analysis.</a:t>
            </a:r>
          </a:p>
          <a:p>
            <a:endParaRPr lang="en-GB" sz="900" dirty="0"/>
          </a:p>
          <a:p>
            <a:r>
              <a:rPr lang="en-GB" sz="1600" dirty="0"/>
              <a:t>Hence, these rules can well predict the weight of </a:t>
            </a:r>
            <a:r>
              <a:rPr lang="en-GB" sz="1600" b="1" dirty="0"/>
              <a:t>designs that do not differ significantly</a:t>
            </a:r>
            <a:r>
              <a:rPr lang="en-GB" sz="1600" dirty="0"/>
              <a:t> from those included in the database</a:t>
            </a:r>
          </a:p>
        </p:txBody>
      </p:sp>
      <p:sp>
        <p:nvSpPr>
          <p:cNvPr id="2" name="Rectangle 1"/>
          <p:cNvSpPr/>
          <p:nvPr/>
        </p:nvSpPr>
        <p:spPr>
          <a:xfrm>
            <a:off x="1252779" y="4728140"/>
            <a:ext cx="9793087" cy="769441"/>
          </a:xfrm>
          <a:prstGeom prst="rect">
            <a:avLst/>
          </a:prstGeom>
          <a:solidFill>
            <a:srgbClr val="FFFF00"/>
          </a:solidFill>
        </p:spPr>
        <p:txBody>
          <a:bodyPr wrap="square">
            <a:spAutoFit/>
          </a:bodyPr>
          <a:lstStyle/>
          <a:p>
            <a:pPr marL="285750" indent="-285750">
              <a:buFont typeface="Arial" pitchFamily="34" charset="0"/>
              <a:buChar char="•"/>
            </a:pPr>
            <a:r>
              <a:rPr lang="en-GB" dirty="0"/>
              <a:t>That is why different sets of rules have been defined for </a:t>
            </a:r>
            <a:r>
              <a:rPr lang="en-GB" b="1" dirty="0"/>
              <a:t>different aircraft categories</a:t>
            </a:r>
          </a:p>
          <a:p>
            <a:pPr marL="285750" indent="-285750">
              <a:buFont typeface="Arial" pitchFamily="34" charset="0"/>
              <a:buChar char="•"/>
            </a:pPr>
            <a:endParaRPr lang="en-GB" sz="800" b="1" dirty="0"/>
          </a:p>
          <a:p>
            <a:pPr marL="285750" indent="-285750">
              <a:buFont typeface="Arial" pitchFamily="34" charset="0"/>
              <a:buChar char="•"/>
            </a:pPr>
            <a:r>
              <a:rPr lang="en-GB" dirty="0"/>
              <a:t>That is why you should not trust “universal” weight prediction formulas</a:t>
            </a:r>
          </a:p>
        </p:txBody>
      </p:sp>
      <p:sp>
        <p:nvSpPr>
          <p:cNvPr id="3" name="Rounded Rectangle 2"/>
          <p:cNvSpPr/>
          <p:nvPr/>
        </p:nvSpPr>
        <p:spPr bwMode="auto">
          <a:xfrm>
            <a:off x="1706119" y="2348880"/>
            <a:ext cx="2589683" cy="432048"/>
          </a:xfrm>
          <a:prstGeom prst="round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8" name="Rounded Rectangle 7"/>
          <p:cNvSpPr/>
          <p:nvPr/>
        </p:nvSpPr>
        <p:spPr bwMode="auto">
          <a:xfrm>
            <a:off x="4760916" y="3229897"/>
            <a:ext cx="2343199" cy="432048"/>
          </a:xfrm>
          <a:prstGeom prst="round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Tree>
    <p:extLst>
      <p:ext uri="{BB962C8B-B14F-4D97-AF65-F5344CB8AC3E}">
        <p14:creationId xmlns:p14="http://schemas.microsoft.com/office/powerpoint/2010/main" val="387596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14"/>
          <p:cNvGraphicFramePr>
            <a:graphicFrameLocks noGrp="1" noChangeAspect="1"/>
          </p:cNvGraphicFramePr>
          <p:nvPr>
            <p:ph sz="half" idx="2"/>
            <p:extLst>
              <p:ext uri="{D42A27DB-BD31-4B8C-83A1-F6EECF244321}">
                <p14:modId xmlns:p14="http://schemas.microsoft.com/office/powerpoint/2010/main" val="538892436"/>
              </p:ext>
            </p:extLst>
          </p:nvPr>
        </p:nvGraphicFramePr>
        <p:xfrm>
          <a:off x="1524000" y="1244600"/>
          <a:ext cx="5049838" cy="5010150"/>
        </p:xfrm>
        <a:graphic>
          <a:graphicData uri="http://schemas.openxmlformats.org/presentationml/2006/ole">
            <mc:AlternateContent xmlns:mc="http://schemas.openxmlformats.org/markup-compatibility/2006">
              <mc:Choice xmlns:v="urn:schemas-microsoft-com:vml" Requires="v">
                <p:oleObj name="Bitmap-afbeelding" r:id="rId3" imgW="14380186" imgH="20141406" progId="Paint.Picture">
                  <p:embed/>
                </p:oleObj>
              </mc:Choice>
              <mc:Fallback>
                <p:oleObj name="Bitmap-afbeelding" r:id="rId3" imgW="14380186" imgH="20141406" progId="Paint.Picture">
                  <p:embed/>
                  <p:pic>
                    <p:nvPicPr>
                      <p:cNvPr id="0" name=""/>
                      <p:cNvPicPr>
                        <a:picLocks noGrp="1"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29182"/>
                      <a:stretch>
                        <a:fillRect/>
                      </a:stretch>
                    </p:blipFill>
                    <p:spPr bwMode="auto">
                      <a:xfrm>
                        <a:off x="1524000" y="1244600"/>
                        <a:ext cx="5049838" cy="501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5" name="Object 9"/>
          <p:cNvGraphicFramePr>
            <a:graphicFrameLocks noGrp="1" noChangeAspect="1"/>
          </p:cNvGraphicFramePr>
          <p:nvPr>
            <p:ph sz="half" idx="1"/>
            <p:extLst>
              <p:ext uri="{D42A27DB-BD31-4B8C-83A1-F6EECF244321}">
                <p14:modId xmlns:p14="http://schemas.microsoft.com/office/powerpoint/2010/main" val="304796694"/>
              </p:ext>
            </p:extLst>
          </p:nvPr>
        </p:nvGraphicFramePr>
        <p:xfrm>
          <a:off x="5591947" y="3407405"/>
          <a:ext cx="5006661" cy="2829909"/>
        </p:xfrm>
        <a:graphic>
          <a:graphicData uri="http://schemas.openxmlformats.org/presentationml/2006/ole">
            <mc:AlternateContent xmlns:mc="http://schemas.openxmlformats.org/markup-compatibility/2006">
              <mc:Choice xmlns:v="urn:schemas-microsoft-com:vml" Requires="v">
                <p:oleObj name="Bitmap-afbeelding" r:id="rId5" imgW="14380186" imgH="20141406" progId="Paint.Picture">
                  <p:embed/>
                </p:oleObj>
              </mc:Choice>
              <mc:Fallback>
                <p:oleObj name="Bitmap-afbeelding" r:id="rId5" imgW="14380186" imgH="20141406" progId="Paint.Picture">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l="13814" r="10811" b="69589"/>
                      <a:stretch>
                        <a:fillRect/>
                      </a:stretch>
                    </p:blipFill>
                    <p:spPr bwMode="auto">
                      <a:xfrm>
                        <a:off x="5591947" y="3407405"/>
                        <a:ext cx="5006661" cy="2829909"/>
                      </a:xfrm>
                      <a:prstGeom prst="rect">
                        <a:avLst/>
                      </a:prstGeom>
                      <a:noFill/>
                      <a:ln w="9525">
                        <a:solidFill>
                          <a:schemeClr val="tx1"/>
                        </a:solidFill>
                        <a:miter lim="800000"/>
                        <a:headEnd/>
                        <a:tailEnd/>
                      </a:ln>
                      <a:effectLst/>
                    </p:spPr>
                  </p:pic>
                </p:oleObj>
              </mc:Fallback>
            </mc:AlternateContent>
          </a:graphicData>
        </a:graphic>
      </p:graphicFrame>
      <p:sp>
        <p:nvSpPr>
          <p:cNvPr id="8196" name="Rectangle 17"/>
          <p:cNvSpPr>
            <a:spLocks noChangeArrowheads="1"/>
          </p:cNvSpPr>
          <p:nvPr/>
        </p:nvSpPr>
        <p:spPr bwMode="auto">
          <a:xfrm>
            <a:off x="839416" y="174625"/>
            <a:ext cx="10585176" cy="1143000"/>
          </a:xfrm>
          <a:prstGeom prst="rect">
            <a:avLst/>
          </a:prstGeom>
          <a:noFill/>
          <a:ln w="9525">
            <a:noFill/>
            <a:miter lim="800000"/>
            <a:headEnd/>
            <a:tailEnd/>
          </a:ln>
        </p:spPr>
        <p:txBody>
          <a:bodyPr/>
          <a:lstStyle/>
          <a:p>
            <a:r>
              <a:rPr lang="en-US" sz="3200" dirty="0">
                <a:solidFill>
                  <a:srgbClr val="00A4DE"/>
                </a:solidFill>
                <a:latin typeface="+mj-lt"/>
              </a:rPr>
              <a:t>Example of Class II </a:t>
            </a:r>
            <a:r>
              <a:rPr lang="en-US" sz="3200" u="sng" dirty="0">
                <a:solidFill>
                  <a:srgbClr val="00A4DE"/>
                </a:solidFill>
                <a:latin typeface="+mj-lt"/>
              </a:rPr>
              <a:t>wing </a:t>
            </a:r>
            <a:r>
              <a:rPr lang="en-US" sz="3200" dirty="0">
                <a:solidFill>
                  <a:srgbClr val="00A4DE"/>
                </a:solidFill>
                <a:latin typeface="+mj-lt"/>
              </a:rPr>
              <a:t>weight estimation method</a:t>
            </a:r>
          </a:p>
        </p:txBody>
      </p:sp>
      <p:sp>
        <p:nvSpPr>
          <p:cNvPr id="8197" name="Text Box 18"/>
          <p:cNvSpPr txBox="1">
            <a:spLocks noChangeArrowheads="1"/>
          </p:cNvSpPr>
          <p:nvPr/>
        </p:nvSpPr>
        <p:spPr bwMode="auto">
          <a:xfrm>
            <a:off x="6672064" y="1052736"/>
            <a:ext cx="3816424" cy="1477328"/>
          </a:xfrm>
          <a:prstGeom prst="rect">
            <a:avLst/>
          </a:prstGeom>
          <a:solidFill>
            <a:srgbClr val="FFFF00"/>
          </a:solidFill>
          <a:ln w="9525" algn="ctr">
            <a:noFill/>
            <a:miter lim="800000"/>
            <a:headEnd/>
            <a:tailEnd/>
          </a:ln>
        </p:spPr>
        <p:txBody>
          <a:bodyPr wrap="square">
            <a:spAutoFit/>
          </a:bodyPr>
          <a:lstStyle/>
          <a:p>
            <a:r>
              <a:rPr lang="en-GB" dirty="0"/>
              <a:t>Example of Class II weight estimation rule for wing</a:t>
            </a:r>
          </a:p>
          <a:p>
            <a:r>
              <a:rPr lang="en-GB" dirty="0"/>
              <a:t>Strangely enough, it does not account for the possible installation of engines on the wing*</a:t>
            </a:r>
          </a:p>
        </p:txBody>
      </p:sp>
    </p:spTree>
    <p:extLst>
      <p:ext uri="{BB962C8B-B14F-4D97-AF65-F5344CB8AC3E}">
        <p14:creationId xmlns:p14="http://schemas.microsoft.com/office/powerpoint/2010/main" val="27337047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bwMode="auto">
          <a:xfrm>
            <a:off x="767407" y="260651"/>
            <a:ext cx="9505059" cy="769937"/>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sz="3200" b="0" dirty="0">
                <a:solidFill>
                  <a:srgbClr val="00A4DE"/>
                </a:solidFill>
              </a:rPr>
              <a:t>Notes on Class II Weight estimation accuracy. Read before use </a:t>
            </a:r>
          </a:p>
        </p:txBody>
      </p:sp>
      <p:sp>
        <p:nvSpPr>
          <p:cNvPr id="50179" name="Rectangle 3"/>
          <p:cNvSpPr>
            <a:spLocks noGrp="1" noChangeArrowheads="1"/>
          </p:cNvSpPr>
          <p:nvPr>
            <p:ph type="body" idx="1"/>
          </p:nvPr>
        </p:nvSpPr>
        <p:spPr bwMode="auto">
          <a:xfrm>
            <a:off x="1343472" y="1556792"/>
            <a:ext cx="9649072" cy="4122737"/>
          </a:xfrm>
          <a:noFill/>
          <a:ln>
            <a:miter lim="800000"/>
            <a:headEnd/>
            <a:tailEnd/>
          </a:ln>
        </p:spPr>
        <p:txBody>
          <a:bodyPr vert="horz" wrap="square" lIns="91440" tIns="45720" rIns="91440" bIns="45720" numCol="1" anchor="t" anchorCtr="0" compatLnSpc="1">
            <a:prstTxWarp prst="textNoShape">
              <a:avLst/>
            </a:prstTxWarp>
          </a:bodyPr>
          <a:lstStyle/>
          <a:p>
            <a:pPr marL="0" indent="0" eaLnBrk="1" hangingPunct="1">
              <a:lnSpc>
                <a:spcPct val="110000"/>
              </a:lnSpc>
              <a:buClr>
                <a:srgbClr val="00A4DE"/>
              </a:buClr>
              <a:buNone/>
            </a:pPr>
            <a:endParaRPr lang="en-US" sz="1800" dirty="0">
              <a:latin typeface="Tahoma" pitchFamily="34" charset="0"/>
            </a:endParaRPr>
          </a:p>
          <a:p>
            <a:pPr marL="0" indent="0" eaLnBrk="1" hangingPunct="1">
              <a:lnSpc>
                <a:spcPct val="110000"/>
              </a:lnSpc>
              <a:buClr>
                <a:srgbClr val="00A4DE"/>
              </a:buClr>
              <a:buNone/>
            </a:pPr>
            <a:r>
              <a:rPr lang="en-US" sz="1800" b="1" dirty="0">
                <a:latin typeface="Tahoma" pitchFamily="34" charset="0"/>
              </a:rPr>
              <a:t>Different methods may vary in the way components and systems are grouped</a:t>
            </a:r>
            <a:r>
              <a:rPr lang="en-US" sz="1800" dirty="0">
                <a:latin typeface="Tahoma" pitchFamily="34" charset="0"/>
              </a:rPr>
              <a:t>. </a:t>
            </a:r>
          </a:p>
          <a:p>
            <a:pPr marL="0" indent="0" eaLnBrk="1" hangingPunct="1">
              <a:lnSpc>
                <a:spcPct val="110000"/>
              </a:lnSpc>
              <a:buClr>
                <a:srgbClr val="00A4DE"/>
              </a:buClr>
              <a:buNone/>
            </a:pPr>
            <a:r>
              <a:rPr lang="en-US" sz="1800" i="1" dirty="0">
                <a:latin typeface="Tahoma" pitchFamily="34" charset="0"/>
              </a:rPr>
              <a:t>E.g. one method might include the weight of the wing center section in the fuselage weight estimation; another in the wing weight estimation of the wing.</a:t>
            </a:r>
          </a:p>
          <a:p>
            <a:pPr marL="0" indent="0" eaLnBrk="1" hangingPunct="1">
              <a:lnSpc>
                <a:spcPct val="110000"/>
              </a:lnSpc>
              <a:buClr>
                <a:srgbClr val="00A4DE"/>
              </a:buClr>
              <a:buNone/>
            </a:pPr>
            <a:endParaRPr lang="en-US" sz="1800" dirty="0">
              <a:latin typeface="Tahoma" pitchFamily="34" charset="0"/>
            </a:endParaRPr>
          </a:p>
          <a:p>
            <a:pPr marL="0" indent="0" eaLnBrk="1" hangingPunct="1">
              <a:lnSpc>
                <a:spcPct val="110000"/>
              </a:lnSpc>
              <a:buClr>
                <a:srgbClr val="00A4DE"/>
              </a:buClr>
              <a:buNone/>
            </a:pPr>
            <a:r>
              <a:rPr lang="en-US" sz="1800" b="1" dirty="0"/>
              <a:t>Therefore, weight estimates from </a:t>
            </a:r>
            <a:r>
              <a:rPr lang="en-US" sz="1800" b="1" dirty="0">
                <a:solidFill>
                  <a:srgbClr val="FF3300"/>
                </a:solidFill>
              </a:rPr>
              <a:t>one method</a:t>
            </a:r>
            <a:r>
              <a:rPr lang="en-US" sz="1800" b="1" dirty="0"/>
              <a:t> </a:t>
            </a:r>
            <a:r>
              <a:rPr lang="en-US" sz="1800" b="1" dirty="0">
                <a:solidFill>
                  <a:srgbClr val="FF0000"/>
                </a:solidFill>
              </a:rPr>
              <a:t>should never</a:t>
            </a:r>
            <a:r>
              <a:rPr lang="en-US" sz="1800" b="1" dirty="0">
                <a:solidFill>
                  <a:srgbClr val="FF3300"/>
                </a:solidFill>
              </a:rPr>
              <a:t> </a:t>
            </a:r>
            <a:r>
              <a:rPr lang="en-US" sz="1800" b="1" dirty="0"/>
              <a:t>be combined with those from </a:t>
            </a:r>
            <a:r>
              <a:rPr lang="en-US" sz="1800" b="1" dirty="0">
                <a:solidFill>
                  <a:srgbClr val="FF3300"/>
                </a:solidFill>
              </a:rPr>
              <a:t>another method.</a:t>
            </a:r>
          </a:p>
          <a:p>
            <a:pPr marL="457200" indent="-457200" eaLnBrk="1" hangingPunct="1">
              <a:lnSpc>
                <a:spcPct val="110000"/>
              </a:lnSpc>
              <a:buClr>
                <a:srgbClr val="00A4DE"/>
              </a:buClr>
              <a:buFont typeface="+mj-lt"/>
              <a:buAutoNum type="arabicPeriod"/>
            </a:pPr>
            <a:endParaRPr lang="en-US" sz="1800" b="1" dirty="0">
              <a:solidFill>
                <a:srgbClr val="FF3300"/>
              </a:solidFill>
            </a:endParaRPr>
          </a:p>
          <a:p>
            <a:pPr marL="457200" indent="-457200" eaLnBrk="1" hangingPunct="1">
              <a:lnSpc>
                <a:spcPct val="110000"/>
              </a:lnSpc>
              <a:buClr>
                <a:srgbClr val="00A4DE"/>
              </a:buClr>
              <a:buFont typeface="+mj-lt"/>
              <a:buAutoNum type="arabicPeriod"/>
            </a:pPr>
            <a:endParaRPr lang="en-US" sz="1800" dirty="0">
              <a:solidFill>
                <a:srgbClr val="FF3300"/>
              </a:solidFill>
              <a:latin typeface="Tahoma" pitchFamily="34" charset="0"/>
            </a:endParaRPr>
          </a:p>
          <a:p>
            <a:pPr marL="457200" indent="-457200" eaLnBrk="1" hangingPunct="1">
              <a:lnSpc>
                <a:spcPct val="110000"/>
              </a:lnSpc>
              <a:buClr>
                <a:srgbClr val="00A4DE"/>
              </a:buClr>
              <a:buFont typeface="+mj-lt"/>
              <a:buAutoNum type="arabicPeriod"/>
            </a:pPr>
            <a:endParaRPr lang="en-US" sz="1800" dirty="0">
              <a:solidFill>
                <a:srgbClr val="33CC33"/>
              </a:solidFill>
              <a:latin typeface="Tahoma" pitchFamily="34" charset="0"/>
            </a:endParaRPr>
          </a:p>
        </p:txBody>
      </p:sp>
    </p:spTree>
    <p:extLst>
      <p:ext uri="{BB962C8B-B14F-4D97-AF65-F5344CB8AC3E}">
        <p14:creationId xmlns:p14="http://schemas.microsoft.com/office/powerpoint/2010/main" val="3014236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179">
                                            <p:txEl>
                                              <p:pRg st="4" end="4"/>
                                            </p:txEl>
                                          </p:spTgt>
                                        </p:tgtEl>
                                        <p:attrNameLst>
                                          <p:attrName>style.visibility</p:attrName>
                                        </p:attrNameLst>
                                      </p:cBhvr>
                                      <p:to>
                                        <p:strVal val="visible"/>
                                      </p:to>
                                    </p:set>
                                    <p:animEffect transition="in" filter="fade">
                                      <p:cBhvr>
                                        <p:cTn id="7" dur="500"/>
                                        <p:tgtEl>
                                          <p:spTgt spid="501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bwMode="auto">
          <a:xfrm>
            <a:off x="2135560" y="260651"/>
            <a:ext cx="8075240" cy="769937"/>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sz="2800" dirty="0">
                <a:solidFill>
                  <a:srgbClr val="00A4DE"/>
                </a:solidFill>
              </a:rPr>
              <a:t>Notes on Class II Weight estimation accuracy. Read before use </a:t>
            </a:r>
          </a:p>
        </p:txBody>
      </p:sp>
      <p:sp>
        <p:nvSpPr>
          <p:cNvPr id="50179" name="Rectangle 3"/>
          <p:cNvSpPr>
            <a:spLocks noGrp="1" noChangeArrowheads="1"/>
          </p:cNvSpPr>
          <p:nvPr>
            <p:ph type="body" idx="1"/>
          </p:nvPr>
        </p:nvSpPr>
        <p:spPr bwMode="auto">
          <a:xfrm>
            <a:off x="2135563" y="1412779"/>
            <a:ext cx="8156327" cy="4122737"/>
          </a:xfrm>
          <a:noFill/>
          <a:ln>
            <a:miter lim="800000"/>
            <a:headEnd/>
            <a:tailEnd/>
          </a:ln>
        </p:spPr>
        <p:txBody>
          <a:bodyPr vert="horz" wrap="square" lIns="91440" tIns="45720" rIns="91440" bIns="45720" numCol="1" anchor="t" anchorCtr="0" compatLnSpc="1">
            <a:prstTxWarp prst="textNoShape">
              <a:avLst/>
            </a:prstTxWarp>
          </a:bodyPr>
          <a:lstStyle/>
          <a:p>
            <a:pPr marL="0" indent="0" eaLnBrk="1" hangingPunct="1">
              <a:buNone/>
            </a:pPr>
            <a:r>
              <a:rPr lang="en-US" sz="2400" dirty="0">
                <a:latin typeface="Tahoma" pitchFamily="34" charset="0"/>
              </a:rPr>
              <a:t>Large errors may be observed for predicted </a:t>
            </a:r>
            <a:r>
              <a:rPr lang="en-US" sz="2400" dirty="0">
                <a:solidFill>
                  <a:srgbClr val="FF3300"/>
                </a:solidFill>
                <a:latin typeface="Tahoma" pitchFamily="34" charset="0"/>
              </a:rPr>
              <a:t>component weights, </a:t>
            </a:r>
            <a:r>
              <a:rPr lang="en-US" sz="2400" dirty="0">
                <a:latin typeface="Tahoma" pitchFamily="34" charset="0"/>
              </a:rPr>
              <a:t>but much better correlation is found for their summation (e.g. group weights* and Manufacturing Empty Weight MEW). </a:t>
            </a:r>
          </a:p>
          <a:p>
            <a:pPr marL="0" indent="0" eaLnBrk="1" hangingPunct="1">
              <a:buNone/>
            </a:pPr>
            <a:r>
              <a:rPr lang="en-US" sz="2400" dirty="0">
                <a:latin typeface="Tahoma" pitchFamily="34" charset="0"/>
              </a:rPr>
              <a:t>This is because </a:t>
            </a:r>
            <a:r>
              <a:rPr lang="en-US" sz="2400" b="1" dirty="0">
                <a:latin typeface="Tahoma" pitchFamily="34" charset="0"/>
              </a:rPr>
              <a:t>group weights </a:t>
            </a:r>
            <a:r>
              <a:rPr lang="en-US" sz="2400" dirty="0">
                <a:latin typeface="Tahoma" pitchFamily="34" charset="0"/>
              </a:rPr>
              <a:t>(and not single component weights)</a:t>
            </a:r>
            <a:r>
              <a:rPr lang="en-US" sz="2400" b="1" dirty="0">
                <a:latin typeface="Tahoma" pitchFamily="34" charset="0"/>
              </a:rPr>
              <a:t> are generally used to calibrate the prediction method</a:t>
            </a:r>
            <a:r>
              <a:rPr lang="en-US" sz="2400" dirty="0">
                <a:latin typeface="Tahoma" pitchFamily="34" charset="0"/>
              </a:rPr>
              <a:t>.</a:t>
            </a:r>
            <a:r>
              <a:rPr lang="en-GB" sz="2400" dirty="0">
                <a:latin typeface="Arial" pitchFamily="34" charset="0"/>
              </a:rPr>
              <a:t> </a:t>
            </a:r>
          </a:p>
          <a:p>
            <a:pPr marL="0" indent="0" eaLnBrk="1" hangingPunct="1">
              <a:buNone/>
            </a:pPr>
            <a:endParaRPr lang="en-GB" sz="2400" dirty="0">
              <a:latin typeface="Arial" pitchFamily="34" charset="0"/>
            </a:endParaRPr>
          </a:p>
          <a:p>
            <a:pPr marL="0" indent="0" eaLnBrk="1" hangingPunct="1">
              <a:buNone/>
            </a:pPr>
            <a:r>
              <a:rPr lang="en-GB" sz="2400" dirty="0">
                <a:latin typeface="Arial" pitchFamily="34" charset="0"/>
              </a:rPr>
              <a:t>The reason is that group weighs data are more often available than single components weight values**</a:t>
            </a:r>
            <a:endParaRPr lang="en-US" sz="2400" dirty="0">
              <a:solidFill>
                <a:srgbClr val="FF3300"/>
              </a:solidFill>
              <a:latin typeface="Tahoma" pitchFamily="34" charset="0"/>
            </a:endParaRPr>
          </a:p>
          <a:p>
            <a:pPr marL="0" indent="0" eaLnBrk="1" hangingPunct="1">
              <a:lnSpc>
                <a:spcPct val="110000"/>
              </a:lnSpc>
              <a:buClr>
                <a:srgbClr val="00A4DE"/>
              </a:buClr>
              <a:buNone/>
            </a:pPr>
            <a:endParaRPr lang="en-US" sz="2400" dirty="0">
              <a:solidFill>
                <a:srgbClr val="33CC33"/>
              </a:solidFill>
              <a:latin typeface="Tahoma" pitchFamily="34" charset="0"/>
            </a:endParaRPr>
          </a:p>
        </p:txBody>
      </p:sp>
      <p:sp>
        <p:nvSpPr>
          <p:cNvPr id="2" name="Rectangle 1"/>
          <p:cNvSpPr/>
          <p:nvPr/>
        </p:nvSpPr>
        <p:spPr>
          <a:xfrm>
            <a:off x="2207568" y="4941171"/>
            <a:ext cx="7920880" cy="904863"/>
          </a:xfrm>
          <a:prstGeom prst="rect">
            <a:avLst/>
          </a:prstGeom>
        </p:spPr>
        <p:txBody>
          <a:bodyPr wrap="square">
            <a:spAutoFit/>
          </a:bodyPr>
          <a:lstStyle/>
          <a:p>
            <a:pPr>
              <a:lnSpc>
                <a:spcPct val="110000"/>
              </a:lnSpc>
              <a:buClr>
                <a:srgbClr val="00A4DE"/>
              </a:buClr>
            </a:pPr>
            <a:r>
              <a:rPr lang="en-US" sz="2400" b="1" dirty="0"/>
              <a:t>Therefore, do not rely too much on the </a:t>
            </a:r>
            <a:r>
              <a:rPr lang="en-US" sz="2400" b="1" dirty="0">
                <a:solidFill>
                  <a:srgbClr val="FF0000"/>
                </a:solidFill>
              </a:rPr>
              <a:t>accuracy of single component weight</a:t>
            </a:r>
            <a:r>
              <a:rPr lang="en-US" sz="2400" b="1" dirty="0">
                <a:solidFill>
                  <a:srgbClr val="FF3300"/>
                </a:solidFill>
              </a:rPr>
              <a:t> </a:t>
            </a:r>
            <a:r>
              <a:rPr lang="en-US" sz="2400" b="1" dirty="0"/>
              <a:t>prediction</a:t>
            </a:r>
          </a:p>
        </p:txBody>
      </p:sp>
    </p:spTree>
    <p:extLst>
      <p:ext uri="{BB962C8B-B14F-4D97-AF65-F5344CB8AC3E}">
        <p14:creationId xmlns:p14="http://schemas.microsoft.com/office/powerpoint/2010/main" val="319808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Rectangle 3"/>
          <p:cNvSpPr>
            <a:spLocks noGrp="1" noChangeArrowheads="1"/>
          </p:cNvSpPr>
          <p:nvPr>
            <p:ph type="body" idx="1"/>
          </p:nvPr>
        </p:nvSpPr>
        <p:spPr bwMode="auto">
          <a:xfrm>
            <a:off x="2063552" y="1484784"/>
            <a:ext cx="8208912" cy="4286704"/>
          </a:xfrm>
          <a:noFill/>
          <a:ln>
            <a:miter lim="800000"/>
            <a:headEnd/>
            <a:tailEnd/>
          </a:ln>
        </p:spPr>
        <p:txBody>
          <a:bodyPr vert="horz" wrap="square" lIns="91440" tIns="45720" rIns="91440" bIns="45720" numCol="1" anchor="t" anchorCtr="0" compatLnSpc="1">
            <a:prstTxWarp prst="textNoShape">
              <a:avLst/>
            </a:prstTxWarp>
          </a:bodyPr>
          <a:lstStyle/>
          <a:p>
            <a:pPr eaLnBrk="1" hangingPunct="1">
              <a:buClr>
                <a:srgbClr val="00A4DE"/>
              </a:buClr>
            </a:pPr>
            <a:r>
              <a:rPr lang="en-US" sz="2200" dirty="0">
                <a:latin typeface="Tahoma" pitchFamily="34" charset="0"/>
              </a:rPr>
              <a:t>For structural components there are many load cases,  </a:t>
            </a:r>
            <a:r>
              <a:rPr lang="en-US" sz="2200" dirty="0">
                <a:solidFill>
                  <a:srgbClr val="FF3300"/>
                </a:solidFill>
                <a:latin typeface="Tahoma" pitchFamily="34" charset="0"/>
              </a:rPr>
              <a:t>but only one is chosen for the computational model</a:t>
            </a:r>
            <a:r>
              <a:rPr lang="en-US" sz="2200" dirty="0">
                <a:latin typeface="Tahoma" pitchFamily="34" charset="0"/>
              </a:rPr>
              <a:t>.</a:t>
            </a:r>
          </a:p>
          <a:p>
            <a:pPr eaLnBrk="1" hangingPunct="1">
              <a:buClr>
                <a:srgbClr val="00A4DE"/>
              </a:buClr>
            </a:pPr>
            <a:r>
              <a:rPr lang="en-US" sz="2200" dirty="0">
                <a:latin typeface="Tahoma" pitchFamily="34" charset="0"/>
              </a:rPr>
              <a:t>The critical load case is not always directly apparent. </a:t>
            </a:r>
          </a:p>
          <a:p>
            <a:pPr eaLnBrk="1" hangingPunct="1">
              <a:buClr>
                <a:srgbClr val="00A4DE"/>
              </a:buClr>
            </a:pPr>
            <a:endParaRPr lang="en-US" sz="2200" dirty="0">
              <a:latin typeface="Tahoma" pitchFamily="34" charset="0"/>
            </a:endParaRPr>
          </a:p>
          <a:p>
            <a:pPr eaLnBrk="1" hangingPunct="1">
              <a:buClr>
                <a:srgbClr val="00A4DE"/>
              </a:buClr>
              <a:buFont typeface="Wingdings" pitchFamily="2" charset="2"/>
              <a:buChar char="à"/>
            </a:pPr>
            <a:r>
              <a:rPr lang="en-US" sz="2200" dirty="0">
                <a:latin typeface="Tahoma" pitchFamily="34" charset="0"/>
              </a:rPr>
              <a:t>Hence,  models based on the estimation of structural load cases are often inaccurate.</a:t>
            </a:r>
          </a:p>
          <a:p>
            <a:pPr eaLnBrk="1" hangingPunct="1">
              <a:buClr>
                <a:srgbClr val="00A4DE"/>
              </a:buClr>
              <a:buFont typeface="Wingdings" pitchFamily="2" charset="2"/>
              <a:buChar char="à"/>
            </a:pPr>
            <a:endParaRPr lang="en-US" sz="2200" dirty="0">
              <a:latin typeface="Tahoma" pitchFamily="34" charset="0"/>
            </a:endParaRPr>
          </a:p>
          <a:p>
            <a:pPr eaLnBrk="1" hangingPunct="1">
              <a:buClr>
                <a:srgbClr val="00A4DE"/>
              </a:buClr>
              <a:buFont typeface="Wingdings" pitchFamily="2" charset="2"/>
              <a:buChar char="à"/>
            </a:pPr>
            <a:endParaRPr lang="en-US" sz="2200" dirty="0">
              <a:latin typeface="Tahoma" pitchFamily="34" charset="0"/>
            </a:endParaRPr>
          </a:p>
          <a:p>
            <a:pPr eaLnBrk="1" hangingPunct="1">
              <a:buClr>
                <a:srgbClr val="00A4DE"/>
              </a:buClr>
            </a:pPr>
            <a:endParaRPr lang="en-US" sz="2200" dirty="0">
              <a:solidFill>
                <a:srgbClr val="FF3300"/>
              </a:solidFill>
              <a:latin typeface="Tahoma" pitchFamily="34" charset="0"/>
            </a:endParaRPr>
          </a:p>
          <a:p>
            <a:pPr eaLnBrk="1" hangingPunct="1">
              <a:buClr>
                <a:srgbClr val="00A4DE"/>
              </a:buClr>
            </a:pPr>
            <a:r>
              <a:rPr lang="en-US" sz="2200" dirty="0">
                <a:latin typeface="Tahoma" pitchFamily="34" charset="0"/>
              </a:rPr>
              <a:t>Generally, the aforementioned equations apply only for metal structures. However, correction factors can be found in literature to account for the use of </a:t>
            </a:r>
            <a:r>
              <a:rPr lang="en-US" sz="2200" dirty="0">
                <a:solidFill>
                  <a:srgbClr val="FF0000"/>
                </a:solidFill>
                <a:latin typeface="Tahoma" pitchFamily="34" charset="0"/>
              </a:rPr>
              <a:t>composite materials.</a:t>
            </a:r>
          </a:p>
          <a:p>
            <a:pPr eaLnBrk="1" hangingPunct="1">
              <a:buClr>
                <a:srgbClr val="00A4DE"/>
              </a:buClr>
            </a:pPr>
            <a:endParaRPr lang="en-US" sz="2200" dirty="0">
              <a:latin typeface="Tahoma" pitchFamily="34" charset="0"/>
            </a:endParaRPr>
          </a:p>
          <a:p>
            <a:pPr eaLnBrk="1" hangingPunct="1">
              <a:buClr>
                <a:srgbClr val="00A4DE"/>
              </a:buClr>
            </a:pPr>
            <a:endParaRPr lang="en-US" sz="2200" dirty="0">
              <a:latin typeface="Tahoma" pitchFamily="34" charset="0"/>
            </a:endParaRPr>
          </a:p>
        </p:txBody>
      </p:sp>
      <p:sp>
        <p:nvSpPr>
          <p:cNvPr id="4" name="Rectangle 2"/>
          <p:cNvSpPr>
            <a:spLocks noGrp="1" noChangeArrowheads="1"/>
          </p:cNvSpPr>
          <p:nvPr>
            <p:ph type="title"/>
          </p:nvPr>
        </p:nvSpPr>
        <p:spPr bwMode="auto">
          <a:xfrm>
            <a:off x="2135560" y="260651"/>
            <a:ext cx="8075240" cy="769937"/>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sz="2800" dirty="0">
                <a:solidFill>
                  <a:srgbClr val="00A4DE"/>
                </a:solidFill>
              </a:rPr>
              <a:t>Notes on Class II Weight estimation accuracy. Read before use </a:t>
            </a:r>
          </a:p>
        </p:txBody>
      </p:sp>
    </p:spTree>
    <p:extLst>
      <p:ext uri="{BB962C8B-B14F-4D97-AF65-F5344CB8AC3E}">
        <p14:creationId xmlns:p14="http://schemas.microsoft.com/office/powerpoint/2010/main" val="17856948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7" name="Rectangle 2"/>
          <p:cNvSpPr>
            <a:spLocks noChangeArrowheads="1"/>
          </p:cNvSpPr>
          <p:nvPr/>
        </p:nvSpPr>
        <p:spPr bwMode="auto">
          <a:xfrm>
            <a:off x="2279576" y="116635"/>
            <a:ext cx="7746876" cy="561975"/>
          </a:xfrm>
          <a:prstGeom prst="rect">
            <a:avLst/>
          </a:prstGeom>
          <a:noFill/>
          <a:ln w="9525">
            <a:noFill/>
            <a:miter lim="800000"/>
            <a:headEnd/>
            <a:tailEnd/>
          </a:ln>
        </p:spPr>
        <p:txBody>
          <a:bodyPr/>
          <a:lstStyle/>
          <a:p>
            <a:pPr>
              <a:spcBef>
                <a:spcPct val="0"/>
              </a:spcBef>
              <a:buClrTx/>
            </a:pPr>
            <a:r>
              <a:rPr lang="en-US" sz="3200" b="1" dirty="0">
                <a:solidFill>
                  <a:srgbClr val="00A4DE"/>
                </a:solidFill>
                <a:latin typeface="+mj-lt"/>
              </a:rPr>
              <a:t>Weight estimate tailoring</a:t>
            </a:r>
          </a:p>
          <a:p>
            <a:pPr>
              <a:spcBef>
                <a:spcPct val="0"/>
              </a:spcBef>
              <a:buClrTx/>
            </a:pPr>
            <a:r>
              <a:rPr lang="en-US" sz="2400" b="1" dirty="0">
                <a:solidFill>
                  <a:srgbClr val="00A4DE"/>
                </a:solidFill>
                <a:latin typeface="+mj-lt"/>
              </a:rPr>
              <a:t>Calibration/fudge factors</a:t>
            </a:r>
          </a:p>
        </p:txBody>
      </p:sp>
      <p:sp>
        <p:nvSpPr>
          <p:cNvPr id="11268" name="Rectangle 3"/>
          <p:cNvSpPr>
            <a:spLocks noChangeArrowheads="1"/>
          </p:cNvSpPr>
          <p:nvPr/>
        </p:nvSpPr>
        <p:spPr bwMode="auto">
          <a:xfrm>
            <a:off x="2070200" y="1340768"/>
            <a:ext cx="8351838" cy="3716338"/>
          </a:xfrm>
          <a:prstGeom prst="rect">
            <a:avLst/>
          </a:prstGeom>
          <a:noFill/>
          <a:ln w="9525">
            <a:noFill/>
            <a:miter lim="800000"/>
            <a:headEnd/>
            <a:tailEnd/>
          </a:ln>
        </p:spPr>
        <p:txBody>
          <a:bodyPr/>
          <a:lstStyle/>
          <a:p>
            <a:pPr marL="342900" indent="-342900">
              <a:buClr>
                <a:srgbClr val="00A4DE"/>
              </a:buClr>
              <a:buFontTx/>
              <a:buChar char="•"/>
            </a:pPr>
            <a:r>
              <a:rPr lang="en-US" sz="2200" dirty="0">
                <a:cs typeface="Tahoma" pitchFamily="34" charset="0"/>
              </a:rPr>
              <a:t>The quality of the calculated weight estimate </a:t>
            </a:r>
            <a:r>
              <a:rPr lang="en-US" sz="2200" dirty="0" err="1">
                <a:cs typeface="Tahoma" pitchFamily="34" charset="0"/>
              </a:rPr>
              <a:t>W</a:t>
            </a:r>
            <a:r>
              <a:rPr lang="en-US" sz="2200" baseline="-25000" dirty="0" err="1">
                <a:cs typeface="Tahoma" pitchFamily="34" charset="0"/>
              </a:rPr>
              <a:t>calc</a:t>
            </a:r>
            <a:r>
              <a:rPr lang="en-US" sz="2200" dirty="0">
                <a:cs typeface="Tahoma" pitchFamily="34" charset="0"/>
              </a:rPr>
              <a:t>, can be checked by comparing it to more reliable data, e.g., from more detailed and accurate calculations or, even better, from experimental data, i.e. </a:t>
            </a:r>
            <a:r>
              <a:rPr lang="en-US" sz="2200" dirty="0" err="1">
                <a:cs typeface="Tahoma" pitchFamily="34" charset="0"/>
              </a:rPr>
              <a:t>W</a:t>
            </a:r>
            <a:r>
              <a:rPr lang="en-US" sz="2200" baseline="-25000" dirty="0" err="1">
                <a:cs typeface="Tahoma" pitchFamily="34" charset="0"/>
              </a:rPr>
              <a:t>exp</a:t>
            </a:r>
            <a:r>
              <a:rPr lang="en-US" sz="2200" dirty="0">
                <a:cs typeface="Tahoma" pitchFamily="34" charset="0"/>
              </a:rPr>
              <a:t>*.</a:t>
            </a:r>
          </a:p>
          <a:p>
            <a:pPr marL="342900" indent="-342900">
              <a:buClr>
                <a:srgbClr val="00A4DE"/>
              </a:buClr>
              <a:buFontTx/>
              <a:buChar char="•"/>
            </a:pPr>
            <a:r>
              <a:rPr lang="en-US" sz="2200" dirty="0">
                <a:cs typeface="Tahoma" pitchFamily="34" charset="0"/>
              </a:rPr>
              <a:t>The ratio between </a:t>
            </a:r>
            <a:r>
              <a:rPr lang="en-US" sz="2200" dirty="0" err="1">
                <a:cs typeface="Tahoma" pitchFamily="34" charset="0"/>
              </a:rPr>
              <a:t>W</a:t>
            </a:r>
            <a:r>
              <a:rPr lang="en-US" sz="2200" baseline="-25000" dirty="0" err="1">
                <a:cs typeface="Tahoma" pitchFamily="34" charset="0"/>
              </a:rPr>
              <a:t>exp</a:t>
            </a:r>
            <a:r>
              <a:rPr lang="en-US" sz="2200" dirty="0">
                <a:cs typeface="Tahoma" pitchFamily="34" charset="0"/>
              </a:rPr>
              <a:t> and </a:t>
            </a:r>
            <a:r>
              <a:rPr lang="en-US" sz="2200" dirty="0" err="1">
                <a:cs typeface="Tahoma" pitchFamily="34" charset="0"/>
              </a:rPr>
              <a:t>W</a:t>
            </a:r>
            <a:r>
              <a:rPr lang="en-US" sz="2200" baseline="-25000" dirty="0" err="1">
                <a:cs typeface="Tahoma" pitchFamily="34" charset="0"/>
              </a:rPr>
              <a:t>calc</a:t>
            </a:r>
            <a:r>
              <a:rPr lang="en-US" sz="2200" dirty="0">
                <a:cs typeface="Tahoma" pitchFamily="34" charset="0"/>
              </a:rPr>
              <a:t> is the so-called </a:t>
            </a:r>
            <a:r>
              <a:rPr lang="en-US" sz="2200" dirty="0">
                <a:solidFill>
                  <a:srgbClr val="FF0000"/>
                </a:solidFill>
                <a:cs typeface="Tahoma" pitchFamily="34" charset="0"/>
              </a:rPr>
              <a:t>calibration </a:t>
            </a:r>
            <a:r>
              <a:rPr lang="en-US" sz="2200" dirty="0">
                <a:cs typeface="Tahoma" pitchFamily="34" charset="0"/>
              </a:rPr>
              <a:t>or</a:t>
            </a:r>
            <a:r>
              <a:rPr lang="en-US" sz="2200" dirty="0">
                <a:solidFill>
                  <a:srgbClr val="FF0000"/>
                </a:solidFill>
                <a:cs typeface="Tahoma" pitchFamily="34" charset="0"/>
              </a:rPr>
              <a:t> </a:t>
            </a:r>
            <a:r>
              <a:rPr lang="en-US" sz="2200" i="1" dirty="0">
                <a:solidFill>
                  <a:srgbClr val="FF0000"/>
                </a:solidFill>
                <a:cs typeface="Tahoma" pitchFamily="34" charset="0"/>
              </a:rPr>
              <a:t>fudge</a:t>
            </a:r>
            <a:r>
              <a:rPr lang="en-US" sz="2200" dirty="0">
                <a:solidFill>
                  <a:srgbClr val="FF0000"/>
                </a:solidFill>
                <a:cs typeface="Tahoma" pitchFamily="34" charset="0"/>
              </a:rPr>
              <a:t> factor</a:t>
            </a:r>
            <a:r>
              <a:rPr lang="en-US" sz="2200" dirty="0">
                <a:cs typeface="Tahoma" pitchFamily="34" charset="0"/>
              </a:rPr>
              <a:t>.  </a:t>
            </a:r>
          </a:p>
          <a:p>
            <a:pPr marL="342900" indent="-342900">
              <a:buClr>
                <a:srgbClr val="00A4DE"/>
              </a:buClr>
              <a:buFontTx/>
              <a:buChar char="•"/>
            </a:pPr>
            <a:r>
              <a:rPr lang="en-US" sz="2200" dirty="0">
                <a:cs typeface="Tahoma" pitchFamily="34" charset="0"/>
              </a:rPr>
              <a:t>Multiplying each new weight estimate by this factor is supposed to improve the quality of the weight estimation (</a:t>
            </a:r>
            <a:r>
              <a:rPr lang="en-US" sz="2200" dirty="0">
                <a:cs typeface="Tahoma" pitchFamily="34" charset="0"/>
                <a:sym typeface="Wingdings" pitchFamily="2" charset="2"/>
              </a:rPr>
              <a:t> W</a:t>
            </a:r>
            <a:r>
              <a:rPr lang="en-US" sz="2200" baseline="-25000" dirty="0">
                <a:cs typeface="Tahoma" pitchFamily="34" charset="0"/>
                <a:sym typeface="Wingdings" pitchFamily="2" charset="2"/>
              </a:rPr>
              <a:t>est</a:t>
            </a:r>
            <a:r>
              <a:rPr lang="en-US" sz="2200" dirty="0">
                <a:cs typeface="Tahoma" pitchFamily="34" charset="0"/>
                <a:sym typeface="Wingdings" pitchFamily="2" charset="2"/>
              </a:rPr>
              <a:t>)</a:t>
            </a:r>
            <a:r>
              <a:rPr lang="en-US" sz="2200" dirty="0">
                <a:cs typeface="Tahoma" pitchFamily="34" charset="0"/>
              </a:rPr>
              <a:t>:</a:t>
            </a:r>
          </a:p>
          <a:p>
            <a:pPr marL="342900" indent="-342900">
              <a:buClr>
                <a:srgbClr val="00A4DE"/>
              </a:buClr>
              <a:buFontTx/>
              <a:buChar char="•"/>
            </a:pPr>
            <a:endParaRPr lang="en-US" sz="2200" dirty="0">
              <a:cs typeface="Tahoma" pitchFamily="34" charset="0"/>
            </a:endParaRPr>
          </a:p>
          <a:p>
            <a:pPr marL="342900" indent="-342900">
              <a:buClr>
                <a:srgbClr val="00A4DE"/>
              </a:buClr>
              <a:buFontTx/>
              <a:buChar char="•"/>
            </a:pPr>
            <a:endParaRPr lang="en-US" sz="2200" dirty="0">
              <a:cs typeface="Tahoma" pitchFamily="34" charset="0"/>
            </a:endParaRPr>
          </a:p>
          <a:p>
            <a:pPr marL="342900" indent="-342900">
              <a:buClr>
                <a:srgbClr val="00A4DE"/>
              </a:buClr>
            </a:pPr>
            <a:endParaRPr lang="en-US" sz="2200" dirty="0">
              <a:cs typeface="Tahoma" pitchFamily="34" charset="0"/>
            </a:endParaRPr>
          </a:p>
        </p:txBody>
      </p:sp>
      <p:graphicFrame>
        <p:nvGraphicFramePr>
          <p:cNvPr id="11266" name="Object 4"/>
          <p:cNvGraphicFramePr>
            <a:graphicFrameLocks noChangeAspect="1"/>
          </p:cNvGraphicFramePr>
          <p:nvPr/>
        </p:nvGraphicFramePr>
        <p:xfrm>
          <a:off x="3935763" y="4653136"/>
          <a:ext cx="3579813" cy="1103312"/>
        </p:xfrm>
        <a:graphic>
          <a:graphicData uri="http://schemas.openxmlformats.org/presentationml/2006/ole">
            <mc:AlternateContent xmlns:mc="http://schemas.openxmlformats.org/markup-compatibility/2006">
              <mc:Choice xmlns:v="urn:schemas-microsoft-com:vml" Requires="v">
                <p:oleObj name="Equation" r:id="rId3" imgW="1612800" imgH="495000" progId="Equation.3">
                  <p:embed/>
                </p:oleObj>
              </mc:Choice>
              <mc:Fallback>
                <p:oleObj name="Equation" r:id="rId3" imgW="1612800" imgH="495000" progId="Equation.3">
                  <p:embed/>
                  <p:pic>
                    <p:nvPicPr>
                      <p:cNvPr id="1126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5763" y="4653136"/>
                        <a:ext cx="3579813" cy="1103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p:cNvSpPr/>
          <p:nvPr/>
        </p:nvSpPr>
        <p:spPr bwMode="auto">
          <a:xfrm>
            <a:off x="6023992" y="4581128"/>
            <a:ext cx="1368152" cy="129614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3" name="TextBox 2"/>
          <p:cNvSpPr txBox="1"/>
          <p:nvPr/>
        </p:nvSpPr>
        <p:spPr>
          <a:xfrm>
            <a:off x="8107468" y="4859871"/>
            <a:ext cx="1372911" cy="646331"/>
          </a:xfrm>
          <a:prstGeom prst="rect">
            <a:avLst/>
          </a:prstGeom>
          <a:noFill/>
        </p:spPr>
        <p:txBody>
          <a:bodyPr wrap="square" rtlCol="0">
            <a:spAutoFit/>
          </a:bodyPr>
          <a:lstStyle/>
          <a:p>
            <a:r>
              <a:rPr lang="en-US" dirty="0">
                <a:solidFill>
                  <a:srgbClr val="FF0000"/>
                </a:solidFill>
              </a:rPr>
              <a:t>Calibration factor</a:t>
            </a:r>
          </a:p>
        </p:txBody>
      </p:sp>
      <p:cxnSp>
        <p:nvCxnSpPr>
          <p:cNvPr id="5" name="Straight Arrow Connector 4"/>
          <p:cNvCxnSpPr>
            <a:stCxn id="3" idx="1"/>
            <a:endCxn id="2" idx="3"/>
          </p:cNvCxnSpPr>
          <p:nvPr/>
        </p:nvCxnSpPr>
        <p:spPr bwMode="auto">
          <a:xfrm flipH="1">
            <a:off x="7392147" y="5183034"/>
            <a:ext cx="715321" cy="46166"/>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30238001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4274" name="Picture 21"/>
          <p:cNvPicPr>
            <a:picLocks noChangeAspect="1" noChangeArrowheads="1"/>
          </p:cNvPicPr>
          <p:nvPr/>
        </p:nvPicPr>
        <p:blipFill>
          <a:blip r:embed="rId3" cstate="print"/>
          <a:srcRect/>
          <a:stretch>
            <a:fillRect/>
          </a:stretch>
        </p:blipFill>
        <p:spPr bwMode="auto">
          <a:xfrm>
            <a:off x="1731966" y="857250"/>
            <a:ext cx="8936037" cy="4857750"/>
          </a:xfrm>
          <a:prstGeom prst="rect">
            <a:avLst/>
          </a:prstGeom>
          <a:noFill/>
          <a:ln w="9525" algn="ctr">
            <a:noFill/>
            <a:miter lim="800000"/>
            <a:headEnd/>
            <a:tailEnd/>
          </a:ln>
        </p:spPr>
      </p:pic>
      <p:sp>
        <p:nvSpPr>
          <p:cNvPr id="54275" name="Text Box 5"/>
          <p:cNvSpPr txBox="1">
            <a:spLocks noChangeArrowheads="1"/>
          </p:cNvSpPr>
          <p:nvPr/>
        </p:nvSpPr>
        <p:spPr bwMode="auto">
          <a:xfrm>
            <a:off x="8402638" y="5811838"/>
            <a:ext cx="2265362" cy="366712"/>
          </a:xfrm>
          <a:prstGeom prst="rect">
            <a:avLst/>
          </a:prstGeom>
          <a:noFill/>
          <a:ln w="9525">
            <a:noFill/>
            <a:miter lim="800000"/>
            <a:headEnd/>
            <a:tailEnd/>
          </a:ln>
        </p:spPr>
        <p:txBody>
          <a:bodyPr>
            <a:spAutoFit/>
          </a:bodyPr>
          <a:lstStyle/>
          <a:p>
            <a:pPr>
              <a:spcBef>
                <a:spcPct val="50000"/>
              </a:spcBef>
              <a:buClrTx/>
            </a:pPr>
            <a:r>
              <a:rPr lang="en-US"/>
              <a:t>Source Torenbeek</a:t>
            </a:r>
          </a:p>
        </p:txBody>
      </p:sp>
      <p:sp>
        <p:nvSpPr>
          <p:cNvPr id="54276" name="Rectangle 6"/>
          <p:cNvSpPr>
            <a:spLocks noChangeArrowheads="1"/>
          </p:cNvSpPr>
          <p:nvPr/>
        </p:nvSpPr>
        <p:spPr bwMode="auto">
          <a:xfrm>
            <a:off x="2220913" y="341313"/>
            <a:ext cx="7866062" cy="457200"/>
          </a:xfrm>
          <a:prstGeom prst="rect">
            <a:avLst/>
          </a:prstGeom>
          <a:noFill/>
          <a:ln w="9525" algn="ctr">
            <a:noFill/>
            <a:miter lim="800000"/>
            <a:headEnd/>
            <a:tailEnd/>
          </a:ln>
        </p:spPr>
        <p:txBody>
          <a:bodyPr wrap="none">
            <a:spAutoFit/>
          </a:bodyPr>
          <a:lstStyle/>
          <a:p>
            <a:pPr>
              <a:spcBef>
                <a:spcPct val="0"/>
              </a:spcBef>
              <a:buClrTx/>
            </a:pPr>
            <a:r>
              <a:rPr lang="en-US" sz="2400" b="1">
                <a:solidFill>
                  <a:srgbClr val="00A4DE"/>
                </a:solidFill>
              </a:rPr>
              <a:t>Some reference data to compare with your results</a:t>
            </a:r>
          </a:p>
        </p:txBody>
      </p:sp>
      <p:sp>
        <p:nvSpPr>
          <p:cNvPr id="54277" name="Text Box 8"/>
          <p:cNvSpPr txBox="1">
            <a:spLocks noChangeArrowheads="1"/>
          </p:cNvSpPr>
          <p:nvPr/>
        </p:nvSpPr>
        <p:spPr bwMode="auto">
          <a:xfrm>
            <a:off x="1870075" y="5842000"/>
            <a:ext cx="6383338" cy="923330"/>
          </a:xfrm>
          <a:prstGeom prst="rect">
            <a:avLst/>
          </a:prstGeom>
          <a:solidFill>
            <a:srgbClr val="FFFF00"/>
          </a:solidFill>
          <a:ln w="9525" algn="ctr">
            <a:solidFill>
              <a:schemeClr val="tx1"/>
            </a:solidFill>
            <a:miter lim="800000"/>
            <a:headEnd/>
            <a:tailEnd/>
          </a:ln>
        </p:spPr>
        <p:txBody>
          <a:bodyPr>
            <a:spAutoFit/>
          </a:bodyPr>
          <a:lstStyle/>
          <a:p>
            <a:r>
              <a:rPr lang="en-GB"/>
              <a:t>Have a look at the typical MTOW fractions of the various component groups. Whatever you did design, you should not be far from there</a:t>
            </a:r>
          </a:p>
        </p:txBody>
      </p:sp>
      <p:sp>
        <p:nvSpPr>
          <p:cNvPr id="54278" name="Rectangle 9"/>
          <p:cNvSpPr>
            <a:spLocks noChangeArrowheads="1"/>
          </p:cNvSpPr>
          <p:nvPr/>
        </p:nvSpPr>
        <p:spPr bwMode="auto">
          <a:xfrm>
            <a:off x="4860925" y="3182422"/>
            <a:ext cx="363538"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4279" name="Rectangle 10"/>
          <p:cNvSpPr>
            <a:spLocks noChangeArrowheads="1"/>
          </p:cNvSpPr>
          <p:nvPr/>
        </p:nvSpPr>
        <p:spPr bwMode="auto">
          <a:xfrm>
            <a:off x="5994400" y="3203853"/>
            <a:ext cx="363538"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4280" name="Rectangle 11"/>
          <p:cNvSpPr>
            <a:spLocks noChangeArrowheads="1"/>
          </p:cNvSpPr>
          <p:nvPr/>
        </p:nvSpPr>
        <p:spPr bwMode="auto">
          <a:xfrm>
            <a:off x="6980241" y="3191153"/>
            <a:ext cx="363537"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4281" name="Rectangle 12"/>
          <p:cNvSpPr>
            <a:spLocks noChangeArrowheads="1"/>
          </p:cNvSpPr>
          <p:nvPr/>
        </p:nvSpPr>
        <p:spPr bwMode="auto">
          <a:xfrm>
            <a:off x="7969250" y="3160197"/>
            <a:ext cx="363538"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4282" name="Rectangle 13"/>
          <p:cNvSpPr>
            <a:spLocks noChangeArrowheads="1"/>
          </p:cNvSpPr>
          <p:nvPr/>
        </p:nvSpPr>
        <p:spPr bwMode="auto">
          <a:xfrm>
            <a:off x="8953500" y="3204647"/>
            <a:ext cx="363538"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4283" name="Rectangle 14"/>
          <p:cNvSpPr>
            <a:spLocks noChangeArrowheads="1"/>
          </p:cNvSpPr>
          <p:nvPr/>
        </p:nvSpPr>
        <p:spPr bwMode="auto">
          <a:xfrm>
            <a:off x="9899650" y="3203853"/>
            <a:ext cx="363538"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4284" name="Line 15"/>
          <p:cNvSpPr>
            <a:spLocks noChangeShapeType="1"/>
          </p:cNvSpPr>
          <p:nvPr/>
        </p:nvSpPr>
        <p:spPr bwMode="auto">
          <a:xfrm>
            <a:off x="5037138" y="5327653"/>
            <a:ext cx="260350" cy="492125"/>
          </a:xfrm>
          <a:prstGeom prst="line">
            <a:avLst/>
          </a:prstGeom>
          <a:noFill/>
          <a:ln w="9525">
            <a:solidFill>
              <a:srgbClr val="FF3300"/>
            </a:solidFill>
            <a:round/>
            <a:headEnd/>
            <a:tailEnd type="triangle" w="med" len="med"/>
          </a:ln>
        </p:spPr>
        <p:txBody>
          <a:bodyPr>
            <a:spAutoFit/>
          </a:bodyPr>
          <a:lstStyle/>
          <a:p>
            <a:endParaRPr lang="nl-NL"/>
          </a:p>
        </p:txBody>
      </p:sp>
      <p:sp>
        <p:nvSpPr>
          <p:cNvPr id="54285" name="Line 16"/>
          <p:cNvSpPr>
            <a:spLocks noChangeShapeType="1"/>
          </p:cNvSpPr>
          <p:nvPr/>
        </p:nvSpPr>
        <p:spPr bwMode="auto">
          <a:xfrm flipH="1">
            <a:off x="5849941" y="5341941"/>
            <a:ext cx="376237" cy="434975"/>
          </a:xfrm>
          <a:prstGeom prst="line">
            <a:avLst/>
          </a:prstGeom>
          <a:noFill/>
          <a:ln w="9525">
            <a:solidFill>
              <a:srgbClr val="FF3300"/>
            </a:solidFill>
            <a:round/>
            <a:headEnd/>
            <a:tailEnd type="triangle" w="med" len="med"/>
          </a:ln>
        </p:spPr>
        <p:txBody>
          <a:bodyPr>
            <a:spAutoFit/>
          </a:bodyPr>
          <a:lstStyle/>
          <a:p>
            <a:endParaRPr lang="nl-NL"/>
          </a:p>
        </p:txBody>
      </p:sp>
      <p:sp>
        <p:nvSpPr>
          <p:cNvPr id="54286" name="Line 17"/>
          <p:cNvSpPr>
            <a:spLocks noChangeShapeType="1"/>
          </p:cNvSpPr>
          <p:nvPr/>
        </p:nvSpPr>
        <p:spPr bwMode="auto">
          <a:xfrm flipH="1">
            <a:off x="6473828" y="5384803"/>
            <a:ext cx="638175" cy="377825"/>
          </a:xfrm>
          <a:prstGeom prst="line">
            <a:avLst/>
          </a:prstGeom>
          <a:noFill/>
          <a:ln w="9525">
            <a:solidFill>
              <a:srgbClr val="FF3300"/>
            </a:solidFill>
            <a:round/>
            <a:headEnd/>
            <a:tailEnd type="triangle" w="med" len="med"/>
          </a:ln>
        </p:spPr>
        <p:txBody>
          <a:bodyPr>
            <a:spAutoFit/>
          </a:bodyPr>
          <a:lstStyle/>
          <a:p>
            <a:endParaRPr lang="nl-NL"/>
          </a:p>
        </p:txBody>
      </p:sp>
      <p:sp>
        <p:nvSpPr>
          <p:cNvPr id="54287" name="Line 18"/>
          <p:cNvSpPr>
            <a:spLocks noChangeShapeType="1"/>
          </p:cNvSpPr>
          <p:nvPr/>
        </p:nvSpPr>
        <p:spPr bwMode="auto">
          <a:xfrm flipH="1">
            <a:off x="6951666" y="5327653"/>
            <a:ext cx="1176337" cy="404813"/>
          </a:xfrm>
          <a:prstGeom prst="line">
            <a:avLst/>
          </a:prstGeom>
          <a:noFill/>
          <a:ln w="9525">
            <a:solidFill>
              <a:srgbClr val="FF3300"/>
            </a:solidFill>
            <a:round/>
            <a:headEnd/>
            <a:tailEnd type="triangle" w="med" len="med"/>
          </a:ln>
        </p:spPr>
        <p:txBody>
          <a:bodyPr>
            <a:spAutoFit/>
          </a:bodyPr>
          <a:lstStyle/>
          <a:p>
            <a:endParaRPr lang="nl-NL"/>
          </a:p>
        </p:txBody>
      </p:sp>
      <p:sp>
        <p:nvSpPr>
          <p:cNvPr id="54288" name="Line 19"/>
          <p:cNvSpPr>
            <a:spLocks noChangeShapeType="1"/>
          </p:cNvSpPr>
          <p:nvPr/>
        </p:nvSpPr>
        <p:spPr bwMode="auto">
          <a:xfrm flipH="1">
            <a:off x="7504113" y="5356225"/>
            <a:ext cx="1581150" cy="406400"/>
          </a:xfrm>
          <a:prstGeom prst="line">
            <a:avLst/>
          </a:prstGeom>
          <a:noFill/>
          <a:ln w="9525">
            <a:solidFill>
              <a:srgbClr val="FF3300"/>
            </a:solidFill>
            <a:round/>
            <a:headEnd/>
            <a:tailEnd type="triangle" w="med" len="med"/>
          </a:ln>
        </p:spPr>
        <p:txBody>
          <a:bodyPr>
            <a:spAutoFit/>
          </a:bodyPr>
          <a:lstStyle/>
          <a:p>
            <a:endParaRPr lang="nl-NL"/>
          </a:p>
        </p:txBody>
      </p:sp>
      <p:sp>
        <p:nvSpPr>
          <p:cNvPr id="54289" name="Line 20"/>
          <p:cNvSpPr>
            <a:spLocks noChangeShapeType="1"/>
          </p:cNvSpPr>
          <p:nvPr/>
        </p:nvSpPr>
        <p:spPr bwMode="auto">
          <a:xfrm flipH="1">
            <a:off x="7837491" y="5384803"/>
            <a:ext cx="2192337" cy="434975"/>
          </a:xfrm>
          <a:prstGeom prst="line">
            <a:avLst/>
          </a:prstGeom>
          <a:noFill/>
          <a:ln w="9525">
            <a:solidFill>
              <a:srgbClr val="FF3300"/>
            </a:solidFill>
            <a:round/>
            <a:headEnd/>
            <a:tailEnd type="triangle" w="med" len="med"/>
          </a:ln>
        </p:spPr>
        <p:txBody>
          <a:bodyPr>
            <a:spAutoFit/>
          </a:bodyPr>
          <a:lstStyle/>
          <a:p>
            <a:endParaRPr lang="nl-NL"/>
          </a:p>
        </p:txBody>
      </p:sp>
      <p:sp>
        <p:nvSpPr>
          <p:cNvPr id="54290" name="Text Box 22"/>
          <p:cNvSpPr txBox="1">
            <a:spLocks noChangeArrowheads="1"/>
          </p:cNvSpPr>
          <p:nvPr/>
        </p:nvSpPr>
        <p:spPr bwMode="auto">
          <a:xfrm>
            <a:off x="1909764" y="1123951"/>
            <a:ext cx="1489190" cy="369332"/>
          </a:xfrm>
          <a:prstGeom prst="rect">
            <a:avLst/>
          </a:prstGeom>
          <a:solidFill>
            <a:srgbClr val="FFFF00"/>
          </a:solidFill>
          <a:ln w="9525" algn="ctr">
            <a:noFill/>
            <a:miter lim="800000"/>
            <a:headEnd/>
            <a:tailEnd/>
          </a:ln>
        </p:spPr>
        <p:txBody>
          <a:bodyPr wrap="none">
            <a:spAutoFit/>
          </a:bodyPr>
          <a:lstStyle/>
          <a:p>
            <a:r>
              <a:rPr lang="en-GB"/>
              <a:t>Light Aircraft</a:t>
            </a:r>
          </a:p>
        </p:txBody>
      </p:sp>
    </p:spTree>
    <p:extLst>
      <p:ext uri="{BB962C8B-B14F-4D97-AF65-F5344CB8AC3E}">
        <p14:creationId xmlns:p14="http://schemas.microsoft.com/office/powerpoint/2010/main" val="8801188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5298" name="Picture 18"/>
          <p:cNvPicPr>
            <a:picLocks noChangeAspect="1" noChangeArrowheads="1"/>
          </p:cNvPicPr>
          <p:nvPr/>
        </p:nvPicPr>
        <p:blipFill>
          <a:blip r:embed="rId3" cstate="print"/>
          <a:srcRect/>
          <a:stretch>
            <a:fillRect/>
          </a:stretch>
        </p:blipFill>
        <p:spPr bwMode="auto">
          <a:xfrm>
            <a:off x="1771653" y="820741"/>
            <a:ext cx="8709025" cy="4910137"/>
          </a:xfrm>
          <a:prstGeom prst="rect">
            <a:avLst/>
          </a:prstGeom>
          <a:noFill/>
          <a:ln w="9525" algn="ctr">
            <a:noFill/>
            <a:miter lim="800000"/>
            <a:headEnd/>
            <a:tailEnd/>
          </a:ln>
        </p:spPr>
      </p:pic>
      <p:sp>
        <p:nvSpPr>
          <p:cNvPr id="55299" name="Text Box 2"/>
          <p:cNvSpPr txBox="1">
            <a:spLocks noChangeArrowheads="1"/>
          </p:cNvSpPr>
          <p:nvPr/>
        </p:nvSpPr>
        <p:spPr bwMode="auto">
          <a:xfrm>
            <a:off x="8402638" y="5811838"/>
            <a:ext cx="2265362" cy="366712"/>
          </a:xfrm>
          <a:prstGeom prst="rect">
            <a:avLst/>
          </a:prstGeom>
          <a:noFill/>
          <a:ln w="9525">
            <a:noFill/>
            <a:miter lim="800000"/>
            <a:headEnd/>
            <a:tailEnd/>
          </a:ln>
        </p:spPr>
        <p:txBody>
          <a:bodyPr>
            <a:spAutoFit/>
          </a:bodyPr>
          <a:lstStyle/>
          <a:p>
            <a:pPr>
              <a:spcBef>
                <a:spcPct val="50000"/>
              </a:spcBef>
              <a:buClrTx/>
            </a:pPr>
            <a:r>
              <a:rPr lang="en-US"/>
              <a:t>Source Torenbeek</a:t>
            </a:r>
          </a:p>
        </p:txBody>
      </p:sp>
      <p:sp>
        <p:nvSpPr>
          <p:cNvPr id="55300" name="Rectangle 3"/>
          <p:cNvSpPr>
            <a:spLocks noChangeArrowheads="1"/>
          </p:cNvSpPr>
          <p:nvPr/>
        </p:nvSpPr>
        <p:spPr bwMode="auto">
          <a:xfrm>
            <a:off x="2220913" y="341313"/>
            <a:ext cx="7866062" cy="457200"/>
          </a:xfrm>
          <a:prstGeom prst="rect">
            <a:avLst/>
          </a:prstGeom>
          <a:noFill/>
          <a:ln w="9525" algn="ctr">
            <a:noFill/>
            <a:miter lim="800000"/>
            <a:headEnd/>
            <a:tailEnd/>
          </a:ln>
        </p:spPr>
        <p:txBody>
          <a:bodyPr wrap="none">
            <a:spAutoFit/>
          </a:bodyPr>
          <a:lstStyle/>
          <a:p>
            <a:pPr>
              <a:spcBef>
                <a:spcPct val="0"/>
              </a:spcBef>
              <a:buClrTx/>
            </a:pPr>
            <a:r>
              <a:rPr lang="en-US" sz="2400" b="1">
                <a:solidFill>
                  <a:srgbClr val="00A4DE"/>
                </a:solidFill>
              </a:rPr>
              <a:t>Some reference data to compare with your results</a:t>
            </a:r>
          </a:p>
        </p:txBody>
      </p:sp>
      <p:sp>
        <p:nvSpPr>
          <p:cNvPr id="55301" name="Text Box 5"/>
          <p:cNvSpPr txBox="1">
            <a:spLocks noChangeArrowheads="1"/>
          </p:cNvSpPr>
          <p:nvPr/>
        </p:nvSpPr>
        <p:spPr bwMode="auto">
          <a:xfrm>
            <a:off x="1870075" y="5842000"/>
            <a:ext cx="6383338" cy="923330"/>
          </a:xfrm>
          <a:prstGeom prst="rect">
            <a:avLst/>
          </a:prstGeom>
          <a:solidFill>
            <a:srgbClr val="FFFF00"/>
          </a:solidFill>
          <a:ln w="9525" algn="ctr">
            <a:solidFill>
              <a:schemeClr val="tx1"/>
            </a:solidFill>
            <a:miter lim="800000"/>
            <a:headEnd/>
            <a:tailEnd/>
          </a:ln>
        </p:spPr>
        <p:txBody>
          <a:bodyPr>
            <a:spAutoFit/>
          </a:bodyPr>
          <a:lstStyle/>
          <a:p>
            <a:r>
              <a:rPr lang="en-GB"/>
              <a:t>Have a look at the typical MTOW fractions of the various component groups. Whatever you did design, you should not be far from there</a:t>
            </a:r>
          </a:p>
        </p:txBody>
      </p:sp>
      <p:sp>
        <p:nvSpPr>
          <p:cNvPr id="55302" name="Rectangle 6"/>
          <p:cNvSpPr>
            <a:spLocks noChangeArrowheads="1"/>
          </p:cNvSpPr>
          <p:nvPr/>
        </p:nvSpPr>
        <p:spPr bwMode="auto">
          <a:xfrm>
            <a:off x="5238750" y="3182422"/>
            <a:ext cx="363538"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5303" name="Rectangle 7"/>
          <p:cNvSpPr>
            <a:spLocks noChangeArrowheads="1"/>
          </p:cNvSpPr>
          <p:nvPr/>
        </p:nvSpPr>
        <p:spPr bwMode="auto">
          <a:xfrm>
            <a:off x="6167441" y="3160197"/>
            <a:ext cx="363537"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5304" name="Rectangle 8"/>
          <p:cNvSpPr>
            <a:spLocks noChangeArrowheads="1"/>
          </p:cNvSpPr>
          <p:nvPr/>
        </p:nvSpPr>
        <p:spPr bwMode="auto">
          <a:xfrm>
            <a:off x="7124700" y="3204647"/>
            <a:ext cx="363538"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5305" name="Rectangle 9"/>
          <p:cNvSpPr>
            <a:spLocks noChangeArrowheads="1"/>
          </p:cNvSpPr>
          <p:nvPr/>
        </p:nvSpPr>
        <p:spPr bwMode="auto">
          <a:xfrm>
            <a:off x="8085141" y="3160991"/>
            <a:ext cx="363537"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5306" name="Rectangle 10"/>
          <p:cNvSpPr>
            <a:spLocks noChangeArrowheads="1"/>
          </p:cNvSpPr>
          <p:nvPr/>
        </p:nvSpPr>
        <p:spPr bwMode="auto">
          <a:xfrm>
            <a:off x="8924925" y="3167341"/>
            <a:ext cx="363538"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5307" name="Rectangle 11"/>
          <p:cNvSpPr>
            <a:spLocks noChangeArrowheads="1"/>
          </p:cNvSpPr>
          <p:nvPr/>
        </p:nvSpPr>
        <p:spPr bwMode="auto">
          <a:xfrm>
            <a:off x="9853616" y="3189566"/>
            <a:ext cx="363537"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5308" name="Line 12"/>
          <p:cNvSpPr>
            <a:spLocks noChangeShapeType="1"/>
          </p:cNvSpPr>
          <p:nvPr/>
        </p:nvSpPr>
        <p:spPr bwMode="auto">
          <a:xfrm flipH="1">
            <a:off x="5297491" y="5297491"/>
            <a:ext cx="115887" cy="522287"/>
          </a:xfrm>
          <a:prstGeom prst="line">
            <a:avLst/>
          </a:prstGeom>
          <a:noFill/>
          <a:ln w="9525">
            <a:solidFill>
              <a:srgbClr val="FF3300"/>
            </a:solidFill>
            <a:round/>
            <a:headEnd/>
            <a:tailEnd type="triangle" w="med" len="med"/>
          </a:ln>
        </p:spPr>
        <p:txBody>
          <a:bodyPr>
            <a:spAutoFit/>
          </a:bodyPr>
          <a:lstStyle/>
          <a:p>
            <a:endParaRPr lang="nl-NL"/>
          </a:p>
        </p:txBody>
      </p:sp>
      <p:sp>
        <p:nvSpPr>
          <p:cNvPr id="55309" name="Line 13"/>
          <p:cNvSpPr>
            <a:spLocks noChangeShapeType="1"/>
          </p:cNvSpPr>
          <p:nvPr/>
        </p:nvSpPr>
        <p:spPr bwMode="auto">
          <a:xfrm flipH="1">
            <a:off x="5849941" y="5224463"/>
            <a:ext cx="492125" cy="552450"/>
          </a:xfrm>
          <a:prstGeom prst="line">
            <a:avLst/>
          </a:prstGeom>
          <a:noFill/>
          <a:ln w="9525">
            <a:solidFill>
              <a:srgbClr val="FF3300"/>
            </a:solidFill>
            <a:round/>
            <a:headEnd/>
            <a:tailEnd type="triangle" w="med" len="med"/>
          </a:ln>
        </p:spPr>
        <p:txBody>
          <a:bodyPr>
            <a:spAutoFit/>
          </a:bodyPr>
          <a:lstStyle/>
          <a:p>
            <a:endParaRPr lang="nl-NL"/>
          </a:p>
        </p:txBody>
      </p:sp>
      <p:sp>
        <p:nvSpPr>
          <p:cNvPr id="55310" name="Line 14"/>
          <p:cNvSpPr>
            <a:spLocks noChangeShapeType="1"/>
          </p:cNvSpPr>
          <p:nvPr/>
        </p:nvSpPr>
        <p:spPr bwMode="auto">
          <a:xfrm flipH="1">
            <a:off x="6473825" y="5297491"/>
            <a:ext cx="725488" cy="465137"/>
          </a:xfrm>
          <a:prstGeom prst="line">
            <a:avLst/>
          </a:prstGeom>
          <a:noFill/>
          <a:ln w="9525">
            <a:solidFill>
              <a:srgbClr val="FF3300"/>
            </a:solidFill>
            <a:round/>
            <a:headEnd/>
            <a:tailEnd type="triangle" w="med" len="med"/>
          </a:ln>
        </p:spPr>
        <p:txBody>
          <a:bodyPr>
            <a:spAutoFit/>
          </a:bodyPr>
          <a:lstStyle/>
          <a:p>
            <a:endParaRPr lang="nl-NL"/>
          </a:p>
        </p:txBody>
      </p:sp>
      <p:sp>
        <p:nvSpPr>
          <p:cNvPr id="55311" name="Line 15"/>
          <p:cNvSpPr>
            <a:spLocks noChangeShapeType="1"/>
          </p:cNvSpPr>
          <p:nvPr/>
        </p:nvSpPr>
        <p:spPr bwMode="auto">
          <a:xfrm flipH="1">
            <a:off x="6951666" y="5268913"/>
            <a:ext cx="1220787" cy="463550"/>
          </a:xfrm>
          <a:prstGeom prst="line">
            <a:avLst/>
          </a:prstGeom>
          <a:noFill/>
          <a:ln w="9525">
            <a:solidFill>
              <a:srgbClr val="FF3300"/>
            </a:solidFill>
            <a:round/>
            <a:headEnd/>
            <a:tailEnd type="triangle" w="med" len="med"/>
          </a:ln>
        </p:spPr>
        <p:txBody>
          <a:bodyPr>
            <a:spAutoFit/>
          </a:bodyPr>
          <a:lstStyle/>
          <a:p>
            <a:endParaRPr lang="nl-NL"/>
          </a:p>
        </p:txBody>
      </p:sp>
      <p:sp>
        <p:nvSpPr>
          <p:cNvPr id="55312" name="Line 16"/>
          <p:cNvSpPr>
            <a:spLocks noChangeShapeType="1"/>
          </p:cNvSpPr>
          <p:nvPr/>
        </p:nvSpPr>
        <p:spPr bwMode="auto">
          <a:xfrm flipH="1">
            <a:off x="7504113" y="5253041"/>
            <a:ext cx="1524000" cy="509587"/>
          </a:xfrm>
          <a:prstGeom prst="line">
            <a:avLst/>
          </a:prstGeom>
          <a:noFill/>
          <a:ln w="9525">
            <a:solidFill>
              <a:srgbClr val="FF3300"/>
            </a:solidFill>
            <a:round/>
            <a:headEnd/>
            <a:tailEnd type="triangle" w="med" len="med"/>
          </a:ln>
        </p:spPr>
        <p:txBody>
          <a:bodyPr>
            <a:spAutoFit/>
          </a:bodyPr>
          <a:lstStyle/>
          <a:p>
            <a:endParaRPr lang="nl-NL"/>
          </a:p>
        </p:txBody>
      </p:sp>
      <p:sp>
        <p:nvSpPr>
          <p:cNvPr id="55313" name="Line 17"/>
          <p:cNvSpPr>
            <a:spLocks noChangeShapeType="1"/>
          </p:cNvSpPr>
          <p:nvPr/>
        </p:nvSpPr>
        <p:spPr bwMode="auto">
          <a:xfrm flipH="1">
            <a:off x="7837491" y="5370513"/>
            <a:ext cx="2003425" cy="449262"/>
          </a:xfrm>
          <a:prstGeom prst="line">
            <a:avLst/>
          </a:prstGeom>
          <a:noFill/>
          <a:ln w="9525">
            <a:solidFill>
              <a:srgbClr val="FF3300"/>
            </a:solidFill>
            <a:round/>
            <a:headEnd/>
            <a:tailEnd type="triangle" w="med" len="med"/>
          </a:ln>
        </p:spPr>
        <p:txBody>
          <a:bodyPr>
            <a:spAutoFit/>
          </a:bodyPr>
          <a:lstStyle/>
          <a:p>
            <a:endParaRPr lang="nl-NL"/>
          </a:p>
        </p:txBody>
      </p:sp>
      <p:sp>
        <p:nvSpPr>
          <p:cNvPr id="55314" name="Text Box 19"/>
          <p:cNvSpPr txBox="1">
            <a:spLocks noChangeArrowheads="1"/>
          </p:cNvSpPr>
          <p:nvPr/>
        </p:nvSpPr>
        <p:spPr bwMode="auto">
          <a:xfrm>
            <a:off x="2127251" y="1123951"/>
            <a:ext cx="1883080" cy="369332"/>
          </a:xfrm>
          <a:prstGeom prst="rect">
            <a:avLst/>
          </a:prstGeom>
          <a:solidFill>
            <a:srgbClr val="FFFF00"/>
          </a:solidFill>
          <a:ln w="9525" algn="ctr">
            <a:noFill/>
            <a:miter lim="800000"/>
            <a:headEnd/>
            <a:tailEnd/>
          </a:ln>
        </p:spPr>
        <p:txBody>
          <a:bodyPr wrap="none">
            <a:spAutoFit/>
          </a:bodyPr>
          <a:lstStyle/>
          <a:p>
            <a:r>
              <a:rPr lang="en-GB"/>
              <a:t>Propeller Aircraft</a:t>
            </a:r>
          </a:p>
        </p:txBody>
      </p:sp>
    </p:spTree>
    <p:extLst>
      <p:ext uri="{BB962C8B-B14F-4D97-AF65-F5344CB8AC3E}">
        <p14:creationId xmlns:p14="http://schemas.microsoft.com/office/powerpoint/2010/main" val="21869544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18"/>
          <p:cNvPicPr>
            <a:picLocks noChangeAspect="1" noChangeArrowheads="1"/>
          </p:cNvPicPr>
          <p:nvPr/>
        </p:nvPicPr>
        <p:blipFill>
          <a:blip r:embed="rId3" cstate="print"/>
          <a:srcRect/>
          <a:stretch>
            <a:fillRect/>
          </a:stretch>
        </p:blipFill>
        <p:spPr bwMode="auto">
          <a:xfrm>
            <a:off x="1895478" y="808038"/>
            <a:ext cx="8467725" cy="5086350"/>
          </a:xfrm>
          <a:prstGeom prst="rect">
            <a:avLst/>
          </a:prstGeom>
          <a:noFill/>
          <a:ln w="9525" algn="ctr">
            <a:noFill/>
            <a:miter lim="800000"/>
            <a:headEnd/>
            <a:tailEnd/>
          </a:ln>
        </p:spPr>
      </p:pic>
      <p:sp>
        <p:nvSpPr>
          <p:cNvPr id="56323" name="Text Box 3"/>
          <p:cNvSpPr txBox="1">
            <a:spLocks noChangeArrowheads="1"/>
          </p:cNvSpPr>
          <p:nvPr/>
        </p:nvSpPr>
        <p:spPr bwMode="auto">
          <a:xfrm>
            <a:off x="8402638" y="5811838"/>
            <a:ext cx="2265362" cy="366712"/>
          </a:xfrm>
          <a:prstGeom prst="rect">
            <a:avLst/>
          </a:prstGeom>
          <a:noFill/>
          <a:ln w="9525">
            <a:noFill/>
            <a:miter lim="800000"/>
            <a:headEnd/>
            <a:tailEnd/>
          </a:ln>
        </p:spPr>
        <p:txBody>
          <a:bodyPr>
            <a:spAutoFit/>
          </a:bodyPr>
          <a:lstStyle/>
          <a:p>
            <a:pPr>
              <a:spcBef>
                <a:spcPct val="50000"/>
              </a:spcBef>
              <a:buClrTx/>
            </a:pPr>
            <a:r>
              <a:rPr lang="en-US"/>
              <a:t>Source Torenbeek</a:t>
            </a:r>
          </a:p>
        </p:txBody>
      </p:sp>
      <p:sp>
        <p:nvSpPr>
          <p:cNvPr id="56324" name="Rectangle 4"/>
          <p:cNvSpPr>
            <a:spLocks noChangeArrowheads="1"/>
          </p:cNvSpPr>
          <p:nvPr/>
        </p:nvSpPr>
        <p:spPr bwMode="auto">
          <a:xfrm>
            <a:off x="614685" y="142896"/>
            <a:ext cx="9319567" cy="457200"/>
          </a:xfrm>
          <a:prstGeom prst="rect">
            <a:avLst/>
          </a:prstGeom>
          <a:noFill/>
          <a:ln w="9525" algn="ctr">
            <a:noFill/>
            <a:miter lim="800000"/>
            <a:headEnd/>
            <a:tailEnd/>
          </a:ln>
        </p:spPr>
        <p:txBody>
          <a:bodyPr wrap="square">
            <a:spAutoFit/>
          </a:bodyPr>
          <a:lstStyle/>
          <a:p>
            <a:pPr>
              <a:spcBef>
                <a:spcPct val="0"/>
              </a:spcBef>
              <a:buClrTx/>
            </a:pPr>
            <a:r>
              <a:rPr lang="en-US" sz="2400" dirty="0">
                <a:solidFill>
                  <a:srgbClr val="00A4DE"/>
                </a:solidFill>
              </a:rPr>
              <a:t>Some reference data to compare your results with</a:t>
            </a:r>
          </a:p>
        </p:txBody>
      </p:sp>
      <p:sp>
        <p:nvSpPr>
          <p:cNvPr id="56325" name="Text Box 5"/>
          <p:cNvSpPr txBox="1">
            <a:spLocks noChangeArrowheads="1"/>
          </p:cNvSpPr>
          <p:nvPr/>
        </p:nvSpPr>
        <p:spPr bwMode="auto">
          <a:xfrm>
            <a:off x="1870075" y="5842000"/>
            <a:ext cx="6383338" cy="923330"/>
          </a:xfrm>
          <a:prstGeom prst="rect">
            <a:avLst/>
          </a:prstGeom>
          <a:solidFill>
            <a:srgbClr val="FFFF00"/>
          </a:solidFill>
          <a:ln w="9525" algn="ctr">
            <a:solidFill>
              <a:schemeClr val="tx1"/>
            </a:solidFill>
            <a:miter lim="800000"/>
            <a:headEnd/>
            <a:tailEnd/>
          </a:ln>
        </p:spPr>
        <p:txBody>
          <a:bodyPr>
            <a:spAutoFit/>
          </a:bodyPr>
          <a:lstStyle/>
          <a:p>
            <a:r>
              <a:rPr lang="en-GB"/>
              <a:t>Have a look at the typical MTOW fractions of the various component groups. Whatever you did design, you should not be far from there</a:t>
            </a:r>
          </a:p>
        </p:txBody>
      </p:sp>
      <p:sp>
        <p:nvSpPr>
          <p:cNvPr id="56326" name="Rectangle 6"/>
          <p:cNvSpPr>
            <a:spLocks noChangeArrowheads="1"/>
          </p:cNvSpPr>
          <p:nvPr/>
        </p:nvSpPr>
        <p:spPr bwMode="auto">
          <a:xfrm>
            <a:off x="5092700" y="3305453"/>
            <a:ext cx="363538"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6327" name="Rectangle 7"/>
          <p:cNvSpPr>
            <a:spLocks noChangeArrowheads="1"/>
          </p:cNvSpPr>
          <p:nvPr/>
        </p:nvSpPr>
        <p:spPr bwMode="auto">
          <a:xfrm>
            <a:off x="6037266" y="3305453"/>
            <a:ext cx="363537"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6328" name="Rectangle 8"/>
          <p:cNvSpPr>
            <a:spLocks noChangeArrowheads="1"/>
          </p:cNvSpPr>
          <p:nvPr/>
        </p:nvSpPr>
        <p:spPr bwMode="auto">
          <a:xfrm>
            <a:off x="7065966" y="3322122"/>
            <a:ext cx="363537"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6329" name="Rectangle 9"/>
          <p:cNvSpPr>
            <a:spLocks noChangeArrowheads="1"/>
          </p:cNvSpPr>
          <p:nvPr/>
        </p:nvSpPr>
        <p:spPr bwMode="auto">
          <a:xfrm>
            <a:off x="7969250" y="3349109"/>
            <a:ext cx="363538"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6330" name="Rectangle 10"/>
          <p:cNvSpPr>
            <a:spLocks noChangeArrowheads="1"/>
          </p:cNvSpPr>
          <p:nvPr/>
        </p:nvSpPr>
        <p:spPr bwMode="auto">
          <a:xfrm>
            <a:off x="8894766" y="3225284"/>
            <a:ext cx="363537"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6331" name="Rectangle 11"/>
          <p:cNvSpPr>
            <a:spLocks noChangeArrowheads="1"/>
          </p:cNvSpPr>
          <p:nvPr/>
        </p:nvSpPr>
        <p:spPr bwMode="auto">
          <a:xfrm>
            <a:off x="9794875" y="3326884"/>
            <a:ext cx="363538" cy="369332"/>
          </a:xfrm>
          <a:prstGeom prst="rect">
            <a:avLst/>
          </a:prstGeom>
          <a:noFill/>
          <a:ln w="9525" algn="ctr">
            <a:solidFill>
              <a:srgbClr val="FF3300"/>
            </a:solidFill>
            <a:miter lim="800000"/>
            <a:headEnd/>
            <a:tailEnd/>
          </a:ln>
        </p:spPr>
        <p:txBody>
          <a:bodyPr anchor="ctr">
            <a:spAutoFit/>
          </a:bodyPr>
          <a:lstStyle/>
          <a:p>
            <a:endParaRPr lang="nl-NL"/>
          </a:p>
        </p:txBody>
      </p:sp>
      <p:sp>
        <p:nvSpPr>
          <p:cNvPr id="56332" name="Line 12"/>
          <p:cNvSpPr>
            <a:spLocks noChangeShapeType="1"/>
          </p:cNvSpPr>
          <p:nvPr/>
        </p:nvSpPr>
        <p:spPr bwMode="auto">
          <a:xfrm>
            <a:off x="5254628" y="5529263"/>
            <a:ext cx="42863" cy="290512"/>
          </a:xfrm>
          <a:prstGeom prst="line">
            <a:avLst/>
          </a:prstGeom>
          <a:noFill/>
          <a:ln w="9525">
            <a:solidFill>
              <a:srgbClr val="FF3300"/>
            </a:solidFill>
            <a:round/>
            <a:headEnd/>
            <a:tailEnd type="triangle" w="med" len="med"/>
          </a:ln>
        </p:spPr>
        <p:txBody>
          <a:bodyPr>
            <a:spAutoFit/>
          </a:bodyPr>
          <a:lstStyle/>
          <a:p>
            <a:endParaRPr lang="nl-NL"/>
          </a:p>
        </p:txBody>
      </p:sp>
      <p:sp>
        <p:nvSpPr>
          <p:cNvPr id="56333" name="Line 13"/>
          <p:cNvSpPr>
            <a:spLocks noChangeShapeType="1"/>
          </p:cNvSpPr>
          <p:nvPr/>
        </p:nvSpPr>
        <p:spPr bwMode="auto">
          <a:xfrm flipH="1">
            <a:off x="5849941" y="5499103"/>
            <a:ext cx="433387" cy="277813"/>
          </a:xfrm>
          <a:prstGeom prst="line">
            <a:avLst/>
          </a:prstGeom>
          <a:noFill/>
          <a:ln w="9525">
            <a:solidFill>
              <a:srgbClr val="FF3300"/>
            </a:solidFill>
            <a:round/>
            <a:headEnd/>
            <a:tailEnd type="triangle" w="med" len="med"/>
          </a:ln>
        </p:spPr>
        <p:txBody>
          <a:bodyPr>
            <a:spAutoFit/>
          </a:bodyPr>
          <a:lstStyle/>
          <a:p>
            <a:endParaRPr lang="nl-NL"/>
          </a:p>
        </p:txBody>
      </p:sp>
      <p:sp>
        <p:nvSpPr>
          <p:cNvPr id="56334" name="Line 14"/>
          <p:cNvSpPr>
            <a:spLocks noChangeShapeType="1"/>
          </p:cNvSpPr>
          <p:nvPr/>
        </p:nvSpPr>
        <p:spPr bwMode="auto">
          <a:xfrm flipH="1">
            <a:off x="6473825" y="5530853"/>
            <a:ext cx="768350" cy="231775"/>
          </a:xfrm>
          <a:prstGeom prst="line">
            <a:avLst/>
          </a:prstGeom>
          <a:noFill/>
          <a:ln w="9525">
            <a:solidFill>
              <a:srgbClr val="FF3300"/>
            </a:solidFill>
            <a:round/>
            <a:headEnd/>
            <a:tailEnd type="triangle" w="med" len="med"/>
          </a:ln>
        </p:spPr>
        <p:txBody>
          <a:bodyPr>
            <a:spAutoFit/>
          </a:bodyPr>
          <a:lstStyle/>
          <a:p>
            <a:endParaRPr lang="nl-NL"/>
          </a:p>
        </p:txBody>
      </p:sp>
      <p:sp>
        <p:nvSpPr>
          <p:cNvPr id="56335" name="Line 15"/>
          <p:cNvSpPr>
            <a:spLocks noChangeShapeType="1"/>
          </p:cNvSpPr>
          <p:nvPr/>
        </p:nvSpPr>
        <p:spPr bwMode="auto">
          <a:xfrm flipH="1">
            <a:off x="6951663" y="5559425"/>
            <a:ext cx="1162050" cy="173038"/>
          </a:xfrm>
          <a:prstGeom prst="line">
            <a:avLst/>
          </a:prstGeom>
          <a:noFill/>
          <a:ln w="9525">
            <a:solidFill>
              <a:srgbClr val="FF3300"/>
            </a:solidFill>
            <a:round/>
            <a:headEnd/>
            <a:tailEnd type="triangle" w="med" len="med"/>
          </a:ln>
        </p:spPr>
        <p:txBody>
          <a:bodyPr>
            <a:spAutoFit/>
          </a:bodyPr>
          <a:lstStyle/>
          <a:p>
            <a:endParaRPr lang="nl-NL"/>
          </a:p>
        </p:txBody>
      </p:sp>
      <p:sp>
        <p:nvSpPr>
          <p:cNvPr id="56336" name="Line 16"/>
          <p:cNvSpPr>
            <a:spLocks noChangeShapeType="1"/>
          </p:cNvSpPr>
          <p:nvPr/>
        </p:nvSpPr>
        <p:spPr bwMode="auto">
          <a:xfrm flipH="1">
            <a:off x="7504113" y="5295903"/>
            <a:ext cx="1625600" cy="466725"/>
          </a:xfrm>
          <a:prstGeom prst="line">
            <a:avLst/>
          </a:prstGeom>
          <a:noFill/>
          <a:ln w="9525">
            <a:solidFill>
              <a:srgbClr val="FF3300"/>
            </a:solidFill>
            <a:round/>
            <a:headEnd/>
            <a:tailEnd type="triangle" w="med" len="med"/>
          </a:ln>
        </p:spPr>
        <p:txBody>
          <a:bodyPr>
            <a:spAutoFit/>
          </a:bodyPr>
          <a:lstStyle/>
          <a:p>
            <a:endParaRPr lang="nl-NL"/>
          </a:p>
        </p:txBody>
      </p:sp>
      <p:sp>
        <p:nvSpPr>
          <p:cNvPr id="56337" name="Line 17"/>
          <p:cNvSpPr>
            <a:spLocks noChangeShapeType="1"/>
          </p:cNvSpPr>
          <p:nvPr/>
        </p:nvSpPr>
        <p:spPr bwMode="auto">
          <a:xfrm flipH="1">
            <a:off x="7837488" y="5559425"/>
            <a:ext cx="2133600" cy="260350"/>
          </a:xfrm>
          <a:prstGeom prst="line">
            <a:avLst/>
          </a:prstGeom>
          <a:noFill/>
          <a:ln w="9525">
            <a:solidFill>
              <a:srgbClr val="FF3300"/>
            </a:solidFill>
            <a:round/>
            <a:headEnd/>
            <a:tailEnd type="triangle" w="med" len="med"/>
          </a:ln>
        </p:spPr>
        <p:txBody>
          <a:bodyPr>
            <a:spAutoFit/>
          </a:bodyPr>
          <a:lstStyle/>
          <a:p>
            <a:endParaRPr lang="nl-NL"/>
          </a:p>
        </p:txBody>
      </p:sp>
      <p:sp>
        <p:nvSpPr>
          <p:cNvPr id="56338" name="Text Box 19"/>
          <p:cNvSpPr txBox="1">
            <a:spLocks noChangeArrowheads="1"/>
          </p:cNvSpPr>
          <p:nvPr/>
        </p:nvSpPr>
        <p:spPr bwMode="auto">
          <a:xfrm>
            <a:off x="2112964" y="979489"/>
            <a:ext cx="1474314" cy="369332"/>
          </a:xfrm>
          <a:prstGeom prst="rect">
            <a:avLst/>
          </a:prstGeom>
          <a:solidFill>
            <a:srgbClr val="FFFF00"/>
          </a:solidFill>
          <a:ln w="9525" algn="ctr">
            <a:noFill/>
            <a:miter lim="800000"/>
            <a:headEnd/>
            <a:tailEnd/>
          </a:ln>
        </p:spPr>
        <p:txBody>
          <a:bodyPr wrap="none">
            <a:spAutoFit/>
          </a:bodyPr>
          <a:lstStyle/>
          <a:p>
            <a:r>
              <a:rPr lang="en-GB" dirty="0"/>
              <a:t>Jet transport</a:t>
            </a:r>
          </a:p>
        </p:txBody>
      </p:sp>
    </p:spTree>
    <p:extLst>
      <p:ext uri="{BB962C8B-B14F-4D97-AF65-F5344CB8AC3E}">
        <p14:creationId xmlns:p14="http://schemas.microsoft.com/office/powerpoint/2010/main" val="39465892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3"/>
          <p:cNvSpPr txBox="1">
            <a:spLocks noChangeArrowheads="1"/>
          </p:cNvSpPr>
          <p:nvPr/>
        </p:nvSpPr>
        <p:spPr bwMode="auto">
          <a:xfrm>
            <a:off x="911424" y="959876"/>
            <a:ext cx="106571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Tahoma" pitchFamily="34" charset="0"/>
                <a:cs typeface="Arial" charset="0"/>
              </a:defRPr>
            </a:lvl1pPr>
            <a:lvl2pPr marL="742950" indent="-285750" eaLnBrk="0" hangingPunct="0">
              <a:defRPr>
                <a:solidFill>
                  <a:schemeClr val="tx1"/>
                </a:solidFill>
                <a:latin typeface="Tahoma" pitchFamily="34" charset="0"/>
                <a:cs typeface="Arial" charset="0"/>
              </a:defRPr>
            </a:lvl2pPr>
            <a:lvl3pPr marL="1143000" indent="-228600" eaLnBrk="0" hangingPunct="0">
              <a:defRPr>
                <a:solidFill>
                  <a:schemeClr val="tx1"/>
                </a:solidFill>
                <a:latin typeface="Tahoma" pitchFamily="34" charset="0"/>
                <a:cs typeface="Arial" charset="0"/>
              </a:defRPr>
            </a:lvl3pPr>
            <a:lvl4pPr marL="1600200" indent="-228600" eaLnBrk="0" hangingPunct="0">
              <a:defRPr>
                <a:solidFill>
                  <a:schemeClr val="tx1"/>
                </a:solidFill>
                <a:latin typeface="Tahoma" pitchFamily="34" charset="0"/>
                <a:cs typeface="Arial" charset="0"/>
              </a:defRPr>
            </a:lvl4pPr>
            <a:lvl5pPr marL="2057400" indent="-228600" eaLnBrk="0" hangingPunct="0">
              <a:defRPr>
                <a:solidFill>
                  <a:schemeClr val="tx1"/>
                </a:solidFill>
                <a:latin typeface="Tahoma" pitchFamily="34" charset="0"/>
                <a:cs typeface="Arial" charset="0"/>
              </a:defRPr>
            </a:lvl5pPr>
            <a:lvl6pPr marL="2514600" indent="-228600" eaLnBrk="0" fontAlgn="base" hangingPunct="0">
              <a:spcBef>
                <a:spcPct val="0"/>
              </a:spcBef>
              <a:spcAft>
                <a:spcPct val="0"/>
              </a:spcAft>
              <a:defRPr>
                <a:solidFill>
                  <a:schemeClr val="tx1"/>
                </a:solidFill>
                <a:latin typeface="Tahoma" pitchFamily="34" charset="0"/>
                <a:cs typeface="Arial" charset="0"/>
              </a:defRPr>
            </a:lvl6pPr>
            <a:lvl7pPr marL="2971800" indent="-228600" eaLnBrk="0" fontAlgn="base" hangingPunct="0">
              <a:spcBef>
                <a:spcPct val="0"/>
              </a:spcBef>
              <a:spcAft>
                <a:spcPct val="0"/>
              </a:spcAft>
              <a:defRPr>
                <a:solidFill>
                  <a:schemeClr val="tx1"/>
                </a:solidFill>
                <a:latin typeface="Tahoma" pitchFamily="34" charset="0"/>
                <a:cs typeface="Arial" charset="0"/>
              </a:defRPr>
            </a:lvl7pPr>
            <a:lvl8pPr marL="3429000" indent="-228600" eaLnBrk="0" fontAlgn="base" hangingPunct="0">
              <a:spcBef>
                <a:spcPct val="0"/>
              </a:spcBef>
              <a:spcAft>
                <a:spcPct val="0"/>
              </a:spcAft>
              <a:defRPr>
                <a:solidFill>
                  <a:schemeClr val="tx1"/>
                </a:solidFill>
                <a:latin typeface="Tahoma" pitchFamily="34" charset="0"/>
                <a:cs typeface="Arial" charset="0"/>
              </a:defRPr>
            </a:lvl8pPr>
            <a:lvl9pPr marL="3886200" indent="-228600" eaLnBrk="0" fontAlgn="base" hangingPunct="0">
              <a:spcBef>
                <a:spcPct val="0"/>
              </a:spcBef>
              <a:spcAft>
                <a:spcPct val="0"/>
              </a:spcAft>
              <a:defRPr>
                <a:solidFill>
                  <a:schemeClr val="tx1"/>
                </a:solidFill>
                <a:latin typeface="Tahoma" pitchFamily="34" charset="0"/>
                <a:cs typeface="Arial" charset="0"/>
              </a:defRPr>
            </a:lvl9pPr>
          </a:lstStyle>
          <a:p>
            <a:pPr eaLnBrk="1" hangingPunct="1"/>
            <a:r>
              <a:rPr lang="en-GB" sz="1600" dirty="0"/>
              <a:t>To compute the </a:t>
            </a:r>
            <a:r>
              <a:rPr lang="en-GB" sz="1600" dirty="0" err="1">
                <a:solidFill>
                  <a:srgbClr val="FF3300"/>
                </a:solidFill>
              </a:rPr>
              <a:t>c.g.</a:t>
            </a:r>
            <a:r>
              <a:rPr lang="en-GB" sz="1600" dirty="0">
                <a:solidFill>
                  <a:srgbClr val="FF3300"/>
                </a:solidFill>
              </a:rPr>
              <a:t> position of the operative empty aircraft, </a:t>
            </a:r>
            <a:r>
              <a:rPr lang="en-GB" sz="1600" dirty="0"/>
              <a:t>it is necessary to know the </a:t>
            </a:r>
            <a:r>
              <a:rPr lang="en-GB" sz="1600" dirty="0">
                <a:solidFill>
                  <a:srgbClr val="FF3300"/>
                </a:solidFill>
              </a:rPr>
              <a:t>location of all the weight components with respect to the aircraft reference system</a:t>
            </a:r>
            <a:r>
              <a:rPr lang="en-GB" sz="1600" dirty="0"/>
              <a:t>.</a:t>
            </a:r>
          </a:p>
        </p:txBody>
      </p:sp>
      <p:pic>
        <p:nvPicPr>
          <p:cNvPr id="534532" name="Picture 4"/>
          <p:cNvPicPr>
            <a:picLocks noChangeAspect="1" noChangeArrowheads="1"/>
          </p:cNvPicPr>
          <p:nvPr/>
        </p:nvPicPr>
        <p:blipFill>
          <a:blip r:embed="rId3"/>
          <a:srcRect t="8064" r="6534" b="19980"/>
          <a:stretch>
            <a:fillRect/>
          </a:stretch>
        </p:blipFill>
        <p:spPr bwMode="auto">
          <a:xfrm>
            <a:off x="2279579" y="1835153"/>
            <a:ext cx="6264275" cy="3641725"/>
          </a:xfrm>
          <a:prstGeom prst="rect">
            <a:avLst/>
          </a:prstGeom>
          <a:noFill/>
          <a:ln w="9525" algn="ctr">
            <a:solidFill>
              <a:schemeClr val="tx1"/>
            </a:solidFill>
            <a:miter lim="800000"/>
            <a:headEnd/>
            <a:tailEnd/>
          </a:ln>
          <a:effectLst>
            <a:outerShdw dist="107763" dir="8100000" algn="ctr" rotWithShape="0">
              <a:schemeClr val="bg2">
                <a:alpha val="50000"/>
              </a:schemeClr>
            </a:outerShdw>
          </a:effectLst>
        </p:spPr>
      </p:pic>
      <p:sp>
        <p:nvSpPr>
          <p:cNvPr id="53252" name="Text Box 5"/>
          <p:cNvSpPr txBox="1">
            <a:spLocks noChangeArrowheads="1"/>
          </p:cNvSpPr>
          <p:nvPr/>
        </p:nvSpPr>
        <p:spPr bwMode="auto">
          <a:xfrm>
            <a:off x="2196136" y="5661025"/>
            <a:ext cx="7235825" cy="369888"/>
          </a:xfrm>
          <a:prstGeom prst="rect">
            <a:avLst/>
          </a:prstGeom>
          <a:solidFill>
            <a:srgbClr val="FF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cs typeface="Arial" charset="0"/>
              </a:defRPr>
            </a:lvl1pPr>
            <a:lvl2pPr marL="742950" indent="-285750" eaLnBrk="0" hangingPunct="0">
              <a:defRPr>
                <a:solidFill>
                  <a:schemeClr val="tx1"/>
                </a:solidFill>
                <a:latin typeface="Tahoma" pitchFamily="34" charset="0"/>
                <a:cs typeface="Arial" charset="0"/>
              </a:defRPr>
            </a:lvl2pPr>
            <a:lvl3pPr marL="1143000" indent="-228600" eaLnBrk="0" hangingPunct="0">
              <a:defRPr>
                <a:solidFill>
                  <a:schemeClr val="tx1"/>
                </a:solidFill>
                <a:latin typeface="Tahoma" pitchFamily="34" charset="0"/>
                <a:cs typeface="Arial" charset="0"/>
              </a:defRPr>
            </a:lvl3pPr>
            <a:lvl4pPr marL="1600200" indent="-228600" eaLnBrk="0" hangingPunct="0">
              <a:defRPr>
                <a:solidFill>
                  <a:schemeClr val="tx1"/>
                </a:solidFill>
                <a:latin typeface="Tahoma" pitchFamily="34" charset="0"/>
                <a:cs typeface="Arial" charset="0"/>
              </a:defRPr>
            </a:lvl4pPr>
            <a:lvl5pPr marL="2057400" indent="-228600" eaLnBrk="0" hangingPunct="0">
              <a:defRPr>
                <a:solidFill>
                  <a:schemeClr val="tx1"/>
                </a:solidFill>
                <a:latin typeface="Tahoma" pitchFamily="34" charset="0"/>
                <a:cs typeface="Arial" charset="0"/>
              </a:defRPr>
            </a:lvl5pPr>
            <a:lvl6pPr marL="2514600" indent="-228600" eaLnBrk="0" fontAlgn="base" hangingPunct="0">
              <a:spcBef>
                <a:spcPct val="0"/>
              </a:spcBef>
              <a:spcAft>
                <a:spcPct val="0"/>
              </a:spcAft>
              <a:defRPr>
                <a:solidFill>
                  <a:schemeClr val="tx1"/>
                </a:solidFill>
                <a:latin typeface="Tahoma" pitchFamily="34" charset="0"/>
                <a:cs typeface="Arial" charset="0"/>
              </a:defRPr>
            </a:lvl6pPr>
            <a:lvl7pPr marL="2971800" indent="-228600" eaLnBrk="0" fontAlgn="base" hangingPunct="0">
              <a:spcBef>
                <a:spcPct val="0"/>
              </a:spcBef>
              <a:spcAft>
                <a:spcPct val="0"/>
              </a:spcAft>
              <a:defRPr>
                <a:solidFill>
                  <a:schemeClr val="tx1"/>
                </a:solidFill>
                <a:latin typeface="Tahoma" pitchFamily="34" charset="0"/>
                <a:cs typeface="Arial" charset="0"/>
              </a:defRPr>
            </a:lvl7pPr>
            <a:lvl8pPr marL="3429000" indent="-228600" eaLnBrk="0" fontAlgn="base" hangingPunct="0">
              <a:spcBef>
                <a:spcPct val="0"/>
              </a:spcBef>
              <a:spcAft>
                <a:spcPct val="0"/>
              </a:spcAft>
              <a:defRPr>
                <a:solidFill>
                  <a:schemeClr val="tx1"/>
                </a:solidFill>
                <a:latin typeface="Tahoma" pitchFamily="34" charset="0"/>
                <a:cs typeface="Arial" charset="0"/>
              </a:defRPr>
            </a:lvl8pPr>
            <a:lvl9pPr marL="3886200" indent="-228600" eaLnBrk="0" fontAlgn="base" hangingPunct="0">
              <a:spcBef>
                <a:spcPct val="0"/>
              </a:spcBef>
              <a:spcAft>
                <a:spcPct val="0"/>
              </a:spcAft>
              <a:defRPr>
                <a:solidFill>
                  <a:schemeClr val="tx1"/>
                </a:solidFill>
                <a:latin typeface="Tahoma" pitchFamily="34" charset="0"/>
                <a:cs typeface="Arial" charset="0"/>
              </a:defRPr>
            </a:lvl9pPr>
          </a:lstStyle>
          <a:p>
            <a:pPr eaLnBrk="1" hangingPunct="1"/>
            <a:r>
              <a:rPr lang="en-GB"/>
              <a:t>Example of component c.g. location information  (source Roskam)</a:t>
            </a:r>
          </a:p>
        </p:txBody>
      </p:sp>
      <p:sp>
        <p:nvSpPr>
          <p:cNvPr id="53253" name="Rectangle 3"/>
          <p:cNvSpPr>
            <a:spLocks noChangeArrowheads="1"/>
          </p:cNvSpPr>
          <p:nvPr/>
        </p:nvSpPr>
        <p:spPr bwMode="auto">
          <a:xfrm>
            <a:off x="820961" y="173905"/>
            <a:ext cx="954055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2800" dirty="0">
                <a:solidFill>
                  <a:srgbClr val="00A4DE"/>
                </a:solidFill>
              </a:rPr>
              <a:t>Estimation of the aircraft c.g. position at OEW</a:t>
            </a:r>
            <a:endParaRPr lang="en-GB" sz="2800" dirty="0">
              <a:solidFill>
                <a:srgbClr val="00A4DE"/>
              </a:solidFill>
            </a:endParaRPr>
          </a:p>
        </p:txBody>
      </p:sp>
      <p:sp>
        <p:nvSpPr>
          <p:cNvPr id="2" name="Rectangle 37"/>
          <p:cNvSpPr>
            <a:spLocks noChangeArrowheads="1"/>
          </p:cNvSpPr>
          <p:nvPr/>
        </p:nvSpPr>
        <p:spPr bwMode="auto">
          <a:xfrm>
            <a:off x="1676402"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3" name="Group 1"/>
          <p:cNvGrpSpPr>
            <a:grpSpLocks noChangeAspect="1"/>
          </p:cNvGrpSpPr>
          <p:nvPr/>
        </p:nvGrpSpPr>
        <p:grpSpPr bwMode="auto">
          <a:xfrm>
            <a:off x="6241660" y="2366165"/>
            <a:ext cx="4183236" cy="2851043"/>
            <a:chOff x="3120" y="-1581"/>
            <a:chExt cx="6600" cy="4500"/>
          </a:xfrm>
          <a:solidFill>
            <a:schemeClr val="bg1"/>
          </a:solidFill>
        </p:grpSpPr>
        <p:sp>
          <p:nvSpPr>
            <p:cNvPr id="4" name="AutoShape 36"/>
            <p:cNvSpPr>
              <a:spLocks noChangeAspect="1" noChangeArrowheads="1" noTextEdit="1"/>
            </p:cNvSpPr>
            <p:nvPr/>
          </p:nvSpPr>
          <p:spPr bwMode="auto">
            <a:xfrm>
              <a:off x="3120" y="-1581"/>
              <a:ext cx="6600" cy="4500"/>
            </a:xfrm>
            <a:prstGeom prst="rect">
              <a:avLst/>
            </a:prstGeom>
            <a:grpFill/>
            <a:ln>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5" name="Line 35"/>
            <p:cNvSpPr>
              <a:spLocks noChangeShapeType="1"/>
            </p:cNvSpPr>
            <p:nvPr/>
          </p:nvSpPr>
          <p:spPr bwMode="auto">
            <a:xfrm>
              <a:off x="3964" y="-1147"/>
              <a:ext cx="1" cy="3833"/>
            </a:xfrm>
            <a:prstGeom prst="line">
              <a:avLst/>
            </a:prstGeom>
            <a:grpFill/>
            <a:ln w="9525">
              <a:solidFill>
                <a:srgbClr val="000000"/>
              </a:solidFill>
              <a:prstDash val="lgDashDot"/>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Line 34"/>
            <p:cNvSpPr>
              <a:spLocks noChangeShapeType="1"/>
            </p:cNvSpPr>
            <p:nvPr/>
          </p:nvSpPr>
          <p:spPr bwMode="auto">
            <a:xfrm>
              <a:off x="4676" y="-503"/>
              <a:ext cx="4167" cy="2133"/>
            </a:xfrm>
            <a:prstGeom prst="lin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Line 33"/>
            <p:cNvSpPr>
              <a:spLocks noChangeShapeType="1"/>
            </p:cNvSpPr>
            <p:nvPr/>
          </p:nvSpPr>
          <p:spPr bwMode="auto">
            <a:xfrm>
              <a:off x="4676" y="1286"/>
              <a:ext cx="4233" cy="833"/>
            </a:xfrm>
            <a:prstGeom prst="lin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Line 32"/>
            <p:cNvSpPr>
              <a:spLocks noChangeShapeType="1"/>
            </p:cNvSpPr>
            <p:nvPr/>
          </p:nvSpPr>
          <p:spPr bwMode="auto">
            <a:xfrm>
              <a:off x="8843" y="1630"/>
              <a:ext cx="66" cy="489"/>
            </a:xfrm>
            <a:prstGeom prst="lin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Line 31"/>
            <p:cNvSpPr>
              <a:spLocks noChangeShapeType="1"/>
            </p:cNvSpPr>
            <p:nvPr/>
          </p:nvSpPr>
          <p:spPr bwMode="auto">
            <a:xfrm>
              <a:off x="4676" y="-1247"/>
              <a:ext cx="1" cy="3789"/>
            </a:xfrm>
            <a:prstGeom prst="lin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Line 30"/>
            <p:cNvSpPr>
              <a:spLocks noChangeShapeType="1"/>
            </p:cNvSpPr>
            <p:nvPr/>
          </p:nvSpPr>
          <p:spPr bwMode="auto">
            <a:xfrm flipH="1" flipV="1">
              <a:off x="3964" y="-892"/>
              <a:ext cx="712" cy="389"/>
            </a:xfrm>
            <a:prstGeom prst="line">
              <a:avLst/>
            </a:prstGeom>
            <a:grp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Line 29"/>
            <p:cNvSpPr>
              <a:spLocks noChangeShapeType="1"/>
            </p:cNvSpPr>
            <p:nvPr/>
          </p:nvSpPr>
          <p:spPr bwMode="auto">
            <a:xfrm flipH="1" flipV="1">
              <a:off x="3964" y="1142"/>
              <a:ext cx="712" cy="144"/>
            </a:xfrm>
            <a:prstGeom prst="line">
              <a:avLst/>
            </a:prstGeom>
            <a:grpFill/>
            <a:ln w="952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Line 28"/>
            <p:cNvSpPr>
              <a:spLocks noChangeShapeType="1"/>
            </p:cNvSpPr>
            <p:nvPr/>
          </p:nvSpPr>
          <p:spPr bwMode="auto">
            <a:xfrm>
              <a:off x="3964" y="-358"/>
              <a:ext cx="4879" cy="2121"/>
            </a:xfrm>
            <a:prstGeom prst="line">
              <a:avLst/>
            </a:prstGeom>
            <a:grpFill/>
            <a:ln w="19050">
              <a:solidFill>
                <a:srgbClr val="000000"/>
              </a:solidFill>
              <a:prstDash val="sysDot"/>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Line 27"/>
            <p:cNvSpPr>
              <a:spLocks noChangeShapeType="1"/>
            </p:cNvSpPr>
            <p:nvPr/>
          </p:nvSpPr>
          <p:spPr bwMode="auto">
            <a:xfrm>
              <a:off x="3964" y="442"/>
              <a:ext cx="4879" cy="1521"/>
            </a:xfrm>
            <a:prstGeom prst="line">
              <a:avLst/>
            </a:prstGeom>
            <a:grpFill/>
            <a:ln w="19050">
              <a:solidFill>
                <a:srgbClr val="000000"/>
              </a:solidFill>
              <a:prstDash val="sysDot"/>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Line 26"/>
            <p:cNvSpPr>
              <a:spLocks noChangeShapeType="1"/>
            </p:cNvSpPr>
            <p:nvPr/>
          </p:nvSpPr>
          <p:spPr bwMode="auto">
            <a:xfrm flipH="1">
              <a:off x="6165" y="263"/>
              <a:ext cx="1" cy="1290"/>
            </a:xfrm>
            <a:prstGeom prst="lin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Line 25"/>
            <p:cNvSpPr>
              <a:spLocks noChangeShapeType="1"/>
            </p:cNvSpPr>
            <p:nvPr/>
          </p:nvSpPr>
          <p:spPr bwMode="auto">
            <a:xfrm>
              <a:off x="5553" y="342"/>
              <a:ext cx="1" cy="588"/>
            </a:xfrm>
            <a:prstGeom prst="lin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Line 24"/>
            <p:cNvSpPr>
              <a:spLocks noChangeShapeType="1"/>
            </p:cNvSpPr>
            <p:nvPr/>
          </p:nvSpPr>
          <p:spPr bwMode="auto">
            <a:xfrm>
              <a:off x="5553" y="1053"/>
              <a:ext cx="0" cy="633"/>
            </a:xfrm>
            <a:prstGeom prst="lin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Line 23"/>
            <p:cNvSpPr>
              <a:spLocks noChangeShapeType="1"/>
            </p:cNvSpPr>
            <p:nvPr/>
          </p:nvSpPr>
          <p:spPr bwMode="auto">
            <a:xfrm>
              <a:off x="6165" y="1686"/>
              <a:ext cx="0" cy="589"/>
            </a:xfrm>
            <a:prstGeom prst="lin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Line 22"/>
            <p:cNvSpPr>
              <a:spLocks noChangeShapeType="1"/>
            </p:cNvSpPr>
            <p:nvPr/>
          </p:nvSpPr>
          <p:spPr bwMode="auto">
            <a:xfrm>
              <a:off x="5109" y="1630"/>
              <a:ext cx="444" cy="1"/>
            </a:xfrm>
            <a:prstGeom prst="line">
              <a:avLst/>
            </a:prstGeom>
            <a:grp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9" name="Line 21"/>
            <p:cNvSpPr>
              <a:spLocks noChangeShapeType="1"/>
            </p:cNvSpPr>
            <p:nvPr/>
          </p:nvSpPr>
          <p:spPr bwMode="auto">
            <a:xfrm flipV="1">
              <a:off x="5476" y="2175"/>
              <a:ext cx="689" cy="1"/>
            </a:xfrm>
            <a:prstGeom prst="line">
              <a:avLst/>
            </a:prstGeom>
            <a:grp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0" name="Line 20"/>
            <p:cNvSpPr>
              <a:spLocks noChangeShapeType="1"/>
            </p:cNvSpPr>
            <p:nvPr/>
          </p:nvSpPr>
          <p:spPr bwMode="auto">
            <a:xfrm flipV="1">
              <a:off x="6530" y="2619"/>
              <a:ext cx="2379" cy="1"/>
            </a:xfrm>
            <a:prstGeom prst="line">
              <a:avLst/>
            </a:prstGeom>
            <a:grp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1" name="Line 19"/>
            <p:cNvSpPr>
              <a:spLocks noChangeShapeType="1"/>
            </p:cNvSpPr>
            <p:nvPr/>
          </p:nvSpPr>
          <p:spPr bwMode="auto">
            <a:xfrm>
              <a:off x="8909" y="2175"/>
              <a:ext cx="0" cy="511"/>
            </a:xfrm>
            <a:prstGeom prst="lin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Line 18"/>
            <p:cNvSpPr>
              <a:spLocks noChangeShapeType="1"/>
            </p:cNvSpPr>
            <p:nvPr/>
          </p:nvSpPr>
          <p:spPr bwMode="auto">
            <a:xfrm flipH="1" flipV="1">
              <a:off x="3964" y="2619"/>
              <a:ext cx="1823" cy="1"/>
            </a:xfrm>
            <a:prstGeom prst="line">
              <a:avLst/>
            </a:prstGeom>
            <a:grp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3" name="Line 17"/>
            <p:cNvSpPr>
              <a:spLocks noChangeShapeType="1"/>
            </p:cNvSpPr>
            <p:nvPr/>
          </p:nvSpPr>
          <p:spPr bwMode="auto">
            <a:xfrm flipH="1">
              <a:off x="3964" y="2175"/>
              <a:ext cx="1079" cy="1"/>
            </a:xfrm>
            <a:prstGeom prst="line">
              <a:avLst/>
            </a:prstGeom>
            <a:grp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4" name="Line 16"/>
            <p:cNvSpPr>
              <a:spLocks noChangeShapeType="1"/>
            </p:cNvSpPr>
            <p:nvPr/>
          </p:nvSpPr>
          <p:spPr bwMode="auto">
            <a:xfrm flipH="1">
              <a:off x="3964" y="1630"/>
              <a:ext cx="799" cy="1"/>
            </a:xfrm>
            <a:prstGeom prst="line">
              <a:avLst/>
            </a:prstGeom>
            <a:grp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5" name="Text Box 15"/>
            <p:cNvSpPr txBox="1">
              <a:spLocks noChangeArrowheads="1"/>
            </p:cNvSpPr>
            <p:nvPr/>
          </p:nvSpPr>
          <p:spPr bwMode="auto">
            <a:xfrm>
              <a:off x="4353" y="1442"/>
              <a:ext cx="867" cy="3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0467" tIns="40234" rIns="80467" bIns="40234" numCol="1" anchor="t" anchorCtr="0" compatLnSpc="1">
              <a:prstTxWarp prst="textNoShape">
                <a:avLst/>
              </a:prstTxWarp>
            </a:bodyPr>
            <a:lstStyle/>
            <a:p>
              <a:r>
                <a:rPr lang="en-US" sz="1000">
                  <a:latin typeface="Arial" pitchFamily="34" charset="0"/>
                  <a:ea typeface="Times New Roman" pitchFamily="18" charset="0"/>
                  <a:cs typeface="Arial" pitchFamily="34" charset="0"/>
                </a:rPr>
                <a:t>0.35b/2</a:t>
              </a:r>
              <a:endParaRPr lang="en-US">
                <a:latin typeface="Arial" pitchFamily="34" charset="0"/>
                <a:cs typeface="Arial" pitchFamily="34" charset="0"/>
              </a:endParaRPr>
            </a:p>
          </p:txBody>
        </p:sp>
        <p:sp>
          <p:nvSpPr>
            <p:cNvPr id="26" name="Text Box 14"/>
            <p:cNvSpPr txBox="1">
              <a:spLocks noChangeArrowheads="1"/>
            </p:cNvSpPr>
            <p:nvPr/>
          </p:nvSpPr>
          <p:spPr bwMode="auto">
            <a:xfrm>
              <a:off x="4853" y="2030"/>
              <a:ext cx="700" cy="35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0467" tIns="40234" rIns="80467" bIns="40234" numCol="1" anchor="t" anchorCtr="0" compatLnSpc="1">
              <a:prstTxWarp prst="textNoShape">
                <a:avLst/>
              </a:prstTxWarp>
            </a:bodyPr>
            <a:lstStyle/>
            <a:p>
              <a:r>
                <a:rPr lang="en-US" sz="1000">
                  <a:latin typeface="Arial" pitchFamily="34" charset="0"/>
                  <a:ea typeface="Times New Roman" pitchFamily="18" charset="0"/>
                  <a:cs typeface="Arial" pitchFamily="34" charset="0"/>
                </a:rPr>
                <a:t>Y</a:t>
              </a:r>
              <a:r>
                <a:rPr lang="en-US" sz="1000" baseline="-30000">
                  <a:latin typeface="Arial" pitchFamily="34" charset="0"/>
                  <a:ea typeface="Times New Roman" pitchFamily="18" charset="0"/>
                  <a:cs typeface="Arial" pitchFamily="34" charset="0"/>
                </a:rPr>
                <a:t>MAC</a:t>
              </a:r>
              <a:endParaRPr lang="en-US">
                <a:latin typeface="Arial" pitchFamily="34" charset="0"/>
                <a:cs typeface="Arial" pitchFamily="34" charset="0"/>
              </a:endParaRPr>
            </a:p>
          </p:txBody>
        </p:sp>
        <p:sp>
          <p:nvSpPr>
            <p:cNvPr id="27" name="Text Box 13"/>
            <p:cNvSpPr txBox="1">
              <a:spLocks noChangeArrowheads="1"/>
            </p:cNvSpPr>
            <p:nvPr/>
          </p:nvSpPr>
          <p:spPr bwMode="auto">
            <a:xfrm>
              <a:off x="5787" y="2442"/>
              <a:ext cx="586" cy="3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0467" tIns="40234" rIns="80467" bIns="40234" numCol="1" anchor="t" anchorCtr="0" compatLnSpc="1">
              <a:prstTxWarp prst="textNoShape">
                <a:avLst/>
              </a:prstTxWarp>
            </a:bodyPr>
            <a:lstStyle/>
            <a:p>
              <a:r>
                <a:rPr lang="en-US" sz="1000">
                  <a:latin typeface="Arial" pitchFamily="34" charset="0"/>
                  <a:ea typeface="Times New Roman" pitchFamily="18" charset="0"/>
                  <a:cs typeface="Arial" pitchFamily="34" charset="0"/>
                </a:rPr>
                <a:t>b/2</a:t>
              </a:r>
              <a:endParaRPr lang="en-US">
                <a:latin typeface="Arial" pitchFamily="34" charset="0"/>
                <a:cs typeface="Arial" pitchFamily="34" charset="0"/>
              </a:endParaRPr>
            </a:p>
          </p:txBody>
        </p:sp>
        <p:sp>
          <p:nvSpPr>
            <p:cNvPr id="28" name="Oval 12"/>
            <p:cNvSpPr>
              <a:spLocks noChangeArrowheads="1"/>
            </p:cNvSpPr>
            <p:nvPr/>
          </p:nvSpPr>
          <p:spPr bwMode="auto">
            <a:xfrm>
              <a:off x="5476" y="651"/>
              <a:ext cx="122" cy="112"/>
            </a:xfrm>
            <a:prstGeom prst="ellipse">
              <a:avLst/>
            </a:pr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Text Box 11"/>
            <p:cNvSpPr txBox="1">
              <a:spLocks noChangeArrowheads="1"/>
            </p:cNvSpPr>
            <p:nvPr/>
          </p:nvSpPr>
          <p:spPr bwMode="auto">
            <a:xfrm>
              <a:off x="7243" y="152"/>
              <a:ext cx="2377" cy="113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0467" tIns="40234" rIns="80467" bIns="40234" numCol="1" anchor="t" anchorCtr="0" compatLnSpc="1">
              <a:prstTxWarp prst="textNoShape">
                <a:avLst/>
              </a:prstTxWarp>
            </a:bodyPr>
            <a:lstStyle/>
            <a:p>
              <a:r>
                <a:rPr lang="en-US" sz="1000">
                  <a:latin typeface="Arial" pitchFamily="34" charset="0"/>
                  <a:ea typeface="Times New Roman" pitchFamily="18" charset="0"/>
                  <a:cs typeface="Arial" pitchFamily="34" charset="0"/>
                </a:rPr>
                <a:t>front spar at 0.25C</a:t>
              </a:r>
              <a:endParaRPr lang="en-US" sz="800">
                <a:latin typeface="Arial" pitchFamily="34" charset="0"/>
                <a:cs typeface="Arial" pitchFamily="34" charset="0"/>
              </a:endParaRPr>
            </a:p>
            <a:p>
              <a:pPr eaLnBrk="0" hangingPunct="0"/>
              <a:r>
                <a:rPr lang="en-US" sz="1000">
                  <a:latin typeface="Arial" pitchFamily="34" charset="0"/>
                  <a:ea typeface="Times New Roman" pitchFamily="18" charset="0"/>
                  <a:cs typeface="Arial" pitchFamily="34" charset="0"/>
                </a:rPr>
                <a:t>rear spar at 0.55C to 0.6C</a:t>
              </a:r>
              <a:endParaRPr lang="en-US">
                <a:latin typeface="Arial" pitchFamily="34" charset="0"/>
                <a:cs typeface="Arial" pitchFamily="34" charset="0"/>
              </a:endParaRPr>
            </a:p>
          </p:txBody>
        </p:sp>
        <p:sp>
          <p:nvSpPr>
            <p:cNvPr id="30" name="Line 10"/>
            <p:cNvSpPr>
              <a:spLocks noChangeShapeType="1"/>
            </p:cNvSpPr>
            <p:nvPr/>
          </p:nvSpPr>
          <p:spPr bwMode="auto">
            <a:xfrm flipH="1">
              <a:off x="6787" y="342"/>
              <a:ext cx="544" cy="588"/>
            </a:xfrm>
            <a:prstGeom prst="line">
              <a:avLst/>
            </a:prstGeom>
            <a:grp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1" name="Line 9"/>
            <p:cNvSpPr>
              <a:spLocks noChangeShapeType="1"/>
            </p:cNvSpPr>
            <p:nvPr/>
          </p:nvSpPr>
          <p:spPr bwMode="auto">
            <a:xfrm flipH="1">
              <a:off x="6887" y="930"/>
              <a:ext cx="444" cy="433"/>
            </a:xfrm>
            <a:prstGeom prst="line">
              <a:avLst/>
            </a:prstGeom>
            <a:grp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534528" name="Text Box 8"/>
            <p:cNvSpPr txBox="1">
              <a:spLocks noChangeArrowheads="1"/>
            </p:cNvSpPr>
            <p:nvPr/>
          </p:nvSpPr>
          <p:spPr bwMode="auto">
            <a:xfrm>
              <a:off x="6718" y="-270"/>
              <a:ext cx="3002" cy="42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0467" tIns="40234" rIns="80467" bIns="40234" numCol="1" anchor="t" anchorCtr="0" compatLnSpc="1">
              <a:prstTxWarp prst="textNoShape">
                <a:avLst/>
              </a:prstTxWarp>
            </a:bodyPr>
            <a:lstStyle/>
            <a:p>
              <a:r>
                <a:rPr lang="en-US" sz="1000">
                  <a:latin typeface="Arial" pitchFamily="34" charset="0"/>
                  <a:ea typeface="Times New Roman" pitchFamily="18" charset="0"/>
                  <a:cs typeface="Arial" pitchFamily="34" charset="0"/>
                </a:rPr>
                <a:t>mean aerodynamic chord (MAC)</a:t>
              </a:r>
              <a:endParaRPr lang="en-US">
                <a:latin typeface="Arial" pitchFamily="34" charset="0"/>
                <a:cs typeface="Arial" pitchFamily="34" charset="0"/>
              </a:endParaRPr>
            </a:p>
          </p:txBody>
        </p:sp>
        <p:sp>
          <p:nvSpPr>
            <p:cNvPr id="534529" name="Line 7"/>
            <p:cNvSpPr>
              <a:spLocks noChangeShapeType="1"/>
            </p:cNvSpPr>
            <p:nvPr/>
          </p:nvSpPr>
          <p:spPr bwMode="auto">
            <a:xfrm flipH="1">
              <a:off x="6166" y="-14"/>
              <a:ext cx="798" cy="777"/>
            </a:xfrm>
            <a:prstGeom prst="line">
              <a:avLst/>
            </a:prstGeom>
            <a:grp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534530" name="Line 6"/>
            <p:cNvSpPr>
              <a:spLocks noChangeShapeType="1"/>
            </p:cNvSpPr>
            <p:nvPr/>
          </p:nvSpPr>
          <p:spPr bwMode="auto">
            <a:xfrm flipH="1">
              <a:off x="5598" y="-692"/>
              <a:ext cx="1289" cy="1343"/>
            </a:xfrm>
            <a:prstGeom prst="line">
              <a:avLst/>
            </a:prstGeom>
            <a:grp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534531" name="Text Box 5"/>
            <p:cNvSpPr txBox="1">
              <a:spLocks noChangeArrowheads="1"/>
            </p:cNvSpPr>
            <p:nvPr/>
          </p:nvSpPr>
          <p:spPr bwMode="auto">
            <a:xfrm>
              <a:off x="6718" y="-958"/>
              <a:ext cx="2902" cy="6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0467" tIns="40234" rIns="80467" bIns="40234" numCol="1" anchor="t" anchorCtr="0" compatLnSpc="1">
              <a:prstTxWarp prst="textNoShape">
                <a:avLst/>
              </a:prstTxWarp>
            </a:bodyPr>
            <a:lstStyle/>
            <a:p>
              <a:r>
                <a:rPr lang="en-US" sz="1000">
                  <a:latin typeface="Arial" pitchFamily="34" charset="0"/>
                  <a:ea typeface="Times New Roman" pitchFamily="18" charset="0"/>
                  <a:cs typeface="Arial" pitchFamily="34" charset="0"/>
                </a:rPr>
                <a:t>wing group CG at 0.7(X</a:t>
              </a:r>
              <a:r>
                <a:rPr lang="en-US" sz="1000" baseline="-30000">
                  <a:latin typeface="Arial" pitchFamily="34" charset="0"/>
                  <a:ea typeface="Times New Roman" pitchFamily="18" charset="0"/>
                  <a:cs typeface="Arial" pitchFamily="34" charset="0"/>
                </a:rPr>
                <a:t>rs</a:t>
              </a:r>
              <a:r>
                <a:rPr lang="en-US" sz="1000">
                  <a:latin typeface="Arial" pitchFamily="34" charset="0"/>
                  <a:ea typeface="Times New Roman" pitchFamily="18" charset="0"/>
                  <a:cs typeface="Arial" pitchFamily="34" charset="0"/>
                </a:rPr>
                <a:t>-X</a:t>
              </a:r>
              <a:r>
                <a:rPr lang="en-US" sz="1000" baseline="-30000">
                  <a:latin typeface="Arial" pitchFamily="34" charset="0"/>
                  <a:ea typeface="Times New Roman" pitchFamily="18" charset="0"/>
                  <a:cs typeface="Arial" pitchFamily="34" charset="0"/>
                </a:rPr>
                <a:t>fs</a:t>
              </a:r>
              <a:r>
                <a:rPr lang="en-US" sz="1000">
                  <a:latin typeface="Arial" pitchFamily="34" charset="0"/>
                  <a:ea typeface="Times New Roman" pitchFamily="18" charset="0"/>
                  <a:cs typeface="Arial" pitchFamily="34" charset="0"/>
                </a:rPr>
                <a:t>)</a:t>
              </a:r>
              <a:endParaRPr lang="en-US">
                <a:latin typeface="Arial" pitchFamily="34" charset="0"/>
                <a:cs typeface="Arial" pitchFamily="34" charset="0"/>
              </a:endParaRPr>
            </a:p>
          </p:txBody>
        </p:sp>
        <p:sp>
          <p:nvSpPr>
            <p:cNvPr id="534533" name="Text Box 4"/>
            <p:cNvSpPr txBox="1">
              <a:spLocks noChangeArrowheads="1"/>
            </p:cNvSpPr>
            <p:nvPr/>
          </p:nvSpPr>
          <p:spPr bwMode="auto">
            <a:xfrm>
              <a:off x="3343" y="-1503"/>
              <a:ext cx="1333" cy="4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0467" tIns="40234" rIns="80467" bIns="40234" numCol="1" anchor="t" anchorCtr="0" compatLnSpc="1">
              <a:prstTxWarp prst="textNoShape">
                <a:avLst/>
              </a:prstTxWarp>
            </a:bodyPr>
            <a:lstStyle/>
            <a:p>
              <a:r>
                <a:rPr lang="en-US" sz="1000">
                  <a:latin typeface="Arial" pitchFamily="34" charset="0"/>
                  <a:ea typeface="Times New Roman" pitchFamily="18" charset="0"/>
                  <a:cs typeface="Arial" pitchFamily="34" charset="0"/>
                </a:rPr>
                <a:t>centerline</a:t>
              </a:r>
              <a:endParaRPr lang="en-US">
                <a:latin typeface="Arial" pitchFamily="34" charset="0"/>
                <a:cs typeface="Arial" pitchFamily="34" charset="0"/>
              </a:endParaRPr>
            </a:p>
          </p:txBody>
        </p:sp>
        <p:sp>
          <p:nvSpPr>
            <p:cNvPr id="534534" name="Line 3"/>
            <p:cNvSpPr>
              <a:spLocks noChangeShapeType="1"/>
            </p:cNvSpPr>
            <p:nvPr/>
          </p:nvSpPr>
          <p:spPr bwMode="auto">
            <a:xfrm flipV="1">
              <a:off x="4676" y="-1381"/>
              <a:ext cx="644" cy="423"/>
            </a:xfrm>
            <a:prstGeom prst="line">
              <a:avLst/>
            </a:prstGeom>
            <a:grpFill/>
            <a:ln w="9525">
              <a:solidFill>
                <a:srgbClr val="000000"/>
              </a:solidFill>
              <a:round/>
              <a:headEnd type="triangle" w="med" len="med"/>
              <a:tailEnd/>
            </a:ln>
          </p:spPr>
          <p:txBody>
            <a:bodyPr vert="horz" wrap="square" lIns="91440" tIns="45720" rIns="91440" bIns="45720" numCol="1" anchor="t" anchorCtr="0" compatLnSpc="1">
              <a:prstTxWarp prst="textNoShape">
                <a:avLst/>
              </a:prstTxWarp>
            </a:bodyPr>
            <a:lstStyle/>
            <a:p>
              <a:endParaRPr lang="en-US"/>
            </a:p>
          </p:txBody>
        </p:sp>
        <p:sp>
          <p:nvSpPr>
            <p:cNvPr id="534535" name="Text Box 2"/>
            <p:cNvSpPr txBox="1">
              <a:spLocks noChangeArrowheads="1"/>
            </p:cNvSpPr>
            <p:nvPr/>
          </p:nvSpPr>
          <p:spPr bwMode="auto">
            <a:xfrm>
              <a:off x="5476" y="-1581"/>
              <a:ext cx="1411" cy="33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0467" tIns="40234" rIns="80467" bIns="40234" numCol="1" anchor="t" anchorCtr="0" compatLnSpc="1">
              <a:prstTxWarp prst="textNoShape">
                <a:avLst/>
              </a:prstTxWarp>
            </a:bodyPr>
            <a:lstStyle/>
            <a:p>
              <a:r>
                <a:rPr lang="en-US" sz="1000" dirty="0">
                  <a:latin typeface="Arial" pitchFamily="34" charset="0"/>
                  <a:ea typeface="Times New Roman" pitchFamily="18" charset="0"/>
                  <a:cs typeface="Arial" pitchFamily="34" charset="0"/>
                </a:rPr>
                <a:t>fuselage skin</a:t>
              </a:r>
              <a:endParaRPr lang="en-US" dirty="0">
                <a:latin typeface="Arial" pitchFamily="34" charset="0"/>
                <a:cs typeface="Arial" pitchFamily="34" charset="0"/>
              </a:endParaRPr>
            </a:p>
          </p:txBody>
        </p:sp>
      </p:grpSp>
    </p:spTree>
    <p:extLst>
      <p:ext uri="{BB962C8B-B14F-4D97-AF65-F5344CB8AC3E}">
        <p14:creationId xmlns:p14="http://schemas.microsoft.com/office/powerpoint/2010/main" val="22854021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Text Box 3"/>
          <p:cNvSpPr txBox="1">
            <a:spLocks noChangeArrowheads="1"/>
          </p:cNvSpPr>
          <p:nvPr/>
        </p:nvSpPr>
        <p:spPr bwMode="auto">
          <a:xfrm>
            <a:off x="2220160" y="807178"/>
            <a:ext cx="823595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cs typeface="Arial" charset="0"/>
              </a:defRPr>
            </a:lvl1pPr>
            <a:lvl2pPr marL="742950" indent="-285750" eaLnBrk="0" hangingPunct="0">
              <a:defRPr>
                <a:solidFill>
                  <a:schemeClr val="tx1"/>
                </a:solidFill>
                <a:latin typeface="Tahoma" pitchFamily="34" charset="0"/>
                <a:cs typeface="Arial" charset="0"/>
              </a:defRPr>
            </a:lvl2pPr>
            <a:lvl3pPr marL="1143000" indent="-228600" eaLnBrk="0" hangingPunct="0">
              <a:defRPr>
                <a:solidFill>
                  <a:schemeClr val="tx1"/>
                </a:solidFill>
                <a:latin typeface="Tahoma" pitchFamily="34" charset="0"/>
                <a:cs typeface="Arial" charset="0"/>
              </a:defRPr>
            </a:lvl3pPr>
            <a:lvl4pPr marL="1600200" indent="-228600" eaLnBrk="0" hangingPunct="0">
              <a:defRPr>
                <a:solidFill>
                  <a:schemeClr val="tx1"/>
                </a:solidFill>
                <a:latin typeface="Tahoma" pitchFamily="34" charset="0"/>
                <a:cs typeface="Arial" charset="0"/>
              </a:defRPr>
            </a:lvl4pPr>
            <a:lvl5pPr marL="2057400" indent="-228600" eaLnBrk="0" hangingPunct="0">
              <a:defRPr>
                <a:solidFill>
                  <a:schemeClr val="tx1"/>
                </a:solidFill>
                <a:latin typeface="Tahoma" pitchFamily="34" charset="0"/>
                <a:cs typeface="Arial" charset="0"/>
              </a:defRPr>
            </a:lvl5pPr>
            <a:lvl6pPr marL="2514600" indent="-228600" eaLnBrk="0" fontAlgn="base" hangingPunct="0">
              <a:spcBef>
                <a:spcPct val="0"/>
              </a:spcBef>
              <a:spcAft>
                <a:spcPct val="0"/>
              </a:spcAft>
              <a:defRPr>
                <a:solidFill>
                  <a:schemeClr val="tx1"/>
                </a:solidFill>
                <a:latin typeface="Tahoma" pitchFamily="34" charset="0"/>
                <a:cs typeface="Arial" charset="0"/>
              </a:defRPr>
            </a:lvl6pPr>
            <a:lvl7pPr marL="2971800" indent="-228600" eaLnBrk="0" fontAlgn="base" hangingPunct="0">
              <a:spcBef>
                <a:spcPct val="0"/>
              </a:spcBef>
              <a:spcAft>
                <a:spcPct val="0"/>
              </a:spcAft>
              <a:defRPr>
                <a:solidFill>
                  <a:schemeClr val="tx1"/>
                </a:solidFill>
                <a:latin typeface="Tahoma" pitchFamily="34" charset="0"/>
                <a:cs typeface="Arial" charset="0"/>
              </a:defRPr>
            </a:lvl7pPr>
            <a:lvl8pPr marL="3429000" indent="-228600" eaLnBrk="0" fontAlgn="base" hangingPunct="0">
              <a:spcBef>
                <a:spcPct val="0"/>
              </a:spcBef>
              <a:spcAft>
                <a:spcPct val="0"/>
              </a:spcAft>
              <a:defRPr>
                <a:solidFill>
                  <a:schemeClr val="tx1"/>
                </a:solidFill>
                <a:latin typeface="Tahoma" pitchFamily="34" charset="0"/>
                <a:cs typeface="Arial" charset="0"/>
              </a:defRPr>
            </a:lvl8pPr>
            <a:lvl9pPr marL="3886200" indent="-228600" eaLnBrk="0" fontAlgn="base" hangingPunct="0">
              <a:spcBef>
                <a:spcPct val="0"/>
              </a:spcBef>
              <a:spcAft>
                <a:spcPct val="0"/>
              </a:spcAft>
              <a:defRPr>
                <a:solidFill>
                  <a:schemeClr val="tx1"/>
                </a:solidFill>
                <a:latin typeface="Tahoma" pitchFamily="34" charset="0"/>
                <a:cs typeface="Arial" charset="0"/>
              </a:defRPr>
            </a:lvl9pPr>
          </a:lstStyle>
          <a:p>
            <a:pPr eaLnBrk="1" hangingPunct="1"/>
            <a:r>
              <a:rPr lang="en-GB" sz="2000" i="1" dirty="0"/>
              <a:t>What about the c.g. position in presence of payload and fuel?</a:t>
            </a:r>
          </a:p>
          <a:p>
            <a:pPr eaLnBrk="1" hangingPunct="1"/>
            <a:endParaRPr lang="en-GB" sz="2000" i="1" dirty="0"/>
          </a:p>
          <a:p>
            <a:pPr eaLnBrk="1" hangingPunct="1"/>
            <a:r>
              <a:rPr lang="en-GB" sz="2000" i="1" dirty="0"/>
              <a:t>How does it change when fuel is burnt during mission, or during loading/unloading of passengers?</a:t>
            </a:r>
          </a:p>
          <a:p>
            <a:pPr eaLnBrk="1" hangingPunct="1"/>
            <a:endParaRPr lang="en-GB" sz="2000" i="1" dirty="0"/>
          </a:p>
        </p:txBody>
      </p:sp>
      <p:sp>
        <p:nvSpPr>
          <p:cNvPr id="53253" name="Rectangle 3"/>
          <p:cNvSpPr>
            <a:spLocks noChangeArrowheads="1"/>
          </p:cNvSpPr>
          <p:nvPr/>
        </p:nvSpPr>
        <p:spPr bwMode="auto">
          <a:xfrm>
            <a:off x="1524000" y="204788"/>
            <a:ext cx="91440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sz="2400" b="1" dirty="0">
                <a:solidFill>
                  <a:srgbClr val="00A4DE"/>
                </a:solidFill>
              </a:rPr>
              <a:t>Estimation of the aircraft c.g. position at GW</a:t>
            </a:r>
            <a:endParaRPr lang="en-GB" sz="2400" b="1" dirty="0">
              <a:solidFill>
                <a:srgbClr val="00A4DE"/>
              </a:solidFill>
            </a:endParaRPr>
          </a:p>
        </p:txBody>
      </p:sp>
      <p:sp>
        <p:nvSpPr>
          <p:cNvPr id="2" name="Rectangle 37"/>
          <p:cNvSpPr>
            <a:spLocks noChangeArrowheads="1"/>
          </p:cNvSpPr>
          <p:nvPr/>
        </p:nvSpPr>
        <p:spPr bwMode="auto">
          <a:xfrm>
            <a:off x="1676402"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34537" name="Object 534536"/>
          <p:cNvGraphicFramePr>
            <a:graphicFrameLocks noGrp="1" noChangeAspect="1"/>
          </p:cNvGraphicFramePr>
          <p:nvPr/>
        </p:nvGraphicFramePr>
        <p:xfrm>
          <a:off x="2423592" y="2204864"/>
          <a:ext cx="5833288" cy="3964832"/>
        </p:xfrm>
        <a:graphic>
          <a:graphicData uri="http://schemas.openxmlformats.org/presentationml/2006/ole">
            <mc:AlternateContent xmlns:mc="http://schemas.openxmlformats.org/markup-compatibility/2006">
              <mc:Choice xmlns:v="urn:schemas-microsoft-com:vml" Requires="v">
                <p:oleObj name="Chart" r:id="rId3" imgW="9524908" imgH="7038975" progId="Excel.Chart.8">
                  <p:embed/>
                </p:oleObj>
              </mc:Choice>
              <mc:Fallback>
                <p:oleObj name="Chart" r:id="rId3" imgW="9524908" imgH="7038975" progId="Excel.Chart.8">
                  <p:embed/>
                  <p:pic>
                    <p:nvPicPr>
                      <p:cNvPr id="534537" name="Object 534536"/>
                      <p:cNvPicPr>
                        <a:picLocks noGrp="1" noChangeAspect="1" noChangeArrowheads="1"/>
                      </p:cNvPicPr>
                      <p:nvPr/>
                    </p:nvPicPr>
                    <p:blipFill>
                      <a:blip r:embed="rId4">
                        <a:extLst>
                          <a:ext uri="{28A0092B-C50C-407E-A947-70E740481C1C}">
                            <a14:useLocalDpi xmlns:a14="http://schemas.microsoft.com/office/drawing/2010/main" val="0"/>
                          </a:ext>
                        </a:extLst>
                      </a:blip>
                      <a:srcRect t="8015"/>
                      <a:stretch>
                        <a:fillRect/>
                      </a:stretch>
                    </p:blipFill>
                    <p:spPr bwMode="auto">
                      <a:xfrm>
                        <a:off x="2423592" y="2204864"/>
                        <a:ext cx="5833288" cy="3964832"/>
                      </a:xfrm>
                      <a:prstGeom prst="rect">
                        <a:avLst/>
                      </a:prstGeom>
                      <a:noFill/>
                      <a:ln>
                        <a:noFill/>
                      </a:ln>
                      <a:effectLst/>
                    </p:spPr>
                  </p:pic>
                </p:oleObj>
              </mc:Fallback>
            </mc:AlternateContent>
          </a:graphicData>
        </a:graphic>
      </p:graphicFrame>
      <p:sp>
        <p:nvSpPr>
          <p:cNvPr id="53252" name="Text Box 5"/>
          <p:cNvSpPr txBox="1">
            <a:spLocks noChangeArrowheads="1"/>
          </p:cNvSpPr>
          <p:nvPr/>
        </p:nvSpPr>
        <p:spPr bwMode="auto">
          <a:xfrm>
            <a:off x="6468272" y="4293099"/>
            <a:ext cx="3987841" cy="1384995"/>
          </a:xfrm>
          <a:prstGeom prst="rect">
            <a:avLst/>
          </a:prstGeom>
          <a:solidFill>
            <a:srgbClr val="FF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a:solidFill>
                  <a:schemeClr val="tx1"/>
                </a:solidFill>
                <a:latin typeface="Tahoma" pitchFamily="34" charset="0"/>
                <a:cs typeface="Arial" charset="0"/>
              </a:defRPr>
            </a:lvl1pPr>
            <a:lvl2pPr marL="742950" indent="-285750" eaLnBrk="0" hangingPunct="0">
              <a:defRPr>
                <a:solidFill>
                  <a:schemeClr val="tx1"/>
                </a:solidFill>
                <a:latin typeface="Tahoma" pitchFamily="34" charset="0"/>
                <a:cs typeface="Arial" charset="0"/>
              </a:defRPr>
            </a:lvl2pPr>
            <a:lvl3pPr marL="1143000" indent="-228600" eaLnBrk="0" hangingPunct="0">
              <a:defRPr>
                <a:solidFill>
                  <a:schemeClr val="tx1"/>
                </a:solidFill>
                <a:latin typeface="Tahoma" pitchFamily="34" charset="0"/>
                <a:cs typeface="Arial" charset="0"/>
              </a:defRPr>
            </a:lvl3pPr>
            <a:lvl4pPr marL="1600200" indent="-228600" eaLnBrk="0" hangingPunct="0">
              <a:defRPr>
                <a:solidFill>
                  <a:schemeClr val="tx1"/>
                </a:solidFill>
                <a:latin typeface="Tahoma" pitchFamily="34" charset="0"/>
                <a:cs typeface="Arial" charset="0"/>
              </a:defRPr>
            </a:lvl4pPr>
            <a:lvl5pPr marL="2057400" indent="-228600" eaLnBrk="0" hangingPunct="0">
              <a:defRPr>
                <a:solidFill>
                  <a:schemeClr val="tx1"/>
                </a:solidFill>
                <a:latin typeface="Tahoma" pitchFamily="34" charset="0"/>
                <a:cs typeface="Arial" charset="0"/>
              </a:defRPr>
            </a:lvl5pPr>
            <a:lvl6pPr marL="2514600" indent="-228600" eaLnBrk="0" fontAlgn="base" hangingPunct="0">
              <a:spcBef>
                <a:spcPct val="0"/>
              </a:spcBef>
              <a:spcAft>
                <a:spcPct val="0"/>
              </a:spcAft>
              <a:defRPr>
                <a:solidFill>
                  <a:schemeClr val="tx1"/>
                </a:solidFill>
                <a:latin typeface="Tahoma" pitchFamily="34" charset="0"/>
                <a:cs typeface="Arial" charset="0"/>
              </a:defRPr>
            </a:lvl6pPr>
            <a:lvl7pPr marL="2971800" indent="-228600" eaLnBrk="0" fontAlgn="base" hangingPunct="0">
              <a:spcBef>
                <a:spcPct val="0"/>
              </a:spcBef>
              <a:spcAft>
                <a:spcPct val="0"/>
              </a:spcAft>
              <a:defRPr>
                <a:solidFill>
                  <a:schemeClr val="tx1"/>
                </a:solidFill>
                <a:latin typeface="Tahoma" pitchFamily="34" charset="0"/>
                <a:cs typeface="Arial" charset="0"/>
              </a:defRPr>
            </a:lvl7pPr>
            <a:lvl8pPr marL="3429000" indent="-228600" eaLnBrk="0" fontAlgn="base" hangingPunct="0">
              <a:spcBef>
                <a:spcPct val="0"/>
              </a:spcBef>
              <a:spcAft>
                <a:spcPct val="0"/>
              </a:spcAft>
              <a:defRPr>
                <a:solidFill>
                  <a:schemeClr val="tx1"/>
                </a:solidFill>
                <a:latin typeface="Tahoma" pitchFamily="34" charset="0"/>
                <a:cs typeface="Arial" charset="0"/>
              </a:defRPr>
            </a:lvl8pPr>
            <a:lvl9pPr marL="3886200" indent="-228600" eaLnBrk="0" fontAlgn="base" hangingPunct="0">
              <a:spcBef>
                <a:spcPct val="0"/>
              </a:spcBef>
              <a:spcAft>
                <a:spcPct val="0"/>
              </a:spcAft>
              <a:defRPr>
                <a:solidFill>
                  <a:schemeClr val="tx1"/>
                </a:solidFill>
                <a:latin typeface="Tahoma" pitchFamily="34" charset="0"/>
                <a:cs typeface="Arial" charset="0"/>
              </a:defRPr>
            </a:lvl9pPr>
          </a:lstStyle>
          <a:p>
            <a:pPr eaLnBrk="1" hangingPunct="1"/>
            <a:r>
              <a:rPr lang="en-GB" sz="2800" dirty="0"/>
              <a:t>We will learn to build these plots next year in AE3211-I</a:t>
            </a:r>
          </a:p>
        </p:txBody>
      </p:sp>
      <p:sp>
        <p:nvSpPr>
          <p:cNvPr id="534538" name="TextBox 534537"/>
          <p:cNvSpPr txBox="1"/>
          <p:nvPr/>
        </p:nvSpPr>
        <p:spPr>
          <a:xfrm>
            <a:off x="7510309" y="2273034"/>
            <a:ext cx="2376264" cy="646331"/>
          </a:xfrm>
          <a:prstGeom prst="rect">
            <a:avLst/>
          </a:prstGeom>
          <a:noFill/>
        </p:spPr>
        <p:txBody>
          <a:bodyPr wrap="square" rtlCol="0">
            <a:spAutoFit/>
          </a:bodyPr>
          <a:lstStyle/>
          <a:p>
            <a:r>
              <a:rPr lang="en-US" dirty="0"/>
              <a:t>Example of aircraft loading diagram</a:t>
            </a:r>
          </a:p>
        </p:txBody>
      </p:sp>
    </p:spTree>
    <p:extLst>
      <p:ext uri="{BB962C8B-B14F-4D97-AF65-F5344CB8AC3E}">
        <p14:creationId xmlns:p14="http://schemas.microsoft.com/office/powerpoint/2010/main" val="3957347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4538"/>
                                        </p:tgtEl>
                                        <p:attrNameLst>
                                          <p:attrName>style.visibility</p:attrName>
                                        </p:attrNameLst>
                                      </p:cBhvr>
                                      <p:to>
                                        <p:strVal val="visible"/>
                                      </p:to>
                                    </p:set>
                                    <p:animEffect transition="in" filter="fade">
                                      <p:cBhvr>
                                        <p:cTn id="7" dur="500"/>
                                        <p:tgtEl>
                                          <p:spTgt spid="5345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34537"/>
                                        </p:tgtEl>
                                        <p:attrNameLst>
                                          <p:attrName>style.visibility</p:attrName>
                                        </p:attrNameLst>
                                      </p:cBhvr>
                                      <p:to>
                                        <p:strVal val="visible"/>
                                      </p:to>
                                    </p:set>
                                    <p:animEffect transition="in" filter="fade">
                                      <p:cBhvr>
                                        <p:cTn id="10" dur="500"/>
                                        <p:tgtEl>
                                          <p:spTgt spid="53453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3252"/>
                                        </p:tgtEl>
                                        <p:attrNameLst>
                                          <p:attrName>style.visibility</p:attrName>
                                        </p:attrNameLst>
                                      </p:cBhvr>
                                      <p:to>
                                        <p:strVal val="visible"/>
                                      </p:to>
                                    </p:set>
                                    <p:animEffect transition="in" filter="fade">
                                      <p:cBhvr>
                                        <p:cTn id="15" dur="500"/>
                                        <p:tgtEl>
                                          <p:spTgt spid="53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534537" grpId="0"/>
      <p:bldP spid="53252" grpId="0" animBg="1"/>
      <p:bldP spid="53453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bwMode="auto">
          <a:xfrm>
            <a:off x="695400" y="188640"/>
            <a:ext cx="9472244" cy="7366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sz="2800" b="0" dirty="0">
                <a:solidFill>
                  <a:srgbClr val="00A4DE"/>
                </a:solidFill>
              </a:rPr>
              <a:t>Class II weight prediction methods - availability</a:t>
            </a:r>
          </a:p>
        </p:txBody>
      </p:sp>
      <p:sp>
        <p:nvSpPr>
          <p:cNvPr id="52227" name="Rectangle 4"/>
          <p:cNvSpPr>
            <a:spLocks noChangeArrowheads="1"/>
          </p:cNvSpPr>
          <p:nvPr/>
        </p:nvSpPr>
        <p:spPr bwMode="auto">
          <a:xfrm>
            <a:off x="1775520" y="2636912"/>
            <a:ext cx="9001001" cy="3270639"/>
          </a:xfrm>
          <a:prstGeom prst="rect">
            <a:avLst/>
          </a:prstGeom>
          <a:solidFill>
            <a:srgbClr val="FFFF00"/>
          </a:solidFill>
          <a:ln w="9525" algn="ctr">
            <a:solidFill>
              <a:schemeClr val="tx1"/>
            </a:solidFill>
            <a:miter lim="800000"/>
            <a:headEnd/>
            <a:tailEnd/>
          </a:ln>
        </p:spPr>
        <p:txBody>
          <a:bodyPr wrap="square">
            <a:spAutoFit/>
          </a:bodyPr>
          <a:lstStyle/>
          <a:p>
            <a:pPr marL="342900" indent="-342900">
              <a:lnSpc>
                <a:spcPct val="110000"/>
              </a:lnSpc>
              <a:spcAft>
                <a:spcPts val="1200"/>
              </a:spcAft>
              <a:buFontTx/>
              <a:buAutoNum type="arabicPeriod"/>
            </a:pPr>
            <a:r>
              <a:rPr lang="en-US" dirty="0"/>
              <a:t> E. Torenbeek, Synthesis of Subsonic Airplane Design, Chapter 8 </a:t>
            </a:r>
          </a:p>
          <a:p>
            <a:pPr marL="342900" indent="-342900">
              <a:lnSpc>
                <a:spcPct val="110000"/>
              </a:lnSpc>
              <a:spcAft>
                <a:spcPts val="1200"/>
              </a:spcAft>
              <a:buFontTx/>
              <a:buAutoNum type="arabicPeriod"/>
            </a:pPr>
            <a:r>
              <a:rPr lang="en-US" dirty="0"/>
              <a:t> J. </a:t>
            </a:r>
            <a:r>
              <a:rPr lang="en-US" dirty="0" err="1"/>
              <a:t>Roskam</a:t>
            </a:r>
            <a:r>
              <a:rPr lang="en-US" dirty="0"/>
              <a:t>, Airplane Design, Part V: Component Weight Estimation</a:t>
            </a:r>
          </a:p>
          <a:p>
            <a:pPr marL="342900" indent="-342900">
              <a:lnSpc>
                <a:spcPct val="110000"/>
              </a:lnSpc>
              <a:spcAft>
                <a:spcPts val="1200"/>
              </a:spcAft>
              <a:buFontTx/>
              <a:buAutoNum type="arabicPeriod"/>
            </a:pPr>
            <a:r>
              <a:rPr lang="en-US" dirty="0"/>
              <a:t> D. Raymer, Aircraft Design – A conceptual approach, Chapter 15</a:t>
            </a:r>
          </a:p>
          <a:p>
            <a:pPr marL="342900" indent="-342900">
              <a:lnSpc>
                <a:spcPct val="110000"/>
              </a:lnSpc>
              <a:spcAft>
                <a:spcPts val="1200"/>
              </a:spcAft>
              <a:buFontTx/>
              <a:buAutoNum type="arabicPeriod"/>
            </a:pPr>
            <a:r>
              <a:rPr lang="en-US" dirty="0"/>
              <a:t> T.C. </a:t>
            </a:r>
            <a:r>
              <a:rPr lang="en-US" dirty="0" err="1"/>
              <a:t>Corke</a:t>
            </a:r>
            <a:r>
              <a:rPr lang="en-US" dirty="0"/>
              <a:t>, Design of Aircraft, Chapters 2 and 11</a:t>
            </a:r>
          </a:p>
          <a:p>
            <a:pPr marL="342900" indent="-342900">
              <a:lnSpc>
                <a:spcPct val="110000"/>
              </a:lnSpc>
              <a:spcAft>
                <a:spcPts val="1200"/>
              </a:spcAft>
              <a:buFontTx/>
              <a:buAutoNum type="arabicPeriod"/>
            </a:pPr>
            <a:r>
              <a:rPr lang="en-US" dirty="0"/>
              <a:t> L.R. </a:t>
            </a:r>
            <a:r>
              <a:rPr lang="en-US" dirty="0" err="1"/>
              <a:t>Jenkinson</a:t>
            </a:r>
            <a:r>
              <a:rPr lang="en-US" dirty="0"/>
              <a:t>, Civil Jet Aircraft Design, Chapter 7</a:t>
            </a:r>
          </a:p>
          <a:p>
            <a:pPr marL="342900" indent="-342900">
              <a:lnSpc>
                <a:spcPct val="110000"/>
              </a:lnSpc>
              <a:spcAft>
                <a:spcPts val="1200"/>
              </a:spcAft>
              <a:buFontTx/>
              <a:buAutoNum type="arabicPeriod"/>
            </a:pPr>
            <a:r>
              <a:rPr lang="en-US" dirty="0"/>
              <a:t> I. </a:t>
            </a:r>
            <a:r>
              <a:rPr lang="en-US" dirty="0" err="1"/>
              <a:t>Kroo</a:t>
            </a:r>
            <a:r>
              <a:rPr lang="en-US" dirty="0"/>
              <a:t> and R. </a:t>
            </a:r>
            <a:r>
              <a:rPr lang="en-US" dirty="0" err="1"/>
              <a:t>Shevell</a:t>
            </a:r>
            <a:r>
              <a:rPr lang="en-US" dirty="0"/>
              <a:t>, Aircraft Design: Synthesis and Analysis, Web Book from Stanford University, available at: </a:t>
            </a:r>
            <a:r>
              <a:rPr lang="en-US" dirty="0">
                <a:hlinkClick r:id="rId3"/>
              </a:rPr>
              <a:t>http://adg.stanford.edu/aa241/structures/weights.html</a:t>
            </a:r>
            <a:endParaRPr lang="en-US" dirty="0"/>
          </a:p>
        </p:txBody>
      </p:sp>
      <p:sp>
        <p:nvSpPr>
          <p:cNvPr id="52228" name="Rectangle 6"/>
          <p:cNvSpPr>
            <a:spLocks noChangeArrowheads="1"/>
          </p:cNvSpPr>
          <p:nvPr/>
        </p:nvSpPr>
        <p:spPr bwMode="auto">
          <a:xfrm>
            <a:off x="734717" y="1124744"/>
            <a:ext cx="9393610" cy="1046440"/>
          </a:xfrm>
          <a:prstGeom prst="rect">
            <a:avLst/>
          </a:prstGeom>
          <a:noFill/>
          <a:ln w="9525" algn="ctr">
            <a:noFill/>
            <a:miter lim="800000"/>
            <a:headEnd/>
            <a:tailEnd/>
          </a:ln>
        </p:spPr>
        <p:txBody>
          <a:bodyPr wrap="square">
            <a:spAutoFit/>
          </a:bodyPr>
          <a:lstStyle/>
          <a:p>
            <a:r>
              <a:rPr lang="en-US" sz="1600" dirty="0"/>
              <a:t>A number of Class II weight prediction methods are available on classical Aircraft Design text books. </a:t>
            </a:r>
          </a:p>
          <a:p>
            <a:endParaRPr lang="en-US" sz="1400" dirty="0"/>
          </a:p>
          <a:p>
            <a:r>
              <a:rPr lang="en-US" sz="1600" dirty="0"/>
              <a:t>Though often restricted to specific aircraft categories and typically based on relatively old aircraft data, they nicely serve educational purposes:</a:t>
            </a:r>
            <a:endParaRPr lang="en-GB" sz="1600" dirty="0"/>
          </a:p>
        </p:txBody>
      </p:sp>
    </p:spTree>
    <p:extLst>
      <p:ext uri="{BB962C8B-B14F-4D97-AF65-F5344CB8AC3E}">
        <p14:creationId xmlns:p14="http://schemas.microsoft.com/office/powerpoint/2010/main" val="65767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2227"/>
                                        </p:tgtEl>
                                        <p:attrNameLst>
                                          <p:attrName>style.visibility</p:attrName>
                                        </p:attrNameLst>
                                      </p:cBhvr>
                                      <p:to>
                                        <p:strVal val="visible"/>
                                      </p:to>
                                    </p:set>
                                    <p:animEffect transition="in" filter="fade">
                                      <p:cBhvr>
                                        <p:cTn id="7" dur="500"/>
                                        <p:tgtEl>
                                          <p:spTgt spid="52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0" y="0"/>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nl-NL" sz="2200"/>
          </a:p>
        </p:txBody>
      </p:sp>
      <p:sp>
        <p:nvSpPr>
          <p:cNvPr id="6" name="Rectangle 4"/>
          <p:cNvSpPr>
            <a:spLocks noChangeArrowheads="1"/>
          </p:cNvSpPr>
          <p:nvPr/>
        </p:nvSpPr>
        <p:spPr bwMode="auto">
          <a:xfrm>
            <a:off x="191344" y="581800"/>
            <a:ext cx="114492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b="1" dirty="0">
                <a:solidFill>
                  <a:schemeClr val="bg1"/>
                </a:solidFill>
                <a:latin typeface="Bookman Old Style" pitchFamily="18" charset="0"/>
              </a:rPr>
              <a:t>2.1: Estimation of the load factor</a:t>
            </a:r>
          </a:p>
        </p:txBody>
      </p:sp>
    </p:spTree>
    <p:extLst>
      <p:ext uri="{BB962C8B-B14F-4D97-AF65-F5344CB8AC3E}">
        <p14:creationId xmlns:p14="http://schemas.microsoft.com/office/powerpoint/2010/main" val="35101665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b="15454"/>
          <a:stretch>
            <a:fillRect/>
          </a:stretch>
        </p:blipFill>
        <p:spPr bwMode="auto">
          <a:xfrm>
            <a:off x="1706117" y="2348883"/>
            <a:ext cx="5481638" cy="3413125"/>
          </a:xfrm>
          <a:prstGeom prst="rect">
            <a:avLst/>
          </a:prstGeom>
          <a:noFill/>
          <a:ln w="9525" algn="ctr">
            <a:solidFill>
              <a:schemeClr val="tx1"/>
            </a:solidFill>
            <a:miter lim="800000"/>
            <a:headEnd/>
            <a:tailEnd/>
          </a:ln>
        </p:spPr>
      </p:pic>
      <p:sp>
        <p:nvSpPr>
          <p:cNvPr id="48131" name="Rectangle 6"/>
          <p:cNvSpPr>
            <a:spLocks noChangeArrowheads="1"/>
          </p:cNvSpPr>
          <p:nvPr/>
        </p:nvSpPr>
        <p:spPr bwMode="auto">
          <a:xfrm>
            <a:off x="839416" y="203200"/>
            <a:ext cx="10099848" cy="1143000"/>
          </a:xfrm>
          <a:prstGeom prst="rect">
            <a:avLst/>
          </a:prstGeom>
          <a:noFill/>
          <a:ln w="9525">
            <a:noFill/>
            <a:miter lim="800000"/>
            <a:headEnd/>
            <a:tailEnd/>
          </a:ln>
        </p:spPr>
        <p:txBody>
          <a:bodyPr/>
          <a:lstStyle/>
          <a:p>
            <a:pPr>
              <a:spcBef>
                <a:spcPct val="0"/>
              </a:spcBef>
              <a:buClrTx/>
            </a:pPr>
            <a:r>
              <a:rPr lang="en-US" sz="2800" dirty="0">
                <a:solidFill>
                  <a:srgbClr val="00A4DE"/>
                </a:solidFill>
                <a:latin typeface="+mj-lt"/>
              </a:rPr>
              <a:t>Examples of a Class II weight estimation methods</a:t>
            </a:r>
          </a:p>
        </p:txBody>
      </p:sp>
      <p:sp>
        <p:nvSpPr>
          <p:cNvPr id="48133" name="Text Box 8"/>
          <p:cNvSpPr txBox="1">
            <a:spLocks noChangeArrowheads="1"/>
          </p:cNvSpPr>
          <p:nvPr/>
        </p:nvSpPr>
        <p:spPr bwMode="auto">
          <a:xfrm>
            <a:off x="839416" y="881858"/>
            <a:ext cx="10945216" cy="1354217"/>
          </a:xfrm>
          <a:prstGeom prst="rect">
            <a:avLst/>
          </a:prstGeom>
          <a:noFill/>
          <a:ln w="9525" algn="ctr">
            <a:noFill/>
            <a:miter lim="800000"/>
            <a:headEnd/>
            <a:tailEnd/>
          </a:ln>
        </p:spPr>
        <p:txBody>
          <a:bodyPr wrap="square">
            <a:spAutoFit/>
          </a:bodyPr>
          <a:lstStyle/>
          <a:p>
            <a:r>
              <a:rPr lang="en-GB" dirty="0"/>
              <a:t>The corrective coefficients have been derived </a:t>
            </a:r>
            <a:r>
              <a:rPr lang="en-GB" b="1" dirty="0"/>
              <a:t>on the base of extensive databases of actual aircraft weights </a:t>
            </a:r>
            <a:r>
              <a:rPr lang="en-GB" dirty="0"/>
              <a:t>using regression analysis.</a:t>
            </a:r>
          </a:p>
          <a:p>
            <a:endParaRPr lang="en-GB" sz="1000" dirty="0"/>
          </a:p>
          <a:p>
            <a:r>
              <a:rPr lang="en-GB" dirty="0"/>
              <a:t>Hence, these rules can well predict the weight of </a:t>
            </a:r>
            <a:r>
              <a:rPr lang="en-GB" b="1" dirty="0"/>
              <a:t>designs that do not differ significantly</a:t>
            </a:r>
            <a:r>
              <a:rPr lang="en-GB" dirty="0"/>
              <a:t> from those included in the database</a:t>
            </a:r>
          </a:p>
        </p:txBody>
      </p:sp>
      <p:sp>
        <p:nvSpPr>
          <p:cNvPr id="3" name="Rounded Rectangle 2"/>
          <p:cNvSpPr/>
          <p:nvPr/>
        </p:nvSpPr>
        <p:spPr bwMode="auto">
          <a:xfrm>
            <a:off x="1706119" y="2348880"/>
            <a:ext cx="2589683" cy="432048"/>
          </a:xfrm>
          <a:prstGeom prst="round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4" name="Oval 3"/>
          <p:cNvSpPr/>
          <p:nvPr/>
        </p:nvSpPr>
        <p:spPr bwMode="auto">
          <a:xfrm>
            <a:off x="3503712" y="2835577"/>
            <a:ext cx="504056" cy="43204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10" name="Oval 9"/>
          <p:cNvSpPr/>
          <p:nvPr/>
        </p:nvSpPr>
        <p:spPr bwMode="auto">
          <a:xfrm>
            <a:off x="5375920" y="3839418"/>
            <a:ext cx="504056" cy="43204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11" name="Oval 10"/>
          <p:cNvSpPr/>
          <p:nvPr/>
        </p:nvSpPr>
        <p:spPr bwMode="auto">
          <a:xfrm>
            <a:off x="4886412" y="4797152"/>
            <a:ext cx="504056" cy="43204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grpSp>
        <p:nvGrpSpPr>
          <p:cNvPr id="5" name="Group 4"/>
          <p:cNvGrpSpPr/>
          <p:nvPr/>
        </p:nvGrpSpPr>
        <p:grpSpPr>
          <a:xfrm>
            <a:off x="4595612" y="3257116"/>
            <a:ext cx="5781879" cy="2789618"/>
            <a:chOff x="6660232" y="5463191"/>
            <a:chExt cx="5781879" cy="2789618"/>
          </a:xfrm>
        </p:grpSpPr>
        <p:pic>
          <p:nvPicPr>
            <p:cNvPr id="48132"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60232" y="5463191"/>
              <a:ext cx="5781879" cy="2789618"/>
            </a:xfrm>
            <a:prstGeom prst="rect">
              <a:avLst/>
            </a:prstGeom>
            <a:noFill/>
            <a:ln w="9525" algn="ctr">
              <a:solidFill>
                <a:schemeClr val="tx1"/>
              </a:solidFill>
              <a:miter lim="800000"/>
              <a:headEnd/>
              <a:tailEnd/>
            </a:ln>
          </p:spPr>
        </p:pic>
        <p:sp>
          <p:nvSpPr>
            <p:cNvPr id="8" name="Rounded Rectangle 7"/>
            <p:cNvSpPr/>
            <p:nvPr/>
          </p:nvSpPr>
          <p:spPr bwMode="auto">
            <a:xfrm>
              <a:off x="6660232" y="5463191"/>
              <a:ext cx="2343199" cy="432048"/>
            </a:xfrm>
            <a:prstGeom prst="round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grpSp>
      <p:sp>
        <p:nvSpPr>
          <p:cNvPr id="14" name="Oval 13"/>
          <p:cNvSpPr/>
          <p:nvPr/>
        </p:nvSpPr>
        <p:spPr bwMode="auto">
          <a:xfrm>
            <a:off x="8832304" y="3881243"/>
            <a:ext cx="504056" cy="43204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16" name="Oval 15"/>
          <p:cNvSpPr/>
          <p:nvPr/>
        </p:nvSpPr>
        <p:spPr bwMode="auto">
          <a:xfrm>
            <a:off x="5879976" y="4830543"/>
            <a:ext cx="504056" cy="43204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6" name="Rectangle 5"/>
          <p:cNvSpPr/>
          <p:nvPr/>
        </p:nvSpPr>
        <p:spPr>
          <a:xfrm>
            <a:off x="2816654" y="4502023"/>
            <a:ext cx="6259914" cy="1015663"/>
          </a:xfrm>
          <a:prstGeom prst="rect">
            <a:avLst/>
          </a:prstGeom>
          <a:solidFill>
            <a:srgbClr val="FFFF00"/>
          </a:solidFill>
        </p:spPr>
        <p:txBody>
          <a:bodyPr wrap="square">
            <a:spAutoFit/>
          </a:bodyPr>
          <a:lstStyle/>
          <a:p>
            <a:pPr eaLnBrk="1" hangingPunct="1"/>
            <a:r>
              <a:rPr lang="en-GB" sz="2000" b="1" dirty="0" err="1">
                <a:latin typeface="Arial" pitchFamily="34" charset="0"/>
              </a:rPr>
              <a:t>N</a:t>
            </a:r>
            <a:r>
              <a:rPr lang="en-GB" sz="2000" b="1" baseline="-25000" dirty="0" err="1">
                <a:latin typeface="Arial" pitchFamily="34" charset="0"/>
              </a:rPr>
              <a:t>z</a:t>
            </a:r>
            <a:r>
              <a:rPr lang="en-GB" sz="2000" b="1" dirty="0">
                <a:latin typeface="Arial" pitchFamily="34" charset="0"/>
              </a:rPr>
              <a:t> is the ultimate design load factor </a:t>
            </a:r>
          </a:p>
          <a:p>
            <a:pPr eaLnBrk="1" hangingPunct="1"/>
            <a:endParaRPr lang="en-GB" sz="2000" b="1" dirty="0">
              <a:latin typeface="Arial" pitchFamily="34" charset="0"/>
            </a:endParaRPr>
          </a:p>
          <a:p>
            <a:pPr eaLnBrk="1" hangingPunct="1"/>
            <a:r>
              <a:rPr lang="en-GB" sz="2000" dirty="0">
                <a:latin typeface="Arial" pitchFamily="34" charset="0"/>
              </a:rPr>
              <a:t>= 1.5 times the maximum design load factor </a:t>
            </a:r>
            <a:r>
              <a:rPr lang="en-GB" sz="2000" b="1" dirty="0" err="1">
                <a:latin typeface="Arial" pitchFamily="34" charset="0"/>
              </a:rPr>
              <a:t>n</a:t>
            </a:r>
            <a:r>
              <a:rPr lang="en-GB" sz="2000" b="1" baseline="-25000" dirty="0" err="1">
                <a:latin typeface="Arial" pitchFamily="34" charset="0"/>
              </a:rPr>
              <a:t>max</a:t>
            </a:r>
            <a:r>
              <a:rPr lang="en-GB" sz="2000" dirty="0">
                <a:latin typeface="Arial" pitchFamily="34" charset="0"/>
              </a:rPr>
              <a:t> </a:t>
            </a:r>
          </a:p>
        </p:txBody>
      </p:sp>
    </p:spTree>
    <p:extLst>
      <p:ext uri="{BB962C8B-B14F-4D97-AF65-F5344CB8AC3E}">
        <p14:creationId xmlns:p14="http://schemas.microsoft.com/office/powerpoint/2010/main" val="353149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14" grpId="0" animBg="1"/>
      <p:bldP spid="16" grpId="0" animBg="1"/>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6"/>
          <p:cNvSpPr>
            <a:spLocks noGrp="1" noChangeArrowheads="1"/>
          </p:cNvSpPr>
          <p:nvPr>
            <p:ph type="title"/>
          </p:nvPr>
        </p:nvSpPr>
        <p:spPr bwMode="auto">
          <a:xfrm>
            <a:off x="839416" y="173892"/>
            <a:ext cx="4574456" cy="576263"/>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sz="3200" b="0" dirty="0">
                <a:solidFill>
                  <a:srgbClr val="00A4DE"/>
                </a:solidFill>
              </a:rPr>
              <a:t>The Load Factor </a:t>
            </a:r>
            <a:r>
              <a:rPr lang="en-US" sz="3200" b="0" i="1" dirty="0">
                <a:solidFill>
                  <a:srgbClr val="00A4DE"/>
                </a:solidFill>
              </a:rPr>
              <a:t>n</a:t>
            </a:r>
          </a:p>
        </p:txBody>
      </p:sp>
      <p:sp>
        <p:nvSpPr>
          <p:cNvPr id="9222" name="Text Box 10"/>
          <p:cNvSpPr txBox="1">
            <a:spLocks noChangeArrowheads="1"/>
          </p:cNvSpPr>
          <p:nvPr/>
        </p:nvSpPr>
        <p:spPr bwMode="auto">
          <a:xfrm>
            <a:off x="983432" y="908720"/>
            <a:ext cx="9684568" cy="369332"/>
          </a:xfrm>
          <a:prstGeom prst="rect">
            <a:avLst/>
          </a:prstGeom>
          <a:noFill/>
          <a:ln w="9525" algn="ctr">
            <a:noFill/>
            <a:miter lim="800000"/>
            <a:headEnd/>
            <a:tailEnd/>
          </a:ln>
        </p:spPr>
        <p:txBody>
          <a:bodyPr wrap="square">
            <a:spAutoFit/>
          </a:bodyPr>
          <a:lstStyle/>
          <a:p>
            <a:r>
              <a:rPr lang="en-GB" dirty="0"/>
              <a:t>The (vertical) load factor is defined as the Lift to Weight ratio:</a:t>
            </a:r>
            <a:endParaRPr lang="en-GB" b="1" dirty="0">
              <a:solidFill>
                <a:srgbClr val="FF3300"/>
              </a:solidFill>
            </a:endParaRPr>
          </a:p>
        </p:txBody>
      </p:sp>
      <mc:AlternateContent xmlns:mc="http://schemas.openxmlformats.org/markup-compatibility/2006" xmlns:a14="http://schemas.microsoft.com/office/drawing/2010/main">
        <mc:Choice Requires="a14">
          <p:sp>
            <p:nvSpPr>
              <p:cNvPr id="9223" name="Text Box 11"/>
              <p:cNvSpPr txBox="1">
                <a:spLocks noChangeArrowheads="1"/>
              </p:cNvSpPr>
              <p:nvPr/>
            </p:nvSpPr>
            <p:spPr bwMode="auto">
              <a:xfrm>
                <a:off x="983432" y="2217641"/>
                <a:ext cx="10729192" cy="2862322"/>
              </a:xfrm>
              <a:prstGeom prst="rect">
                <a:avLst/>
              </a:prstGeom>
              <a:noFill/>
              <a:ln w="9525" algn="ctr">
                <a:noFill/>
                <a:miter lim="800000"/>
                <a:headEnd/>
                <a:tailEnd/>
              </a:ln>
            </p:spPr>
            <p:txBody>
              <a:bodyPr wrap="square">
                <a:spAutoFit/>
              </a:bodyPr>
              <a:lstStyle/>
              <a:p>
                <a:r>
                  <a:rPr lang="en-GB" dirty="0"/>
                  <a:t>Its maximum value </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a:rPr>
                          <m:t>𝑛</m:t>
                        </m:r>
                      </m:e>
                      <m:sub>
                        <m:r>
                          <a:rPr lang="en-GB" b="0" i="1" smtClean="0">
                            <a:latin typeface="Cambria Math"/>
                          </a:rPr>
                          <m:t>𝑚𝑎𝑥</m:t>
                        </m:r>
                      </m:sub>
                    </m:sSub>
                    <m:r>
                      <a:rPr lang="en-GB" i="1">
                        <a:latin typeface="Cambria Math"/>
                      </a:rPr>
                      <m:t> </m:t>
                    </m:r>
                  </m:oMath>
                </a14:m>
                <a:r>
                  <a:rPr lang="en-GB" dirty="0"/>
                  <a:t>is determined by the flight most critical condition and it is strictly related to the capability of the structure to carry the flight loads without any significant damage.</a:t>
                </a:r>
              </a:p>
              <a:p>
                <a:endParaRPr lang="en-GB" dirty="0"/>
              </a:p>
              <a:p>
                <a:pPr marL="742950" lvl="1" indent="-285750">
                  <a:buFont typeface="Arial" panose="020B0604020202020204" pitchFamily="34" charset="0"/>
                  <a:buChar char="•"/>
                </a:pPr>
                <a:r>
                  <a:rPr lang="en-GB" dirty="0"/>
                  <a:t>Limit load	</a:t>
                </a:r>
                <a14:m>
                  <m:oMath xmlns:m="http://schemas.openxmlformats.org/officeDocument/2006/math">
                    <m:sSub>
                      <m:sSubPr>
                        <m:ctrlPr>
                          <a:rPr lang="en-GB" i="1">
                            <a:latin typeface="Cambria Math" panose="02040503050406030204" pitchFamily="18" charset="0"/>
                          </a:rPr>
                        </m:ctrlPr>
                      </m:sSubPr>
                      <m:e>
                        <m:r>
                          <a:rPr lang="en-GB" i="1">
                            <a:latin typeface="Cambria Math"/>
                          </a:rPr>
                          <m:t>𝑛</m:t>
                        </m:r>
                      </m:e>
                      <m:sub>
                        <m:r>
                          <a:rPr lang="en-GB" b="0" i="1" smtClean="0">
                            <a:latin typeface="Cambria Math"/>
                          </a:rPr>
                          <m:t>𝑙𝑖𝑚</m:t>
                        </m:r>
                      </m:sub>
                    </m:sSub>
                    <m:r>
                      <a:rPr lang="en-GB" b="0" i="1" smtClean="0">
                        <a:latin typeface="Cambria Math"/>
                      </a:rPr>
                      <m:t>=</m:t>
                    </m:r>
                    <m:sSub>
                      <m:sSubPr>
                        <m:ctrlPr>
                          <a:rPr lang="en-GB" i="1">
                            <a:latin typeface="Cambria Math" panose="02040503050406030204" pitchFamily="18" charset="0"/>
                          </a:rPr>
                        </m:ctrlPr>
                      </m:sSubPr>
                      <m:e>
                        <m:r>
                          <a:rPr lang="en-GB" i="1">
                            <a:latin typeface="Cambria Math"/>
                          </a:rPr>
                          <m:t>𝑛</m:t>
                        </m:r>
                      </m:e>
                      <m:sub>
                        <m:r>
                          <a:rPr lang="en-GB" i="1">
                            <a:latin typeface="Cambria Math"/>
                          </a:rPr>
                          <m:t>𝑚𝑎𝑥</m:t>
                        </m:r>
                      </m:sub>
                    </m:sSub>
                  </m:oMath>
                </a14:m>
                <a:r>
                  <a:rPr lang="en-GB" dirty="0"/>
                  <a:t>: </a:t>
                </a:r>
                <a:r>
                  <a:rPr lang="en-GB" i="1" dirty="0"/>
                  <a:t>The structure must be able to support limit loads without detrimental permanent deformation. At any load up to limit loads, the deformation may not interfere with safe operation.</a:t>
                </a:r>
              </a:p>
              <a:p>
                <a:pPr marL="742950" lvl="1" indent="-285750">
                  <a:buFont typeface="Arial" panose="020B0604020202020204" pitchFamily="34" charset="0"/>
                  <a:buChar char="•"/>
                </a:pPr>
                <a:endParaRPr lang="en-GB" dirty="0"/>
              </a:p>
              <a:p>
                <a:pPr marL="742950" lvl="1" indent="-285750">
                  <a:buFont typeface="Arial" panose="020B0604020202020204" pitchFamily="34" charset="0"/>
                  <a:buChar char="•"/>
                </a:pPr>
                <a:r>
                  <a:rPr lang="en-GB" dirty="0"/>
                  <a:t>Ultimate load </a:t>
                </a:r>
                <a14:m>
                  <m:oMath xmlns:m="http://schemas.openxmlformats.org/officeDocument/2006/math">
                    <m:sSub>
                      <m:sSubPr>
                        <m:ctrlPr>
                          <a:rPr lang="en-GB" i="1">
                            <a:latin typeface="Cambria Math" panose="02040503050406030204" pitchFamily="18" charset="0"/>
                          </a:rPr>
                        </m:ctrlPr>
                      </m:sSubPr>
                      <m:e>
                        <m:sSub>
                          <m:sSubPr>
                            <m:ctrlPr>
                              <a:rPr lang="en-GB" i="1">
                                <a:latin typeface="Cambria Math" panose="02040503050406030204" pitchFamily="18" charset="0"/>
                              </a:rPr>
                            </m:ctrlPr>
                          </m:sSubPr>
                          <m:e>
                            <m:r>
                              <a:rPr lang="en-GB" i="1">
                                <a:latin typeface="Cambria Math"/>
                              </a:rPr>
                              <m:t>𝑛</m:t>
                            </m:r>
                          </m:e>
                          <m:sub>
                            <m:r>
                              <a:rPr lang="en-GB" b="0" i="1" smtClean="0">
                                <a:latin typeface="Cambria Math"/>
                              </a:rPr>
                              <m:t>𝑢𝑙𝑡</m:t>
                            </m:r>
                          </m:sub>
                        </m:sSub>
                        <m:r>
                          <a:rPr lang="en-GB" b="0" i="1" smtClean="0">
                            <a:latin typeface="Cambria Math"/>
                          </a:rPr>
                          <m:t>=1.5</m:t>
                        </m:r>
                        <m:r>
                          <a:rPr lang="en-GB" i="1">
                            <a:latin typeface="Cambria Math"/>
                          </a:rPr>
                          <m:t>𝑛</m:t>
                        </m:r>
                      </m:e>
                      <m:sub>
                        <m:r>
                          <a:rPr lang="en-GB" i="1">
                            <a:latin typeface="Cambria Math"/>
                          </a:rPr>
                          <m:t>𝑙𝑖𝑚</m:t>
                        </m:r>
                      </m:sub>
                    </m:sSub>
                  </m:oMath>
                </a14:m>
                <a:r>
                  <a:rPr lang="en-GB" dirty="0"/>
                  <a:t>: </a:t>
                </a:r>
                <a:r>
                  <a:rPr lang="en-GB" i="1" dirty="0"/>
                  <a:t>The structure must be able to support ultimate loads without failure for at least 3 seconds. </a:t>
                </a:r>
              </a:p>
              <a:p>
                <a:pPr marL="742950" lvl="1" indent="-285750">
                  <a:buFont typeface="Arial" panose="020B0604020202020204" pitchFamily="34" charset="0"/>
                  <a:buChar char="•"/>
                </a:pPr>
                <a:endParaRPr lang="en-GB" dirty="0"/>
              </a:p>
            </p:txBody>
          </p:sp>
        </mc:Choice>
        <mc:Fallback xmlns="">
          <p:sp>
            <p:nvSpPr>
              <p:cNvPr id="9223" name="Text Box 11"/>
              <p:cNvSpPr txBox="1">
                <a:spLocks noRot="1" noChangeAspect="1" noMove="1" noResize="1" noEditPoints="1" noAdjustHandles="1" noChangeArrowheads="1" noChangeShapeType="1" noTextEdit="1"/>
              </p:cNvSpPr>
              <p:nvPr/>
            </p:nvSpPr>
            <p:spPr bwMode="auto">
              <a:xfrm>
                <a:off x="983432" y="2217641"/>
                <a:ext cx="10729192" cy="2862322"/>
              </a:xfrm>
              <a:prstGeom prst="rect">
                <a:avLst/>
              </a:prstGeom>
              <a:blipFill>
                <a:blip r:embed="rId3"/>
                <a:stretch>
                  <a:fillRect l="-455" t="-1279" r="-966"/>
                </a:stretch>
              </a:blipFill>
              <a:ln w="9525" algn="ctr">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5591944" y="1402851"/>
                <a:ext cx="1080120" cy="6105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a:rPr>
                        <m:t>𝑛</m:t>
                      </m:r>
                      <m:r>
                        <a:rPr lang="en-GB" b="0" i="1" smtClean="0">
                          <a:latin typeface="Cambria Math"/>
                        </a:rPr>
                        <m:t>=</m:t>
                      </m:r>
                      <m:f>
                        <m:fPr>
                          <m:ctrlPr>
                            <a:rPr lang="en-GB" b="0" i="1" smtClean="0">
                              <a:latin typeface="Cambria Math" panose="02040503050406030204" pitchFamily="18" charset="0"/>
                            </a:rPr>
                          </m:ctrlPr>
                        </m:fPr>
                        <m:num>
                          <m:r>
                            <a:rPr lang="en-GB" b="0" i="1" smtClean="0">
                              <a:latin typeface="Cambria Math"/>
                            </a:rPr>
                            <m:t>𝐿</m:t>
                          </m:r>
                        </m:num>
                        <m:den>
                          <m:r>
                            <a:rPr lang="en-GB" b="0" i="1" smtClean="0">
                              <a:latin typeface="Cambria Math"/>
                            </a:rPr>
                            <m:t>𝑊</m:t>
                          </m:r>
                        </m:den>
                      </m:f>
                    </m:oMath>
                  </m:oMathPara>
                </a14:m>
                <a:endParaRPr lang="en-GB" dirty="0"/>
              </a:p>
            </p:txBody>
          </p:sp>
        </mc:Choice>
        <mc:Fallback xmlns="">
          <p:sp>
            <p:nvSpPr>
              <p:cNvPr id="3" name="TextBox 2"/>
              <p:cNvSpPr txBox="1">
                <a:spLocks noRot="1" noChangeAspect="1" noMove="1" noResize="1" noEditPoints="1" noAdjustHandles="1" noChangeArrowheads="1" noChangeShapeType="1" noTextEdit="1"/>
              </p:cNvSpPr>
              <p:nvPr/>
            </p:nvSpPr>
            <p:spPr>
              <a:xfrm>
                <a:off x="5591944" y="1402851"/>
                <a:ext cx="1080120" cy="610552"/>
              </a:xfrm>
              <a:prstGeom prst="rect">
                <a:avLst/>
              </a:prstGeom>
              <a:blipFill>
                <a:blip r:embed="rId4"/>
                <a:stretch>
                  <a:fillRect/>
                </a:stretch>
              </a:blipFill>
            </p:spPr>
            <p:txBody>
              <a:bodyPr/>
              <a:lstStyle/>
              <a:p>
                <a:r>
                  <a:rPr lang="en-US">
                    <a:noFill/>
                  </a:rPr>
                  <a:t> </a:t>
                </a:r>
              </a:p>
            </p:txBody>
          </p:sp>
        </mc:Fallback>
      </mc:AlternateContent>
      <p:sp>
        <p:nvSpPr>
          <p:cNvPr id="5" name="Rectangle 4"/>
          <p:cNvSpPr/>
          <p:nvPr/>
        </p:nvSpPr>
        <p:spPr>
          <a:xfrm>
            <a:off x="1055440" y="5356962"/>
            <a:ext cx="10657184" cy="646331"/>
          </a:xfrm>
          <a:prstGeom prst="rect">
            <a:avLst/>
          </a:prstGeom>
        </p:spPr>
        <p:txBody>
          <a:bodyPr wrap="square">
            <a:spAutoFit/>
          </a:bodyPr>
          <a:lstStyle/>
          <a:p>
            <a:r>
              <a:rPr lang="en-GB" dirty="0"/>
              <a:t>We have to define the critical flight condition in order to determine the value of the limit and the ultimate load factors</a:t>
            </a:r>
          </a:p>
        </p:txBody>
      </p:sp>
    </p:spTree>
    <p:extLst>
      <p:ext uri="{BB962C8B-B14F-4D97-AF65-F5344CB8AC3E}">
        <p14:creationId xmlns:p14="http://schemas.microsoft.com/office/powerpoint/2010/main" val="25038871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6"/>
          <p:cNvSpPr>
            <a:spLocks noGrp="1" noChangeArrowheads="1"/>
          </p:cNvSpPr>
          <p:nvPr>
            <p:ph type="title"/>
          </p:nvPr>
        </p:nvSpPr>
        <p:spPr bwMode="auto">
          <a:xfrm>
            <a:off x="695400" y="117997"/>
            <a:ext cx="7344816" cy="576263"/>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sz="2800" b="0" dirty="0">
                <a:solidFill>
                  <a:srgbClr val="00A4DE"/>
                </a:solidFill>
              </a:rPr>
              <a:t>Determination of the Load Factor </a:t>
            </a:r>
            <a:r>
              <a:rPr lang="en-US" sz="2800" b="0" i="1" dirty="0">
                <a:solidFill>
                  <a:srgbClr val="00A4DE"/>
                </a:solidFill>
              </a:rPr>
              <a:t>n </a:t>
            </a:r>
          </a:p>
        </p:txBody>
      </p:sp>
      <p:graphicFrame>
        <p:nvGraphicFramePr>
          <p:cNvPr id="9218" name="Object 5"/>
          <p:cNvGraphicFramePr>
            <a:graphicFrameLocks noGrp="1" noChangeAspect="1"/>
          </p:cNvGraphicFramePr>
          <p:nvPr>
            <p:ph idx="1"/>
            <p:extLst>
              <p:ext uri="{D42A27DB-BD31-4B8C-83A1-F6EECF244321}">
                <p14:modId xmlns:p14="http://schemas.microsoft.com/office/powerpoint/2010/main" val="2092831577"/>
              </p:ext>
            </p:extLst>
          </p:nvPr>
        </p:nvGraphicFramePr>
        <p:xfrm>
          <a:off x="6528048" y="703977"/>
          <a:ext cx="4665663" cy="5437187"/>
        </p:xfrm>
        <a:graphic>
          <a:graphicData uri="http://schemas.openxmlformats.org/presentationml/2006/ole">
            <mc:AlternateContent xmlns:mc="http://schemas.openxmlformats.org/markup-compatibility/2006">
              <mc:Choice xmlns:v="urn:schemas-microsoft-com:vml" Requires="v">
                <p:oleObj name="Bitmap Image" r:id="rId3" imgW="12268080" imgH="14297040" progId="Paint.Picture">
                  <p:embed/>
                </p:oleObj>
              </mc:Choice>
              <mc:Fallback>
                <p:oleObj name="Bitmap Image" r:id="rId3" imgW="12268080" imgH="14297040" progId="Paint.Picture">
                  <p:embed/>
                  <p:pic>
                    <p:nvPicPr>
                      <p:cNvPr id="0" name=""/>
                      <p:cNvPicPr>
                        <a:picLocks noGrp="1" noChangeAspect="1" noChangeArrowheads="1"/>
                      </p:cNvPicPr>
                      <p:nvPr/>
                    </p:nvPicPr>
                    <p:blipFill>
                      <a:blip r:embed="rId4"/>
                      <a:srcRect b="2864"/>
                      <a:stretch>
                        <a:fillRect/>
                      </a:stretch>
                    </p:blipFill>
                    <p:spPr bwMode="auto">
                      <a:xfrm>
                        <a:off x="6528048" y="703977"/>
                        <a:ext cx="4665663" cy="543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0" name="Text Box 8"/>
          <p:cNvSpPr txBox="1">
            <a:spLocks noChangeArrowheads="1"/>
          </p:cNvSpPr>
          <p:nvPr/>
        </p:nvSpPr>
        <p:spPr bwMode="auto">
          <a:xfrm>
            <a:off x="681298" y="1017602"/>
            <a:ext cx="3119437" cy="366712"/>
          </a:xfrm>
          <a:prstGeom prst="rect">
            <a:avLst/>
          </a:prstGeom>
          <a:solidFill>
            <a:srgbClr val="FFFF00"/>
          </a:solidFill>
          <a:ln w="9525" algn="ctr">
            <a:noFill/>
            <a:miter lim="800000"/>
            <a:headEnd/>
            <a:tailEnd/>
          </a:ln>
        </p:spPr>
        <p:txBody>
          <a:bodyPr>
            <a:spAutoFit/>
          </a:bodyPr>
          <a:lstStyle/>
          <a:p>
            <a:pPr>
              <a:spcBef>
                <a:spcPct val="50000"/>
              </a:spcBef>
              <a:buClrTx/>
            </a:pPr>
            <a:r>
              <a:rPr lang="en-US" dirty="0">
                <a:sym typeface="Wingdings" pitchFamily="2" charset="2"/>
              </a:rPr>
              <a:t>Flight maneuver envelope</a:t>
            </a:r>
          </a:p>
        </p:txBody>
      </p:sp>
      <p:sp>
        <p:nvSpPr>
          <p:cNvPr id="9221" name="Text Box 9"/>
          <p:cNvSpPr txBox="1">
            <a:spLocks noChangeArrowheads="1"/>
          </p:cNvSpPr>
          <p:nvPr/>
        </p:nvSpPr>
        <p:spPr bwMode="auto">
          <a:xfrm>
            <a:off x="695400" y="3055858"/>
            <a:ext cx="1944687" cy="366712"/>
          </a:xfrm>
          <a:prstGeom prst="rect">
            <a:avLst/>
          </a:prstGeom>
          <a:solidFill>
            <a:srgbClr val="FFFF00"/>
          </a:solidFill>
          <a:ln w="9525" algn="ctr">
            <a:noFill/>
            <a:miter lim="800000"/>
            <a:headEnd/>
            <a:tailEnd/>
          </a:ln>
        </p:spPr>
        <p:txBody>
          <a:bodyPr>
            <a:spAutoFit/>
          </a:bodyPr>
          <a:lstStyle/>
          <a:p>
            <a:pPr>
              <a:spcBef>
                <a:spcPct val="50000"/>
              </a:spcBef>
              <a:buClrTx/>
            </a:pPr>
            <a:r>
              <a:rPr lang="en-US" dirty="0">
                <a:sym typeface="Wingdings" pitchFamily="2" charset="2"/>
              </a:rPr>
              <a:t>Gust envelope</a:t>
            </a:r>
          </a:p>
        </p:txBody>
      </p:sp>
      <p:sp>
        <p:nvSpPr>
          <p:cNvPr id="9222" name="Text Box 10"/>
          <p:cNvSpPr txBox="1">
            <a:spLocks noChangeArrowheads="1"/>
          </p:cNvSpPr>
          <p:nvPr/>
        </p:nvSpPr>
        <p:spPr bwMode="auto">
          <a:xfrm>
            <a:off x="634578" y="1515652"/>
            <a:ext cx="5300092" cy="646331"/>
          </a:xfrm>
          <a:prstGeom prst="rect">
            <a:avLst/>
          </a:prstGeom>
          <a:noFill/>
          <a:ln w="9525" algn="ctr">
            <a:noFill/>
            <a:miter lim="800000"/>
            <a:headEnd/>
            <a:tailEnd/>
          </a:ln>
        </p:spPr>
        <p:txBody>
          <a:bodyPr wrap="square">
            <a:spAutoFit/>
          </a:bodyPr>
          <a:lstStyle/>
          <a:p>
            <a:r>
              <a:rPr lang="en-GB" dirty="0"/>
              <a:t>The maximum flight </a:t>
            </a:r>
            <a:r>
              <a:rPr lang="en-GB" b="1" u="sng" dirty="0"/>
              <a:t>manoeuvre</a:t>
            </a:r>
            <a:r>
              <a:rPr lang="en-GB" dirty="0"/>
              <a:t> load factors depend on the </a:t>
            </a:r>
            <a:r>
              <a:rPr lang="en-GB" b="1" dirty="0">
                <a:solidFill>
                  <a:srgbClr val="FF3300"/>
                </a:solidFill>
              </a:rPr>
              <a:t>aircraft weight category</a:t>
            </a:r>
          </a:p>
        </p:txBody>
      </p:sp>
      <p:sp>
        <p:nvSpPr>
          <p:cNvPr id="9223" name="Text Box 11"/>
          <p:cNvSpPr txBox="1">
            <a:spLocks noChangeArrowheads="1"/>
          </p:cNvSpPr>
          <p:nvPr/>
        </p:nvSpPr>
        <p:spPr bwMode="auto">
          <a:xfrm>
            <a:off x="613121" y="3573016"/>
            <a:ext cx="5321549" cy="923330"/>
          </a:xfrm>
          <a:prstGeom prst="rect">
            <a:avLst/>
          </a:prstGeom>
          <a:noFill/>
          <a:ln w="9525" algn="ctr">
            <a:noFill/>
            <a:miter lim="800000"/>
            <a:headEnd/>
            <a:tailEnd/>
          </a:ln>
        </p:spPr>
        <p:txBody>
          <a:bodyPr wrap="square">
            <a:spAutoFit/>
          </a:bodyPr>
          <a:lstStyle/>
          <a:p>
            <a:r>
              <a:rPr lang="en-GB" dirty="0"/>
              <a:t>The </a:t>
            </a:r>
            <a:r>
              <a:rPr lang="en-GB" b="1" u="sng" dirty="0"/>
              <a:t>gusts</a:t>
            </a:r>
            <a:r>
              <a:rPr lang="en-GB" dirty="0"/>
              <a:t> induced load factors depend on the </a:t>
            </a:r>
            <a:r>
              <a:rPr lang="en-GB" dirty="0">
                <a:solidFill>
                  <a:srgbClr val="FF3300"/>
                </a:solidFill>
              </a:rPr>
              <a:t>gust sensitivity</a:t>
            </a:r>
            <a:r>
              <a:rPr lang="en-GB" dirty="0"/>
              <a:t> of the aircraft, which </a:t>
            </a:r>
            <a:r>
              <a:rPr lang="en-GB" dirty="0">
                <a:solidFill>
                  <a:srgbClr val="FF3300"/>
                </a:solidFill>
              </a:rPr>
              <a:t>increases with C</a:t>
            </a:r>
            <a:r>
              <a:rPr lang="en-GB" baseline="-25000" dirty="0">
                <a:solidFill>
                  <a:srgbClr val="FF3300"/>
                </a:solidFill>
              </a:rPr>
              <a:t>L</a:t>
            </a:r>
            <a:r>
              <a:rPr lang="el-GR" baseline="-25000" dirty="0">
                <a:solidFill>
                  <a:srgbClr val="FF3300"/>
                </a:solidFill>
                <a:cs typeface="Tahoma" pitchFamily="34" charset="0"/>
              </a:rPr>
              <a:t>α</a:t>
            </a:r>
            <a:r>
              <a:rPr lang="en-GB" dirty="0">
                <a:solidFill>
                  <a:srgbClr val="FF3300"/>
                </a:solidFill>
              </a:rPr>
              <a:t> and with the inverse of the wing loading</a:t>
            </a:r>
          </a:p>
        </p:txBody>
      </p:sp>
    </p:spTree>
    <p:extLst>
      <p:ext uri="{BB962C8B-B14F-4D97-AF65-F5344CB8AC3E}">
        <p14:creationId xmlns:p14="http://schemas.microsoft.com/office/powerpoint/2010/main" val="2154051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9" name="Rectangle 6"/>
          <p:cNvSpPr>
            <a:spLocks noGrp="1" noChangeArrowheads="1"/>
          </p:cNvSpPr>
          <p:nvPr>
            <p:ph type="title"/>
          </p:nvPr>
        </p:nvSpPr>
        <p:spPr bwMode="auto">
          <a:xfrm>
            <a:off x="7089775" y="358778"/>
            <a:ext cx="3062288" cy="576263"/>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sz="2800" dirty="0">
                <a:solidFill>
                  <a:srgbClr val="00A4DE"/>
                </a:solidFill>
              </a:rPr>
              <a:t>Load factor </a:t>
            </a:r>
            <a:r>
              <a:rPr lang="en-US" sz="2800" i="1" dirty="0">
                <a:solidFill>
                  <a:srgbClr val="00A4DE"/>
                </a:solidFill>
              </a:rPr>
              <a:t>n</a:t>
            </a:r>
          </a:p>
        </p:txBody>
      </p:sp>
      <p:graphicFrame>
        <p:nvGraphicFramePr>
          <p:cNvPr id="9218" name="Object 5"/>
          <p:cNvGraphicFramePr>
            <a:graphicFrameLocks noGrp="1" noChangeAspect="1"/>
          </p:cNvGraphicFramePr>
          <p:nvPr>
            <p:ph idx="1"/>
            <p:extLst>
              <p:ext uri="{D42A27DB-BD31-4B8C-83A1-F6EECF244321}">
                <p14:modId xmlns:p14="http://schemas.microsoft.com/office/powerpoint/2010/main" val="1639987102"/>
              </p:ext>
            </p:extLst>
          </p:nvPr>
        </p:nvGraphicFramePr>
        <p:xfrm>
          <a:off x="1806578" y="315916"/>
          <a:ext cx="4665663" cy="5437187"/>
        </p:xfrm>
        <a:graphic>
          <a:graphicData uri="http://schemas.openxmlformats.org/presentationml/2006/ole">
            <mc:AlternateContent xmlns:mc="http://schemas.openxmlformats.org/markup-compatibility/2006">
              <mc:Choice xmlns:v="urn:schemas-microsoft-com:vml" Requires="v">
                <p:oleObj name="Bitmap Image" r:id="rId3" imgW="12268080" imgH="14297040" progId="Paint.Picture">
                  <p:embed/>
                </p:oleObj>
              </mc:Choice>
              <mc:Fallback>
                <p:oleObj name="Bitmap Image" r:id="rId3" imgW="12268080" imgH="14297040" progId="Paint.Picture">
                  <p:embed/>
                  <p:pic>
                    <p:nvPicPr>
                      <p:cNvPr id="9218" name="Object 5"/>
                      <p:cNvPicPr>
                        <a:picLocks noGrp="1" noChangeAspect="1" noChangeArrowheads="1"/>
                      </p:cNvPicPr>
                      <p:nvPr/>
                    </p:nvPicPr>
                    <p:blipFill>
                      <a:blip r:embed="rId4"/>
                      <a:srcRect b="2864"/>
                      <a:stretch>
                        <a:fillRect/>
                      </a:stretch>
                    </p:blipFill>
                    <p:spPr bwMode="auto">
                      <a:xfrm>
                        <a:off x="1806578" y="315916"/>
                        <a:ext cx="4665663" cy="543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0" name="Text Box 8"/>
          <p:cNvSpPr txBox="1">
            <a:spLocks noChangeArrowheads="1"/>
          </p:cNvSpPr>
          <p:nvPr/>
        </p:nvSpPr>
        <p:spPr bwMode="auto">
          <a:xfrm>
            <a:off x="3627441" y="246063"/>
            <a:ext cx="3119437" cy="366712"/>
          </a:xfrm>
          <a:prstGeom prst="rect">
            <a:avLst/>
          </a:prstGeom>
          <a:solidFill>
            <a:srgbClr val="FFFF00"/>
          </a:solidFill>
          <a:ln w="9525" algn="ctr">
            <a:noFill/>
            <a:miter lim="800000"/>
            <a:headEnd/>
            <a:tailEnd/>
          </a:ln>
        </p:spPr>
        <p:txBody>
          <a:bodyPr>
            <a:spAutoFit/>
          </a:bodyPr>
          <a:lstStyle/>
          <a:p>
            <a:pPr>
              <a:spcBef>
                <a:spcPct val="50000"/>
              </a:spcBef>
              <a:buClrTx/>
            </a:pPr>
            <a:r>
              <a:rPr lang="en-US">
                <a:sym typeface="Wingdings" pitchFamily="2" charset="2"/>
              </a:rPr>
              <a:t>Flight maneuver envelope</a:t>
            </a:r>
          </a:p>
        </p:txBody>
      </p:sp>
      <p:sp>
        <p:nvSpPr>
          <p:cNvPr id="9221" name="Text Box 9"/>
          <p:cNvSpPr txBox="1">
            <a:spLocks noChangeArrowheads="1"/>
          </p:cNvSpPr>
          <p:nvPr/>
        </p:nvSpPr>
        <p:spPr bwMode="auto">
          <a:xfrm>
            <a:off x="3875091" y="3023601"/>
            <a:ext cx="1944687" cy="366712"/>
          </a:xfrm>
          <a:prstGeom prst="rect">
            <a:avLst/>
          </a:prstGeom>
          <a:solidFill>
            <a:srgbClr val="FFFF00"/>
          </a:solidFill>
          <a:ln w="9525" algn="ctr">
            <a:noFill/>
            <a:miter lim="800000"/>
            <a:headEnd/>
            <a:tailEnd/>
          </a:ln>
        </p:spPr>
        <p:txBody>
          <a:bodyPr>
            <a:spAutoFit/>
          </a:bodyPr>
          <a:lstStyle/>
          <a:p>
            <a:pPr>
              <a:spcBef>
                <a:spcPct val="50000"/>
              </a:spcBef>
              <a:buClrTx/>
            </a:pPr>
            <a:r>
              <a:rPr lang="en-US" dirty="0">
                <a:sym typeface="Wingdings" pitchFamily="2" charset="2"/>
              </a:rPr>
              <a:t>gust envelope</a:t>
            </a:r>
          </a:p>
        </p:txBody>
      </p:sp>
      <p:sp>
        <p:nvSpPr>
          <p:cNvPr id="9222" name="Text Box 10"/>
          <p:cNvSpPr txBox="1">
            <a:spLocks noChangeArrowheads="1"/>
          </p:cNvSpPr>
          <p:nvPr/>
        </p:nvSpPr>
        <p:spPr bwMode="auto">
          <a:xfrm>
            <a:off x="7121525" y="1239841"/>
            <a:ext cx="3086100" cy="1200329"/>
          </a:xfrm>
          <a:prstGeom prst="rect">
            <a:avLst/>
          </a:prstGeom>
          <a:noFill/>
          <a:ln w="9525" algn="ctr">
            <a:noFill/>
            <a:miter lim="800000"/>
            <a:headEnd/>
            <a:tailEnd/>
          </a:ln>
        </p:spPr>
        <p:txBody>
          <a:bodyPr>
            <a:spAutoFit/>
          </a:bodyPr>
          <a:lstStyle/>
          <a:p>
            <a:r>
              <a:rPr lang="en-GB" dirty="0"/>
              <a:t>The maximum flight </a:t>
            </a:r>
            <a:r>
              <a:rPr lang="en-GB" b="1" u="sng" dirty="0"/>
              <a:t>manoeuvre</a:t>
            </a:r>
            <a:r>
              <a:rPr lang="en-GB" dirty="0"/>
              <a:t> load factors depend on the </a:t>
            </a:r>
            <a:r>
              <a:rPr lang="en-GB" b="1" dirty="0">
                <a:solidFill>
                  <a:srgbClr val="FF3300"/>
                </a:solidFill>
              </a:rPr>
              <a:t>aircraft weight category</a:t>
            </a:r>
          </a:p>
        </p:txBody>
      </p:sp>
      <p:sp>
        <p:nvSpPr>
          <p:cNvPr id="9223" name="Text Box 11"/>
          <p:cNvSpPr txBox="1">
            <a:spLocks noChangeArrowheads="1"/>
          </p:cNvSpPr>
          <p:nvPr/>
        </p:nvSpPr>
        <p:spPr bwMode="auto">
          <a:xfrm>
            <a:off x="7121528" y="3217069"/>
            <a:ext cx="3319463" cy="1754326"/>
          </a:xfrm>
          <a:prstGeom prst="rect">
            <a:avLst/>
          </a:prstGeom>
          <a:noFill/>
          <a:ln w="9525" algn="ctr">
            <a:noFill/>
            <a:miter lim="800000"/>
            <a:headEnd/>
            <a:tailEnd/>
          </a:ln>
        </p:spPr>
        <p:txBody>
          <a:bodyPr>
            <a:spAutoFit/>
          </a:bodyPr>
          <a:lstStyle/>
          <a:p>
            <a:r>
              <a:rPr lang="en-GB" dirty="0"/>
              <a:t>The </a:t>
            </a:r>
            <a:r>
              <a:rPr lang="en-GB" b="1" u="sng" dirty="0"/>
              <a:t>gusts</a:t>
            </a:r>
            <a:r>
              <a:rPr lang="en-GB" dirty="0"/>
              <a:t> induced load factors depend on the </a:t>
            </a:r>
            <a:r>
              <a:rPr lang="en-GB" dirty="0">
                <a:solidFill>
                  <a:srgbClr val="FF3300"/>
                </a:solidFill>
              </a:rPr>
              <a:t>gust sensitivity</a:t>
            </a:r>
            <a:r>
              <a:rPr lang="en-GB" dirty="0"/>
              <a:t> of the aircraft, which </a:t>
            </a:r>
            <a:r>
              <a:rPr lang="en-GB" dirty="0">
                <a:solidFill>
                  <a:srgbClr val="FF3300"/>
                </a:solidFill>
              </a:rPr>
              <a:t>increases with C</a:t>
            </a:r>
            <a:r>
              <a:rPr lang="en-GB" baseline="-25000" dirty="0">
                <a:solidFill>
                  <a:srgbClr val="FF3300"/>
                </a:solidFill>
              </a:rPr>
              <a:t>L</a:t>
            </a:r>
            <a:r>
              <a:rPr lang="el-GR" baseline="-25000" dirty="0">
                <a:solidFill>
                  <a:srgbClr val="FF3300"/>
                </a:solidFill>
                <a:cs typeface="Tahoma" pitchFamily="34" charset="0"/>
              </a:rPr>
              <a:t>α</a:t>
            </a:r>
            <a:r>
              <a:rPr lang="en-GB" dirty="0">
                <a:solidFill>
                  <a:srgbClr val="FF3300"/>
                </a:solidFill>
              </a:rPr>
              <a:t> and with the inverse of the wing loading</a:t>
            </a:r>
          </a:p>
        </p:txBody>
      </p:sp>
      <p:sp>
        <p:nvSpPr>
          <p:cNvPr id="8" name="Rectangle 7"/>
          <p:cNvSpPr/>
          <p:nvPr/>
        </p:nvSpPr>
        <p:spPr>
          <a:xfrm>
            <a:off x="1524000" y="5645247"/>
            <a:ext cx="9144000" cy="1200329"/>
          </a:xfrm>
          <a:prstGeom prst="rect">
            <a:avLst/>
          </a:prstGeom>
          <a:solidFill>
            <a:schemeClr val="bg2">
              <a:lumMod val="20000"/>
              <a:lumOff val="80000"/>
            </a:schemeClr>
          </a:solidFill>
        </p:spPr>
        <p:txBody>
          <a:bodyPr wrap="square">
            <a:spAutoFit/>
          </a:bodyPr>
          <a:lstStyle/>
          <a:p>
            <a:pPr eaLnBrk="1" hangingPunct="1"/>
            <a:r>
              <a:rPr lang="en-GB" b="1" dirty="0">
                <a:latin typeface="Arial" pitchFamily="34" charset="0"/>
              </a:rPr>
              <a:t>Home Exercise:</a:t>
            </a:r>
          </a:p>
          <a:p>
            <a:pPr eaLnBrk="1" hangingPunct="1"/>
            <a:r>
              <a:rPr lang="en-GB" dirty="0">
                <a:latin typeface="Arial" pitchFamily="34" charset="0"/>
              </a:rPr>
              <a:t>Use the quick guide to build V-n diagrams, based on CS, available on BS to generate an example diagram </a:t>
            </a:r>
          </a:p>
          <a:p>
            <a:pPr eaLnBrk="1" hangingPunct="1"/>
            <a:r>
              <a:rPr lang="en-GB" dirty="0">
                <a:latin typeface="Arial" pitchFamily="34" charset="0"/>
              </a:rPr>
              <a:t>You can also refer to the document for the second year project AE2100 (also on BB) </a:t>
            </a:r>
            <a:endParaRPr lang="en-US" dirty="0"/>
          </a:p>
        </p:txBody>
      </p:sp>
    </p:spTree>
    <p:extLst>
      <p:ext uri="{BB962C8B-B14F-4D97-AF65-F5344CB8AC3E}">
        <p14:creationId xmlns:p14="http://schemas.microsoft.com/office/powerpoint/2010/main" val="60032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695400" y="230828"/>
            <a:ext cx="9587408" cy="769937"/>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857250" algn="l" rtl="0" eaLnBrk="0" fontAlgn="base" hangingPunct="0">
              <a:spcBef>
                <a:spcPct val="0"/>
              </a:spcBef>
              <a:spcAft>
                <a:spcPct val="0"/>
              </a:spcAft>
              <a:defRPr sz="3300" b="1">
                <a:solidFill>
                  <a:srgbClr val="00B0F0"/>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eaLnBrk="1" hangingPunct="1"/>
            <a:r>
              <a:rPr lang="en-US" sz="2800" b="0" kern="0" dirty="0">
                <a:solidFill>
                  <a:srgbClr val="00A4DE"/>
                </a:solidFill>
              </a:rPr>
              <a:t>Generation of V-n diagrams</a:t>
            </a:r>
          </a:p>
          <a:p>
            <a:pPr eaLnBrk="1" hangingPunct="1"/>
            <a:r>
              <a:rPr lang="en-US" sz="2000" b="0" kern="0" dirty="0">
                <a:solidFill>
                  <a:srgbClr val="00A4DE"/>
                </a:solidFill>
              </a:rPr>
              <a:t>Maneuver load diagram</a:t>
            </a:r>
          </a:p>
        </p:txBody>
      </p:sp>
      <p:pic>
        <p:nvPicPr>
          <p:cNvPr id="212994" name="Picture 2" descr="maneuver load diagram exc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7608" y="1268762"/>
            <a:ext cx="6331098" cy="4550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215683" y="1772816"/>
            <a:ext cx="1794081" cy="369332"/>
          </a:xfrm>
          <a:prstGeom prst="rect">
            <a:avLst/>
          </a:prstGeom>
          <a:noFill/>
        </p:spPr>
        <p:txBody>
          <a:bodyPr wrap="none" rtlCol="0">
            <a:spAutoFit/>
          </a:bodyPr>
          <a:lstStyle/>
          <a:p>
            <a:r>
              <a:rPr lang="en-US" dirty="0"/>
              <a:t>n=</a:t>
            </a:r>
            <a:r>
              <a:rPr lang="en-US" dirty="0" err="1"/>
              <a:t>qC</a:t>
            </a:r>
            <a:r>
              <a:rPr lang="en-US" baseline="-25000" dirty="0" err="1"/>
              <a:t>L</a:t>
            </a:r>
            <a:r>
              <a:rPr lang="en-US" sz="1600" baseline="-25000" dirty="0" err="1"/>
              <a:t>max</a:t>
            </a:r>
            <a:r>
              <a:rPr lang="en-US" dirty="0"/>
              <a:t>/(W/S)</a:t>
            </a:r>
          </a:p>
        </p:txBody>
      </p:sp>
      <p:cxnSp>
        <p:nvCxnSpPr>
          <p:cNvPr id="4" name="Straight Arrow Connector 3"/>
          <p:cNvCxnSpPr>
            <a:stCxn id="2" idx="2"/>
          </p:cNvCxnSpPr>
          <p:nvPr/>
        </p:nvCxnSpPr>
        <p:spPr bwMode="auto">
          <a:xfrm>
            <a:off x="4112724" y="2142148"/>
            <a:ext cx="759143" cy="782796"/>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5" name="TextBox 4"/>
          <p:cNvSpPr txBox="1"/>
          <p:nvPr/>
        </p:nvSpPr>
        <p:spPr>
          <a:xfrm>
            <a:off x="3544357" y="5634632"/>
            <a:ext cx="2295821" cy="369332"/>
          </a:xfrm>
          <a:prstGeom prst="rect">
            <a:avLst/>
          </a:prstGeom>
          <a:noFill/>
        </p:spPr>
        <p:txBody>
          <a:bodyPr wrap="none" rtlCol="0">
            <a:spAutoFit/>
          </a:bodyPr>
          <a:lstStyle/>
          <a:p>
            <a:r>
              <a:rPr lang="en-US" dirty="0"/>
              <a:t>V</a:t>
            </a:r>
            <a:r>
              <a:rPr lang="en-US" baseline="-25000" dirty="0"/>
              <a:t>A</a:t>
            </a:r>
            <a:r>
              <a:rPr lang="en-US" dirty="0"/>
              <a:t>: maneuver speed</a:t>
            </a:r>
          </a:p>
        </p:txBody>
      </p:sp>
      <p:sp>
        <p:nvSpPr>
          <p:cNvPr id="10" name="TextBox 9"/>
          <p:cNvSpPr txBox="1"/>
          <p:nvPr/>
        </p:nvSpPr>
        <p:spPr>
          <a:xfrm>
            <a:off x="7821350" y="5634632"/>
            <a:ext cx="1672061" cy="369332"/>
          </a:xfrm>
          <a:prstGeom prst="rect">
            <a:avLst/>
          </a:prstGeom>
          <a:noFill/>
        </p:spPr>
        <p:txBody>
          <a:bodyPr wrap="none" rtlCol="0">
            <a:spAutoFit/>
          </a:bodyPr>
          <a:lstStyle/>
          <a:p>
            <a:r>
              <a:rPr lang="en-US" dirty="0"/>
              <a:t>V</a:t>
            </a:r>
            <a:r>
              <a:rPr lang="en-US" baseline="-25000" dirty="0"/>
              <a:t>D</a:t>
            </a:r>
            <a:r>
              <a:rPr lang="en-US" dirty="0"/>
              <a:t>: dive speed</a:t>
            </a:r>
          </a:p>
        </p:txBody>
      </p:sp>
      <p:sp>
        <p:nvSpPr>
          <p:cNvPr id="11" name="TextBox 10"/>
          <p:cNvSpPr txBox="1"/>
          <p:nvPr/>
        </p:nvSpPr>
        <p:spPr>
          <a:xfrm>
            <a:off x="5920981" y="5634632"/>
            <a:ext cx="1883849" cy="369332"/>
          </a:xfrm>
          <a:prstGeom prst="rect">
            <a:avLst/>
          </a:prstGeom>
          <a:noFill/>
        </p:spPr>
        <p:txBody>
          <a:bodyPr wrap="none" rtlCol="0">
            <a:spAutoFit/>
          </a:bodyPr>
          <a:lstStyle/>
          <a:p>
            <a:r>
              <a:rPr lang="en-US" dirty="0" err="1"/>
              <a:t>V</a:t>
            </a:r>
            <a:r>
              <a:rPr lang="en-US" baseline="-25000" dirty="0" err="1"/>
              <a:t>c</a:t>
            </a:r>
            <a:r>
              <a:rPr lang="en-US" dirty="0"/>
              <a:t>: cruise speed</a:t>
            </a:r>
          </a:p>
        </p:txBody>
      </p:sp>
      <p:sp>
        <p:nvSpPr>
          <p:cNvPr id="12" name="TextBox 11"/>
          <p:cNvSpPr txBox="1"/>
          <p:nvPr/>
        </p:nvSpPr>
        <p:spPr>
          <a:xfrm>
            <a:off x="8898706" y="1176566"/>
            <a:ext cx="1617814" cy="923330"/>
          </a:xfrm>
          <a:prstGeom prst="rect">
            <a:avLst/>
          </a:prstGeom>
          <a:noFill/>
        </p:spPr>
        <p:txBody>
          <a:bodyPr wrap="square" rtlCol="0">
            <a:spAutoFit/>
          </a:bodyPr>
          <a:lstStyle/>
          <a:p>
            <a:r>
              <a:rPr lang="en-US" dirty="0" err="1"/>
              <a:t>n</a:t>
            </a:r>
            <a:r>
              <a:rPr lang="en-US" baseline="-25000" dirty="0" err="1"/>
              <a:t>max</a:t>
            </a:r>
            <a:r>
              <a:rPr lang="en-US" dirty="0"/>
              <a:t> prescribed by CS*</a:t>
            </a:r>
          </a:p>
        </p:txBody>
      </p:sp>
      <p:sp>
        <p:nvSpPr>
          <p:cNvPr id="13" name="TextBox 12"/>
          <p:cNvSpPr txBox="1"/>
          <p:nvPr/>
        </p:nvSpPr>
        <p:spPr>
          <a:xfrm>
            <a:off x="8842492" y="4670830"/>
            <a:ext cx="1617814" cy="923330"/>
          </a:xfrm>
          <a:prstGeom prst="rect">
            <a:avLst/>
          </a:prstGeom>
          <a:noFill/>
        </p:spPr>
        <p:txBody>
          <a:bodyPr wrap="square" rtlCol="0">
            <a:spAutoFit/>
          </a:bodyPr>
          <a:lstStyle/>
          <a:p>
            <a:r>
              <a:rPr lang="en-US" dirty="0" err="1"/>
              <a:t>n</a:t>
            </a:r>
            <a:r>
              <a:rPr lang="en-US" baseline="-25000" dirty="0" err="1"/>
              <a:t>min</a:t>
            </a:r>
            <a:r>
              <a:rPr lang="en-US" dirty="0"/>
              <a:t> prescribed by CS*</a:t>
            </a:r>
          </a:p>
        </p:txBody>
      </p:sp>
      <p:cxnSp>
        <p:nvCxnSpPr>
          <p:cNvPr id="7" name="Straight Arrow Connector 6"/>
          <p:cNvCxnSpPr>
            <a:stCxn id="13" idx="1"/>
          </p:cNvCxnSpPr>
          <p:nvPr/>
        </p:nvCxnSpPr>
        <p:spPr bwMode="auto">
          <a:xfrm flipH="1">
            <a:off x="7608168" y="5132495"/>
            <a:ext cx="1234324"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9" name="Straight Arrow Connector 8"/>
          <p:cNvCxnSpPr/>
          <p:nvPr/>
        </p:nvCxnSpPr>
        <p:spPr bwMode="auto">
          <a:xfrm flipH="1">
            <a:off x="8472264" y="1638231"/>
            <a:ext cx="370228"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8" name="TextBox 17"/>
          <p:cNvSpPr txBox="1"/>
          <p:nvPr/>
        </p:nvSpPr>
        <p:spPr>
          <a:xfrm>
            <a:off x="1850548" y="5634632"/>
            <a:ext cx="1687385" cy="369332"/>
          </a:xfrm>
          <a:prstGeom prst="rect">
            <a:avLst/>
          </a:prstGeom>
          <a:noFill/>
        </p:spPr>
        <p:txBody>
          <a:bodyPr wrap="none" rtlCol="0">
            <a:spAutoFit/>
          </a:bodyPr>
          <a:lstStyle/>
          <a:p>
            <a:r>
              <a:rPr lang="en-US" dirty="0"/>
              <a:t>Vs: Stall speed</a:t>
            </a:r>
          </a:p>
        </p:txBody>
      </p:sp>
    </p:spTree>
    <p:custDataLst>
      <p:tags r:id="rId1"/>
    </p:custDataLst>
    <p:extLst>
      <p:ext uri="{BB962C8B-B14F-4D97-AF65-F5344CB8AC3E}">
        <p14:creationId xmlns:p14="http://schemas.microsoft.com/office/powerpoint/2010/main" val="1037186739"/>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5"/>
          <p:cNvSpPr>
            <a:spLocks noChangeArrowheads="1"/>
          </p:cNvSpPr>
          <p:nvPr/>
        </p:nvSpPr>
        <p:spPr bwMode="auto">
          <a:xfrm>
            <a:off x="767408" y="1412776"/>
            <a:ext cx="1051316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r>
              <a:rPr lang="en-GB" dirty="0"/>
              <a:t>For the estimation of the </a:t>
            </a:r>
            <a:r>
              <a:rPr lang="en-GB" b="1" dirty="0"/>
              <a:t>maximum design load factor </a:t>
            </a:r>
            <a:r>
              <a:rPr lang="en-GB" dirty="0"/>
              <a:t>(</a:t>
            </a:r>
            <a:r>
              <a:rPr lang="en-GB" dirty="0" err="1"/>
              <a:t>n</a:t>
            </a:r>
            <a:r>
              <a:rPr lang="en-GB" baseline="-25000" dirty="0" err="1"/>
              <a:t>max</a:t>
            </a:r>
            <a:r>
              <a:rPr lang="en-GB" dirty="0"/>
              <a:t>) of  large transport aircraft you can use this table from the Certification Specification:</a:t>
            </a:r>
            <a:endParaRPr lang="en-US" dirty="0"/>
          </a:p>
        </p:txBody>
      </p:sp>
      <p:graphicFrame>
        <p:nvGraphicFramePr>
          <p:cNvPr id="15" name="Object 14"/>
          <p:cNvGraphicFramePr>
            <a:graphicFrameLocks noChangeAspect="1"/>
          </p:cNvGraphicFramePr>
          <p:nvPr>
            <p:extLst>
              <p:ext uri="{D42A27DB-BD31-4B8C-83A1-F6EECF244321}">
                <p14:modId xmlns:p14="http://schemas.microsoft.com/office/powerpoint/2010/main" val="2884055922"/>
              </p:ext>
            </p:extLst>
          </p:nvPr>
        </p:nvGraphicFramePr>
        <p:xfrm>
          <a:off x="2206946" y="2636912"/>
          <a:ext cx="7634089" cy="2752328"/>
        </p:xfrm>
        <a:graphic>
          <a:graphicData uri="http://schemas.openxmlformats.org/presentationml/2006/ole">
            <mc:AlternateContent xmlns:mc="http://schemas.openxmlformats.org/markup-compatibility/2006">
              <mc:Choice xmlns:v="urn:schemas-microsoft-com:vml" Requires="v">
                <p:oleObj name="Document" r:id="rId4" imgW="5599519" imgH="1817421" progId="Word.Document.12">
                  <p:embed/>
                </p:oleObj>
              </mc:Choice>
              <mc:Fallback>
                <p:oleObj name="Document" r:id="rId4" imgW="5599519" imgH="1817421" progId="Word.Document.12">
                  <p:embed/>
                  <p:pic>
                    <p:nvPicPr>
                      <p:cNvPr id="0" name=""/>
                      <p:cNvPicPr/>
                      <p:nvPr/>
                    </p:nvPicPr>
                    <p:blipFill>
                      <a:blip r:embed="rId5"/>
                      <a:stretch>
                        <a:fillRect/>
                      </a:stretch>
                    </p:blipFill>
                    <p:spPr>
                      <a:xfrm>
                        <a:off x="2206946" y="2636912"/>
                        <a:ext cx="7634089" cy="2752328"/>
                      </a:xfrm>
                      <a:prstGeom prst="rect">
                        <a:avLst/>
                      </a:prstGeom>
                    </p:spPr>
                  </p:pic>
                </p:oleObj>
              </mc:Fallback>
            </mc:AlternateContent>
          </a:graphicData>
        </a:graphic>
      </p:graphicFrame>
      <p:sp>
        <p:nvSpPr>
          <p:cNvPr id="20" name="Rectangle 2"/>
          <p:cNvSpPr txBox="1">
            <a:spLocks noChangeArrowheads="1"/>
          </p:cNvSpPr>
          <p:nvPr/>
        </p:nvSpPr>
        <p:spPr bwMode="auto">
          <a:xfrm>
            <a:off x="767408" y="260651"/>
            <a:ext cx="11089232" cy="769937"/>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857250" algn="l" rtl="0" eaLnBrk="0" fontAlgn="base" hangingPunct="0">
              <a:spcBef>
                <a:spcPct val="0"/>
              </a:spcBef>
              <a:spcAft>
                <a:spcPct val="0"/>
              </a:spcAft>
              <a:defRPr sz="3300" b="1">
                <a:solidFill>
                  <a:srgbClr val="00B0F0"/>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eaLnBrk="1" hangingPunct="1"/>
            <a:r>
              <a:rPr lang="en-US" sz="2800" b="0" kern="0" dirty="0">
                <a:solidFill>
                  <a:srgbClr val="00A4DE"/>
                </a:solidFill>
              </a:rPr>
              <a:t>Generation of V-n diagrams</a:t>
            </a:r>
          </a:p>
          <a:p>
            <a:pPr eaLnBrk="1" hangingPunct="1"/>
            <a:r>
              <a:rPr lang="en-US" sz="2000" b="0" kern="0" dirty="0">
                <a:solidFill>
                  <a:srgbClr val="00A4DE"/>
                </a:solidFill>
              </a:rPr>
              <a:t>Maneuver load diagram</a:t>
            </a:r>
          </a:p>
        </p:txBody>
      </p:sp>
    </p:spTree>
    <p:custDataLst>
      <p:tags r:id="rId1"/>
    </p:custDataLst>
    <p:extLst>
      <p:ext uri="{BB962C8B-B14F-4D97-AF65-F5344CB8AC3E}">
        <p14:creationId xmlns:p14="http://schemas.microsoft.com/office/powerpoint/2010/main" val="2409486906"/>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839416" y="206921"/>
            <a:ext cx="9371384" cy="769937"/>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857250" algn="l" rtl="0" eaLnBrk="0" fontAlgn="base" hangingPunct="0">
              <a:spcBef>
                <a:spcPct val="0"/>
              </a:spcBef>
              <a:spcAft>
                <a:spcPct val="0"/>
              </a:spcAft>
              <a:defRPr sz="3300" b="1">
                <a:solidFill>
                  <a:srgbClr val="00B0F0"/>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eaLnBrk="1" hangingPunct="1"/>
            <a:r>
              <a:rPr lang="en-US" sz="2800" b="0" kern="0" dirty="0">
                <a:solidFill>
                  <a:srgbClr val="00A4DE"/>
                </a:solidFill>
              </a:rPr>
              <a:t>Generation of V-n diagrams</a:t>
            </a:r>
          </a:p>
          <a:p>
            <a:pPr eaLnBrk="1" hangingPunct="1"/>
            <a:r>
              <a:rPr lang="en-US" sz="2000" b="0" kern="0" dirty="0">
                <a:solidFill>
                  <a:srgbClr val="00A4DE"/>
                </a:solidFill>
              </a:rPr>
              <a:t>Gust load diagram</a:t>
            </a:r>
          </a:p>
        </p:txBody>
      </p:sp>
      <p:pic>
        <p:nvPicPr>
          <p:cNvPr id="215042" name="Picture 2" descr="gust model"/>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27140" y="441659"/>
            <a:ext cx="5895166" cy="1706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4"/>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Object 2"/>
          <p:cNvGraphicFramePr>
            <a:graphicFrameLocks noChangeAspect="1"/>
          </p:cNvGraphicFramePr>
          <p:nvPr>
            <p:extLst>
              <p:ext uri="{D42A27DB-BD31-4B8C-83A1-F6EECF244321}">
                <p14:modId xmlns:p14="http://schemas.microsoft.com/office/powerpoint/2010/main" val="2872428843"/>
              </p:ext>
            </p:extLst>
          </p:nvPr>
        </p:nvGraphicFramePr>
        <p:xfrm>
          <a:off x="989030" y="2207968"/>
          <a:ext cx="1531487" cy="576064"/>
        </p:xfrm>
        <a:graphic>
          <a:graphicData uri="http://schemas.openxmlformats.org/presentationml/2006/ole">
            <mc:AlternateContent xmlns:mc="http://schemas.openxmlformats.org/markup-compatibility/2006">
              <mc:Choice xmlns:v="urn:schemas-microsoft-com:vml" Requires="v">
                <p:oleObj name="Equation" r:id="rId5" imgW="1040948" imgH="393529" progId="Equation.DSMT4">
                  <p:embed/>
                </p:oleObj>
              </mc:Choice>
              <mc:Fallback>
                <p:oleObj name="Equation" r:id="rId5" imgW="1040948" imgH="393529"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9030" y="2207968"/>
                        <a:ext cx="1531487" cy="576064"/>
                      </a:xfrm>
                      <a:prstGeom prst="rect">
                        <a:avLst/>
                      </a:prstGeom>
                      <a:noFill/>
                    </p:spPr>
                  </p:pic>
                </p:oleObj>
              </mc:Fallback>
            </mc:AlternateContent>
          </a:graphicData>
        </a:graphic>
      </p:graphicFrame>
      <p:sp>
        <p:nvSpPr>
          <p:cNvPr id="4" name="Rectangle 6"/>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2684899211"/>
              </p:ext>
            </p:extLst>
          </p:nvPr>
        </p:nvGraphicFramePr>
        <p:xfrm>
          <a:off x="2954805" y="2204114"/>
          <a:ext cx="744669" cy="576064"/>
        </p:xfrm>
        <a:graphic>
          <a:graphicData uri="http://schemas.openxmlformats.org/presentationml/2006/ole">
            <mc:AlternateContent xmlns:mc="http://schemas.openxmlformats.org/markup-compatibility/2006">
              <mc:Choice xmlns:v="urn:schemas-microsoft-com:vml" Requires="v">
                <p:oleObj name="Equation" r:id="rId7" imgW="507780" imgH="393529" progId="Equation.DSMT4">
                  <p:embed/>
                </p:oleObj>
              </mc:Choice>
              <mc:Fallback>
                <p:oleObj name="Equation" r:id="rId7" imgW="507780" imgH="393529"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54805" y="2204114"/>
                        <a:ext cx="744669" cy="576064"/>
                      </a:xfrm>
                      <a:prstGeom prst="rect">
                        <a:avLst/>
                      </a:prstGeom>
                      <a:noFill/>
                    </p:spPr>
                  </p:pic>
                </p:oleObj>
              </mc:Fallback>
            </mc:AlternateContent>
          </a:graphicData>
        </a:graphic>
      </p:graphicFrame>
      <p:sp>
        <p:nvSpPr>
          <p:cNvPr id="9" name="Rectangle 8"/>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 name="Object 9"/>
          <p:cNvGraphicFramePr>
            <a:graphicFrameLocks noChangeAspect="1"/>
          </p:cNvGraphicFramePr>
          <p:nvPr>
            <p:extLst>
              <p:ext uri="{D42A27DB-BD31-4B8C-83A1-F6EECF244321}">
                <p14:modId xmlns:p14="http://schemas.microsoft.com/office/powerpoint/2010/main" val="970970393"/>
              </p:ext>
            </p:extLst>
          </p:nvPr>
        </p:nvGraphicFramePr>
        <p:xfrm>
          <a:off x="985096" y="2943139"/>
          <a:ext cx="1700091" cy="576064"/>
        </p:xfrm>
        <a:graphic>
          <a:graphicData uri="http://schemas.openxmlformats.org/presentationml/2006/ole">
            <mc:AlternateContent xmlns:mc="http://schemas.openxmlformats.org/markup-compatibility/2006">
              <mc:Choice xmlns:v="urn:schemas-microsoft-com:vml" Requires="v">
                <p:oleObj name="Equation" r:id="rId9" imgW="1155700" imgH="393700" progId="Equation.DSMT4">
                  <p:embed/>
                </p:oleObj>
              </mc:Choice>
              <mc:Fallback>
                <p:oleObj name="Equation" r:id="rId9" imgW="1155700" imgH="3937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85096" y="2943139"/>
                        <a:ext cx="1700091" cy="576064"/>
                      </a:xfrm>
                      <a:prstGeom prst="rect">
                        <a:avLst/>
                      </a:prstGeom>
                      <a:noFill/>
                    </p:spPr>
                  </p:pic>
                </p:oleObj>
              </mc:Fallback>
            </mc:AlternateContent>
          </a:graphicData>
        </a:graphic>
      </p:graphicFrame>
      <p:sp>
        <p:nvSpPr>
          <p:cNvPr id="11" name="Rectangle 10"/>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 name="Object 11"/>
          <p:cNvGraphicFramePr>
            <a:graphicFrameLocks noChangeAspect="1"/>
          </p:cNvGraphicFramePr>
          <p:nvPr>
            <p:extLst>
              <p:ext uri="{D42A27DB-BD31-4B8C-83A1-F6EECF244321}">
                <p14:modId xmlns:p14="http://schemas.microsoft.com/office/powerpoint/2010/main" val="1314417824"/>
              </p:ext>
            </p:extLst>
          </p:nvPr>
        </p:nvGraphicFramePr>
        <p:xfrm>
          <a:off x="3431704" y="2959195"/>
          <a:ext cx="1440159" cy="590465"/>
        </p:xfrm>
        <a:graphic>
          <a:graphicData uri="http://schemas.openxmlformats.org/presentationml/2006/ole">
            <mc:AlternateContent xmlns:mc="http://schemas.openxmlformats.org/markup-compatibility/2006">
              <mc:Choice xmlns:v="urn:schemas-microsoft-com:vml" Requires="v">
                <p:oleObj name="Equation" r:id="rId11" imgW="952087" imgH="393529" progId="Equation.DSMT4">
                  <p:embed/>
                </p:oleObj>
              </mc:Choice>
              <mc:Fallback>
                <p:oleObj name="Equation" r:id="rId11" imgW="952087" imgH="393529"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31704" y="2959195"/>
                        <a:ext cx="1440159" cy="590465"/>
                      </a:xfrm>
                      <a:prstGeom prst="rect">
                        <a:avLst/>
                      </a:prstGeom>
                      <a:noFill/>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2955919226"/>
              </p:ext>
            </p:extLst>
          </p:nvPr>
        </p:nvGraphicFramePr>
        <p:xfrm>
          <a:off x="963122" y="3845446"/>
          <a:ext cx="1430293" cy="705074"/>
        </p:xfrm>
        <a:graphic>
          <a:graphicData uri="http://schemas.openxmlformats.org/presentationml/2006/ole">
            <mc:AlternateContent xmlns:mc="http://schemas.openxmlformats.org/markup-compatibility/2006">
              <mc:Choice xmlns:v="urn:schemas-microsoft-com:vml" Requires="v">
                <p:oleObj name="Equation" r:id="rId13" imgW="901440" imgH="444240" progId="Equation.DSMT4">
                  <p:embed/>
                </p:oleObj>
              </mc:Choice>
              <mc:Fallback>
                <p:oleObj name="Equation" r:id="rId13" imgW="901440" imgH="444240" progId="Equation.DSMT4">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63122" y="3845446"/>
                        <a:ext cx="1430293" cy="705074"/>
                      </a:xfrm>
                      <a:prstGeom prst="rect">
                        <a:avLst/>
                      </a:prstGeom>
                      <a:noFill/>
                      <a:ln>
                        <a:noFill/>
                      </a:ln>
                      <a:effectLst/>
                    </p:spPr>
                  </p:pic>
                </p:oleObj>
              </mc:Fallback>
            </mc:AlternateContent>
          </a:graphicData>
        </a:graphic>
      </p:graphicFrame>
      <p:sp>
        <p:nvSpPr>
          <p:cNvPr id="14" name="Rectangle 13"/>
          <p:cNvSpPr>
            <a:spLocks noChangeArrowheads="1"/>
          </p:cNvSpPr>
          <p:nvPr/>
        </p:nvSpPr>
        <p:spPr bwMode="auto">
          <a:xfrm>
            <a:off x="152400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5" name="Object 14"/>
          <p:cNvGraphicFramePr>
            <a:graphicFrameLocks noChangeAspect="1"/>
          </p:cNvGraphicFramePr>
          <p:nvPr>
            <p:extLst>
              <p:ext uri="{D42A27DB-BD31-4B8C-83A1-F6EECF244321}">
                <p14:modId xmlns:p14="http://schemas.microsoft.com/office/powerpoint/2010/main" val="3834152626"/>
              </p:ext>
            </p:extLst>
          </p:nvPr>
        </p:nvGraphicFramePr>
        <p:xfrm>
          <a:off x="3714686" y="3911406"/>
          <a:ext cx="732085" cy="316128"/>
        </p:xfrm>
        <a:graphic>
          <a:graphicData uri="http://schemas.openxmlformats.org/presentationml/2006/ole">
            <mc:AlternateContent xmlns:mc="http://schemas.openxmlformats.org/markup-compatibility/2006">
              <mc:Choice xmlns:v="urn:schemas-microsoft-com:vml" Requires="v">
                <p:oleObj name="Equation" r:id="rId15" imgW="418918" imgH="177723" progId="Equation.DSMT4">
                  <p:embed/>
                </p:oleObj>
              </mc:Choice>
              <mc:Fallback>
                <p:oleObj name="Equation" r:id="rId15" imgW="418918" imgH="177723" progId="Equation.DSMT4">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14686" y="3911406"/>
                        <a:ext cx="732085" cy="316128"/>
                      </a:xfrm>
                      <a:prstGeom prst="rect">
                        <a:avLst/>
                      </a:prstGeom>
                      <a:noFill/>
                    </p:spPr>
                  </p:pic>
                </p:oleObj>
              </mc:Fallback>
            </mc:AlternateContent>
          </a:graphicData>
        </a:graphic>
      </p:graphicFrame>
      <p:pic>
        <p:nvPicPr>
          <p:cNvPr id="215054" name="Picture 14" descr="gust velocities"/>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794151" y="1861426"/>
            <a:ext cx="4320480" cy="337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p:cNvSpPr txBox="1"/>
          <p:nvPr/>
        </p:nvSpPr>
        <p:spPr>
          <a:xfrm>
            <a:off x="4723709" y="3700138"/>
            <a:ext cx="2661562" cy="369332"/>
          </a:xfrm>
          <a:prstGeom prst="rect">
            <a:avLst/>
          </a:prstGeom>
          <a:noFill/>
        </p:spPr>
        <p:txBody>
          <a:bodyPr wrap="none" rtlCol="0">
            <a:spAutoFit/>
          </a:bodyPr>
          <a:lstStyle/>
          <a:p>
            <a:r>
              <a:rPr lang="en-US" dirty="0"/>
              <a:t>Statistical gust velocities</a:t>
            </a:r>
          </a:p>
        </p:txBody>
      </p:sp>
      <p:cxnSp>
        <p:nvCxnSpPr>
          <p:cNvPr id="21" name="Straight Arrow Connector 20"/>
          <p:cNvCxnSpPr>
            <a:cxnSpLocks/>
            <a:stCxn id="15" idx="3"/>
          </p:cNvCxnSpPr>
          <p:nvPr/>
        </p:nvCxnSpPr>
        <p:spPr bwMode="auto">
          <a:xfrm>
            <a:off x="4446771" y="4069470"/>
            <a:ext cx="3152246"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7" name="Oval 26"/>
          <p:cNvSpPr/>
          <p:nvPr/>
        </p:nvSpPr>
        <p:spPr bwMode="auto">
          <a:xfrm>
            <a:off x="2058005" y="3771837"/>
            <a:ext cx="432048" cy="446096"/>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31" name="Oval 30"/>
          <p:cNvSpPr/>
          <p:nvPr/>
        </p:nvSpPr>
        <p:spPr bwMode="auto">
          <a:xfrm>
            <a:off x="1628845" y="4203692"/>
            <a:ext cx="785192" cy="445162"/>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FA23C1D-EA6F-6E4E-A367-1B75D3389EBB}"/>
                  </a:ext>
                </a:extLst>
              </p:cNvPr>
              <p:cNvSpPr txBox="1"/>
              <p:nvPr/>
            </p:nvSpPr>
            <p:spPr>
              <a:xfrm>
                <a:off x="963122" y="5099393"/>
                <a:ext cx="1423659" cy="6070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nl-NL" b="0" i="1" smtClean="0">
                          <a:latin typeface="Cambria Math" panose="02040503050406030204" pitchFamily="18" charset="0"/>
                        </a:rPr>
                        <m:t>𝐾</m:t>
                      </m:r>
                      <m:r>
                        <a:rPr lang="nl-NL" b="0" i="1" smtClean="0">
                          <a:latin typeface="Cambria Math" panose="02040503050406030204" pitchFamily="18" charset="0"/>
                        </a:rPr>
                        <m:t>=</m:t>
                      </m:r>
                      <m:f>
                        <m:fPr>
                          <m:ctrlPr>
                            <a:rPr lang="nl-NL" b="0" i="1" smtClean="0">
                              <a:latin typeface="Cambria Math" panose="02040503050406030204" pitchFamily="18" charset="0"/>
                            </a:rPr>
                          </m:ctrlPr>
                        </m:fPr>
                        <m:num>
                          <m:r>
                            <a:rPr lang="nl-NL" b="0" i="1" smtClean="0">
                              <a:latin typeface="Cambria Math" panose="02040503050406030204" pitchFamily="18" charset="0"/>
                            </a:rPr>
                            <m:t>0.88 </m:t>
                          </m:r>
                          <m:sSub>
                            <m:sSubPr>
                              <m:ctrlPr>
                                <a:rPr lang="nl-NL" b="0" i="1" smtClean="0">
                                  <a:latin typeface="Cambria Math" panose="02040503050406030204" pitchFamily="18" charset="0"/>
                                </a:rPr>
                              </m:ctrlPr>
                            </m:sSubPr>
                            <m:e>
                              <m:r>
                                <a:rPr lang="nl-NL" b="0" i="1" smtClean="0">
                                  <a:latin typeface="Cambria Math" panose="02040503050406030204" pitchFamily="18" charset="0"/>
                                  <a:ea typeface="Cambria Math" panose="02040503050406030204" pitchFamily="18" charset="0"/>
                                </a:rPr>
                                <m:t>𝜇</m:t>
                              </m:r>
                            </m:e>
                            <m:sub>
                              <m:r>
                                <a:rPr lang="nl-NL" b="0" i="1" smtClean="0">
                                  <a:latin typeface="Cambria Math" panose="02040503050406030204" pitchFamily="18" charset="0"/>
                                </a:rPr>
                                <m:t>𝑔</m:t>
                              </m:r>
                            </m:sub>
                          </m:sSub>
                        </m:num>
                        <m:den>
                          <m:r>
                            <a:rPr lang="nl-NL" b="0" i="1" smtClean="0">
                              <a:latin typeface="Cambria Math" panose="02040503050406030204" pitchFamily="18" charset="0"/>
                            </a:rPr>
                            <m:t>5.3+</m:t>
                          </m:r>
                          <m:sSub>
                            <m:sSubPr>
                              <m:ctrlPr>
                                <a:rPr lang="nl-NL" i="1">
                                  <a:latin typeface="Cambria Math" panose="02040503050406030204" pitchFamily="18" charset="0"/>
                                </a:rPr>
                              </m:ctrlPr>
                            </m:sSubPr>
                            <m:e>
                              <m:r>
                                <a:rPr lang="nl-NL" i="1">
                                  <a:latin typeface="Cambria Math" panose="02040503050406030204" pitchFamily="18" charset="0"/>
                                  <a:ea typeface="Cambria Math" panose="02040503050406030204" pitchFamily="18" charset="0"/>
                                </a:rPr>
                                <m:t>𝜇</m:t>
                              </m:r>
                            </m:e>
                            <m:sub>
                              <m:r>
                                <a:rPr lang="nl-NL" i="1">
                                  <a:latin typeface="Cambria Math" panose="02040503050406030204" pitchFamily="18" charset="0"/>
                                </a:rPr>
                                <m:t>𝑔</m:t>
                              </m:r>
                            </m:sub>
                          </m:sSub>
                        </m:den>
                      </m:f>
                      <m:r>
                        <a:rPr lang="nl-NL" b="0" i="1" smtClean="0">
                          <a:latin typeface="Cambria Math" panose="02040503050406030204" pitchFamily="18" charset="0"/>
                        </a:rPr>
                        <m:t> </m:t>
                      </m:r>
                    </m:oMath>
                  </m:oMathPara>
                </a14:m>
                <a:endParaRPr lang="en-US" dirty="0"/>
              </a:p>
            </p:txBody>
          </p:sp>
        </mc:Choice>
        <mc:Fallback xmlns="">
          <p:sp>
            <p:nvSpPr>
              <p:cNvPr id="22" name="TextBox 21">
                <a:extLst>
                  <a:ext uri="{FF2B5EF4-FFF2-40B4-BE49-F238E27FC236}">
                    <a16:creationId xmlns:a16="http://schemas.microsoft.com/office/drawing/2014/main" id="{7FA23C1D-EA6F-6E4E-A367-1B75D3389EBB}"/>
                  </a:ext>
                </a:extLst>
              </p:cNvPr>
              <p:cNvSpPr txBox="1">
                <a:spLocks noRot="1" noChangeAspect="1" noMove="1" noResize="1" noEditPoints="1" noAdjustHandles="1" noChangeArrowheads="1" noChangeShapeType="1" noTextEdit="1"/>
              </p:cNvSpPr>
              <p:nvPr/>
            </p:nvSpPr>
            <p:spPr>
              <a:xfrm>
                <a:off x="963122" y="5099393"/>
                <a:ext cx="1423659" cy="607026"/>
              </a:xfrm>
              <a:prstGeom prst="rect">
                <a:avLst/>
              </a:prstGeom>
              <a:blipFill>
                <a:blip r:embed="rId18"/>
                <a:stretch>
                  <a:fillRect l="-2632" t="-8163" r="-4386" b="-102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0CFD3EE-B3DD-A840-7E32-47ED692D8440}"/>
                  </a:ext>
                </a:extLst>
              </p:cNvPr>
              <p:cNvSpPr txBox="1"/>
              <p:nvPr/>
            </p:nvSpPr>
            <p:spPr>
              <a:xfrm>
                <a:off x="3712239" y="4935618"/>
                <a:ext cx="1812869" cy="7483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nl-NL" i="1" smtClean="0">
                              <a:latin typeface="Cambria Math" panose="02040503050406030204" pitchFamily="18" charset="0"/>
                            </a:rPr>
                          </m:ctrlPr>
                        </m:sSubPr>
                        <m:e>
                          <m:r>
                            <a:rPr lang="nl-NL" i="1">
                              <a:latin typeface="Cambria Math" panose="02040503050406030204" pitchFamily="18" charset="0"/>
                              <a:ea typeface="Cambria Math" panose="02040503050406030204" pitchFamily="18" charset="0"/>
                            </a:rPr>
                            <m:t>𝜇</m:t>
                          </m:r>
                        </m:e>
                        <m:sub>
                          <m:r>
                            <a:rPr lang="nl-NL" i="1">
                              <a:latin typeface="Cambria Math" panose="02040503050406030204" pitchFamily="18" charset="0"/>
                            </a:rPr>
                            <m:t>𝑔</m:t>
                          </m:r>
                        </m:sub>
                      </m:sSub>
                      <m:r>
                        <a:rPr lang="nl-NL" b="0" i="1" smtClean="0">
                          <a:latin typeface="Cambria Math" panose="02040503050406030204" pitchFamily="18" charset="0"/>
                        </a:rPr>
                        <m:t>=</m:t>
                      </m:r>
                      <m:f>
                        <m:fPr>
                          <m:ctrlPr>
                            <a:rPr lang="nl-NL" b="0" i="1" smtClean="0">
                              <a:latin typeface="Cambria Math" panose="02040503050406030204" pitchFamily="18" charset="0"/>
                            </a:rPr>
                          </m:ctrlPr>
                        </m:fPr>
                        <m:num>
                          <m:r>
                            <a:rPr lang="nl-NL" b="0" i="1" smtClean="0">
                              <a:latin typeface="Cambria Math" panose="02040503050406030204" pitchFamily="18" charset="0"/>
                            </a:rPr>
                            <m:t>2</m:t>
                          </m:r>
                          <m:f>
                            <m:fPr>
                              <m:ctrlPr>
                                <a:rPr lang="nl-NL" b="0" i="1" smtClean="0">
                                  <a:latin typeface="Cambria Math" panose="02040503050406030204" pitchFamily="18" charset="0"/>
                                </a:rPr>
                              </m:ctrlPr>
                            </m:fPr>
                            <m:num>
                              <m:r>
                                <a:rPr lang="nl-NL" b="0" i="1" smtClean="0">
                                  <a:latin typeface="Cambria Math" panose="02040503050406030204" pitchFamily="18" charset="0"/>
                                </a:rPr>
                                <m:t>𝑊</m:t>
                              </m:r>
                            </m:num>
                            <m:den>
                              <m:r>
                                <a:rPr lang="nl-NL" b="0" i="1" smtClean="0">
                                  <a:latin typeface="Cambria Math" panose="02040503050406030204" pitchFamily="18" charset="0"/>
                                </a:rPr>
                                <m:t>𝑆</m:t>
                              </m:r>
                            </m:den>
                          </m:f>
                        </m:num>
                        <m:den>
                          <m:r>
                            <a:rPr lang="nl-NL" b="0" i="1" smtClean="0">
                              <a:latin typeface="Cambria Math" panose="02040503050406030204" pitchFamily="18" charset="0"/>
                              <a:ea typeface="Cambria Math" panose="02040503050406030204" pitchFamily="18" charset="0"/>
                            </a:rPr>
                            <m:t>𝜌</m:t>
                          </m:r>
                          <m:sSub>
                            <m:sSubPr>
                              <m:ctrlPr>
                                <a:rPr lang="nl-NL" b="0" i="1" smtClean="0">
                                  <a:latin typeface="Cambria Math" panose="02040503050406030204" pitchFamily="18" charset="0"/>
                                  <a:ea typeface="Cambria Math" panose="02040503050406030204" pitchFamily="18" charset="0"/>
                                </a:rPr>
                              </m:ctrlPr>
                            </m:sSubPr>
                            <m:e>
                              <m:r>
                                <a:rPr lang="nl-NL" b="0" i="1" smtClean="0">
                                  <a:latin typeface="Cambria Math" panose="02040503050406030204" pitchFamily="18" charset="0"/>
                                  <a:ea typeface="Cambria Math" panose="02040503050406030204" pitchFamily="18" charset="0"/>
                                </a:rPr>
                                <m:t>𝑔</m:t>
                              </m:r>
                              <m:r>
                                <a:rPr lang="nl-NL" b="0" i="1" smtClean="0">
                                  <a:latin typeface="Cambria Math" panose="02040503050406030204" pitchFamily="18" charset="0"/>
                                  <a:ea typeface="Cambria Math" panose="02040503050406030204" pitchFamily="18" charset="0"/>
                                </a:rPr>
                                <m:t> </m:t>
                              </m:r>
                              <m:r>
                                <a:rPr lang="nl-NL" b="0" i="1" smtClean="0">
                                  <a:latin typeface="Cambria Math" panose="02040503050406030204" pitchFamily="18" charset="0"/>
                                  <a:ea typeface="Cambria Math" panose="02040503050406030204" pitchFamily="18" charset="0"/>
                                </a:rPr>
                                <m:t>𝑐</m:t>
                              </m:r>
                            </m:e>
                            <m:sub>
                              <m:r>
                                <a:rPr lang="nl-NL" b="0" i="1" smtClean="0">
                                  <a:latin typeface="Cambria Math" panose="02040503050406030204" pitchFamily="18" charset="0"/>
                                  <a:ea typeface="Cambria Math" panose="02040503050406030204" pitchFamily="18" charset="0"/>
                                </a:rPr>
                                <m:t>𝐿</m:t>
                              </m:r>
                              <m:r>
                                <a:rPr lang="nl-NL" b="0" i="1" smtClean="0">
                                  <a:latin typeface="Cambria Math" panose="02040503050406030204" pitchFamily="18" charset="0"/>
                                  <a:ea typeface="Cambria Math" panose="02040503050406030204" pitchFamily="18" charset="0"/>
                                </a:rPr>
                                <m:t>𝛼</m:t>
                              </m:r>
                            </m:sub>
                          </m:sSub>
                          <m:r>
                            <a:rPr lang="nl-NL" b="0" i="1" smtClean="0">
                              <a:latin typeface="Cambria Math" panose="02040503050406030204" pitchFamily="18" charset="0"/>
                              <a:ea typeface="Cambria Math" panose="02040503050406030204" pitchFamily="18" charset="0"/>
                            </a:rPr>
                            <m:t> </m:t>
                          </m:r>
                          <m:r>
                            <a:rPr lang="nl-NL" b="0" i="1" smtClean="0">
                              <a:latin typeface="Cambria Math" panose="02040503050406030204" pitchFamily="18" charset="0"/>
                              <a:ea typeface="Cambria Math" panose="02040503050406030204" pitchFamily="18" charset="0"/>
                            </a:rPr>
                            <m:t>𝑀𝐺𝐶</m:t>
                          </m:r>
                        </m:den>
                      </m:f>
                    </m:oMath>
                  </m:oMathPara>
                </a14:m>
                <a:endParaRPr lang="en-US" dirty="0"/>
              </a:p>
            </p:txBody>
          </p:sp>
        </mc:Choice>
        <mc:Fallback xmlns="">
          <p:sp>
            <p:nvSpPr>
              <p:cNvPr id="23" name="TextBox 22">
                <a:extLst>
                  <a:ext uri="{FF2B5EF4-FFF2-40B4-BE49-F238E27FC236}">
                    <a16:creationId xmlns:a16="http://schemas.microsoft.com/office/drawing/2014/main" id="{90CFD3EE-B3DD-A840-7E32-47ED692D8440}"/>
                  </a:ext>
                </a:extLst>
              </p:cNvPr>
              <p:cNvSpPr txBox="1">
                <a:spLocks noRot="1" noChangeAspect="1" noMove="1" noResize="1" noEditPoints="1" noAdjustHandles="1" noChangeArrowheads="1" noChangeShapeType="1" noTextEdit="1"/>
              </p:cNvSpPr>
              <p:nvPr/>
            </p:nvSpPr>
            <p:spPr>
              <a:xfrm>
                <a:off x="3712239" y="4935618"/>
                <a:ext cx="1812869" cy="748346"/>
              </a:xfrm>
              <a:prstGeom prst="rect">
                <a:avLst/>
              </a:prstGeom>
              <a:blipFill>
                <a:blip r:embed="rId19"/>
                <a:stretch>
                  <a:fillRect l="-2098" t="-1667" r="-1399" b="-1500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64835295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15054"/>
                                        </p:tgtEl>
                                        <p:attrNameLst>
                                          <p:attrName>style.visibility</p:attrName>
                                        </p:attrNameLst>
                                      </p:cBhvr>
                                      <p:to>
                                        <p:strVal val="visible"/>
                                      </p:to>
                                    </p:set>
                                    <p:animEffect transition="in" filter="fade">
                                      <p:cBhvr>
                                        <p:cTn id="41" dur="500"/>
                                        <p:tgtEl>
                                          <p:spTgt spid="21505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7" grpId="0" animBg="1"/>
      <p:bldP spid="3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695400" y="260651"/>
            <a:ext cx="9515400" cy="769937"/>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857250" algn="l" rtl="0" eaLnBrk="0" fontAlgn="base" hangingPunct="0">
              <a:spcBef>
                <a:spcPct val="0"/>
              </a:spcBef>
              <a:spcAft>
                <a:spcPct val="0"/>
              </a:spcAft>
              <a:defRPr sz="3300" b="1">
                <a:solidFill>
                  <a:srgbClr val="00B0F0"/>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eaLnBrk="1" hangingPunct="1"/>
            <a:r>
              <a:rPr lang="en-US" sz="2800" b="0" kern="0" dirty="0">
                <a:solidFill>
                  <a:srgbClr val="00A4DE"/>
                </a:solidFill>
              </a:rPr>
              <a:t>Generation of V-n diagrams</a:t>
            </a:r>
          </a:p>
          <a:p>
            <a:pPr eaLnBrk="1" hangingPunct="1"/>
            <a:r>
              <a:rPr lang="en-US" sz="2000" b="0" kern="0" dirty="0">
                <a:solidFill>
                  <a:srgbClr val="00A4DE"/>
                </a:solidFill>
              </a:rPr>
              <a:t>Gust load diagram</a:t>
            </a:r>
          </a:p>
        </p:txBody>
      </p:sp>
      <p:pic>
        <p:nvPicPr>
          <p:cNvPr id="214018" name="Picture 2" descr="gust load diagram exc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4" y="1229423"/>
            <a:ext cx="6007344" cy="423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834722" y="5651696"/>
            <a:ext cx="2757743" cy="369332"/>
          </a:xfrm>
          <a:prstGeom prst="rect">
            <a:avLst/>
          </a:prstGeom>
          <a:noFill/>
        </p:spPr>
        <p:txBody>
          <a:bodyPr wrap="none" rtlCol="0">
            <a:spAutoFit/>
          </a:bodyPr>
          <a:lstStyle/>
          <a:p>
            <a:r>
              <a:rPr lang="en-US" dirty="0"/>
              <a:t>V</a:t>
            </a:r>
            <a:r>
              <a:rPr lang="en-US" baseline="-25000" dirty="0"/>
              <a:t>B</a:t>
            </a:r>
            <a:r>
              <a:rPr lang="en-US" dirty="0"/>
              <a:t>: high lift at max </a:t>
            </a:r>
            <a:r>
              <a:rPr lang="en-US" dirty="0" err="1"/>
              <a:t>a.o.a</a:t>
            </a:r>
            <a:r>
              <a:rPr lang="en-US" dirty="0"/>
              <a:t>.</a:t>
            </a:r>
          </a:p>
        </p:txBody>
      </p:sp>
      <p:sp>
        <p:nvSpPr>
          <p:cNvPr id="7" name="TextBox 6"/>
          <p:cNvSpPr txBox="1"/>
          <p:nvPr/>
        </p:nvSpPr>
        <p:spPr>
          <a:xfrm>
            <a:off x="7821350" y="5634632"/>
            <a:ext cx="1672061" cy="369332"/>
          </a:xfrm>
          <a:prstGeom prst="rect">
            <a:avLst/>
          </a:prstGeom>
          <a:noFill/>
        </p:spPr>
        <p:txBody>
          <a:bodyPr wrap="none" rtlCol="0">
            <a:spAutoFit/>
          </a:bodyPr>
          <a:lstStyle/>
          <a:p>
            <a:r>
              <a:rPr lang="en-US" dirty="0"/>
              <a:t>V</a:t>
            </a:r>
            <a:r>
              <a:rPr lang="en-US" baseline="-25000" dirty="0"/>
              <a:t>D</a:t>
            </a:r>
            <a:r>
              <a:rPr lang="en-US" dirty="0"/>
              <a:t>: dive speed</a:t>
            </a:r>
          </a:p>
        </p:txBody>
      </p:sp>
      <p:sp>
        <p:nvSpPr>
          <p:cNvPr id="8" name="TextBox 7"/>
          <p:cNvSpPr txBox="1"/>
          <p:nvPr/>
        </p:nvSpPr>
        <p:spPr>
          <a:xfrm>
            <a:off x="5920981" y="5634632"/>
            <a:ext cx="1883849" cy="369332"/>
          </a:xfrm>
          <a:prstGeom prst="rect">
            <a:avLst/>
          </a:prstGeom>
          <a:noFill/>
        </p:spPr>
        <p:txBody>
          <a:bodyPr wrap="none" rtlCol="0">
            <a:spAutoFit/>
          </a:bodyPr>
          <a:lstStyle/>
          <a:p>
            <a:r>
              <a:rPr lang="en-US" dirty="0" err="1"/>
              <a:t>V</a:t>
            </a:r>
            <a:r>
              <a:rPr lang="en-US" baseline="-25000" dirty="0" err="1"/>
              <a:t>c</a:t>
            </a:r>
            <a:r>
              <a:rPr lang="en-US" dirty="0"/>
              <a:t>: cruise speed</a:t>
            </a:r>
          </a:p>
        </p:txBody>
      </p:sp>
      <p:graphicFrame>
        <p:nvGraphicFramePr>
          <p:cNvPr id="2" name="Object 1"/>
          <p:cNvGraphicFramePr>
            <a:graphicFrameLocks noChangeAspect="1"/>
          </p:cNvGraphicFramePr>
          <p:nvPr>
            <p:extLst>
              <p:ext uri="{D42A27DB-BD31-4B8C-83A1-F6EECF244321}">
                <p14:modId xmlns:p14="http://schemas.microsoft.com/office/powerpoint/2010/main" val="2240522203"/>
              </p:ext>
            </p:extLst>
          </p:nvPr>
        </p:nvGraphicFramePr>
        <p:xfrm>
          <a:off x="8809447" y="1412776"/>
          <a:ext cx="1430338" cy="704850"/>
        </p:xfrm>
        <a:graphic>
          <a:graphicData uri="http://schemas.openxmlformats.org/presentationml/2006/ole">
            <mc:AlternateContent xmlns:mc="http://schemas.openxmlformats.org/markup-compatibility/2006">
              <mc:Choice xmlns:v="urn:schemas-microsoft-com:vml" Requires="v">
                <p:oleObj name="Equation" r:id="rId5" imgW="901309" imgH="444307" progId="Equation.DSMT4">
                  <p:embed/>
                </p:oleObj>
              </mc:Choice>
              <mc:Fallback>
                <p:oleObj name="Equation" r:id="rId5" imgW="901309" imgH="444307"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09447" y="1412776"/>
                        <a:ext cx="1430338" cy="704850"/>
                      </a:xfrm>
                      <a:prstGeom prst="rect">
                        <a:avLst/>
                      </a:prstGeom>
                      <a:noFill/>
                      <a:ln>
                        <a:noFill/>
                      </a:ln>
                    </p:spPr>
                  </p:pic>
                </p:oleObj>
              </mc:Fallback>
            </mc:AlternateContent>
          </a:graphicData>
        </a:graphic>
      </p:graphicFrame>
    </p:spTree>
    <p:custDataLst>
      <p:tags r:id="rId1"/>
    </p:custDataLst>
    <p:extLst>
      <p:ext uri="{BB962C8B-B14F-4D97-AF65-F5344CB8AC3E}">
        <p14:creationId xmlns:p14="http://schemas.microsoft.com/office/powerpoint/2010/main" val="56925117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767408" y="260651"/>
            <a:ext cx="9443392" cy="769937"/>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857250" algn="l" rtl="0" eaLnBrk="0" fontAlgn="base" hangingPunct="0">
              <a:spcBef>
                <a:spcPct val="0"/>
              </a:spcBef>
              <a:spcAft>
                <a:spcPct val="0"/>
              </a:spcAft>
              <a:defRPr sz="3300" b="1">
                <a:solidFill>
                  <a:srgbClr val="00B0F0"/>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eaLnBrk="1" hangingPunct="1"/>
            <a:r>
              <a:rPr lang="en-US" sz="2800" b="0" kern="0" dirty="0">
                <a:solidFill>
                  <a:srgbClr val="00A4DE"/>
                </a:solidFill>
              </a:rPr>
              <a:t>Generation of V-n diagrams</a:t>
            </a:r>
          </a:p>
          <a:p>
            <a:pPr eaLnBrk="1" hangingPunct="1"/>
            <a:r>
              <a:rPr lang="en-US" sz="2000" b="0" kern="0" dirty="0">
                <a:solidFill>
                  <a:srgbClr val="00A4DE"/>
                </a:solidFill>
              </a:rPr>
              <a:t>Gust load diagram</a:t>
            </a:r>
          </a:p>
        </p:txBody>
      </p:sp>
      <p:sp>
        <p:nvSpPr>
          <p:cNvPr id="6" name="TextBox 5"/>
          <p:cNvSpPr txBox="1"/>
          <p:nvPr/>
        </p:nvSpPr>
        <p:spPr>
          <a:xfrm>
            <a:off x="2834722" y="5651696"/>
            <a:ext cx="2757743" cy="369332"/>
          </a:xfrm>
          <a:prstGeom prst="rect">
            <a:avLst/>
          </a:prstGeom>
          <a:noFill/>
        </p:spPr>
        <p:txBody>
          <a:bodyPr wrap="none" rtlCol="0">
            <a:spAutoFit/>
          </a:bodyPr>
          <a:lstStyle/>
          <a:p>
            <a:r>
              <a:rPr lang="en-US" dirty="0"/>
              <a:t>V</a:t>
            </a:r>
            <a:r>
              <a:rPr lang="en-US" baseline="-25000" dirty="0"/>
              <a:t>B</a:t>
            </a:r>
            <a:r>
              <a:rPr lang="en-US" dirty="0"/>
              <a:t>: high lift at max </a:t>
            </a:r>
            <a:r>
              <a:rPr lang="en-US" dirty="0" err="1"/>
              <a:t>a.o.a</a:t>
            </a:r>
            <a:r>
              <a:rPr lang="en-US" dirty="0"/>
              <a:t>.</a:t>
            </a:r>
          </a:p>
        </p:txBody>
      </p:sp>
      <p:sp>
        <p:nvSpPr>
          <p:cNvPr id="7" name="TextBox 6"/>
          <p:cNvSpPr txBox="1"/>
          <p:nvPr/>
        </p:nvSpPr>
        <p:spPr>
          <a:xfrm>
            <a:off x="7821350" y="5634632"/>
            <a:ext cx="1672061" cy="369332"/>
          </a:xfrm>
          <a:prstGeom prst="rect">
            <a:avLst/>
          </a:prstGeom>
          <a:noFill/>
        </p:spPr>
        <p:txBody>
          <a:bodyPr wrap="none" rtlCol="0">
            <a:spAutoFit/>
          </a:bodyPr>
          <a:lstStyle/>
          <a:p>
            <a:r>
              <a:rPr lang="en-US" dirty="0"/>
              <a:t>V</a:t>
            </a:r>
            <a:r>
              <a:rPr lang="en-US" baseline="-25000" dirty="0"/>
              <a:t>D</a:t>
            </a:r>
            <a:r>
              <a:rPr lang="en-US" dirty="0"/>
              <a:t>: dive speed</a:t>
            </a:r>
          </a:p>
        </p:txBody>
      </p:sp>
      <p:sp>
        <p:nvSpPr>
          <p:cNvPr id="8" name="TextBox 7"/>
          <p:cNvSpPr txBox="1"/>
          <p:nvPr/>
        </p:nvSpPr>
        <p:spPr>
          <a:xfrm>
            <a:off x="5920981" y="5634632"/>
            <a:ext cx="1883849" cy="369332"/>
          </a:xfrm>
          <a:prstGeom prst="rect">
            <a:avLst/>
          </a:prstGeom>
          <a:noFill/>
        </p:spPr>
        <p:txBody>
          <a:bodyPr wrap="none" rtlCol="0">
            <a:spAutoFit/>
          </a:bodyPr>
          <a:lstStyle/>
          <a:p>
            <a:r>
              <a:rPr lang="en-US" dirty="0" err="1"/>
              <a:t>V</a:t>
            </a:r>
            <a:r>
              <a:rPr lang="en-US" baseline="-25000" dirty="0" err="1"/>
              <a:t>c</a:t>
            </a:r>
            <a:r>
              <a:rPr lang="en-US" dirty="0"/>
              <a:t>: cruise speed</a:t>
            </a:r>
          </a:p>
        </p:txBody>
      </p:sp>
      <p:pic>
        <p:nvPicPr>
          <p:cNvPr id="2201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8336" y="1050938"/>
            <a:ext cx="6315075" cy="434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4039434877"/>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767408" y="260651"/>
            <a:ext cx="9443392" cy="769937"/>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857250" algn="l" rtl="0" eaLnBrk="0" fontAlgn="base" hangingPunct="0">
              <a:spcBef>
                <a:spcPct val="0"/>
              </a:spcBef>
              <a:spcAft>
                <a:spcPct val="0"/>
              </a:spcAft>
              <a:defRPr sz="3300" b="1">
                <a:solidFill>
                  <a:srgbClr val="00B0F0"/>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eaLnBrk="1" hangingPunct="1"/>
            <a:r>
              <a:rPr lang="en-US" sz="2800" b="0" kern="0" dirty="0">
                <a:solidFill>
                  <a:srgbClr val="00A4DE"/>
                </a:solidFill>
              </a:rPr>
              <a:t>Generation of V-n diagrams</a:t>
            </a:r>
          </a:p>
          <a:p>
            <a:pPr eaLnBrk="1" hangingPunct="1"/>
            <a:r>
              <a:rPr lang="en-US" sz="2000" b="0" kern="0" dirty="0">
                <a:solidFill>
                  <a:srgbClr val="00A4DE"/>
                </a:solidFill>
              </a:rPr>
              <a:t>Maneuver and Gust load diagrams</a:t>
            </a:r>
          </a:p>
        </p:txBody>
      </p:sp>
      <p:pic>
        <p:nvPicPr>
          <p:cNvPr id="216066" name="Picture 2" descr="load diagram exc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603" y="1484784"/>
            <a:ext cx="5883781" cy="4176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 name="Group 26"/>
          <p:cNvGrpSpPr/>
          <p:nvPr/>
        </p:nvGrpSpPr>
        <p:grpSpPr>
          <a:xfrm>
            <a:off x="2855640" y="1500808"/>
            <a:ext cx="5328592" cy="488032"/>
            <a:chOff x="1331640" y="1500808"/>
            <a:chExt cx="5328592" cy="488032"/>
          </a:xfrm>
        </p:grpSpPr>
        <p:cxnSp>
          <p:nvCxnSpPr>
            <p:cNvPr id="7" name="Straight Connector 6"/>
            <p:cNvCxnSpPr/>
            <p:nvPr/>
          </p:nvCxnSpPr>
          <p:spPr bwMode="auto">
            <a:xfrm flipH="1">
              <a:off x="1331640" y="1988840"/>
              <a:ext cx="5328592" cy="0"/>
            </a:xfrm>
            <a:prstGeom prst="line">
              <a:avLst/>
            </a:prstGeom>
            <a:solidFill>
              <a:schemeClr val="accent1"/>
            </a:solidFill>
            <a:ln w="38100" cap="flat" cmpd="sng" algn="ctr">
              <a:solidFill>
                <a:srgbClr val="FF0000"/>
              </a:solidFill>
              <a:prstDash val="sysDash"/>
              <a:round/>
              <a:headEnd type="none" w="med" len="med"/>
              <a:tailEnd type="none" w="med" len="med"/>
            </a:ln>
            <a:effectLst/>
          </p:spPr>
        </p:cxnSp>
        <p:sp>
          <p:nvSpPr>
            <p:cNvPr id="8" name="TextBox 7"/>
            <p:cNvSpPr txBox="1"/>
            <p:nvPr/>
          </p:nvSpPr>
          <p:spPr>
            <a:xfrm>
              <a:off x="1547664" y="1500808"/>
              <a:ext cx="663964" cy="369332"/>
            </a:xfrm>
            <a:prstGeom prst="rect">
              <a:avLst/>
            </a:prstGeom>
            <a:noFill/>
          </p:spPr>
          <p:txBody>
            <a:bodyPr wrap="none" rtlCol="0">
              <a:spAutoFit/>
            </a:bodyPr>
            <a:lstStyle/>
            <a:p>
              <a:r>
                <a:rPr lang="en-US" b="1" dirty="0" err="1">
                  <a:solidFill>
                    <a:srgbClr val="FF0000"/>
                  </a:solidFill>
                </a:rPr>
                <a:t>n</a:t>
              </a:r>
              <a:r>
                <a:rPr lang="en-US" b="1" baseline="-25000" dirty="0" err="1">
                  <a:solidFill>
                    <a:srgbClr val="FF0000"/>
                  </a:solidFill>
                </a:rPr>
                <a:t>max</a:t>
              </a:r>
              <a:endParaRPr lang="en-US" b="1" dirty="0">
                <a:solidFill>
                  <a:srgbClr val="FF0000"/>
                </a:solidFill>
              </a:endParaRPr>
            </a:p>
          </p:txBody>
        </p:sp>
      </p:grpSp>
      <p:grpSp>
        <p:nvGrpSpPr>
          <p:cNvPr id="31" name="Group 30"/>
          <p:cNvGrpSpPr/>
          <p:nvPr/>
        </p:nvGrpSpPr>
        <p:grpSpPr>
          <a:xfrm>
            <a:off x="8184232" y="1111677"/>
            <a:ext cx="2088232" cy="1754326"/>
            <a:chOff x="6660232" y="1111677"/>
            <a:chExt cx="2088232" cy="1754326"/>
          </a:xfrm>
        </p:grpSpPr>
        <p:sp>
          <p:nvSpPr>
            <p:cNvPr id="17" name="TextBox 16"/>
            <p:cNvSpPr txBox="1"/>
            <p:nvPr/>
          </p:nvSpPr>
          <p:spPr>
            <a:xfrm>
              <a:off x="6855381" y="1111677"/>
              <a:ext cx="1893083" cy="1754326"/>
            </a:xfrm>
            <a:prstGeom prst="rect">
              <a:avLst/>
            </a:prstGeom>
            <a:solidFill>
              <a:srgbClr val="FFFF00"/>
            </a:solidFill>
          </p:spPr>
          <p:txBody>
            <a:bodyPr wrap="square" rtlCol="0">
              <a:spAutoFit/>
            </a:bodyPr>
            <a:lstStyle/>
            <a:p>
              <a:r>
                <a:rPr lang="en-US" dirty="0"/>
                <a:t>This is the value to be used to compute </a:t>
              </a:r>
              <a:r>
                <a:rPr lang="en-US" b="1" dirty="0" err="1"/>
                <a:t>n</a:t>
              </a:r>
              <a:r>
                <a:rPr lang="en-US" b="1" baseline="-25000" dirty="0" err="1"/>
                <a:t>z</a:t>
              </a:r>
              <a:r>
                <a:rPr lang="en-US" dirty="0"/>
                <a:t> for the class II weight estimation</a:t>
              </a:r>
            </a:p>
          </p:txBody>
        </p:sp>
        <p:cxnSp>
          <p:nvCxnSpPr>
            <p:cNvPr id="22" name="Straight Arrow Connector 21"/>
            <p:cNvCxnSpPr/>
            <p:nvPr/>
          </p:nvCxnSpPr>
          <p:spPr bwMode="auto">
            <a:xfrm flipH="1">
              <a:off x="6660232" y="1484784"/>
              <a:ext cx="195150" cy="504056"/>
            </a:xfrm>
            <a:prstGeom prst="straightConnector1">
              <a:avLst/>
            </a:prstGeom>
            <a:solidFill>
              <a:schemeClr val="accent1"/>
            </a:solidFill>
            <a:ln w="28575" cap="flat" cmpd="sng" algn="ctr">
              <a:solidFill>
                <a:srgbClr val="FF0000"/>
              </a:solidFill>
              <a:prstDash val="solid"/>
              <a:round/>
              <a:headEnd type="none" w="med" len="med"/>
              <a:tailEnd type="arrow"/>
            </a:ln>
            <a:effectLst/>
          </p:spPr>
        </p:cxnSp>
      </p:grpSp>
      <p:pic>
        <p:nvPicPr>
          <p:cNvPr id="28" name="Picture 17"/>
          <p:cNvPicPr>
            <a:picLocks noChangeAspect="1" noChangeArrowheads="1"/>
          </p:cNvPicPr>
          <p:nvPr/>
        </p:nvPicPr>
        <p:blipFill>
          <a:blip r:embed="rId5" cstate="print"/>
          <a:srcRect/>
          <a:stretch>
            <a:fillRect/>
          </a:stretch>
        </p:blipFill>
        <p:spPr bwMode="auto">
          <a:xfrm>
            <a:off x="5384290" y="5085184"/>
            <a:ext cx="5073041" cy="911040"/>
          </a:xfrm>
          <a:prstGeom prst="rect">
            <a:avLst/>
          </a:prstGeom>
          <a:noFill/>
          <a:ln w="9525" algn="ctr">
            <a:solidFill>
              <a:schemeClr val="tx2"/>
            </a:solidFill>
            <a:miter lim="800000"/>
            <a:headEnd/>
            <a:tailEnd/>
          </a:ln>
        </p:spPr>
      </p:pic>
      <p:sp>
        <p:nvSpPr>
          <p:cNvPr id="29" name="Oval 28"/>
          <p:cNvSpPr/>
          <p:nvPr/>
        </p:nvSpPr>
        <p:spPr bwMode="auto">
          <a:xfrm>
            <a:off x="7176120" y="5071974"/>
            <a:ext cx="576064" cy="589274"/>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cxnSp>
        <p:nvCxnSpPr>
          <p:cNvPr id="30" name="Straight Arrow Connector 29"/>
          <p:cNvCxnSpPr>
            <a:stCxn id="17" idx="2"/>
            <a:endCxn id="29" idx="7"/>
          </p:cNvCxnSpPr>
          <p:nvPr/>
        </p:nvCxnSpPr>
        <p:spPr bwMode="auto">
          <a:xfrm flipH="1">
            <a:off x="7667821" y="2866003"/>
            <a:ext cx="1658102" cy="2292268"/>
          </a:xfrm>
          <a:prstGeom prst="straightConnector1">
            <a:avLst/>
          </a:prstGeom>
          <a:solidFill>
            <a:schemeClr val="accent1"/>
          </a:solidFill>
          <a:ln w="28575" cap="flat" cmpd="sng" algn="ctr">
            <a:solidFill>
              <a:srgbClr val="FF0000"/>
            </a:solidFill>
            <a:prstDash val="solid"/>
            <a:round/>
            <a:headEnd type="none" w="med" len="med"/>
            <a:tailEnd type="arrow"/>
          </a:ln>
          <a:effectLst/>
        </p:spPr>
      </p:cxnSp>
    </p:spTree>
    <p:custDataLst>
      <p:tags r:id="rId1"/>
    </p:custDataLst>
    <p:extLst>
      <p:ext uri="{BB962C8B-B14F-4D97-AF65-F5344CB8AC3E}">
        <p14:creationId xmlns:p14="http://schemas.microsoft.com/office/powerpoint/2010/main" val="124472469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par>
                                <p:cTn id="18" presetID="10" presetClass="entr" presetSubtype="0" fill="hold"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par>
                                <p:cTn id="21" presetID="10"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0" y="0"/>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nl-NL" sz="2200"/>
          </a:p>
        </p:txBody>
      </p:sp>
      <p:sp>
        <p:nvSpPr>
          <p:cNvPr id="6" name="Rectangle 4"/>
          <p:cNvSpPr>
            <a:spLocks noChangeArrowheads="1"/>
          </p:cNvSpPr>
          <p:nvPr/>
        </p:nvSpPr>
        <p:spPr bwMode="auto">
          <a:xfrm>
            <a:off x="191344" y="581800"/>
            <a:ext cx="114492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b="1" dirty="0">
                <a:solidFill>
                  <a:schemeClr val="bg1"/>
                </a:solidFill>
                <a:latin typeface="Bookman Old Style" pitchFamily="18" charset="0"/>
              </a:rPr>
              <a:t>2.2: Managing weights calculation during the design</a:t>
            </a:r>
          </a:p>
        </p:txBody>
      </p:sp>
    </p:spTree>
    <p:extLst>
      <p:ext uri="{BB962C8B-B14F-4D97-AF65-F5344CB8AC3E}">
        <p14:creationId xmlns:p14="http://schemas.microsoft.com/office/powerpoint/2010/main" val="14453602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Right Arrow 148">
            <a:extLst>
              <a:ext uri="{FF2B5EF4-FFF2-40B4-BE49-F238E27FC236}">
                <a16:creationId xmlns:a16="http://schemas.microsoft.com/office/drawing/2014/main" id="{472CCCE1-97FD-2E57-1BFF-C8395131ECC4}"/>
              </a:ext>
            </a:extLst>
          </p:cNvPr>
          <p:cNvSpPr/>
          <p:nvPr/>
        </p:nvSpPr>
        <p:spPr bwMode="auto">
          <a:xfrm>
            <a:off x="216913" y="893922"/>
            <a:ext cx="11848728" cy="4869764"/>
          </a:xfrm>
          <a:prstGeom prst="rightArrow">
            <a:avLst/>
          </a:prstGeom>
          <a:solidFill>
            <a:schemeClr val="accent5">
              <a:lumMod val="75000"/>
              <a:alpha val="43807"/>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153" name="Chevron 152">
            <a:extLst>
              <a:ext uri="{FF2B5EF4-FFF2-40B4-BE49-F238E27FC236}">
                <a16:creationId xmlns:a16="http://schemas.microsoft.com/office/drawing/2014/main" id="{91CEEFAA-8035-E61B-DE61-B8191789257D}"/>
              </a:ext>
            </a:extLst>
          </p:cNvPr>
          <p:cNvSpPr/>
          <p:nvPr/>
        </p:nvSpPr>
        <p:spPr bwMode="auto">
          <a:xfrm rot="5400000">
            <a:off x="6163347" y="1751732"/>
            <a:ext cx="5392924" cy="3531631"/>
          </a:xfrm>
          <a:prstGeom prst="chevron">
            <a:avLst>
              <a:gd name="adj" fmla="val 10936"/>
            </a:avLst>
          </a:prstGeom>
          <a:solidFill>
            <a:schemeClr val="accent6">
              <a:lumMod val="10000"/>
              <a:lumOff val="90000"/>
              <a:alpha val="63912"/>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150" name="Chevron 149">
            <a:extLst>
              <a:ext uri="{FF2B5EF4-FFF2-40B4-BE49-F238E27FC236}">
                <a16:creationId xmlns:a16="http://schemas.microsoft.com/office/drawing/2014/main" id="{A6C00B1C-E779-A95D-411F-AD7A845ECDF2}"/>
              </a:ext>
            </a:extLst>
          </p:cNvPr>
          <p:cNvSpPr/>
          <p:nvPr/>
        </p:nvSpPr>
        <p:spPr bwMode="auto">
          <a:xfrm rot="5400000">
            <a:off x="2433663" y="1675110"/>
            <a:ext cx="5392924" cy="3684876"/>
          </a:xfrm>
          <a:prstGeom prst="chevron">
            <a:avLst>
              <a:gd name="adj" fmla="val 10936"/>
            </a:avLst>
          </a:prstGeom>
          <a:solidFill>
            <a:schemeClr val="accent6">
              <a:lumMod val="25000"/>
              <a:lumOff val="75000"/>
              <a:alpha val="63912"/>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2" name="Title 1">
            <a:extLst>
              <a:ext uri="{FF2B5EF4-FFF2-40B4-BE49-F238E27FC236}">
                <a16:creationId xmlns:a16="http://schemas.microsoft.com/office/drawing/2014/main" id="{BA161A38-85A0-7A05-235C-7EE54F9FAE16}"/>
              </a:ext>
            </a:extLst>
          </p:cNvPr>
          <p:cNvSpPr>
            <a:spLocks noGrp="1"/>
          </p:cNvSpPr>
          <p:nvPr>
            <p:ph type="title"/>
          </p:nvPr>
        </p:nvSpPr>
        <p:spPr>
          <a:xfrm>
            <a:off x="767408" y="101293"/>
            <a:ext cx="11065253" cy="760413"/>
          </a:xfrm>
        </p:spPr>
        <p:txBody>
          <a:bodyPr/>
          <a:lstStyle/>
          <a:p>
            <a:r>
              <a:rPr lang="en-US" dirty="0"/>
              <a:t>Recall on the overall conceptual design procedure</a:t>
            </a:r>
          </a:p>
        </p:txBody>
      </p:sp>
      <p:sp>
        <p:nvSpPr>
          <p:cNvPr id="4" name="Rectangle 3">
            <a:extLst>
              <a:ext uri="{FF2B5EF4-FFF2-40B4-BE49-F238E27FC236}">
                <a16:creationId xmlns:a16="http://schemas.microsoft.com/office/drawing/2014/main" id="{A3AEE0BB-15B8-23C0-B46E-06B098F1D84F}"/>
              </a:ext>
            </a:extLst>
          </p:cNvPr>
          <p:cNvSpPr/>
          <p:nvPr/>
        </p:nvSpPr>
        <p:spPr bwMode="auto">
          <a:xfrm>
            <a:off x="1372643" y="1580303"/>
            <a:ext cx="1368152" cy="432048"/>
          </a:xfrm>
          <a:prstGeom prst="rect">
            <a:avLst/>
          </a:prstGeom>
          <a:gradFill>
            <a:gsLst>
              <a:gs pos="0">
                <a:schemeClr val="bg1">
                  <a:lumMod val="75000"/>
                </a:schemeClr>
              </a:gs>
              <a:gs pos="12000">
                <a:schemeClr val="bg1">
                  <a:lumMod val="85000"/>
                </a:schemeClr>
              </a:gs>
              <a:gs pos="100000">
                <a:schemeClr val="bg1">
                  <a:lumMod val="95000"/>
                </a:schemeClr>
              </a:gs>
            </a:gsLst>
            <a:lin ang="0" scaled="1"/>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Tahoma" pitchFamily="34" charset="0"/>
              </a:rPr>
              <a:t>Requirements</a:t>
            </a:r>
          </a:p>
        </p:txBody>
      </p:sp>
      <p:sp>
        <p:nvSpPr>
          <p:cNvPr id="5" name="Rectangle 4">
            <a:extLst>
              <a:ext uri="{FF2B5EF4-FFF2-40B4-BE49-F238E27FC236}">
                <a16:creationId xmlns:a16="http://schemas.microsoft.com/office/drawing/2014/main" id="{9FE92BEC-3D33-D49A-AB98-638343B1EE07}"/>
              </a:ext>
            </a:extLst>
          </p:cNvPr>
          <p:cNvSpPr/>
          <p:nvPr/>
        </p:nvSpPr>
        <p:spPr bwMode="auto">
          <a:xfrm>
            <a:off x="583074" y="2110661"/>
            <a:ext cx="1368152" cy="432048"/>
          </a:xfrm>
          <a:prstGeom prst="rect">
            <a:avLst/>
          </a:prstGeom>
          <a:gradFill>
            <a:gsLst>
              <a:gs pos="0">
                <a:schemeClr val="bg1">
                  <a:lumMod val="75000"/>
                </a:schemeClr>
              </a:gs>
              <a:gs pos="12000">
                <a:schemeClr val="bg1">
                  <a:lumMod val="85000"/>
                </a:schemeClr>
              </a:gs>
              <a:gs pos="100000">
                <a:schemeClr val="bg1">
                  <a:lumMod val="95000"/>
                </a:schemeClr>
              </a:gs>
            </a:gsLst>
            <a:lin ang="0" scaled="1"/>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Tahoma" pitchFamily="34" charset="0"/>
              </a:rPr>
              <a:t>Concept selection</a:t>
            </a:r>
          </a:p>
        </p:txBody>
      </p:sp>
      <p:sp>
        <p:nvSpPr>
          <p:cNvPr id="6" name="Rectangle 5">
            <a:extLst>
              <a:ext uri="{FF2B5EF4-FFF2-40B4-BE49-F238E27FC236}">
                <a16:creationId xmlns:a16="http://schemas.microsoft.com/office/drawing/2014/main" id="{080618BF-9C74-1604-DC5A-9DCD80F8E422}"/>
              </a:ext>
            </a:extLst>
          </p:cNvPr>
          <p:cNvSpPr/>
          <p:nvPr/>
        </p:nvSpPr>
        <p:spPr bwMode="auto">
          <a:xfrm>
            <a:off x="1660224" y="4872273"/>
            <a:ext cx="1368152" cy="432048"/>
          </a:xfrm>
          <a:prstGeom prst="rect">
            <a:avLst/>
          </a:prstGeom>
          <a:gradFill>
            <a:gsLst>
              <a:gs pos="0">
                <a:schemeClr val="bg1">
                  <a:lumMod val="75000"/>
                </a:schemeClr>
              </a:gs>
              <a:gs pos="12000">
                <a:schemeClr val="bg1">
                  <a:lumMod val="85000"/>
                </a:schemeClr>
              </a:gs>
              <a:gs pos="100000">
                <a:schemeClr val="bg1">
                  <a:lumMod val="95000"/>
                </a:schemeClr>
              </a:gs>
            </a:gsLst>
            <a:lin ang="0" scaled="1"/>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Tahoma" pitchFamily="34" charset="0"/>
              </a:rPr>
              <a:t>References and first guess</a:t>
            </a:r>
          </a:p>
        </p:txBody>
      </p:sp>
      <p:sp>
        <p:nvSpPr>
          <p:cNvPr id="7" name="Rectangle 6">
            <a:extLst>
              <a:ext uri="{FF2B5EF4-FFF2-40B4-BE49-F238E27FC236}">
                <a16:creationId xmlns:a16="http://schemas.microsoft.com/office/drawing/2014/main" id="{3741988F-73F1-CAD7-F7B9-DA45AF104AF5}"/>
              </a:ext>
            </a:extLst>
          </p:cNvPr>
          <p:cNvSpPr/>
          <p:nvPr/>
        </p:nvSpPr>
        <p:spPr bwMode="auto">
          <a:xfrm>
            <a:off x="3489232" y="1569311"/>
            <a:ext cx="1579137" cy="485753"/>
          </a:xfrm>
          <a:prstGeom prst="rect">
            <a:avLst/>
          </a:prstGeom>
          <a:gradFill flip="none" rotWithShape="1">
            <a:gsLst>
              <a:gs pos="0">
                <a:schemeClr val="accent6">
                  <a:lumMod val="75000"/>
                  <a:lumOff val="25000"/>
                </a:schemeClr>
              </a:gs>
              <a:gs pos="12000">
                <a:schemeClr val="accent6">
                  <a:lumMod val="50000"/>
                  <a:lumOff val="50000"/>
                </a:schemeClr>
              </a:gs>
              <a:gs pos="100000">
                <a:schemeClr val="accent6">
                  <a:lumMod val="25000"/>
                  <a:lumOff val="75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400" b="1" dirty="0"/>
              <a:t> Initial </a:t>
            </a:r>
            <a:r>
              <a:rPr kumimoji="0" lang="en-US" sz="1400" b="1" i="0" u="none" strike="noStrike" cap="none" normalizeH="0" baseline="0" dirty="0">
                <a:ln>
                  <a:noFill/>
                </a:ln>
                <a:solidFill>
                  <a:schemeClr val="tx1"/>
                </a:solidFill>
                <a:effectLst/>
                <a:latin typeface="Tahoma" pitchFamily="34" charset="0"/>
              </a:rPr>
              <a:t>Layout</a:t>
            </a:r>
          </a:p>
        </p:txBody>
      </p:sp>
      <p:sp>
        <p:nvSpPr>
          <p:cNvPr id="10" name="Rectangle 9">
            <a:extLst>
              <a:ext uri="{FF2B5EF4-FFF2-40B4-BE49-F238E27FC236}">
                <a16:creationId xmlns:a16="http://schemas.microsoft.com/office/drawing/2014/main" id="{196A3641-8299-5FBB-D859-33AC6505BA49}"/>
              </a:ext>
            </a:extLst>
          </p:cNvPr>
          <p:cNvSpPr/>
          <p:nvPr/>
        </p:nvSpPr>
        <p:spPr bwMode="auto">
          <a:xfrm>
            <a:off x="3911203" y="2271089"/>
            <a:ext cx="1368152" cy="432048"/>
          </a:xfrm>
          <a:prstGeom prst="rect">
            <a:avLst/>
          </a:prstGeom>
          <a:gradFill flip="none" rotWithShape="1">
            <a:gsLst>
              <a:gs pos="0">
                <a:schemeClr val="accent6">
                  <a:lumMod val="75000"/>
                  <a:lumOff val="25000"/>
                </a:schemeClr>
              </a:gs>
              <a:gs pos="12000">
                <a:schemeClr val="accent6">
                  <a:lumMod val="50000"/>
                  <a:lumOff val="50000"/>
                </a:schemeClr>
              </a:gs>
              <a:gs pos="100000">
                <a:schemeClr val="accent6">
                  <a:lumMod val="25000"/>
                  <a:lumOff val="75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200" dirty="0"/>
              <a:t>Aero</a:t>
            </a:r>
            <a:endParaRPr kumimoji="0" lang="en-US" sz="1200" b="0" i="0" u="none" strike="noStrike" cap="none" normalizeH="0" baseline="0" dirty="0">
              <a:ln>
                <a:noFill/>
              </a:ln>
              <a:solidFill>
                <a:schemeClr val="tx1"/>
              </a:solidFill>
              <a:effectLst/>
              <a:latin typeface="Tahoma" pitchFamily="34" charset="0"/>
            </a:endParaRPr>
          </a:p>
        </p:txBody>
      </p:sp>
      <p:sp>
        <p:nvSpPr>
          <p:cNvPr id="11" name="Rectangle 10">
            <a:extLst>
              <a:ext uri="{FF2B5EF4-FFF2-40B4-BE49-F238E27FC236}">
                <a16:creationId xmlns:a16="http://schemas.microsoft.com/office/drawing/2014/main" id="{E9E99038-419D-36A5-2C0E-E219AA4C8790}"/>
              </a:ext>
            </a:extLst>
          </p:cNvPr>
          <p:cNvSpPr/>
          <p:nvPr/>
        </p:nvSpPr>
        <p:spPr bwMode="auto">
          <a:xfrm>
            <a:off x="4138626" y="2827130"/>
            <a:ext cx="1368152" cy="432048"/>
          </a:xfrm>
          <a:prstGeom prst="rect">
            <a:avLst/>
          </a:prstGeom>
          <a:gradFill flip="none" rotWithShape="1">
            <a:gsLst>
              <a:gs pos="0">
                <a:schemeClr val="accent6">
                  <a:lumMod val="75000"/>
                  <a:lumOff val="25000"/>
                </a:schemeClr>
              </a:gs>
              <a:gs pos="12000">
                <a:schemeClr val="accent6">
                  <a:lumMod val="50000"/>
                  <a:lumOff val="50000"/>
                </a:schemeClr>
              </a:gs>
              <a:gs pos="100000">
                <a:schemeClr val="accent6">
                  <a:lumMod val="25000"/>
                  <a:lumOff val="75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ahoma" pitchFamily="34" charset="0"/>
              </a:rPr>
              <a:t>Propulsion</a:t>
            </a:r>
          </a:p>
        </p:txBody>
      </p:sp>
      <p:sp>
        <p:nvSpPr>
          <p:cNvPr id="12" name="Rectangle 11">
            <a:extLst>
              <a:ext uri="{FF2B5EF4-FFF2-40B4-BE49-F238E27FC236}">
                <a16:creationId xmlns:a16="http://schemas.microsoft.com/office/drawing/2014/main" id="{98C25830-0018-2A3F-FF65-1ED2E903BFB5}"/>
              </a:ext>
            </a:extLst>
          </p:cNvPr>
          <p:cNvSpPr/>
          <p:nvPr/>
        </p:nvSpPr>
        <p:spPr bwMode="auto">
          <a:xfrm>
            <a:off x="4313238" y="3408711"/>
            <a:ext cx="1368152" cy="432048"/>
          </a:xfrm>
          <a:prstGeom prst="rect">
            <a:avLst/>
          </a:prstGeom>
          <a:gradFill flip="none" rotWithShape="1">
            <a:gsLst>
              <a:gs pos="0">
                <a:schemeClr val="accent6">
                  <a:lumMod val="75000"/>
                  <a:lumOff val="25000"/>
                </a:schemeClr>
              </a:gs>
              <a:gs pos="12000">
                <a:schemeClr val="accent6">
                  <a:lumMod val="50000"/>
                  <a:lumOff val="50000"/>
                </a:schemeClr>
              </a:gs>
              <a:gs pos="100000">
                <a:schemeClr val="accent6">
                  <a:lumMod val="25000"/>
                  <a:lumOff val="75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ahoma" pitchFamily="34" charset="0"/>
              </a:rPr>
              <a:t>Constraints diagram</a:t>
            </a:r>
          </a:p>
        </p:txBody>
      </p:sp>
      <p:sp>
        <p:nvSpPr>
          <p:cNvPr id="13" name="Rectangle 12">
            <a:extLst>
              <a:ext uri="{FF2B5EF4-FFF2-40B4-BE49-F238E27FC236}">
                <a16:creationId xmlns:a16="http://schemas.microsoft.com/office/drawing/2014/main" id="{E65672A6-649A-4E24-F668-5481A320612B}"/>
              </a:ext>
            </a:extLst>
          </p:cNvPr>
          <p:cNvSpPr/>
          <p:nvPr/>
        </p:nvSpPr>
        <p:spPr bwMode="auto">
          <a:xfrm>
            <a:off x="4577054" y="3996931"/>
            <a:ext cx="1368152" cy="432048"/>
          </a:xfrm>
          <a:prstGeom prst="rect">
            <a:avLst/>
          </a:prstGeom>
          <a:gradFill flip="none" rotWithShape="1">
            <a:gsLst>
              <a:gs pos="0">
                <a:schemeClr val="accent6">
                  <a:lumMod val="75000"/>
                  <a:lumOff val="25000"/>
                </a:schemeClr>
              </a:gs>
              <a:gs pos="12000">
                <a:schemeClr val="accent6">
                  <a:lumMod val="50000"/>
                  <a:lumOff val="50000"/>
                </a:schemeClr>
              </a:gs>
              <a:gs pos="100000">
                <a:schemeClr val="accent6">
                  <a:lumMod val="25000"/>
                  <a:lumOff val="75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200" dirty="0"/>
              <a:t>Weight</a:t>
            </a:r>
            <a:endParaRPr kumimoji="0" lang="en-US" sz="1200" b="0" i="0" u="none" strike="noStrike" cap="none" normalizeH="0" baseline="0" dirty="0">
              <a:ln>
                <a:noFill/>
              </a:ln>
              <a:solidFill>
                <a:schemeClr val="tx1"/>
              </a:solidFill>
              <a:effectLst/>
              <a:latin typeface="Tahoma" pitchFamily="34" charset="0"/>
            </a:endParaRPr>
          </a:p>
        </p:txBody>
      </p:sp>
      <p:sp>
        <p:nvSpPr>
          <p:cNvPr id="14" name="Rectangle 13">
            <a:extLst>
              <a:ext uri="{FF2B5EF4-FFF2-40B4-BE49-F238E27FC236}">
                <a16:creationId xmlns:a16="http://schemas.microsoft.com/office/drawing/2014/main" id="{83EF1D14-FCF4-243D-7AFD-C6402E407806}"/>
              </a:ext>
            </a:extLst>
          </p:cNvPr>
          <p:cNvSpPr/>
          <p:nvPr/>
        </p:nvSpPr>
        <p:spPr bwMode="auto">
          <a:xfrm>
            <a:off x="3579002" y="4859020"/>
            <a:ext cx="1368152" cy="432048"/>
          </a:xfrm>
          <a:prstGeom prst="rect">
            <a:avLst/>
          </a:prstGeom>
          <a:gradFill flip="none" rotWithShape="1">
            <a:gsLst>
              <a:gs pos="0">
                <a:schemeClr val="accent6">
                  <a:lumMod val="75000"/>
                  <a:lumOff val="25000"/>
                </a:schemeClr>
              </a:gs>
              <a:gs pos="12000">
                <a:schemeClr val="accent6">
                  <a:lumMod val="50000"/>
                  <a:lumOff val="50000"/>
                </a:schemeClr>
              </a:gs>
              <a:gs pos="100000">
                <a:schemeClr val="accent6">
                  <a:lumMod val="25000"/>
                  <a:lumOff val="75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400" dirty="0"/>
              <a:t>First sizing</a:t>
            </a:r>
            <a:endParaRPr kumimoji="0" lang="en-US" sz="1400" b="0" i="0" u="none" strike="noStrike" cap="none" normalizeH="0" baseline="0" dirty="0">
              <a:ln>
                <a:noFill/>
              </a:ln>
              <a:solidFill>
                <a:schemeClr val="tx1"/>
              </a:solidFill>
              <a:effectLst/>
              <a:latin typeface="Tahoma" pitchFamily="34" charset="0"/>
            </a:endParaRPr>
          </a:p>
        </p:txBody>
      </p:sp>
      <p:cxnSp>
        <p:nvCxnSpPr>
          <p:cNvPr id="16" name="Elbow Connector 15">
            <a:extLst>
              <a:ext uri="{FF2B5EF4-FFF2-40B4-BE49-F238E27FC236}">
                <a16:creationId xmlns:a16="http://schemas.microsoft.com/office/drawing/2014/main" id="{0B74BBEC-8E7A-C407-EAD3-DA46ACB7FBF1}"/>
              </a:ext>
            </a:extLst>
          </p:cNvPr>
          <p:cNvCxnSpPr>
            <a:stCxn id="4" idx="2"/>
            <a:endCxn id="6" idx="0"/>
          </p:cNvCxnSpPr>
          <p:nvPr/>
        </p:nvCxnSpPr>
        <p:spPr bwMode="auto">
          <a:xfrm rot="16200000" flipH="1">
            <a:off x="770548" y="3298521"/>
            <a:ext cx="2859922" cy="287581"/>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cxnSp>
        <p:nvCxnSpPr>
          <p:cNvPr id="18" name="Elbow Connector 17">
            <a:extLst>
              <a:ext uri="{FF2B5EF4-FFF2-40B4-BE49-F238E27FC236}">
                <a16:creationId xmlns:a16="http://schemas.microsoft.com/office/drawing/2014/main" id="{CFE4BF34-BB5F-FAFD-62BC-B3920FAD504B}"/>
              </a:ext>
            </a:extLst>
          </p:cNvPr>
          <p:cNvCxnSpPr>
            <a:stCxn id="5" idx="2"/>
            <a:endCxn id="6" idx="0"/>
          </p:cNvCxnSpPr>
          <p:nvPr/>
        </p:nvCxnSpPr>
        <p:spPr bwMode="auto">
          <a:xfrm rot="16200000" flipH="1">
            <a:off x="640943" y="3168916"/>
            <a:ext cx="2329564" cy="1077150"/>
          </a:xfrm>
          <a:prstGeom prst="bentConnector3">
            <a:avLst/>
          </a:prstGeom>
          <a:solidFill>
            <a:schemeClr val="accent1"/>
          </a:solidFill>
          <a:ln w="9525" cap="flat" cmpd="sng" algn="ctr">
            <a:solidFill>
              <a:schemeClr val="tx1"/>
            </a:solidFill>
            <a:prstDash val="solid"/>
            <a:round/>
            <a:headEnd type="none" w="med" len="med"/>
            <a:tailEnd type="triangle"/>
          </a:ln>
          <a:effectLst/>
        </p:spPr>
      </p:cxnSp>
      <p:cxnSp>
        <p:nvCxnSpPr>
          <p:cNvPr id="19" name="Elbow Connector 18">
            <a:extLst>
              <a:ext uri="{FF2B5EF4-FFF2-40B4-BE49-F238E27FC236}">
                <a16:creationId xmlns:a16="http://schemas.microsoft.com/office/drawing/2014/main" id="{3D6050E1-D248-4F4B-8302-9B1F9E4EB7F8}"/>
              </a:ext>
            </a:extLst>
          </p:cNvPr>
          <p:cNvCxnSpPr>
            <a:cxnSpLocks/>
            <a:stCxn id="6" idx="3"/>
            <a:endCxn id="7" idx="0"/>
          </p:cNvCxnSpPr>
          <p:nvPr/>
        </p:nvCxnSpPr>
        <p:spPr bwMode="auto">
          <a:xfrm flipV="1">
            <a:off x="3028376" y="1569311"/>
            <a:ext cx="1250425" cy="3518986"/>
          </a:xfrm>
          <a:prstGeom prst="bentConnector4">
            <a:avLst>
              <a:gd name="adj1" fmla="val 18428"/>
              <a:gd name="adj2" fmla="val 106496"/>
            </a:avLst>
          </a:prstGeom>
          <a:solidFill>
            <a:schemeClr val="accent1"/>
          </a:solidFill>
          <a:ln w="9525" cap="flat" cmpd="sng" algn="ctr">
            <a:solidFill>
              <a:schemeClr val="tx1"/>
            </a:solidFill>
            <a:prstDash val="solid"/>
            <a:round/>
            <a:headEnd type="none" w="med" len="med"/>
            <a:tailEnd type="triangle"/>
          </a:ln>
          <a:effectLst/>
        </p:spPr>
      </p:cxnSp>
      <p:cxnSp>
        <p:nvCxnSpPr>
          <p:cNvPr id="26" name="Elbow Connector 25">
            <a:extLst>
              <a:ext uri="{FF2B5EF4-FFF2-40B4-BE49-F238E27FC236}">
                <a16:creationId xmlns:a16="http://schemas.microsoft.com/office/drawing/2014/main" id="{121397BE-B35A-EC6D-7BCD-E24383F23726}"/>
              </a:ext>
            </a:extLst>
          </p:cNvPr>
          <p:cNvCxnSpPr>
            <a:cxnSpLocks/>
            <a:stCxn id="7" idx="2"/>
            <a:endCxn id="10" idx="0"/>
          </p:cNvCxnSpPr>
          <p:nvPr/>
        </p:nvCxnSpPr>
        <p:spPr bwMode="auto">
          <a:xfrm rot="16200000" flipH="1">
            <a:off x="4329028" y="2004837"/>
            <a:ext cx="216025" cy="316478"/>
          </a:xfrm>
          <a:prstGeom prst="bentConnector3">
            <a:avLst/>
          </a:prstGeom>
          <a:solidFill>
            <a:schemeClr val="accent1"/>
          </a:solidFill>
          <a:ln w="9525" cap="flat" cmpd="sng" algn="ctr">
            <a:solidFill>
              <a:schemeClr val="tx1"/>
            </a:solidFill>
            <a:prstDash val="solid"/>
            <a:round/>
            <a:headEnd type="none" w="med" len="med"/>
            <a:tailEnd type="triangle"/>
          </a:ln>
          <a:effectLst/>
        </p:spPr>
      </p:cxnSp>
      <p:cxnSp>
        <p:nvCxnSpPr>
          <p:cNvPr id="27" name="Elbow Connector 26">
            <a:extLst>
              <a:ext uri="{FF2B5EF4-FFF2-40B4-BE49-F238E27FC236}">
                <a16:creationId xmlns:a16="http://schemas.microsoft.com/office/drawing/2014/main" id="{478FD1B3-D522-6B58-966B-8CDE1844CCF1}"/>
              </a:ext>
            </a:extLst>
          </p:cNvPr>
          <p:cNvCxnSpPr>
            <a:cxnSpLocks/>
            <a:stCxn id="13" idx="2"/>
            <a:endCxn id="14" idx="0"/>
          </p:cNvCxnSpPr>
          <p:nvPr/>
        </p:nvCxnSpPr>
        <p:spPr bwMode="auto">
          <a:xfrm rot="5400000">
            <a:off x="4547084" y="4144973"/>
            <a:ext cx="430041" cy="998052"/>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cxnSp>
        <p:nvCxnSpPr>
          <p:cNvPr id="32" name="Elbow Connector 31">
            <a:extLst>
              <a:ext uri="{FF2B5EF4-FFF2-40B4-BE49-F238E27FC236}">
                <a16:creationId xmlns:a16="http://schemas.microsoft.com/office/drawing/2014/main" id="{7D1155BB-A9C8-52EE-2939-BE81D6CFB5C4}"/>
              </a:ext>
            </a:extLst>
          </p:cNvPr>
          <p:cNvCxnSpPr>
            <a:cxnSpLocks/>
            <a:stCxn id="14" idx="3"/>
            <a:endCxn id="35" idx="1"/>
          </p:cNvCxnSpPr>
          <p:nvPr/>
        </p:nvCxnSpPr>
        <p:spPr bwMode="auto">
          <a:xfrm>
            <a:off x="4947154" y="5075044"/>
            <a:ext cx="510047" cy="13253"/>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sp>
        <p:nvSpPr>
          <p:cNvPr id="35" name="Diamond 34">
            <a:extLst>
              <a:ext uri="{FF2B5EF4-FFF2-40B4-BE49-F238E27FC236}">
                <a16:creationId xmlns:a16="http://schemas.microsoft.com/office/drawing/2014/main" id="{B5856BF9-B02D-9246-5824-8248C0B8CB97}"/>
              </a:ext>
            </a:extLst>
          </p:cNvPr>
          <p:cNvSpPr/>
          <p:nvPr/>
        </p:nvSpPr>
        <p:spPr bwMode="auto">
          <a:xfrm>
            <a:off x="5457201" y="4766627"/>
            <a:ext cx="1368152" cy="643339"/>
          </a:xfrm>
          <a:prstGeom prst="diamond">
            <a:avLst/>
          </a:prstGeom>
          <a:gradFill>
            <a:gsLst>
              <a:gs pos="0">
                <a:schemeClr val="accent6">
                  <a:lumMod val="75000"/>
                  <a:lumOff val="25000"/>
                </a:schemeClr>
              </a:gs>
              <a:gs pos="12000">
                <a:schemeClr val="accent6">
                  <a:lumMod val="50000"/>
                  <a:lumOff val="50000"/>
                </a:schemeClr>
              </a:gs>
              <a:gs pos="100000">
                <a:schemeClr val="accent6">
                  <a:lumMod val="25000"/>
                  <a:lumOff val="75000"/>
                </a:schemeClr>
              </a:gs>
            </a:gsLst>
            <a:lin ang="0" scaled="1"/>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Tahoma" pitchFamily="34" charset="0"/>
              </a:rPr>
              <a:t>Conv?</a:t>
            </a:r>
          </a:p>
        </p:txBody>
      </p:sp>
      <p:cxnSp>
        <p:nvCxnSpPr>
          <p:cNvPr id="39" name="Elbow Connector 38">
            <a:extLst>
              <a:ext uri="{FF2B5EF4-FFF2-40B4-BE49-F238E27FC236}">
                <a16:creationId xmlns:a16="http://schemas.microsoft.com/office/drawing/2014/main" id="{70E48270-4403-7298-FA72-BFB4D8788174}"/>
              </a:ext>
            </a:extLst>
          </p:cNvPr>
          <p:cNvCxnSpPr>
            <a:cxnSpLocks/>
            <a:stCxn id="35" idx="0"/>
            <a:endCxn id="7" idx="3"/>
          </p:cNvCxnSpPr>
          <p:nvPr/>
        </p:nvCxnSpPr>
        <p:spPr bwMode="auto">
          <a:xfrm rot="16200000" flipV="1">
            <a:off x="4127604" y="2752954"/>
            <a:ext cx="2954439" cy="1072908"/>
          </a:xfrm>
          <a:prstGeom prst="bentConnector2">
            <a:avLst/>
          </a:prstGeom>
          <a:solidFill>
            <a:schemeClr val="accent1"/>
          </a:solidFill>
          <a:ln w="9525" cap="flat" cmpd="sng" algn="ctr">
            <a:solidFill>
              <a:schemeClr val="tx1"/>
            </a:solidFill>
            <a:prstDash val="solid"/>
            <a:round/>
            <a:headEnd type="none" w="med" len="med"/>
            <a:tailEnd type="triangle"/>
          </a:ln>
          <a:effectLst/>
        </p:spPr>
      </p:cxnSp>
      <p:sp>
        <p:nvSpPr>
          <p:cNvPr id="46" name="Rectangle 45">
            <a:extLst>
              <a:ext uri="{FF2B5EF4-FFF2-40B4-BE49-F238E27FC236}">
                <a16:creationId xmlns:a16="http://schemas.microsoft.com/office/drawing/2014/main" id="{869648FA-7139-AD20-2289-C3B719C3524D}"/>
              </a:ext>
            </a:extLst>
          </p:cNvPr>
          <p:cNvSpPr/>
          <p:nvPr/>
        </p:nvSpPr>
        <p:spPr bwMode="auto">
          <a:xfrm>
            <a:off x="7181815" y="1520067"/>
            <a:ext cx="1579137" cy="545987"/>
          </a:xfrm>
          <a:prstGeom prst="rect">
            <a:avLst/>
          </a:prstGeom>
          <a:gradFill flip="none" rotWithShape="1">
            <a:gsLst>
              <a:gs pos="0">
                <a:schemeClr val="accent6">
                  <a:lumMod val="50000"/>
                  <a:lumOff val="50000"/>
                </a:schemeClr>
              </a:gs>
              <a:gs pos="12000">
                <a:schemeClr val="accent6">
                  <a:lumMod val="25000"/>
                  <a:lumOff val="75000"/>
                </a:schemeClr>
              </a:gs>
              <a:gs pos="100000">
                <a:schemeClr val="accent6">
                  <a:lumMod val="10000"/>
                  <a:lumOff val="90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400" b="1" dirty="0"/>
              <a:t>Revised </a:t>
            </a:r>
            <a:r>
              <a:rPr kumimoji="0" lang="en-US" sz="1400" b="1" i="0" u="none" strike="noStrike" cap="none" normalizeH="0" baseline="0" dirty="0">
                <a:ln>
                  <a:noFill/>
                </a:ln>
                <a:solidFill>
                  <a:schemeClr val="tx1"/>
                </a:solidFill>
                <a:effectLst/>
                <a:latin typeface="Tahoma" pitchFamily="34" charset="0"/>
              </a:rPr>
              <a:t>Layout</a:t>
            </a:r>
          </a:p>
        </p:txBody>
      </p:sp>
      <p:sp>
        <p:nvSpPr>
          <p:cNvPr id="47" name="Rectangle 46">
            <a:extLst>
              <a:ext uri="{FF2B5EF4-FFF2-40B4-BE49-F238E27FC236}">
                <a16:creationId xmlns:a16="http://schemas.microsoft.com/office/drawing/2014/main" id="{540EE2F0-794A-0583-BFBC-9ECA7DE05C95}"/>
              </a:ext>
            </a:extLst>
          </p:cNvPr>
          <p:cNvSpPr/>
          <p:nvPr/>
        </p:nvSpPr>
        <p:spPr bwMode="auto">
          <a:xfrm>
            <a:off x="7549748" y="2326685"/>
            <a:ext cx="1368152" cy="318490"/>
          </a:xfrm>
          <a:prstGeom prst="rect">
            <a:avLst/>
          </a:prstGeom>
          <a:gradFill flip="none" rotWithShape="1">
            <a:gsLst>
              <a:gs pos="0">
                <a:schemeClr val="accent6">
                  <a:lumMod val="50000"/>
                  <a:lumOff val="50000"/>
                </a:schemeClr>
              </a:gs>
              <a:gs pos="12000">
                <a:schemeClr val="accent6">
                  <a:lumMod val="25000"/>
                  <a:lumOff val="75000"/>
                </a:schemeClr>
              </a:gs>
              <a:gs pos="100000">
                <a:schemeClr val="accent6">
                  <a:lumMod val="10000"/>
                  <a:lumOff val="90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200" dirty="0"/>
              <a:t>Aero</a:t>
            </a:r>
            <a:endParaRPr kumimoji="0" lang="en-US" sz="1200" b="0" i="0" u="none" strike="noStrike" cap="none" normalizeH="0" baseline="0" dirty="0">
              <a:ln>
                <a:noFill/>
              </a:ln>
              <a:solidFill>
                <a:schemeClr val="tx1"/>
              </a:solidFill>
              <a:effectLst/>
              <a:latin typeface="Tahoma" pitchFamily="34" charset="0"/>
            </a:endParaRPr>
          </a:p>
        </p:txBody>
      </p:sp>
      <p:sp>
        <p:nvSpPr>
          <p:cNvPr id="48" name="Rectangle 47">
            <a:extLst>
              <a:ext uri="{FF2B5EF4-FFF2-40B4-BE49-F238E27FC236}">
                <a16:creationId xmlns:a16="http://schemas.microsoft.com/office/drawing/2014/main" id="{A53FDB8F-D4F5-D082-CE86-C4F5F9074243}"/>
              </a:ext>
            </a:extLst>
          </p:cNvPr>
          <p:cNvSpPr/>
          <p:nvPr/>
        </p:nvSpPr>
        <p:spPr bwMode="auto">
          <a:xfrm>
            <a:off x="7649866" y="2719262"/>
            <a:ext cx="1554911" cy="302868"/>
          </a:xfrm>
          <a:prstGeom prst="rect">
            <a:avLst/>
          </a:prstGeom>
          <a:gradFill flip="none" rotWithShape="1">
            <a:gsLst>
              <a:gs pos="0">
                <a:schemeClr val="accent6">
                  <a:lumMod val="50000"/>
                  <a:lumOff val="50000"/>
                </a:schemeClr>
              </a:gs>
              <a:gs pos="12000">
                <a:schemeClr val="accent6">
                  <a:lumMod val="25000"/>
                  <a:lumOff val="75000"/>
                </a:schemeClr>
              </a:gs>
              <a:gs pos="100000">
                <a:schemeClr val="accent6">
                  <a:lumMod val="10000"/>
                  <a:lumOff val="90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ahoma" pitchFamily="34" charset="0"/>
              </a:rPr>
              <a:t>Prop &amp; Systems</a:t>
            </a:r>
          </a:p>
        </p:txBody>
      </p:sp>
      <p:sp>
        <p:nvSpPr>
          <p:cNvPr id="49" name="Rectangle 48">
            <a:extLst>
              <a:ext uri="{FF2B5EF4-FFF2-40B4-BE49-F238E27FC236}">
                <a16:creationId xmlns:a16="http://schemas.microsoft.com/office/drawing/2014/main" id="{03F83DF3-481A-F70B-5459-CA699E60FB9E}"/>
              </a:ext>
            </a:extLst>
          </p:cNvPr>
          <p:cNvSpPr/>
          <p:nvPr/>
        </p:nvSpPr>
        <p:spPr bwMode="auto">
          <a:xfrm>
            <a:off x="7732296" y="3087096"/>
            <a:ext cx="1588951" cy="309496"/>
          </a:xfrm>
          <a:prstGeom prst="rect">
            <a:avLst/>
          </a:prstGeom>
          <a:gradFill flip="none" rotWithShape="1">
            <a:gsLst>
              <a:gs pos="0">
                <a:schemeClr val="accent6">
                  <a:lumMod val="50000"/>
                  <a:lumOff val="50000"/>
                </a:schemeClr>
              </a:gs>
              <a:gs pos="12000">
                <a:schemeClr val="accent6">
                  <a:lumMod val="25000"/>
                  <a:lumOff val="75000"/>
                </a:schemeClr>
              </a:gs>
              <a:gs pos="100000">
                <a:schemeClr val="accent6">
                  <a:lumMod val="10000"/>
                  <a:lumOff val="90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ahoma" pitchFamily="34" charset="0"/>
              </a:rPr>
              <a:t>Struct weight</a:t>
            </a:r>
          </a:p>
        </p:txBody>
      </p:sp>
      <p:sp>
        <p:nvSpPr>
          <p:cNvPr id="50" name="Rectangle 49">
            <a:extLst>
              <a:ext uri="{FF2B5EF4-FFF2-40B4-BE49-F238E27FC236}">
                <a16:creationId xmlns:a16="http://schemas.microsoft.com/office/drawing/2014/main" id="{B9F3D9F7-61E0-1722-A115-41A63EE56110}"/>
              </a:ext>
            </a:extLst>
          </p:cNvPr>
          <p:cNvSpPr/>
          <p:nvPr/>
        </p:nvSpPr>
        <p:spPr bwMode="auto">
          <a:xfrm>
            <a:off x="8044880" y="4170558"/>
            <a:ext cx="1627845" cy="291214"/>
          </a:xfrm>
          <a:prstGeom prst="rect">
            <a:avLst/>
          </a:prstGeom>
          <a:gradFill flip="none" rotWithShape="1">
            <a:gsLst>
              <a:gs pos="0">
                <a:schemeClr val="accent6">
                  <a:lumMod val="50000"/>
                  <a:lumOff val="50000"/>
                </a:schemeClr>
              </a:gs>
              <a:gs pos="12000">
                <a:schemeClr val="accent6">
                  <a:lumMod val="25000"/>
                  <a:lumOff val="75000"/>
                </a:schemeClr>
              </a:gs>
              <a:gs pos="100000">
                <a:schemeClr val="accent6">
                  <a:lumMod val="10000"/>
                  <a:lumOff val="90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200" dirty="0"/>
              <a:t>Costs</a:t>
            </a:r>
            <a:endParaRPr kumimoji="0" lang="en-US" sz="1200" b="0" i="0" u="none" strike="noStrike" cap="none" normalizeH="0" baseline="0" dirty="0">
              <a:ln>
                <a:noFill/>
              </a:ln>
              <a:solidFill>
                <a:schemeClr val="tx1"/>
              </a:solidFill>
              <a:effectLst/>
              <a:latin typeface="Tahoma" pitchFamily="34" charset="0"/>
            </a:endParaRPr>
          </a:p>
        </p:txBody>
      </p:sp>
      <p:sp>
        <p:nvSpPr>
          <p:cNvPr id="51" name="Rectangle 50">
            <a:extLst>
              <a:ext uri="{FF2B5EF4-FFF2-40B4-BE49-F238E27FC236}">
                <a16:creationId xmlns:a16="http://schemas.microsoft.com/office/drawing/2014/main" id="{64991520-4AB4-F2B0-A981-1F5DCE03B9AC}"/>
              </a:ext>
            </a:extLst>
          </p:cNvPr>
          <p:cNvSpPr/>
          <p:nvPr/>
        </p:nvSpPr>
        <p:spPr bwMode="auto">
          <a:xfrm>
            <a:off x="7176120" y="4791947"/>
            <a:ext cx="1730710" cy="461120"/>
          </a:xfrm>
          <a:prstGeom prst="rect">
            <a:avLst/>
          </a:prstGeom>
          <a:gradFill flip="none" rotWithShape="1">
            <a:gsLst>
              <a:gs pos="0">
                <a:schemeClr val="accent6">
                  <a:lumMod val="50000"/>
                  <a:lumOff val="50000"/>
                </a:schemeClr>
              </a:gs>
              <a:gs pos="12000">
                <a:schemeClr val="accent6">
                  <a:lumMod val="25000"/>
                  <a:lumOff val="75000"/>
                </a:schemeClr>
              </a:gs>
              <a:gs pos="100000">
                <a:schemeClr val="accent6">
                  <a:lumMod val="10000"/>
                  <a:lumOff val="90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400" dirty="0"/>
              <a:t>Refined sizing</a:t>
            </a:r>
            <a:endParaRPr kumimoji="0" lang="en-US" sz="1400" b="0" i="0" u="none" strike="noStrike" cap="none" normalizeH="0" baseline="0" dirty="0">
              <a:ln>
                <a:noFill/>
              </a:ln>
              <a:solidFill>
                <a:schemeClr val="tx1"/>
              </a:solidFill>
              <a:effectLst/>
              <a:latin typeface="Tahoma" pitchFamily="34" charset="0"/>
            </a:endParaRPr>
          </a:p>
        </p:txBody>
      </p:sp>
      <p:cxnSp>
        <p:nvCxnSpPr>
          <p:cNvPr id="52" name="Elbow Connector 51">
            <a:extLst>
              <a:ext uri="{FF2B5EF4-FFF2-40B4-BE49-F238E27FC236}">
                <a16:creationId xmlns:a16="http://schemas.microsoft.com/office/drawing/2014/main" id="{0CD93BBF-1EA9-8ECC-F20A-26757B55FB69}"/>
              </a:ext>
            </a:extLst>
          </p:cNvPr>
          <p:cNvCxnSpPr>
            <a:cxnSpLocks/>
            <a:stCxn id="46" idx="2"/>
            <a:endCxn id="47" idx="0"/>
          </p:cNvCxnSpPr>
          <p:nvPr/>
        </p:nvCxnSpPr>
        <p:spPr bwMode="auto">
          <a:xfrm rot="16200000" flipH="1">
            <a:off x="7972289" y="2065149"/>
            <a:ext cx="260631" cy="262440"/>
          </a:xfrm>
          <a:prstGeom prst="bentConnector3">
            <a:avLst/>
          </a:prstGeom>
          <a:solidFill>
            <a:schemeClr val="accent1"/>
          </a:solidFill>
          <a:ln w="9525" cap="flat" cmpd="sng" algn="ctr">
            <a:solidFill>
              <a:schemeClr val="tx1"/>
            </a:solidFill>
            <a:prstDash val="solid"/>
            <a:round/>
            <a:headEnd type="none" w="med" len="med"/>
            <a:tailEnd type="triangle"/>
          </a:ln>
          <a:effectLst/>
        </p:spPr>
      </p:cxnSp>
      <p:cxnSp>
        <p:nvCxnSpPr>
          <p:cNvPr id="53" name="Elbow Connector 52">
            <a:extLst>
              <a:ext uri="{FF2B5EF4-FFF2-40B4-BE49-F238E27FC236}">
                <a16:creationId xmlns:a16="http://schemas.microsoft.com/office/drawing/2014/main" id="{CEEF6E07-CE79-576B-AB29-1374DEA5EB79}"/>
              </a:ext>
            </a:extLst>
          </p:cNvPr>
          <p:cNvCxnSpPr>
            <a:cxnSpLocks/>
            <a:stCxn id="55" idx="3"/>
            <a:endCxn id="98" idx="1"/>
          </p:cNvCxnSpPr>
          <p:nvPr/>
        </p:nvCxnSpPr>
        <p:spPr bwMode="auto">
          <a:xfrm flipV="1">
            <a:off x="10472216" y="3272944"/>
            <a:ext cx="153408" cy="1740443"/>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cxnSp>
        <p:nvCxnSpPr>
          <p:cNvPr id="54" name="Elbow Connector 53">
            <a:extLst>
              <a:ext uri="{FF2B5EF4-FFF2-40B4-BE49-F238E27FC236}">
                <a16:creationId xmlns:a16="http://schemas.microsoft.com/office/drawing/2014/main" id="{0EC7AB16-B4E4-E05D-6A50-8866F67A9E45}"/>
              </a:ext>
            </a:extLst>
          </p:cNvPr>
          <p:cNvCxnSpPr>
            <a:cxnSpLocks/>
            <a:stCxn id="51" idx="3"/>
            <a:endCxn id="55" idx="1"/>
          </p:cNvCxnSpPr>
          <p:nvPr/>
        </p:nvCxnSpPr>
        <p:spPr bwMode="auto">
          <a:xfrm flipV="1">
            <a:off x="8906830" y="5013387"/>
            <a:ext cx="335633" cy="9120"/>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sp>
        <p:nvSpPr>
          <p:cNvPr id="55" name="Diamond 54">
            <a:extLst>
              <a:ext uri="{FF2B5EF4-FFF2-40B4-BE49-F238E27FC236}">
                <a16:creationId xmlns:a16="http://schemas.microsoft.com/office/drawing/2014/main" id="{BFE8B7F9-9F4C-893C-B83D-F3A0F421366D}"/>
              </a:ext>
            </a:extLst>
          </p:cNvPr>
          <p:cNvSpPr/>
          <p:nvPr/>
        </p:nvSpPr>
        <p:spPr bwMode="auto">
          <a:xfrm>
            <a:off x="9242463" y="4724714"/>
            <a:ext cx="1229753" cy="577345"/>
          </a:xfrm>
          <a:prstGeom prst="diamond">
            <a:avLst/>
          </a:prstGeom>
          <a:gradFill>
            <a:gsLst>
              <a:gs pos="0">
                <a:schemeClr val="accent6">
                  <a:lumMod val="50000"/>
                  <a:lumOff val="50000"/>
                </a:schemeClr>
              </a:gs>
              <a:gs pos="12000">
                <a:schemeClr val="accent6">
                  <a:lumMod val="25000"/>
                  <a:lumOff val="75000"/>
                </a:schemeClr>
              </a:gs>
              <a:gs pos="100000">
                <a:schemeClr val="accent6">
                  <a:lumMod val="10000"/>
                  <a:lumOff val="90000"/>
                </a:schemeClr>
              </a:gs>
            </a:gsLst>
            <a:lin ang="0" scaled="1"/>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Tahoma" pitchFamily="34" charset="0"/>
            </a:endParaRPr>
          </a:p>
        </p:txBody>
      </p:sp>
      <p:cxnSp>
        <p:nvCxnSpPr>
          <p:cNvPr id="56" name="Elbow Connector 55">
            <a:extLst>
              <a:ext uri="{FF2B5EF4-FFF2-40B4-BE49-F238E27FC236}">
                <a16:creationId xmlns:a16="http://schemas.microsoft.com/office/drawing/2014/main" id="{D893C1B9-55C6-24AF-47B2-008E534F871F}"/>
              </a:ext>
            </a:extLst>
          </p:cNvPr>
          <p:cNvCxnSpPr>
            <a:cxnSpLocks/>
            <a:stCxn id="55" idx="0"/>
            <a:endCxn id="46" idx="3"/>
          </p:cNvCxnSpPr>
          <p:nvPr/>
        </p:nvCxnSpPr>
        <p:spPr bwMode="auto">
          <a:xfrm rot="16200000" flipV="1">
            <a:off x="7843320" y="2710694"/>
            <a:ext cx="2931653" cy="1096388"/>
          </a:xfrm>
          <a:prstGeom prst="bentConnector2">
            <a:avLst/>
          </a:prstGeom>
          <a:solidFill>
            <a:schemeClr val="accent1"/>
          </a:solidFill>
          <a:ln w="9525" cap="flat" cmpd="sng" algn="ctr">
            <a:solidFill>
              <a:schemeClr val="tx1"/>
            </a:solidFill>
            <a:prstDash val="solid"/>
            <a:round/>
            <a:headEnd type="none" w="med" len="med"/>
            <a:tailEnd type="triangle"/>
          </a:ln>
          <a:effectLst/>
        </p:spPr>
      </p:cxnSp>
      <p:sp>
        <p:nvSpPr>
          <p:cNvPr id="87" name="Rectangle 86">
            <a:extLst>
              <a:ext uri="{FF2B5EF4-FFF2-40B4-BE49-F238E27FC236}">
                <a16:creationId xmlns:a16="http://schemas.microsoft.com/office/drawing/2014/main" id="{50E7AB4D-F029-AA12-4E6B-90669CB193F4}"/>
              </a:ext>
            </a:extLst>
          </p:cNvPr>
          <p:cNvSpPr/>
          <p:nvPr/>
        </p:nvSpPr>
        <p:spPr bwMode="auto">
          <a:xfrm>
            <a:off x="7920364" y="3828386"/>
            <a:ext cx="1588951" cy="274264"/>
          </a:xfrm>
          <a:prstGeom prst="rect">
            <a:avLst/>
          </a:prstGeom>
          <a:gradFill flip="none" rotWithShape="1">
            <a:gsLst>
              <a:gs pos="0">
                <a:schemeClr val="accent6">
                  <a:lumMod val="50000"/>
                  <a:lumOff val="50000"/>
                </a:schemeClr>
              </a:gs>
              <a:gs pos="12000">
                <a:schemeClr val="accent6">
                  <a:lumMod val="25000"/>
                  <a:lumOff val="75000"/>
                </a:schemeClr>
              </a:gs>
              <a:gs pos="100000">
                <a:schemeClr val="accent6">
                  <a:lumMod val="10000"/>
                  <a:lumOff val="90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200" dirty="0"/>
              <a:t>Mission Analysis</a:t>
            </a:r>
            <a:endParaRPr kumimoji="0" lang="en-US" sz="1200" b="0" i="0" u="none" strike="noStrike" cap="none" normalizeH="0" baseline="0" dirty="0">
              <a:ln>
                <a:noFill/>
              </a:ln>
              <a:solidFill>
                <a:schemeClr val="tx1"/>
              </a:solidFill>
              <a:effectLst/>
              <a:latin typeface="Tahoma" pitchFamily="34" charset="0"/>
            </a:endParaRPr>
          </a:p>
        </p:txBody>
      </p:sp>
      <p:sp>
        <p:nvSpPr>
          <p:cNvPr id="88" name="Rectangle 87">
            <a:extLst>
              <a:ext uri="{FF2B5EF4-FFF2-40B4-BE49-F238E27FC236}">
                <a16:creationId xmlns:a16="http://schemas.microsoft.com/office/drawing/2014/main" id="{127587BC-9256-BC78-BA1E-DDDAC7D7012A}"/>
              </a:ext>
            </a:extLst>
          </p:cNvPr>
          <p:cNvSpPr/>
          <p:nvPr/>
        </p:nvSpPr>
        <p:spPr bwMode="auto">
          <a:xfrm>
            <a:off x="7813312" y="3470770"/>
            <a:ext cx="1588951" cy="274264"/>
          </a:xfrm>
          <a:prstGeom prst="rect">
            <a:avLst/>
          </a:prstGeom>
          <a:gradFill flip="none" rotWithShape="1">
            <a:gsLst>
              <a:gs pos="0">
                <a:schemeClr val="accent6">
                  <a:lumMod val="50000"/>
                  <a:lumOff val="50000"/>
                </a:schemeClr>
              </a:gs>
              <a:gs pos="12000">
                <a:schemeClr val="accent6">
                  <a:lumMod val="25000"/>
                  <a:lumOff val="75000"/>
                </a:schemeClr>
              </a:gs>
              <a:gs pos="100000">
                <a:schemeClr val="accent6">
                  <a:lumMod val="10000"/>
                  <a:lumOff val="90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ahoma" pitchFamily="34" charset="0"/>
              </a:rPr>
              <a:t>Flight mech.</a:t>
            </a:r>
          </a:p>
        </p:txBody>
      </p:sp>
      <p:sp>
        <p:nvSpPr>
          <p:cNvPr id="98" name="Diamond 97">
            <a:extLst>
              <a:ext uri="{FF2B5EF4-FFF2-40B4-BE49-F238E27FC236}">
                <a16:creationId xmlns:a16="http://schemas.microsoft.com/office/drawing/2014/main" id="{FB3E6707-2496-7BEE-6620-CED46A9C9378}"/>
              </a:ext>
            </a:extLst>
          </p:cNvPr>
          <p:cNvSpPr/>
          <p:nvPr/>
        </p:nvSpPr>
        <p:spPr bwMode="auto">
          <a:xfrm>
            <a:off x="10625624" y="2951274"/>
            <a:ext cx="1022382" cy="643339"/>
          </a:xfrm>
          <a:prstGeom prst="diamond">
            <a:avLst/>
          </a:prstGeom>
          <a:gradFill>
            <a:gsLst>
              <a:gs pos="0">
                <a:schemeClr val="accent1">
                  <a:lumMod val="60000"/>
                  <a:lumOff val="40000"/>
                </a:schemeClr>
              </a:gs>
              <a:gs pos="12000">
                <a:schemeClr val="accent1">
                  <a:lumMod val="40000"/>
                  <a:lumOff val="60000"/>
                </a:schemeClr>
              </a:gs>
              <a:gs pos="100000">
                <a:schemeClr val="accent1">
                  <a:lumMod val="20000"/>
                  <a:lumOff val="80000"/>
                </a:schemeClr>
              </a:gs>
            </a:gsLst>
            <a:lin ang="0" scaled="1"/>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Tahoma" pitchFamily="34" charset="0"/>
            </a:endParaRPr>
          </a:p>
        </p:txBody>
      </p:sp>
      <p:cxnSp>
        <p:nvCxnSpPr>
          <p:cNvPr id="100" name="Elbow Connector 99">
            <a:extLst>
              <a:ext uri="{FF2B5EF4-FFF2-40B4-BE49-F238E27FC236}">
                <a16:creationId xmlns:a16="http://schemas.microsoft.com/office/drawing/2014/main" id="{906F787D-79B8-D83C-3CE8-2D85EA68B189}"/>
              </a:ext>
            </a:extLst>
          </p:cNvPr>
          <p:cNvCxnSpPr>
            <a:cxnSpLocks/>
            <a:stCxn id="35" idx="3"/>
            <a:endCxn id="46" idx="1"/>
          </p:cNvCxnSpPr>
          <p:nvPr/>
        </p:nvCxnSpPr>
        <p:spPr bwMode="auto">
          <a:xfrm flipV="1">
            <a:off x="6825353" y="1793061"/>
            <a:ext cx="356462" cy="3295236"/>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cxnSp>
        <p:nvCxnSpPr>
          <p:cNvPr id="109" name="Elbow Connector 108">
            <a:extLst>
              <a:ext uri="{FF2B5EF4-FFF2-40B4-BE49-F238E27FC236}">
                <a16:creationId xmlns:a16="http://schemas.microsoft.com/office/drawing/2014/main" id="{2462FF72-9F01-C63C-6C21-E00D5AFFFE36}"/>
              </a:ext>
            </a:extLst>
          </p:cNvPr>
          <p:cNvCxnSpPr>
            <a:cxnSpLocks/>
            <a:stCxn id="98" idx="0"/>
            <a:endCxn id="7" idx="0"/>
          </p:cNvCxnSpPr>
          <p:nvPr/>
        </p:nvCxnSpPr>
        <p:spPr bwMode="auto">
          <a:xfrm rot="16200000" flipV="1">
            <a:off x="7016827" y="-1168714"/>
            <a:ext cx="1381963" cy="6858014"/>
          </a:xfrm>
          <a:prstGeom prst="bentConnector3">
            <a:avLst>
              <a:gd name="adj1" fmla="val 116542"/>
            </a:avLst>
          </a:prstGeom>
          <a:solidFill>
            <a:schemeClr val="accent1"/>
          </a:solidFill>
          <a:ln w="9525" cap="flat" cmpd="sng" algn="ctr">
            <a:solidFill>
              <a:schemeClr val="tx1"/>
            </a:solidFill>
            <a:prstDash val="solid"/>
            <a:round/>
            <a:headEnd type="none" w="med" len="med"/>
            <a:tailEnd type="triangle"/>
          </a:ln>
          <a:effectLst/>
        </p:spPr>
      </p:cxnSp>
      <p:cxnSp>
        <p:nvCxnSpPr>
          <p:cNvPr id="117" name="Elbow Connector 116">
            <a:extLst>
              <a:ext uri="{FF2B5EF4-FFF2-40B4-BE49-F238E27FC236}">
                <a16:creationId xmlns:a16="http://schemas.microsoft.com/office/drawing/2014/main" id="{E921D4A4-C3C4-EFC6-C430-9381F425CE03}"/>
              </a:ext>
            </a:extLst>
          </p:cNvPr>
          <p:cNvCxnSpPr>
            <a:cxnSpLocks/>
            <a:stCxn id="98" idx="3"/>
            <a:endCxn id="121" idx="0"/>
          </p:cNvCxnSpPr>
          <p:nvPr/>
        </p:nvCxnSpPr>
        <p:spPr bwMode="auto">
          <a:xfrm flipH="1">
            <a:off x="11475067" y="3272944"/>
            <a:ext cx="172939" cy="586363"/>
          </a:xfrm>
          <a:prstGeom prst="bentConnector4">
            <a:avLst>
              <a:gd name="adj1" fmla="val -132185"/>
              <a:gd name="adj2" fmla="val 77429"/>
            </a:avLst>
          </a:prstGeom>
          <a:solidFill>
            <a:schemeClr val="accent1"/>
          </a:solidFill>
          <a:ln w="9525" cap="flat" cmpd="sng" algn="ctr">
            <a:solidFill>
              <a:schemeClr val="tx1"/>
            </a:solidFill>
            <a:prstDash val="solid"/>
            <a:round/>
            <a:headEnd type="none" w="med" len="med"/>
            <a:tailEnd type="triangle"/>
          </a:ln>
          <a:effectLst/>
        </p:spPr>
      </p:cxnSp>
      <p:sp>
        <p:nvSpPr>
          <p:cNvPr id="121" name="Rectangle 120">
            <a:extLst>
              <a:ext uri="{FF2B5EF4-FFF2-40B4-BE49-F238E27FC236}">
                <a16:creationId xmlns:a16="http://schemas.microsoft.com/office/drawing/2014/main" id="{13351CEE-71D6-94F0-1E0A-906A312803C5}"/>
              </a:ext>
            </a:extLst>
          </p:cNvPr>
          <p:cNvSpPr/>
          <p:nvPr/>
        </p:nvSpPr>
        <p:spPr bwMode="auto">
          <a:xfrm>
            <a:off x="10857561" y="3859307"/>
            <a:ext cx="1235012" cy="724062"/>
          </a:xfrm>
          <a:prstGeom prst="rect">
            <a:avLst/>
          </a:prstGeom>
          <a:gradFill flip="none" rotWithShape="1">
            <a:gsLst>
              <a:gs pos="0">
                <a:schemeClr val="accent5">
                  <a:lumMod val="50000"/>
                </a:schemeClr>
              </a:gs>
              <a:gs pos="12000">
                <a:schemeClr val="accent5">
                  <a:lumMod val="75000"/>
                </a:schemeClr>
              </a:gs>
              <a:gs pos="99000">
                <a:schemeClr val="accent5">
                  <a:lumMod val="60000"/>
                  <a:lumOff val="40000"/>
                </a:schemeClr>
              </a:gs>
            </a:gsLst>
            <a:lin ang="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400" dirty="0"/>
              <a:t>End, Conceptual conf. freeze</a:t>
            </a:r>
            <a:endParaRPr kumimoji="0" lang="en-US" sz="1400" b="0" i="0" u="none" strike="noStrike" cap="none" normalizeH="0" baseline="0" dirty="0">
              <a:ln>
                <a:noFill/>
              </a:ln>
              <a:solidFill>
                <a:schemeClr val="tx1"/>
              </a:solidFill>
              <a:effectLst/>
              <a:latin typeface="Tahoma" pitchFamily="34" charset="0"/>
            </a:endParaRPr>
          </a:p>
        </p:txBody>
      </p:sp>
      <p:sp>
        <p:nvSpPr>
          <p:cNvPr id="152" name="TextBox 151">
            <a:extLst>
              <a:ext uri="{FF2B5EF4-FFF2-40B4-BE49-F238E27FC236}">
                <a16:creationId xmlns:a16="http://schemas.microsoft.com/office/drawing/2014/main" id="{D717A3F3-33C7-9796-26FD-81818313A2D2}"/>
              </a:ext>
            </a:extLst>
          </p:cNvPr>
          <p:cNvSpPr txBox="1"/>
          <p:nvPr/>
        </p:nvSpPr>
        <p:spPr>
          <a:xfrm>
            <a:off x="2078950" y="5517826"/>
            <a:ext cx="6102350" cy="369332"/>
          </a:xfrm>
          <a:prstGeom prst="rect">
            <a:avLst/>
          </a:prstGeom>
          <a:noFill/>
        </p:spPr>
        <p:txBody>
          <a:bodyPr wrap="square">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800" dirty="0"/>
              <a:t>Class I sizing</a:t>
            </a:r>
            <a:endParaRPr kumimoji="0" lang="en-US" sz="1800" b="0" i="0" u="none" strike="noStrike" cap="none" normalizeH="0" baseline="0" dirty="0">
              <a:ln>
                <a:noFill/>
              </a:ln>
              <a:solidFill>
                <a:schemeClr val="tx1"/>
              </a:solidFill>
              <a:effectLst/>
              <a:latin typeface="Tahoma" pitchFamily="34" charset="0"/>
            </a:endParaRPr>
          </a:p>
        </p:txBody>
      </p:sp>
      <p:sp>
        <p:nvSpPr>
          <p:cNvPr id="154" name="TextBox 153">
            <a:extLst>
              <a:ext uri="{FF2B5EF4-FFF2-40B4-BE49-F238E27FC236}">
                <a16:creationId xmlns:a16="http://schemas.microsoft.com/office/drawing/2014/main" id="{46AE8132-1B06-9316-ECD5-0B84A9CE5E55}"/>
              </a:ext>
            </a:extLst>
          </p:cNvPr>
          <p:cNvSpPr txBox="1"/>
          <p:nvPr/>
        </p:nvSpPr>
        <p:spPr>
          <a:xfrm>
            <a:off x="5885256" y="5517826"/>
            <a:ext cx="5848568" cy="369332"/>
          </a:xfrm>
          <a:prstGeom prst="rect">
            <a:avLst/>
          </a:prstGeom>
          <a:noFill/>
        </p:spPr>
        <p:txBody>
          <a:bodyPr wrap="square">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1800" dirty="0"/>
              <a:t>Class II sizing</a:t>
            </a:r>
            <a:endParaRPr kumimoji="0" lang="en-US" sz="1800" b="0" i="0" u="none" strike="noStrike" cap="none" normalizeH="0" baseline="0" dirty="0">
              <a:ln>
                <a:noFill/>
              </a:ln>
              <a:solidFill>
                <a:schemeClr val="tx1"/>
              </a:solidFill>
              <a:effectLst/>
              <a:latin typeface="Tahoma" pitchFamily="34" charset="0"/>
            </a:endParaRPr>
          </a:p>
        </p:txBody>
      </p:sp>
    </p:spTree>
    <p:extLst>
      <p:ext uri="{BB962C8B-B14F-4D97-AF65-F5344CB8AC3E}">
        <p14:creationId xmlns:p14="http://schemas.microsoft.com/office/powerpoint/2010/main" val="32900724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9536" y="2350800"/>
            <a:ext cx="2348409" cy="1302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 name="Object 6"/>
          <p:cNvGraphicFramePr>
            <a:graphicFrameLocks noChangeAspect="1"/>
          </p:cNvGraphicFramePr>
          <p:nvPr>
            <p:extLst>
              <p:ext uri="{D42A27DB-BD31-4B8C-83A1-F6EECF244321}">
                <p14:modId xmlns:p14="http://schemas.microsoft.com/office/powerpoint/2010/main" val="2561952844"/>
              </p:ext>
            </p:extLst>
          </p:nvPr>
        </p:nvGraphicFramePr>
        <p:xfrm>
          <a:off x="1971552" y="1587290"/>
          <a:ext cx="1606252" cy="872126"/>
        </p:xfrm>
        <a:graphic>
          <a:graphicData uri="http://schemas.openxmlformats.org/presentationml/2006/ole">
            <mc:AlternateContent xmlns:mc="http://schemas.openxmlformats.org/markup-compatibility/2006">
              <mc:Choice xmlns:v="urn:schemas-microsoft-com:vml" Requires="v">
                <p:oleObj name="Bitmap-afbeelding" r:id="rId4" imgW="9815411" imgH="11438611" progId="PBrush">
                  <p:embed/>
                </p:oleObj>
              </mc:Choice>
              <mc:Fallback>
                <p:oleObj name="Bitmap-afbeelding" r:id="rId4" imgW="9815411" imgH="11438611" progId="PBrush">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b="52722"/>
                      <a:stretch>
                        <a:fillRect/>
                      </a:stretch>
                    </p:blipFill>
                    <p:spPr bwMode="auto">
                      <a:xfrm>
                        <a:off x="1971552" y="1587290"/>
                        <a:ext cx="1606252" cy="872126"/>
                      </a:xfrm>
                      <a:prstGeom prst="rect">
                        <a:avLst/>
                      </a:prstGeom>
                      <a:noFill/>
                      <a:ln w="9525">
                        <a:solidFill>
                          <a:schemeClr val="tx1"/>
                        </a:solidFill>
                        <a:miter lim="800000"/>
                        <a:headEnd/>
                        <a:tailEnd/>
                      </a:ln>
                      <a:effectLst/>
                    </p:spPr>
                  </p:pic>
                </p:oleObj>
              </mc:Fallback>
            </mc:AlternateContent>
          </a:graphicData>
        </a:graphic>
      </p:graphicFrame>
      <p:sp>
        <p:nvSpPr>
          <p:cNvPr id="2" name="Title 1"/>
          <p:cNvSpPr>
            <a:spLocks noGrp="1"/>
          </p:cNvSpPr>
          <p:nvPr>
            <p:ph type="title"/>
          </p:nvPr>
        </p:nvSpPr>
        <p:spPr>
          <a:xfrm>
            <a:off x="767408" y="32481"/>
            <a:ext cx="10212917" cy="760413"/>
          </a:xfrm>
        </p:spPr>
        <p:txBody>
          <a:bodyPr/>
          <a:lstStyle/>
          <a:p>
            <a:r>
              <a:rPr lang="en-US" b="0" dirty="0"/>
              <a:t>Applying Class II methods</a:t>
            </a:r>
          </a:p>
        </p:txBody>
      </p:sp>
      <p:graphicFrame>
        <p:nvGraphicFramePr>
          <p:cNvPr id="5" name="Chart 4"/>
          <p:cNvGraphicFramePr/>
          <p:nvPr>
            <p:extLst>
              <p:ext uri="{D42A27DB-BD31-4B8C-83A1-F6EECF244321}">
                <p14:modId xmlns:p14="http://schemas.microsoft.com/office/powerpoint/2010/main" val="3400976584"/>
              </p:ext>
            </p:extLst>
          </p:nvPr>
        </p:nvGraphicFramePr>
        <p:xfrm>
          <a:off x="2273667" y="3372713"/>
          <a:ext cx="1260140" cy="1189236"/>
        </p:xfrm>
        <a:graphic>
          <a:graphicData uri="http://schemas.openxmlformats.org/drawingml/2006/chart">
            <c:chart xmlns:c="http://schemas.openxmlformats.org/drawingml/2006/chart" xmlns:r="http://schemas.openxmlformats.org/officeDocument/2006/relationships" r:id="rId6"/>
          </a:graphicData>
        </a:graphic>
      </p:graphicFrame>
      <p:sp>
        <p:nvSpPr>
          <p:cNvPr id="11" name="Down Arrow 10"/>
          <p:cNvSpPr/>
          <p:nvPr/>
        </p:nvSpPr>
        <p:spPr bwMode="auto">
          <a:xfrm>
            <a:off x="8336918" y="3967331"/>
            <a:ext cx="681722" cy="612068"/>
          </a:xfrm>
          <a:prstGeom prst="dow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12" name="TextBox 11"/>
          <p:cNvSpPr txBox="1"/>
          <p:nvPr/>
        </p:nvSpPr>
        <p:spPr>
          <a:xfrm>
            <a:off x="8326614" y="4553962"/>
            <a:ext cx="721672" cy="369332"/>
          </a:xfrm>
          <a:prstGeom prst="rect">
            <a:avLst/>
          </a:prstGeom>
          <a:noFill/>
        </p:spPr>
        <p:txBody>
          <a:bodyPr wrap="none" rtlCol="0">
            <a:spAutoFit/>
          </a:bodyPr>
          <a:lstStyle/>
          <a:p>
            <a:r>
              <a:rPr lang="en-US" dirty="0" err="1"/>
              <a:t>OEW</a:t>
            </a:r>
            <a:r>
              <a:rPr lang="en-US" baseline="-25000" dirty="0" err="1"/>
              <a:t>i</a:t>
            </a:r>
            <a:endParaRPr lang="en-US" baseline="-25000" dirty="0"/>
          </a:p>
        </p:txBody>
      </p:sp>
      <p:sp>
        <p:nvSpPr>
          <p:cNvPr id="13" name="TextBox 12"/>
          <p:cNvSpPr txBox="1"/>
          <p:nvPr/>
        </p:nvSpPr>
        <p:spPr>
          <a:xfrm>
            <a:off x="1680614" y="4131065"/>
            <a:ext cx="1458902" cy="430887"/>
          </a:xfrm>
          <a:prstGeom prst="rect">
            <a:avLst/>
          </a:prstGeom>
          <a:noFill/>
        </p:spPr>
        <p:txBody>
          <a:bodyPr wrap="square" rtlCol="0">
            <a:spAutoFit/>
          </a:bodyPr>
          <a:lstStyle/>
          <a:p>
            <a:r>
              <a:rPr lang="en-US" sz="1100" dirty="0"/>
              <a:t>Mission + </a:t>
            </a:r>
          </a:p>
          <a:p>
            <a:r>
              <a:rPr lang="en-US" sz="1100" dirty="0"/>
              <a:t>OEW/MTOW</a:t>
            </a:r>
          </a:p>
        </p:txBody>
      </p:sp>
      <p:sp>
        <p:nvSpPr>
          <p:cNvPr id="14" name="TextBox 13"/>
          <p:cNvSpPr txBox="1"/>
          <p:nvPr/>
        </p:nvSpPr>
        <p:spPr>
          <a:xfrm>
            <a:off x="3637002" y="3908170"/>
            <a:ext cx="3966463" cy="461665"/>
          </a:xfrm>
          <a:prstGeom prst="rect">
            <a:avLst/>
          </a:prstGeom>
          <a:solidFill>
            <a:srgbClr val="FFFF00"/>
          </a:solidFill>
        </p:spPr>
        <p:txBody>
          <a:bodyPr wrap="square" rtlCol="0">
            <a:spAutoFit/>
          </a:bodyPr>
          <a:lstStyle/>
          <a:p>
            <a:r>
              <a:rPr lang="en-US" sz="2400" b="1" dirty="0"/>
              <a:t>What if OEW</a:t>
            </a:r>
            <a:r>
              <a:rPr lang="en-US" sz="2400" b="1" baseline="-25000" dirty="0"/>
              <a:t>i+1</a:t>
            </a:r>
            <a:r>
              <a:rPr lang="en-US" sz="2400" b="1" dirty="0"/>
              <a:t> ≠ </a:t>
            </a:r>
            <a:r>
              <a:rPr lang="en-US" sz="2400" b="1" dirty="0" err="1"/>
              <a:t>OEW</a:t>
            </a:r>
            <a:r>
              <a:rPr lang="en-US" sz="2400" b="1" baseline="-25000" dirty="0" err="1"/>
              <a:t>i</a:t>
            </a:r>
            <a:r>
              <a:rPr lang="en-US" sz="2400" b="1" baseline="-25000" dirty="0"/>
              <a:t> </a:t>
            </a:r>
            <a:r>
              <a:rPr lang="en-US" sz="2400" b="1" dirty="0"/>
              <a:t>? </a:t>
            </a:r>
          </a:p>
        </p:txBody>
      </p:sp>
      <p:sp>
        <p:nvSpPr>
          <p:cNvPr id="15" name="TextBox 14"/>
          <p:cNvSpPr txBox="1"/>
          <p:nvPr/>
        </p:nvSpPr>
        <p:spPr>
          <a:xfrm>
            <a:off x="2325825" y="913152"/>
            <a:ext cx="1155824" cy="584775"/>
          </a:xfrm>
          <a:prstGeom prst="rect">
            <a:avLst/>
          </a:prstGeom>
          <a:noFill/>
        </p:spPr>
        <p:txBody>
          <a:bodyPr wrap="square" rtlCol="0">
            <a:spAutoFit/>
          </a:bodyPr>
          <a:lstStyle/>
          <a:p>
            <a:r>
              <a:rPr lang="en-US" sz="1600" dirty="0"/>
              <a:t>Class I application</a:t>
            </a:r>
          </a:p>
        </p:txBody>
      </p:sp>
      <p:grpSp>
        <p:nvGrpSpPr>
          <p:cNvPr id="20" name="Group 19"/>
          <p:cNvGrpSpPr/>
          <p:nvPr/>
        </p:nvGrpSpPr>
        <p:grpSpPr>
          <a:xfrm>
            <a:off x="3647728" y="925528"/>
            <a:ext cx="2880500" cy="2612970"/>
            <a:chOff x="2123728" y="1429584"/>
            <a:chExt cx="2880500" cy="2612970"/>
          </a:xfrm>
        </p:grpSpPr>
        <p:pic>
          <p:nvPicPr>
            <p:cNvPr id="9"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b="15454"/>
            <a:stretch>
              <a:fillRect/>
            </a:stretch>
          </p:blipFill>
          <p:spPr bwMode="auto">
            <a:xfrm>
              <a:off x="2570834" y="2527409"/>
              <a:ext cx="2433394" cy="1515145"/>
            </a:xfrm>
            <a:prstGeom prst="rect">
              <a:avLst/>
            </a:prstGeom>
            <a:noFill/>
            <a:ln w="9525" algn="ctr">
              <a:solidFill>
                <a:schemeClr val="tx1"/>
              </a:solidFill>
              <a:miter lim="800000"/>
              <a:headEnd/>
              <a:tailEnd/>
            </a:ln>
          </p:spPr>
        </p:pic>
        <p:sp>
          <p:nvSpPr>
            <p:cNvPr id="10" name="Down Arrow 9"/>
            <p:cNvSpPr/>
            <p:nvPr/>
          </p:nvSpPr>
          <p:spPr bwMode="auto">
            <a:xfrm rot="16200000">
              <a:off x="2088901" y="2961927"/>
              <a:ext cx="681722" cy="612068"/>
            </a:xfrm>
            <a:prstGeom prst="dow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16" name="TextBox 15"/>
            <p:cNvSpPr txBox="1"/>
            <p:nvPr/>
          </p:nvSpPr>
          <p:spPr>
            <a:xfrm>
              <a:off x="2838676" y="1429584"/>
              <a:ext cx="2114938" cy="369332"/>
            </a:xfrm>
            <a:prstGeom prst="rect">
              <a:avLst/>
            </a:prstGeom>
            <a:noFill/>
          </p:spPr>
          <p:txBody>
            <a:bodyPr wrap="none" rtlCol="0">
              <a:spAutoFit/>
            </a:bodyPr>
            <a:lstStyle/>
            <a:p>
              <a:r>
                <a:rPr lang="en-US" dirty="0"/>
                <a:t>Class II application</a:t>
              </a:r>
            </a:p>
          </p:txBody>
        </p:sp>
      </p:grpSp>
      <p:grpSp>
        <p:nvGrpSpPr>
          <p:cNvPr id="21" name="Group 20"/>
          <p:cNvGrpSpPr/>
          <p:nvPr/>
        </p:nvGrpSpPr>
        <p:grpSpPr>
          <a:xfrm>
            <a:off x="6477614" y="805278"/>
            <a:ext cx="4067944" cy="3126095"/>
            <a:chOff x="4788024" y="1412776"/>
            <a:chExt cx="4067944" cy="3126095"/>
          </a:xfrm>
        </p:grpSpPr>
        <p:pic>
          <p:nvPicPr>
            <p:cNvPr id="6" name="Grafiek 1"/>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292080" y="2031092"/>
              <a:ext cx="3563888" cy="250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own Arrow 7"/>
            <p:cNvSpPr/>
            <p:nvPr/>
          </p:nvSpPr>
          <p:spPr bwMode="auto">
            <a:xfrm rot="16200000">
              <a:off x="4753197" y="2978947"/>
              <a:ext cx="681722" cy="612068"/>
            </a:xfrm>
            <a:prstGeom prst="dow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17" name="TextBox 16"/>
            <p:cNvSpPr txBox="1"/>
            <p:nvPr/>
          </p:nvSpPr>
          <p:spPr>
            <a:xfrm>
              <a:off x="6012160" y="1412776"/>
              <a:ext cx="1687578" cy="369332"/>
            </a:xfrm>
            <a:prstGeom prst="rect">
              <a:avLst/>
            </a:prstGeom>
            <a:noFill/>
          </p:spPr>
          <p:txBody>
            <a:bodyPr wrap="none" rtlCol="0">
              <a:spAutoFit/>
            </a:bodyPr>
            <a:lstStyle/>
            <a:p>
              <a:r>
                <a:rPr lang="en-US" dirty="0"/>
                <a:t>Class II results</a:t>
              </a:r>
            </a:p>
          </p:txBody>
        </p:sp>
      </p:grpSp>
      <p:sp>
        <p:nvSpPr>
          <p:cNvPr id="19" name="Down Arrow 18"/>
          <p:cNvSpPr/>
          <p:nvPr/>
        </p:nvSpPr>
        <p:spPr bwMode="auto">
          <a:xfrm rot="10800000">
            <a:off x="5356904" y="3347062"/>
            <a:ext cx="681722" cy="612068"/>
          </a:xfrm>
          <a:prstGeom prst="dow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22" name="Oval 21"/>
          <p:cNvSpPr/>
          <p:nvPr/>
        </p:nvSpPr>
        <p:spPr bwMode="auto">
          <a:xfrm>
            <a:off x="1636648" y="3584694"/>
            <a:ext cx="735314" cy="530915"/>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23" name="Oval 22"/>
          <p:cNvSpPr/>
          <p:nvPr/>
        </p:nvSpPr>
        <p:spPr bwMode="auto">
          <a:xfrm>
            <a:off x="8343443" y="4486003"/>
            <a:ext cx="708917" cy="530915"/>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24" name="Rectangle 23"/>
          <p:cNvSpPr/>
          <p:nvPr/>
        </p:nvSpPr>
        <p:spPr>
          <a:xfrm>
            <a:off x="3671379" y="4369835"/>
            <a:ext cx="3959278" cy="646331"/>
          </a:xfrm>
          <a:prstGeom prst="rect">
            <a:avLst/>
          </a:prstGeom>
          <a:solidFill>
            <a:srgbClr val="FFFF00"/>
          </a:solidFill>
        </p:spPr>
        <p:txBody>
          <a:bodyPr wrap="square">
            <a:spAutoFit/>
          </a:bodyPr>
          <a:lstStyle/>
          <a:p>
            <a:pPr marL="285750" indent="-285750">
              <a:buFont typeface="Arial" pitchFamily="34" charset="0"/>
              <a:buChar char="•"/>
            </a:pPr>
            <a:r>
              <a:rPr lang="en-US" b="1" dirty="0">
                <a:solidFill>
                  <a:srgbClr val="FF0000"/>
                </a:solidFill>
              </a:rPr>
              <a:t>Iterate</a:t>
            </a:r>
            <a:r>
              <a:rPr lang="en-US" dirty="0"/>
              <a:t> until </a:t>
            </a:r>
            <a:r>
              <a:rPr lang="en-US" dirty="0" err="1"/>
              <a:t>perc</a:t>
            </a:r>
            <a:r>
              <a:rPr lang="en-US" dirty="0"/>
              <a:t>. diff &lt; 1%</a:t>
            </a:r>
          </a:p>
          <a:p>
            <a:pPr marL="285750" indent="-285750">
              <a:buFont typeface="Arial" pitchFamily="34" charset="0"/>
              <a:buChar char="•"/>
            </a:pPr>
            <a:r>
              <a:rPr lang="en-US" dirty="0"/>
              <a:t>Be aware of the consequences!!!</a:t>
            </a:r>
          </a:p>
        </p:txBody>
      </p:sp>
      <p:sp>
        <p:nvSpPr>
          <p:cNvPr id="3" name="Rectangle 2"/>
          <p:cNvSpPr/>
          <p:nvPr/>
        </p:nvSpPr>
        <p:spPr>
          <a:xfrm>
            <a:off x="1619427" y="3665483"/>
            <a:ext cx="769763" cy="369332"/>
          </a:xfrm>
          <a:prstGeom prst="rect">
            <a:avLst/>
          </a:prstGeom>
        </p:spPr>
        <p:txBody>
          <a:bodyPr wrap="none">
            <a:spAutoFit/>
          </a:bodyPr>
          <a:lstStyle/>
          <a:p>
            <a:r>
              <a:rPr lang="en-US" dirty="0"/>
              <a:t>OEW</a:t>
            </a:r>
            <a:r>
              <a:rPr lang="en-US" baseline="-25000" dirty="0"/>
              <a:t>1</a:t>
            </a:r>
            <a:endParaRPr lang="en-US" dirty="0"/>
          </a:p>
        </p:txBody>
      </p:sp>
      <p:cxnSp>
        <p:nvCxnSpPr>
          <p:cNvPr id="25" name="Straight Arrow Connector 24"/>
          <p:cNvCxnSpPr>
            <a:endCxn id="3" idx="3"/>
          </p:cNvCxnSpPr>
          <p:nvPr/>
        </p:nvCxnSpPr>
        <p:spPr bwMode="auto">
          <a:xfrm flipH="1" flipV="1">
            <a:off x="2389190" y="3850149"/>
            <a:ext cx="411163" cy="151120"/>
          </a:xfrm>
          <a:prstGeom prst="straightConnector1">
            <a:avLst/>
          </a:prstGeom>
          <a:solidFill>
            <a:schemeClr val="accent1"/>
          </a:solidFill>
          <a:ln w="57150" cap="flat" cmpd="sng" algn="ctr">
            <a:solidFill>
              <a:srgbClr val="FF0000"/>
            </a:solidFill>
            <a:prstDash val="solid"/>
            <a:round/>
            <a:headEnd type="none" w="med" len="med"/>
            <a:tailEnd type="arrow"/>
          </a:ln>
          <a:effectLst/>
        </p:spPr>
      </p:cxnSp>
      <p:sp>
        <p:nvSpPr>
          <p:cNvPr id="18" name="Rectangle 17"/>
          <p:cNvSpPr/>
          <p:nvPr/>
        </p:nvSpPr>
        <p:spPr>
          <a:xfrm>
            <a:off x="4289303" y="5008460"/>
            <a:ext cx="2786340" cy="369332"/>
          </a:xfrm>
          <a:prstGeom prst="rect">
            <a:avLst/>
          </a:prstGeom>
          <a:solidFill>
            <a:srgbClr val="FFC000"/>
          </a:solidFill>
        </p:spPr>
        <p:txBody>
          <a:bodyPr wrap="none">
            <a:spAutoFit/>
          </a:bodyPr>
          <a:lstStyle/>
          <a:p>
            <a:r>
              <a:rPr lang="en-US" b="1" dirty="0"/>
              <a:t>And if OEW</a:t>
            </a:r>
            <a:r>
              <a:rPr lang="en-US" b="1" baseline="-25000" dirty="0"/>
              <a:t>1</a:t>
            </a:r>
            <a:r>
              <a:rPr lang="en-US" b="1" dirty="0"/>
              <a:t> ≠ OEW</a:t>
            </a:r>
            <a:r>
              <a:rPr lang="en-US" b="1" baseline="-25000" dirty="0"/>
              <a:t>2 </a:t>
            </a:r>
            <a:r>
              <a:rPr lang="en-US" b="1" dirty="0"/>
              <a:t>? </a:t>
            </a:r>
            <a:endParaRPr lang="en-GB" dirty="0"/>
          </a:p>
        </p:txBody>
      </p:sp>
      <p:sp>
        <p:nvSpPr>
          <p:cNvPr id="27" name="Rectangle 26"/>
          <p:cNvSpPr/>
          <p:nvPr/>
        </p:nvSpPr>
        <p:spPr>
          <a:xfrm>
            <a:off x="3748628" y="5343127"/>
            <a:ext cx="4003414" cy="646331"/>
          </a:xfrm>
          <a:prstGeom prst="rect">
            <a:avLst/>
          </a:prstGeom>
          <a:solidFill>
            <a:srgbClr val="FFC000"/>
          </a:solidFill>
        </p:spPr>
        <p:txBody>
          <a:bodyPr wrap="square">
            <a:spAutoFit/>
          </a:bodyPr>
          <a:lstStyle/>
          <a:p>
            <a:r>
              <a:rPr lang="en-US" dirty="0"/>
              <a:t>The iteration involves all the class I and the aerodynamic analysis!</a:t>
            </a:r>
          </a:p>
        </p:txBody>
      </p:sp>
      <p:sp>
        <p:nvSpPr>
          <p:cNvPr id="28" name="Bent Arrow 27"/>
          <p:cNvSpPr/>
          <p:nvPr/>
        </p:nvSpPr>
        <p:spPr bwMode="auto">
          <a:xfrm rot="16200000">
            <a:off x="2421182" y="4598748"/>
            <a:ext cx="1053467" cy="1358893"/>
          </a:xfrm>
          <a:prstGeom prst="bentArrow">
            <a:avLst>
              <a:gd name="adj1" fmla="val 34710"/>
              <a:gd name="adj2" fmla="val 34710"/>
              <a:gd name="adj3" fmla="val 25000"/>
              <a:gd name="adj4" fmla="val 52073"/>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GB" sz="2200"/>
          </a:p>
        </p:txBody>
      </p:sp>
      <p:sp>
        <p:nvSpPr>
          <p:cNvPr id="29" name="Down Arrow 28"/>
          <p:cNvSpPr/>
          <p:nvPr/>
        </p:nvSpPr>
        <p:spPr bwMode="auto">
          <a:xfrm>
            <a:off x="8328439" y="4916316"/>
            <a:ext cx="681722" cy="612068"/>
          </a:xfrm>
          <a:prstGeom prst="downArrow">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30" name="TextBox 29"/>
          <p:cNvSpPr txBox="1"/>
          <p:nvPr/>
        </p:nvSpPr>
        <p:spPr>
          <a:xfrm>
            <a:off x="8318138" y="5502947"/>
            <a:ext cx="769763" cy="369332"/>
          </a:xfrm>
          <a:prstGeom prst="rect">
            <a:avLst/>
          </a:prstGeom>
          <a:noFill/>
        </p:spPr>
        <p:txBody>
          <a:bodyPr wrap="none" rtlCol="0">
            <a:spAutoFit/>
          </a:bodyPr>
          <a:lstStyle/>
          <a:p>
            <a:r>
              <a:rPr lang="en-US" dirty="0"/>
              <a:t>OEW</a:t>
            </a:r>
            <a:r>
              <a:rPr lang="en-US" baseline="-25000" dirty="0"/>
              <a:t>2</a:t>
            </a:r>
          </a:p>
        </p:txBody>
      </p:sp>
    </p:spTree>
    <p:extLst>
      <p:ext uri="{BB962C8B-B14F-4D97-AF65-F5344CB8AC3E}">
        <p14:creationId xmlns:p14="http://schemas.microsoft.com/office/powerpoint/2010/main" val="2319016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4" grpId="0" animBg="1"/>
      <p:bldP spid="19" grpId="0" animBg="1"/>
      <p:bldP spid="22" grpId="0" animBg="1"/>
      <p:bldP spid="23" grpId="0" animBg="1"/>
      <p:bldP spid="24" grpId="0" animBg="1"/>
      <p:bldP spid="18" grpId="0" animBg="1"/>
      <p:bldP spid="27" grpId="0" animBg="1"/>
      <p:bldP spid="28" grpId="0" animBg="1"/>
      <p:bldP spid="29" grpId="0" animBg="1"/>
      <p:bldP spid="30" grpId="0"/>
    </p:bld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2169341" y="1533865"/>
            <a:ext cx="1661612" cy="584775"/>
          </a:xfrm>
          <a:prstGeom prst="rect">
            <a:avLst/>
          </a:prstGeom>
          <a:solidFill>
            <a:srgbClr val="FFFF00"/>
          </a:solidFill>
          <a:ln>
            <a:solidFill>
              <a:schemeClr val="tx1"/>
            </a:solidFill>
          </a:ln>
        </p:spPr>
        <p:txBody>
          <a:bodyPr wrap="square" rtlCol="0">
            <a:spAutoFit/>
          </a:bodyPr>
          <a:lstStyle/>
          <a:p>
            <a:r>
              <a:rPr lang="en-US" sz="1600" dirty="0"/>
              <a:t>Class I weight estimation</a:t>
            </a:r>
          </a:p>
        </p:txBody>
      </p:sp>
      <p:sp>
        <p:nvSpPr>
          <p:cNvPr id="4" name="TextBox 3"/>
          <p:cNvSpPr txBox="1"/>
          <p:nvPr/>
        </p:nvSpPr>
        <p:spPr>
          <a:xfrm>
            <a:off x="3830953" y="2118637"/>
            <a:ext cx="2228302" cy="1708160"/>
          </a:xfrm>
          <a:prstGeom prst="rect">
            <a:avLst/>
          </a:prstGeom>
          <a:solidFill>
            <a:srgbClr val="FFFF99"/>
          </a:solidFill>
          <a:ln>
            <a:solidFill>
              <a:schemeClr val="tx1"/>
            </a:solidFill>
          </a:ln>
        </p:spPr>
        <p:txBody>
          <a:bodyPr wrap="square" rtlCol="0">
            <a:spAutoFit/>
          </a:bodyPr>
          <a:lstStyle/>
          <a:p>
            <a:pPr marL="285750" indent="-285750">
              <a:buFont typeface="Arial" pitchFamily="34" charset="0"/>
              <a:buChar char="•"/>
            </a:pPr>
            <a:r>
              <a:rPr lang="en-US" sz="1500" dirty="0"/>
              <a:t>Engine selection</a:t>
            </a:r>
          </a:p>
          <a:p>
            <a:pPr marL="285750" indent="-285750">
              <a:buFont typeface="Arial" pitchFamily="34" charset="0"/>
              <a:buChar char="•"/>
            </a:pPr>
            <a:r>
              <a:rPr lang="en-US" sz="1500" dirty="0"/>
              <a:t>Fuselage sizing</a:t>
            </a:r>
          </a:p>
          <a:p>
            <a:pPr marL="285750" indent="-285750">
              <a:buFont typeface="Arial" pitchFamily="34" charset="0"/>
              <a:buChar char="•"/>
            </a:pPr>
            <a:r>
              <a:rPr lang="en-US" sz="1500" dirty="0"/>
              <a:t>Wing sizing &amp; preliminary positioning</a:t>
            </a:r>
          </a:p>
          <a:p>
            <a:pPr marL="285750" indent="-285750">
              <a:buFont typeface="Arial" pitchFamily="34" charset="0"/>
              <a:buChar char="•"/>
            </a:pPr>
            <a:r>
              <a:rPr lang="en-US" sz="1500" dirty="0"/>
              <a:t>Preliminary tail sizing &amp; positioning</a:t>
            </a:r>
          </a:p>
        </p:txBody>
      </p:sp>
      <p:sp>
        <p:nvSpPr>
          <p:cNvPr id="5" name="TextBox 4"/>
          <p:cNvSpPr txBox="1"/>
          <p:nvPr/>
        </p:nvSpPr>
        <p:spPr>
          <a:xfrm>
            <a:off x="6059256" y="3842189"/>
            <a:ext cx="1764937" cy="646331"/>
          </a:xfrm>
          <a:prstGeom prst="rect">
            <a:avLst/>
          </a:prstGeom>
          <a:solidFill>
            <a:srgbClr val="FFFF00"/>
          </a:solidFill>
          <a:ln>
            <a:solidFill>
              <a:schemeClr val="tx1"/>
            </a:solidFill>
          </a:ln>
        </p:spPr>
        <p:txBody>
          <a:bodyPr wrap="square" rtlCol="0">
            <a:spAutoFit/>
          </a:bodyPr>
          <a:lstStyle/>
          <a:p>
            <a:pPr marL="285750" indent="-285750">
              <a:buFont typeface="Arial" panose="020B0604020202020204" pitchFamily="34" charset="0"/>
              <a:buChar char="•"/>
            </a:pPr>
            <a:r>
              <a:rPr lang="en-US" sz="1200" dirty="0"/>
              <a:t>Class II weight estimation </a:t>
            </a:r>
          </a:p>
          <a:p>
            <a:pPr marL="285750" indent="-285750">
              <a:buFont typeface="Arial" panose="020B0604020202020204" pitchFamily="34" charset="0"/>
              <a:buChar char="•"/>
            </a:pPr>
            <a:r>
              <a:rPr lang="en-US" sz="1200" dirty="0"/>
              <a:t>c.g. determination</a:t>
            </a:r>
          </a:p>
        </p:txBody>
      </p:sp>
      <p:sp>
        <p:nvSpPr>
          <p:cNvPr id="6" name="TextBox 5"/>
          <p:cNvSpPr txBox="1"/>
          <p:nvPr/>
        </p:nvSpPr>
        <p:spPr>
          <a:xfrm>
            <a:off x="2161557" y="157356"/>
            <a:ext cx="1665453"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t>Mission definition</a:t>
            </a:r>
          </a:p>
          <a:p>
            <a:pPr marL="285750" indent="-285750">
              <a:buFont typeface="Arial" panose="020B0604020202020204" pitchFamily="34" charset="0"/>
              <a:buChar char="•"/>
            </a:pPr>
            <a:r>
              <a:rPr lang="en-US" sz="1400" dirty="0"/>
              <a:t>fuel fractions</a:t>
            </a:r>
          </a:p>
          <a:p>
            <a:pPr marL="285750" indent="-285750">
              <a:buFont typeface="Arial" panose="020B0604020202020204" pitchFamily="34" charset="0"/>
              <a:buChar char="•"/>
            </a:pPr>
            <a:r>
              <a:rPr lang="en-US" sz="1400" dirty="0"/>
              <a:t>L/D</a:t>
            </a:r>
          </a:p>
          <a:p>
            <a:pPr marL="285750" indent="-285750">
              <a:buFont typeface="Arial" panose="020B0604020202020204" pitchFamily="34" charset="0"/>
              <a:buChar char="•"/>
            </a:pPr>
            <a:r>
              <a:rPr lang="en-US" sz="1400" dirty="0"/>
              <a:t>SFC</a:t>
            </a:r>
          </a:p>
          <a:p>
            <a:pPr marL="285750" indent="-285750">
              <a:buFont typeface="Arial" panose="020B0604020202020204" pitchFamily="34" charset="0"/>
              <a:buChar char="•"/>
            </a:pPr>
            <a:r>
              <a:rPr lang="en-US" sz="1400" dirty="0"/>
              <a:t>OEW/MTOW</a:t>
            </a:r>
          </a:p>
        </p:txBody>
      </p:sp>
      <p:sp>
        <p:nvSpPr>
          <p:cNvPr id="7" name="TextBox 6"/>
          <p:cNvSpPr txBox="1"/>
          <p:nvPr/>
        </p:nvSpPr>
        <p:spPr>
          <a:xfrm>
            <a:off x="8268228" y="4015479"/>
            <a:ext cx="1356164" cy="461665"/>
          </a:xfrm>
          <a:prstGeom prst="rect">
            <a:avLst/>
          </a:prstGeom>
          <a:noFill/>
        </p:spPr>
        <p:txBody>
          <a:bodyPr wrap="square" rtlCol="0">
            <a:spAutoFit/>
          </a:bodyPr>
          <a:lstStyle/>
          <a:p>
            <a:pPr marL="171450" indent="-171450">
              <a:buFont typeface="Arial" panose="020B0604020202020204" pitchFamily="34" charset="0"/>
              <a:buChar char="•"/>
            </a:pPr>
            <a:r>
              <a:rPr lang="en-US" sz="1200" dirty="0"/>
              <a:t>OEW</a:t>
            </a:r>
          </a:p>
          <a:p>
            <a:pPr marL="171450" indent="-171450">
              <a:buFont typeface="Arial" panose="020B0604020202020204" pitchFamily="34" charset="0"/>
              <a:buChar char="•"/>
            </a:pPr>
            <a:r>
              <a:rPr lang="en-US" sz="1200" dirty="0"/>
              <a:t> c.g. range </a:t>
            </a:r>
          </a:p>
        </p:txBody>
      </p:sp>
      <p:sp>
        <p:nvSpPr>
          <p:cNvPr id="9" name="TextBox 8"/>
          <p:cNvSpPr txBox="1"/>
          <p:nvPr/>
        </p:nvSpPr>
        <p:spPr>
          <a:xfrm>
            <a:off x="7824191" y="4492366"/>
            <a:ext cx="2453070" cy="1323439"/>
          </a:xfrm>
          <a:prstGeom prst="rect">
            <a:avLst/>
          </a:prstGeom>
          <a:solidFill>
            <a:srgbClr val="FFFF99"/>
          </a:solidFill>
          <a:ln>
            <a:solidFill>
              <a:schemeClr val="tx1"/>
            </a:solidFill>
          </a:ln>
        </p:spPr>
        <p:txBody>
          <a:bodyPr wrap="square" rtlCol="0">
            <a:spAutoFit/>
          </a:bodyPr>
          <a:lstStyle/>
          <a:p>
            <a:pPr marL="285750" indent="-285750">
              <a:buFont typeface="Arial" pitchFamily="34" charset="0"/>
              <a:buChar char="•"/>
            </a:pPr>
            <a:r>
              <a:rPr lang="en-US" sz="1600" dirty="0"/>
              <a:t>Tail sizing &amp; positioning</a:t>
            </a:r>
          </a:p>
          <a:p>
            <a:pPr marL="285750" indent="-285750">
              <a:buFont typeface="Arial" pitchFamily="34" charset="0"/>
              <a:buChar char="•"/>
            </a:pPr>
            <a:r>
              <a:rPr lang="en-US" sz="1600" dirty="0"/>
              <a:t>Wing positioning</a:t>
            </a:r>
          </a:p>
          <a:p>
            <a:pPr marL="285750" indent="-285750">
              <a:buFont typeface="Arial" pitchFamily="34" charset="0"/>
              <a:buChar char="•"/>
            </a:pPr>
            <a:r>
              <a:rPr lang="en-US" sz="1600" dirty="0"/>
              <a:t>Landing gear positioning</a:t>
            </a:r>
          </a:p>
        </p:txBody>
      </p:sp>
      <p:sp>
        <p:nvSpPr>
          <p:cNvPr id="10" name="TextBox 9"/>
          <p:cNvSpPr txBox="1"/>
          <p:nvPr/>
        </p:nvSpPr>
        <p:spPr>
          <a:xfrm>
            <a:off x="4304044" y="1528512"/>
            <a:ext cx="1143262" cy="646331"/>
          </a:xfrm>
          <a:prstGeom prst="rect">
            <a:avLst/>
          </a:prstGeom>
          <a:noFill/>
        </p:spPr>
        <p:txBody>
          <a:bodyPr wrap="none" rtlCol="0">
            <a:spAutoFit/>
          </a:bodyPr>
          <a:lstStyle/>
          <a:p>
            <a:pPr marL="171450" indent="-171450">
              <a:buFont typeface="Arial" panose="020B0604020202020204" pitchFamily="34" charset="0"/>
              <a:buChar char="•"/>
            </a:pPr>
            <a:r>
              <a:rPr lang="en-US" sz="1200" dirty="0"/>
              <a:t>OEW</a:t>
            </a:r>
          </a:p>
          <a:p>
            <a:pPr marL="171450" indent="-171450">
              <a:buFont typeface="Arial" panose="020B0604020202020204" pitchFamily="34" charset="0"/>
              <a:buChar char="•"/>
            </a:pPr>
            <a:r>
              <a:rPr lang="en-US" sz="1200" dirty="0"/>
              <a:t>MTOW</a:t>
            </a:r>
          </a:p>
          <a:p>
            <a:pPr marL="171450" indent="-171450">
              <a:buFont typeface="Arial" panose="020B0604020202020204" pitchFamily="34" charset="0"/>
              <a:buChar char="•"/>
            </a:pPr>
            <a:r>
              <a:rPr lang="en-US" sz="1200" dirty="0"/>
              <a:t>Fuel weight</a:t>
            </a:r>
          </a:p>
        </p:txBody>
      </p:sp>
      <p:sp>
        <p:nvSpPr>
          <p:cNvPr id="11" name="TextBox 10"/>
          <p:cNvSpPr txBox="1"/>
          <p:nvPr/>
        </p:nvSpPr>
        <p:spPr>
          <a:xfrm>
            <a:off x="6432613" y="2792533"/>
            <a:ext cx="1018227" cy="461665"/>
          </a:xfrm>
          <a:prstGeom prst="rect">
            <a:avLst/>
          </a:prstGeom>
          <a:noFill/>
        </p:spPr>
        <p:txBody>
          <a:bodyPr wrap="none" rtlCol="0">
            <a:spAutoFit/>
          </a:bodyPr>
          <a:lstStyle/>
          <a:p>
            <a:pPr marL="171450" indent="-171450">
              <a:buFont typeface="Arial" panose="020B0604020202020204" pitchFamily="34" charset="0"/>
              <a:buChar char="•"/>
            </a:pPr>
            <a:r>
              <a:rPr lang="en-US" sz="1200" dirty="0"/>
              <a:t>3D views </a:t>
            </a:r>
          </a:p>
          <a:p>
            <a:pPr marL="171450" indent="-171450">
              <a:buFont typeface="Arial" panose="020B0604020202020204" pitchFamily="34" charset="0"/>
              <a:buChar char="•"/>
            </a:pPr>
            <a:r>
              <a:rPr lang="en-US" sz="1200" dirty="0" err="1"/>
              <a:t>n</a:t>
            </a:r>
            <a:r>
              <a:rPr lang="en-US" sz="1200" baseline="-25000" dirty="0" err="1"/>
              <a:t>ult</a:t>
            </a:r>
            <a:endParaRPr lang="en-US" sz="1200" baseline="-25000" dirty="0"/>
          </a:p>
        </p:txBody>
      </p:sp>
      <p:sp>
        <p:nvSpPr>
          <p:cNvPr id="13" name="TextBox 12"/>
          <p:cNvSpPr txBox="1"/>
          <p:nvPr/>
        </p:nvSpPr>
        <p:spPr>
          <a:xfrm>
            <a:off x="2489736" y="4088410"/>
            <a:ext cx="606305" cy="276999"/>
          </a:xfrm>
          <a:prstGeom prst="rect">
            <a:avLst/>
          </a:prstGeom>
          <a:solidFill>
            <a:schemeClr val="bg1"/>
          </a:solidFill>
        </p:spPr>
        <p:txBody>
          <a:bodyPr wrap="square" rtlCol="0">
            <a:spAutoFit/>
          </a:bodyPr>
          <a:lstStyle/>
          <a:p>
            <a:r>
              <a:rPr lang="en-US" sz="1200" dirty="0"/>
              <a:t>OEW</a:t>
            </a:r>
          </a:p>
        </p:txBody>
      </p:sp>
      <p:sp>
        <p:nvSpPr>
          <p:cNvPr id="14" name="TextBox 13"/>
          <p:cNvSpPr txBox="1"/>
          <p:nvPr/>
        </p:nvSpPr>
        <p:spPr>
          <a:xfrm>
            <a:off x="6116176" y="4668359"/>
            <a:ext cx="1651099" cy="1015663"/>
          </a:xfrm>
          <a:prstGeom prst="rect">
            <a:avLst/>
          </a:prstGeom>
          <a:noFill/>
        </p:spPr>
        <p:txBody>
          <a:bodyPr wrap="square" rtlCol="0">
            <a:spAutoFit/>
          </a:bodyPr>
          <a:lstStyle/>
          <a:p>
            <a:pPr marL="171450" indent="-171450">
              <a:buFont typeface="Arial" panose="020B0604020202020204" pitchFamily="34" charset="0"/>
              <a:buChar char="•"/>
            </a:pPr>
            <a:r>
              <a:rPr lang="en-US" sz="1200" dirty="0"/>
              <a:t>Tail size and position</a:t>
            </a:r>
          </a:p>
          <a:p>
            <a:pPr marL="171450" indent="-171450">
              <a:buFont typeface="Arial" panose="020B0604020202020204" pitchFamily="34" charset="0"/>
              <a:buChar char="•"/>
            </a:pPr>
            <a:r>
              <a:rPr lang="en-US" sz="1200" dirty="0"/>
              <a:t>Wing position</a:t>
            </a:r>
          </a:p>
          <a:p>
            <a:pPr marL="171450" indent="-171450">
              <a:buFont typeface="Arial" panose="020B0604020202020204" pitchFamily="34" charset="0"/>
              <a:buChar char="•"/>
            </a:pPr>
            <a:r>
              <a:rPr lang="en-US" sz="1200" dirty="0"/>
              <a:t>Landing gear position</a:t>
            </a:r>
          </a:p>
        </p:txBody>
      </p:sp>
      <p:sp>
        <p:nvSpPr>
          <p:cNvPr id="15" name="TextBox 14"/>
          <p:cNvSpPr txBox="1"/>
          <p:nvPr/>
        </p:nvSpPr>
        <p:spPr>
          <a:xfrm>
            <a:off x="2339450" y="2749582"/>
            <a:ext cx="615874" cy="461665"/>
          </a:xfrm>
          <a:prstGeom prst="rect">
            <a:avLst/>
          </a:prstGeom>
          <a:solidFill>
            <a:schemeClr val="bg1"/>
          </a:solidFill>
        </p:spPr>
        <p:txBody>
          <a:bodyPr wrap="none" rtlCol="0">
            <a:spAutoFit/>
          </a:bodyPr>
          <a:lstStyle/>
          <a:p>
            <a:pPr marL="171450" indent="-171450">
              <a:buFont typeface="Arial" panose="020B0604020202020204" pitchFamily="34" charset="0"/>
              <a:buChar char="•"/>
            </a:pPr>
            <a:r>
              <a:rPr lang="en-US" sz="1200" dirty="0"/>
              <a:t>L/D</a:t>
            </a:r>
          </a:p>
          <a:p>
            <a:pPr marL="171450" indent="-171450">
              <a:buFont typeface="Arial" panose="020B0604020202020204" pitchFamily="34" charset="0"/>
              <a:buChar char="•"/>
            </a:pPr>
            <a:r>
              <a:rPr lang="en-US" sz="1200" dirty="0"/>
              <a:t>SFC</a:t>
            </a:r>
          </a:p>
        </p:txBody>
      </p:sp>
      <p:sp>
        <p:nvSpPr>
          <p:cNvPr id="16" name="TextBox 15"/>
          <p:cNvSpPr txBox="1"/>
          <p:nvPr/>
        </p:nvSpPr>
        <p:spPr>
          <a:xfrm>
            <a:off x="2489733" y="5061943"/>
            <a:ext cx="425116" cy="276999"/>
          </a:xfrm>
          <a:prstGeom prst="rect">
            <a:avLst/>
          </a:prstGeom>
          <a:noFill/>
        </p:spPr>
        <p:txBody>
          <a:bodyPr wrap="none" rtlCol="0">
            <a:spAutoFit/>
          </a:bodyPr>
          <a:lstStyle/>
          <a:p>
            <a:r>
              <a:rPr lang="en-US" sz="1200" dirty="0"/>
              <a:t>L/D</a:t>
            </a:r>
          </a:p>
        </p:txBody>
      </p:sp>
      <p:sp>
        <p:nvSpPr>
          <p:cNvPr id="57" name="Rectangle 4"/>
          <p:cNvSpPr>
            <a:spLocks noChangeArrowheads="1"/>
          </p:cNvSpPr>
          <p:nvPr/>
        </p:nvSpPr>
        <p:spPr bwMode="auto">
          <a:xfrm>
            <a:off x="5790198" y="86240"/>
            <a:ext cx="4875597" cy="1311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2800" b="1" dirty="0">
                <a:solidFill>
                  <a:srgbClr val="00A4DE"/>
                </a:solidFill>
                <a:latin typeface="+mj-lt"/>
              </a:rPr>
              <a:t>N</a:t>
            </a:r>
            <a:r>
              <a:rPr lang="en-US" sz="2800" b="1" baseline="30000" dirty="0">
                <a:solidFill>
                  <a:srgbClr val="00A4DE"/>
                </a:solidFill>
                <a:latin typeface="+mj-lt"/>
              </a:rPr>
              <a:t>2</a:t>
            </a:r>
            <a:r>
              <a:rPr lang="en-US" sz="2800" b="1" dirty="0">
                <a:solidFill>
                  <a:srgbClr val="00A4DE"/>
                </a:solidFill>
                <a:latin typeface="+mj-lt"/>
              </a:rPr>
              <a:t> charts* to map the design process and help managing iterations</a:t>
            </a:r>
            <a:endParaRPr lang="en-GB" sz="2800" b="1" dirty="0">
              <a:solidFill>
                <a:srgbClr val="00A4DE"/>
              </a:solidFill>
              <a:latin typeface="+mj-lt"/>
            </a:endParaRPr>
          </a:p>
        </p:txBody>
      </p:sp>
      <p:sp>
        <p:nvSpPr>
          <p:cNvPr id="58" name="Oval 57"/>
          <p:cNvSpPr/>
          <p:nvPr/>
        </p:nvSpPr>
        <p:spPr bwMode="auto">
          <a:xfrm>
            <a:off x="2433994" y="1216314"/>
            <a:ext cx="536594" cy="362666"/>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59" name="Oval 58"/>
          <p:cNvSpPr/>
          <p:nvPr/>
        </p:nvSpPr>
        <p:spPr bwMode="auto">
          <a:xfrm>
            <a:off x="4439816" y="1313526"/>
            <a:ext cx="648072" cy="530915"/>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60" name="Oval 59"/>
          <p:cNvSpPr/>
          <p:nvPr/>
        </p:nvSpPr>
        <p:spPr bwMode="auto">
          <a:xfrm>
            <a:off x="8402653" y="3822952"/>
            <a:ext cx="648072" cy="530915"/>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61" name="Oval 60"/>
          <p:cNvSpPr/>
          <p:nvPr/>
        </p:nvSpPr>
        <p:spPr bwMode="auto">
          <a:xfrm>
            <a:off x="2424703" y="3961451"/>
            <a:ext cx="648072" cy="530915"/>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17" name="Rectangle 16"/>
          <p:cNvSpPr/>
          <p:nvPr/>
        </p:nvSpPr>
        <p:spPr bwMode="auto">
          <a:xfrm>
            <a:off x="3827007" y="1528512"/>
            <a:ext cx="2232248" cy="590127"/>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39" name="Rectangle 38"/>
          <p:cNvSpPr/>
          <p:nvPr/>
        </p:nvSpPr>
        <p:spPr bwMode="auto">
          <a:xfrm>
            <a:off x="6059256" y="1528509"/>
            <a:ext cx="1764936" cy="59012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40" name="Rectangle 39"/>
          <p:cNvSpPr/>
          <p:nvPr/>
        </p:nvSpPr>
        <p:spPr bwMode="auto">
          <a:xfrm>
            <a:off x="7824194" y="1528509"/>
            <a:ext cx="2453069" cy="59012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41" name="Rectangle 40"/>
          <p:cNvSpPr/>
          <p:nvPr/>
        </p:nvSpPr>
        <p:spPr bwMode="auto">
          <a:xfrm>
            <a:off x="6059259" y="2117286"/>
            <a:ext cx="1764935" cy="170566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42" name="Rectangle 41"/>
          <p:cNvSpPr/>
          <p:nvPr/>
        </p:nvSpPr>
        <p:spPr bwMode="auto">
          <a:xfrm>
            <a:off x="7824194" y="2114748"/>
            <a:ext cx="2453069" cy="170820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43" name="Rectangle 42"/>
          <p:cNvSpPr/>
          <p:nvPr/>
        </p:nvSpPr>
        <p:spPr bwMode="auto">
          <a:xfrm>
            <a:off x="7824195" y="3822950"/>
            <a:ext cx="2453069" cy="66941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45" name="Rectangle 44"/>
          <p:cNvSpPr/>
          <p:nvPr/>
        </p:nvSpPr>
        <p:spPr bwMode="auto">
          <a:xfrm>
            <a:off x="6059257" y="4488520"/>
            <a:ext cx="1764934" cy="1327285"/>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46" name="Rectangle 45"/>
          <p:cNvSpPr/>
          <p:nvPr/>
        </p:nvSpPr>
        <p:spPr bwMode="auto">
          <a:xfrm>
            <a:off x="3830955" y="4492364"/>
            <a:ext cx="2228303" cy="132343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47" name="Rectangle 46"/>
          <p:cNvSpPr/>
          <p:nvPr/>
        </p:nvSpPr>
        <p:spPr bwMode="auto">
          <a:xfrm>
            <a:off x="2175369" y="2114748"/>
            <a:ext cx="1655584" cy="170820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49" name="Rectangle 48"/>
          <p:cNvSpPr/>
          <p:nvPr/>
        </p:nvSpPr>
        <p:spPr bwMode="auto">
          <a:xfrm>
            <a:off x="2175369" y="4492368"/>
            <a:ext cx="1655584" cy="1323437"/>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51" name="Rectangle 50"/>
          <p:cNvSpPr/>
          <p:nvPr/>
        </p:nvSpPr>
        <p:spPr bwMode="auto">
          <a:xfrm>
            <a:off x="2175369" y="3822949"/>
            <a:ext cx="1655584" cy="669416"/>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62" name="TextBox 61"/>
          <p:cNvSpPr txBox="1"/>
          <p:nvPr/>
        </p:nvSpPr>
        <p:spPr>
          <a:xfrm>
            <a:off x="8978178" y="1968368"/>
            <a:ext cx="2675126" cy="1077218"/>
          </a:xfrm>
          <a:prstGeom prst="rect">
            <a:avLst/>
          </a:prstGeom>
          <a:solidFill>
            <a:schemeClr val="bg1"/>
          </a:solidFill>
        </p:spPr>
        <p:txBody>
          <a:bodyPr wrap="square" rtlCol="0">
            <a:spAutoFit/>
          </a:bodyPr>
          <a:lstStyle/>
          <a:p>
            <a:r>
              <a:rPr lang="en-US" sz="1600" i="1" dirty="0">
                <a:solidFill>
                  <a:srgbClr val="FF0000"/>
                </a:solidFill>
              </a:rPr>
              <a:t>Can you spot any weight estimation iteration?</a:t>
            </a:r>
          </a:p>
          <a:p>
            <a:r>
              <a:rPr lang="en-US" sz="1600" i="1" dirty="0">
                <a:solidFill>
                  <a:srgbClr val="FF0000"/>
                </a:solidFill>
              </a:rPr>
              <a:t>OEW</a:t>
            </a:r>
            <a:r>
              <a:rPr lang="en-US" sz="1600" i="1" baseline="-25000" dirty="0">
                <a:solidFill>
                  <a:srgbClr val="FF0000"/>
                </a:solidFill>
              </a:rPr>
              <a:t>1</a:t>
            </a:r>
            <a:r>
              <a:rPr lang="en-US" sz="1600" i="1" dirty="0">
                <a:solidFill>
                  <a:srgbClr val="FF0000"/>
                </a:solidFill>
              </a:rPr>
              <a:t> and OEW</a:t>
            </a:r>
            <a:r>
              <a:rPr lang="en-US" sz="1600" i="1" baseline="-25000" dirty="0">
                <a:solidFill>
                  <a:srgbClr val="FF0000"/>
                </a:solidFill>
              </a:rPr>
              <a:t>2</a:t>
            </a:r>
            <a:r>
              <a:rPr lang="en-US" sz="1600" i="1" dirty="0">
                <a:solidFill>
                  <a:srgbClr val="FF0000"/>
                </a:solidFill>
              </a:rPr>
              <a:t> ?</a:t>
            </a:r>
            <a:endParaRPr lang="en-US" sz="1600" i="1" baseline="-25000" dirty="0">
              <a:solidFill>
                <a:srgbClr val="FF0000"/>
              </a:solidFill>
            </a:endParaRPr>
          </a:p>
          <a:p>
            <a:r>
              <a:rPr lang="en-US" sz="1600" i="1" dirty="0">
                <a:solidFill>
                  <a:srgbClr val="FF0000"/>
                </a:solidFill>
              </a:rPr>
              <a:t>How would you manage it?</a:t>
            </a:r>
          </a:p>
        </p:txBody>
      </p:sp>
      <p:sp>
        <p:nvSpPr>
          <p:cNvPr id="38" name="Bent-Up Arrow 37"/>
          <p:cNvSpPr/>
          <p:nvPr/>
        </p:nvSpPr>
        <p:spPr bwMode="auto">
          <a:xfrm rot="10800000" flipH="1">
            <a:off x="10079668" y="1289257"/>
            <a:ext cx="472147" cy="510837"/>
          </a:xfrm>
          <a:prstGeom prst="bentUp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63" name="Bent-Up Arrow 62"/>
          <p:cNvSpPr/>
          <p:nvPr/>
        </p:nvSpPr>
        <p:spPr bwMode="auto">
          <a:xfrm flipH="1">
            <a:off x="1925482" y="5560386"/>
            <a:ext cx="472147" cy="510837"/>
          </a:xfrm>
          <a:prstGeom prst="bentUp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b="1" dirty="0"/>
          </a:p>
        </p:txBody>
      </p:sp>
      <p:sp>
        <p:nvSpPr>
          <p:cNvPr id="64" name="TextBox 63"/>
          <p:cNvSpPr txBox="1"/>
          <p:nvPr/>
        </p:nvSpPr>
        <p:spPr>
          <a:xfrm>
            <a:off x="6558352" y="1592742"/>
            <a:ext cx="993429" cy="276999"/>
          </a:xfrm>
          <a:prstGeom prst="rect">
            <a:avLst/>
          </a:prstGeom>
          <a:noFill/>
        </p:spPr>
        <p:txBody>
          <a:bodyPr wrap="square" rtlCol="0">
            <a:spAutoFit/>
          </a:bodyPr>
          <a:lstStyle/>
          <a:p>
            <a:r>
              <a:rPr lang="en-US" sz="1200" dirty="0"/>
              <a:t>OEW </a:t>
            </a:r>
          </a:p>
        </p:txBody>
      </p:sp>
      <p:sp>
        <p:nvSpPr>
          <p:cNvPr id="65" name="Oval 64"/>
          <p:cNvSpPr/>
          <p:nvPr/>
        </p:nvSpPr>
        <p:spPr bwMode="auto">
          <a:xfrm>
            <a:off x="6484702" y="1465926"/>
            <a:ext cx="648072" cy="530915"/>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a:endParaRPr lang="en-US" sz="2200"/>
          </a:p>
        </p:txBody>
      </p:sp>
      <p:sp>
        <p:nvSpPr>
          <p:cNvPr id="53" name="TextBox 52"/>
          <p:cNvSpPr txBox="1"/>
          <p:nvPr/>
        </p:nvSpPr>
        <p:spPr>
          <a:xfrm>
            <a:off x="2837891" y="4776077"/>
            <a:ext cx="330540" cy="400110"/>
          </a:xfrm>
          <a:prstGeom prst="rect">
            <a:avLst/>
          </a:prstGeom>
          <a:noFill/>
        </p:spPr>
        <p:txBody>
          <a:bodyPr wrap="none" rtlCol="0">
            <a:spAutoFit/>
          </a:bodyPr>
          <a:lstStyle/>
          <a:p>
            <a:r>
              <a:rPr lang="en-US" sz="2000" b="1" dirty="0">
                <a:solidFill>
                  <a:srgbClr val="FF0000"/>
                </a:solidFill>
              </a:rPr>
              <a:t>?</a:t>
            </a:r>
          </a:p>
        </p:txBody>
      </p:sp>
      <p:sp>
        <p:nvSpPr>
          <p:cNvPr id="66" name="TextBox 65"/>
          <p:cNvSpPr txBox="1"/>
          <p:nvPr/>
        </p:nvSpPr>
        <p:spPr>
          <a:xfrm>
            <a:off x="9293852" y="4048216"/>
            <a:ext cx="618572" cy="400110"/>
          </a:xfrm>
          <a:prstGeom prst="rect">
            <a:avLst/>
          </a:prstGeom>
          <a:noFill/>
        </p:spPr>
        <p:txBody>
          <a:bodyPr wrap="square" rtlCol="0">
            <a:spAutoFit/>
          </a:bodyPr>
          <a:lstStyle/>
          <a:p>
            <a:r>
              <a:rPr lang="en-US" sz="2000" b="1" dirty="0">
                <a:solidFill>
                  <a:srgbClr val="FF0000"/>
                </a:solidFill>
              </a:rPr>
              <a:t>?</a:t>
            </a:r>
          </a:p>
        </p:txBody>
      </p:sp>
    </p:spTree>
    <p:extLst>
      <p:ext uri="{BB962C8B-B14F-4D97-AF65-F5344CB8AC3E}">
        <p14:creationId xmlns:p14="http://schemas.microsoft.com/office/powerpoint/2010/main" val="362155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fade">
                                      <p:cBhvr>
                                        <p:cTn id="12" dur="500"/>
                                        <p:tgtEl>
                                          <p:spTgt spid="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fade">
                                      <p:cBhvr>
                                        <p:cTn id="17" dur="500"/>
                                        <p:tgtEl>
                                          <p:spTgt spid="5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500"/>
                                        <p:tgtEl>
                                          <p:spTgt spid="6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500"/>
                                        <p:tgtEl>
                                          <p:spTgt spid="6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fade">
                                      <p:cBhvr>
                                        <p:cTn id="32" dur="500"/>
                                        <p:tgtEl>
                                          <p:spTgt spid="6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fade">
                                      <p:cBhvr>
                                        <p:cTn id="37" dur="500"/>
                                        <p:tgtEl>
                                          <p:spTgt spid="6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0" grpId="0" animBg="1"/>
      <p:bldP spid="61" grpId="0" animBg="1"/>
      <p:bldP spid="62" grpId="0" animBg="1"/>
      <p:bldP spid="65" grpId="0" animBg="1"/>
      <p:bldP spid="53" grpId="0"/>
      <p:bldP spid="6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During this lecture…</a:t>
            </a:r>
          </a:p>
        </p:txBody>
      </p:sp>
      <p:sp>
        <p:nvSpPr>
          <p:cNvPr id="3" name="TextBox 2"/>
          <p:cNvSpPr txBox="1"/>
          <p:nvPr/>
        </p:nvSpPr>
        <p:spPr>
          <a:xfrm>
            <a:off x="1139437" y="1412776"/>
            <a:ext cx="10380912" cy="3477875"/>
          </a:xfrm>
          <a:prstGeom prst="rect">
            <a:avLst/>
          </a:prstGeom>
          <a:noFill/>
        </p:spPr>
        <p:txBody>
          <a:bodyPr wrap="square" rtlCol="0">
            <a:spAutoFit/>
          </a:bodyPr>
          <a:lstStyle/>
          <a:p>
            <a:pPr marL="457200" indent="-457200">
              <a:spcAft>
                <a:spcPts val="1200"/>
              </a:spcAft>
              <a:buFont typeface="+mj-lt"/>
              <a:buAutoNum type="arabicPeriod"/>
            </a:pPr>
            <a:r>
              <a:rPr lang="en-US" dirty="0"/>
              <a:t>You have been confronted with the issues related to weight prediction and control in aircraft design</a:t>
            </a:r>
          </a:p>
          <a:p>
            <a:pPr marL="457200" indent="-457200">
              <a:spcAft>
                <a:spcPts val="1200"/>
              </a:spcAft>
              <a:buFont typeface="+mj-lt"/>
              <a:buAutoNum type="arabicPeriod"/>
            </a:pPr>
            <a:r>
              <a:rPr lang="en-US" dirty="0"/>
              <a:t>You have learnt what are the typical </a:t>
            </a:r>
            <a:r>
              <a:rPr lang="en-US" b="1" dirty="0"/>
              <a:t>weight prediction methods </a:t>
            </a:r>
            <a:r>
              <a:rPr lang="en-US" dirty="0"/>
              <a:t>and how they allow you to monitor and detail the a/c weight, during all the design phases</a:t>
            </a:r>
          </a:p>
          <a:p>
            <a:pPr marL="457200" indent="-457200">
              <a:spcAft>
                <a:spcPts val="1200"/>
              </a:spcAft>
              <a:buFont typeface="+mj-lt"/>
              <a:buAutoNum type="arabicPeriod"/>
            </a:pPr>
            <a:r>
              <a:rPr lang="en-US" dirty="0"/>
              <a:t>You have learnt the </a:t>
            </a:r>
            <a:r>
              <a:rPr lang="en-US" b="1" dirty="0"/>
              <a:t>working principles of class II weight predictions methods</a:t>
            </a:r>
            <a:r>
              <a:rPr lang="en-US" dirty="0"/>
              <a:t>, their strength and limitations</a:t>
            </a:r>
          </a:p>
          <a:p>
            <a:pPr marL="457200" indent="-457200">
              <a:spcAft>
                <a:spcPts val="1200"/>
              </a:spcAft>
              <a:buFont typeface="+mj-lt"/>
              <a:buAutoNum type="arabicPeriod"/>
            </a:pPr>
            <a:r>
              <a:rPr lang="en-US" dirty="0"/>
              <a:t>You have learnt the meaning of load factor and the procedure to calculate its envelope of </a:t>
            </a:r>
            <a:r>
              <a:rPr lang="en-US" dirty="0" err="1"/>
              <a:t>rboth</a:t>
            </a:r>
            <a:r>
              <a:rPr lang="en-US" dirty="0"/>
              <a:t> maneuver and gust reason</a:t>
            </a:r>
          </a:p>
          <a:p>
            <a:pPr marL="457200" indent="-457200">
              <a:spcAft>
                <a:spcPts val="1200"/>
              </a:spcAft>
              <a:buFont typeface="+mj-lt"/>
              <a:buAutoNum type="arabicPeriod"/>
            </a:pPr>
            <a:r>
              <a:rPr lang="en-US" dirty="0"/>
              <a:t>You have learnt </a:t>
            </a:r>
            <a:r>
              <a:rPr lang="en-US" b="1" dirty="0"/>
              <a:t>how to deal with the iterations </a:t>
            </a:r>
            <a:r>
              <a:rPr lang="en-US" dirty="0"/>
              <a:t>required to maintain consistency between results from different classes of weight prediction methods</a:t>
            </a:r>
          </a:p>
        </p:txBody>
      </p:sp>
    </p:spTree>
    <p:extLst>
      <p:ext uri="{BB962C8B-B14F-4D97-AF65-F5344CB8AC3E}">
        <p14:creationId xmlns:p14="http://schemas.microsoft.com/office/powerpoint/2010/main" val="17097063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610" name="Rectangle 3"/>
          <p:cNvSpPr>
            <a:spLocks noChangeArrowheads="1"/>
          </p:cNvSpPr>
          <p:nvPr/>
        </p:nvSpPr>
        <p:spPr bwMode="auto">
          <a:xfrm>
            <a:off x="0" y="3"/>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nl-NL" sz="2200"/>
          </a:p>
        </p:txBody>
      </p:sp>
      <p:sp>
        <p:nvSpPr>
          <p:cNvPr id="68611" name="Rectangle 4"/>
          <p:cNvSpPr>
            <a:spLocks noChangeArrowheads="1"/>
          </p:cNvSpPr>
          <p:nvPr/>
        </p:nvSpPr>
        <p:spPr bwMode="auto">
          <a:xfrm>
            <a:off x="2921003" y="908053"/>
            <a:ext cx="500062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b="1">
                <a:solidFill>
                  <a:schemeClr val="bg1"/>
                </a:solidFill>
                <a:latin typeface="Bookman Old Style" pitchFamily="18" charset="0"/>
              </a:rPr>
              <a:t>Wing design check list and troubleshooting</a:t>
            </a:r>
          </a:p>
        </p:txBody>
      </p:sp>
      <p:pic>
        <p:nvPicPr>
          <p:cNvPr id="55301" name="Picture 5" descr="http://www.asiaqualityfocus.com/blog/wp-content/uploads/2011/08/check-list.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3241626" y="2420888"/>
            <a:ext cx="2350321" cy="26541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5303" name="Picture 7" descr="http://mrappliancenyc.com/wp-content/uploads/2010/01/troubleshooting-guide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0447" t="13545" r="9992" b="12975"/>
          <a:stretch/>
        </p:blipFill>
        <p:spPr bwMode="auto">
          <a:xfrm>
            <a:off x="6312024" y="3284987"/>
            <a:ext cx="2592288" cy="239415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8272442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Rectangle 4"/>
          <p:cNvSpPr>
            <a:spLocks noChangeArrowheads="1"/>
          </p:cNvSpPr>
          <p:nvPr/>
        </p:nvSpPr>
        <p:spPr bwMode="auto">
          <a:xfrm>
            <a:off x="839416" y="1196975"/>
            <a:ext cx="1044116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b="1" i="1" dirty="0"/>
              <a:t>Is my wing operating in cruise at very high CL, too close to stall conditions?</a:t>
            </a:r>
          </a:p>
          <a:p>
            <a:pPr eaLnBrk="1" hangingPunct="1">
              <a:lnSpc>
                <a:spcPct val="100000"/>
              </a:lnSpc>
              <a:buClrTx/>
              <a:buFontTx/>
              <a:buNone/>
            </a:pPr>
            <a:r>
              <a:rPr lang="en-US" altLang="nl-NL" sz="1800" dirty="0"/>
              <a:t>Fly at lower altitude, increase speed, use different airfoils, increase wing surface...anyhow don’t use flaps in cruise!! Make sure to use high aspect ratio to reduce induced drag, consider using wingtip devices</a:t>
            </a:r>
          </a:p>
          <a:p>
            <a:pPr eaLnBrk="1" hangingPunct="1">
              <a:lnSpc>
                <a:spcPct val="100000"/>
              </a:lnSpc>
              <a:buClrTx/>
              <a:buFontTx/>
              <a:buNone/>
            </a:pPr>
            <a:endParaRPr lang="en-GB" altLang="nl-NL" dirty="0"/>
          </a:p>
          <a:p>
            <a:pPr eaLnBrk="1" hangingPunct="1">
              <a:lnSpc>
                <a:spcPct val="100000"/>
              </a:lnSpc>
              <a:buClrTx/>
              <a:buFontTx/>
              <a:buNone/>
            </a:pPr>
            <a:endParaRPr lang="en-US" altLang="nl-NL" dirty="0"/>
          </a:p>
          <a:p>
            <a:pPr eaLnBrk="1" hangingPunct="1">
              <a:lnSpc>
                <a:spcPct val="100000"/>
              </a:lnSpc>
              <a:buClrTx/>
              <a:buFontTx/>
              <a:buNone/>
            </a:pPr>
            <a:r>
              <a:rPr lang="en-US" altLang="nl-NL" b="1" i="1" dirty="0"/>
              <a:t>Is my lift distribution close enough to the elliptical distribution?</a:t>
            </a:r>
          </a:p>
          <a:p>
            <a:pPr eaLnBrk="1" hangingPunct="1">
              <a:lnSpc>
                <a:spcPct val="100000"/>
              </a:lnSpc>
              <a:buClrTx/>
              <a:buFontTx/>
              <a:buNone/>
            </a:pPr>
            <a:r>
              <a:rPr lang="en-US" altLang="nl-NL" sz="1800" dirty="0"/>
              <a:t>If not AND you are aiming for minimum induced drag then adjust the taper ratio value and/or twist adequately the wing (ATT! anytime you modify the taper ratio, check its combination with the sweep angle value). If you are looking for a good compromise between wing weight and induced drag, aim for a more triangular/elliptical distribution. Still use the taper ratio and twist angles as main tuning parameters..</a:t>
            </a:r>
            <a:endParaRPr lang="en-US" altLang="nl-NL" sz="1800" b="1" dirty="0"/>
          </a:p>
        </p:txBody>
      </p:sp>
      <p:sp>
        <p:nvSpPr>
          <p:cNvPr id="72707" name="Rectangle 2"/>
          <p:cNvSpPr>
            <a:spLocks noChangeArrowheads="1"/>
          </p:cNvSpPr>
          <p:nvPr/>
        </p:nvSpPr>
        <p:spPr bwMode="auto">
          <a:xfrm>
            <a:off x="767408" y="188640"/>
            <a:ext cx="10801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2800" dirty="0">
                <a:solidFill>
                  <a:schemeClr val="bg2"/>
                </a:solidFill>
                <a:latin typeface="Bookman Old Style" pitchFamily="18" charset="0"/>
              </a:rPr>
              <a:t>Wing Design check list. Is our wing design good enough?</a:t>
            </a:r>
            <a:endParaRPr lang="en-US" altLang="nl-NL" sz="2400" dirty="0">
              <a:solidFill>
                <a:schemeClr val="bg2"/>
              </a:solidFill>
              <a:latin typeface="Bookman Old Style" pitchFamily="18" charset="0"/>
            </a:endParaRPr>
          </a:p>
        </p:txBody>
      </p:sp>
    </p:spTree>
    <p:extLst>
      <p:ext uri="{BB962C8B-B14F-4D97-AF65-F5344CB8AC3E}">
        <p14:creationId xmlns:p14="http://schemas.microsoft.com/office/powerpoint/2010/main" val="2441850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0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0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7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Rectangle 4"/>
          <p:cNvSpPr>
            <a:spLocks noChangeArrowheads="1"/>
          </p:cNvSpPr>
          <p:nvPr/>
        </p:nvSpPr>
        <p:spPr bwMode="auto">
          <a:xfrm>
            <a:off x="839416" y="1052516"/>
            <a:ext cx="9720634"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b="1" i="1" dirty="0"/>
              <a:t>Does my wing show any pitch up tendency?</a:t>
            </a:r>
          </a:p>
          <a:p>
            <a:pPr eaLnBrk="1" hangingPunct="1">
              <a:lnSpc>
                <a:spcPct val="100000"/>
              </a:lnSpc>
              <a:buClrTx/>
              <a:buFontTx/>
              <a:buNone/>
            </a:pPr>
            <a:r>
              <a:rPr lang="en-US" altLang="nl-NL" sz="1800" dirty="0"/>
              <a:t>Change combination of sweep and aspect ratio, double check horizontal tail position,  put a limiter on angle of attack, apply some negative twist (washout) to the wing tip sections, use tip airfoils with high lift coefficient.</a:t>
            </a:r>
          </a:p>
          <a:p>
            <a:pPr eaLnBrk="1" hangingPunct="1">
              <a:lnSpc>
                <a:spcPct val="100000"/>
              </a:lnSpc>
              <a:buClrTx/>
              <a:buFontTx/>
              <a:buNone/>
            </a:pPr>
            <a:endParaRPr lang="en-US" altLang="nl-NL" b="1" dirty="0"/>
          </a:p>
          <a:p>
            <a:pPr eaLnBrk="1" hangingPunct="1">
              <a:lnSpc>
                <a:spcPct val="100000"/>
              </a:lnSpc>
              <a:buClrTx/>
              <a:buFontTx/>
              <a:buNone/>
            </a:pPr>
            <a:r>
              <a:rPr lang="en-US" altLang="nl-NL" b="1" i="1" dirty="0"/>
              <a:t>What about the stall characteristics? </a:t>
            </a:r>
          </a:p>
          <a:p>
            <a:pPr eaLnBrk="1" hangingPunct="1">
              <a:lnSpc>
                <a:spcPct val="100000"/>
              </a:lnSpc>
              <a:buClrTx/>
              <a:buFontTx/>
              <a:buNone/>
            </a:pPr>
            <a:r>
              <a:rPr lang="en-US" altLang="nl-NL" sz="1800" dirty="0"/>
              <a:t>Be careful of tip stall risk: increase taper value, reduce sweep, use tip airfoils with high lift coefficient.</a:t>
            </a:r>
          </a:p>
          <a:p>
            <a:pPr eaLnBrk="1" hangingPunct="1">
              <a:lnSpc>
                <a:spcPct val="100000"/>
              </a:lnSpc>
              <a:buClrTx/>
              <a:buFontTx/>
              <a:buNone/>
            </a:pPr>
            <a:endParaRPr lang="en-US" altLang="nl-NL" b="1" i="1" dirty="0"/>
          </a:p>
          <a:p>
            <a:pPr eaLnBrk="1" hangingPunct="1">
              <a:lnSpc>
                <a:spcPct val="100000"/>
              </a:lnSpc>
              <a:buClrTx/>
              <a:buFontTx/>
              <a:buNone/>
            </a:pPr>
            <a:r>
              <a:rPr lang="en-US" altLang="nl-NL" b="1" i="1" dirty="0"/>
              <a:t>Does my structural design look feasible?</a:t>
            </a:r>
          </a:p>
          <a:p>
            <a:pPr eaLnBrk="1" hangingPunct="1">
              <a:lnSpc>
                <a:spcPct val="100000"/>
              </a:lnSpc>
              <a:buClrTx/>
              <a:buFontTx/>
              <a:buNone/>
            </a:pPr>
            <a:r>
              <a:rPr lang="en-US" altLang="nl-NL" sz="1800" dirty="0"/>
              <a:t>If not, increase root thickness (use thicker airfoil at the root, or change the taper ratio in order to have a longer root chord), shorten the wing span, decrease sweep angle (adapt airfoil for that).</a:t>
            </a:r>
          </a:p>
        </p:txBody>
      </p:sp>
      <p:sp>
        <p:nvSpPr>
          <p:cNvPr id="5" name="Rectangle 2"/>
          <p:cNvSpPr>
            <a:spLocks noChangeArrowheads="1"/>
          </p:cNvSpPr>
          <p:nvPr/>
        </p:nvSpPr>
        <p:spPr bwMode="auto">
          <a:xfrm>
            <a:off x="767408" y="188640"/>
            <a:ext cx="10801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2800" dirty="0">
                <a:solidFill>
                  <a:schemeClr val="bg2"/>
                </a:solidFill>
                <a:latin typeface="Bookman Old Style" pitchFamily="18" charset="0"/>
              </a:rPr>
              <a:t>Wing Design check list. Is our wing design good enough?</a:t>
            </a:r>
            <a:endParaRPr lang="en-US" altLang="nl-NL" sz="2400" dirty="0">
              <a:solidFill>
                <a:schemeClr val="bg2"/>
              </a:solidFill>
              <a:latin typeface="Bookman Old Style" pitchFamily="18" charset="0"/>
            </a:endParaRPr>
          </a:p>
        </p:txBody>
      </p:sp>
    </p:spTree>
    <p:extLst>
      <p:ext uri="{BB962C8B-B14F-4D97-AF65-F5344CB8AC3E}">
        <p14:creationId xmlns:p14="http://schemas.microsoft.com/office/powerpoint/2010/main" val="396657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68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5" name="Rectangle 3"/>
          <p:cNvSpPr>
            <a:spLocks noChangeArrowheads="1"/>
          </p:cNvSpPr>
          <p:nvPr/>
        </p:nvSpPr>
        <p:spPr bwMode="auto">
          <a:xfrm>
            <a:off x="911425" y="981075"/>
            <a:ext cx="9486704" cy="421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b="1" i="1" dirty="0"/>
              <a:t>Is your flapped wing able to deliver the required </a:t>
            </a:r>
            <a:r>
              <a:rPr lang="en-US" altLang="nl-NL" b="1" i="1" dirty="0" err="1"/>
              <a:t>CLmax</a:t>
            </a:r>
            <a:r>
              <a:rPr lang="en-US" altLang="nl-NL" b="1" i="1" dirty="0"/>
              <a:t> at take off and landing (at an acceptable angle)?</a:t>
            </a:r>
          </a:p>
          <a:p>
            <a:pPr eaLnBrk="1" hangingPunct="1">
              <a:lnSpc>
                <a:spcPct val="100000"/>
              </a:lnSpc>
              <a:buClrTx/>
              <a:buFontTx/>
              <a:buNone/>
            </a:pPr>
            <a:r>
              <a:rPr lang="en-US" altLang="nl-NL" sz="1800" dirty="0"/>
              <a:t>If no, then increase size of high lift devices (</a:t>
            </a:r>
            <a:r>
              <a:rPr lang="en-US" altLang="nl-NL" sz="1800" dirty="0" err="1"/>
              <a:t>cf</a:t>
            </a:r>
            <a:r>
              <a:rPr lang="en-US" altLang="nl-NL" sz="1800" dirty="0"/>
              <a:t>/c and Sf/S), change type of high lift devices, change type of airfoil (higher </a:t>
            </a:r>
            <a:r>
              <a:rPr lang="en-US" altLang="nl-NL" sz="1800" dirty="0" err="1"/>
              <a:t>Clmax</a:t>
            </a:r>
            <a:r>
              <a:rPr lang="en-US" altLang="nl-NL" sz="1800" dirty="0"/>
              <a:t>, better sharpness factor), increase wing area to lower W/S (hence the required </a:t>
            </a:r>
            <a:r>
              <a:rPr lang="en-US" altLang="nl-NL" sz="1800" dirty="0" err="1"/>
              <a:t>CLmax</a:t>
            </a:r>
            <a:r>
              <a:rPr lang="en-US" altLang="nl-NL" sz="1800" dirty="0"/>
              <a:t>), increase T/W is the problem is at takeoff, </a:t>
            </a:r>
            <a:r>
              <a:rPr lang="en-US" altLang="nl-NL" sz="1800" dirty="0" err="1"/>
              <a:t>rediscuss</a:t>
            </a:r>
            <a:r>
              <a:rPr lang="en-US" altLang="nl-NL" sz="1800" dirty="0"/>
              <a:t> takeoff and landing requirement.</a:t>
            </a:r>
          </a:p>
          <a:p>
            <a:pPr eaLnBrk="1" hangingPunct="1">
              <a:lnSpc>
                <a:spcPct val="100000"/>
              </a:lnSpc>
              <a:buClrTx/>
              <a:buFontTx/>
              <a:buNone/>
            </a:pPr>
            <a:endParaRPr lang="en-US" altLang="nl-NL" b="1" dirty="0"/>
          </a:p>
          <a:p>
            <a:pPr eaLnBrk="1" hangingPunct="1">
              <a:lnSpc>
                <a:spcPct val="100000"/>
              </a:lnSpc>
              <a:buClrTx/>
              <a:buFontTx/>
              <a:buNone/>
            </a:pPr>
            <a:r>
              <a:rPr lang="en-US" altLang="nl-NL" b="1" i="1" dirty="0"/>
              <a:t>Is the size of high lift devices compatible with wing size?</a:t>
            </a:r>
          </a:p>
          <a:p>
            <a:pPr eaLnBrk="1" hangingPunct="1">
              <a:lnSpc>
                <a:spcPct val="100000"/>
              </a:lnSpc>
              <a:buClrTx/>
              <a:buFontTx/>
              <a:buNone/>
            </a:pPr>
            <a:r>
              <a:rPr lang="en-US" altLang="nl-NL" sz="1800" dirty="0"/>
              <a:t>If not possible to increase high lift devices area (neither chord wise because moving spars makes structure weak and fuel tank volume insufficient; nor </a:t>
            </a:r>
            <a:r>
              <a:rPr lang="en-US" altLang="nl-NL" sz="1800" dirty="0" err="1"/>
              <a:t>spanwise</a:t>
            </a:r>
            <a:r>
              <a:rPr lang="en-US" altLang="nl-NL" sz="1800" dirty="0"/>
              <a:t> because space required by ailerons) change type of high lift devices, consider the combined use of high lift devices as ailerons*, consider chord extensions at the root to limit the negative effect of the sweep angle, increase wing surface to lower </a:t>
            </a:r>
            <a:r>
              <a:rPr lang="en-US" altLang="nl-NL" sz="1800" dirty="0" err="1"/>
              <a:t>CLmax</a:t>
            </a:r>
            <a:r>
              <a:rPr lang="en-US" altLang="nl-NL" sz="1800" dirty="0"/>
              <a:t>, relax the take off and landing performances. </a:t>
            </a:r>
          </a:p>
        </p:txBody>
      </p:sp>
      <p:sp>
        <p:nvSpPr>
          <p:cNvPr id="5" name="Rectangle 2"/>
          <p:cNvSpPr>
            <a:spLocks noChangeArrowheads="1"/>
          </p:cNvSpPr>
          <p:nvPr/>
        </p:nvSpPr>
        <p:spPr bwMode="auto">
          <a:xfrm>
            <a:off x="767408" y="188640"/>
            <a:ext cx="10801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2800" dirty="0">
                <a:solidFill>
                  <a:schemeClr val="bg2"/>
                </a:solidFill>
                <a:latin typeface="Bookman Old Style" pitchFamily="18" charset="0"/>
              </a:rPr>
              <a:t>Wing Design check list. Is our wing design good enough?</a:t>
            </a:r>
            <a:endParaRPr lang="en-US" altLang="nl-NL" sz="2400" dirty="0">
              <a:solidFill>
                <a:schemeClr val="bg2"/>
              </a:solidFill>
              <a:latin typeface="Bookman Old Style" pitchFamily="18" charset="0"/>
            </a:endParaRPr>
          </a:p>
        </p:txBody>
      </p:sp>
    </p:spTree>
    <p:extLst>
      <p:ext uri="{BB962C8B-B14F-4D97-AF65-F5344CB8AC3E}">
        <p14:creationId xmlns:p14="http://schemas.microsoft.com/office/powerpoint/2010/main" val="535399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6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Rectangle 4"/>
          <p:cNvSpPr>
            <a:spLocks noChangeArrowheads="1"/>
          </p:cNvSpPr>
          <p:nvPr/>
        </p:nvSpPr>
        <p:spPr bwMode="auto">
          <a:xfrm>
            <a:off x="767408" y="1052513"/>
            <a:ext cx="9621195" cy="3816429"/>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b="1" i="1" dirty="0"/>
              <a:t>Is there enough space for the fuel in the wing?</a:t>
            </a:r>
          </a:p>
          <a:p>
            <a:pPr eaLnBrk="1" hangingPunct="1">
              <a:lnSpc>
                <a:spcPct val="100000"/>
              </a:lnSpc>
              <a:buClrTx/>
              <a:buFontTx/>
              <a:buNone/>
            </a:pPr>
            <a:r>
              <a:rPr lang="en-US" altLang="nl-NL" sz="1800" dirty="0"/>
              <a:t>Verify that that your wing volume estimation method is not too conservative, make sure to use also the wing center section (the wing part inside the fuselage, move spars further apart from each other (but be careful with wing box structural performance), increase wing thickness, move the position of maximum thickness in a more convenient position, move part of fuel somewhere else on the aircraft</a:t>
            </a:r>
          </a:p>
          <a:p>
            <a:pPr eaLnBrk="1" hangingPunct="1">
              <a:lnSpc>
                <a:spcPct val="100000"/>
              </a:lnSpc>
              <a:buClrTx/>
              <a:buFontTx/>
              <a:buNone/>
            </a:pPr>
            <a:endParaRPr lang="en-US" altLang="nl-NL" b="1" dirty="0"/>
          </a:p>
          <a:p>
            <a:pPr eaLnBrk="1" hangingPunct="1">
              <a:lnSpc>
                <a:spcPct val="100000"/>
              </a:lnSpc>
              <a:buClrTx/>
              <a:buFontTx/>
              <a:buNone/>
            </a:pPr>
            <a:r>
              <a:rPr lang="en-US" altLang="nl-NL" b="1" i="1" dirty="0"/>
              <a:t>Do my airfoils work below Mach drag divergence even when the aircraft is flying at max operative speed?</a:t>
            </a:r>
          </a:p>
          <a:p>
            <a:pPr eaLnBrk="1" hangingPunct="1">
              <a:lnSpc>
                <a:spcPct val="100000"/>
              </a:lnSpc>
              <a:buClrTx/>
              <a:buFontTx/>
              <a:buNone/>
            </a:pPr>
            <a:r>
              <a:rPr lang="en-US" altLang="nl-NL" sz="1800" dirty="0"/>
              <a:t>If not, change airfoil type, reduce airfoil thickness, increase sweep angle, accept the fact you cannot find an airfoil that can operate at the required </a:t>
            </a:r>
            <a:r>
              <a:rPr lang="en-US" altLang="nl-NL" sz="1800" dirty="0" err="1"/>
              <a:t>CLdes</a:t>
            </a:r>
            <a:r>
              <a:rPr lang="en-US" altLang="nl-NL" sz="1800" dirty="0"/>
              <a:t> in correspondence of its </a:t>
            </a:r>
            <a:r>
              <a:rPr lang="en-US" altLang="nl-NL" sz="1800" dirty="0" err="1"/>
              <a:t>Cldes</a:t>
            </a:r>
            <a:r>
              <a:rPr lang="en-US" altLang="nl-NL" sz="1800" dirty="0"/>
              <a:t> (i.e., accept to pay a drag contribution), reduce design speed, lower operational altitude, increase wing area to reduce the required aircraft </a:t>
            </a:r>
            <a:r>
              <a:rPr lang="en-US" altLang="nl-NL" sz="1800" dirty="0" err="1"/>
              <a:t>CLdes</a:t>
            </a:r>
            <a:r>
              <a:rPr lang="en-US" altLang="nl-NL" sz="1800" dirty="0"/>
              <a:t>, hence the airfoil required Cl. </a:t>
            </a:r>
          </a:p>
        </p:txBody>
      </p:sp>
      <p:sp>
        <p:nvSpPr>
          <p:cNvPr id="4" name="Rectangle 2"/>
          <p:cNvSpPr>
            <a:spLocks noChangeArrowheads="1"/>
          </p:cNvSpPr>
          <p:nvPr/>
        </p:nvSpPr>
        <p:spPr bwMode="auto">
          <a:xfrm>
            <a:off x="767408" y="188640"/>
            <a:ext cx="10801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2800" dirty="0">
                <a:solidFill>
                  <a:schemeClr val="bg2"/>
                </a:solidFill>
                <a:latin typeface="Bookman Old Style" pitchFamily="18" charset="0"/>
              </a:rPr>
              <a:t>Wing Design check list. Is our wing design good enough?</a:t>
            </a:r>
            <a:endParaRPr lang="en-US" altLang="nl-NL" sz="2400" dirty="0">
              <a:solidFill>
                <a:schemeClr val="bg2"/>
              </a:solidFill>
              <a:latin typeface="Bookman Old Style" pitchFamily="18" charset="0"/>
            </a:endParaRPr>
          </a:p>
        </p:txBody>
      </p:sp>
    </p:spTree>
    <p:extLst>
      <p:ext uri="{BB962C8B-B14F-4D97-AF65-F5344CB8AC3E}">
        <p14:creationId xmlns:p14="http://schemas.microsoft.com/office/powerpoint/2010/main" val="1600213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65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65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d35da2ac-c04a-4684-bf7a-91fcc12a4b42"/>
  <p:tag name="WASPOLLED" val="DEBFD9894FBC42E4AFB154DB7265E9B5"/>
  <p:tag name="TPVERSION" val="7"/>
  <p:tag name="PPTVERSION" val="16"/>
  <p:tag name="TPOS" val="6"/>
  <p:tag name="TPFULLVERSION" val="9.0.3.2"/>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DELIMITERS" val="3.1"/>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108BD9"/>
      </a:lt2>
      <a:accent1>
        <a:srgbClr val="ADC610"/>
      </a:accent1>
      <a:accent2>
        <a:srgbClr val="002B60"/>
      </a:accent2>
      <a:accent3>
        <a:srgbClr val="FFFFFF"/>
      </a:accent3>
      <a:accent4>
        <a:srgbClr val="000000"/>
      </a:accent4>
      <a:accent5>
        <a:srgbClr val="D3DFAA"/>
      </a:accent5>
      <a:accent6>
        <a:srgbClr val="002656"/>
      </a:accent6>
      <a:hlink>
        <a:srgbClr val="A10058"/>
      </a:hlink>
      <a:folHlink>
        <a:srgbClr val="66BCAA"/>
      </a:folHlink>
    </a:clrScheme>
    <a:fontScheme name="Default Design">
      <a:majorFont>
        <a:latin typeface="Bookman Old Style"/>
        <a:ea typeface=""/>
        <a:cs typeface=""/>
      </a:majorFont>
      <a:minorFont>
        <a:latin typeface="Tahoma"/>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1">
        <a:dk1>
          <a:srgbClr val="000000"/>
        </a:dk1>
        <a:lt1>
          <a:srgbClr val="FFFFFF"/>
        </a:lt1>
        <a:dk2>
          <a:srgbClr val="000000"/>
        </a:dk2>
        <a:lt2>
          <a:srgbClr val="108BD9"/>
        </a:lt2>
        <a:accent1>
          <a:srgbClr val="C1C700"/>
        </a:accent1>
        <a:accent2>
          <a:srgbClr val="003B74"/>
        </a:accent2>
        <a:accent3>
          <a:srgbClr val="FFFFFF"/>
        </a:accent3>
        <a:accent4>
          <a:srgbClr val="000000"/>
        </a:accent4>
        <a:accent5>
          <a:srgbClr val="DDE0AA"/>
        </a:accent5>
        <a:accent6>
          <a:srgbClr val="003568"/>
        </a:accent6>
        <a:hlink>
          <a:srgbClr val="C2006E"/>
        </a:hlink>
        <a:folHlink>
          <a:srgbClr val="7FC6B8"/>
        </a:folHlink>
      </a:clrScheme>
      <a:clrMap bg1="lt1" tx1="dk1" bg2="lt2" tx2="dk2" accent1="accent1" accent2="accent2" accent3="accent3" accent4="accent4" accent5="accent5" accent6="accent6" hlink="hlink" folHlink="folHlink"/>
    </a:extraClrScheme>
    <a:extraClrScheme>
      <a:clrScheme name="Default Design 1">
        <a:dk1>
          <a:srgbClr val="000000"/>
        </a:dk1>
        <a:lt1>
          <a:srgbClr val="FFFFFF"/>
        </a:lt1>
        <a:dk2>
          <a:srgbClr val="000000"/>
        </a:dk2>
        <a:lt2>
          <a:srgbClr val="108BD9"/>
        </a:lt2>
        <a:accent1>
          <a:srgbClr val="C1C700"/>
        </a:accent1>
        <a:accent2>
          <a:srgbClr val="003B74"/>
        </a:accent2>
        <a:accent3>
          <a:srgbClr val="FFFFFF"/>
        </a:accent3>
        <a:accent4>
          <a:srgbClr val="000000"/>
        </a:accent4>
        <a:accent5>
          <a:srgbClr val="DDE0AA"/>
        </a:accent5>
        <a:accent6>
          <a:srgbClr val="003568"/>
        </a:accent6>
        <a:hlink>
          <a:srgbClr val="C2006E"/>
        </a:hlink>
        <a:folHlink>
          <a:srgbClr val="7FC6B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h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EF6D9A2-F855-F44B-BEA5-B58661020503}">
  <we:reference id="wa200004709" version="1.1.0.2" store="en-US" storeType="OMEX"/>
  <we:alternateReferences>
    <we:reference id="wa200004709" version="1.1.0.2" store="WA200004709"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40473</TotalTime>
  <Words>11013</Words>
  <Application>Microsoft Macintosh PowerPoint</Application>
  <PresentationFormat>Widescreen</PresentationFormat>
  <Paragraphs>1115</Paragraphs>
  <Slides>72</Slides>
  <Notes>71</Notes>
  <HiddenSlides>20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5</vt:i4>
      </vt:variant>
      <vt:variant>
        <vt:lpstr>Slide Titles</vt:lpstr>
      </vt:variant>
      <vt:variant>
        <vt:i4>72</vt:i4>
      </vt:variant>
    </vt:vector>
  </HeadingPairs>
  <TitlesOfParts>
    <vt:vector size="85" baseType="lpstr">
      <vt:lpstr>Arial</vt:lpstr>
      <vt:lpstr>Bookman Old Style</vt:lpstr>
      <vt:lpstr>Cambria Math</vt:lpstr>
      <vt:lpstr>Tahoma</vt:lpstr>
      <vt:lpstr>Times</vt:lpstr>
      <vt:lpstr>Wingdings</vt:lpstr>
      <vt:lpstr>Wingdings 3</vt:lpstr>
      <vt:lpstr>Default Design</vt:lpstr>
      <vt:lpstr>Equation</vt:lpstr>
      <vt:lpstr>Bitmap-afbeelding</vt:lpstr>
      <vt:lpstr>Chart</vt:lpstr>
      <vt:lpstr>Bitmap Image</vt:lpstr>
      <vt:lpstr>Document</vt:lpstr>
      <vt:lpstr>Aerospace Design and Systems Engineering Elements II  AE2111-II aircraft part</vt:lpstr>
      <vt:lpstr>PowerPoint Presentation</vt:lpstr>
      <vt:lpstr>In this lecture you will …</vt:lpstr>
      <vt:lpstr>PowerPoint Presentation</vt:lpstr>
      <vt:lpstr>Weight and certification</vt:lpstr>
      <vt:lpstr>PowerPoint Presentation</vt:lpstr>
      <vt:lpstr>PowerPoint Presentation</vt:lpstr>
      <vt:lpstr>The problem of weight growth</vt:lpstr>
      <vt:lpstr>PowerPoint Presentation</vt:lpstr>
      <vt:lpstr>PowerPoint Presentation</vt:lpstr>
      <vt:lpstr>The problem of weight growth</vt:lpstr>
      <vt:lpstr>PowerPoint Presentation</vt:lpstr>
      <vt:lpstr>PowerPoint Presentation</vt:lpstr>
      <vt:lpstr>Preliminary weight estimation. An occult science?</vt:lpstr>
      <vt:lpstr>PowerPoint Presentation</vt:lpstr>
      <vt:lpstr>Weight estimation in the a/c design process</vt:lpstr>
      <vt:lpstr>PowerPoint Presentation</vt:lpstr>
      <vt:lpstr>PowerPoint Presentation</vt:lpstr>
      <vt:lpstr>Early conceptual weight prediction (Class 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 II weight estimation methods….</vt:lpstr>
      <vt:lpstr>PowerPoint Presentation</vt:lpstr>
      <vt:lpstr>PowerPoint Presentation</vt:lpstr>
      <vt:lpstr>PowerPoint Presentation</vt:lpstr>
      <vt:lpstr>PowerPoint Presentation</vt:lpstr>
      <vt:lpstr>PowerPoint Presentation</vt:lpstr>
      <vt:lpstr>Notes on Class II Weight estimation accuracy. Read before use </vt:lpstr>
      <vt:lpstr>Notes on Class II Weight estimation accuracy. Read before use </vt:lpstr>
      <vt:lpstr>Notes on Class II Weight estimation accuracy. Read before use </vt:lpstr>
      <vt:lpstr>PowerPoint Presentation</vt:lpstr>
      <vt:lpstr>PowerPoint Presentation</vt:lpstr>
      <vt:lpstr>PowerPoint Presentation</vt:lpstr>
      <vt:lpstr>PowerPoint Presentation</vt:lpstr>
      <vt:lpstr>PowerPoint Presentation</vt:lpstr>
      <vt:lpstr>PowerPoint Presentation</vt:lpstr>
      <vt:lpstr>Class II weight prediction methods - availability</vt:lpstr>
      <vt:lpstr>PowerPoint Presentation</vt:lpstr>
      <vt:lpstr>PowerPoint Presentation</vt:lpstr>
      <vt:lpstr>The Load Factor n</vt:lpstr>
      <vt:lpstr>Determination of the Load Factor n </vt:lpstr>
      <vt:lpstr>Load factor 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Recall on the overall conceptual design procedure</vt:lpstr>
      <vt:lpstr>Applying Class II methods</vt:lpstr>
      <vt:lpstr>PowerPoint Presentation</vt:lpstr>
      <vt:lpstr>During this lecture…</vt:lpstr>
      <vt:lpstr>PowerPoint Presentation</vt:lpstr>
      <vt:lpstr>PowerPoint Presentation</vt:lpstr>
      <vt:lpstr>PowerPoint Presentation</vt:lpstr>
      <vt:lpstr>PowerPoint Presentation</vt:lpstr>
      <vt:lpstr>PowerPoint Presentation</vt:lpstr>
    </vt:vector>
  </TitlesOfParts>
  <Company>TU Delft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LR-AE1201</dc:title>
  <dc:subject>Aerospace Design and Systems Engineering I</dc:subject>
  <dc:creator>G. La Rocca</dc:creator>
  <cp:lastModifiedBy>Fabrizio Oliviero</cp:lastModifiedBy>
  <cp:revision>1701</cp:revision>
  <cp:lastPrinted>2003-01-17T08:35:50Z</cp:lastPrinted>
  <dcterms:created xsi:type="dcterms:W3CDTF">2003-02-14T12:59:34Z</dcterms:created>
  <dcterms:modified xsi:type="dcterms:W3CDTF">2024-09-12T17:33:04Z</dcterms:modified>
</cp:coreProperties>
</file>