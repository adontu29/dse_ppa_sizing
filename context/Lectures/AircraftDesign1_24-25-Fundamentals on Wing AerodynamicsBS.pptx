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tags/tag10.xml" ContentType="application/vnd.openxmlformats-officedocument.presentationml.tags+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tags/tag13.xml" ContentType="application/vnd.openxmlformats-officedocument.presentationml.tags+xml"/>
  <Override PartName="/ppt/notesSlides/notesSlide28.xml" ContentType="application/vnd.openxmlformats-officedocument.presentationml.notesSlide+xml"/>
  <Override PartName="/ppt/tags/tag14.xml" ContentType="application/vnd.openxmlformats-officedocument.presentationml.tags+xml"/>
  <Override PartName="/ppt/notesSlides/notesSlide29.xml" ContentType="application/vnd.openxmlformats-officedocument.presentationml.notesSlide+xml"/>
  <Override PartName="/ppt/tags/tag15.xml" ContentType="application/vnd.openxmlformats-officedocument.presentationml.tags+xml"/>
  <Override PartName="/ppt/notesSlides/notesSlide30.xml" ContentType="application/vnd.openxmlformats-officedocument.presentationml.notesSlide+xml"/>
  <Override PartName="/ppt/tags/tag16.xml" ContentType="application/vnd.openxmlformats-officedocument.presentationml.tags+xml"/>
  <Override PartName="/ppt/notesSlides/notesSlide31.xml" ContentType="application/vnd.openxmlformats-officedocument.presentationml.notesSlide+xml"/>
  <Override PartName="/ppt/tags/tag17.xml" ContentType="application/vnd.openxmlformats-officedocument.presentationml.tags+xml"/>
  <Override PartName="/ppt/notesSlides/notesSlide32.xml" ContentType="application/vnd.openxmlformats-officedocument.presentationml.notesSlide+xml"/>
  <Override PartName="/ppt/tags/tag18.xml" ContentType="application/vnd.openxmlformats-officedocument.presentationml.tags+xml"/>
  <Override PartName="/ppt/notesSlides/notesSlide33.xml" ContentType="application/vnd.openxmlformats-officedocument.presentationml.notesSlide+xml"/>
  <Override PartName="/ppt/tags/tag19.xml" ContentType="application/vnd.openxmlformats-officedocument.presentationml.tags+xml"/>
  <Override PartName="/ppt/notesSlides/notesSlide34.xml" ContentType="application/vnd.openxmlformats-officedocument.presentationml.notesSlide+xml"/>
  <Override PartName="/ppt/tags/tag20.xml" ContentType="application/vnd.openxmlformats-officedocument.presentationml.tags+xml"/>
  <Override PartName="/ppt/notesSlides/notesSlide35.xml" ContentType="application/vnd.openxmlformats-officedocument.presentationml.notesSlide+xml"/>
  <Override PartName="/ppt/tags/tag21.xml" ContentType="application/vnd.openxmlformats-officedocument.presentationml.tags+xml"/>
  <Override PartName="/ppt/notesSlides/notesSlide36.xml" ContentType="application/vnd.openxmlformats-officedocument.presentationml.notesSlide+xml"/>
  <Override PartName="/ppt/tags/tag2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3.xml" ContentType="application/vnd.openxmlformats-officedocument.presentationml.tags+xml"/>
  <Override PartName="/ppt/notesSlides/notesSlide40.xml" ContentType="application/vnd.openxmlformats-officedocument.presentationml.notesSlide+xml"/>
  <Override PartName="/ppt/tags/tag24.xml" ContentType="application/vnd.openxmlformats-officedocument.presentationml.tags+xml"/>
  <Override PartName="/ppt/notesSlides/notesSlide41.xml" ContentType="application/vnd.openxmlformats-officedocument.presentationml.notesSlide+xml"/>
  <Override PartName="/ppt/tags/tag25.xml" ContentType="application/vnd.openxmlformats-officedocument.presentationml.tags+xml"/>
  <Override PartName="/ppt/notesSlides/notesSlide42.xml" ContentType="application/vnd.openxmlformats-officedocument.presentationml.notesSlide+xml"/>
  <Override PartName="/ppt/tags/tag26.xml" ContentType="application/vnd.openxmlformats-officedocument.presentationml.tags+xml"/>
  <Override PartName="/ppt/notesSlides/notesSlide43.xml" ContentType="application/vnd.openxmlformats-officedocument.presentationml.notesSlide+xml"/>
  <Override PartName="/ppt/tags/tag27.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8.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29.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30.xml" ContentType="application/vnd.openxmlformats-officedocument.presentationml.tags+xml"/>
  <Override PartName="/ppt/notesSlides/notesSlide69.xml" ContentType="application/vnd.openxmlformats-officedocument.presentationml.notesSlide+xml"/>
  <Override PartName="/ppt/tags/tag31.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Lst>
  <p:notesMasterIdLst>
    <p:notesMasterId r:id="rId76"/>
  </p:notesMasterIdLst>
  <p:handoutMasterIdLst>
    <p:handoutMasterId r:id="rId77"/>
  </p:handoutMasterIdLst>
  <p:sldIdLst>
    <p:sldId id="790" r:id="rId2"/>
    <p:sldId id="870" r:id="rId3"/>
    <p:sldId id="871" r:id="rId4"/>
    <p:sldId id="872" r:id="rId5"/>
    <p:sldId id="873" r:id="rId6"/>
    <p:sldId id="910" r:id="rId7"/>
    <p:sldId id="800" r:id="rId8"/>
    <p:sldId id="803" r:id="rId9"/>
    <p:sldId id="801" r:id="rId10"/>
    <p:sldId id="793" r:id="rId11"/>
    <p:sldId id="792" r:id="rId12"/>
    <p:sldId id="857" r:id="rId13"/>
    <p:sldId id="796" r:id="rId14"/>
    <p:sldId id="828" r:id="rId15"/>
    <p:sldId id="804" r:id="rId16"/>
    <p:sldId id="887" r:id="rId17"/>
    <p:sldId id="869" r:id="rId18"/>
    <p:sldId id="797" r:id="rId19"/>
    <p:sldId id="805" r:id="rId20"/>
    <p:sldId id="806" r:id="rId21"/>
    <p:sldId id="901" r:id="rId22"/>
    <p:sldId id="858" r:id="rId23"/>
    <p:sldId id="809" r:id="rId24"/>
    <p:sldId id="810" r:id="rId25"/>
    <p:sldId id="811" r:id="rId26"/>
    <p:sldId id="812" r:id="rId27"/>
    <p:sldId id="815" r:id="rId28"/>
    <p:sldId id="814" r:id="rId29"/>
    <p:sldId id="866" r:id="rId30"/>
    <p:sldId id="813" r:id="rId31"/>
    <p:sldId id="817" r:id="rId32"/>
    <p:sldId id="860" r:id="rId33"/>
    <p:sldId id="816" r:id="rId34"/>
    <p:sldId id="888" r:id="rId35"/>
    <p:sldId id="819" r:id="rId36"/>
    <p:sldId id="818" r:id="rId37"/>
    <p:sldId id="820" r:id="rId38"/>
    <p:sldId id="823" r:id="rId39"/>
    <p:sldId id="822" r:id="rId40"/>
    <p:sldId id="821" r:id="rId41"/>
    <p:sldId id="824" r:id="rId42"/>
    <p:sldId id="825" r:id="rId43"/>
    <p:sldId id="827" r:id="rId44"/>
    <p:sldId id="826" r:id="rId45"/>
    <p:sldId id="829" r:id="rId46"/>
    <p:sldId id="830" r:id="rId47"/>
    <p:sldId id="859" r:id="rId48"/>
    <p:sldId id="861" r:id="rId49"/>
    <p:sldId id="831" r:id="rId50"/>
    <p:sldId id="832" r:id="rId51"/>
    <p:sldId id="833" r:id="rId52"/>
    <p:sldId id="847" r:id="rId53"/>
    <p:sldId id="834" r:id="rId54"/>
    <p:sldId id="889" r:id="rId55"/>
    <p:sldId id="835" r:id="rId56"/>
    <p:sldId id="836" r:id="rId57"/>
    <p:sldId id="837" r:id="rId58"/>
    <p:sldId id="838" r:id="rId59"/>
    <p:sldId id="839" r:id="rId60"/>
    <p:sldId id="856" r:id="rId61"/>
    <p:sldId id="840" r:id="rId62"/>
    <p:sldId id="842" r:id="rId63"/>
    <p:sldId id="843" r:id="rId64"/>
    <p:sldId id="844" r:id="rId65"/>
    <p:sldId id="846" r:id="rId66"/>
    <p:sldId id="841" r:id="rId67"/>
    <p:sldId id="848" r:id="rId68"/>
    <p:sldId id="849" r:id="rId69"/>
    <p:sldId id="850" r:id="rId70"/>
    <p:sldId id="851" r:id="rId71"/>
    <p:sldId id="852" r:id="rId72"/>
    <p:sldId id="853" r:id="rId73"/>
    <p:sldId id="854" r:id="rId74"/>
    <p:sldId id="855" r:id="rId75"/>
  </p:sldIdLst>
  <p:sldSz cx="12192000" cy="6858000"/>
  <p:notesSz cx="6794500" cy="9931400"/>
  <p:custDataLst>
    <p:tags r:id="rId78"/>
  </p:custDataLst>
  <p:defaultTextStyle>
    <a:defPPr>
      <a:defRPr lang="en-US"/>
    </a:defPPr>
    <a:lvl1pPr algn="ctr" rtl="0" fontAlgn="ctr">
      <a:spcBef>
        <a:spcPct val="0"/>
      </a:spcBef>
      <a:spcAft>
        <a:spcPct val="0"/>
      </a:spcAft>
      <a:defRPr sz="1600" kern="1200">
        <a:solidFill>
          <a:schemeClr val="tx1"/>
        </a:solidFill>
        <a:latin typeface="Tahoma" pitchFamily="34" charset="0"/>
        <a:ea typeface="+mn-ea"/>
        <a:cs typeface="+mn-cs"/>
      </a:defRPr>
    </a:lvl1pPr>
    <a:lvl2pPr marL="457200" algn="ctr" rtl="0" fontAlgn="ctr">
      <a:spcBef>
        <a:spcPct val="0"/>
      </a:spcBef>
      <a:spcAft>
        <a:spcPct val="0"/>
      </a:spcAft>
      <a:defRPr sz="1600" kern="1200">
        <a:solidFill>
          <a:schemeClr val="tx1"/>
        </a:solidFill>
        <a:latin typeface="Tahoma" pitchFamily="34" charset="0"/>
        <a:ea typeface="+mn-ea"/>
        <a:cs typeface="+mn-cs"/>
      </a:defRPr>
    </a:lvl2pPr>
    <a:lvl3pPr marL="914400" algn="ctr" rtl="0" fontAlgn="ctr">
      <a:spcBef>
        <a:spcPct val="0"/>
      </a:spcBef>
      <a:spcAft>
        <a:spcPct val="0"/>
      </a:spcAft>
      <a:defRPr sz="1600" kern="1200">
        <a:solidFill>
          <a:schemeClr val="tx1"/>
        </a:solidFill>
        <a:latin typeface="Tahoma" pitchFamily="34" charset="0"/>
        <a:ea typeface="+mn-ea"/>
        <a:cs typeface="+mn-cs"/>
      </a:defRPr>
    </a:lvl3pPr>
    <a:lvl4pPr marL="1371600" algn="ctr" rtl="0" fontAlgn="ctr">
      <a:spcBef>
        <a:spcPct val="0"/>
      </a:spcBef>
      <a:spcAft>
        <a:spcPct val="0"/>
      </a:spcAft>
      <a:defRPr sz="1600" kern="1200">
        <a:solidFill>
          <a:schemeClr val="tx1"/>
        </a:solidFill>
        <a:latin typeface="Tahoma" pitchFamily="34" charset="0"/>
        <a:ea typeface="+mn-ea"/>
        <a:cs typeface="+mn-cs"/>
      </a:defRPr>
    </a:lvl4pPr>
    <a:lvl5pPr marL="1828800" algn="ctr" rtl="0" fontAlgn="ctr">
      <a:spcBef>
        <a:spcPct val="0"/>
      </a:spcBef>
      <a:spcAft>
        <a:spcPct val="0"/>
      </a:spcAft>
      <a:defRPr sz="1600" kern="1200">
        <a:solidFill>
          <a:schemeClr val="tx1"/>
        </a:solidFill>
        <a:latin typeface="Tahoma" pitchFamily="34" charset="0"/>
        <a:ea typeface="+mn-ea"/>
        <a:cs typeface="+mn-cs"/>
      </a:defRPr>
    </a:lvl5pPr>
    <a:lvl6pPr marL="2286000" algn="l" defTabSz="914400" rtl="0" eaLnBrk="1" latinLnBrk="0" hangingPunct="1">
      <a:defRPr sz="1600" kern="1200">
        <a:solidFill>
          <a:schemeClr val="tx1"/>
        </a:solidFill>
        <a:latin typeface="Tahoma" pitchFamily="34" charset="0"/>
        <a:ea typeface="+mn-ea"/>
        <a:cs typeface="+mn-cs"/>
      </a:defRPr>
    </a:lvl6pPr>
    <a:lvl7pPr marL="2743200" algn="l" defTabSz="914400" rtl="0" eaLnBrk="1" latinLnBrk="0" hangingPunct="1">
      <a:defRPr sz="1600" kern="1200">
        <a:solidFill>
          <a:schemeClr val="tx1"/>
        </a:solidFill>
        <a:latin typeface="Tahoma" pitchFamily="34" charset="0"/>
        <a:ea typeface="+mn-ea"/>
        <a:cs typeface="+mn-cs"/>
      </a:defRPr>
    </a:lvl7pPr>
    <a:lvl8pPr marL="3200400" algn="l" defTabSz="914400" rtl="0" eaLnBrk="1" latinLnBrk="0" hangingPunct="1">
      <a:defRPr sz="1600" kern="1200">
        <a:solidFill>
          <a:schemeClr val="tx1"/>
        </a:solidFill>
        <a:latin typeface="Tahoma" pitchFamily="34" charset="0"/>
        <a:ea typeface="+mn-ea"/>
        <a:cs typeface="+mn-cs"/>
      </a:defRPr>
    </a:lvl8pPr>
    <a:lvl9pPr marL="3657600" algn="l" defTabSz="914400" rtl="0" eaLnBrk="1" latinLnBrk="0" hangingPunct="1">
      <a:defRPr sz="16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4069" userDrawn="1">
          <p15:clr>
            <a:srgbClr val="A4A3A4"/>
          </p15:clr>
        </p15:guide>
        <p15:guide id="2" pos="7040" userDrawn="1">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AEAEA"/>
    <a:srgbClr val="996633"/>
    <a:srgbClr val="8ECBDF"/>
    <a:srgbClr val="8FB0D3"/>
    <a:srgbClr val="00A2BA"/>
    <a:srgbClr val="FFFF00"/>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7" autoAdjust="0"/>
    <p:restoredTop sz="84762" autoAdjust="0"/>
  </p:normalViewPr>
  <p:slideViewPr>
    <p:cSldViewPr>
      <p:cViewPr varScale="1">
        <p:scale>
          <a:sx n="107" d="100"/>
          <a:sy n="107" d="100"/>
        </p:scale>
        <p:origin x="336" y="176"/>
      </p:cViewPr>
      <p:guideLst>
        <p:guide orient="horz" pos="4069"/>
        <p:guide pos="70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33" d="100"/>
          <a:sy n="33" d="100"/>
        </p:scale>
        <p:origin x="6608" y="2864"/>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gs" Target="tags/tag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CC6F99-6898-4FDF-A594-4C5C7678490A}"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n-GB"/>
        </a:p>
      </dgm:t>
    </dgm:pt>
    <dgm:pt modelId="{C95EE910-E8F3-43B8-A2D2-5F8B3711F569}">
      <dgm:prSet phldrT="[Text]" custT="1"/>
      <dgm:spPr/>
      <dgm:t>
        <a:bodyPr/>
        <a:lstStyle/>
        <a:p>
          <a:r>
            <a:rPr lang="en-GB" sz="3200" dirty="0"/>
            <a:t>NACA</a:t>
          </a:r>
        </a:p>
      </dgm:t>
    </dgm:pt>
    <dgm:pt modelId="{D1250A02-9F80-42BF-8FA2-08E6B997CB08}" type="parTrans" cxnId="{F9B1BAB6-FC71-4194-A052-CCECF211C0B2}">
      <dgm:prSet/>
      <dgm:spPr/>
      <dgm:t>
        <a:bodyPr/>
        <a:lstStyle/>
        <a:p>
          <a:endParaRPr lang="en-GB"/>
        </a:p>
      </dgm:t>
    </dgm:pt>
    <dgm:pt modelId="{1A7F9AA9-6BAC-41A1-9C9D-45AEC89E7CAA}" type="sibTrans" cxnId="{F9B1BAB6-FC71-4194-A052-CCECF211C0B2}">
      <dgm:prSet/>
      <dgm:spPr/>
      <dgm:t>
        <a:bodyPr/>
        <a:lstStyle/>
        <a:p>
          <a:endParaRPr lang="en-GB"/>
        </a:p>
      </dgm:t>
    </dgm:pt>
    <dgm:pt modelId="{029BBCFD-E197-4910-89E3-C66B9A545851}">
      <dgm:prSet phldrT="[Text]" custT="1"/>
      <dgm:spPr/>
      <dgm:t>
        <a:bodyPr/>
        <a:lstStyle/>
        <a:p>
          <a:r>
            <a:rPr lang="en-GB" sz="2000" dirty="0"/>
            <a:t>4 digits</a:t>
          </a:r>
        </a:p>
      </dgm:t>
    </dgm:pt>
    <dgm:pt modelId="{B93D59B2-15FF-486B-8140-AB4321A31C21}" type="parTrans" cxnId="{3D0DAF6E-DEE2-4502-8F57-2AF9338BC56D}">
      <dgm:prSet/>
      <dgm:spPr/>
      <dgm:t>
        <a:bodyPr/>
        <a:lstStyle/>
        <a:p>
          <a:endParaRPr lang="en-GB"/>
        </a:p>
      </dgm:t>
    </dgm:pt>
    <dgm:pt modelId="{6255D2FE-DF86-4880-9601-C06FC48666DD}" type="sibTrans" cxnId="{3D0DAF6E-DEE2-4502-8F57-2AF9338BC56D}">
      <dgm:prSet/>
      <dgm:spPr/>
      <dgm:t>
        <a:bodyPr/>
        <a:lstStyle/>
        <a:p>
          <a:endParaRPr lang="en-GB"/>
        </a:p>
      </dgm:t>
    </dgm:pt>
    <dgm:pt modelId="{AB284ABD-B3E5-4A98-9B6B-00C99F54AE06}">
      <dgm:prSet phldrT="[Text]" custT="1"/>
      <dgm:spPr/>
      <dgm:t>
        <a:bodyPr/>
        <a:lstStyle/>
        <a:p>
          <a:r>
            <a:rPr lang="en-GB" sz="2000" dirty="0"/>
            <a:t>6 digits (laminar) </a:t>
          </a:r>
        </a:p>
      </dgm:t>
    </dgm:pt>
    <dgm:pt modelId="{2B6699E5-B0D4-4642-9DDB-5ACC902A9DD5}" type="parTrans" cxnId="{6CB961E9-EEA8-4218-9DD4-47538923F0D9}">
      <dgm:prSet/>
      <dgm:spPr/>
      <dgm:t>
        <a:bodyPr/>
        <a:lstStyle/>
        <a:p>
          <a:endParaRPr lang="en-GB"/>
        </a:p>
      </dgm:t>
    </dgm:pt>
    <dgm:pt modelId="{469AB688-DF37-4560-86BA-7CBF2C93F330}" type="sibTrans" cxnId="{6CB961E9-EEA8-4218-9DD4-47538923F0D9}">
      <dgm:prSet/>
      <dgm:spPr/>
      <dgm:t>
        <a:bodyPr/>
        <a:lstStyle/>
        <a:p>
          <a:endParaRPr lang="en-GB"/>
        </a:p>
      </dgm:t>
    </dgm:pt>
    <dgm:pt modelId="{43CFDB8F-23FD-47B9-B359-B2CD2CB51BE0}">
      <dgm:prSet phldrT="[Text]" custT="1"/>
      <dgm:spPr/>
      <dgm:t>
        <a:bodyPr/>
        <a:lstStyle/>
        <a:p>
          <a:r>
            <a:rPr lang="en-GB" sz="2000" dirty="0"/>
            <a:t>5 digits</a:t>
          </a:r>
        </a:p>
      </dgm:t>
    </dgm:pt>
    <dgm:pt modelId="{D67D435F-23A6-464C-B732-B35C9E53DE00}" type="parTrans" cxnId="{ACA60629-20F9-4968-BD4D-FCB2B812463C}">
      <dgm:prSet/>
      <dgm:spPr/>
      <dgm:t>
        <a:bodyPr/>
        <a:lstStyle/>
        <a:p>
          <a:endParaRPr lang="en-GB"/>
        </a:p>
      </dgm:t>
    </dgm:pt>
    <dgm:pt modelId="{591F0007-1304-41B8-AF00-35C0E0541A08}" type="sibTrans" cxnId="{ACA60629-20F9-4968-BD4D-FCB2B812463C}">
      <dgm:prSet/>
      <dgm:spPr/>
      <dgm:t>
        <a:bodyPr/>
        <a:lstStyle/>
        <a:p>
          <a:endParaRPr lang="en-GB"/>
        </a:p>
      </dgm:t>
    </dgm:pt>
    <dgm:pt modelId="{CC2221A4-4738-494E-8062-B06E21656319}">
      <dgm:prSet phldrT="[Text]" custT="1"/>
      <dgm:spPr/>
      <dgm:t>
        <a:bodyPr/>
        <a:lstStyle/>
        <a:p>
          <a:r>
            <a:rPr lang="en-GB" sz="2000" dirty="0"/>
            <a:t>…</a:t>
          </a:r>
        </a:p>
      </dgm:t>
    </dgm:pt>
    <dgm:pt modelId="{07EDE6E3-09FA-43A0-A537-FA19EC9DBB00}" type="parTrans" cxnId="{D8B95902-8195-4E69-8DFB-3E0B61B2A8B9}">
      <dgm:prSet/>
      <dgm:spPr/>
      <dgm:t>
        <a:bodyPr/>
        <a:lstStyle/>
        <a:p>
          <a:endParaRPr lang="en-GB"/>
        </a:p>
      </dgm:t>
    </dgm:pt>
    <dgm:pt modelId="{30C95F3C-6482-4615-9D6E-79B446110546}" type="sibTrans" cxnId="{D8B95902-8195-4E69-8DFB-3E0B61B2A8B9}">
      <dgm:prSet/>
      <dgm:spPr/>
      <dgm:t>
        <a:bodyPr/>
        <a:lstStyle/>
        <a:p>
          <a:endParaRPr lang="en-GB"/>
        </a:p>
      </dgm:t>
    </dgm:pt>
    <dgm:pt modelId="{70A7F72E-CE7D-4502-91D5-4BA1C272223F}" type="pres">
      <dgm:prSet presAssocID="{97CC6F99-6898-4FDF-A594-4C5C7678490A}" presName="diagram" presStyleCnt="0">
        <dgm:presLayoutVars>
          <dgm:chPref val="1"/>
          <dgm:dir/>
          <dgm:animOne val="branch"/>
          <dgm:animLvl val="lvl"/>
          <dgm:resizeHandles val="exact"/>
        </dgm:presLayoutVars>
      </dgm:prSet>
      <dgm:spPr/>
    </dgm:pt>
    <dgm:pt modelId="{3ED87105-B691-4606-9E21-3044781F6B2A}" type="pres">
      <dgm:prSet presAssocID="{C95EE910-E8F3-43B8-A2D2-5F8B3711F569}" presName="root1" presStyleCnt="0"/>
      <dgm:spPr/>
    </dgm:pt>
    <dgm:pt modelId="{6841707C-7916-4C46-914F-C7A7C7FB5A82}" type="pres">
      <dgm:prSet presAssocID="{C95EE910-E8F3-43B8-A2D2-5F8B3711F569}" presName="LevelOneTextNode" presStyleLbl="node0" presStyleIdx="0" presStyleCnt="1" custScaleX="82532" custScaleY="71913">
        <dgm:presLayoutVars>
          <dgm:chPref val="3"/>
        </dgm:presLayoutVars>
      </dgm:prSet>
      <dgm:spPr/>
    </dgm:pt>
    <dgm:pt modelId="{6946CA98-A32F-4F5A-8FEF-F8F41E06F4E8}" type="pres">
      <dgm:prSet presAssocID="{C95EE910-E8F3-43B8-A2D2-5F8B3711F569}" presName="level2hierChild" presStyleCnt="0"/>
      <dgm:spPr/>
    </dgm:pt>
    <dgm:pt modelId="{4F829FF4-CADE-4791-A354-C23CE9167679}" type="pres">
      <dgm:prSet presAssocID="{B93D59B2-15FF-486B-8140-AB4321A31C21}" presName="conn2-1" presStyleLbl="parChTrans1D2" presStyleIdx="0" presStyleCnt="4"/>
      <dgm:spPr/>
    </dgm:pt>
    <dgm:pt modelId="{6FEBC0CE-F045-4B82-B2F0-C2994C4AF2D3}" type="pres">
      <dgm:prSet presAssocID="{B93D59B2-15FF-486B-8140-AB4321A31C21}" presName="connTx" presStyleLbl="parChTrans1D2" presStyleIdx="0" presStyleCnt="4"/>
      <dgm:spPr/>
    </dgm:pt>
    <dgm:pt modelId="{4B33574C-5E3F-4DAD-9E50-B15424272E16}" type="pres">
      <dgm:prSet presAssocID="{029BBCFD-E197-4910-89E3-C66B9A545851}" presName="root2" presStyleCnt="0"/>
      <dgm:spPr/>
    </dgm:pt>
    <dgm:pt modelId="{AA17EA4F-0D9A-47C6-A29C-A3852905211F}" type="pres">
      <dgm:prSet presAssocID="{029BBCFD-E197-4910-89E3-C66B9A545851}" presName="LevelTwoTextNode" presStyleLbl="node2" presStyleIdx="0" presStyleCnt="4">
        <dgm:presLayoutVars>
          <dgm:chPref val="3"/>
        </dgm:presLayoutVars>
      </dgm:prSet>
      <dgm:spPr/>
    </dgm:pt>
    <dgm:pt modelId="{504FAFDC-66BA-48C5-997D-EB6226BA5714}" type="pres">
      <dgm:prSet presAssocID="{029BBCFD-E197-4910-89E3-C66B9A545851}" presName="level3hierChild" presStyleCnt="0"/>
      <dgm:spPr/>
    </dgm:pt>
    <dgm:pt modelId="{B2AF6544-FE0B-490A-965B-A02C8548FBC0}" type="pres">
      <dgm:prSet presAssocID="{D67D435F-23A6-464C-B732-B35C9E53DE00}" presName="conn2-1" presStyleLbl="parChTrans1D2" presStyleIdx="1" presStyleCnt="4"/>
      <dgm:spPr/>
    </dgm:pt>
    <dgm:pt modelId="{7D2F2EB8-BCA9-420C-9779-531D2504D348}" type="pres">
      <dgm:prSet presAssocID="{D67D435F-23A6-464C-B732-B35C9E53DE00}" presName="connTx" presStyleLbl="parChTrans1D2" presStyleIdx="1" presStyleCnt="4"/>
      <dgm:spPr/>
    </dgm:pt>
    <dgm:pt modelId="{B51EF5DE-EEDC-4F29-88FE-1B2E8FAFECF4}" type="pres">
      <dgm:prSet presAssocID="{43CFDB8F-23FD-47B9-B359-B2CD2CB51BE0}" presName="root2" presStyleCnt="0"/>
      <dgm:spPr/>
    </dgm:pt>
    <dgm:pt modelId="{B114C741-32C6-4FC0-AE45-2096AF739A54}" type="pres">
      <dgm:prSet presAssocID="{43CFDB8F-23FD-47B9-B359-B2CD2CB51BE0}" presName="LevelTwoTextNode" presStyleLbl="node2" presStyleIdx="1" presStyleCnt="4">
        <dgm:presLayoutVars>
          <dgm:chPref val="3"/>
        </dgm:presLayoutVars>
      </dgm:prSet>
      <dgm:spPr/>
    </dgm:pt>
    <dgm:pt modelId="{D6625686-B00F-4468-9617-607B9D664DCE}" type="pres">
      <dgm:prSet presAssocID="{43CFDB8F-23FD-47B9-B359-B2CD2CB51BE0}" presName="level3hierChild" presStyleCnt="0"/>
      <dgm:spPr/>
    </dgm:pt>
    <dgm:pt modelId="{6AF4A171-C816-4AED-9FF0-357F24B00D40}" type="pres">
      <dgm:prSet presAssocID="{2B6699E5-B0D4-4642-9DDB-5ACC902A9DD5}" presName="conn2-1" presStyleLbl="parChTrans1D2" presStyleIdx="2" presStyleCnt="4"/>
      <dgm:spPr/>
    </dgm:pt>
    <dgm:pt modelId="{9E7A0AF5-F20D-4007-8239-086474D093CD}" type="pres">
      <dgm:prSet presAssocID="{2B6699E5-B0D4-4642-9DDB-5ACC902A9DD5}" presName="connTx" presStyleLbl="parChTrans1D2" presStyleIdx="2" presStyleCnt="4"/>
      <dgm:spPr/>
    </dgm:pt>
    <dgm:pt modelId="{6984F7F1-8973-4139-A280-4768802B46C8}" type="pres">
      <dgm:prSet presAssocID="{AB284ABD-B3E5-4A98-9B6B-00C99F54AE06}" presName="root2" presStyleCnt="0"/>
      <dgm:spPr/>
    </dgm:pt>
    <dgm:pt modelId="{14B1DEA9-4D8A-4E03-8F42-13095D68972A}" type="pres">
      <dgm:prSet presAssocID="{AB284ABD-B3E5-4A98-9B6B-00C99F54AE06}" presName="LevelTwoTextNode" presStyleLbl="node2" presStyleIdx="2" presStyleCnt="4">
        <dgm:presLayoutVars>
          <dgm:chPref val="3"/>
        </dgm:presLayoutVars>
      </dgm:prSet>
      <dgm:spPr/>
    </dgm:pt>
    <dgm:pt modelId="{4CDDE40D-6EFA-4813-B98D-49ED1CCB9E80}" type="pres">
      <dgm:prSet presAssocID="{AB284ABD-B3E5-4A98-9B6B-00C99F54AE06}" presName="level3hierChild" presStyleCnt="0"/>
      <dgm:spPr/>
    </dgm:pt>
    <dgm:pt modelId="{31CD6A1B-05E3-4DD2-8AB9-2C1527F42C56}" type="pres">
      <dgm:prSet presAssocID="{07EDE6E3-09FA-43A0-A537-FA19EC9DBB00}" presName="conn2-1" presStyleLbl="parChTrans1D2" presStyleIdx="3" presStyleCnt="4"/>
      <dgm:spPr/>
    </dgm:pt>
    <dgm:pt modelId="{D5F90E0E-B686-46BA-BCA4-433745F49BC1}" type="pres">
      <dgm:prSet presAssocID="{07EDE6E3-09FA-43A0-A537-FA19EC9DBB00}" presName="connTx" presStyleLbl="parChTrans1D2" presStyleIdx="3" presStyleCnt="4"/>
      <dgm:spPr/>
    </dgm:pt>
    <dgm:pt modelId="{BC4E9B71-3ADC-4B72-AA67-B603B47B570F}" type="pres">
      <dgm:prSet presAssocID="{CC2221A4-4738-494E-8062-B06E21656319}" presName="root2" presStyleCnt="0"/>
      <dgm:spPr/>
    </dgm:pt>
    <dgm:pt modelId="{555D44C2-46B0-48A9-8B6A-52530E450B55}" type="pres">
      <dgm:prSet presAssocID="{CC2221A4-4738-494E-8062-B06E21656319}" presName="LevelTwoTextNode" presStyleLbl="node2" presStyleIdx="3" presStyleCnt="4">
        <dgm:presLayoutVars>
          <dgm:chPref val="3"/>
        </dgm:presLayoutVars>
      </dgm:prSet>
      <dgm:spPr/>
    </dgm:pt>
    <dgm:pt modelId="{E1995BE1-E602-47E4-86CF-DF4AC7C391B8}" type="pres">
      <dgm:prSet presAssocID="{CC2221A4-4738-494E-8062-B06E21656319}" presName="level3hierChild" presStyleCnt="0"/>
      <dgm:spPr/>
    </dgm:pt>
  </dgm:ptLst>
  <dgm:cxnLst>
    <dgm:cxn modelId="{D8B95902-8195-4E69-8DFB-3E0B61B2A8B9}" srcId="{C95EE910-E8F3-43B8-A2D2-5F8B3711F569}" destId="{CC2221A4-4738-494E-8062-B06E21656319}" srcOrd="3" destOrd="0" parTransId="{07EDE6E3-09FA-43A0-A537-FA19EC9DBB00}" sibTransId="{30C95F3C-6482-4615-9D6E-79B446110546}"/>
    <dgm:cxn modelId="{58386A0E-0CCB-430B-80BB-5D8ECC1EA1E5}" type="presOf" srcId="{B93D59B2-15FF-486B-8140-AB4321A31C21}" destId="{4F829FF4-CADE-4791-A354-C23CE9167679}" srcOrd="0" destOrd="0" presId="urn:microsoft.com/office/officeart/2005/8/layout/hierarchy2"/>
    <dgm:cxn modelId="{095CE422-257C-4E93-A8BD-DC8C6A4FAF12}" type="presOf" srcId="{C95EE910-E8F3-43B8-A2D2-5F8B3711F569}" destId="{6841707C-7916-4C46-914F-C7A7C7FB5A82}" srcOrd="0" destOrd="0" presId="urn:microsoft.com/office/officeart/2005/8/layout/hierarchy2"/>
    <dgm:cxn modelId="{ACA60629-20F9-4968-BD4D-FCB2B812463C}" srcId="{C95EE910-E8F3-43B8-A2D2-5F8B3711F569}" destId="{43CFDB8F-23FD-47B9-B359-B2CD2CB51BE0}" srcOrd="1" destOrd="0" parTransId="{D67D435F-23A6-464C-B732-B35C9E53DE00}" sibTransId="{591F0007-1304-41B8-AF00-35C0E0541A08}"/>
    <dgm:cxn modelId="{8EB0ED2B-AB83-4D47-8390-CE9D01735596}" type="presOf" srcId="{D67D435F-23A6-464C-B732-B35C9E53DE00}" destId="{B2AF6544-FE0B-490A-965B-A02C8548FBC0}" srcOrd="0" destOrd="0" presId="urn:microsoft.com/office/officeart/2005/8/layout/hierarchy2"/>
    <dgm:cxn modelId="{17FBDD4C-EBB1-4B79-B376-7E71BBFAE2E4}" type="presOf" srcId="{029BBCFD-E197-4910-89E3-C66B9A545851}" destId="{AA17EA4F-0D9A-47C6-A29C-A3852905211F}" srcOrd="0" destOrd="0" presId="urn:microsoft.com/office/officeart/2005/8/layout/hierarchy2"/>
    <dgm:cxn modelId="{97303551-50CF-4B52-8F7A-BD40F7602B83}" type="presOf" srcId="{AB284ABD-B3E5-4A98-9B6B-00C99F54AE06}" destId="{14B1DEA9-4D8A-4E03-8F42-13095D68972A}" srcOrd="0" destOrd="0" presId="urn:microsoft.com/office/officeart/2005/8/layout/hierarchy2"/>
    <dgm:cxn modelId="{3D0DAF6E-DEE2-4502-8F57-2AF9338BC56D}" srcId="{C95EE910-E8F3-43B8-A2D2-5F8B3711F569}" destId="{029BBCFD-E197-4910-89E3-C66B9A545851}" srcOrd="0" destOrd="0" parTransId="{B93D59B2-15FF-486B-8140-AB4321A31C21}" sibTransId="{6255D2FE-DF86-4880-9601-C06FC48666DD}"/>
    <dgm:cxn modelId="{C22B8D7D-E268-43EE-9A49-D15B64436826}" type="presOf" srcId="{97CC6F99-6898-4FDF-A594-4C5C7678490A}" destId="{70A7F72E-CE7D-4502-91D5-4BA1C272223F}" srcOrd="0" destOrd="0" presId="urn:microsoft.com/office/officeart/2005/8/layout/hierarchy2"/>
    <dgm:cxn modelId="{940B0C95-7508-4B8F-8FC0-123B33CD0361}" type="presOf" srcId="{CC2221A4-4738-494E-8062-B06E21656319}" destId="{555D44C2-46B0-48A9-8B6A-52530E450B55}" srcOrd="0" destOrd="0" presId="urn:microsoft.com/office/officeart/2005/8/layout/hierarchy2"/>
    <dgm:cxn modelId="{CB629098-62AC-4C5F-92A4-5C21F7734C3F}" type="presOf" srcId="{07EDE6E3-09FA-43A0-A537-FA19EC9DBB00}" destId="{31CD6A1B-05E3-4DD2-8AB9-2C1527F42C56}" srcOrd="0" destOrd="0" presId="urn:microsoft.com/office/officeart/2005/8/layout/hierarchy2"/>
    <dgm:cxn modelId="{90D6B7B2-8CE0-49FE-9E34-A2E2E5968C1B}" type="presOf" srcId="{07EDE6E3-09FA-43A0-A537-FA19EC9DBB00}" destId="{D5F90E0E-B686-46BA-BCA4-433745F49BC1}" srcOrd="1" destOrd="0" presId="urn:microsoft.com/office/officeart/2005/8/layout/hierarchy2"/>
    <dgm:cxn modelId="{F9B1BAB6-FC71-4194-A052-CCECF211C0B2}" srcId="{97CC6F99-6898-4FDF-A594-4C5C7678490A}" destId="{C95EE910-E8F3-43B8-A2D2-5F8B3711F569}" srcOrd="0" destOrd="0" parTransId="{D1250A02-9F80-42BF-8FA2-08E6B997CB08}" sibTransId="{1A7F9AA9-6BAC-41A1-9C9D-45AEC89E7CAA}"/>
    <dgm:cxn modelId="{D251B4B7-4D51-440B-B09A-FD251B5CB2D6}" type="presOf" srcId="{2B6699E5-B0D4-4642-9DDB-5ACC902A9DD5}" destId="{9E7A0AF5-F20D-4007-8239-086474D093CD}" srcOrd="1" destOrd="0" presId="urn:microsoft.com/office/officeart/2005/8/layout/hierarchy2"/>
    <dgm:cxn modelId="{1788C8BC-7B8E-449B-920C-A821FF3B9F09}" type="presOf" srcId="{B93D59B2-15FF-486B-8140-AB4321A31C21}" destId="{6FEBC0CE-F045-4B82-B2F0-C2994C4AF2D3}" srcOrd="1" destOrd="0" presId="urn:microsoft.com/office/officeart/2005/8/layout/hierarchy2"/>
    <dgm:cxn modelId="{6CB961E9-EEA8-4218-9DD4-47538923F0D9}" srcId="{C95EE910-E8F3-43B8-A2D2-5F8B3711F569}" destId="{AB284ABD-B3E5-4A98-9B6B-00C99F54AE06}" srcOrd="2" destOrd="0" parTransId="{2B6699E5-B0D4-4642-9DDB-5ACC902A9DD5}" sibTransId="{469AB688-DF37-4560-86BA-7CBF2C93F330}"/>
    <dgm:cxn modelId="{B816F9EA-F759-49AF-833E-7767A93327DE}" type="presOf" srcId="{2B6699E5-B0D4-4642-9DDB-5ACC902A9DD5}" destId="{6AF4A171-C816-4AED-9FF0-357F24B00D40}" srcOrd="0" destOrd="0" presId="urn:microsoft.com/office/officeart/2005/8/layout/hierarchy2"/>
    <dgm:cxn modelId="{FCF516EC-85E0-411B-8128-6B8DD3883CC0}" type="presOf" srcId="{43CFDB8F-23FD-47B9-B359-B2CD2CB51BE0}" destId="{B114C741-32C6-4FC0-AE45-2096AF739A54}" srcOrd="0" destOrd="0" presId="urn:microsoft.com/office/officeart/2005/8/layout/hierarchy2"/>
    <dgm:cxn modelId="{877A63F0-9389-4E34-AE4B-0E44F02D19E9}" type="presOf" srcId="{D67D435F-23A6-464C-B732-B35C9E53DE00}" destId="{7D2F2EB8-BCA9-420C-9779-531D2504D348}" srcOrd="1" destOrd="0" presId="urn:microsoft.com/office/officeart/2005/8/layout/hierarchy2"/>
    <dgm:cxn modelId="{E872C105-7D3F-43E7-A3D0-D8E0A18F1F74}" type="presParOf" srcId="{70A7F72E-CE7D-4502-91D5-4BA1C272223F}" destId="{3ED87105-B691-4606-9E21-3044781F6B2A}" srcOrd="0" destOrd="0" presId="urn:microsoft.com/office/officeart/2005/8/layout/hierarchy2"/>
    <dgm:cxn modelId="{6081DF16-C185-4D76-80B1-639EA2A0B1EE}" type="presParOf" srcId="{3ED87105-B691-4606-9E21-3044781F6B2A}" destId="{6841707C-7916-4C46-914F-C7A7C7FB5A82}" srcOrd="0" destOrd="0" presId="urn:microsoft.com/office/officeart/2005/8/layout/hierarchy2"/>
    <dgm:cxn modelId="{CEE08B52-CA68-4B7C-8033-0AB78D0E9312}" type="presParOf" srcId="{3ED87105-B691-4606-9E21-3044781F6B2A}" destId="{6946CA98-A32F-4F5A-8FEF-F8F41E06F4E8}" srcOrd="1" destOrd="0" presId="urn:microsoft.com/office/officeart/2005/8/layout/hierarchy2"/>
    <dgm:cxn modelId="{A9469DE1-C66E-4A0E-8001-C07E0B6AC289}" type="presParOf" srcId="{6946CA98-A32F-4F5A-8FEF-F8F41E06F4E8}" destId="{4F829FF4-CADE-4791-A354-C23CE9167679}" srcOrd="0" destOrd="0" presId="urn:microsoft.com/office/officeart/2005/8/layout/hierarchy2"/>
    <dgm:cxn modelId="{01F40347-787D-4993-8E29-48DBC9650A3F}" type="presParOf" srcId="{4F829FF4-CADE-4791-A354-C23CE9167679}" destId="{6FEBC0CE-F045-4B82-B2F0-C2994C4AF2D3}" srcOrd="0" destOrd="0" presId="urn:microsoft.com/office/officeart/2005/8/layout/hierarchy2"/>
    <dgm:cxn modelId="{A10F6766-4EB7-4A5B-8DA9-3E6FCF795DC7}" type="presParOf" srcId="{6946CA98-A32F-4F5A-8FEF-F8F41E06F4E8}" destId="{4B33574C-5E3F-4DAD-9E50-B15424272E16}" srcOrd="1" destOrd="0" presId="urn:microsoft.com/office/officeart/2005/8/layout/hierarchy2"/>
    <dgm:cxn modelId="{2D3471F6-8712-49A9-AB56-BED870AE9E37}" type="presParOf" srcId="{4B33574C-5E3F-4DAD-9E50-B15424272E16}" destId="{AA17EA4F-0D9A-47C6-A29C-A3852905211F}" srcOrd="0" destOrd="0" presId="urn:microsoft.com/office/officeart/2005/8/layout/hierarchy2"/>
    <dgm:cxn modelId="{23B6D4AB-C3AE-44A8-BB6A-16716A0DB6EA}" type="presParOf" srcId="{4B33574C-5E3F-4DAD-9E50-B15424272E16}" destId="{504FAFDC-66BA-48C5-997D-EB6226BA5714}" srcOrd="1" destOrd="0" presId="urn:microsoft.com/office/officeart/2005/8/layout/hierarchy2"/>
    <dgm:cxn modelId="{2C56FFFC-9DE8-4EE4-A620-513076A9245F}" type="presParOf" srcId="{6946CA98-A32F-4F5A-8FEF-F8F41E06F4E8}" destId="{B2AF6544-FE0B-490A-965B-A02C8548FBC0}" srcOrd="2" destOrd="0" presId="urn:microsoft.com/office/officeart/2005/8/layout/hierarchy2"/>
    <dgm:cxn modelId="{4CC87D5D-E594-42B6-B593-E0D2FAB4DDDF}" type="presParOf" srcId="{B2AF6544-FE0B-490A-965B-A02C8548FBC0}" destId="{7D2F2EB8-BCA9-420C-9779-531D2504D348}" srcOrd="0" destOrd="0" presId="urn:microsoft.com/office/officeart/2005/8/layout/hierarchy2"/>
    <dgm:cxn modelId="{D4E31051-8DF7-4FFF-85F1-3CE72A079CA2}" type="presParOf" srcId="{6946CA98-A32F-4F5A-8FEF-F8F41E06F4E8}" destId="{B51EF5DE-EEDC-4F29-88FE-1B2E8FAFECF4}" srcOrd="3" destOrd="0" presId="urn:microsoft.com/office/officeart/2005/8/layout/hierarchy2"/>
    <dgm:cxn modelId="{1605CE36-64EB-4F86-A987-939126B9EFF7}" type="presParOf" srcId="{B51EF5DE-EEDC-4F29-88FE-1B2E8FAFECF4}" destId="{B114C741-32C6-4FC0-AE45-2096AF739A54}" srcOrd="0" destOrd="0" presId="urn:microsoft.com/office/officeart/2005/8/layout/hierarchy2"/>
    <dgm:cxn modelId="{CB18387D-FAA3-437E-B691-B2B5AB0E733C}" type="presParOf" srcId="{B51EF5DE-EEDC-4F29-88FE-1B2E8FAFECF4}" destId="{D6625686-B00F-4468-9617-607B9D664DCE}" srcOrd="1" destOrd="0" presId="urn:microsoft.com/office/officeart/2005/8/layout/hierarchy2"/>
    <dgm:cxn modelId="{D90B978C-3D20-48BD-8E14-39E03CBC57F1}" type="presParOf" srcId="{6946CA98-A32F-4F5A-8FEF-F8F41E06F4E8}" destId="{6AF4A171-C816-4AED-9FF0-357F24B00D40}" srcOrd="4" destOrd="0" presId="urn:microsoft.com/office/officeart/2005/8/layout/hierarchy2"/>
    <dgm:cxn modelId="{46BB6AD0-6550-4346-8F9C-84C6A4D33F8E}" type="presParOf" srcId="{6AF4A171-C816-4AED-9FF0-357F24B00D40}" destId="{9E7A0AF5-F20D-4007-8239-086474D093CD}" srcOrd="0" destOrd="0" presId="urn:microsoft.com/office/officeart/2005/8/layout/hierarchy2"/>
    <dgm:cxn modelId="{D0D862FE-3F72-4B10-B849-1CB4BC9703F2}" type="presParOf" srcId="{6946CA98-A32F-4F5A-8FEF-F8F41E06F4E8}" destId="{6984F7F1-8973-4139-A280-4768802B46C8}" srcOrd="5" destOrd="0" presId="urn:microsoft.com/office/officeart/2005/8/layout/hierarchy2"/>
    <dgm:cxn modelId="{21A4E7D0-FB78-4667-ABF7-E882E89069C7}" type="presParOf" srcId="{6984F7F1-8973-4139-A280-4768802B46C8}" destId="{14B1DEA9-4D8A-4E03-8F42-13095D68972A}" srcOrd="0" destOrd="0" presId="urn:microsoft.com/office/officeart/2005/8/layout/hierarchy2"/>
    <dgm:cxn modelId="{04F3FCDF-7CE2-45F9-A6D4-E33AD506387D}" type="presParOf" srcId="{6984F7F1-8973-4139-A280-4768802B46C8}" destId="{4CDDE40D-6EFA-4813-B98D-49ED1CCB9E80}" srcOrd="1" destOrd="0" presId="urn:microsoft.com/office/officeart/2005/8/layout/hierarchy2"/>
    <dgm:cxn modelId="{DA892287-B70D-4B4C-9630-A12A48E15A29}" type="presParOf" srcId="{6946CA98-A32F-4F5A-8FEF-F8F41E06F4E8}" destId="{31CD6A1B-05E3-4DD2-8AB9-2C1527F42C56}" srcOrd="6" destOrd="0" presId="urn:microsoft.com/office/officeart/2005/8/layout/hierarchy2"/>
    <dgm:cxn modelId="{42EA5490-1D6E-470A-8F8E-2C905D923AD9}" type="presParOf" srcId="{31CD6A1B-05E3-4DD2-8AB9-2C1527F42C56}" destId="{D5F90E0E-B686-46BA-BCA4-433745F49BC1}" srcOrd="0" destOrd="0" presId="urn:microsoft.com/office/officeart/2005/8/layout/hierarchy2"/>
    <dgm:cxn modelId="{2D1F8126-879D-45B8-98E0-1EA1AE94F04E}" type="presParOf" srcId="{6946CA98-A32F-4F5A-8FEF-F8F41E06F4E8}" destId="{BC4E9B71-3ADC-4B72-AA67-B603B47B570F}" srcOrd="7" destOrd="0" presId="urn:microsoft.com/office/officeart/2005/8/layout/hierarchy2"/>
    <dgm:cxn modelId="{7AE75C20-0CB5-4F48-9067-1C1E8EDE37FC}" type="presParOf" srcId="{BC4E9B71-3ADC-4B72-AA67-B603B47B570F}" destId="{555D44C2-46B0-48A9-8B6A-52530E450B55}" srcOrd="0" destOrd="0" presId="urn:microsoft.com/office/officeart/2005/8/layout/hierarchy2"/>
    <dgm:cxn modelId="{CA50B017-BEDC-458F-AAED-021776A2889B}" type="presParOf" srcId="{BC4E9B71-3ADC-4B72-AA67-B603B47B570F}" destId="{E1995BE1-E602-47E4-86CF-DF4AC7C391B8}"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CC6F99-6898-4FDF-A594-4C5C7678490A}"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n-GB"/>
        </a:p>
      </dgm:t>
    </dgm:pt>
    <dgm:pt modelId="{C95EE910-E8F3-43B8-A2D2-5F8B3711F569}">
      <dgm:prSet phldrT="[Text]" custT="1"/>
      <dgm:spPr/>
      <dgm:t>
        <a:bodyPr/>
        <a:lstStyle/>
        <a:p>
          <a:r>
            <a:rPr lang="en-GB" sz="3200" dirty="0"/>
            <a:t>NACA</a:t>
          </a:r>
        </a:p>
      </dgm:t>
    </dgm:pt>
    <dgm:pt modelId="{D1250A02-9F80-42BF-8FA2-08E6B997CB08}" type="parTrans" cxnId="{F9B1BAB6-FC71-4194-A052-CCECF211C0B2}">
      <dgm:prSet/>
      <dgm:spPr/>
      <dgm:t>
        <a:bodyPr/>
        <a:lstStyle/>
        <a:p>
          <a:endParaRPr lang="en-GB"/>
        </a:p>
      </dgm:t>
    </dgm:pt>
    <dgm:pt modelId="{1A7F9AA9-6BAC-41A1-9C9D-45AEC89E7CAA}" type="sibTrans" cxnId="{F9B1BAB6-FC71-4194-A052-CCECF211C0B2}">
      <dgm:prSet/>
      <dgm:spPr/>
      <dgm:t>
        <a:bodyPr/>
        <a:lstStyle/>
        <a:p>
          <a:endParaRPr lang="en-GB"/>
        </a:p>
      </dgm:t>
    </dgm:pt>
    <dgm:pt modelId="{029BBCFD-E197-4910-89E3-C66B9A545851}">
      <dgm:prSet phldrT="[Text]" custT="1"/>
      <dgm:spPr/>
      <dgm:t>
        <a:bodyPr/>
        <a:lstStyle/>
        <a:p>
          <a:r>
            <a:rPr lang="en-GB" sz="2000" dirty="0"/>
            <a:t>4 digits</a:t>
          </a:r>
        </a:p>
      </dgm:t>
    </dgm:pt>
    <dgm:pt modelId="{B93D59B2-15FF-486B-8140-AB4321A31C21}" type="parTrans" cxnId="{3D0DAF6E-DEE2-4502-8F57-2AF9338BC56D}">
      <dgm:prSet/>
      <dgm:spPr/>
      <dgm:t>
        <a:bodyPr/>
        <a:lstStyle/>
        <a:p>
          <a:endParaRPr lang="en-GB"/>
        </a:p>
      </dgm:t>
    </dgm:pt>
    <dgm:pt modelId="{6255D2FE-DF86-4880-9601-C06FC48666DD}" type="sibTrans" cxnId="{3D0DAF6E-DEE2-4502-8F57-2AF9338BC56D}">
      <dgm:prSet/>
      <dgm:spPr/>
      <dgm:t>
        <a:bodyPr/>
        <a:lstStyle/>
        <a:p>
          <a:endParaRPr lang="en-GB"/>
        </a:p>
      </dgm:t>
    </dgm:pt>
    <dgm:pt modelId="{AB284ABD-B3E5-4A98-9B6B-00C99F54AE06}">
      <dgm:prSet phldrT="[Text]" custT="1"/>
      <dgm:spPr/>
      <dgm:t>
        <a:bodyPr/>
        <a:lstStyle/>
        <a:p>
          <a:r>
            <a:rPr lang="en-GB" sz="2000" dirty="0"/>
            <a:t>6 digits (laminar) </a:t>
          </a:r>
        </a:p>
      </dgm:t>
    </dgm:pt>
    <dgm:pt modelId="{2B6699E5-B0D4-4642-9DDB-5ACC902A9DD5}" type="parTrans" cxnId="{6CB961E9-EEA8-4218-9DD4-47538923F0D9}">
      <dgm:prSet/>
      <dgm:spPr/>
      <dgm:t>
        <a:bodyPr/>
        <a:lstStyle/>
        <a:p>
          <a:endParaRPr lang="en-GB"/>
        </a:p>
      </dgm:t>
    </dgm:pt>
    <dgm:pt modelId="{469AB688-DF37-4560-86BA-7CBF2C93F330}" type="sibTrans" cxnId="{6CB961E9-EEA8-4218-9DD4-47538923F0D9}">
      <dgm:prSet/>
      <dgm:spPr/>
      <dgm:t>
        <a:bodyPr/>
        <a:lstStyle/>
        <a:p>
          <a:endParaRPr lang="en-GB"/>
        </a:p>
      </dgm:t>
    </dgm:pt>
    <dgm:pt modelId="{43CFDB8F-23FD-47B9-B359-B2CD2CB51BE0}">
      <dgm:prSet phldrT="[Text]" custT="1"/>
      <dgm:spPr/>
      <dgm:t>
        <a:bodyPr/>
        <a:lstStyle/>
        <a:p>
          <a:r>
            <a:rPr lang="en-GB" sz="2000" dirty="0"/>
            <a:t>5 digits</a:t>
          </a:r>
        </a:p>
      </dgm:t>
    </dgm:pt>
    <dgm:pt modelId="{D67D435F-23A6-464C-B732-B35C9E53DE00}" type="parTrans" cxnId="{ACA60629-20F9-4968-BD4D-FCB2B812463C}">
      <dgm:prSet/>
      <dgm:spPr/>
      <dgm:t>
        <a:bodyPr/>
        <a:lstStyle/>
        <a:p>
          <a:endParaRPr lang="en-GB"/>
        </a:p>
      </dgm:t>
    </dgm:pt>
    <dgm:pt modelId="{591F0007-1304-41B8-AF00-35C0E0541A08}" type="sibTrans" cxnId="{ACA60629-20F9-4968-BD4D-FCB2B812463C}">
      <dgm:prSet/>
      <dgm:spPr/>
      <dgm:t>
        <a:bodyPr/>
        <a:lstStyle/>
        <a:p>
          <a:endParaRPr lang="en-GB"/>
        </a:p>
      </dgm:t>
    </dgm:pt>
    <dgm:pt modelId="{CC2221A4-4738-494E-8062-B06E21656319}">
      <dgm:prSet phldrT="[Text]" custT="1"/>
      <dgm:spPr/>
      <dgm:t>
        <a:bodyPr/>
        <a:lstStyle/>
        <a:p>
          <a:r>
            <a:rPr lang="en-GB" sz="2000" dirty="0"/>
            <a:t>…</a:t>
          </a:r>
        </a:p>
      </dgm:t>
    </dgm:pt>
    <dgm:pt modelId="{07EDE6E3-09FA-43A0-A537-FA19EC9DBB00}" type="parTrans" cxnId="{D8B95902-8195-4E69-8DFB-3E0B61B2A8B9}">
      <dgm:prSet/>
      <dgm:spPr/>
      <dgm:t>
        <a:bodyPr/>
        <a:lstStyle/>
        <a:p>
          <a:endParaRPr lang="en-GB"/>
        </a:p>
      </dgm:t>
    </dgm:pt>
    <dgm:pt modelId="{30C95F3C-6482-4615-9D6E-79B446110546}" type="sibTrans" cxnId="{D8B95902-8195-4E69-8DFB-3E0B61B2A8B9}">
      <dgm:prSet/>
      <dgm:spPr/>
      <dgm:t>
        <a:bodyPr/>
        <a:lstStyle/>
        <a:p>
          <a:endParaRPr lang="en-GB"/>
        </a:p>
      </dgm:t>
    </dgm:pt>
    <dgm:pt modelId="{70A7F72E-CE7D-4502-91D5-4BA1C272223F}" type="pres">
      <dgm:prSet presAssocID="{97CC6F99-6898-4FDF-A594-4C5C7678490A}" presName="diagram" presStyleCnt="0">
        <dgm:presLayoutVars>
          <dgm:chPref val="1"/>
          <dgm:dir/>
          <dgm:animOne val="branch"/>
          <dgm:animLvl val="lvl"/>
          <dgm:resizeHandles val="exact"/>
        </dgm:presLayoutVars>
      </dgm:prSet>
      <dgm:spPr/>
    </dgm:pt>
    <dgm:pt modelId="{3ED87105-B691-4606-9E21-3044781F6B2A}" type="pres">
      <dgm:prSet presAssocID="{C95EE910-E8F3-43B8-A2D2-5F8B3711F569}" presName="root1" presStyleCnt="0"/>
      <dgm:spPr/>
    </dgm:pt>
    <dgm:pt modelId="{6841707C-7916-4C46-914F-C7A7C7FB5A82}" type="pres">
      <dgm:prSet presAssocID="{C95EE910-E8F3-43B8-A2D2-5F8B3711F569}" presName="LevelOneTextNode" presStyleLbl="node0" presStyleIdx="0" presStyleCnt="1" custScaleX="82532" custScaleY="71913">
        <dgm:presLayoutVars>
          <dgm:chPref val="3"/>
        </dgm:presLayoutVars>
      </dgm:prSet>
      <dgm:spPr/>
    </dgm:pt>
    <dgm:pt modelId="{6946CA98-A32F-4F5A-8FEF-F8F41E06F4E8}" type="pres">
      <dgm:prSet presAssocID="{C95EE910-E8F3-43B8-A2D2-5F8B3711F569}" presName="level2hierChild" presStyleCnt="0"/>
      <dgm:spPr/>
    </dgm:pt>
    <dgm:pt modelId="{4F829FF4-CADE-4791-A354-C23CE9167679}" type="pres">
      <dgm:prSet presAssocID="{B93D59B2-15FF-486B-8140-AB4321A31C21}" presName="conn2-1" presStyleLbl="parChTrans1D2" presStyleIdx="0" presStyleCnt="4"/>
      <dgm:spPr/>
    </dgm:pt>
    <dgm:pt modelId="{6FEBC0CE-F045-4B82-B2F0-C2994C4AF2D3}" type="pres">
      <dgm:prSet presAssocID="{B93D59B2-15FF-486B-8140-AB4321A31C21}" presName="connTx" presStyleLbl="parChTrans1D2" presStyleIdx="0" presStyleCnt="4"/>
      <dgm:spPr/>
    </dgm:pt>
    <dgm:pt modelId="{4B33574C-5E3F-4DAD-9E50-B15424272E16}" type="pres">
      <dgm:prSet presAssocID="{029BBCFD-E197-4910-89E3-C66B9A545851}" presName="root2" presStyleCnt="0"/>
      <dgm:spPr/>
    </dgm:pt>
    <dgm:pt modelId="{AA17EA4F-0D9A-47C6-A29C-A3852905211F}" type="pres">
      <dgm:prSet presAssocID="{029BBCFD-E197-4910-89E3-C66B9A545851}" presName="LevelTwoTextNode" presStyleLbl="node2" presStyleIdx="0" presStyleCnt="4">
        <dgm:presLayoutVars>
          <dgm:chPref val="3"/>
        </dgm:presLayoutVars>
      </dgm:prSet>
      <dgm:spPr/>
    </dgm:pt>
    <dgm:pt modelId="{504FAFDC-66BA-48C5-997D-EB6226BA5714}" type="pres">
      <dgm:prSet presAssocID="{029BBCFD-E197-4910-89E3-C66B9A545851}" presName="level3hierChild" presStyleCnt="0"/>
      <dgm:spPr/>
    </dgm:pt>
    <dgm:pt modelId="{B2AF6544-FE0B-490A-965B-A02C8548FBC0}" type="pres">
      <dgm:prSet presAssocID="{D67D435F-23A6-464C-B732-B35C9E53DE00}" presName="conn2-1" presStyleLbl="parChTrans1D2" presStyleIdx="1" presStyleCnt="4"/>
      <dgm:spPr/>
    </dgm:pt>
    <dgm:pt modelId="{7D2F2EB8-BCA9-420C-9779-531D2504D348}" type="pres">
      <dgm:prSet presAssocID="{D67D435F-23A6-464C-B732-B35C9E53DE00}" presName="connTx" presStyleLbl="parChTrans1D2" presStyleIdx="1" presStyleCnt="4"/>
      <dgm:spPr/>
    </dgm:pt>
    <dgm:pt modelId="{B51EF5DE-EEDC-4F29-88FE-1B2E8FAFECF4}" type="pres">
      <dgm:prSet presAssocID="{43CFDB8F-23FD-47B9-B359-B2CD2CB51BE0}" presName="root2" presStyleCnt="0"/>
      <dgm:spPr/>
    </dgm:pt>
    <dgm:pt modelId="{B114C741-32C6-4FC0-AE45-2096AF739A54}" type="pres">
      <dgm:prSet presAssocID="{43CFDB8F-23FD-47B9-B359-B2CD2CB51BE0}" presName="LevelTwoTextNode" presStyleLbl="node2" presStyleIdx="1" presStyleCnt="4">
        <dgm:presLayoutVars>
          <dgm:chPref val="3"/>
        </dgm:presLayoutVars>
      </dgm:prSet>
      <dgm:spPr/>
    </dgm:pt>
    <dgm:pt modelId="{D6625686-B00F-4468-9617-607B9D664DCE}" type="pres">
      <dgm:prSet presAssocID="{43CFDB8F-23FD-47B9-B359-B2CD2CB51BE0}" presName="level3hierChild" presStyleCnt="0"/>
      <dgm:spPr/>
    </dgm:pt>
    <dgm:pt modelId="{6AF4A171-C816-4AED-9FF0-357F24B00D40}" type="pres">
      <dgm:prSet presAssocID="{2B6699E5-B0D4-4642-9DDB-5ACC902A9DD5}" presName="conn2-1" presStyleLbl="parChTrans1D2" presStyleIdx="2" presStyleCnt="4"/>
      <dgm:spPr/>
    </dgm:pt>
    <dgm:pt modelId="{9E7A0AF5-F20D-4007-8239-086474D093CD}" type="pres">
      <dgm:prSet presAssocID="{2B6699E5-B0D4-4642-9DDB-5ACC902A9DD5}" presName="connTx" presStyleLbl="parChTrans1D2" presStyleIdx="2" presStyleCnt="4"/>
      <dgm:spPr/>
    </dgm:pt>
    <dgm:pt modelId="{6984F7F1-8973-4139-A280-4768802B46C8}" type="pres">
      <dgm:prSet presAssocID="{AB284ABD-B3E5-4A98-9B6B-00C99F54AE06}" presName="root2" presStyleCnt="0"/>
      <dgm:spPr/>
    </dgm:pt>
    <dgm:pt modelId="{14B1DEA9-4D8A-4E03-8F42-13095D68972A}" type="pres">
      <dgm:prSet presAssocID="{AB284ABD-B3E5-4A98-9B6B-00C99F54AE06}" presName="LevelTwoTextNode" presStyleLbl="node2" presStyleIdx="2" presStyleCnt="4">
        <dgm:presLayoutVars>
          <dgm:chPref val="3"/>
        </dgm:presLayoutVars>
      </dgm:prSet>
      <dgm:spPr/>
    </dgm:pt>
    <dgm:pt modelId="{4CDDE40D-6EFA-4813-B98D-49ED1CCB9E80}" type="pres">
      <dgm:prSet presAssocID="{AB284ABD-B3E5-4A98-9B6B-00C99F54AE06}" presName="level3hierChild" presStyleCnt="0"/>
      <dgm:spPr/>
    </dgm:pt>
    <dgm:pt modelId="{31CD6A1B-05E3-4DD2-8AB9-2C1527F42C56}" type="pres">
      <dgm:prSet presAssocID="{07EDE6E3-09FA-43A0-A537-FA19EC9DBB00}" presName="conn2-1" presStyleLbl="parChTrans1D2" presStyleIdx="3" presStyleCnt="4"/>
      <dgm:spPr/>
    </dgm:pt>
    <dgm:pt modelId="{D5F90E0E-B686-46BA-BCA4-433745F49BC1}" type="pres">
      <dgm:prSet presAssocID="{07EDE6E3-09FA-43A0-A537-FA19EC9DBB00}" presName="connTx" presStyleLbl="parChTrans1D2" presStyleIdx="3" presStyleCnt="4"/>
      <dgm:spPr/>
    </dgm:pt>
    <dgm:pt modelId="{BC4E9B71-3ADC-4B72-AA67-B603B47B570F}" type="pres">
      <dgm:prSet presAssocID="{CC2221A4-4738-494E-8062-B06E21656319}" presName="root2" presStyleCnt="0"/>
      <dgm:spPr/>
    </dgm:pt>
    <dgm:pt modelId="{555D44C2-46B0-48A9-8B6A-52530E450B55}" type="pres">
      <dgm:prSet presAssocID="{CC2221A4-4738-494E-8062-B06E21656319}" presName="LevelTwoTextNode" presStyleLbl="node2" presStyleIdx="3" presStyleCnt="4">
        <dgm:presLayoutVars>
          <dgm:chPref val="3"/>
        </dgm:presLayoutVars>
      </dgm:prSet>
      <dgm:spPr/>
    </dgm:pt>
    <dgm:pt modelId="{E1995BE1-E602-47E4-86CF-DF4AC7C391B8}" type="pres">
      <dgm:prSet presAssocID="{CC2221A4-4738-494E-8062-B06E21656319}" presName="level3hierChild" presStyleCnt="0"/>
      <dgm:spPr/>
    </dgm:pt>
  </dgm:ptLst>
  <dgm:cxnLst>
    <dgm:cxn modelId="{D8B95902-8195-4E69-8DFB-3E0B61B2A8B9}" srcId="{C95EE910-E8F3-43B8-A2D2-5F8B3711F569}" destId="{CC2221A4-4738-494E-8062-B06E21656319}" srcOrd="3" destOrd="0" parTransId="{07EDE6E3-09FA-43A0-A537-FA19EC9DBB00}" sibTransId="{30C95F3C-6482-4615-9D6E-79B446110546}"/>
    <dgm:cxn modelId="{58386A0E-0CCB-430B-80BB-5D8ECC1EA1E5}" type="presOf" srcId="{B93D59B2-15FF-486B-8140-AB4321A31C21}" destId="{4F829FF4-CADE-4791-A354-C23CE9167679}" srcOrd="0" destOrd="0" presId="urn:microsoft.com/office/officeart/2005/8/layout/hierarchy2"/>
    <dgm:cxn modelId="{095CE422-257C-4E93-A8BD-DC8C6A4FAF12}" type="presOf" srcId="{C95EE910-E8F3-43B8-A2D2-5F8B3711F569}" destId="{6841707C-7916-4C46-914F-C7A7C7FB5A82}" srcOrd="0" destOrd="0" presId="urn:microsoft.com/office/officeart/2005/8/layout/hierarchy2"/>
    <dgm:cxn modelId="{ACA60629-20F9-4968-BD4D-FCB2B812463C}" srcId="{C95EE910-E8F3-43B8-A2D2-5F8B3711F569}" destId="{43CFDB8F-23FD-47B9-B359-B2CD2CB51BE0}" srcOrd="1" destOrd="0" parTransId="{D67D435F-23A6-464C-B732-B35C9E53DE00}" sibTransId="{591F0007-1304-41B8-AF00-35C0E0541A08}"/>
    <dgm:cxn modelId="{8EB0ED2B-AB83-4D47-8390-CE9D01735596}" type="presOf" srcId="{D67D435F-23A6-464C-B732-B35C9E53DE00}" destId="{B2AF6544-FE0B-490A-965B-A02C8548FBC0}" srcOrd="0" destOrd="0" presId="urn:microsoft.com/office/officeart/2005/8/layout/hierarchy2"/>
    <dgm:cxn modelId="{17FBDD4C-EBB1-4B79-B376-7E71BBFAE2E4}" type="presOf" srcId="{029BBCFD-E197-4910-89E3-C66B9A545851}" destId="{AA17EA4F-0D9A-47C6-A29C-A3852905211F}" srcOrd="0" destOrd="0" presId="urn:microsoft.com/office/officeart/2005/8/layout/hierarchy2"/>
    <dgm:cxn modelId="{97303551-50CF-4B52-8F7A-BD40F7602B83}" type="presOf" srcId="{AB284ABD-B3E5-4A98-9B6B-00C99F54AE06}" destId="{14B1DEA9-4D8A-4E03-8F42-13095D68972A}" srcOrd="0" destOrd="0" presId="urn:microsoft.com/office/officeart/2005/8/layout/hierarchy2"/>
    <dgm:cxn modelId="{3D0DAF6E-DEE2-4502-8F57-2AF9338BC56D}" srcId="{C95EE910-E8F3-43B8-A2D2-5F8B3711F569}" destId="{029BBCFD-E197-4910-89E3-C66B9A545851}" srcOrd="0" destOrd="0" parTransId="{B93D59B2-15FF-486B-8140-AB4321A31C21}" sibTransId="{6255D2FE-DF86-4880-9601-C06FC48666DD}"/>
    <dgm:cxn modelId="{C22B8D7D-E268-43EE-9A49-D15B64436826}" type="presOf" srcId="{97CC6F99-6898-4FDF-A594-4C5C7678490A}" destId="{70A7F72E-CE7D-4502-91D5-4BA1C272223F}" srcOrd="0" destOrd="0" presId="urn:microsoft.com/office/officeart/2005/8/layout/hierarchy2"/>
    <dgm:cxn modelId="{940B0C95-7508-4B8F-8FC0-123B33CD0361}" type="presOf" srcId="{CC2221A4-4738-494E-8062-B06E21656319}" destId="{555D44C2-46B0-48A9-8B6A-52530E450B55}" srcOrd="0" destOrd="0" presId="urn:microsoft.com/office/officeart/2005/8/layout/hierarchy2"/>
    <dgm:cxn modelId="{CB629098-62AC-4C5F-92A4-5C21F7734C3F}" type="presOf" srcId="{07EDE6E3-09FA-43A0-A537-FA19EC9DBB00}" destId="{31CD6A1B-05E3-4DD2-8AB9-2C1527F42C56}" srcOrd="0" destOrd="0" presId="urn:microsoft.com/office/officeart/2005/8/layout/hierarchy2"/>
    <dgm:cxn modelId="{90D6B7B2-8CE0-49FE-9E34-A2E2E5968C1B}" type="presOf" srcId="{07EDE6E3-09FA-43A0-A537-FA19EC9DBB00}" destId="{D5F90E0E-B686-46BA-BCA4-433745F49BC1}" srcOrd="1" destOrd="0" presId="urn:microsoft.com/office/officeart/2005/8/layout/hierarchy2"/>
    <dgm:cxn modelId="{F9B1BAB6-FC71-4194-A052-CCECF211C0B2}" srcId="{97CC6F99-6898-4FDF-A594-4C5C7678490A}" destId="{C95EE910-E8F3-43B8-A2D2-5F8B3711F569}" srcOrd="0" destOrd="0" parTransId="{D1250A02-9F80-42BF-8FA2-08E6B997CB08}" sibTransId="{1A7F9AA9-6BAC-41A1-9C9D-45AEC89E7CAA}"/>
    <dgm:cxn modelId="{D251B4B7-4D51-440B-B09A-FD251B5CB2D6}" type="presOf" srcId="{2B6699E5-B0D4-4642-9DDB-5ACC902A9DD5}" destId="{9E7A0AF5-F20D-4007-8239-086474D093CD}" srcOrd="1" destOrd="0" presId="urn:microsoft.com/office/officeart/2005/8/layout/hierarchy2"/>
    <dgm:cxn modelId="{1788C8BC-7B8E-449B-920C-A821FF3B9F09}" type="presOf" srcId="{B93D59B2-15FF-486B-8140-AB4321A31C21}" destId="{6FEBC0CE-F045-4B82-B2F0-C2994C4AF2D3}" srcOrd="1" destOrd="0" presId="urn:microsoft.com/office/officeart/2005/8/layout/hierarchy2"/>
    <dgm:cxn modelId="{6CB961E9-EEA8-4218-9DD4-47538923F0D9}" srcId="{C95EE910-E8F3-43B8-A2D2-5F8B3711F569}" destId="{AB284ABD-B3E5-4A98-9B6B-00C99F54AE06}" srcOrd="2" destOrd="0" parTransId="{2B6699E5-B0D4-4642-9DDB-5ACC902A9DD5}" sibTransId="{469AB688-DF37-4560-86BA-7CBF2C93F330}"/>
    <dgm:cxn modelId="{B816F9EA-F759-49AF-833E-7767A93327DE}" type="presOf" srcId="{2B6699E5-B0D4-4642-9DDB-5ACC902A9DD5}" destId="{6AF4A171-C816-4AED-9FF0-357F24B00D40}" srcOrd="0" destOrd="0" presId="urn:microsoft.com/office/officeart/2005/8/layout/hierarchy2"/>
    <dgm:cxn modelId="{FCF516EC-85E0-411B-8128-6B8DD3883CC0}" type="presOf" srcId="{43CFDB8F-23FD-47B9-B359-B2CD2CB51BE0}" destId="{B114C741-32C6-4FC0-AE45-2096AF739A54}" srcOrd="0" destOrd="0" presId="urn:microsoft.com/office/officeart/2005/8/layout/hierarchy2"/>
    <dgm:cxn modelId="{877A63F0-9389-4E34-AE4B-0E44F02D19E9}" type="presOf" srcId="{D67D435F-23A6-464C-B732-B35C9E53DE00}" destId="{7D2F2EB8-BCA9-420C-9779-531D2504D348}" srcOrd="1" destOrd="0" presId="urn:microsoft.com/office/officeart/2005/8/layout/hierarchy2"/>
    <dgm:cxn modelId="{E872C105-7D3F-43E7-A3D0-D8E0A18F1F74}" type="presParOf" srcId="{70A7F72E-CE7D-4502-91D5-4BA1C272223F}" destId="{3ED87105-B691-4606-9E21-3044781F6B2A}" srcOrd="0" destOrd="0" presId="urn:microsoft.com/office/officeart/2005/8/layout/hierarchy2"/>
    <dgm:cxn modelId="{6081DF16-C185-4D76-80B1-639EA2A0B1EE}" type="presParOf" srcId="{3ED87105-B691-4606-9E21-3044781F6B2A}" destId="{6841707C-7916-4C46-914F-C7A7C7FB5A82}" srcOrd="0" destOrd="0" presId="urn:microsoft.com/office/officeart/2005/8/layout/hierarchy2"/>
    <dgm:cxn modelId="{CEE08B52-CA68-4B7C-8033-0AB78D0E9312}" type="presParOf" srcId="{3ED87105-B691-4606-9E21-3044781F6B2A}" destId="{6946CA98-A32F-4F5A-8FEF-F8F41E06F4E8}" srcOrd="1" destOrd="0" presId="urn:microsoft.com/office/officeart/2005/8/layout/hierarchy2"/>
    <dgm:cxn modelId="{A9469DE1-C66E-4A0E-8001-C07E0B6AC289}" type="presParOf" srcId="{6946CA98-A32F-4F5A-8FEF-F8F41E06F4E8}" destId="{4F829FF4-CADE-4791-A354-C23CE9167679}" srcOrd="0" destOrd="0" presId="urn:microsoft.com/office/officeart/2005/8/layout/hierarchy2"/>
    <dgm:cxn modelId="{01F40347-787D-4993-8E29-48DBC9650A3F}" type="presParOf" srcId="{4F829FF4-CADE-4791-A354-C23CE9167679}" destId="{6FEBC0CE-F045-4B82-B2F0-C2994C4AF2D3}" srcOrd="0" destOrd="0" presId="urn:microsoft.com/office/officeart/2005/8/layout/hierarchy2"/>
    <dgm:cxn modelId="{A10F6766-4EB7-4A5B-8DA9-3E6FCF795DC7}" type="presParOf" srcId="{6946CA98-A32F-4F5A-8FEF-F8F41E06F4E8}" destId="{4B33574C-5E3F-4DAD-9E50-B15424272E16}" srcOrd="1" destOrd="0" presId="urn:microsoft.com/office/officeart/2005/8/layout/hierarchy2"/>
    <dgm:cxn modelId="{2D3471F6-8712-49A9-AB56-BED870AE9E37}" type="presParOf" srcId="{4B33574C-5E3F-4DAD-9E50-B15424272E16}" destId="{AA17EA4F-0D9A-47C6-A29C-A3852905211F}" srcOrd="0" destOrd="0" presId="urn:microsoft.com/office/officeart/2005/8/layout/hierarchy2"/>
    <dgm:cxn modelId="{23B6D4AB-C3AE-44A8-BB6A-16716A0DB6EA}" type="presParOf" srcId="{4B33574C-5E3F-4DAD-9E50-B15424272E16}" destId="{504FAFDC-66BA-48C5-997D-EB6226BA5714}" srcOrd="1" destOrd="0" presId="urn:microsoft.com/office/officeart/2005/8/layout/hierarchy2"/>
    <dgm:cxn modelId="{2C56FFFC-9DE8-4EE4-A620-513076A9245F}" type="presParOf" srcId="{6946CA98-A32F-4F5A-8FEF-F8F41E06F4E8}" destId="{B2AF6544-FE0B-490A-965B-A02C8548FBC0}" srcOrd="2" destOrd="0" presId="urn:microsoft.com/office/officeart/2005/8/layout/hierarchy2"/>
    <dgm:cxn modelId="{4CC87D5D-E594-42B6-B593-E0D2FAB4DDDF}" type="presParOf" srcId="{B2AF6544-FE0B-490A-965B-A02C8548FBC0}" destId="{7D2F2EB8-BCA9-420C-9779-531D2504D348}" srcOrd="0" destOrd="0" presId="urn:microsoft.com/office/officeart/2005/8/layout/hierarchy2"/>
    <dgm:cxn modelId="{D4E31051-8DF7-4FFF-85F1-3CE72A079CA2}" type="presParOf" srcId="{6946CA98-A32F-4F5A-8FEF-F8F41E06F4E8}" destId="{B51EF5DE-EEDC-4F29-88FE-1B2E8FAFECF4}" srcOrd="3" destOrd="0" presId="urn:microsoft.com/office/officeart/2005/8/layout/hierarchy2"/>
    <dgm:cxn modelId="{1605CE36-64EB-4F86-A987-939126B9EFF7}" type="presParOf" srcId="{B51EF5DE-EEDC-4F29-88FE-1B2E8FAFECF4}" destId="{B114C741-32C6-4FC0-AE45-2096AF739A54}" srcOrd="0" destOrd="0" presId="urn:microsoft.com/office/officeart/2005/8/layout/hierarchy2"/>
    <dgm:cxn modelId="{CB18387D-FAA3-437E-B691-B2B5AB0E733C}" type="presParOf" srcId="{B51EF5DE-EEDC-4F29-88FE-1B2E8FAFECF4}" destId="{D6625686-B00F-4468-9617-607B9D664DCE}" srcOrd="1" destOrd="0" presId="urn:microsoft.com/office/officeart/2005/8/layout/hierarchy2"/>
    <dgm:cxn modelId="{D90B978C-3D20-48BD-8E14-39E03CBC57F1}" type="presParOf" srcId="{6946CA98-A32F-4F5A-8FEF-F8F41E06F4E8}" destId="{6AF4A171-C816-4AED-9FF0-357F24B00D40}" srcOrd="4" destOrd="0" presId="urn:microsoft.com/office/officeart/2005/8/layout/hierarchy2"/>
    <dgm:cxn modelId="{46BB6AD0-6550-4346-8F9C-84C6A4D33F8E}" type="presParOf" srcId="{6AF4A171-C816-4AED-9FF0-357F24B00D40}" destId="{9E7A0AF5-F20D-4007-8239-086474D093CD}" srcOrd="0" destOrd="0" presId="urn:microsoft.com/office/officeart/2005/8/layout/hierarchy2"/>
    <dgm:cxn modelId="{D0D862FE-3F72-4B10-B849-1CB4BC9703F2}" type="presParOf" srcId="{6946CA98-A32F-4F5A-8FEF-F8F41E06F4E8}" destId="{6984F7F1-8973-4139-A280-4768802B46C8}" srcOrd="5" destOrd="0" presId="urn:microsoft.com/office/officeart/2005/8/layout/hierarchy2"/>
    <dgm:cxn modelId="{21A4E7D0-FB78-4667-ABF7-E882E89069C7}" type="presParOf" srcId="{6984F7F1-8973-4139-A280-4768802B46C8}" destId="{14B1DEA9-4D8A-4E03-8F42-13095D68972A}" srcOrd="0" destOrd="0" presId="urn:microsoft.com/office/officeart/2005/8/layout/hierarchy2"/>
    <dgm:cxn modelId="{04F3FCDF-7CE2-45F9-A6D4-E33AD506387D}" type="presParOf" srcId="{6984F7F1-8973-4139-A280-4768802B46C8}" destId="{4CDDE40D-6EFA-4813-B98D-49ED1CCB9E80}" srcOrd="1" destOrd="0" presId="urn:microsoft.com/office/officeart/2005/8/layout/hierarchy2"/>
    <dgm:cxn modelId="{DA892287-B70D-4B4C-9630-A12A48E15A29}" type="presParOf" srcId="{6946CA98-A32F-4F5A-8FEF-F8F41E06F4E8}" destId="{31CD6A1B-05E3-4DD2-8AB9-2C1527F42C56}" srcOrd="6" destOrd="0" presId="urn:microsoft.com/office/officeart/2005/8/layout/hierarchy2"/>
    <dgm:cxn modelId="{42EA5490-1D6E-470A-8F8E-2C905D923AD9}" type="presParOf" srcId="{31CD6A1B-05E3-4DD2-8AB9-2C1527F42C56}" destId="{D5F90E0E-B686-46BA-BCA4-433745F49BC1}" srcOrd="0" destOrd="0" presId="urn:microsoft.com/office/officeart/2005/8/layout/hierarchy2"/>
    <dgm:cxn modelId="{2D1F8126-879D-45B8-98E0-1EA1AE94F04E}" type="presParOf" srcId="{6946CA98-A32F-4F5A-8FEF-F8F41E06F4E8}" destId="{BC4E9B71-3ADC-4B72-AA67-B603B47B570F}" srcOrd="7" destOrd="0" presId="urn:microsoft.com/office/officeart/2005/8/layout/hierarchy2"/>
    <dgm:cxn modelId="{7AE75C20-0CB5-4F48-9067-1C1E8EDE37FC}" type="presParOf" srcId="{BC4E9B71-3ADC-4B72-AA67-B603B47B570F}" destId="{555D44C2-46B0-48A9-8B6A-52530E450B55}" srcOrd="0" destOrd="0" presId="urn:microsoft.com/office/officeart/2005/8/layout/hierarchy2"/>
    <dgm:cxn modelId="{CA50B017-BEDC-458F-AAED-021776A2889B}" type="presParOf" srcId="{BC4E9B71-3ADC-4B72-AA67-B603B47B570F}" destId="{E1995BE1-E602-47E4-86CF-DF4AC7C391B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CC6F99-6898-4FDF-A594-4C5C7678490A}"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n-GB"/>
        </a:p>
      </dgm:t>
    </dgm:pt>
    <dgm:pt modelId="{C95EE910-E8F3-43B8-A2D2-5F8B3711F569}">
      <dgm:prSet phldrT="[Text]" custT="1"/>
      <dgm:spPr/>
      <dgm:t>
        <a:bodyPr/>
        <a:lstStyle/>
        <a:p>
          <a:r>
            <a:rPr lang="en-GB" sz="3200" dirty="0"/>
            <a:t>NACA</a:t>
          </a:r>
        </a:p>
      </dgm:t>
    </dgm:pt>
    <dgm:pt modelId="{D1250A02-9F80-42BF-8FA2-08E6B997CB08}" type="parTrans" cxnId="{F9B1BAB6-FC71-4194-A052-CCECF211C0B2}">
      <dgm:prSet/>
      <dgm:spPr/>
      <dgm:t>
        <a:bodyPr/>
        <a:lstStyle/>
        <a:p>
          <a:endParaRPr lang="en-GB"/>
        </a:p>
      </dgm:t>
    </dgm:pt>
    <dgm:pt modelId="{1A7F9AA9-6BAC-41A1-9C9D-45AEC89E7CAA}" type="sibTrans" cxnId="{F9B1BAB6-FC71-4194-A052-CCECF211C0B2}">
      <dgm:prSet/>
      <dgm:spPr/>
      <dgm:t>
        <a:bodyPr/>
        <a:lstStyle/>
        <a:p>
          <a:endParaRPr lang="en-GB"/>
        </a:p>
      </dgm:t>
    </dgm:pt>
    <dgm:pt modelId="{029BBCFD-E197-4910-89E3-C66B9A545851}">
      <dgm:prSet phldrT="[Text]" custT="1"/>
      <dgm:spPr/>
      <dgm:t>
        <a:bodyPr/>
        <a:lstStyle/>
        <a:p>
          <a:r>
            <a:rPr lang="en-GB" sz="2000" dirty="0"/>
            <a:t>4 digits</a:t>
          </a:r>
        </a:p>
      </dgm:t>
    </dgm:pt>
    <dgm:pt modelId="{B93D59B2-15FF-486B-8140-AB4321A31C21}" type="parTrans" cxnId="{3D0DAF6E-DEE2-4502-8F57-2AF9338BC56D}">
      <dgm:prSet/>
      <dgm:spPr/>
      <dgm:t>
        <a:bodyPr/>
        <a:lstStyle/>
        <a:p>
          <a:endParaRPr lang="en-GB"/>
        </a:p>
      </dgm:t>
    </dgm:pt>
    <dgm:pt modelId="{6255D2FE-DF86-4880-9601-C06FC48666DD}" type="sibTrans" cxnId="{3D0DAF6E-DEE2-4502-8F57-2AF9338BC56D}">
      <dgm:prSet/>
      <dgm:spPr/>
      <dgm:t>
        <a:bodyPr/>
        <a:lstStyle/>
        <a:p>
          <a:endParaRPr lang="en-GB"/>
        </a:p>
      </dgm:t>
    </dgm:pt>
    <dgm:pt modelId="{AB284ABD-B3E5-4A98-9B6B-00C99F54AE06}">
      <dgm:prSet phldrT="[Text]" custT="1"/>
      <dgm:spPr/>
      <dgm:t>
        <a:bodyPr/>
        <a:lstStyle/>
        <a:p>
          <a:r>
            <a:rPr lang="en-GB" sz="2000" dirty="0"/>
            <a:t>6 digits (laminar) </a:t>
          </a:r>
        </a:p>
      </dgm:t>
    </dgm:pt>
    <dgm:pt modelId="{2B6699E5-B0D4-4642-9DDB-5ACC902A9DD5}" type="parTrans" cxnId="{6CB961E9-EEA8-4218-9DD4-47538923F0D9}">
      <dgm:prSet/>
      <dgm:spPr/>
      <dgm:t>
        <a:bodyPr/>
        <a:lstStyle/>
        <a:p>
          <a:endParaRPr lang="en-GB"/>
        </a:p>
      </dgm:t>
    </dgm:pt>
    <dgm:pt modelId="{469AB688-DF37-4560-86BA-7CBF2C93F330}" type="sibTrans" cxnId="{6CB961E9-EEA8-4218-9DD4-47538923F0D9}">
      <dgm:prSet/>
      <dgm:spPr/>
      <dgm:t>
        <a:bodyPr/>
        <a:lstStyle/>
        <a:p>
          <a:endParaRPr lang="en-GB"/>
        </a:p>
      </dgm:t>
    </dgm:pt>
    <dgm:pt modelId="{43CFDB8F-23FD-47B9-B359-B2CD2CB51BE0}">
      <dgm:prSet phldrT="[Text]" custT="1"/>
      <dgm:spPr/>
      <dgm:t>
        <a:bodyPr/>
        <a:lstStyle/>
        <a:p>
          <a:r>
            <a:rPr lang="en-GB" sz="2000" dirty="0"/>
            <a:t>5 digits</a:t>
          </a:r>
        </a:p>
      </dgm:t>
    </dgm:pt>
    <dgm:pt modelId="{D67D435F-23A6-464C-B732-B35C9E53DE00}" type="parTrans" cxnId="{ACA60629-20F9-4968-BD4D-FCB2B812463C}">
      <dgm:prSet/>
      <dgm:spPr/>
      <dgm:t>
        <a:bodyPr/>
        <a:lstStyle/>
        <a:p>
          <a:endParaRPr lang="en-GB"/>
        </a:p>
      </dgm:t>
    </dgm:pt>
    <dgm:pt modelId="{591F0007-1304-41B8-AF00-35C0E0541A08}" type="sibTrans" cxnId="{ACA60629-20F9-4968-BD4D-FCB2B812463C}">
      <dgm:prSet/>
      <dgm:spPr/>
      <dgm:t>
        <a:bodyPr/>
        <a:lstStyle/>
        <a:p>
          <a:endParaRPr lang="en-GB"/>
        </a:p>
      </dgm:t>
    </dgm:pt>
    <dgm:pt modelId="{CC2221A4-4738-494E-8062-B06E21656319}">
      <dgm:prSet phldrT="[Text]" custT="1"/>
      <dgm:spPr/>
      <dgm:t>
        <a:bodyPr/>
        <a:lstStyle/>
        <a:p>
          <a:r>
            <a:rPr lang="en-GB" sz="2000" dirty="0"/>
            <a:t>…</a:t>
          </a:r>
        </a:p>
      </dgm:t>
    </dgm:pt>
    <dgm:pt modelId="{07EDE6E3-09FA-43A0-A537-FA19EC9DBB00}" type="parTrans" cxnId="{D8B95902-8195-4E69-8DFB-3E0B61B2A8B9}">
      <dgm:prSet/>
      <dgm:spPr/>
      <dgm:t>
        <a:bodyPr/>
        <a:lstStyle/>
        <a:p>
          <a:endParaRPr lang="en-GB"/>
        </a:p>
      </dgm:t>
    </dgm:pt>
    <dgm:pt modelId="{30C95F3C-6482-4615-9D6E-79B446110546}" type="sibTrans" cxnId="{D8B95902-8195-4E69-8DFB-3E0B61B2A8B9}">
      <dgm:prSet/>
      <dgm:spPr/>
      <dgm:t>
        <a:bodyPr/>
        <a:lstStyle/>
        <a:p>
          <a:endParaRPr lang="en-GB"/>
        </a:p>
      </dgm:t>
    </dgm:pt>
    <dgm:pt modelId="{70A7F72E-CE7D-4502-91D5-4BA1C272223F}" type="pres">
      <dgm:prSet presAssocID="{97CC6F99-6898-4FDF-A594-4C5C7678490A}" presName="diagram" presStyleCnt="0">
        <dgm:presLayoutVars>
          <dgm:chPref val="1"/>
          <dgm:dir/>
          <dgm:animOne val="branch"/>
          <dgm:animLvl val="lvl"/>
          <dgm:resizeHandles val="exact"/>
        </dgm:presLayoutVars>
      </dgm:prSet>
      <dgm:spPr/>
    </dgm:pt>
    <dgm:pt modelId="{3ED87105-B691-4606-9E21-3044781F6B2A}" type="pres">
      <dgm:prSet presAssocID="{C95EE910-E8F3-43B8-A2D2-5F8B3711F569}" presName="root1" presStyleCnt="0"/>
      <dgm:spPr/>
    </dgm:pt>
    <dgm:pt modelId="{6841707C-7916-4C46-914F-C7A7C7FB5A82}" type="pres">
      <dgm:prSet presAssocID="{C95EE910-E8F3-43B8-A2D2-5F8B3711F569}" presName="LevelOneTextNode" presStyleLbl="node0" presStyleIdx="0" presStyleCnt="1" custScaleX="82532" custScaleY="71913">
        <dgm:presLayoutVars>
          <dgm:chPref val="3"/>
        </dgm:presLayoutVars>
      </dgm:prSet>
      <dgm:spPr/>
    </dgm:pt>
    <dgm:pt modelId="{6946CA98-A32F-4F5A-8FEF-F8F41E06F4E8}" type="pres">
      <dgm:prSet presAssocID="{C95EE910-E8F3-43B8-A2D2-5F8B3711F569}" presName="level2hierChild" presStyleCnt="0"/>
      <dgm:spPr/>
    </dgm:pt>
    <dgm:pt modelId="{4F829FF4-CADE-4791-A354-C23CE9167679}" type="pres">
      <dgm:prSet presAssocID="{B93D59B2-15FF-486B-8140-AB4321A31C21}" presName="conn2-1" presStyleLbl="parChTrans1D2" presStyleIdx="0" presStyleCnt="4"/>
      <dgm:spPr/>
    </dgm:pt>
    <dgm:pt modelId="{6FEBC0CE-F045-4B82-B2F0-C2994C4AF2D3}" type="pres">
      <dgm:prSet presAssocID="{B93D59B2-15FF-486B-8140-AB4321A31C21}" presName="connTx" presStyleLbl="parChTrans1D2" presStyleIdx="0" presStyleCnt="4"/>
      <dgm:spPr/>
    </dgm:pt>
    <dgm:pt modelId="{4B33574C-5E3F-4DAD-9E50-B15424272E16}" type="pres">
      <dgm:prSet presAssocID="{029BBCFD-E197-4910-89E3-C66B9A545851}" presName="root2" presStyleCnt="0"/>
      <dgm:spPr/>
    </dgm:pt>
    <dgm:pt modelId="{AA17EA4F-0D9A-47C6-A29C-A3852905211F}" type="pres">
      <dgm:prSet presAssocID="{029BBCFD-E197-4910-89E3-C66B9A545851}" presName="LevelTwoTextNode" presStyleLbl="node2" presStyleIdx="0" presStyleCnt="4">
        <dgm:presLayoutVars>
          <dgm:chPref val="3"/>
        </dgm:presLayoutVars>
      </dgm:prSet>
      <dgm:spPr/>
    </dgm:pt>
    <dgm:pt modelId="{504FAFDC-66BA-48C5-997D-EB6226BA5714}" type="pres">
      <dgm:prSet presAssocID="{029BBCFD-E197-4910-89E3-C66B9A545851}" presName="level3hierChild" presStyleCnt="0"/>
      <dgm:spPr/>
    </dgm:pt>
    <dgm:pt modelId="{B2AF6544-FE0B-490A-965B-A02C8548FBC0}" type="pres">
      <dgm:prSet presAssocID="{D67D435F-23A6-464C-B732-B35C9E53DE00}" presName="conn2-1" presStyleLbl="parChTrans1D2" presStyleIdx="1" presStyleCnt="4"/>
      <dgm:spPr/>
    </dgm:pt>
    <dgm:pt modelId="{7D2F2EB8-BCA9-420C-9779-531D2504D348}" type="pres">
      <dgm:prSet presAssocID="{D67D435F-23A6-464C-B732-B35C9E53DE00}" presName="connTx" presStyleLbl="parChTrans1D2" presStyleIdx="1" presStyleCnt="4"/>
      <dgm:spPr/>
    </dgm:pt>
    <dgm:pt modelId="{B51EF5DE-EEDC-4F29-88FE-1B2E8FAFECF4}" type="pres">
      <dgm:prSet presAssocID="{43CFDB8F-23FD-47B9-B359-B2CD2CB51BE0}" presName="root2" presStyleCnt="0"/>
      <dgm:spPr/>
    </dgm:pt>
    <dgm:pt modelId="{B114C741-32C6-4FC0-AE45-2096AF739A54}" type="pres">
      <dgm:prSet presAssocID="{43CFDB8F-23FD-47B9-B359-B2CD2CB51BE0}" presName="LevelTwoTextNode" presStyleLbl="node2" presStyleIdx="1" presStyleCnt="4">
        <dgm:presLayoutVars>
          <dgm:chPref val="3"/>
        </dgm:presLayoutVars>
      </dgm:prSet>
      <dgm:spPr/>
    </dgm:pt>
    <dgm:pt modelId="{D6625686-B00F-4468-9617-607B9D664DCE}" type="pres">
      <dgm:prSet presAssocID="{43CFDB8F-23FD-47B9-B359-B2CD2CB51BE0}" presName="level3hierChild" presStyleCnt="0"/>
      <dgm:spPr/>
    </dgm:pt>
    <dgm:pt modelId="{6AF4A171-C816-4AED-9FF0-357F24B00D40}" type="pres">
      <dgm:prSet presAssocID="{2B6699E5-B0D4-4642-9DDB-5ACC902A9DD5}" presName="conn2-1" presStyleLbl="parChTrans1D2" presStyleIdx="2" presStyleCnt="4"/>
      <dgm:spPr/>
    </dgm:pt>
    <dgm:pt modelId="{9E7A0AF5-F20D-4007-8239-086474D093CD}" type="pres">
      <dgm:prSet presAssocID="{2B6699E5-B0D4-4642-9DDB-5ACC902A9DD5}" presName="connTx" presStyleLbl="parChTrans1D2" presStyleIdx="2" presStyleCnt="4"/>
      <dgm:spPr/>
    </dgm:pt>
    <dgm:pt modelId="{6984F7F1-8973-4139-A280-4768802B46C8}" type="pres">
      <dgm:prSet presAssocID="{AB284ABD-B3E5-4A98-9B6B-00C99F54AE06}" presName="root2" presStyleCnt="0"/>
      <dgm:spPr/>
    </dgm:pt>
    <dgm:pt modelId="{14B1DEA9-4D8A-4E03-8F42-13095D68972A}" type="pres">
      <dgm:prSet presAssocID="{AB284ABD-B3E5-4A98-9B6B-00C99F54AE06}" presName="LevelTwoTextNode" presStyleLbl="node2" presStyleIdx="2" presStyleCnt="4">
        <dgm:presLayoutVars>
          <dgm:chPref val="3"/>
        </dgm:presLayoutVars>
      </dgm:prSet>
      <dgm:spPr/>
    </dgm:pt>
    <dgm:pt modelId="{4CDDE40D-6EFA-4813-B98D-49ED1CCB9E80}" type="pres">
      <dgm:prSet presAssocID="{AB284ABD-B3E5-4A98-9B6B-00C99F54AE06}" presName="level3hierChild" presStyleCnt="0"/>
      <dgm:spPr/>
    </dgm:pt>
    <dgm:pt modelId="{31CD6A1B-05E3-4DD2-8AB9-2C1527F42C56}" type="pres">
      <dgm:prSet presAssocID="{07EDE6E3-09FA-43A0-A537-FA19EC9DBB00}" presName="conn2-1" presStyleLbl="parChTrans1D2" presStyleIdx="3" presStyleCnt="4"/>
      <dgm:spPr/>
    </dgm:pt>
    <dgm:pt modelId="{D5F90E0E-B686-46BA-BCA4-433745F49BC1}" type="pres">
      <dgm:prSet presAssocID="{07EDE6E3-09FA-43A0-A537-FA19EC9DBB00}" presName="connTx" presStyleLbl="parChTrans1D2" presStyleIdx="3" presStyleCnt="4"/>
      <dgm:spPr/>
    </dgm:pt>
    <dgm:pt modelId="{BC4E9B71-3ADC-4B72-AA67-B603B47B570F}" type="pres">
      <dgm:prSet presAssocID="{CC2221A4-4738-494E-8062-B06E21656319}" presName="root2" presStyleCnt="0"/>
      <dgm:spPr/>
    </dgm:pt>
    <dgm:pt modelId="{555D44C2-46B0-48A9-8B6A-52530E450B55}" type="pres">
      <dgm:prSet presAssocID="{CC2221A4-4738-494E-8062-B06E21656319}" presName="LevelTwoTextNode" presStyleLbl="node2" presStyleIdx="3" presStyleCnt="4">
        <dgm:presLayoutVars>
          <dgm:chPref val="3"/>
        </dgm:presLayoutVars>
      </dgm:prSet>
      <dgm:spPr/>
    </dgm:pt>
    <dgm:pt modelId="{E1995BE1-E602-47E4-86CF-DF4AC7C391B8}" type="pres">
      <dgm:prSet presAssocID="{CC2221A4-4738-494E-8062-B06E21656319}" presName="level3hierChild" presStyleCnt="0"/>
      <dgm:spPr/>
    </dgm:pt>
  </dgm:ptLst>
  <dgm:cxnLst>
    <dgm:cxn modelId="{D8B95902-8195-4E69-8DFB-3E0B61B2A8B9}" srcId="{C95EE910-E8F3-43B8-A2D2-5F8B3711F569}" destId="{CC2221A4-4738-494E-8062-B06E21656319}" srcOrd="3" destOrd="0" parTransId="{07EDE6E3-09FA-43A0-A537-FA19EC9DBB00}" sibTransId="{30C95F3C-6482-4615-9D6E-79B446110546}"/>
    <dgm:cxn modelId="{58386A0E-0CCB-430B-80BB-5D8ECC1EA1E5}" type="presOf" srcId="{B93D59B2-15FF-486B-8140-AB4321A31C21}" destId="{4F829FF4-CADE-4791-A354-C23CE9167679}" srcOrd="0" destOrd="0" presId="urn:microsoft.com/office/officeart/2005/8/layout/hierarchy2"/>
    <dgm:cxn modelId="{095CE422-257C-4E93-A8BD-DC8C6A4FAF12}" type="presOf" srcId="{C95EE910-E8F3-43B8-A2D2-5F8B3711F569}" destId="{6841707C-7916-4C46-914F-C7A7C7FB5A82}" srcOrd="0" destOrd="0" presId="urn:microsoft.com/office/officeart/2005/8/layout/hierarchy2"/>
    <dgm:cxn modelId="{ACA60629-20F9-4968-BD4D-FCB2B812463C}" srcId="{C95EE910-E8F3-43B8-A2D2-5F8B3711F569}" destId="{43CFDB8F-23FD-47B9-B359-B2CD2CB51BE0}" srcOrd="1" destOrd="0" parTransId="{D67D435F-23A6-464C-B732-B35C9E53DE00}" sibTransId="{591F0007-1304-41B8-AF00-35C0E0541A08}"/>
    <dgm:cxn modelId="{8EB0ED2B-AB83-4D47-8390-CE9D01735596}" type="presOf" srcId="{D67D435F-23A6-464C-B732-B35C9E53DE00}" destId="{B2AF6544-FE0B-490A-965B-A02C8548FBC0}" srcOrd="0" destOrd="0" presId="urn:microsoft.com/office/officeart/2005/8/layout/hierarchy2"/>
    <dgm:cxn modelId="{17FBDD4C-EBB1-4B79-B376-7E71BBFAE2E4}" type="presOf" srcId="{029BBCFD-E197-4910-89E3-C66B9A545851}" destId="{AA17EA4F-0D9A-47C6-A29C-A3852905211F}" srcOrd="0" destOrd="0" presId="urn:microsoft.com/office/officeart/2005/8/layout/hierarchy2"/>
    <dgm:cxn modelId="{97303551-50CF-4B52-8F7A-BD40F7602B83}" type="presOf" srcId="{AB284ABD-B3E5-4A98-9B6B-00C99F54AE06}" destId="{14B1DEA9-4D8A-4E03-8F42-13095D68972A}" srcOrd="0" destOrd="0" presId="urn:microsoft.com/office/officeart/2005/8/layout/hierarchy2"/>
    <dgm:cxn modelId="{3D0DAF6E-DEE2-4502-8F57-2AF9338BC56D}" srcId="{C95EE910-E8F3-43B8-A2D2-5F8B3711F569}" destId="{029BBCFD-E197-4910-89E3-C66B9A545851}" srcOrd="0" destOrd="0" parTransId="{B93D59B2-15FF-486B-8140-AB4321A31C21}" sibTransId="{6255D2FE-DF86-4880-9601-C06FC48666DD}"/>
    <dgm:cxn modelId="{C22B8D7D-E268-43EE-9A49-D15B64436826}" type="presOf" srcId="{97CC6F99-6898-4FDF-A594-4C5C7678490A}" destId="{70A7F72E-CE7D-4502-91D5-4BA1C272223F}" srcOrd="0" destOrd="0" presId="urn:microsoft.com/office/officeart/2005/8/layout/hierarchy2"/>
    <dgm:cxn modelId="{940B0C95-7508-4B8F-8FC0-123B33CD0361}" type="presOf" srcId="{CC2221A4-4738-494E-8062-B06E21656319}" destId="{555D44C2-46B0-48A9-8B6A-52530E450B55}" srcOrd="0" destOrd="0" presId="urn:microsoft.com/office/officeart/2005/8/layout/hierarchy2"/>
    <dgm:cxn modelId="{CB629098-62AC-4C5F-92A4-5C21F7734C3F}" type="presOf" srcId="{07EDE6E3-09FA-43A0-A537-FA19EC9DBB00}" destId="{31CD6A1B-05E3-4DD2-8AB9-2C1527F42C56}" srcOrd="0" destOrd="0" presId="urn:microsoft.com/office/officeart/2005/8/layout/hierarchy2"/>
    <dgm:cxn modelId="{90D6B7B2-8CE0-49FE-9E34-A2E2E5968C1B}" type="presOf" srcId="{07EDE6E3-09FA-43A0-A537-FA19EC9DBB00}" destId="{D5F90E0E-B686-46BA-BCA4-433745F49BC1}" srcOrd="1" destOrd="0" presId="urn:microsoft.com/office/officeart/2005/8/layout/hierarchy2"/>
    <dgm:cxn modelId="{F9B1BAB6-FC71-4194-A052-CCECF211C0B2}" srcId="{97CC6F99-6898-4FDF-A594-4C5C7678490A}" destId="{C95EE910-E8F3-43B8-A2D2-5F8B3711F569}" srcOrd="0" destOrd="0" parTransId="{D1250A02-9F80-42BF-8FA2-08E6B997CB08}" sibTransId="{1A7F9AA9-6BAC-41A1-9C9D-45AEC89E7CAA}"/>
    <dgm:cxn modelId="{D251B4B7-4D51-440B-B09A-FD251B5CB2D6}" type="presOf" srcId="{2B6699E5-B0D4-4642-9DDB-5ACC902A9DD5}" destId="{9E7A0AF5-F20D-4007-8239-086474D093CD}" srcOrd="1" destOrd="0" presId="urn:microsoft.com/office/officeart/2005/8/layout/hierarchy2"/>
    <dgm:cxn modelId="{1788C8BC-7B8E-449B-920C-A821FF3B9F09}" type="presOf" srcId="{B93D59B2-15FF-486B-8140-AB4321A31C21}" destId="{6FEBC0CE-F045-4B82-B2F0-C2994C4AF2D3}" srcOrd="1" destOrd="0" presId="urn:microsoft.com/office/officeart/2005/8/layout/hierarchy2"/>
    <dgm:cxn modelId="{6CB961E9-EEA8-4218-9DD4-47538923F0D9}" srcId="{C95EE910-E8F3-43B8-A2D2-5F8B3711F569}" destId="{AB284ABD-B3E5-4A98-9B6B-00C99F54AE06}" srcOrd="2" destOrd="0" parTransId="{2B6699E5-B0D4-4642-9DDB-5ACC902A9DD5}" sibTransId="{469AB688-DF37-4560-86BA-7CBF2C93F330}"/>
    <dgm:cxn modelId="{B816F9EA-F759-49AF-833E-7767A93327DE}" type="presOf" srcId="{2B6699E5-B0D4-4642-9DDB-5ACC902A9DD5}" destId="{6AF4A171-C816-4AED-9FF0-357F24B00D40}" srcOrd="0" destOrd="0" presId="urn:microsoft.com/office/officeart/2005/8/layout/hierarchy2"/>
    <dgm:cxn modelId="{FCF516EC-85E0-411B-8128-6B8DD3883CC0}" type="presOf" srcId="{43CFDB8F-23FD-47B9-B359-B2CD2CB51BE0}" destId="{B114C741-32C6-4FC0-AE45-2096AF739A54}" srcOrd="0" destOrd="0" presId="urn:microsoft.com/office/officeart/2005/8/layout/hierarchy2"/>
    <dgm:cxn modelId="{877A63F0-9389-4E34-AE4B-0E44F02D19E9}" type="presOf" srcId="{D67D435F-23A6-464C-B732-B35C9E53DE00}" destId="{7D2F2EB8-BCA9-420C-9779-531D2504D348}" srcOrd="1" destOrd="0" presId="urn:microsoft.com/office/officeart/2005/8/layout/hierarchy2"/>
    <dgm:cxn modelId="{E872C105-7D3F-43E7-A3D0-D8E0A18F1F74}" type="presParOf" srcId="{70A7F72E-CE7D-4502-91D5-4BA1C272223F}" destId="{3ED87105-B691-4606-9E21-3044781F6B2A}" srcOrd="0" destOrd="0" presId="urn:microsoft.com/office/officeart/2005/8/layout/hierarchy2"/>
    <dgm:cxn modelId="{6081DF16-C185-4D76-80B1-639EA2A0B1EE}" type="presParOf" srcId="{3ED87105-B691-4606-9E21-3044781F6B2A}" destId="{6841707C-7916-4C46-914F-C7A7C7FB5A82}" srcOrd="0" destOrd="0" presId="urn:microsoft.com/office/officeart/2005/8/layout/hierarchy2"/>
    <dgm:cxn modelId="{CEE08B52-CA68-4B7C-8033-0AB78D0E9312}" type="presParOf" srcId="{3ED87105-B691-4606-9E21-3044781F6B2A}" destId="{6946CA98-A32F-4F5A-8FEF-F8F41E06F4E8}" srcOrd="1" destOrd="0" presId="urn:microsoft.com/office/officeart/2005/8/layout/hierarchy2"/>
    <dgm:cxn modelId="{A9469DE1-C66E-4A0E-8001-C07E0B6AC289}" type="presParOf" srcId="{6946CA98-A32F-4F5A-8FEF-F8F41E06F4E8}" destId="{4F829FF4-CADE-4791-A354-C23CE9167679}" srcOrd="0" destOrd="0" presId="urn:microsoft.com/office/officeart/2005/8/layout/hierarchy2"/>
    <dgm:cxn modelId="{01F40347-787D-4993-8E29-48DBC9650A3F}" type="presParOf" srcId="{4F829FF4-CADE-4791-A354-C23CE9167679}" destId="{6FEBC0CE-F045-4B82-B2F0-C2994C4AF2D3}" srcOrd="0" destOrd="0" presId="urn:microsoft.com/office/officeart/2005/8/layout/hierarchy2"/>
    <dgm:cxn modelId="{A10F6766-4EB7-4A5B-8DA9-3E6FCF795DC7}" type="presParOf" srcId="{6946CA98-A32F-4F5A-8FEF-F8F41E06F4E8}" destId="{4B33574C-5E3F-4DAD-9E50-B15424272E16}" srcOrd="1" destOrd="0" presId="urn:microsoft.com/office/officeart/2005/8/layout/hierarchy2"/>
    <dgm:cxn modelId="{2D3471F6-8712-49A9-AB56-BED870AE9E37}" type="presParOf" srcId="{4B33574C-5E3F-4DAD-9E50-B15424272E16}" destId="{AA17EA4F-0D9A-47C6-A29C-A3852905211F}" srcOrd="0" destOrd="0" presId="urn:microsoft.com/office/officeart/2005/8/layout/hierarchy2"/>
    <dgm:cxn modelId="{23B6D4AB-C3AE-44A8-BB6A-16716A0DB6EA}" type="presParOf" srcId="{4B33574C-5E3F-4DAD-9E50-B15424272E16}" destId="{504FAFDC-66BA-48C5-997D-EB6226BA5714}" srcOrd="1" destOrd="0" presId="urn:microsoft.com/office/officeart/2005/8/layout/hierarchy2"/>
    <dgm:cxn modelId="{2C56FFFC-9DE8-4EE4-A620-513076A9245F}" type="presParOf" srcId="{6946CA98-A32F-4F5A-8FEF-F8F41E06F4E8}" destId="{B2AF6544-FE0B-490A-965B-A02C8548FBC0}" srcOrd="2" destOrd="0" presId="urn:microsoft.com/office/officeart/2005/8/layout/hierarchy2"/>
    <dgm:cxn modelId="{4CC87D5D-E594-42B6-B593-E0D2FAB4DDDF}" type="presParOf" srcId="{B2AF6544-FE0B-490A-965B-A02C8548FBC0}" destId="{7D2F2EB8-BCA9-420C-9779-531D2504D348}" srcOrd="0" destOrd="0" presId="urn:microsoft.com/office/officeart/2005/8/layout/hierarchy2"/>
    <dgm:cxn modelId="{D4E31051-8DF7-4FFF-85F1-3CE72A079CA2}" type="presParOf" srcId="{6946CA98-A32F-4F5A-8FEF-F8F41E06F4E8}" destId="{B51EF5DE-EEDC-4F29-88FE-1B2E8FAFECF4}" srcOrd="3" destOrd="0" presId="urn:microsoft.com/office/officeart/2005/8/layout/hierarchy2"/>
    <dgm:cxn modelId="{1605CE36-64EB-4F86-A987-939126B9EFF7}" type="presParOf" srcId="{B51EF5DE-EEDC-4F29-88FE-1B2E8FAFECF4}" destId="{B114C741-32C6-4FC0-AE45-2096AF739A54}" srcOrd="0" destOrd="0" presId="urn:microsoft.com/office/officeart/2005/8/layout/hierarchy2"/>
    <dgm:cxn modelId="{CB18387D-FAA3-437E-B691-B2B5AB0E733C}" type="presParOf" srcId="{B51EF5DE-EEDC-4F29-88FE-1B2E8FAFECF4}" destId="{D6625686-B00F-4468-9617-607B9D664DCE}" srcOrd="1" destOrd="0" presId="urn:microsoft.com/office/officeart/2005/8/layout/hierarchy2"/>
    <dgm:cxn modelId="{D90B978C-3D20-48BD-8E14-39E03CBC57F1}" type="presParOf" srcId="{6946CA98-A32F-4F5A-8FEF-F8F41E06F4E8}" destId="{6AF4A171-C816-4AED-9FF0-357F24B00D40}" srcOrd="4" destOrd="0" presId="urn:microsoft.com/office/officeart/2005/8/layout/hierarchy2"/>
    <dgm:cxn modelId="{46BB6AD0-6550-4346-8F9C-84C6A4D33F8E}" type="presParOf" srcId="{6AF4A171-C816-4AED-9FF0-357F24B00D40}" destId="{9E7A0AF5-F20D-4007-8239-086474D093CD}" srcOrd="0" destOrd="0" presId="urn:microsoft.com/office/officeart/2005/8/layout/hierarchy2"/>
    <dgm:cxn modelId="{D0D862FE-3F72-4B10-B849-1CB4BC9703F2}" type="presParOf" srcId="{6946CA98-A32F-4F5A-8FEF-F8F41E06F4E8}" destId="{6984F7F1-8973-4139-A280-4768802B46C8}" srcOrd="5" destOrd="0" presId="urn:microsoft.com/office/officeart/2005/8/layout/hierarchy2"/>
    <dgm:cxn modelId="{21A4E7D0-FB78-4667-ABF7-E882E89069C7}" type="presParOf" srcId="{6984F7F1-8973-4139-A280-4768802B46C8}" destId="{14B1DEA9-4D8A-4E03-8F42-13095D68972A}" srcOrd="0" destOrd="0" presId="urn:microsoft.com/office/officeart/2005/8/layout/hierarchy2"/>
    <dgm:cxn modelId="{04F3FCDF-7CE2-45F9-A6D4-E33AD506387D}" type="presParOf" srcId="{6984F7F1-8973-4139-A280-4768802B46C8}" destId="{4CDDE40D-6EFA-4813-B98D-49ED1CCB9E80}" srcOrd="1" destOrd="0" presId="urn:microsoft.com/office/officeart/2005/8/layout/hierarchy2"/>
    <dgm:cxn modelId="{DA892287-B70D-4B4C-9630-A12A48E15A29}" type="presParOf" srcId="{6946CA98-A32F-4F5A-8FEF-F8F41E06F4E8}" destId="{31CD6A1B-05E3-4DD2-8AB9-2C1527F42C56}" srcOrd="6" destOrd="0" presId="urn:microsoft.com/office/officeart/2005/8/layout/hierarchy2"/>
    <dgm:cxn modelId="{42EA5490-1D6E-470A-8F8E-2C905D923AD9}" type="presParOf" srcId="{31CD6A1B-05E3-4DD2-8AB9-2C1527F42C56}" destId="{D5F90E0E-B686-46BA-BCA4-433745F49BC1}" srcOrd="0" destOrd="0" presId="urn:microsoft.com/office/officeart/2005/8/layout/hierarchy2"/>
    <dgm:cxn modelId="{2D1F8126-879D-45B8-98E0-1EA1AE94F04E}" type="presParOf" srcId="{6946CA98-A32F-4F5A-8FEF-F8F41E06F4E8}" destId="{BC4E9B71-3ADC-4B72-AA67-B603B47B570F}" srcOrd="7" destOrd="0" presId="urn:microsoft.com/office/officeart/2005/8/layout/hierarchy2"/>
    <dgm:cxn modelId="{7AE75C20-0CB5-4F48-9067-1C1E8EDE37FC}" type="presParOf" srcId="{BC4E9B71-3ADC-4B72-AA67-B603B47B570F}" destId="{555D44C2-46B0-48A9-8B6A-52530E450B55}" srcOrd="0" destOrd="0" presId="urn:microsoft.com/office/officeart/2005/8/layout/hierarchy2"/>
    <dgm:cxn modelId="{CA50B017-BEDC-458F-AAED-021776A2889B}" type="presParOf" srcId="{BC4E9B71-3ADC-4B72-AA67-B603B47B570F}" destId="{E1995BE1-E602-47E4-86CF-DF4AC7C391B8}"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1707C-7916-4C46-914F-C7A7C7FB5A82}">
      <dsp:nvSpPr>
        <dsp:cNvPr id="0" name=""/>
        <dsp:cNvSpPr/>
      </dsp:nvSpPr>
      <dsp:spPr>
        <a:xfrm>
          <a:off x="442240" y="1388671"/>
          <a:ext cx="1228057" cy="53502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NACA</a:t>
          </a:r>
        </a:p>
      </dsp:txBody>
      <dsp:txXfrm>
        <a:off x="457910" y="1404341"/>
        <a:ext cx="1196717" cy="503684"/>
      </dsp:txXfrm>
    </dsp:sp>
    <dsp:sp modelId="{4F829FF4-CADE-4791-A354-C23CE9167679}">
      <dsp:nvSpPr>
        <dsp:cNvPr id="0" name=""/>
        <dsp:cNvSpPr/>
      </dsp:nvSpPr>
      <dsp:spPr>
        <a:xfrm rot="17692822">
          <a:off x="1260554" y="994278"/>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979126"/>
        <a:ext cx="70733" cy="70733"/>
      </dsp:txXfrm>
    </dsp:sp>
    <dsp:sp modelId="{AA17EA4F-0D9A-47C6-A29C-A3852905211F}">
      <dsp:nvSpPr>
        <dsp:cNvPr id="0" name=""/>
        <dsp:cNvSpPr/>
      </dsp:nvSpPr>
      <dsp:spPr>
        <a:xfrm>
          <a:off x="2265489" y="808"/>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4 digits</a:t>
          </a:r>
        </a:p>
      </dsp:txBody>
      <dsp:txXfrm>
        <a:off x="2287280" y="22599"/>
        <a:ext cx="1444395" cy="700406"/>
      </dsp:txXfrm>
    </dsp:sp>
    <dsp:sp modelId="{B2AF6544-FE0B-490A-965B-A02C8548FBC0}">
      <dsp:nvSpPr>
        <dsp:cNvPr id="0" name=""/>
        <dsp:cNvSpPr/>
      </dsp:nvSpPr>
      <dsp:spPr>
        <a:xfrm rot="19457599">
          <a:off x="1601403" y="1422072"/>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423962"/>
        <a:ext cx="36649" cy="36649"/>
      </dsp:txXfrm>
    </dsp:sp>
    <dsp:sp modelId="{B114C741-32C6-4FC0-AE45-2096AF739A54}">
      <dsp:nvSpPr>
        <dsp:cNvPr id="0" name=""/>
        <dsp:cNvSpPr/>
      </dsp:nvSpPr>
      <dsp:spPr>
        <a:xfrm>
          <a:off x="2265489" y="856395"/>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5 digits</a:t>
          </a:r>
        </a:p>
      </dsp:txBody>
      <dsp:txXfrm>
        <a:off x="2287280" y="878186"/>
        <a:ext cx="1444395" cy="700406"/>
      </dsp:txXfrm>
    </dsp:sp>
    <dsp:sp modelId="{6AF4A171-C816-4AED-9FF0-357F24B00D40}">
      <dsp:nvSpPr>
        <dsp:cNvPr id="0" name=""/>
        <dsp:cNvSpPr/>
      </dsp:nvSpPr>
      <dsp:spPr>
        <a:xfrm rot="2142401">
          <a:off x="1601403" y="1849865"/>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851756"/>
        <a:ext cx="36649" cy="36649"/>
      </dsp:txXfrm>
    </dsp:sp>
    <dsp:sp modelId="{14B1DEA9-4D8A-4E03-8F42-13095D68972A}">
      <dsp:nvSpPr>
        <dsp:cNvPr id="0" name=""/>
        <dsp:cNvSpPr/>
      </dsp:nvSpPr>
      <dsp:spPr>
        <a:xfrm>
          <a:off x="2265489" y="1711983"/>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6 digits (laminar) </a:t>
          </a:r>
        </a:p>
      </dsp:txBody>
      <dsp:txXfrm>
        <a:off x="2287280" y="1733774"/>
        <a:ext cx="1444395" cy="700406"/>
      </dsp:txXfrm>
    </dsp:sp>
    <dsp:sp modelId="{31CD6A1B-05E3-4DD2-8AB9-2C1527F42C56}">
      <dsp:nvSpPr>
        <dsp:cNvPr id="0" name=""/>
        <dsp:cNvSpPr/>
      </dsp:nvSpPr>
      <dsp:spPr>
        <a:xfrm rot="3907178">
          <a:off x="1260554" y="2277659"/>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2262507"/>
        <a:ext cx="70733" cy="70733"/>
      </dsp:txXfrm>
    </dsp:sp>
    <dsp:sp modelId="{555D44C2-46B0-48A9-8B6A-52530E450B55}">
      <dsp:nvSpPr>
        <dsp:cNvPr id="0" name=""/>
        <dsp:cNvSpPr/>
      </dsp:nvSpPr>
      <dsp:spPr>
        <a:xfrm>
          <a:off x="2265489" y="2567570"/>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2287280" y="2589361"/>
        <a:ext cx="1444395" cy="700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1707C-7916-4C46-914F-C7A7C7FB5A82}">
      <dsp:nvSpPr>
        <dsp:cNvPr id="0" name=""/>
        <dsp:cNvSpPr/>
      </dsp:nvSpPr>
      <dsp:spPr>
        <a:xfrm>
          <a:off x="442240" y="1388671"/>
          <a:ext cx="1228057" cy="53502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NACA</a:t>
          </a:r>
        </a:p>
      </dsp:txBody>
      <dsp:txXfrm>
        <a:off x="457910" y="1404341"/>
        <a:ext cx="1196717" cy="503684"/>
      </dsp:txXfrm>
    </dsp:sp>
    <dsp:sp modelId="{4F829FF4-CADE-4791-A354-C23CE9167679}">
      <dsp:nvSpPr>
        <dsp:cNvPr id="0" name=""/>
        <dsp:cNvSpPr/>
      </dsp:nvSpPr>
      <dsp:spPr>
        <a:xfrm rot="17692822">
          <a:off x="1260554" y="994278"/>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979126"/>
        <a:ext cx="70733" cy="70733"/>
      </dsp:txXfrm>
    </dsp:sp>
    <dsp:sp modelId="{AA17EA4F-0D9A-47C6-A29C-A3852905211F}">
      <dsp:nvSpPr>
        <dsp:cNvPr id="0" name=""/>
        <dsp:cNvSpPr/>
      </dsp:nvSpPr>
      <dsp:spPr>
        <a:xfrm>
          <a:off x="2265489" y="808"/>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4 digits</a:t>
          </a:r>
        </a:p>
      </dsp:txBody>
      <dsp:txXfrm>
        <a:off x="2287280" y="22599"/>
        <a:ext cx="1444395" cy="700406"/>
      </dsp:txXfrm>
    </dsp:sp>
    <dsp:sp modelId="{B2AF6544-FE0B-490A-965B-A02C8548FBC0}">
      <dsp:nvSpPr>
        <dsp:cNvPr id="0" name=""/>
        <dsp:cNvSpPr/>
      </dsp:nvSpPr>
      <dsp:spPr>
        <a:xfrm rot="19457599">
          <a:off x="1601403" y="1422072"/>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423962"/>
        <a:ext cx="36649" cy="36649"/>
      </dsp:txXfrm>
    </dsp:sp>
    <dsp:sp modelId="{B114C741-32C6-4FC0-AE45-2096AF739A54}">
      <dsp:nvSpPr>
        <dsp:cNvPr id="0" name=""/>
        <dsp:cNvSpPr/>
      </dsp:nvSpPr>
      <dsp:spPr>
        <a:xfrm>
          <a:off x="2265489" y="856395"/>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5 digits</a:t>
          </a:r>
        </a:p>
      </dsp:txBody>
      <dsp:txXfrm>
        <a:off x="2287280" y="878186"/>
        <a:ext cx="1444395" cy="700406"/>
      </dsp:txXfrm>
    </dsp:sp>
    <dsp:sp modelId="{6AF4A171-C816-4AED-9FF0-357F24B00D40}">
      <dsp:nvSpPr>
        <dsp:cNvPr id="0" name=""/>
        <dsp:cNvSpPr/>
      </dsp:nvSpPr>
      <dsp:spPr>
        <a:xfrm rot="2142401">
          <a:off x="1601403" y="1849865"/>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851756"/>
        <a:ext cx="36649" cy="36649"/>
      </dsp:txXfrm>
    </dsp:sp>
    <dsp:sp modelId="{14B1DEA9-4D8A-4E03-8F42-13095D68972A}">
      <dsp:nvSpPr>
        <dsp:cNvPr id="0" name=""/>
        <dsp:cNvSpPr/>
      </dsp:nvSpPr>
      <dsp:spPr>
        <a:xfrm>
          <a:off x="2265489" y="1711983"/>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6 digits (laminar) </a:t>
          </a:r>
        </a:p>
      </dsp:txBody>
      <dsp:txXfrm>
        <a:off x="2287280" y="1733774"/>
        <a:ext cx="1444395" cy="700406"/>
      </dsp:txXfrm>
    </dsp:sp>
    <dsp:sp modelId="{31CD6A1B-05E3-4DD2-8AB9-2C1527F42C56}">
      <dsp:nvSpPr>
        <dsp:cNvPr id="0" name=""/>
        <dsp:cNvSpPr/>
      </dsp:nvSpPr>
      <dsp:spPr>
        <a:xfrm rot="3907178">
          <a:off x="1260554" y="2277659"/>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2262507"/>
        <a:ext cx="70733" cy="70733"/>
      </dsp:txXfrm>
    </dsp:sp>
    <dsp:sp modelId="{555D44C2-46B0-48A9-8B6A-52530E450B55}">
      <dsp:nvSpPr>
        <dsp:cNvPr id="0" name=""/>
        <dsp:cNvSpPr/>
      </dsp:nvSpPr>
      <dsp:spPr>
        <a:xfrm>
          <a:off x="2265489" y="2567570"/>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2287280" y="2589361"/>
        <a:ext cx="1444395" cy="7004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1707C-7916-4C46-914F-C7A7C7FB5A82}">
      <dsp:nvSpPr>
        <dsp:cNvPr id="0" name=""/>
        <dsp:cNvSpPr/>
      </dsp:nvSpPr>
      <dsp:spPr>
        <a:xfrm>
          <a:off x="442240" y="1388671"/>
          <a:ext cx="1228057" cy="535024"/>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GB" sz="3200" kern="1200" dirty="0"/>
            <a:t>NACA</a:t>
          </a:r>
        </a:p>
      </dsp:txBody>
      <dsp:txXfrm>
        <a:off x="457910" y="1404341"/>
        <a:ext cx="1196717" cy="503684"/>
      </dsp:txXfrm>
    </dsp:sp>
    <dsp:sp modelId="{4F829FF4-CADE-4791-A354-C23CE9167679}">
      <dsp:nvSpPr>
        <dsp:cNvPr id="0" name=""/>
        <dsp:cNvSpPr/>
      </dsp:nvSpPr>
      <dsp:spPr>
        <a:xfrm rot="17692822">
          <a:off x="1260554" y="994278"/>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979126"/>
        <a:ext cx="70733" cy="70733"/>
      </dsp:txXfrm>
    </dsp:sp>
    <dsp:sp modelId="{AA17EA4F-0D9A-47C6-A29C-A3852905211F}">
      <dsp:nvSpPr>
        <dsp:cNvPr id="0" name=""/>
        <dsp:cNvSpPr/>
      </dsp:nvSpPr>
      <dsp:spPr>
        <a:xfrm>
          <a:off x="2265489" y="808"/>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4 digits</a:t>
          </a:r>
        </a:p>
      </dsp:txBody>
      <dsp:txXfrm>
        <a:off x="2287280" y="22599"/>
        <a:ext cx="1444395" cy="700406"/>
      </dsp:txXfrm>
    </dsp:sp>
    <dsp:sp modelId="{B2AF6544-FE0B-490A-965B-A02C8548FBC0}">
      <dsp:nvSpPr>
        <dsp:cNvPr id="0" name=""/>
        <dsp:cNvSpPr/>
      </dsp:nvSpPr>
      <dsp:spPr>
        <a:xfrm rot="19457599">
          <a:off x="1601403" y="1422072"/>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423962"/>
        <a:ext cx="36649" cy="36649"/>
      </dsp:txXfrm>
    </dsp:sp>
    <dsp:sp modelId="{B114C741-32C6-4FC0-AE45-2096AF739A54}">
      <dsp:nvSpPr>
        <dsp:cNvPr id="0" name=""/>
        <dsp:cNvSpPr/>
      </dsp:nvSpPr>
      <dsp:spPr>
        <a:xfrm>
          <a:off x="2265489" y="856395"/>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5 digits</a:t>
          </a:r>
        </a:p>
      </dsp:txBody>
      <dsp:txXfrm>
        <a:off x="2287280" y="878186"/>
        <a:ext cx="1444395" cy="700406"/>
      </dsp:txXfrm>
    </dsp:sp>
    <dsp:sp modelId="{6AF4A171-C816-4AED-9FF0-357F24B00D40}">
      <dsp:nvSpPr>
        <dsp:cNvPr id="0" name=""/>
        <dsp:cNvSpPr/>
      </dsp:nvSpPr>
      <dsp:spPr>
        <a:xfrm rot="2142401">
          <a:off x="1601403" y="1849865"/>
          <a:ext cx="732980" cy="40429"/>
        </a:xfrm>
        <a:custGeom>
          <a:avLst/>
          <a:gdLst/>
          <a:ahLst/>
          <a:cxnLst/>
          <a:rect l="0" t="0" r="0" b="0"/>
          <a:pathLst>
            <a:path>
              <a:moveTo>
                <a:pt x="0" y="20214"/>
              </a:moveTo>
              <a:lnTo>
                <a:pt x="732980"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49569" y="1851756"/>
        <a:ext cx="36649" cy="36649"/>
      </dsp:txXfrm>
    </dsp:sp>
    <dsp:sp modelId="{14B1DEA9-4D8A-4E03-8F42-13095D68972A}">
      <dsp:nvSpPr>
        <dsp:cNvPr id="0" name=""/>
        <dsp:cNvSpPr/>
      </dsp:nvSpPr>
      <dsp:spPr>
        <a:xfrm>
          <a:off x="2265489" y="1711983"/>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6 digits (laminar) </a:t>
          </a:r>
        </a:p>
      </dsp:txBody>
      <dsp:txXfrm>
        <a:off x="2287280" y="1733774"/>
        <a:ext cx="1444395" cy="700406"/>
      </dsp:txXfrm>
    </dsp:sp>
    <dsp:sp modelId="{31CD6A1B-05E3-4DD2-8AB9-2C1527F42C56}">
      <dsp:nvSpPr>
        <dsp:cNvPr id="0" name=""/>
        <dsp:cNvSpPr/>
      </dsp:nvSpPr>
      <dsp:spPr>
        <a:xfrm rot="3907178">
          <a:off x="1260554" y="2277659"/>
          <a:ext cx="1414679" cy="40429"/>
        </a:xfrm>
        <a:custGeom>
          <a:avLst/>
          <a:gdLst/>
          <a:ahLst/>
          <a:cxnLst/>
          <a:rect l="0" t="0" r="0" b="0"/>
          <a:pathLst>
            <a:path>
              <a:moveTo>
                <a:pt x="0" y="20214"/>
              </a:moveTo>
              <a:lnTo>
                <a:pt x="1414679"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932527" y="2262507"/>
        <a:ext cx="70733" cy="70733"/>
      </dsp:txXfrm>
    </dsp:sp>
    <dsp:sp modelId="{555D44C2-46B0-48A9-8B6A-52530E450B55}">
      <dsp:nvSpPr>
        <dsp:cNvPr id="0" name=""/>
        <dsp:cNvSpPr/>
      </dsp:nvSpPr>
      <dsp:spPr>
        <a:xfrm>
          <a:off x="2265489" y="2567570"/>
          <a:ext cx="1487977" cy="74398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2287280" y="2589361"/>
        <a:ext cx="1444395" cy="70040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defRPr>
            </a:lvl1pPr>
          </a:lstStyle>
          <a:p>
            <a:pPr>
              <a:defRPr/>
            </a:pPr>
            <a:endParaRPr lang="nl-NL"/>
          </a:p>
        </p:txBody>
      </p:sp>
      <p:sp>
        <p:nvSpPr>
          <p:cNvPr id="31747" name="Rectangle 3"/>
          <p:cNvSpPr>
            <a:spLocks noGrp="1" noChangeArrowheads="1"/>
          </p:cNvSpPr>
          <p:nvPr>
            <p:ph type="dt" sz="quarter"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defRPr>
            </a:lvl1pPr>
          </a:lstStyle>
          <a:p>
            <a:pPr>
              <a:defRPr/>
            </a:pPr>
            <a:endParaRPr lang="nl-NL"/>
          </a:p>
        </p:txBody>
      </p:sp>
      <p:sp>
        <p:nvSpPr>
          <p:cNvPr id="31748" name="Rectangle 4"/>
          <p:cNvSpPr>
            <a:spLocks noGrp="1" noChangeArrowheads="1"/>
          </p:cNvSpPr>
          <p:nvPr>
            <p:ph type="ftr" sz="quarter" idx="2"/>
          </p:nvPr>
        </p:nvSpPr>
        <p:spPr bwMode="auto">
          <a:xfrm>
            <a:off x="0" y="943451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defRPr>
            </a:lvl1pPr>
          </a:lstStyle>
          <a:p>
            <a:pPr>
              <a:defRPr/>
            </a:pPr>
            <a:endParaRPr lang="nl-NL"/>
          </a:p>
        </p:txBody>
      </p:sp>
      <p:sp>
        <p:nvSpPr>
          <p:cNvPr id="31749" name="Rectangle 5"/>
          <p:cNvSpPr>
            <a:spLocks noGrp="1" noChangeArrowheads="1"/>
          </p:cNvSpPr>
          <p:nvPr>
            <p:ph type="sldNum" sz="quarter" idx="3"/>
          </p:nvPr>
        </p:nvSpPr>
        <p:spPr bwMode="auto">
          <a:xfrm>
            <a:off x="3849688" y="943451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defRPr>
            </a:lvl1pPr>
          </a:lstStyle>
          <a:p>
            <a:pPr>
              <a:defRPr/>
            </a:pPr>
            <a:fld id="{6688B895-2916-4B3C-8982-1F2FECB60A84}" type="slidenum">
              <a:rPr lang="nl-NL"/>
              <a:pPr>
                <a:defRPr/>
              </a:pPr>
              <a:t>‹#›</a:t>
            </a:fld>
            <a:endParaRPr lang="nl-NL"/>
          </a:p>
        </p:txBody>
      </p:sp>
    </p:spTree>
    <p:extLst>
      <p:ext uri="{BB962C8B-B14F-4D97-AF65-F5344CB8AC3E}">
        <p14:creationId xmlns:p14="http://schemas.microsoft.com/office/powerpoint/2010/main" val="7466394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defRPr>
            </a:lvl1pPr>
          </a:lstStyle>
          <a:p>
            <a:pPr>
              <a:defRPr/>
            </a:pPr>
            <a:endParaRPr lang="en-US"/>
          </a:p>
        </p:txBody>
      </p:sp>
      <p:sp>
        <p:nvSpPr>
          <p:cNvPr id="16387" name="Rectangle 3"/>
          <p:cNvSpPr>
            <a:spLocks noGrp="1" noChangeArrowheads="1"/>
          </p:cNvSpPr>
          <p:nvPr>
            <p:ph type="dt"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defRPr>
            </a:lvl1pPr>
          </a:lstStyle>
          <a:p>
            <a:pPr>
              <a:defRPr/>
            </a:pPr>
            <a:endParaRPr lang="en-US"/>
          </a:p>
        </p:txBody>
      </p:sp>
      <p:sp>
        <p:nvSpPr>
          <p:cNvPr id="70660" name="Rectangle 4"/>
          <p:cNvSpPr>
            <a:spLocks noGrp="1" noRot="1" noChangeAspect="1" noChangeArrowheads="1" noTextEdit="1"/>
          </p:cNvSpPr>
          <p:nvPr>
            <p:ph type="sldImg" idx="2"/>
          </p:nvPr>
        </p:nvSpPr>
        <p:spPr bwMode="auto">
          <a:xfrm>
            <a:off x="87313" y="746125"/>
            <a:ext cx="6619875"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p:cNvSpPr>
            <a:spLocks noGrp="1" noChangeArrowheads="1"/>
          </p:cNvSpPr>
          <p:nvPr>
            <p:ph type="body" sz="quarter" idx="3"/>
          </p:nvPr>
        </p:nvSpPr>
        <p:spPr bwMode="auto">
          <a:xfrm>
            <a:off x="904875" y="4718050"/>
            <a:ext cx="49847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943451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defRPr>
            </a:lvl1pPr>
          </a:lstStyle>
          <a:p>
            <a:pPr>
              <a:defRPr/>
            </a:pPr>
            <a:endParaRPr lang="en-US"/>
          </a:p>
        </p:txBody>
      </p:sp>
      <p:sp>
        <p:nvSpPr>
          <p:cNvPr id="16391" name="Rectangle 7"/>
          <p:cNvSpPr>
            <a:spLocks noGrp="1" noChangeArrowheads="1"/>
          </p:cNvSpPr>
          <p:nvPr>
            <p:ph type="sldNum" sz="quarter" idx="5"/>
          </p:nvPr>
        </p:nvSpPr>
        <p:spPr bwMode="auto">
          <a:xfrm>
            <a:off x="3849688" y="943451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defRPr>
            </a:lvl1pPr>
          </a:lstStyle>
          <a:p>
            <a:pPr>
              <a:defRPr/>
            </a:pPr>
            <a:fld id="{3DCE6760-49BF-424B-AF44-59CE0FC2F5CE}" type="slidenum">
              <a:rPr lang="en-US"/>
              <a:pPr>
                <a:defRPr/>
              </a:pPr>
              <a:t>‹#›</a:t>
            </a:fld>
            <a:endParaRPr lang="en-US"/>
          </a:p>
        </p:txBody>
      </p:sp>
    </p:spTree>
    <p:extLst>
      <p:ext uri="{BB962C8B-B14F-4D97-AF65-F5344CB8AC3E}">
        <p14:creationId xmlns:p14="http://schemas.microsoft.com/office/powerpoint/2010/main" val="3999927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23825" y="714375"/>
            <a:ext cx="6619875" cy="3724275"/>
          </a:xfrm>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53" tIns="46077" rIns="92153" bIns="46077"/>
          <a:lstStyle/>
          <a:p>
            <a:endParaRPr lang="nl-N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2</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extLst>
      <p:ext uri="{BB962C8B-B14F-4D97-AF65-F5344CB8AC3E}">
        <p14:creationId xmlns:p14="http://schemas.microsoft.com/office/powerpoint/2010/main" val="3099546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3</a:t>
            </a:fld>
            <a:endParaRPr lang="en-US"/>
          </a:p>
        </p:txBody>
      </p:sp>
    </p:spTree>
    <p:extLst>
      <p:ext uri="{BB962C8B-B14F-4D97-AF65-F5344CB8AC3E}">
        <p14:creationId xmlns:p14="http://schemas.microsoft.com/office/powerpoint/2010/main" val="2679093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4</a:t>
            </a:fld>
            <a:endParaRPr lang="en-US"/>
          </a:p>
        </p:txBody>
      </p:sp>
    </p:spTree>
    <p:extLst>
      <p:ext uri="{BB962C8B-B14F-4D97-AF65-F5344CB8AC3E}">
        <p14:creationId xmlns:p14="http://schemas.microsoft.com/office/powerpoint/2010/main" val="443158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5</a:t>
            </a:fld>
            <a:endParaRPr lang="en-US"/>
          </a:p>
        </p:txBody>
      </p:sp>
    </p:spTree>
    <p:extLst>
      <p:ext uri="{BB962C8B-B14F-4D97-AF65-F5344CB8AC3E}">
        <p14:creationId xmlns:p14="http://schemas.microsoft.com/office/powerpoint/2010/main" val="3662643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7</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8</a:t>
            </a:fld>
            <a:endParaRPr lang="en-US"/>
          </a:p>
        </p:txBody>
      </p:sp>
    </p:spTree>
    <p:extLst>
      <p:ext uri="{BB962C8B-B14F-4D97-AF65-F5344CB8AC3E}">
        <p14:creationId xmlns:p14="http://schemas.microsoft.com/office/powerpoint/2010/main" val="3455975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GB" sz="4800" dirty="0"/>
              <a:t>q is the dynamic pressure defined as 0,5*rho*V^2</a:t>
            </a:r>
          </a:p>
          <a:p>
            <a:r>
              <a:rPr lang="en-GB" sz="4800" dirty="0" err="1"/>
              <a:t>Sref</a:t>
            </a:r>
            <a:r>
              <a:rPr lang="en-GB" sz="4800" dirty="0"/>
              <a:t> is the reference area,</a:t>
            </a:r>
            <a:r>
              <a:rPr lang="en-GB" sz="4800" baseline="0" dirty="0"/>
              <a:t> which is usually the wing total area  (will be defined later in this lecture)</a:t>
            </a:r>
          </a:p>
          <a:p>
            <a:r>
              <a:rPr lang="en-GB" sz="4800" baseline="0" dirty="0" err="1"/>
              <a:t>C_bar</a:t>
            </a:r>
            <a:r>
              <a:rPr lang="en-GB" sz="4800" baseline="0" dirty="0"/>
              <a:t> is the mean aerodynamic chord (will be defined later in this lecture)</a:t>
            </a:r>
          </a:p>
          <a:p>
            <a:endParaRPr lang="en-GB" sz="4800" dirty="0"/>
          </a:p>
          <a:p>
            <a:r>
              <a:rPr lang="en-GB" sz="4800" dirty="0"/>
              <a:t>For aerodynamic forces</a:t>
            </a:r>
            <a:r>
              <a:rPr lang="en-GB" sz="4800" baseline="0" dirty="0"/>
              <a:t> and </a:t>
            </a:r>
            <a:r>
              <a:rPr lang="en-GB" sz="4800" dirty="0"/>
              <a:t>coefficients, small letters,</a:t>
            </a:r>
            <a:r>
              <a:rPr lang="en-GB" sz="4800" baseline="0" dirty="0"/>
              <a:t> </a:t>
            </a:r>
            <a:r>
              <a:rPr lang="en-GB" sz="4800" baseline="0" dirty="0" err="1"/>
              <a:t>l,d</a:t>
            </a:r>
            <a:r>
              <a:rPr lang="en-GB" sz="4800" baseline="0" dirty="0"/>
              <a:t> and m, are used for </a:t>
            </a:r>
            <a:r>
              <a:rPr lang="en-GB" sz="4800" baseline="0" dirty="0" err="1"/>
              <a:t>airfoil</a:t>
            </a:r>
            <a:r>
              <a:rPr lang="en-GB" sz="4800" baseline="0" dirty="0"/>
              <a:t> (i.e. Cl, Cd, Cm) and capital letters are used for 3D wing (i.e. CL, CD, CM)</a:t>
            </a:r>
          </a:p>
          <a:p>
            <a:endParaRPr lang="en-GB" sz="4800" baseline="0" dirty="0"/>
          </a:p>
          <a:p>
            <a:pPr marL="342900" indent="-342900" eaLnBrk="1" hangingPunct="1"/>
            <a:r>
              <a:rPr lang="en-GB" sz="4800" b="1" dirty="0"/>
              <a:t>Cl, Cm and Cd = </a:t>
            </a:r>
            <a:r>
              <a:rPr lang="en-GB" sz="4800" b="1" i="1" dirty="0"/>
              <a:t>f</a:t>
            </a:r>
            <a:r>
              <a:rPr lang="en-GB" sz="4800" b="1" dirty="0"/>
              <a:t> (</a:t>
            </a:r>
            <a:r>
              <a:rPr lang="el-GR" sz="4800" b="1" dirty="0"/>
              <a:t>α</a:t>
            </a:r>
            <a:r>
              <a:rPr lang="nl-NL" sz="4800" b="1" dirty="0"/>
              <a:t>, Re, M)</a:t>
            </a:r>
            <a:endParaRPr lang="en-GB" sz="4800" dirty="0"/>
          </a:p>
          <a:p>
            <a:pPr marL="342900" indent="-342900" eaLnBrk="1" hangingPunct="1"/>
            <a:r>
              <a:rPr lang="en-GB" sz="4800" dirty="0"/>
              <a:t>The performance of a given </a:t>
            </a:r>
            <a:r>
              <a:rPr lang="en-GB" sz="4800" dirty="0" err="1"/>
              <a:t>airfoil</a:t>
            </a:r>
            <a:r>
              <a:rPr lang="en-GB" sz="4800" dirty="0"/>
              <a:t> depends mainly on </a:t>
            </a:r>
          </a:p>
          <a:p>
            <a:pPr marL="342900" indent="-342900" eaLnBrk="1" hangingPunct="1">
              <a:buFontTx/>
              <a:buAutoNum type="arabicParenR"/>
            </a:pPr>
            <a:r>
              <a:rPr lang="en-GB" sz="4800" dirty="0"/>
              <a:t>angle of attack,</a:t>
            </a:r>
          </a:p>
          <a:p>
            <a:pPr marL="342900" indent="-342900" eaLnBrk="1" hangingPunct="1">
              <a:buFontTx/>
              <a:buAutoNum type="arabicParenR"/>
            </a:pPr>
            <a:r>
              <a:rPr lang="en-GB" sz="4800" dirty="0"/>
              <a:t>Reynolds number (viscosity effect).</a:t>
            </a:r>
            <a:r>
              <a:rPr lang="nl-NL" sz="4800" dirty="0">
                <a:cs typeface="Arial" charset="0"/>
              </a:rPr>
              <a:t> </a:t>
            </a:r>
            <a:r>
              <a:rPr lang="nl-NL" sz="4800" dirty="0" err="1">
                <a:cs typeface="Arial" charset="0"/>
              </a:rPr>
              <a:t>Typical</a:t>
            </a:r>
            <a:r>
              <a:rPr lang="nl-NL" sz="4800" dirty="0">
                <a:cs typeface="Arial" charset="0"/>
              </a:rPr>
              <a:t> </a:t>
            </a:r>
            <a:r>
              <a:rPr lang="nl-NL" sz="4800" dirty="0" err="1">
                <a:cs typeface="Arial" charset="0"/>
              </a:rPr>
              <a:t>values</a:t>
            </a:r>
            <a:r>
              <a:rPr lang="nl-NL" sz="4800" dirty="0">
                <a:cs typeface="Arial" charset="0"/>
              </a:rPr>
              <a:t> of Re (</a:t>
            </a:r>
            <a:r>
              <a:rPr lang="el-GR" sz="4800" dirty="0">
                <a:cs typeface="Arial" charset="0"/>
              </a:rPr>
              <a:t>ρ</a:t>
            </a:r>
            <a:r>
              <a:rPr lang="nl-NL" sz="4800" dirty="0" err="1">
                <a:cs typeface="Arial" charset="0"/>
              </a:rPr>
              <a:t>Vx</a:t>
            </a:r>
            <a:r>
              <a:rPr lang="nl-NL" sz="4800" dirty="0">
                <a:cs typeface="Arial" charset="0"/>
              </a:rPr>
              <a:t>/</a:t>
            </a:r>
            <a:r>
              <a:rPr lang="el-GR" sz="4800" dirty="0">
                <a:cs typeface="Arial" charset="0"/>
              </a:rPr>
              <a:t>μ</a:t>
            </a:r>
            <a:r>
              <a:rPr lang="nl-NL" sz="4800" dirty="0">
                <a:cs typeface="Arial" charset="0"/>
              </a:rPr>
              <a:t>) are </a:t>
            </a:r>
            <a:r>
              <a:rPr lang="nl-NL" sz="4800" dirty="0" err="1">
                <a:cs typeface="Arial" charset="0"/>
              </a:rPr>
              <a:t>between</a:t>
            </a:r>
            <a:r>
              <a:rPr lang="nl-NL" sz="4800" dirty="0">
                <a:cs typeface="Arial" charset="0"/>
              </a:rPr>
              <a:t> 500000 </a:t>
            </a:r>
            <a:r>
              <a:rPr lang="nl-NL" sz="4800" dirty="0" err="1">
                <a:cs typeface="Arial" charset="0"/>
              </a:rPr>
              <a:t>and</a:t>
            </a:r>
            <a:r>
              <a:rPr lang="nl-NL" sz="4800" dirty="0">
                <a:cs typeface="Arial" charset="0"/>
              </a:rPr>
              <a:t> 6 </a:t>
            </a:r>
            <a:r>
              <a:rPr lang="nl-NL" sz="4800" dirty="0" err="1">
                <a:cs typeface="Arial" charset="0"/>
              </a:rPr>
              <a:t>millions</a:t>
            </a:r>
            <a:r>
              <a:rPr lang="nl-NL" sz="4800" dirty="0">
                <a:cs typeface="Arial" charset="0"/>
              </a:rPr>
              <a:t> </a:t>
            </a:r>
            <a:r>
              <a:rPr lang="nl-NL" sz="4800" dirty="0" err="1">
                <a:cs typeface="Arial" charset="0"/>
              </a:rPr>
              <a:t>for</a:t>
            </a:r>
            <a:r>
              <a:rPr lang="nl-NL" sz="4800" dirty="0">
                <a:cs typeface="Arial" charset="0"/>
              </a:rPr>
              <a:t> most of </a:t>
            </a:r>
            <a:r>
              <a:rPr lang="nl-NL" sz="4800" dirty="0" err="1">
                <a:cs typeface="Arial" charset="0"/>
              </a:rPr>
              <a:t>general</a:t>
            </a:r>
            <a:r>
              <a:rPr lang="nl-NL" sz="4800" dirty="0">
                <a:cs typeface="Arial" charset="0"/>
              </a:rPr>
              <a:t> </a:t>
            </a:r>
            <a:r>
              <a:rPr lang="nl-NL" sz="4800" dirty="0" err="1">
                <a:cs typeface="Arial" charset="0"/>
              </a:rPr>
              <a:t>aviation</a:t>
            </a:r>
            <a:r>
              <a:rPr lang="nl-NL" sz="4800" dirty="0">
                <a:cs typeface="Arial" charset="0"/>
              </a:rPr>
              <a:t> </a:t>
            </a:r>
            <a:r>
              <a:rPr lang="nl-NL" sz="4800" dirty="0" err="1">
                <a:cs typeface="Arial" charset="0"/>
              </a:rPr>
              <a:t>aircraft</a:t>
            </a:r>
            <a:r>
              <a:rPr lang="nl-NL" sz="4800" dirty="0">
                <a:cs typeface="Arial" charset="0"/>
              </a:rPr>
              <a:t> </a:t>
            </a:r>
            <a:r>
              <a:rPr lang="nl-NL" sz="4800" dirty="0" err="1">
                <a:cs typeface="Arial" charset="0"/>
              </a:rPr>
              <a:t>and</a:t>
            </a:r>
            <a:r>
              <a:rPr lang="nl-NL" sz="4800" dirty="0">
                <a:cs typeface="Arial" charset="0"/>
              </a:rPr>
              <a:t> </a:t>
            </a:r>
            <a:r>
              <a:rPr lang="nl-NL" sz="4800" dirty="0" err="1">
                <a:cs typeface="Arial" charset="0"/>
              </a:rPr>
              <a:t>higher</a:t>
            </a:r>
            <a:r>
              <a:rPr lang="nl-NL" sz="4800" dirty="0">
                <a:cs typeface="Arial" charset="0"/>
              </a:rPr>
              <a:t> </a:t>
            </a:r>
            <a:r>
              <a:rPr lang="nl-NL" sz="4800" dirty="0" err="1">
                <a:cs typeface="Arial" charset="0"/>
              </a:rPr>
              <a:t>than</a:t>
            </a:r>
            <a:r>
              <a:rPr lang="nl-NL" sz="4800" dirty="0">
                <a:cs typeface="Arial" charset="0"/>
              </a:rPr>
              <a:t> 9 </a:t>
            </a:r>
            <a:r>
              <a:rPr lang="nl-NL" sz="4800" dirty="0" err="1">
                <a:cs typeface="Arial" charset="0"/>
              </a:rPr>
              <a:t>millions</a:t>
            </a:r>
            <a:r>
              <a:rPr lang="nl-NL" sz="4800" dirty="0">
                <a:cs typeface="Arial" charset="0"/>
              </a:rPr>
              <a:t> </a:t>
            </a:r>
            <a:r>
              <a:rPr lang="nl-NL" sz="4800" dirty="0" err="1">
                <a:cs typeface="Arial" charset="0"/>
              </a:rPr>
              <a:t>for</a:t>
            </a:r>
            <a:r>
              <a:rPr lang="nl-NL" sz="4800" dirty="0">
                <a:cs typeface="Arial" charset="0"/>
              </a:rPr>
              <a:t> </a:t>
            </a:r>
            <a:r>
              <a:rPr lang="nl-NL" sz="4800" dirty="0" err="1">
                <a:cs typeface="Arial" charset="0"/>
              </a:rPr>
              <a:t>airliners</a:t>
            </a:r>
            <a:r>
              <a:rPr lang="nl-NL" sz="4800" dirty="0">
                <a:cs typeface="Arial" charset="0"/>
              </a:rPr>
              <a:t> or </a:t>
            </a:r>
            <a:r>
              <a:rPr lang="nl-NL" sz="4800" dirty="0" err="1">
                <a:cs typeface="Arial" charset="0"/>
              </a:rPr>
              <a:t>fighters</a:t>
            </a:r>
            <a:r>
              <a:rPr lang="nl-NL" sz="4800" dirty="0">
                <a:cs typeface="Arial" charset="0"/>
              </a:rPr>
              <a:t>. (</a:t>
            </a:r>
            <a:r>
              <a:rPr lang="nl-NL" sz="4800" dirty="0" err="1">
                <a:cs typeface="Arial" charset="0"/>
              </a:rPr>
              <a:t>By</a:t>
            </a:r>
            <a:r>
              <a:rPr lang="nl-NL" sz="4800" dirty="0">
                <a:cs typeface="Arial" charset="0"/>
              </a:rPr>
              <a:t> </a:t>
            </a:r>
            <a:r>
              <a:rPr lang="nl-NL" sz="4800" dirty="0" err="1">
                <a:cs typeface="Arial" charset="0"/>
              </a:rPr>
              <a:t>definition</a:t>
            </a:r>
            <a:r>
              <a:rPr lang="nl-NL" sz="4800" dirty="0">
                <a:cs typeface="Arial" charset="0"/>
              </a:rPr>
              <a:t> Re </a:t>
            </a:r>
            <a:r>
              <a:rPr lang="nl-NL" sz="4800" dirty="0" err="1">
                <a:cs typeface="Arial" charset="0"/>
              </a:rPr>
              <a:t>depends</a:t>
            </a:r>
            <a:r>
              <a:rPr lang="nl-NL" sz="4800" dirty="0">
                <a:cs typeface="Arial" charset="0"/>
              </a:rPr>
              <a:t> on </a:t>
            </a:r>
            <a:r>
              <a:rPr lang="nl-NL" sz="4800" dirty="0" err="1">
                <a:cs typeface="Arial" charset="0"/>
              </a:rPr>
              <a:t>aircraft</a:t>
            </a:r>
            <a:r>
              <a:rPr lang="nl-NL" sz="4800" dirty="0">
                <a:cs typeface="Arial" charset="0"/>
              </a:rPr>
              <a:t> speed </a:t>
            </a:r>
            <a:r>
              <a:rPr lang="nl-NL" sz="4800" dirty="0" err="1">
                <a:cs typeface="Arial" charset="0"/>
              </a:rPr>
              <a:t>and</a:t>
            </a:r>
            <a:r>
              <a:rPr lang="nl-NL" sz="4800" dirty="0">
                <a:cs typeface="Arial" charset="0"/>
              </a:rPr>
              <a:t> flow </a:t>
            </a:r>
            <a:r>
              <a:rPr lang="nl-NL" sz="4800" dirty="0" err="1">
                <a:cs typeface="Arial" charset="0"/>
              </a:rPr>
              <a:t>characteristics</a:t>
            </a:r>
            <a:r>
              <a:rPr lang="nl-NL" sz="4800" dirty="0">
                <a:cs typeface="Arial" charset="0"/>
              </a:rPr>
              <a:t>, but </a:t>
            </a:r>
            <a:r>
              <a:rPr lang="nl-NL" sz="4800" dirty="0" err="1">
                <a:cs typeface="Arial" charset="0"/>
              </a:rPr>
              <a:t>also</a:t>
            </a:r>
            <a:r>
              <a:rPr lang="nl-NL" sz="4800" dirty="0">
                <a:cs typeface="Arial" charset="0"/>
              </a:rPr>
              <a:t> on </a:t>
            </a:r>
            <a:r>
              <a:rPr lang="nl-NL" sz="4800" dirty="0" err="1">
                <a:cs typeface="Arial" charset="0"/>
              </a:rPr>
              <a:t>the</a:t>
            </a:r>
            <a:r>
              <a:rPr lang="nl-NL" sz="4800" dirty="0">
                <a:cs typeface="Arial" charset="0"/>
              </a:rPr>
              <a:t> </a:t>
            </a:r>
            <a:r>
              <a:rPr lang="nl-NL" sz="4800" dirty="0" err="1">
                <a:cs typeface="Arial" charset="0"/>
              </a:rPr>
              <a:t>size</a:t>
            </a:r>
            <a:r>
              <a:rPr lang="nl-NL" sz="4800" dirty="0">
                <a:cs typeface="Arial" charset="0"/>
              </a:rPr>
              <a:t> of </a:t>
            </a:r>
            <a:r>
              <a:rPr lang="nl-NL" sz="4800" dirty="0" err="1">
                <a:cs typeface="Arial" charset="0"/>
              </a:rPr>
              <a:t>the</a:t>
            </a:r>
            <a:r>
              <a:rPr lang="nl-NL" sz="4800" dirty="0">
                <a:cs typeface="Arial" charset="0"/>
              </a:rPr>
              <a:t> body </a:t>
            </a:r>
            <a:r>
              <a:rPr lang="nl-NL" sz="4800" dirty="0" err="1">
                <a:cs typeface="Arial" charset="0"/>
              </a:rPr>
              <a:t>immersed</a:t>
            </a:r>
            <a:r>
              <a:rPr lang="nl-NL" sz="4800" dirty="0">
                <a:cs typeface="Arial" charset="0"/>
              </a:rPr>
              <a:t> in </a:t>
            </a:r>
            <a:r>
              <a:rPr lang="nl-NL" sz="4800" dirty="0" err="1">
                <a:cs typeface="Arial" charset="0"/>
              </a:rPr>
              <a:t>the</a:t>
            </a:r>
            <a:r>
              <a:rPr lang="nl-NL" sz="4800" dirty="0">
                <a:cs typeface="Arial" charset="0"/>
              </a:rPr>
              <a:t> flow, </a:t>
            </a:r>
            <a:r>
              <a:rPr lang="nl-NL" sz="4800" dirty="0" err="1">
                <a:cs typeface="Arial" charset="0"/>
              </a:rPr>
              <a:t>hence</a:t>
            </a:r>
            <a:r>
              <a:rPr lang="nl-NL" sz="4800" dirty="0">
                <a:cs typeface="Arial" charset="0"/>
              </a:rPr>
              <a:t> </a:t>
            </a:r>
            <a:r>
              <a:rPr lang="nl-NL" sz="4800" dirty="0" err="1">
                <a:cs typeface="Arial" charset="0"/>
              </a:rPr>
              <a:t>the</a:t>
            </a:r>
            <a:r>
              <a:rPr lang="nl-NL" sz="4800" dirty="0">
                <a:cs typeface="Arial" charset="0"/>
              </a:rPr>
              <a:t> flow </a:t>
            </a:r>
            <a:r>
              <a:rPr lang="nl-NL" sz="4800" dirty="0" err="1">
                <a:cs typeface="Arial" charset="0"/>
              </a:rPr>
              <a:t>around</a:t>
            </a:r>
            <a:r>
              <a:rPr lang="nl-NL" sz="4800" dirty="0">
                <a:cs typeface="Arial" charset="0"/>
              </a:rPr>
              <a:t> a large </a:t>
            </a:r>
            <a:r>
              <a:rPr lang="nl-NL" sz="4800" dirty="0" err="1">
                <a:cs typeface="Arial" charset="0"/>
              </a:rPr>
              <a:t>aircraft</a:t>
            </a:r>
            <a:r>
              <a:rPr lang="nl-NL" sz="4800" dirty="0">
                <a:cs typeface="Arial" charset="0"/>
              </a:rPr>
              <a:t> is </a:t>
            </a:r>
            <a:r>
              <a:rPr lang="nl-NL" sz="4800" dirty="0" err="1">
                <a:cs typeface="Arial" charset="0"/>
              </a:rPr>
              <a:t>characterized</a:t>
            </a:r>
            <a:r>
              <a:rPr lang="nl-NL" sz="4800" dirty="0">
                <a:cs typeface="Arial" charset="0"/>
              </a:rPr>
              <a:t> </a:t>
            </a:r>
            <a:r>
              <a:rPr lang="nl-NL" sz="4800" dirty="0" err="1">
                <a:cs typeface="Arial" charset="0"/>
              </a:rPr>
              <a:t>by</a:t>
            </a:r>
            <a:r>
              <a:rPr lang="nl-NL" sz="4800" dirty="0">
                <a:cs typeface="Arial" charset="0"/>
              </a:rPr>
              <a:t> a </a:t>
            </a:r>
            <a:r>
              <a:rPr lang="nl-NL" sz="4800" dirty="0" err="1">
                <a:cs typeface="Arial" charset="0"/>
              </a:rPr>
              <a:t>larger</a:t>
            </a:r>
            <a:r>
              <a:rPr lang="nl-NL" sz="4800" dirty="0">
                <a:cs typeface="Arial" charset="0"/>
              </a:rPr>
              <a:t> Re </a:t>
            </a:r>
            <a:r>
              <a:rPr lang="nl-NL" sz="4800" dirty="0" err="1">
                <a:cs typeface="Arial" charset="0"/>
              </a:rPr>
              <a:t>value</a:t>
            </a:r>
            <a:r>
              <a:rPr lang="nl-NL" sz="4800" dirty="0">
                <a:cs typeface="Arial" charset="0"/>
              </a:rPr>
              <a:t>, </a:t>
            </a:r>
            <a:r>
              <a:rPr lang="nl-NL" sz="4800" dirty="0" err="1">
                <a:cs typeface="Arial" charset="0"/>
              </a:rPr>
              <a:t>than</a:t>
            </a:r>
            <a:r>
              <a:rPr lang="nl-NL" sz="4800" dirty="0">
                <a:cs typeface="Arial" charset="0"/>
              </a:rPr>
              <a:t> a smaller </a:t>
            </a:r>
            <a:r>
              <a:rPr lang="nl-NL" sz="4800" dirty="0" err="1">
                <a:cs typeface="Arial" charset="0"/>
              </a:rPr>
              <a:t>aircraft</a:t>
            </a:r>
            <a:r>
              <a:rPr lang="nl-NL" sz="4800" dirty="0">
                <a:cs typeface="Arial" charset="0"/>
              </a:rPr>
              <a:t>, </a:t>
            </a:r>
            <a:r>
              <a:rPr lang="nl-NL" sz="4800" dirty="0" err="1">
                <a:cs typeface="Arial" charset="0"/>
              </a:rPr>
              <a:t>flying</a:t>
            </a:r>
            <a:r>
              <a:rPr lang="nl-NL" sz="4800" dirty="0">
                <a:cs typeface="Arial" charset="0"/>
              </a:rPr>
              <a:t> at </a:t>
            </a:r>
            <a:r>
              <a:rPr lang="nl-NL" sz="4800" dirty="0" err="1">
                <a:cs typeface="Arial" charset="0"/>
              </a:rPr>
              <a:t>the</a:t>
            </a:r>
            <a:r>
              <a:rPr lang="nl-NL" sz="4800" dirty="0">
                <a:cs typeface="Arial" charset="0"/>
              </a:rPr>
              <a:t> </a:t>
            </a:r>
            <a:r>
              <a:rPr lang="nl-NL" sz="4800" dirty="0" err="1">
                <a:cs typeface="Arial" charset="0"/>
              </a:rPr>
              <a:t>same</a:t>
            </a:r>
            <a:r>
              <a:rPr lang="nl-NL" sz="4800" dirty="0">
                <a:cs typeface="Arial" charset="0"/>
              </a:rPr>
              <a:t> </a:t>
            </a:r>
            <a:r>
              <a:rPr lang="nl-NL" sz="4800" dirty="0" err="1">
                <a:cs typeface="Arial" charset="0"/>
              </a:rPr>
              <a:t>conditions</a:t>
            </a:r>
            <a:r>
              <a:rPr lang="nl-NL" sz="4800" dirty="0">
                <a:cs typeface="Arial" charset="0"/>
              </a:rPr>
              <a:t>!). </a:t>
            </a:r>
            <a:r>
              <a:rPr lang="nl-NL" sz="4800" dirty="0" err="1">
                <a:cs typeface="Arial" charset="0"/>
              </a:rPr>
              <a:t>This</a:t>
            </a:r>
            <a:r>
              <a:rPr lang="nl-NL" sz="4800" dirty="0">
                <a:cs typeface="Arial" charset="0"/>
              </a:rPr>
              <a:t> </a:t>
            </a:r>
            <a:r>
              <a:rPr lang="nl-NL" sz="4800" dirty="0" err="1">
                <a:cs typeface="Arial" charset="0"/>
              </a:rPr>
              <a:t>dependency</a:t>
            </a:r>
            <a:r>
              <a:rPr lang="nl-NL" sz="4800" dirty="0">
                <a:cs typeface="Arial" charset="0"/>
              </a:rPr>
              <a:t> on </a:t>
            </a:r>
            <a:r>
              <a:rPr lang="nl-NL" sz="4800" dirty="0" err="1">
                <a:cs typeface="Arial" charset="0"/>
              </a:rPr>
              <a:t>the</a:t>
            </a:r>
            <a:r>
              <a:rPr lang="nl-NL" sz="4800" dirty="0">
                <a:cs typeface="Arial" charset="0"/>
              </a:rPr>
              <a:t> </a:t>
            </a:r>
            <a:r>
              <a:rPr lang="nl-NL" sz="4800" dirty="0" err="1">
                <a:cs typeface="Arial" charset="0"/>
              </a:rPr>
              <a:t>size</a:t>
            </a:r>
            <a:r>
              <a:rPr lang="nl-NL" sz="4800" dirty="0">
                <a:cs typeface="Arial" charset="0"/>
              </a:rPr>
              <a:t> is </a:t>
            </a:r>
            <a:r>
              <a:rPr lang="nl-NL" sz="4800" dirty="0" err="1">
                <a:cs typeface="Arial" charset="0"/>
              </a:rPr>
              <a:t>such</a:t>
            </a:r>
            <a:r>
              <a:rPr lang="nl-NL" sz="4800" dirty="0">
                <a:cs typeface="Arial" charset="0"/>
              </a:rPr>
              <a:t> </a:t>
            </a:r>
            <a:r>
              <a:rPr lang="nl-NL" sz="4800" dirty="0" err="1">
                <a:cs typeface="Arial" charset="0"/>
              </a:rPr>
              <a:t>that</a:t>
            </a:r>
            <a:r>
              <a:rPr lang="nl-NL" sz="4800" dirty="0">
                <a:cs typeface="Arial" charset="0"/>
              </a:rPr>
              <a:t> in a </a:t>
            </a:r>
            <a:r>
              <a:rPr lang="nl-NL" sz="4800" u="sng" dirty="0" err="1">
                <a:cs typeface="Arial" charset="0"/>
              </a:rPr>
              <a:t>tapered</a:t>
            </a:r>
            <a:r>
              <a:rPr lang="nl-NL" sz="4800" dirty="0">
                <a:cs typeface="Arial" charset="0"/>
              </a:rPr>
              <a:t> </a:t>
            </a:r>
            <a:r>
              <a:rPr lang="nl-NL" sz="4800" dirty="0" err="1">
                <a:cs typeface="Arial" charset="0"/>
              </a:rPr>
              <a:t>wing</a:t>
            </a:r>
            <a:r>
              <a:rPr lang="nl-NL" sz="4800" dirty="0">
                <a:cs typeface="Arial" charset="0"/>
              </a:rPr>
              <a:t> </a:t>
            </a:r>
            <a:r>
              <a:rPr lang="nl-NL" sz="4800" dirty="0" err="1">
                <a:cs typeface="Arial" charset="0"/>
              </a:rPr>
              <a:t>designed</a:t>
            </a:r>
            <a:r>
              <a:rPr lang="nl-NL" sz="4800" dirty="0">
                <a:cs typeface="Arial" charset="0"/>
              </a:rPr>
              <a:t> </a:t>
            </a:r>
            <a:r>
              <a:rPr lang="nl-NL" sz="4800" dirty="0" err="1">
                <a:cs typeface="Arial" charset="0"/>
              </a:rPr>
              <a:t>using</a:t>
            </a:r>
            <a:r>
              <a:rPr lang="nl-NL" sz="4800" dirty="0">
                <a:cs typeface="Arial" charset="0"/>
              </a:rPr>
              <a:t> </a:t>
            </a:r>
            <a:r>
              <a:rPr lang="nl-NL" sz="4800" dirty="0" err="1">
                <a:cs typeface="Arial" charset="0"/>
              </a:rPr>
              <a:t>only</a:t>
            </a:r>
            <a:r>
              <a:rPr lang="nl-NL" sz="4800" dirty="0">
                <a:cs typeface="Arial" charset="0"/>
              </a:rPr>
              <a:t> </a:t>
            </a:r>
            <a:r>
              <a:rPr lang="nl-NL" sz="4800" dirty="0" err="1">
                <a:cs typeface="Arial" charset="0"/>
              </a:rPr>
              <a:t>one</a:t>
            </a:r>
            <a:r>
              <a:rPr lang="nl-NL" sz="4800" dirty="0">
                <a:cs typeface="Arial" charset="0"/>
              </a:rPr>
              <a:t> </a:t>
            </a:r>
            <a:r>
              <a:rPr lang="nl-NL" sz="4800" dirty="0" err="1">
                <a:cs typeface="Arial" charset="0"/>
              </a:rPr>
              <a:t>airfoil</a:t>
            </a:r>
            <a:r>
              <a:rPr lang="nl-NL" sz="4800" dirty="0">
                <a:cs typeface="Arial" charset="0"/>
              </a:rPr>
              <a:t>, </a:t>
            </a:r>
            <a:r>
              <a:rPr lang="nl-NL" sz="4800" dirty="0" err="1">
                <a:cs typeface="Arial" charset="0"/>
              </a:rPr>
              <a:t>the</a:t>
            </a:r>
            <a:r>
              <a:rPr lang="nl-NL" sz="4800" dirty="0">
                <a:cs typeface="Arial" charset="0"/>
              </a:rPr>
              <a:t> </a:t>
            </a:r>
            <a:r>
              <a:rPr lang="nl-NL" sz="4800" dirty="0" err="1">
                <a:cs typeface="Arial" charset="0"/>
              </a:rPr>
              <a:t>behaviour</a:t>
            </a:r>
            <a:r>
              <a:rPr lang="nl-NL" sz="4800" dirty="0">
                <a:cs typeface="Arial" charset="0"/>
              </a:rPr>
              <a:t> of </a:t>
            </a:r>
            <a:r>
              <a:rPr lang="nl-NL" sz="4800" dirty="0" err="1">
                <a:cs typeface="Arial" charset="0"/>
              </a:rPr>
              <a:t>the</a:t>
            </a:r>
            <a:r>
              <a:rPr lang="nl-NL" sz="4800" dirty="0">
                <a:cs typeface="Arial" charset="0"/>
              </a:rPr>
              <a:t> root </a:t>
            </a:r>
            <a:r>
              <a:rPr lang="nl-NL" sz="4800" dirty="0" err="1">
                <a:cs typeface="Arial" charset="0"/>
              </a:rPr>
              <a:t>section</a:t>
            </a:r>
            <a:r>
              <a:rPr lang="nl-NL" sz="4800" dirty="0">
                <a:cs typeface="Arial" charset="0"/>
              </a:rPr>
              <a:t> is different </a:t>
            </a:r>
            <a:r>
              <a:rPr lang="nl-NL" sz="4800" dirty="0" err="1">
                <a:cs typeface="Arial" charset="0"/>
              </a:rPr>
              <a:t>than</a:t>
            </a:r>
            <a:r>
              <a:rPr lang="nl-NL" sz="4800" dirty="0">
                <a:cs typeface="Arial" charset="0"/>
              </a:rPr>
              <a:t> </a:t>
            </a:r>
            <a:r>
              <a:rPr lang="nl-NL" sz="4800" dirty="0" err="1">
                <a:cs typeface="Arial" charset="0"/>
              </a:rPr>
              <a:t>the</a:t>
            </a:r>
            <a:r>
              <a:rPr lang="nl-NL" sz="4800" dirty="0">
                <a:cs typeface="Arial" charset="0"/>
              </a:rPr>
              <a:t> tip </a:t>
            </a:r>
            <a:r>
              <a:rPr lang="nl-NL" sz="4800" dirty="0" err="1">
                <a:cs typeface="Arial" charset="0"/>
              </a:rPr>
              <a:t>section</a:t>
            </a:r>
            <a:r>
              <a:rPr lang="nl-NL" sz="4800" dirty="0">
                <a:cs typeface="Arial" charset="0"/>
              </a:rPr>
              <a:t> </a:t>
            </a:r>
            <a:r>
              <a:rPr lang="nl-NL" sz="4800" dirty="0" err="1">
                <a:cs typeface="Arial" charset="0"/>
              </a:rPr>
              <a:t>behaviour</a:t>
            </a:r>
            <a:r>
              <a:rPr lang="nl-NL" sz="4800" dirty="0">
                <a:cs typeface="Arial" charset="0"/>
              </a:rPr>
              <a:t> (</a:t>
            </a:r>
            <a:r>
              <a:rPr lang="nl-NL" sz="4800" dirty="0" err="1">
                <a:cs typeface="Arial" charset="0"/>
              </a:rPr>
              <a:t>see</a:t>
            </a:r>
            <a:r>
              <a:rPr lang="nl-NL" sz="4800" dirty="0">
                <a:cs typeface="Arial" charset="0"/>
              </a:rPr>
              <a:t> more of </a:t>
            </a:r>
            <a:r>
              <a:rPr lang="nl-NL" sz="4800" dirty="0" err="1">
                <a:cs typeface="Arial" charset="0"/>
              </a:rPr>
              <a:t>this</a:t>
            </a:r>
            <a:r>
              <a:rPr lang="nl-NL" sz="4800" dirty="0">
                <a:cs typeface="Arial" charset="0"/>
              </a:rPr>
              <a:t> </a:t>
            </a:r>
            <a:r>
              <a:rPr lang="nl-NL" sz="4800" dirty="0" err="1">
                <a:cs typeface="Arial" charset="0"/>
              </a:rPr>
              <a:t>when</a:t>
            </a:r>
            <a:r>
              <a:rPr lang="nl-NL" sz="4800" dirty="0">
                <a:cs typeface="Arial" charset="0"/>
              </a:rPr>
              <a:t> </a:t>
            </a:r>
            <a:r>
              <a:rPr lang="nl-NL" sz="4800" dirty="0" err="1">
                <a:cs typeface="Arial" charset="0"/>
              </a:rPr>
              <a:t>discussing</a:t>
            </a:r>
            <a:r>
              <a:rPr lang="nl-NL" sz="4800" dirty="0">
                <a:cs typeface="Arial" charset="0"/>
              </a:rPr>
              <a:t> </a:t>
            </a:r>
            <a:r>
              <a:rPr lang="nl-NL" sz="4800" dirty="0" err="1">
                <a:cs typeface="Arial" charset="0"/>
              </a:rPr>
              <a:t>about</a:t>
            </a:r>
            <a:r>
              <a:rPr lang="nl-NL" sz="4800" dirty="0">
                <a:cs typeface="Arial" charset="0"/>
              </a:rPr>
              <a:t> </a:t>
            </a:r>
            <a:r>
              <a:rPr lang="nl-NL" sz="4800" dirty="0" err="1">
                <a:cs typeface="Arial" charset="0"/>
              </a:rPr>
              <a:t>wing</a:t>
            </a:r>
            <a:r>
              <a:rPr lang="nl-NL" sz="4800" dirty="0">
                <a:cs typeface="Arial" charset="0"/>
              </a:rPr>
              <a:t> </a:t>
            </a:r>
            <a:r>
              <a:rPr lang="nl-NL" sz="4800" dirty="0" err="1">
                <a:cs typeface="Arial" charset="0"/>
              </a:rPr>
              <a:t>stall</a:t>
            </a:r>
            <a:r>
              <a:rPr lang="nl-NL" sz="4800" dirty="0">
                <a:cs typeface="Arial" charset="0"/>
              </a:rPr>
              <a:t> </a:t>
            </a:r>
            <a:r>
              <a:rPr lang="nl-NL" sz="4800" dirty="0" err="1">
                <a:cs typeface="Arial" charset="0"/>
              </a:rPr>
              <a:t>characteristics</a:t>
            </a:r>
            <a:r>
              <a:rPr lang="nl-NL" sz="4800" dirty="0">
                <a:cs typeface="Arial" charset="0"/>
              </a:rPr>
              <a:t>)</a:t>
            </a:r>
          </a:p>
          <a:p>
            <a:pPr marL="342900" indent="-342900" eaLnBrk="1" hangingPunct="1">
              <a:buFontTx/>
              <a:buAutoNum type="arabicParenR"/>
            </a:pPr>
            <a:r>
              <a:rPr lang="en-GB" sz="4800" dirty="0"/>
              <a:t>Mach number (compressibility effect).</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9</a:t>
            </a:fld>
            <a:endParaRPr lang="en-US"/>
          </a:p>
        </p:txBody>
      </p:sp>
    </p:spTree>
    <p:extLst>
      <p:ext uri="{BB962C8B-B14F-4D97-AF65-F5344CB8AC3E}">
        <p14:creationId xmlns:p14="http://schemas.microsoft.com/office/powerpoint/2010/main" val="3098521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10</a:t>
            </a:fld>
            <a:endParaRPr lang="en-US"/>
          </a:p>
        </p:txBody>
      </p:sp>
    </p:spTree>
    <p:extLst>
      <p:ext uri="{BB962C8B-B14F-4D97-AF65-F5344CB8AC3E}">
        <p14:creationId xmlns:p14="http://schemas.microsoft.com/office/powerpoint/2010/main" val="2887406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11</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endParaRPr lang="en-GB"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12</a:t>
            </a:fld>
            <a:endParaRPr lang="en-US"/>
          </a:p>
        </p:txBody>
      </p:sp>
    </p:spTree>
    <p:extLst>
      <p:ext uri="{BB962C8B-B14F-4D97-AF65-F5344CB8AC3E}">
        <p14:creationId xmlns:p14="http://schemas.microsoft.com/office/powerpoint/2010/main" val="1656457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r>
              <a:rPr lang="en-GB" sz="520" dirty="0"/>
              <a:t>The medium or mean camber line (or </a:t>
            </a:r>
            <a:r>
              <a:rPr lang="en-GB" sz="520" dirty="0" err="1"/>
              <a:t>airfoil</a:t>
            </a:r>
            <a:r>
              <a:rPr lang="en-GB" sz="520" dirty="0"/>
              <a:t> mean line) is the line equidistant (distance measured orthogonally to the camber line itself!) in every point from the upper and lower </a:t>
            </a:r>
            <a:r>
              <a:rPr lang="en-GB" sz="520" dirty="0" err="1"/>
              <a:t>airfoil</a:t>
            </a:r>
            <a:r>
              <a:rPr lang="en-GB" sz="520" dirty="0"/>
              <a:t> curves.</a:t>
            </a:r>
          </a:p>
          <a:p>
            <a:pPr eaLnBrk="1" hangingPunct="1"/>
            <a:r>
              <a:rPr lang="en-GB" sz="520" dirty="0"/>
              <a:t>The chord is by definition the straight line going from the TE point (or half the TE thickness in case of not sharp tail </a:t>
            </a:r>
            <a:r>
              <a:rPr lang="en-GB" sz="520" dirty="0" err="1"/>
              <a:t>airfoil</a:t>
            </a:r>
            <a:r>
              <a:rPr lang="en-GB" sz="520" dirty="0"/>
              <a:t>) to the </a:t>
            </a:r>
            <a:r>
              <a:rPr lang="en-GB" sz="520" b="1" dirty="0"/>
              <a:t>farthest point on the </a:t>
            </a:r>
            <a:r>
              <a:rPr lang="en-GB" sz="520" b="1" dirty="0" err="1"/>
              <a:t>airfoil</a:t>
            </a:r>
            <a:r>
              <a:rPr lang="en-GB" sz="520" dirty="0"/>
              <a:t>, which is by definition the LE point on the </a:t>
            </a:r>
            <a:r>
              <a:rPr lang="en-GB" sz="520" dirty="0" err="1"/>
              <a:t>airfoil</a:t>
            </a:r>
            <a:r>
              <a:rPr lang="en-GB" sz="520" dirty="0"/>
              <a:t>. LE and TE point represent also the start and end point of the camber line.</a:t>
            </a:r>
          </a:p>
          <a:p>
            <a:pPr eaLnBrk="1" hangingPunct="1"/>
            <a:endParaRPr lang="en-GB" sz="520" dirty="0"/>
          </a:p>
          <a:p>
            <a:pPr eaLnBrk="1" hangingPunct="1"/>
            <a:r>
              <a:rPr lang="en-GB" sz="520" dirty="0"/>
              <a:t>The total </a:t>
            </a:r>
            <a:r>
              <a:rPr lang="en-GB" sz="520" dirty="0" err="1"/>
              <a:t>airfoil</a:t>
            </a:r>
            <a:r>
              <a:rPr lang="en-GB" sz="520" dirty="0"/>
              <a:t> camber is measured as the maximum distance between the camber line and the chord line, measured normally to the chord and typically expressed as percentage of the chord length. The </a:t>
            </a:r>
            <a:r>
              <a:rPr lang="en-GB" sz="520" b="1" dirty="0"/>
              <a:t>position of the maximum camber</a:t>
            </a:r>
            <a:r>
              <a:rPr lang="en-GB" sz="520" dirty="0"/>
              <a:t> is also an important characteristic describing the </a:t>
            </a:r>
            <a:r>
              <a:rPr lang="en-GB" sz="520" dirty="0" err="1"/>
              <a:t>airfoil</a:t>
            </a:r>
            <a:r>
              <a:rPr lang="en-GB" sz="520" dirty="0"/>
              <a:t>. It is typically indicated as a percentage of the chord length.</a:t>
            </a:r>
          </a:p>
          <a:p>
            <a:pPr eaLnBrk="1" hangingPunct="1"/>
            <a:endParaRPr lang="en-GB" sz="520" dirty="0"/>
          </a:p>
          <a:p>
            <a:pPr eaLnBrk="1" hangingPunct="1"/>
            <a:r>
              <a:rPr lang="en-GB" sz="520" dirty="0"/>
              <a:t>The thickness of the </a:t>
            </a:r>
            <a:r>
              <a:rPr lang="en-GB" sz="520" dirty="0" err="1"/>
              <a:t>airfoil</a:t>
            </a:r>
            <a:r>
              <a:rPr lang="en-GB" sz="520" dirty="0"/>
              <a:t> is measured normally to the chord line. The maximum thickness value </a:t>
            </a:r>
            <a:r>
              <a:rPr lang="en-GB" sz="520" b="1" dirty="0"/>
              <a:t>as well as its position</a:t>
            </a:r>
            <a:r>
              <a:rPr lang="en-GB" sz="520" dirty="0"/>
              <a:t> are important parameters affecting the behaviour of an </a:t>
            </a:r>
            <a:r>
              <a:rPr lang="en-GB" sz="520" dirty="0" err="1"/>
              <a:t>airfoil</a:t>
            </a:r>
            <a:r>
              <a:rPr lang="en-GB" sz="520" dirty="0"/>
              <a:t>. </a:t>
            </a:r>
          </a:p>
          <a:p>
            <a:pPr eaLnBrk="1" hangingPunct="1"/>
            <a:endParaRPr lang="en-GB" sz="520" dirty="0"/>
          </a:p>
          <a:p>
            <a:pPr eaLnBrk="1" hangingPunct="1"/>
            <a:r>
              <a:rPr lang="en-GB" sz="520" dirty="0"/>
              <a:t>The angle of attack </a:t>
            </a:r>
            <a:r>
              <a:rPr lang="el-GR" sz="520" dirty="0">
                <a:cs typeface="Arial" charset="0"/>
              </a:rPr>
              <a:t>α</a:t>
            </a:r>
            <a:r>
              <a:rPr lang="nl-NL" sz="520" dirty="0">
                <a:cs typeface="Arial" charset="0"/>
              </a:rPr>
              <a:t> </a:t>
            </a:r>
            <a:r>
              <a:rPr lang="en-GB" sz="520" dirty="0"/>
              <a:t>is measured as the angle between the direction of the freestream velocity (V</a:t>
            </a:r>
            <a:r>
              <a:rPr lang="en-GB" sz="520" baseline="-25000" dirty="0">
                <a:cs typeface="Arial" charset="0"/>
              </a:rPr>
              <a:t>∞</a:t>
            </a:r>
            <a:r>
              <a:rPr lang="en-GB" sz="520" dirty="0">
                <a:cs typeface="Arial" charset="0"/>
              </a:rPr>
              <a:t>) and the chord.</a:t>
            </a:r>
          </a:p>
          <a:p>
            <a:pPr eaLnBrk="1" hangingPunct="1"/>
            <a:endParaRPr lang="en-GB" sz="520" baseline="0"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13</a:t>
            </a:fld>
            <a:endParaRPr lang="en-US"/>
          </a:p>
        </p:txBody>
      </p:sp>
    </p:spTree>
    <p:extLst>
      <p:ext uri="{BB962C8B-B14F-4D97-AF65-F5344CB8AC3E}">
        <p14:creationId xmlns:p14="http://schemas.microsoft.com/office/powerpoint/2010/main" val="1656457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14</a:t>
            </a:fld>
            <a:endParaRPr lang="en-US"/>
          </a:p>
        </p:txBody>
      </p:sp>
    </p:spTree>
    <p:extLst>
      <p:ext uri="{BB962C8B-B14F-4D97-AF65-F5344CB8AC3E}">
        <p14:creationId xmlns:p14="http://schemas.microsoft.com/office/powerpoint/2010/main" val="3533977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endParaRPr lang="en-GB"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15</a:t>
            </a:fld>
            <a:endParaRPr lang="en-US"/>
          </a:p>
        </p:txBody>
      </p:sp>
    </p:spTree>
    <p:extLst>
      <p:ext uri="{BB962C8B-B14F-4D97-AF65-F5344CB8AC3E}">
        <p14:creationId xmlns:p14="http://schemas.microsoft.com/office/powerpoint/2010/main" val="1656457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endParaRPr lang="en-GB"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16</a:t>
            </a:fld>
            <a:endParaRPr lang="en-US"/>
          </a:p>
        </p:txBody>
      </p:sp>
    </p:spTree>
    <p:extLst>
      <p:ext uri="{BB962C8B-B14F-4D97-AF65-F5344CB8AC3E}">
        <p14:creationId xmlns:p14="http://schemas.microsoft.com/office/powerpoint/2010/main" val="2569634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endParaRPr lang="en-GB"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17</a:t>
            </a:fld>
            <a:endParaRPr lang="en-US"/>
          </a:p>
        </p:txBody>
      </p:sp>
    </p:spTree>
    <p:extLst>
      <p:ext uri="{BB962C8B-B14F-4D97-AF65-F5344CB8AC3E}">
        <p14:creationId xmlns:p14="http://schemas.microsoft.com/office/powerpoint/2010/main" val="529931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r>
              <a:rPr lang="en-GB" dirty="0"/>
              <a:t>A generic </a:t>
            </a:r>
            <a:r>
              <a:rPr lang="en-GB" dirty="0" err="1"/>
              <a:t>airfoils</a:t>
            </a:r>
            <a:r>
              <a:rPr lang="en-GB" dirty="0"/>
              <a:t> perturbs the freestream velocity with its presence. The flow is forced to deviate and accelerates along the boundary of the </a:t>
            </a:r>
            <a:r>
              <a:rPr lang="en-GB" dirty="0" err="1"/>
              <a:t>airfoil</a:t>
            </a:r>
            <a:r>
              <a:rPr lang="en-GB" dirty="0"/>
              <a:t>.</a:t>
            </a:r>
          </a:p>
          <a:p>
            <a:pPr eaLnBrk="1" hangingPunct="1"/>
            <a:r>
              <a:rPr lang="en-GB" dirty="0"/>
              <a:t>This acceleration generates a field of pressure forces acting on the </a:t>
            </a:r>
            <a:r>
              <a:rPr lang="en-GB" dirty="0" err="1"/>
              <a:t>airfoil</a:t>
            </a:r>
            <a:r>
              <a:rPr lang="en-GB" dirty="0"/>
              <a:t>. </a:t>
            </a:r>
          </a:p>
          <a:p>
            <a:pPr eaLnBrk="1" hangingPunct="1"/>
            <a:r>
              <a:rPr lang="en-GB" dirty="0"/>
              <a:t>The component normal to the freestream of the of pressure forces resultant is defined as lifting force; the component parallel to the freestream direction is the drag.</a:t>
            </a:r>
          </a:p>
          <a:p>
            <a:endParaRPr lang="en-GB" dirty="0"/>
          </a:p>
          <a:p>
            <a:pPr eaLnBrk="1" hangingPunct="1"/>
            <a:r>
              <a:rPr lang="en-GB" sz="1200" dirty="0"/>
              <a:t>The aerodynamic performance of </a:t>
            </a:r>
            <a:r>
              <a:rPr lang="en-GB" sz="1200" dirty="0" err="1"/>
              <a:t>airfoil</a:t>
            </a:r>
            <a:r>
              <a:rPr lang="en-GB" sz="1200" dirty="0"/>
              <a:t> sections can be studied by reference to the </a:t>
            </a:r>
            <a:r>
              <a:rPr lang="en-GB" sz="1200" b="1" dirty="0"/>
              <a:t>pressure distribution over the </a:t>
            </a:r>
            <a:r>
              <a:rPr lang="en-GB" sz="1200" b="1" dirty="0" err="1"/>
              <a:t>airfoil</a:t>
            </a:r>
            <a:r>
              <a:rPr lang="en-GB" sz="1200" dirty="0"/>
              <a:t>. This distribution is usually expressed in terms of the </a:t>
            </a:r>
            <a:r>
              <a:rPr lang="en-GB" sz="1200" b="1" dirty="0"/>
              <a:t>pressure coefficient Cp.</a:t>
            </a:r>
            <a:r>
              <a:rPr lang="en-GB" sz="1200" dirty="0"/>
              <a:t>   </a:t>
            </a:r>
          </a:p>
          <a:p>
            <a:pPr eaLnBrk="1" hangingPunct="1"/>
            <a:r>
              <a:rPr lang="en-GB" sz="1200" dirty="0" err="1"/>
              <a:t>Cp</a:t>
            </a:r>
            <a:r>
              <a:rPr lang="en-GB" sz="1200" dirty="0"/>
              <a:t> is defined as the difference between local static pressure (p) and freestream static pressure (p</a:t>
            </a:r>
            <a:r>
              <a:rPr lang="en-GB" sz="1200" baseline="-25000" dirty="0">
                <a:cs typeface="Arial" charset="0"/>
              </a:rPr>
              <a:t>∞</a:t>
            </a:r>
            <a:r>
              <a:rPr lang="en-GB" sz="1200" dirty="0">
                <a:cs typeface="Arial" charset="0"/>
              </a:rPr>
              <a:t>)</a:t>
            </a:r>
            <a:r>
              <a:rPr lang="en-GB" sz="1200" dirty="0"/>
              <a:t>, normalized with the freestream dynamic pressure (1/2</a:t>
            </a:r>
            <a:r>
              <a:rPr lang="el-GR" sz="1200" dirty="0">
                <a:cs typeface="Arial" charset="0"/>
              </a:rPr>
              <a:t>ρ</a:t>
            </a:r>
            <a:r>
              <a:rPr lang="nl-NL" sz="1200" dirty="0">
                <a:cs typeface="Arial" charset="0"/>
              </a:rPr>
              <a:t>V</a:t>
            </a:r>
            <a:r>
              <a:rPr lang="nl-NL" sz="1200" baseline="30000" dirty="0">
                <a:cs typeface="Arial" charset="0"/>
              </a:rPr>
              <a:t>2</a:t>
            </a:r>
            <a:r>
              <a:rPr lang="nl-NL" sz="1200" dirty="0">
                <a:cs typeface="Arial" charset="0"/>
              </a:rPr>
              <a:t>)</a:t>
            </a:r>
            <a:r>
              <a:rPr lang="en-GB" sz="1200" dirty="0"/>
              <a:t>. </a:t>
            </a:r>
          </a:p>
          <a:p>
            <a:pPr eaLnBrk="1" hangingPunct="1"/>
            <a:br>
              <a:rPr lang="en-GB" sz="1200" dirty="0"/>
            </a:br>
            <a:r>
              <a:rPr lang="en-GB" sz="1200" dirty="0"/>
              <a:t>x/c varies from 0 at the leading edge to 1.0 at the trailing edge. </a:t>
            </a:r>
            <a:r>
              <a:rPr lang="en-GB" sz="1200" dirty="0" err="1"/>
              <a:t>C</a:t>
            </a:r>
            <a:r>
              <a:rPr lang="en-GB" sz="1200" baseline="-25000" dirty="0" err="1"/>
              <a:t>p</a:t>
            </a:r>
            <a:r>
              <a:rPr lang="en-GB" sz="1200" dirty="0"/>
              <a:t> is normally plotted "upside-down" with negative values (suction), on the upper part of the plot. This is done so that the upper surface of a conventional lifting </a:t>
            </a:r>
            <a:r>
              <a:rPr lang="en-GB" sz="1200" dirty="0" err="1"/>
              <a:t>airfoil</a:t>
            </a:r>
            <a:r>
              <a:rPr lang="en-GB" sz="1200" dirty="0"/>
              <a:t> corresponds to the upper curve.</a:t>
            </a:r>
          </a:p>
          <a:p>
            <a:pPr eaLnBrk="1" hangingPunct="1"/>
            <a:br>
              <a:rPr lang="en-GB" sz="1200" dirty="0"/>
            </a:br>
            <a:r>
              <a:rPr lang="en-GB" sz="1200" dirty="0"/>
              <a:t>The </a:t>
            </a:r>
            <a:r>
              <a:rPr lang="en-GB" sz="1200" dirty="0" err="1"/>
              <a:t>C</a:t>
            </a:r>
            <a:r>
              <a:rPr lang="en-GB" sz="1200" baseline="-25000" dirty="0" err="1"/>
              <a:t>p</a:t>
            </a:r>
            <a:r>
              <a:rPr lang="en-GB" sz="1200" dirty="0"/>
              <a:t> value starts from about 1.0 at the stagnation point, near the leading edge. It rises rapidly (i.e., the pressure decreases) on both the upper and lower surfaces and finally recovers to a small positive value of </a:t>
            </a:r>
            <a:r>
              <a:rPr lang="en-GB" sz="1200" dirty="0" err="1"/>
              <a:t>C</a:t>
            </a:r>
            <a:r>
              <a:rPr lang="en-GB" sz="1200" baseline="-25000" dirty="0" err="1"/>
              <a:t>p</a:t>
            </a:r>
            <a:r>
              <a:rPr lang="en-GB" sz="1200" dirty="0"/>
              <a:t> near the trailing edge.</a:t>
            </a:r>
            <a:br>
              <a:rPr lang="en-GB" sz="1200" dirty="0"/>
            </a:br>
            <a:endParaRPr lang="en-GB" sz="1200" b="1" dirty="0"/>
          </a:p>
          <a:p>
            <a:pPr eaLnBrk="1" hangingPunct="1"/>
            <a:r>
              <a:rPr lang="en-GB" sz="1200" dirty="0"/>
              <a:t>The pressure distribution integrated around the </a:t>
            </a:r>
            <a:r>
              <a:rPr lang="en-GB" sz="1200" dirty="0" err="1"/>
              <a:t>airfoil</a:t>
            </a:r>
            <a:r>
              <a:rPr lang="en-GB" sz="1200" dirty="0"/>
              <a:t> is the </a:t>
            </a:r>
            <a:r>
              <a:rPr lang="en-GB" sz="1200" dirty="0" err="1"/>
              <a:t>airfoil</a:t>
            </a:r>
            <a:r>
              <a:rPr lang="en-GB" sz="1200" dirty="0"/>
              <a:t> lift force l. This lift force normalized with the </a:t>
            </a:r>
            <a:r>
              <a:rPr lang="en-GB" sz="1200" dirty="0" err="1"/>
              <a:t>airfoil</a:t>
            </a:r>
            <a:r>
              <a:rPr lang="en-GB" sz="1200" dirty="0"/>
              <a:t> chord length and the dynamic pressure is the </a:t>
            </a:r>
            <a:r>
              <a:rPr lang="en-GB" sz="1200" dirty="0" err="1"/>
              <a:t>airfoil</a:t>
            </a:r>
            <a:r>
              <a:rPr lang="en-GB" sz="1200" dirty="0"/>
              <a:t> lift coefficient, indicate as C</a:t>
            </a:r>
            <a:r>
              <a:rPr lang="en-GB" sz="1200" baseline="-25000" dirty="0"/>
              <a:t>l</a:t>
            </a:r>
          </a:p>
          <a:p>
            <a:pPr eaLnBrk="1" hangingPunct="1"/>
            <a:endParaRPr lang="en-GB" sz="1200" dirty="0"/>
          </a:p>
          <a:p>
            <a:pPr eaLnBrk="1" hangingPunct="1"/>
            <a:r>
              <a:rPr lang="en-GB" sz="1200" b="1" dirty="0"/>
              <a:t>N.B.:</a:t>
            </a:r>
          </a:p>
          <a:p>
            <a:pPr eaLnBrk="1" hangingPunct="1"/>
            <a:r>
              <a:rPr lang="en-GB" sz="1200" b="1" dirty="0"/>
              <a:t>l is used when referring to the </a:t>
            </a:r>
            <a:r>
              <a:rPr lang="en-GB" sz="1200" b="1" dirty="0" err="1"/>
              <a:t>airfoil</a:t>
            </a:r>
            <a:r>
              <a:rPr lang="en-GB" sz="1200" b="1" dirty="0"/>
              <a:t> (2D case)</a:t>
            </a:r>
          </a:p>
          <a:p>
            <a:pPr eaLnBrk="1" hangingPunct="1"/>
            <a:r>
              <a:rPr lang="en-GB" sz="1200" b="1" dirty="0"/>
              <a:t>L is used when referring to the wing (3D case);</a:t>
            </a:r>
            <a:r>
              <a:rPr lang="en-GB" sz="1200" dirty="0"/>
              <a:t> in this case the overall pressure distribution on the wing surface is normalised with the reference wing surface S.</a:t>
            </a:r>
          </a:p>
          <a:p>
            <a:pPr eaLnBrk="1" hangingPunct="1"/>
            <a:endParaRPr lang="en-GB" sz="1200" dirty="0"/>
          </a:p>
          <a:p>
            <a:pPr eaLnBrk="1" hangingPunct="1"/>
            <a:r>
              <a:rPr lang="en-GB" dirty="0"/>
              <a:t>The region of the pressure distribution where negative values start becoming less negative (pressure increases) is called the “pressure recovery region”.</a:t>
            </a:r>
            <a:br>
              <a:rPr lang="en-GB" dirty="0"/>
            </a:br>
            <a:r>
              <a:rPr lang="en-GB" dirty="0"/>
              <a:t>There the pressure increases from its minimum value to the value at the trailing edge.</a:t>
            </a:r>
            <a:br>
              <a:rPr lang="en-GB" dirty="0"/>
            </a:br>
            <a:r>
              <a:rPr lang="en-GB" dirty="0"/>
              <a:t>This area is also known as the region of </a:t>
            </a:r>
            <a:r>
              <a:rPr lang="en-GB" b="1" dirty="0"/>
              <a:t>adverse pressure gradient</a:t>
            </a:r>
            <a:r>
              <a:rPr lang="en-GB" dirty="0"/>
              <a:t> because the change from negative to positive pressure gradient is typically associated with the transition from laminar to turbulent flow and possibly with flow separation, in case the gradient is too severe.</a:t>
            </a:r>
            <a:br>
              <a:rPr lang="en-GB" dirty="0"/>
            </a:br>
            <a:endParaRPr lang="en-GB" dirty="0"/>
          </a:p>
          <a:p>
            <a:pPr eaLnBrk="1" hangingPunct="1"/>
            <a:r>
              <a:rPr lang="en-GB" dirty="0"/>
              <a:t>Furthermore, according to the flow speed regime, the recompression might happen by means of a shockwave formation, which is cause of drag and flow instability (see more about this later).</a:t>
            </a:r>
          </a:p>
          <a:p>
            <a:pPr eaLnBrk="1" hangingPunct="1"/>
            <a:endParaRPr lang="en-GB" dirty="0"/>
          </a:p>
          <a:p>
            <a:pPr eaLnBrk="1" hangingPunct="1"/>
            <a:r>
              <a:rPr lang="en-GB" dirty="0"/>
              <a:t>*</a:t>
            </a:r>
            <a:r>
              <a:rPr lang="en-GB" dirty="0" err="1"/>
              <a:t>Att</a:t>
            </a:r>
            <a:r>
              <a:rPr lang="en-GB" dirty="0"/>
              <a:t>! As it will be addressed later, the Minimum </a:t>
            </a:r>
            <a:r>
              <a:rPr lang="en-GB" dirty="0" err="1"/>
              <a:t>Cp</a:t>
            </a:r>
            <a:r>
              <a:rPr lang="en-GB" dirty="0"/>
              <a:t> value is an important value require to estimate the Mach critical of a given </a:t>
            </a:r>
            <a:r>
              <a:rPr lang="en-GB" dirty="0" err="1"/>
              <a:t>airfoil</a:t>
            </a:r>
            <a:r>
              <a:rPr lang="en-GB" dirty="0"/>
              <a:t> at a given flight condition. </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18</a:t>
            </a:fld>
            <a:endParaRPr lang="en-US"/>
          </a:p>
        </p:txBody>
      </p:sp>
    </p:spTree>
    <p:extLst>
      <p:ext uri="{BB962C8B-B14F-4D97-AF65-F5344CB8AC3E}">
        <p14:creationId xmlns:p14="http://schemas.microsoft.com/office/powerpoint/2010/main" val="20025244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r>
              <a:rPr lang="en-GB" dirty="0"/>
              <a:t>The linear </a:t>
            </a:r>
            <a:r>
              <a:rPr lang="en-GB" dirty="0" err="1"/>
              <a:t>airfoil</a:t>
            </a:r>
            <a:r>
              <a:rPr lang="en-GB" dirty="0"/>
              <a:t> theory suggests that the lift generated by the </a:t>
            </a:r>
            <a:r>
              <a:rPr lang="en-GB" dirty="0" err="1"/>
              <a:t>airfoil</a:t>
            </a:r>
            <a:r>
              <a:rPr lang="en-GB" dirty="0"/>
              <a:t> will increase linearly with the angle of attack, being 2</a:t>
            </a:r>
            <a:r>
              <a:rPr lang="el-GR" dirty="0">
                <a:cs typeface="Arial" charset="0"/>
              </a:rPr>
              <a:t>π</a:t>
            </a:r>
            <a:r>
              <a:rPr lang="en-GB" dirty="0"/>
              <a:t> the gradient of the lift </a:t>
            </a:r>
            <a:r>
              <a:rPr lang="en-GB" dirty="0" err="1"/>
              <a:t>v.s</a:t>
            </a:r>
            <a:r>
              <a:rPr lang="en-GB" dirty="0"/>
              <a:t>. alpha curve. In reality, the linear behaviour is lost starting from values of alpha close to the so called </a:t>
            </a:r>
            <a:r>
              <a:rPr lang="en-GB" b="1" dirty="0"/>
              <a:t>alpha stall (</a:t>
            </a:r>
            <a:r>
              <a:rPr lang="el-GR" b="1" dirty="0">
                <a:cs typeface="Arial" charset="0"/>
              </a:rPr>
              <a:t>α</a:t>
            </a:r>
            <a:r>
              <a:rPr lang="nl-NL" b="1" baseline="-25000" dirty="0">
                <a:cs typeface="Arial" charset="0"/>
              </a:rPr>
              <a:t>s</a:t>
            </a:r>
            <a:r>
              <a:rPr lang="nl-NL" b="1" dirty="0">
                <a:cs typeface="Arial" charset="0"/>
              </a:rPr>
              <a:t>), </a:t>
            </a:r>
            <a:r>
              <a:rPr lang="nl-NL" b="1" dirty="0" err="1">
                <a:cs typeface="Arial" charset="0"/>
              </a:rPr>
              <a:t>where</a:t>
            </a:r>
            <a:r>
              <a:rPr lang="nl-NL" b="1" dirty="0">
                <a:cs typeface="Arial" charset="0"/>
              </a:rPr>
              <a:t> </a:t>
            </a:r>
            <a:r>
              <a:rPr lang="en-GB" b="1" dirty="0"/>
              <a:t>C</a:t>
            </a:r>
            <a:r>
              <a:rPr lang="en-GB" b="1" baseline="-25000" dirty="0"/>
              <a:t>l</a:t>
            </a:r>
            <a:r>
              <a:rPr lang="en-GB" b="1" dirty="0"/>
              <a:t> reaches its maximum value</a:t>
            </a:r>
            <a:r>
              <a:rPr lang="en-GB" dirty="0"/>
              <a:t>. </a:t>
            </a:r>
          </a:p>
          <a:p>
            <a:pPr eaLnBrk="1" hangingPunct="1"/>
            <a:r>
              <a:rPr lang="en-GB" dirty="0"/>
              <a:t>Of course it also exists a negative stall angle, where the a maximum negative value of lift is achieved. This might not be too interesting for the wing of normal transport aircraft, but it is for aerobatic aircraft which must flight reverted, as well as for tail lifting surfaces (the tail must be able to generated both positive and negative lift to balance the aircraft during the various flight phases.</a:t>
            </a:r>
          </a:p>
          <a:p>
            <a:pPr eaLnBrk="1" hangingPunct="1"/>
            <a:endParaRPr lang="en-GB" dirty="0"/>
          </a:p>
          <a:p>
            <a:pPr eaLnBrk="1" hangingPunct="1"/>
            <a:r>
              <a:rPr lang="en-GB" dirty="0"/>
              <a:t>For values of alpha larger than </a:t>
            </a:r>
            <a:r>
              <a:rPr lang="el-GR" dirty="0">
                <a:cs typeface="Arial" charset="0"/>
              </a:rPr>
              <a:t>α</a:t>
            </a:r>
            <a:r>
              <a:rPr lang="nl-NL" baseline="-25000" dirty="0">
                <a:cs typeface="Arial" charset="0"/>
              </a:rPr>
              <a:t>s , </a:t>
            </a:r>
            <a:r>
              <a:rPr lang="en-GB" dirty="0"/>
              <a:t> the lift decreases, while, at the same time, the drag increases substantially because of the separation of the flow. The stall angle, is often addressed as </a:t>
            </a:r>
            <a:r>
              <a:rPr lang="en-GB" b="1" dirty="0"/>
              <a:t>critical angle of attack</a:t>
            </a:r>
            <a:r>
              <a:rPr lang="en-GB" dirty="0"/>
              <a:t>.</a:t>
            </a:r>
          </a:p>
          <a:p>
            <a:pPr eaLnBrk="1" hangingPunct="1"/>
            <a:r>
              <a:rPr lang="en-GB" dirty="0"/>
              <a:t> </a:t>
            </a:r>
          </a:p>
          <a:p>
            <a:pPr eaLnBrk="1" hangingPunct="1"/>
            <a:r>
              <a:rPr lang="en-GB" dirty="0"/>
              <a:t>POINT OF ATTENTION: 2</a:t>
            </a:r>
            <a:r>
              <a:rPr lang="el-GR" dirty="0">
                <a:cs typeface="Arial" charset="0"/>
              </a:rPr>
              <a:t>π</a:t>
            </a:r>
            <a:r>
              <a:rPr lang="en-GB" dirty="0"/>
              <a:t> is the highest gradient according to the “theory for thin </a:t>
            </a:r>
            <a:r>
              <a:rPr lang="en-GB" dirty="0" err="1"/>
              <a:t>airfoils</a:t>
            </a:r>
            <a:r>
              <a:rPr lang="en-GB" dirty="0"/>
              <a:t>”. However, this is </a:t>
            </a:r>
            <a:r>
              <a:rPr lang="en-GB" b="1" dirty="0"/>
              <a:t>true only for low </a:t>
            </a:r>
            <a:r>
              <a:rPr lang="en-GB" b="1" dirty="0" err="1"/>
              <a:t>mach</a:t>
            </a:r>
            <a:r>
              <a:rPr lang="en-GB" b="1" dirty="0"/>
              <a:t> numbers </a:t>
            </a:r>
            <a:r>
              <a:rPr lang="en-GB" dirty="0"/>
              <a:t>(M &lt;= 0.2), when no compressibility effects are present! See later about the effects of compressibility.</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19</a:t>
            </a:fld>
            <a:endParaRPr lang="en-US"/>
          </a:p>
        </p:txBody>
      </p:sp>
    </p:spTree>
    <p:extLst>
      <p:ext uri="{BB962C8B-B14F-4D97-AF65-F5344CB8AC3E}">
        <p14:creationId xmlns:p14="http://schemas.microsoft.com/office/powerpoint/2010/main" val="2266281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nl-NL" dirty="0">
                <a:cs typeface="Arial" charset="0"/>
              </a:rPr>
              <a:t>Attention! </a:t>
            </a:r>
            <a:r>
              <a:rPr lang="nl-NL" dirty="0" err="1">
                <a:cs typeface="Arial" charset="0"/>
              </a:rPr>
              <a:t>Not</a:t>
            </a:r>
            <a:r>
              <a:rPr lang="nl-NL" dirty="0">
                <a:cs typeface="Arial" charset="0"/>
              </a:rPr>
              <a:t> </a:t>
            </a:r>
            <a:r>
              <a:rPr lang="nl-NL" dirty="0" err="1">
                <a:cs typeface="Arial" charset="0"/>
              </a:rPr>
              <a:t>all</a:t>
            </a:r>
            <a:r>
              <a:rPr lang="nl-NL" dirty="0">
                <a:cs typeface="Arial" charset="0"/>
              </a:rPr>
              <a:t> kinds of </a:t>
            </a:r>
            <a:r>
              <a:rPr lang="nl-NL" dirty="0" err="1">
                <a:cs typeface="Arial" charset="0"/>
              </a:rPr>
              <a:t>airfoil</a:t>
            </a:r>
            <a:r>
              <a:rPr lang="nl-NL" dirty="0">
                <a:cs typeface="Arial" charset="0"/>
              </a:rPr>
              <a:t> feature </a:t>
            </a:r>
            <a:r>
              <a:rPr lang="nl-NL" dirty="0" err="1">
                <a:cs typeface="Arial" charset="0"/>
              </a:rPr>
              <a:t>the</a:t>
            </a:r>
            <a:r>
              <a:rPr lang="nl-NL" dirty="0">
                <a:cs typeface="Arial" charset="0"/>
              </a:rPr>
              <a:t> </a:t>
            </a:r>
            <a:r>
              <a:rPr lang="nl-NL" dirty="0" err="1">
                <a:cs typeface="Arial" charset="0"/>
              </a:rPr>
              <a:t>so</a:t>
            </a:r>
            <a:r>
              <a:rPr lang="nl-NL" dirty="0">
                <a:cs typeface="Arial" charset="0"/>
              </a:rPr>
              <a:t> </a:t>
            </a:r>
            <a:r>
              <a:rPr lang="nl-NL" dirty="0" err="1">
                <a:cs typeface="Arial" charset="0"/>
              </a:rPr>
              <a:t>called</a:t>
            </a:r>
            <a:r>
              <a:rPr lang="nl-NL" dirty="0">
                <a:cs typeface="Arial" charset="0"/>
              </a:rPr>
              <a:t> </a:t>
            </a:r>
            <a:r>
              <a:rPr lang="nl-NL" dirty="0" err="1">
                <a:cs typeface="Arial" charset="0"/>
              </a:rPr>
              <a:t>drag</a:t>
            </a:r>
            <a:r>
              <a:rPr lang="nl-NL" dirty="0">
                <a:cs typeface="Arial" charset="0"/>
              </a:rPr>
              <a:t> bucket. The </a:t>
            </a:r>
            <a:r>
              <a:rPr lang="nl-NL" dirty="0" err="1">
                <a:cs typeface="Arial" charset="0"/>
              </a:rPr>
              <a:t>presence</a:t>
            </a:r>
            <a:r>
              <a:rPr lang="nl-NL" dirty="0">
                <a:cs typeface="Arial" charset="0"/>
              </a:rPr>
              <a:t> of a </a:t>
            </a:r>
            <a:r>
              <a:rPr lang="nl-NL" dirty="0" err="1">
                <a:cs typeface="Arial" charset="0"/>
              </a:rPr>
              <a:t>miminum</a:t>
            </a:r>
            <a:r>
              <a:rPr lang="nl-NL" dirty="0">
                <a:cs typeface="Arial" charset="0"/>
              </a:rPr>
              <a:t> plateau in </a:t>
            </a:r>
            <a:r>
              <a:rPr lang="nl-NL" dirty="0" err="1">
                <a:cs typeface="Arial" charset="0"/>
              </a:rPr>
              <a:t>the</a:t>
            </a:r>
            <a:r>
              <a:rPr lang="nl-NL" dirty="0">
                <a:cs typeface="Arial" charset="0"/>
              </a:rPr>
              <a:t> </a:t>
            </a:r>
            <a:r>
              <a:rPr lang="nl-NL" dirty="0" err="1">
                <a:cs typeface="Arial" charset="0"/>
              </a:rPr>
              <a:t>drag</a:t>
            </a:r>
            <a:r>
              <a:rPr lang="nl-NL" dirty="0">
                <a:cs typeface="Arial" charset="0"/>
              </a:rPr>
              <a:t> </a:t>
            </a:r>
            <a:r>
              <a:rPr lang="nl-NL" dirty="0" err="1">
                <a:cs typeface="Arial" charset="0"/>
              </a:rPr>
              <a:t>polar</a:t>
            </a:r>
            <a:r>
              <a:rPr lang="nl-NL" dirty="0">
                <a:cs typeface="Arial" charset="0"/>
              </a:rPr>
              <a:t> </a:t>
            </a:r>
            <a:r>
              <a:rPr lang="nl-NL" dirty="0" err="1">
                <a:cs typeface="Arial" charset="0"/>
              </a:rPr>
              <a:t>rather</a:t>
            </a:r>
            <a:r>
              <a:rPr lang="nl-NL" dirty="0">
                <a:cs typeface="Arial" charset="0"/>
              </a:rPr>
              <a:t> </a:t>
            </a:r>
            <a:r>
              <a:rPr lang="nl-NL" dirty="0" err="1">
                <a:cs typeface="Arial" charset="0"/>
              </a:rPr>
              <a:t>than</a:t>
            </a:r>
            <a:r>
              <a:rPr lang="nl-NL" dirty="0">
                <a:cs typeface="Arial" charset="0"/>
              </a:rPr>
              <a:t> </a:t>
            </a:r>
            <a:r>
              <a:rPr lang="nl-NL" dirty="0" err="1">
                <a:cs typeface="Arial" charset="0"/>
              </a:rPr>
              <a:t>just</a:t>
            </a:r>
            <a:r>
              <a:rPr lang="nl-NL" dirty="0">
                <a:cs typeface="Arial" charset="0"/>
              </a:rPr>
              <a:t> a single evident minimum, </a:t>
            </a:r>
            <a:r>
              <a:rPr lang="nl-NL" dirty="0" err="1">
                <a:cs typeface="Arial" charset="0"/>
              </a:rPr>
              <a:t>depends</a:t>
            </a:r>
            <a:r>
              <a:rPr lang="nl-NL" dirty="0">
                <a:cs typeface="Arial" charset="0"/>
              </a:rPr>
              <a:t> on </a:t>
            </a:r>
            <a:r>
              <a:rPr lang="nl-NL" dirty="0" err="1">
                <a:cs typeface="Arial" charset="0"/>
              </a:rPr>
              <a:t>the</a:t>
            </a:r>
            <a:r>
              <a:rPr lang="nl-NL" dirty="0">
                <a:cs typeface="Arial" charset="0"/>
              </a:rPr>
              <a:t> </a:t>
            </a:r>
            <a:r>
              <a:rPr lang="nl-NL" dirty="0" err="1">
                <a:cs typeface="Arial" charset="0"/>
              </a:rPr>
              <a:t>specific</a:t>
            </a:r>
            <a:r>
              <a:rPr lang="nl-NL" dirty="0">
                <a:cs typeface="Arial" charset="0"/>
              </a:rPr>
              <a:t> design </a:t>
            </a:r>
            <a:r>
              <a:rPr lang="nl-NL" dirty="0" err="1">
                <a:cs typeface="Arial" charset="0"/>
              </a:rPr>
              <a:t>characteristics</a:t>
            </a:r>
            <a:r>
              <a:rPr lang="nl-NL" dirty="0">
                <a:cs typeface="Arial" charset="0"/>
              </a:rPr>
              <a:t> of </a:t>
            </a:r>
            <a:r>
              <a:rPr lang="nl-NL" dirty="0" err="1">
                <a:cs typeface="Arial" charset="0"/>
              </a:rPr>
              <a:t>the</a:t>
            </a:r>
            <a:r>
              <a:rPr lang="nl-NL" dirty="0">
                <a:cs typeface="Arial" charset="0"/>
              </a:rPr>
              <a:t> </a:t>
            </a:r>
            <a:r>
              <a:rPr lang="nl-NL" dirty="0" err="1">
                <a:cs typeface="Arial" charset="0"/>
              </a:rPr>
              <a:t>airfoil</a:t>
            </a:r>
            <a:r>
              <a:rPr lang="nl-NL" dirty="0">
                <a:cs typeface="Arial" charset="0"/>
              </a:rPr>
              <a:t> (</a:t>
            </a:r>
            <a:r>
              <a:rPr lang="nl-NL" dirty="0" err="1">
                <a:cs typeface="Arial" charset="0"/>
              </a:rPr>
              <a:t>see</a:t>
            </a:r>
            <a:r>
              <a:rPr lang="nl-NL" dirty="0">
                <a:cs typeface="Arial" charset="0"/>
              </a:rPr>
              <a:t> later </a:t>
            </a:r>
            <a:r>
              <a:rPr lang="nl-NL" dirty="0" err="1">
                <a:cs typeface="Arial" charset="0"/>
              </a:rPr>
              <a:t>about</a:t>
            </a:r>
            <a:r>
              <a:rPr lang="nl-NL" dirty="0">
                <a:cs typeface="Arial" charset="0"/>
              </a:rPr>
              <a:t> </a:t>
            </a:r>
            <a:r>
              <a:rPr lang="nl-NL" dirty="0" err="1">
                <a:cs typeface="Arial" charset="0"/>
              </a:rPr>
              <a:t>laminar</a:t>
            </a:r>
            <a:r>
              <a:rPr lang="nl-NL" dirty="0">
                <a:cs typeface="Arial" charset="0"/>
              </a:rPr>
              <a:t> </a:t>
            </a:r>
            <a:r>
              <a:rPr lang="nl-NL" dirty="0" err="1">
                <a:cs typeface="Arial" charset="0"/>
              </a:rPr>
              <a:t>airfoils</a:t>
            </a:r>
            <a:r>
              <a:rPr lang="nl-NL" dirty="0">
                <a:cs typeface="Arial" charset="0"/>
              </a:rPr>
              <a:t> like </a:t>
            </a:r>
            <a:r>
              <a:rPr lang="nl-NL" dirty="0" err="1">
                <a:cs typeface="Arial" charset="0"/>
              </a:rPr>
              <a:t>the</a:t>
            </a:r>
            <a:r>
              <a:rPr lang="nl-NL" dirty="0">
                <a:cs typeface="Arial" charset="0"/>
              </a:rPr>
              <a:t> NACA 6 family). </a:t>
            </a:r>
            <a:br>
              <a:rPr lang="nl-NL" dirty="0">
                <a:cs typeface="Arial" charset="0"/>
              </a:rPr>
            </a:br>
            <a:r>
              <a:rPr lang="nl-NL" dirty="0" err="1">
                <a:cs typeface="Arial" charset="0"/>
              </a:rPr>
              <a:t>However</a:t>
            </a:r>
            <a:r>
              <a:rPr lang="nl-NL" dirty="0">
                <a:cs typeface="Arial" charset="0"/>
              </a:rPr>
              <a:t> in order </a:t>
            </a:r>
            <a:r>
              <a:rPr lang="nl-NL" dirty="0" err="1">
                <a:cs typeface="Arial" charset="0"/>
              </a:rPr>
              <a:t>to</a:t>
            </a:r>
            <a:r>
              <a:rPr lang="nl-NL" dirty="0">
                <a:cs typeface="Arial" charset="0"/>
              </a:rPr>
              <a:t> </a:t>
            </a:r>
            <a:r>
              <a:rPr lang="nl-NL" dirty="0" err="1">
                <a:cs typeface="Arial" charset="0"/>
              </a:rPr>
              <a:t>really</a:t>
            </a:r>
            <a:r>
              <a:rPr lang="nl-NL" dirty="0">
                <a:cs typeface="Arial" charset="0"/>
              </a:rPr>
              <a:t> show </a:t>
            </a:r>
            <a:r>
              <a:rPr lang="nl-NL" dirty="0" err="1">
                <a:cs typeface="Arial" charset="0"/>
              </a:rPr>
              <a:t>the</a:t>
            </a:r>
            <a:r>
              <a:rPr lang="nl-NL" dirty="0">
                <a:cs typeface="Arial" charset="0"/>
              </a:rPr>
              <a:t> bucket, </a:t>
            </a:r>
            <a:r>
              <a:rPr lang="nl-NL" dirty="0" err="1">
                <a:cs typeface="Arial" charset="0"/>
              </a:rPr>
              <a:t>the</a:t>
            </a:r>
            <a:r>
              <a:rPr lang="nl-NL" dirty="0">
                <a:cs typeface="Arial" charset="0"/>
              </a:rPr>
              <a:t> </a:t>
            </a:r>
            <a:r>
              <a:rPr lang="nl-NL" dirty="0" err="1">
                <a:cs typeface="Arial" charset="0"/>
              </a:rPr>
              <a:t>geometry</a:t>
            </a:r>
            <a:r>
              <a:rPr lang="nl-NL" dirty="0">
                <a:cs typeface="Arial" charset="0"/>
              </a:rPr>
              <a:t> of </a:t>
            </a:r>
            <a:r>
              <a:rPr lang="nl-NL" dirty="0" err="1">
                <a:cs typeface="Arial" charset="0"/>
              </a:rPr>
              <a:t>the</a:t>
            </a:r>
            <a:r>
              <a:rPr lang="nl-NL" dirty="0">
                <a:cs typeface="Arial" charset="0"/>
              </a:rPr>
              <a:t> </a:t>
            </a:r>
            <a:r>
              <a:rPr lang="nl-NL" dirty="0" err="1">
                <a:cs typeface="Arial" charset="0"/>
              </a:rPr>
              <a:t>airfoil</a:t>
            </a:r>
            <a:r>
              <a:rPr lang="nl-NL" dirty="0">
                <a:cs typeface="Arial" charset="0"/>
              </a:rPr>
              <a:t> is </a:t>
            </a:r>
            <a:r>
              <a:rPr lang="nl-NL" dirty="0" err="1">
                <a:cs typeface="Arial" charset="0"/>
              </a:rPr>
              <a:t>not</a:t>
            </a:r>
            <a:r>
              <a:rPr lang="nl-NL" dirty="0">
                <a:cs typeface="Arial" charset="0"/>
              </a:rPr>
              <a:t> </a:t>
            </a:r>
            <a:r>
              <a:rPr lang="nl-NL" dirty="0" err="1">
                <a:cs typeface="Arial" charset="0"/>
              </a:rPr>
              <a:t>the</a:t>
            </a:r>
            <a:r>
              <a:rPr lang="nl-NL" dirty="0">
                <a:cs typeface="Arial" charset="0"/>
              </a:rPr>
              <a:t> </a:t>
            </a:r>
            <a:r>
              <a:rPr lang="nl-NL" dirty="0" err="1">
                <a:cs typeface="Arial" charset="0"/>
              </a:rPr>
              <a:t>only</a:t>
            </a:r>
            <a:r>
              <a:rPr lang="nl-NL" dirty="0">
                <a:cs typeface="Arial" charset="0"/>
              </a:rPr>
              <a:t> factor. The Re </a:t>
            </a:r>
            <a:r>
              <a:rPr lang="nl-NL" dirty="0" err="1">
                <a:cs typeface="Arial" charset="0"/>
              </a:rPr>
              <a:t>value</a:t>
            </a:r>
            <a:r>
              <a:rPr lang="nl-NL" dirty="0">
                <a:cs typeface="Arial" charset="0"/>
              </a:rPr>
              <a:t> is important as well. Indeed </a:t>
            </a:r>
            <a:r>
              <a:rPr lang="nl-NL" dirty="0" err="1">
                <a:cs typeface="Arial" charset="0"/>
              </a:rPr>
              <a:t>there</a:t>
            </a:r>
            <a:r>
              <a:rPr lang="nl-NL" dirty="0">
                <a:cs typeface="Arial" charset="0"/>
              </a:rPr>
              <a:t> is a </a:t>
            </a:r>
            <a:r>
              <a:rPr lang="nl-NL" dirty="0" err="1">
                <a:cs typeface="Arial" charset="0"/>
              </a:rPr>
              <a:t>Re_Design</a:t>
            </a:r>
            <a:r>
              <a:rPr lang="nl-NL" dirty="0">
                <a:cs typeface="Arial" charset="0"/>
              </a:rPr>
              <a:t> </a:t>
            </a:r>
            <a:r>
              <a:rPr lang="nl-NL" dirty="0" err="1">
                <a:cs typeface="Arial" charset="0"/>
              </a:rPr>
              <a:t>value</a:t>
            </a:r>
            <a:r>
              <a:rPr lang="nl-NL" dirty="0">
                <a:cs typeface="Arial" charset="0"/>
              </a:rPr>
              <a:t>, </a:t>
            </a:r>
            <a:r>
              <a:rPr lang="nl-NL" dirty="0" err="1">
                <a:cs typeface="Arial" charset="0"/>
              </a:rPr>
              <a:t>beyond</a:t>
            </a:r>
            <a:r>
              <a:rPr lang="nl-NL" dirty="0">
                <a:cs typeface="Arial" charset="0"/>
              </a:rPr>
              <a:t> </a:t>
            </a:r>
            <a:r>
              <a:rPr lang="nl-NL" dirty="0" err="1">
                <a:cs typeface="Arial" charset="0"/>
              </a:rPr>
              <a:t>which</a:t>
            </a:r>
            <a:r>
              <a:rPr lang="nl-NL" dirty="0">
                <a:cs typeface="Arial" charset="0"/>
              </a:rPr>
              <a:t> </a:t>
            </a:r>
            <a:r>
              <a:rPr lang="nl-NL" dirty="0" err="1">
                <a:cs typeface="Arial" charset="0"/>
              </a:rPr>
              <a:t>the</a:t>
            </a:r>
            <a:r>
              <a:rPr lang="nl-NL" dirty="0">
                <a:cs typeface="Arial" charset="0"/>
              </a:rPr>
              <a:t> </a:t>
            </a:r>
            <a:r>
              <a:rPr lang="nl-NL" dirty="0" err="1">
                <a:cs typeface="Arial" charset="0"/>
              </a:rPr>
              <a:t>transition</a:t>
            </a:r>
            <a:r>
              <a:rPr lang="nl-NL" dirty="0">
                <a:cs typeface="Arial" charset="0"/>
              </a:rPr>
              <a:t> </a:t>
            </a:r>
            <a:r>
              <a:rPr lang="nl-NL" dirty="0" err="1">
                <a:cs typeface="Arial" charset="0"/>
              </a:rPr>
              <a:t>to</a:t>
            </a:r>
            <a:r>
              <a:rPr lang="nl-NL" dirty="0">
                <a:cs typeface="Arial" charset="0"/>
              </a:rPr>
              <a:t> a turbulent flow </a:t>
            </a:r>
            <a:r>
              <a:rPr lang="nl-NL" dirty="0" err="1">
                <a:cs typeface="Arial" charset="0"/>
              </a:rPr>
              <a:t>occours</a:t>
            </a:r>
            <a:r>
              <a:rPr lang="nl-NL" dirty="0">
                <a:cs typeface="Arial" charset="0"/>
              </a:rPr>
              <a:t>, </a:t>
            </a:r>
            <a:r>
              <a:rPr lang="nl-NL" dirty="0" err="1">
                <a:cs typeface="Arial" charset="0"/>
              </a:rPr>
              <a:t>with</a:t>
            </a:r>
            <a:r>
              <a:rPr lang="nl-NL" dirty="0">
                <a:cs typeface="Arial" charset="0"/>
              </a:rPr>
              <a:t> consequent “</a:t>
            </a:r>
            <a:r>
              <a:rPr lang="nl-NL" dirty="0" err="1">
                <a:cs typeface="Arial" charset="0"/>
              </a:rPr>
              <a:t>filling</a:t>
            </a:r>
            <a:r>
              <a:rPr lang="nl-NL" dirty="0">
                <a:cs typeface="Arial" charset="0"/>
              </a:rPr>
              <a:t>” of </a:t>
            </a:r>
            <a:r>
              <a:rPr lang="nl-NL" dirty="0" err="1">
                <a:cs typeface="Arial" charset="0"/>
              </a:rPr>
              <a:t>the</a:t>
            </a:r>
            <a:r>
              <a:rPr lang="nl-NL" dirty="0">
                <a:cs typeface="Arial" charset="0"/>
              </a:rPr>
              <a:t> </a:t>
            </a:r>
            <a:r>
              <a:rPr lang="nl-NL" dirty="0" err="1">
                <a:cs typeface="Arial" charset="0"/>
              </a:rPr>
              <a:t>drag</a:t>
            </a:r>
            <a:r>
              <a:rPr lang="nl-NL" dirty="0">
                <a:cs typeface="Arial" charset="0"/>
              </a:rPr>
              <a:t> bucket </a:t>
            </a:r>
            <a:r>
              <a:rPr lang="nl-NL" dirty="0" err="1">
                <a:cs typeface="Arial" charset="0"/>
              </a:rPr>
              <a:t>and</a:t>
            </a:r>
            <a:r>
              <a:rPr lang="nl-NL" dirty="0">
                <a:cs typeface="Arial" charset="0"/>
              </a:rPr>
              <a:t> </a:t>
            </a:r>
            <a:r>
              <a:rPr lang="nl-NL" dirty="0" err="1">
                <a:cs typeface="Arial" charset="0"/>
              </a:rPr>
              <a:t>enhancement</a:t>
            </a:r>
            <a:r>
              <a:rPr lang="nl-NL" dirty="0">
                <a:cs typeface="Arial" charset="0"/>
              </a:rPr>
              <a:t> of </a:t>
            </a:r>
            <a:r>
              <a:rPr lang="nl-NL" dirty="0" err="1">
                <a:cs typeface="Arial" charset="0"/>
              </a:rPr>
              <a:t>the</a:t>
            </a:r>
            <a:r>
              <a:rPr lang="nl-NL" dirty="0">
                <a:cs typeface="Arial" charset="0"/>
              </a:rPr>
              <a:t> </a:t>
            </a:r>
            <a:r>
              <a:rPr lang="nl-NL" dirty="0" err="1">
                <a:cs typeface="Arial" charset="0"/>
              </a:rPr>
              <a:t>airfoil</a:t>
            </a:r>
            <a:r>
              <a:rPr lang="nl-NL" dirty="0">
                <a:cs typeface="Arial" charset="0"/>
              </a:rPr>
              <a:t> friction </a:t>
            </a:r>
            <a:r>
              <a:rPr lang="nl-NL" dirty="0" err="1">
                <a:cs typeface="Arial" charset="0"/>
              </a:rPr>
              <a:t>drag</a:t>
            </a:r>
            <a:r>
              <a:rPr lang="nl-NL" dirty="0">
                <a:cs typeface="Arial" charset="0"/>
              </a:rPr>
              <a:t>. </a:t>
            </a:r>
            <a:r>
              <a:rPr lang="nl-NL" dirty="0" err="1">
                <a:cs typeface="Arial" charset="0"/>
              </a:rPr>
              <a:t>Also</a:t>
            </a:r>
            <a:r>
              <a:rPr lang="nl-NL" dirty="0">
                <a:cs typeface="Arial" charset="0"/>
              </a:rPr>
              <a:t> </a:t>
            </a:r>
            <a:r>
              <a:rPr lang="nl-NL" dirty="0" err="1">
                <a:cs typeface="Arial" charset="0"/>
              </a:rPr>
              <a:t>the</a:t>
            </a:r>
            <a:r>
              <a:rPr lang="nl-NL" dirty="0">
                <a:cs typeface="Arial" charset="0"/>
              </a:rPr>
              <a:t> </a:t>
            </a:r>
            <a:r>
              <a:rPr lang="nl-NL" dirty="0" err="1">
                <a:cs typeface="Arial" charset="0"/>
              </a:rPr>
              <a:t>roughness</a:t>
            </a:r>
            <a:r>
              <a:rPr lang="nl-NL" dirty="0">
                <a:cs typeface="Arial" charset="0"/>
              </a:rPr>
              <a:t> of </a:t>
            </a:r>
            <a:r>
              <a:rPr lang="nl-NL" dirty="0" err="1">
                <a:cs typeface="Arial" charset="0"/>
              </a:rPr>
              <a:t>the</a:t>
            </a:r>
            <a:r>
              <a:rPr lang="nl-NL" dirty="0">
                <a:cs typeface="Arial" charset="0"/>
              </a:rPr>
              <a:t> </a:t>
            </a:r>
            <a:r>
              <a:rPr lang="nl-NL" dirty="0" err="1">
                <a:cs typeface="Arial" charset="0"/>
              </a:rPr>
              <a:t>airfoil</a:t>
            </a:r>
            <a:r>
              <a:rPr lang="nl-NL" dirty="0">
                <a:cs typeface="Arial" charset="0"/>
              </a:rPr>
              <a:t> is determinant, </a:t>
            </a:r>
            <a:r>
              <a:rPr lang="nl-NL" dirty="0" err="1">
                <a:cs typeface="Arial" charset="0"/>
              </a:rPr>
              <a:t>hence</a:t>
            </a:r>
            <a:r>
              <a:rPr lang="nl-NL" dirty="0">
                <a:cs typeface="Arial" charset="0"/>
              </a:rPr>
              <a:t> </a:t>
            </a:r>
            <a:r>
              <a:rPr lang="nl-NL" dirty="0" err="1">
                <a:cs typeface="Arial" charset="0"/>
              </a:rPr>
              <a:t>both</a:t>
            </a:r>
            <a:r>
              <a:rPr lang="nl-NL" dirty="0">
                <a:cs typeface="Arial" charset="0"/>
              </a:rPr>
              <a:t> </a:t>
            </a:r>
            <a:r>
              <a:rPr lang="nl-NL" dirty="0" err="1">
                <a:cs typeface="Arial" charset="0"/>
              </a:rPr>
              <a:t>the</a:t>
            </a:r>
            <a:r>
              <a:rPr lang="nl-NL" dirty="0">
                <a:cs typeface="Arial" charset="0"/>
              </a:rPr>
              <a:t> manufacturing </a:t>
            </a:r>
            <a:r>
              <a:rPr lang="nl-NL" dirty="0" err="1">
                <a:cs typeface="Arial" charset="0"/>
              </a:rPr>
              <a:t>accuracy</a:t>
            </a:r>
            <a:r>
              <a:rPr lang="nl-NL" dirty="0">
                <a:cs typeface="Arial" charset="0"/>
              </a:rPr>
              <a:t> </a:t>
            </a:r>
            <a:r>
              <a:rPr lang="nl-NL" dirty="0" err="1">
                <a:cs typeface="Arial" charset="0"/>
              </a:rPr>
              <a:t>and</a:t>
            </a:r>
            <a:r>
              <a:rPr lang="nl-NL" dirty="0">
                <a:cs typeface="Arial" charset="0"/>
              </a:rPr>
              <a:t> </a:t>
            </a:r>
            <a:r>
              <a:rPr lang="nl-NL" dirty="0" err="1">
                <a:cs typeface="Arial" charset="0"/>
              </a:rPr>
              <a:t>the</a:t>
            </a:r>
            <a:r>
              <a:rPr lang="nl-NL" dirty="0">
                <a:cs typeface="Arial" charset="0"/>
              </a:rPr>
              <a:t> </a:t>
            </a:r>
            <a:r>
              <a:rPr lang="nl-NL" dirty="0" err="1">
                <a:cs typeface="Arial" charset="0"/>
              </a:rPr>
              <a:t>cleannes</a:t>
            </a:r>
            <a:r>
              <a:rPr lang="nl-NL" dirty="0">
                <a:cs typeface="Arial" charset="0"/>
              </a:rPr>
              <a:t> of </a:t>
            </a:r>
            <a:r>
              <a:rPr lang="nl-NL" dirty="0" err="1">
                <a:cs typeface="Arial" charset="0"/>
              </a:rPr>
              <a:t>the</a:t>
            </a:r>
            <a:r>
              <a:rPr lang="nl-NL" dirty="0">
                <a:cs typeface="Arial" charset="0"/>
              </a:rPr>
              <a:t> </a:t>
            </a:r>
            <a:r>
              <a:rPr lang="nl-NL" dirty="0" err="1">
                <a:cs typeface="Arial" charset="0"/>
              </a:rPr>
              <a:t>wing</a:t>
            </a:r>
            <a:r>
              <a:rPr lang="nl-NL" dirty="0">
                <a:cs typeface="Arial" charset="0"/>
              </a:rPr>
              <a:t> </a:t>
            </a:r>
            <a:r>
              <a:rPr lang="nl-NL" dirty="0" err="1">
                <a:cs typeface="Arial" charset="0"/>
              </a:rPr>
              <a:t>section</a:t>
            </a:r>
            <a:r>
              <a:rPr lang="nl-NL" dirty="0">
                <a:cs typeface="Arial" charset="0"/>
              </a:rPr>
              <a:t> (no </a:t>
            </a:r>
            <a:r>
              <a:rPr lang="nl-NL" dirty="0" err="1">
                <a:cs typeface="Arial" charset="0"/>
              </a:rPr>
              <a:t>insects</a:t>
            </a:r>
            <a:r>
              <a:rPr lang="nl-NL" dirty="0">
                <a:cs typeface="Arial" charset="0"/>
              </a:rPr>
              <a:t> </a:t>
            </a:r>
            <a:r>
              <a:rPr lang="nl-NL" dirty="0" err="1">
                <a:cs typeface="Arial" charset="0"/>
              </a:rPr>
              <a:t>and</a:t>
            </a:r>
            <a:r>
              <a:rPr lang="nl-NL" dirty="0">
                <a:cs typeface="Arial" charset="0"/>
              </a:rPr>
              <a:t> dirty) are determinant </a:t>
            </a:r>
            <a:r>
              <a:rPr lang="nl-NL" dirty="0" err="1">
                <a:cs typeface="Arial" charset="0"/>
              </a:rPr>
              <a:t>for</a:t>
            </a:r>
            <a:r>
              <a:rPr lang="nl-NL" dirty="0">
                <a:cs typeface="Arial" charset="0"/>
              </a:rPr>
              <a:t> </a:t>
            </a:r>
            <a:r>
              <a:rPr lang="nl-NL" dirty="0" err="1">
                <a:cs typeface="Arial" charset="0"/>
              </a:rPr>
              <a:t>the</a:t>
            </a:r>
            <a:r>
              <a:rPr lang="nl-NL" dirty="0">
                <a:cs typeface="Arial" charset="0"/>
              </a:rPr>
              <a:t> </a:t>
            </a:r>
            <a:r>
              <a:rPr lang="nl-NL" dirty="0" err="1">
                <a:cs typeface="Arial" charset="0"/>
              </a:rPr>
              <a:t>actual</a:t>
            </a:r>
            <a:r>
              <a:rPr lang="nl-NL" dirty="0">
                <a:cs typeface="Arial" charset="0"/>
              </a:rPr>
              <a:t> </a:t>
            </a:r>
            <a:r>
              <a:rPr lang="nl-NL" dirty="0" err="1">
                <a:cs typeface="Arial" charset="0"/>
              </a:rPr>
              <a:t>existance</a:t>
            </a:r>
            <a:r>
              <a:rPr lang="nl-NL" dirty="0">
                <a:cs typeface="Arial" charset="0"/>
              </a:rPr>
              <a:t> of </a:t>
            </a:r>
            <a:r>
              <a:rPr lang="nl-NL" dirty="0" err="1">
                <a:cs typeface="Arial" charset="0"/>
              </a:rPr>
              <a:t>the</a:t>
            </a:r>
            <a:r>
              <a:rPr lang="nl-NL" dirty="0">
                <a:cs typeface="Arial" charset="0"/>
              </a:rPr>
              <a:t> </a:t>
            </a:r>
            <a:r>
              <a:rPr lang="nl-NL" dirty="0" err="1">
                <a:cs typeface="Arial" charset="0"/>
              </a:rPr>
              <a:t>laminar</a:t>
            </a:r>
            <a:r>
              <a:rPr lang="nl-NL" dirty="0">
                <a:cs typeface="Arial" charset="0"/>
              </a:rPr>
              <a:t> bucket. </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20</a:t>
            </a:fld>
            <a:endParaRPr lang="en-US"/>
          </a:p>
        </p:txBody>
      </p:sp>
    </p:spTree>
    <p:extLst>
      <p:ext uri="{BB962C8B-B14F-4D97-AF65-F5344CB8AC3E}">
        <p14:creationId xmlns:p14="http://schemas.microsoft.com/office/powerpoint/2010/main" val="933092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21</a:t>
            </a:fld>
            <a:endParaRPr lang="en-US"/>
          </a:p>
        </p:txBody>
      </p:sp>
    </p:spTree>
    <p:extLst>
      <p:ext uri="{BB962C8B-B14F-4D97-AF65-F5344CB8AC3E}">
        <p14:creationId xmlns:p14="http://schemas.microsoft.com/office/powerpoint/2010/main" val="4098871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2EC2EDAC-02D9-4278-A42F-BBA8A2E973E4}" type="slidenum">
              <a:rPr lang="en-US" sz="1200">
                <a:latin typeface="Arial" charset="0"/>
              </a:rPr>
              <a:pPr algn="r" eaLnBrk="1" fontAlgn="base" hangingPunct="1"/>
              <a:t>22</a:t>
            </a:fld>
            <a:endParaRPr lang="en-US" sz="1200">
              <a:latin typeface="Arial" charset="0"/>
            </a:endParaRPr>
          </a:p>
        </p:txBody>
      </p:sp>
      <p:sp>
        <p:nvSpPr>
          <p:cNvPr id="83971" name="Rectangle 2"/>
          <p:cNvSpPr>
            <a:spLocks noGrp="1" noRot="1" noChangeAspect="1" noChangeArrowheads="1" noTextEdit="1"/>
          </p:cNvSpPr>
          <p:nvPr>
            <p:ph type="sldImg"/>
          </p:nvPr>
        </p:nvSpPr>
        <p:spPr>
          <a:xfrm>
            <a:off x="88900" y="746125"/>
            <a:ext cx="6619875" cy="3724275"/>
          </a:xfrm>
          <a:ln/>
        </p:spPr>
      </p:sp>
      <p:sp>
        <p:nvSpPr>
          <p:cNvPr id="8397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The pitching moment must be evaluated with respect to a reference point. C</a:t>
            </a:r>
            <a:r>
              <a:rPr lang="en-GB" baseline="-25000" dirty="0"/>
              <a:t>m</a:t>
            </a:r>
            <a:r>
              <a:rPr lang="en-GB" dirty="0"/>
              <a:t> data typically found in literature are calculated around the quarter chord line (i.e., at 0.25C). The choice of this reference point is convenient because it is generally very close to the so called aerodynamic centre of the profile. The aerodynamic </a:t>
            </a:r>
            <a:r>
              <a:rPr lang="en-GB" dirty="0" err="1"/>
              <a:t>center</a:t>
            </a:r>
            <a:r>
              <a:rPr lang="en-GB" dirty="0"/>
              <a:t> is the point around which the moment of the aerodynamic forces does not varies with the angle of attack.</a:t>
            </a:r>
          </a:p>
          <a:p>
            <a:pPr eaLnBrk="1" hangingPunct="1"/>
            <a:r>
              <a:rPr lang="en-GB" dirty="0">
                <a:cs typeface="Arial" charset="0"/>
              </a:rPr>
              <a:t>Indeed, it can be observed that the Cm-Alpha curves are generally rather flat.</a:t>
            </a:r>
          </a:p>
          <a:p>
            <a:pPr eaLnBrk="1" hangingPunct="1"/>
            <a:endParaRPr lang="nl-NL" dirty="0">
              <a:cs typeface="Arial" charset="0"/>
            </a:endParaRPr>
          </a:p>
          <a:p>
            <a:pPr eaLnBrk="1" hangingPunct="1"/>
            <a:r>
              <a:rPr lang="nl-NL" dirty="0">
                <a:cs typeface="Arial" charset="0"/>
              </a:rPr>
              <a:t>The moment </a:t>
            </a:r>
            <a:r>
              <a:rPr lang="nl-NL" dirty="0" err="1">
                <a:cs typeface="Arial" charset="0"/>
              </a:rPr>
              <a:t>coefficient</a:t>
            </a:r>
            <a:r>
              <a:rPr lang="nl-NL" dirty="0">
                <a:cs typeface="Arial" charset="0"/>
              </a:rPr>
              <a:t> of “</a:t>
            </a:r>
            <a:r>
              <a:rPr lang="nl-NL" dirty="0" err="1">
                <a:cs typeface="Arial" charset="0"/>
              </a:rPr>
              <a:t>conventional</a:t>
            </a:r>
            <a:r>
              <a:rPr lang="nl-NL" dirty="0">
                <a:cs typeface="Arial" charset="0"/>
              </a:rPr>
              <a:t> </a:t>
            </a:r>
            <a:r>
              <a:rPr lang="nl-NL" dirty="0" err="1">
                <a:cs typeface="Arial" charset="0"/>
              </a:rPr>
              <a:t>airfoil</a:t>
            </a:r>
            <a:r>
              <a:rPr lang="nl-NL" dirty="0">
                <a:cs typeface="Arial" charset="0"/>
              </a:rPr>
              <a:t>” is </a:t>
            </a:r>
            <a:r>
              <a:rPr lang="nl-NL" b="1" dirty="0" err="1">
                <a:cs typeface="Arial" charset="0"/>
              </a:rPr>
              <a:t>typically</a:t>
            </a:r>
            <a:r>
              <a:rPr lang="nl-NL" b="1" dirty="0">
                <a:cs typeface="Arial" charset="0"/>
              </a:rPr>
              <a:t> </a:t>
            </a:r>
            <a:r>
              <a:rPr lang="nl-NL" b="1" dirty="0" err="1">
                <a:cs typeface="Arial" charset="0"/>
              </a:rPr>
              <a:t>negative</a:t>
            </a:r>
            <a:r>
              <a:rPr lang="nl-NL" b="1" dirty="0">
                <a:cs typeface="Arial" charset="0"/>
              </a:rPr>
              <a:t> </a:t>
            </a:r>
            <a:r>
              <a:rPr lang="nl-NL" dirty="0">
                <a:cs typeface="Arial" charset="0"/>
              </a:rPr>
              <a:t>(</a:t>
            </a:r>
            <a:r>
              <a:rPr lang="nl-NL" dirty="0" err="1">
                <a:cs typeface="Arial" charset="0"/>
              </a:rPr>
              <a:t>hence</a:t>
            </a:r>
            <a:r>
              <a:rPr lang="nl-NL" dirty="0">
                <a:cs typeface="Arial" charset="0"/>
              </a:rPr>
              <a:t> pitch down), </a:t>
            </a:r>
            <a:r>
              <a:rPr lang="nl-NL" dirty="0" err="1">
                <a:cs typeface="Arial" charset="0"/>
              </a:rPr>
              <a:t>with</a:t>
            </a:r>
            <a:r>
              <a:rPr lang="nl-NL" dirty="0">
                <a:cs typeface="Arial" charset="0"/>
              </a:rPr>
              <a:t> </a:t>
            </a:r>
            <a:r>
              <a:rPr lang="nl-NL" dirty="0" err="1">
                <a:cs typeface="Arial" charset="0"/>
              </a:rPr>
              <a:t>the</a:t>
            </a:r>
            <a:r>
              <a:rPr lang="nl-NL" dirty="0">
                <a:cs typeface="Arial" charset="0"/>
              </a:rPr>
              <a:t> </a:t>
            </a:r>
            <a:r>
              <a:rPr lang="nl-NL" dirty="0" err="1">
                <a:cs typeface="Arial" charset="0"/>
              </a:rPr>
              <a:t>tendency</a:t>
            </a:r>
            <a:r>
              <a:rPr lang="nl-NL" dirty="0">
                <a:cs typeface="Arial" charset="0"/>
              </a:rPr>
              <a:t> of </a:t>
            </a:r>
            <a:r>
              <a:rPr lang="nl-NL" dirty="0" err="1">
                <a:cs typeface="Arial" charset="0"/>
              </a:rPr>
              <a:t>becoming</a:t>
            </a:r>
            <a:r>
              <a:rPr lang="nl-NL" dirty="0">
                <a:cs typeface="Arial" charset="0"/>
              </a:rPr>
              <a:t> </a:t>
            </a:r>
            <a:r>
              <a:rPr lang="nl-NL" dirty="0" err="1">
                <a:cs typeface="Arial" charset="0"/>
              </a:rPr>
              <a:t>less</a:t>
            </a:r>
            <a:r>
              <a:rPr lang="nl-NL" dirty="0">
                <a:cs typeface="Arial" charset="0"/>
              </a:rPr>
              <a:t> </a:t>
            </a:r>
            <a:r>
              <a:rPr lang="nl-NL" dirty="0" err="1">
                <a:cs typeface="Arial" charset="0"/>
              </a:rPr>
              <a:t>negative</a:t>
            </a:r>
            <a:r>
              <a:rPr lang="nl-NL" dirty="0">
                <a:cs typeface="Arial" charset="0"/>
              </a:rPr>
              <a:t> at </a:t>
            </a:r>
            <a:r>
              <a:rPr lang="nl-NL" dirty="0" err="1">
                <a:cs typeface="Arial" charset="0"/>
              </a:rPr>
              <a:t>increasing</a:t>
            </a:r>
            <a:r>
              <a:rPr lang="nl-NL" dirty="0">
                <a:cs typeface="Arial" charset="0"/>
              </a:rPr>
              <a:t> </a:t>
            </a:r>
            <a:r>
              <a:rPr lang="nl-NL" dirty="0" err="1">
                <a:cs typeface="Arial" charset="0"/>
              </a:rPr>
              <a:t>angle</a:t>
            </a:r>
            <a:r>
              <a:rPr lang="nl-NL" dirty="0">
                <a:cs typeface="Arial" charset="0"/>
              </a:rPr>
              <a:t> of attack.</a:t>
            </a:r>
            <a:endParaRPr lang="el-GR" dirty="0">
              <a:cs typeface="Arial" charset="0"/>
            </a:endParaRPr>
          </a:p>
          <a:p>
            <a:pPr eaLnBrk="1" hangingPunct="1"/>
            <a:r>
              <a:rPr lang="en-GB" dirty="0"/>
              <a:t>The stable or unstable behaviour at stall depends on the specific kind of </a:t>
            </a:r>
            <a:r>
              <a:rPr lang="en-GB" dirty="0" err="1"/>
              <a:t>airfoil</a:t>
            </a:r>
            <a:r>
              <a:rPr lang="en-GB" dirty="0"/>
              <a:t>.</a:t>
            </a:r>
          </a:p>
          <a:p>
            <a:pPr eaLnBrk="1" hangingPunct="1"/>
            <a:endParaRPr lang="en-GB" dirty="0"/>
          </a:p>
          <a:p>
            <a:pPr eaLnBrk="1" hangingPunct="1"/>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6DDE60CC-1AF6-4851-B358-32058C78168F}" type="slidenum">
              <a:rPr lang="en-US" sz="1200">
                <a:latin typeface="Arial" charset="0"/>
              </a:rPr>
              <a:pPr algn="r" eaLnBrk="1" fontAlgn="base" hangingPunct="1"/>
              <a:t>23</a:t>
            </a:fld>
            <a:endParaRPr lang="en-US" sz="1200">
              <a:latin typeface="Arial" charset="0"/>
            </a:endParaRPr>
          </a:p>
        </p:txBody>
      </p:sp>
      <p:sp>
        <p:nvSpPr>
          <p:cNvPr id="88067" name="Rectangle 2"/>
          <p:cNvSpPr>
            <a:spLocks noGrp="1" noRot="1" noChangeAspect="1" noChangeArrowheads="1" noTextEdit="1"/>
          </p:cNvSpPr>
          <p:nvPr>
            <p:ph type="sldImg"/>
          </p:nvPr>
        </p:nvSpPr>
        <p:spPr>
          <a:xfrm>
            <a:off x="88900" y="746125"/>
            <a:ext cx="6619875" cy="3724275"/>
          </a:xfrm>
          <a:ln/>
        </p:spPr>
      </p:sp>
      <p:sp>
        <p:nvSpPr>
          <p:cNvPr id="8806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The </a:t>
            </a:r>
            <a:r>
              <a:rPr lang="en-GB" dirty="0" err="1"/>
              <a:t>airfoil</a:t>
            </a:r>
            <a:r>
              <a:rPr lang="en-GB" dirty="0"/>
              <a:t> nose radius is a design parameter that affects the lifting capability of the wing  in terms of max lift coefficient and stall angle. This will not be discussed in this lecture, but later with the estimation of the wing maximum lift coefficient.</a:t>
            </a:r>
          </a:p>
          <a:p>
            <a:pPr eaLnBrk="1" hangingPunct="1"/>
            <a:endParaRPr lang="en-GB" dirty="0"/>
          </a:p>
          <a:p>
            <a:pPr eaLnBrk="1" hangingPunct="1"/>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AAE05FC3-AAB5-4B47-8627-567882B74854}" type="slidenum">
              <a:rPr lang="en-US" sz="1200">
                <a:latin typeface="Arial" charset="0"/>
              </a:rPr>
              <a:pPr algn="r" eaLnBrk="1" fontAlgn="base" hangingPunct="1"/>
              <a:t>24</a:t>
            </a:fld>
            <a:endParaRPr lang="en-US" sz="1200">
              <a:latin typeface="Arial" charset="0"/>
            </a:endParaRPr>
          </a:p>
        </p:txBody>
      </p:sp>
      <p:sp>
        <p:nvSpPr>
          <p:cNvPr id="89091" name="Rectangle 2"/>
          <p:cNvSpPr>
            <a:spLocks noGrp="1" noRot="1" noChangeAspect="1" noChangeArrowheads="1" noTextEdit="1"/>
          </p:cNvSpPr>
          <p:nvPr>
            <p:ph type="sldImg"/>
          </p:nvPr>
        </p:nvSpPr>
        <p:spPr>
          <a:xfrm>
            <a:off x="88900" y="746125"/>
            <a:ext cx="6619875" cy="3724275"/>
          </a:xfrm>
          <a:ln/>
        </p:spPr>
      </p:sp>
      <p:sp>
        <p:nvSpPr>
          <p:cNvPr id="8909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The net effect of introducing camber is that of reaching higher values of C</a:t>
            </a:r>
            <a:r>
              <a:rPr lang="en-GB" baseline="-25000" dirty="0"/>
              <a:t>l</a:t>
            </a:r>
            <a:r>
              <a:rPr lang="en-GB" dirty="0"/>
              <a:t> in correspondence of lower angles of attack. </a:t>
            </a:r>
          </a:p>
          <a:p>
            <a:pPr eaLnBrk="1" hangingPunct="1"/>
            <a:r>
              <a:rPr lang="en-GB" dirty="0"/>
              <a:t>Increasing the camber increases also the pitching moment of the </a:t>
            </a:r>
            <a:r>
              <a:rPr lang="en-GB" dirty="0" err="1"/>
              <a:t>airfoil</a:t>
            </a:r>
            <a:r>
              <a:rPr lang="en-GB" dirty="0"/>
              <a:t>. We can anticipate that this has an effect on the design of the aircraft tail. In fact, a wing with a high pitching moment will require “more work” from the tail to trim the aircraft (with the generation of the so called trim drag). The deployment of flaps has actually the same effect as increasing the camber of the wing (if there is no increase of the wing surface) and in flaps-down configuration the tail must succeed in balancing the strong increase in the wing pitching moment.</a:t>
            </a:r>
          </a:p>
          <a:p>
            <a:pPr eaLnBrk="1" hangingPunct="1"/>
            <a:endParaRPr lang="en-GB" dirty="0"/>
          </a:p>
          <a:p>
            <a:pPr eaLnBrk="1" hangingPunct="1"/>
            <a:r>
              <a:rPr lang="en-GB" dirty="0"/>
              <a:t>POINT OF ATTENTION: When discussing about changing the camber, it’s not only the max camber that affects the </a:t>
            </a:r>
            <a:r>
              <a:rPr lang="en-GB" dirty="0" err="1"/>
              <a:t>airfoil</a:t>
            </a:r>
            <a:r>
              <a:rPr lang="en-GB" dirty="0"/>
              <a:t> behaviour, but also </a:t>
            </a:r>
            <a:r>
              <a:rPr lang="en-GB" u="sng" dirty="0"/>
              <a:t>the position</a:t>
            </a:r>
            <a:r>
              <a:rPr lang="en-GB" dirty="0"/>
              <a:t> of the camber. Bringing the camber toward the nose </a:t>
            </a:r>
            <a:r>
              <a:rPr lang="en-GB" dirty="0" err="1"/>
              <a:t>C</a:t>
            </a:r>
            <a:r>
              <a:rPr lang="en-GB" baseline="-25000" dirty="0" err="1"/>
              <a:t>lmax</a:t>
            </a:r>
            <a:r>
              <a:rPr lang="en-GB" baseline="-25000" dirty="0"/>
              <a:t> </a:t>
            </a:r>
            <a:r>
              <a:rPr lang="en-GB" dirty="0"/>
              <a:t>increases, but it is not favourable for the stall characteristics. Vice versa, after positions of the camber lower </a:t>
            </a:r>
            <a:r>
              <a:rPr lang="en-GB" dirty="0" err="1"/>
              <a:t>C</a:t>
            </a:r>
            <a:r>
              <a:rPr lang="en-GB" baseline="-25000" dirty="0" err="1"/>
              <a:t>lmax</a:t>
            </a:r>
            <a:r>
              <a:rPr lang="en-GB" dirty="0"/>
              <a:t> values but yield a more gradual stall transition.</a:t>
            </a:r>
          </a:p>
          <a:p>
            <a:pPr eaLnBrk="1" hangingPunct="1"/>
            <a:endParaRPr lang="en-GB" dirty="0"/>
          </a:p>
          <a:p>
            <a:pPr eaLnBrk="1" hangingPunct="1"/>
            <a:r>
              <a:rPr lang="en-GB" dirty="0"/>
              <a:t>*On trainers and aerobatic aircraft low values of camber are typically used because of the inverted flight possibility.</a:t>
            </a:r>
          </a:p>
          <a:p>
            <a:pPr eaLnBrk="1" hangingPunct="1"/>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F9465723-DF53-409C-86F4-F15D62EAB251}" type="slidenum">
              <a:rPr lang="en-US" sz="1200">
                <a:latin typeface="Arial" charset="0"/>
              </a:rPr>
              <a:pPr algn="r" eaLnBrk="1" fontAlgn="base" hangingPunct="1"/>
              <a:t>25</a:t>
            </a:fld>
            <a:endParaRPr lang="en-US" sz="1200">
              <a:latin typeface="Arial" charset="0"/>
            </a:endParaRPr>
          </a:p>
        </p:txBody>
      </p:sp>
      <p:sp>
        <p:nvSpPr>
          <p:cNvPr id="90115" name="Rectangle 2"/>
          <p:cNvSpPr>
            <a:spLocks noGrp="1" noRot="1" noChangeAspect="1" noChangeArrowheads="1" noTextEdit="1"/>
          </p:cNvSpPr>
          <p:nvPr>
            <p:ph type="sldImg"/>
          </p:nvPr>
        </p:nvSpPr>
        <p:spPr>
          <a:xfrm>
            <a:off x="88900" y="746125"/>
            <a:ext cx="6619875" cy="3724275"/>
          </a:xfrm>
          <a:ln/>
        </p:spPr>
      </p:sp>
      <p:sp>
        <p:nvSpPr>
          <p:cNvPr id="9011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 The stall characteristics of the </a:t>
            </a:r>
            <a:r>
              <a:rPr lang="en-GB" dirty="0" err="1"/>
              <a:t>airfoil</a:t>
            </a:r>
            <a:r>
              <a:rPr lang="en-GB" dirty="0"/>
              <a:t> (2D) of course influence the stall characteristics of the whole wing (3D) built up with that </a:t>
            </a:r>
            <a:r>
              <a:rPr lang="en-GB" dirty="0" err="1"/>
              <a:t>airfoil</a:t>
            </a:r>
            <a:r>
              <a:rPr lang="en-GB" dirty="0"/>
              <a:t>. However, a wing is generally built of different kinds of </a:t>
            </a:r>
            <a:r>
              <a:rPr lang="en-GB" dirty="0" err="1"/>
              <a:t>airfoils</a:t>
            </a:r>
            <a:r>
              <a:rPr lang="en-GB" dirty="0"/>
              <a:t>, and, in case of twist and taper ratio value different than null, each single </a:t>
            </a:r>
            <a:r>
              <a:rPr lang="en-GB" dirty="0" err="1"/>
              <a:t>airfoil</a:t>
            </a:r>
            <a:r>
              <a:rPr lang="en-GB" dirty="0"/>
              <a:t> on the wing works at different condition (different angle of attack, different Re). Also, in case of swept wing and anyhow close to the wing root and tip areas, there are strong 3D effects, which modify the way the </a:t>
            </a:r>
            <a:r>
              <a:rPr lang="en-GB" dirty="0" err="1"/>
              <a:t>airfoil</a:t>
            </a:r>
            <a:r>
              <a:rPr lang="en-GB" dirty="0"/>
              <a:t> works nominally in 2D. So the </a:t>
            </a:r>
            <a:r>
              <a:rPr lang="en-GB" dirty="0" err="1"/>
              <a:t>airfoil</a:t>
            </a:r>
            <a:r>
              <a:rPr lang="en-GB" dirty="0"/>
              <a:t> stall characteristics are not inherited right away by the wing! it’s not generally true that a wing built of medium thickness </a:t>
            </a:r>
            <a:r>
              <a:rPr lang="en-GB" dirty="0" err="1"/>
              <a:t>airfoils</a:t>
            </a:r>
            <a:r>
              <a:rPr lang="en-GB" dirty="0"/>
              <a:t> has bad stall characteristics (as discussed next slides).</a:t>
            </a:r>
          </a:p>
          <a:p>
            <a:pPr eaLnBrk="1" hangingPunct="1"/>
            <a:endParaRPr lang="en-GB" dirty="0"/>
          </a:p>
          <a:p>
            <a:pPr eaLnBrk="1" hangingPunct="1"/>
            <a:r>
              <a:rPr lang="en-GB" dirty="0"/>
              <a:t>** this is not really about </a:t>
            </a:r>
            <a:r>
              <a:rPr lang="en-GB" dirty="0" err="1"/>
              <a:t>airfoil</a:t>
            </a:r>
            <a:r>
              <a:rPr lang="en-GB" dirty="0"/>
              <a:t> behaviour, but wing performance, though there is a direct effect!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82E5E277-370F-4FC9-94BF-AFC7CA7AFBDC}" type="slidenum">
              <a:rPr lang="en-US" sz="1200">
                <a:latin typeface="Arial" charset="0"/>
              </a:rPr>
              <a:pPr algn="r" eaLnBrk="1" fontAlgn="base" hangingPunct="1"/>
              <a:t>26</a:t>
            </a:fld>
            <a:endParaRPr lang="en-US" sz="1200">
              <a:latin typeface="Arial" charset="0"/>
            </a:endParaRPr>
          </a:p>
        </p:txBody>
      </p:sp>
      <p:sp>
        <p:nvSpPr>
          <p:cNvPr id="91139" name="Rectangle 2"/>
          <p:cNvSpPr>
            <a:spLocks noGrp="1" noRot="1" noChangeAspect="1" noChangeArrowheads="1" noTextEdit="1"/>
          </p:cNvSpPr>
          <p:nvPr>
            <p:ph type="sldImg"/>
          </p:nvPr>
        </p:nvSpPr>
        <p:spPr>
          <a:xfrm>
            <a:off x="88900" y="746125"/>
            <a:ext cx="6619875" cy="3724275"/>
          </a:xfrm>
          <a:ln/>
        </p:spPr>
      </p:sp>
      <p:sp>
        <p:nvSpPr>
          <p:cNvPr id="9114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In terms of “lifting capability” there is no reason to use </a:t>
            </a:r>
            <a:r>
              <a:rPr lang="en-GB" dirty="0" err="1"/>
              <a:t>airfoils</a:t>
            </a:r>
            <a:r>
              <a:rPr lang="en-GB" dirty="0"/>
              <a:t> thicker than 14%. In fact, thicker </a:t>
            </a:r>
            <a:r>
              <a:rPr lang="en-GB" dirty="0" err="1"/>
              <a:t>airfoils</a:t>
            </a:r>
            <a:r>
              <a:rPr lang="en-GB" dirty="0"/>
              <a:t> will increase the suction peak and lower the Mach-critical. As discussed later, lowering Mach-critical is negative for high speed wings and might require the use of a sweep angle.</a:t>
            </a:r>
          </a:p>
          <a:p>
            <a:pPr eaLnBrk="1" hangingPunct="1"/>
            <a:r>
              <a:rPr lang="en-GB" dirty="0"/>
              <a:t>Under a wing-structure point of view, the use of thick </a:t>
            </a:r>
            <a:r>
              <a:rPr lang="en-GB" dirty="0" err="1"/>
              <a:t>airfoils</a:t>
            </a:r>
            <a:r>
              <a:rPr lang="en-GB" dirty="0"/>
              <a:t> is beneficial to lower the wing bending stresses (hence lower the wing weight) and/or to increase the wing volume for fuel and/or landing gears storage.</a:t>
            </a:r>
          </a:p>
          <a:p>
            <a:pPr eaLnBrk="1" hangingPunct="1"/>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2940EC2B-F159-4DC5-913A-C1383F191FE1}" type="slidenum">
              <a:rPr lang="en-US" sz="1200">
                <a:latin typeface="Arial" charset="0"/>
              </a:rPr>
              <a:pPr algn="r" eaLnBrk="1" fontAlgn="base" hangingPunct="1"/>
              <a:t>27</a:t>
            </a:fld>
            <a:endParaRPr lang="en-US" sz="1200">
              <a:latin typeface="Arial" charset="0"/>
            </a:endParaRPr>
          </a:p>
        </p:txBody>
      </p:sp>
      <p:sp>
        <p:nvSpPr>
          <p:cNvPr id="95235" name="Rectangle 2"/>
          <p:cNvSpPr>
            <a:spLocks noGrp="1" noRot="1" noChangeAspect="1" noChangeArrowheads="1" noTextEdit="1"/>
          </p:cNvSpPr>
          <p:nvPr>
            <p:ph type="sldImg"/>
          </p:nvPr>
        </p:nvSpPr>
        <p:spPr>
          <a:xfrm>
            <a:off x="88900" y="746125"/>
            <a:ext cx="6619875" cy="3724275"/>
          </a:xfrm>
          <a:ln/>
        </p:spPr>
      </p:sp>
      <p:sp>
        <p:nvSpPr>
          <p:cNvPr id="9523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Obviously, given two </a:t>
            </a:r>
            <a:r>
              <a:rPr lang="en-GB" dirty="0" err="1"/>
              <a:t>airfoils</a:t>
            </a:r>
            <a:r>
              <a:rPr lang="en-GB" dirty="0"/>
              <a:t> with same chord, the thicker </a:t>
            </a:r>
            <a:r>
              <a:rPr lang="en-GB" dirty="0" err="1"/>
              <a:t>airfoil</a:t>
            </a:r>
            <a:r>
              <a:rPr lang="en-GB" dirty="0"/>
              <a:t> will feature higher friction drag, because the flow will stay in contact with the </a:t>
            </a:r>
            <a:r>
              <a:rPr lang="en-GB" dirty="0" err="1"/>
              <a:t>airfoil</a:t>
            </a:r>
            <a:r>
              <a:rPr lang="en-GB" dirty="0"/>
              <a:t> over a longer distance.</a:t>
            </a:r>
          </a:p>
          <a:p>
            <a:pPr eaLnBrk="1" hangingPunct="1"/>
            <a:r>
              <a:rPr lang="en-GB" dirty="0"/>
              <a:t>Also the associated form drag is higher because of the earlier separation of the flow. Intuitively a thicker </a:t>
            </a:r>
            <a:r>
              <a:rPr lang="en-GB" dirty="0" err="1"/>
              <a:t>airfoil</a:t>
            </a:r>
            <a:r>
              <a:rPr lang="en-GB" dirty="0"/>
              <a:t> will perturb the flow more than a thinner one. Every perturbation will correspond to an amount of energy dissipated in the flow, hence drag!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58F04F79-A834-49D8-8BDC-A8CF91D37A0C}" type="slidenum">
              <a:rPr lang="en-US" sz="1200">
                <a:latin typeface="Arial" charset="0"/>
              </a:rPr>
              <a:pPr algn="r" eaLnBrk="1" fontAlgn="base" hangingPunct="1"/>
              <a:t>28</a:t>
            </a:fld>
            <a:endParaRPr lang="en-US" sz="1200">
              <a:latin typeface="Arial" charset="0"/>
            </a:endParaRPr>
          </a:p>
        </p:txBody>
      </p:sp>
      <p:sp>
        <p:nvSpPr>
          <p:cNvPr id="94211" name="Rectangle 2"/>
          <p:cNvSpPr>
            <a:spLocks noGrp="1" noRot="1" noChangeAspect="1" noChangeArrowheads="1" noTextEdit="1"/>
          </p:cNvSpPr>
          <p:nvPr>
            <p:ph type="sldImg"/>
          </p:nvPr>
        </p:nvSpPr>
        <p:spPr>
          <a:xfrm>
            <a:off x="88900" y="746125"/>
            <a:ext cx="6619875" cy="3724275"/>
          </a:xfrm>
          <a:ln/>
        </p:spPr>
      </p:sp>
      <p:sp>
        <p:nvSpPr>
          <p:cNvPr id="9421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sz="1000" dirty="0"/>
              <a:t>The thickness value of the </a:t>
            </a:r>
            <a:r>
              <a:rPr lang="en-GB" sz="1000" dirty="0" err="1"/>
              <a:t>airfoil</a:t>
            </a:r>
            <a:r>
              <a:rPr lang="en-GB" sz="1000" dirty="0"/>
              <a:t> (and the size of the LE radius as well) strongly determines the way the stall condition is reached, as well as the </a:t>
            </a:r>
            <a:r>
              <a:rPr lang="en-GB" sz="1000" b="1" dirty="0"/>
              <a:t>post stall</a:t>
            </a:r>
            <a:r>
              <a:rPr lang="en-GB" sz="1000" dirty="0"/>
              <a:t> condition </a:t>
            </a:r>
          </a:p>
          <a:p>
            <a:pPr eaLnBrk="1" hangingPunct="1"/>
            <a:endParaRPr lang="en-GB" sz="1000" dirty="0"/>
          </a:p>
          <a:p>
            <a:pPr eaLnBrk="1" hangingPunct="1"/>
            <a:r>
              <a:rPr lang="en-GB" sz="1000" dirty="0"/>
              <a:t>1) Thick </a:t>
            </a:r>
            <a:r>
              <a:rPr lang="en-GB" sz="1000" dirty="0" err="1"/>
              <a:t>airfoils</a:t>
            </a:r>
            <a:r>
              <a:rPr lang="en-GB" sz="1000" dirty="0"/>
              <a:t> (&gt;14%) stall from the TE edge. The boundary layer thickness increases with alpha. Around 10 degree it begins to separate. The separation zone grows gradually with increasing angle of attack. The stall is gradual and the variation in the pitching moment are very small.</a:t>
            </a:r>
          </a:p>
          <a:p>
            <a:pPr eaLnBrk="1" hangingPunct="1"/>
            <a:endParaRPr lang="en-GB" sz="1000" dirty="0"/>
          </a:p>
          <a:p>
            <a:pPr eaLnBrk="1" hangingPunct="1"/>
            <a:r>
              <a:rPr lang="en-GB" sz="1000" dirty="0"/>
              <a:t>2) Moderate thickness </a:t>
            </a:r>
            <a:r>
              <a:rPr lang="en-GB" sz="1000" dirty="0" err="1"/>
              <a:t>airfoils</a:t>
            </a:r>
            <a:r>
              <a:rPr lang="en-GB" sz="1000" dirty="0"/>
              <a:t> (6%&lt;t/c&lt;14%) show flow separation at the nose already at very low angle of attack. The flow anyway reattaches very soon creating a kind of bubble. This separation bubble remains constant for quite some increments of alpha, until it suddenly bursts creating total and abrupt separation of the flow, hence a discontinuity in the lift and pitching moment. Of course a wing (3D) showing such stall behaviour would not be ideal. However the stall behaviour of a wing is generally different than that of the implemented </a:t>
            </a:r>
            <a:r>
              <a:rPr lang="en-GB" sz="1000" dirty="0" err="1"/>
              <a:t>airfoils</a:t>
            </a:r>
            <a:r>
              <a:rPr lang="en-GB" sz="1000" dirty="0"/>
              <a:t> (se note previous slide). Indeed the greatest majority of aircraft has the wing thickness included in this range!</a:t>
            </a:r>
          </a:p>
          <a:p>
            <a:pPr eaLnBrk="1" hangingPunct="1"/>
            <a:endParaRPr lang="en-GB" sz="1000" dirty="0"/>
          </a:p>
          <a:p>
            <a:pPr eaLnBrk="1" hangingPunct="1"/>
            <a:r>
              <a:rPr lang="en-GB" sz="1000" dirty="0"/>
              <a:t>3) Thin </a:t>
            </a:r>
            <a:r>
              <a:rPr lang="en-GB" sz="1000" dirty="0" err="1"/>
              <a:t>airfoils</a:t>
            </a:r>
            <a:r>
              <a:rPr lang="en-GB" sz="1000" dirty="0"/>
              <a:t> feature the generation of separation bubble near the LE, similarly to the medium thick </a:t>
            </a:r>
            <a:r>
              <a:rPr lang="en-GB" sz="1000" dirty="0" err="1"/>
              <a:t>airfoils</a:t>
            </a:r>
            <a:r>
              <a:rPr lang="en-GB" sz="1000" dirty="0"/>
              <a:t>. The difference is that in this case the bubble extends gradually towards the TE, when alpha increases. At that point the flow results completely separated. Large changes in the lift and pitching moment are then experienced, though the variations are gradual and not abrupt. The maximum lift coefficient achieved by this type of </a:t>
            </a:r>
            <a:r>
              <a:rPr lang="en-GB" sz="1000" dirty="0" err="1"/>
              <a:t>airfoils</a:t>
            </a:r>
            <a:r>
              <a:rPr lang="en-GB" sz="1000" dirty="0"/>
              <a:t> is less than the ones with a</a:t>
            </a:r>
            <a:r>
              <a:rPr lang="en-GB" sz="1000" baseline="0" dirty="0"/>
              <a:t> burst in the separation bubble. However the behaviour of the stall is more desired.  </a:t>
            </a:r>
            <a:endParaRPr lang="en-GB" sz="1000" dirty="0"/>
          </a:p>
          <a:p>
            <a:pPr eaLnBrk="1" hangingPunct="1"/>
            <a:endParaRPr lang="en-GB"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58F04F79-A834-49D8-8BDC-A8CF91D37A0C}" type="slidenum">
              <a:rPr lang="en-US" sz="1200">
                <a:latin typeface="Arial" charset="0"/>
              </a:rPr>
              <a:pPr algn="r" eaLnBrk="1" fontAlgn="base" hangingPunct="1"/>
              <a:t>29</a:t>
            </a:fld>
            <a:endParaRPr lang="en-US" sz="1200">
              <a:latin typeface="Arial" charset="0"/>
            </a:endParaRPr>
          </a:p>
        </p:txBody>
      </p:sp>
      <p:sp>
        <p:nvSpPr>
          <p:cNvPr id="94211" name="Rectangle 2"/>
          <p:cNvSpPr>
            <a:spLocks noGrp="1" noRot="1" noChangeAspect="1" noChangeArrowheads="1" noTextEdit="1"/>
          </p:cNvSpPr>
          <p:nvPr>
            <p:ph type="sldImg"/>
          </p:nvPr>
        </p:nvSpPr>
        <p:spPr>
          <a:xfrm>
            <a:off x="88900" y="746125"/>
            <a:ext cx="6619875" cy="3724275"/>
          </a:xfrm>
          <a:ln/>
        </p:spPr>
      </p:sp>
      <p:sp>
        <p:nvSpPr>
          <p:cNvPr id="9421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sz="1000" dirty="0"/>
              <a:t>The thickness value of the </a:t>
            </a:r>
            <a:r>
              <a:rPr lang="en-GB" sz="1000" dirty="0" err="1"/>
              <a:t>airfoil</a:t>
            </a:r>
            <a:r>
              <a:rPr lang="en-GB" sz="1000" dirty="0"/>
              <a:t> (and the size of the LE radius as well) strongly determines the way the stall condition is reached, as well as the </a:t>
            </a:r>
            <a:r>
              <a:rPr lang="en-GB" sz="1000" b="1" dirty="0"/>
              <a:t>post stall</a:t>
            </a:r>
            <a:r>
              <a:rPr lang="en-GB" sz="1000" dirty="0"/>
              <a:t> condition </a:t>
            </a:r>
          </a:p>
          <a:p>
            <a:pPr eaLnBrk="1" hangingPunct="1"/>
            <a:endParaRPr lang="en-GB" sz="1000" dirty="0"/>
          </a:p>
          <a:p>
            <a:pPr eaLnBrk="1" hangingPunct="1"/>
            <a:r>
              <a:rPr lang="en-GB" sz="1000" dirty="0"/>
              <a:t>1) Thick </a:t>
            </a:r>
            <a:r>
              <a:rPr lang="en-GB" sz="1000" dirty="0" err="1"/>
              <a:t>airfoils</a:t>
            </a:r>
            <a:r>
              <a:rPr lang="en-GB" sz="1000" dirty="0"/>
              <a:t> (&gt;14%) stall from the TE edge. The boundary layer thickness increases with alpha. Around 10 degree it begins to separate. The separation zone grows gradually with increasing angle of attack. The stall is gradual and the variation in the pitching moment are very small.</a:t>
            </a:r>
          </a:p>
          <a:p>
            <a:pPr eaLnBrk="1" hangingPunct="1"/>
            <a:endParaRPr lang="en-GB" sz="1000" dirty="0"/>
          </a:p>
          <a:p>
            <a:pPr eaLnBrk="1" hangingPunct="1"/>
            <a:r>
              <a:rPr lang="en-GB" sz="1000" dirty="0"/>
              <a:t>2) Moderate thickness </a:t>
            </a:r>
            <a:r>
              <a:rPr lang="en-GB" sz="1000" dirty="0" err="1"/>
              <a:t>airfoils</a:t>
            </a:r>
            <a:r>
              <a:rPr lang="en-GB" sz="1000" dirty="0"/>
              <a:t> (6%&lt;t/c&lt;14%) show flow separation at the nose already at very low angle of attack. The flow anyway reattaches very soon creating a kind of bubble. This separation bubble remains constant for quite some increments of alpha, until it suddenly bursts creating total and abrupt separation of the flow, hence a discontinuity in the lift and pitching moment. Of course a wing (3D) showing such stall behaviour would not be ideal. However the stall behaviour of a wing is generally different than that of the implemented </a:t>
            </a:r>
            <a:r>
              <a:rPr lang="en-GB" sz="1000" dirty="0" err="1"/>
              <a:t>airfoils</a:t>
            </a:r>
            <a:r>
              <a:rPr lang="en-GB" sz="1000" dirty="0"/>
              <a:t> (se note previous slide). Indeed the greatest majority of aircraft has the wing thickness included in this range!</a:t>
            </a:r>
          </a:p>
          <a:p>
            <a:pPr eaLnBrk="1" hangingPunct="1"/>
            <a:endParaRPr lang="en-GB" sz="1000" dirty="0"/>
          </a:p>
          <a:p>
            <a:pPr eaLnBrk="1" hangingPunct="1"/>
            <a:r>
              <a:rPr lang="en-GB" sz="1000" dirty="0"/>
              <a:t>3) Thin </a:t>
            </a:r>
            <a:r>
              <a:rPr lang="en-GB" sz="1000" dirty="0" err="1"/>
              <a:t>airfoils</a:t>
            </a:r>
            <a:r>
              <a:rPr lang="en-GB" sz="1000" dirty="0"/>
              <a:t> feature the generation of separation bubble near the LE, similarly to the medium thick </a:t>
            </a:r>
            <a:r>
              <a:rPr lang="en-GB" sz="1000" dirty="0" err="1"/>
              <a:t>airfoils</a:t>
            </a:r>
            <a:r>
              <a:rPr lang="en-GB" sz="1000" dirty="0"/>
              <a:t>. The difference is that in this case the bubble extends gradually towards the TE, when alpha increases. At that point the flow results completely separated. Large changes in the lift and pitching moment are then experienced, though the variations are gradual and not abrupt. The maximum lift coefficient achieved by this type of </a:t>
            </a:r>
            <a:r>
              <a:rPr lang="en-GB" sz="1000" dirty="0" err="1"/>
              <a:t>airfoils</a:t>
            </a:r>
            <a:r>
              <a:rPr lang="en-GB" sz="1000" dirty="0"/>
              <a:t> is less than the ones with a</a:t>
            </a:r>
            <a:r>
              <a:rPr lang="en-GB" sz="1000" baseline="0" dirty="0"/>
              <a:t> burst in the separation bubble. However the behaviour of the stall is more desired.  </a:t>
            </a:r>
            <a:endParaRPr lang="en-GB" sz="1000" dirty="0"/>
          </a:p>
          <a:p>
            <a:pPr eaLnBrk="1" hangingPunct="1"/>
            <a:endParaRPr lang="en-GB" sz="1000" dirty="0"/>
          </a:p>
        </p:txBody>
      </p:sp>
    </p:spTree>
    <p:extLst>
      <p:ext uri="{BB962C8B-B14F-4D97-AF65-F5344CB8AC3E}">
        <p14:creationId xmlns:p14="http://schemas.microsoft.com/office/powerpoint/2010/main" val="711430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BF3E2104-F595-4DF1-9C12-03FC8A0575A0}" type="slidenum">
              <a:rPr lang="en-US" sz="1200">
                <a:latin typeface="Arial" charset="0"/>
              </a:rPr>
              <a:pPr algn="r" eaLnBrk="1" fontAlgn="base" hangingPunct="1"/>
              <a:t>30</a:t>
            </a:fld>
            <a:endParaRPr lang="en-US" sz="1200">
              <a:latin typeface="Arial" charset="0"/>
            </a:endParaRPr>
          </a:p>
        </p:txBody>
      </p:sp>
      <p:sp>
        <p:nvSpPr>
          <p:cNvPr id="92163" name="Rectangle 2"/>
          <p:cNvSpPr>
            <a:spLocks noGrp="1" noRot="1" noChangeAspect="1" noChangeArrowheads="1" noTextEdit="1"/>
          </p:cNvSpPr>
          <p:nvPr>
            <p:ph type="sldImg"/>
          </p:nvPr>
        </p:nvSpPr>
        <p:spPr>
          <a:xfrm>
            <a:off x="88900" y="746125"/>
            <a:ext cx="6619875" cy="3724275"/>
          </a:xfrm>
          <a:ln/>
        </p:spPr>
      </p:sp>
      <p:sp>
        <p:nvSpPr>
          <p:cNvPr id="9216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The location of the </a:t>
            </a:r>
            <a:r>
              <a:rPr lang="en-GB" dirty="0" err="1"/>
              <a:t>airfoil</a:t>
            </a:r>
            <a:r>
              <a:rPr lang="en-GB" dirty="0"/>
              <a:t> max thickness has also large influence on the </a:t>
            </a:r>
            <a:r>
              <a:rPr lang="en-GB" dirty="0" err="1"/>
              <a:t>airfoil</a:t>
            </a:r>
            <a:r>
              <a:rPr lang="en-GB" dirty="0"/>
              <a:t> behaviour. Indeed, the location of the max thickness is very related to the location of the </a:t>
            </a:r>
            <a:r>
              <a:rPr lang="en-GB" dirty="0" err="1"/>
              <a:t>airfoil</a:t>
            </a:r>
            <a:r>
              <a:rPr lang="en-GB" dirty="0"/>
              <a:t> maximum pressure position. Hence the further back it is positioned:</a:t>
            </a:r>
          </a:p>
          <a:p>
            <a:pPr eaLnBrk="1" hangingPunct="1">
              <a:buFontTx/>
              <a:buChar char="•"/>
            </a:pPr>
            <a:r>
              <a:rPr lang="en-GB" dirty="0"/>
              <a:t>The lower the minimum drag, </a:t>
            </a:r>
          </a:p>
          <a:p>
            <a:pPr eaLnBrk="1" hangingPunct="1">
              <a:buFontTx/>
              <a:buChar char="•"/>
            </a:pPr>
            <a:r>
              <a:rPr lang="en-GB" dirty="0"/>
              <a:t>The higher the Mach critical (lower maximum pressure peak)</a:t>
            </a:r>
          </a:p>
          <a:p>
            <a:pPr eaLnBrk="1" hangingPunct="1"/>
            <a:r>
              <a:rPr lang="en-GB" dirty="0"/>
              <a:t>However…</a:t>
            </a:r>
          </a:p>
          <a:p>
            <a:pPr eaLnBrk="1" hangingPunct="1">
              <a:buFontTx/>
              <a:buChar char="•"/>
            </a:pPr>
            <a:r>
              <a:rPr lang="en-GB" dirty="0"/>
              <a:t>The lower </a:t>
            </a:r>
            <a:r>
              <a:rPr lang="en-GB" dirty="0" err="1"/>
              <a:t>Clmax</a:t>
            </a:r>
            <a:endParaRPr lang="en-GB" dirty="0"/>
          </a:p>
          <a:p>
            <a:pPr eaLnBrk="1" hangingPunct="1">
              <a:buFontTx/>
              <a:buChar char="•"/>
            </a:pPr>
            <a:r>
              <a:rPr lang="en-GB" dirty="0"/>
              <a:t>The higher the drag increase.</a:t>
            </a:r>
          </a:p>
          <a:p>
            <a:pPr eaLnBrk="1" hangingPunct="1"/>
            <a:r>
              <a:rPr lang="en-GB" dirty="0"/>
              <a:t>The most common thickness locations are indeed around the 30-40% (rarely higher) of the chord (measured from the nose)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484929-97D4-4B9F-9997-12C9612A1F21}" type="slidenum">
              <a:rPr lang="en-US" sz="1200">
                <a:latin typeface="Arial" charset="0"/>
              </a:rPr>
              <a:pPr algn="r" eaLnBrk="1" fontAlgn="base" hangingPunct="1"/>
              <a:t>31</a:t>
            </a:fld>
            <a:endParaRPr lang="en-US" sz="1200">
              <a:latin typeface="Arial" charset="0"/>
            </a:endParaRPr>
          </a:p>
        </p:txBody>
      </p:sp>
      <p:sp>
        <p:nvSpPr>
          <p:cNvPr id="97283" name="Rectangle 2"/>
          <p:cNvSpPr>
            <a:spLocks noGrp="1" noRot="1" noChangeAspect="1" noChangeArrowheads="1" noTextEdit="1"/>
          </p:cNvSpPr>
          <p:nvPr>
            <p:ph type="sldImg"/>
          </p:nvPr>
        </p:nvSpPr>
        <p:spPr>
          <a:xfrm>
            <a:off x="88900" y="746125"/>
            <a:ext cx="6619875" cy="3724275"/>
          </a:xfrm>
          <a:ln/>
        </p:spPr>
      </p:sp>
      <p:sp>
        <p:nvSpPr>
          <p:cNvPr id="9728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*As indicated above, Re is function of x, which is a geometric reference length for our </a:t>
            </a:r>
            <a:r>
              <a:rPr lang="en-GB" dirty="0" err="1"/>
              <a:t>airfoil</a:t>
            </a:r>
            <a:r>
              <a:rPr lang="en-GB" dirty="0"/>
              <a:t>, typically the chord length. Note that you will have to calculate Re, when the chord length of the </a:t>
            </a:r>
            <a:r>
              <a:rPr lang="en-GB" dirty="0" err="1"/>
              <a:t>airfoil</a:t>
            </a:r>
            <a:r>
              <a:rPr lang="en-GB" dirty="0"/>
              <a:t> to be studied is eventually not known yet! An assumptions will have to be made on the value, e.g., of the wing mean aerodynamic chord (MAC – see next lecture) and </a:t>
            </a:r>
            <a:r>
              <a:rPr lang="en-GB" b="1" dirty="0"/>
              <a:t>iterations might be required!</a:t>
            </a:r>
          </a:p>
          <a:p>
            <a:pPr eaLnBrk="1" hangingPunct="1"/>
            <a:r>
              <a:rPr lang="en-GB" dirty="0"/>
              <a:t>The speed V is also the freestream speed </a:t>
            </a:r>
            <a:r>
              <a:rPr lang="en-GB" b="1" dirty="0"/>
              <a:t>component in the plane of the </a:t>
            </a:r>
            <a:r>
              <a:rPr lang="en-GB" b="1" dirty="0" err="1"/>
              <a:t>airfoil</a:t>
            </a:r>
            <a:r>
              <a:rPr lang="en-GB" dirty="0"/>
              <a:t>! On swept wings this component is not the same as the freestream speed V</a:t>
            </a:r>
            <a:r>
              <a:rPr lang="en-GB" baseline="-25000" dirty="0">
                <a:cs typeface="Arial" charset="0"/>
              </a:rPr>
              <a:t>∞</a:t>
            </a:r>
            <a:r>
              <a:rPr lang="en-GB" dirty="0">
                <a:cs typeface="Arial" charset="0"/>
              </a:rPr>
              <a:t>. Again, an assumption will have to be made on the sweep angle in order to evaluate a proper value of Re. </a:t>
            </a:r>
            <a:r>
              <a:rPr lang="en-GB" b="1" dirty="0">
                <a:cs typeface="Arial" charset="0"/>
              </a:rPr>
              <a:t>Iterations might be required in case that assumption will appear to be too far off.</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484929-97D4-4B9F-9997-12C9612A1F21}" type="slidenum">
              <a:rPr lang="en-US" sz="1200">
                <a:latin typeface="Arial" charset="0"/>
              </a:rPr>
              <a:pPr algn="r" eaLnBrk="1" fontAlgn="base" hangingPunct="1"/>
              <a:t>32</a:t>
            </a:fld>
            <a:endParaRPr lang="en-US" sz="1200">
              <a:latin typeface="Arial" charset="0"/>
            </a:endParaRPr>
          </a:p>
        </p:txBody>
      </p:sp>
      <p:sp>
        <p:nvSpPr>
          <p:cNvPr id="97283" name="Rectangle 2"/>
          <p:cNvSpPr>
            <a:spLocks noGrp="1" noRot="1" noChangeAspect="1" noChangeArrowheads="1" noTextEdit="1"/>
          </p:cNvSpPr>
          <p:nvPr>
            <p:ph type="sldImg"/>
          </p:nvPr>
        </p:nvSpPr>
        <p:spPr>
          <a:xfrm>
            <a:off x="88900" y="746125"/>
            <a:ext cx="6619875" cy="3724275"/>
          </a:xfrm>
          <a:ln/>
        </p:spPr>
      </p:sp>
      <p:sp>
        <p:nvSpPr>
          <p:cNvPr id="9728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endParaRPr lang="en-GB" b="1" dirty="0">
              <a:cs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484929-97D4-4B9F-9997-12C9612A1F21}" type="slidenum">
              <a:rPr lang="en-US" sz="1200">
                <a:latin typeface="Arial" charset="0"/>
              </a:rPr>
              <a:pPr algn="r" eaLnBrk="1" fontAlgn="base" hangingPunct="1"/>
              <a:t>33</a:t>
            </a:fld>
            <a:endParaRPr lang="en-US" sz="1200">
              <a:latin typeface="Arial" charset="0"/>
            </a:endParaRPr>
          </a:p>
        </p:txBody>
      </p:sp>
      <p:sp>
        <p:nvSpPr>
          <p:cNvPr id="97283" name="Rectangle 2"/>
          <p:cNvSpPr>
            <a:spLocks noGrp="1" noRot="1" noChangeAspect="1" noChangeArrowheads="1" noTextEdit="1"/>
          </p:cNvSpPr>
          <p:nvPr>
            <p:ph type="sldImg"/>
          </p:nvPr>
        </p:nvSpPr>
        <p:spPr>
          <a:xfrm>
            <a:off x="88900" y="746125"/>
            <a:ext cx="6619875" cy="3724275"/>
          </a:xfrm>
          <a:ln/>
        </p:spPr>
      </p:sp>
      <p:sp>
        <p:nvSpPr>
          <p:cNvPr id="9728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endParaRPr lang="en-GB" b="1" dirty="0">
              <a:cs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484929-97D4-4B9F-9997-12C9612A1F21}" type="slidenum">
              <a:rPr lang="en-US" sz="1200">
                <a:latin typeface="Arial" charset="0"/>
              </a:rPr>
              <a:pPr algn="r" eaLnBrk="1" fontAlgn="base" hangingPunct="1"/>
              <a:t>34</a:t>
            </a:fld>
            <a:endParaRPr lang="en-US" sz="1200">
              <a:latin typeface="Arial" charset="0"/>
            </a:endParaRPr>
          </a:p>
        </p:txBody>
      </p:sp>
      <p:sp>
        <p:nvSpPr>
          <p:cNvPr id="97283" name="Rectangle 2"/>
          <p:cNvSpPr>
            <a:spLocks noGrp="1" noRot="1" noChangeAspect="1" noChangeArrowheads="1" noTextEdit="1"/>
          </p:cNvSpPr>
          <p:nvPr>
            <p:ph type="sldImg"/>
          </p:nvPr>
        </p:nvSpPr>
        <p:spPr>
          <a:xfrm>
            <a:off x="88900" y="746125"/>
            <a:ext cx="6619875" cy="3724275"/>
          </a:xfrm>
          <a:ln/>
        </p:spPr>
      </p:sp>
      <p:sp>
        <p:nvSpPr>
          <p:cNvPr id="9728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endParaRPr lang="en-GB" b="1" dirty="0">
              <a:cs typeface="Arial" charset="0"/>
            </a:endParaRPr>
          </a:p>
        </p:txBody>
      </p:sp>
    </p:spTree>
    <p:extLst>
      <p:ext uri="{BB962C8B-B14F-4D97-AF65-F5344CB8AC3E}">
        <p14:creationId xmlns:p14="http://schemas.microsoft.com/office/powerpoint/2010/main" val="1462847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78608A-9E6C-4B0F-A364-C267D6D541F4}" type="slidenum">
              <a:rPr lang="en-US" sz="1200">
                <a:latin typeface="Arial" charset="0"/>
              </a:rPr>
              <a:pPr algn="r" eaLnBrk="1" fontAlgn="base" hangingPunct="1"/>
              <a:t>35</a:t>
            </a:fld>
            <a:endParaRPr lang="en-US" sz="1200">
              <a:latin typeface="Arial" charset="0"/>
            </a:endParaRPr>
          </a:p>
        </p:txBody>
      </p:sp>
      <p:sp>
        <p:nvSpPr>
          <p:cNvPr id="98307" name="Rectangle 2"/>
          <p:cNvSpPr>
            <a:spLocks noGrp="1" noRot="1" noChangeAspect="1" noChangeArrowheads="1" noTextEdit="1"/>
          </p:cNvSpPr>
          <p:nvPr>
            <p:ph type="sldImg"/>
          </p:nvPr>
        </p:nvSpPr>
        <p:spPr>
          <a:xfrm>
            <a:off x="88900" y="746125"/>
            <a:ext cx="6619875" cy="3724275"/>
          </a:xfrm>
          <a:ln/>
        </p:spPr>
      </p:sp>
      <p:sp>
        <p:nvSpPr>
          <p:cNvPr id="9830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b="1" dirty="0"/>
              <a:t>POINT OF ATTENTION</a:t>
            </a:r>
            <a:r>
              <a:rPr lang="en-GB" dirty="0"/>
              <a:t>: Considered the great impact of Re on </a:t>
            </a:r>
            <a:r>
              <a:rPr lang="en-GB" dirty="0" err="1"/>
              <a:t>Clmax</a:t>
            </a:r>
            <a:r>
              <a:rPr lang="en-GB" dirty="0"/>
              <a:t>, it is important that the right curves are selected when analysing the low speed wing performance. At low speed (Take off and landing), it is important the wing is able to provide the highest </a:t>
            </a:r>
            <a:r>
              <a:rPr lang="en-GB" dirty="0" err="1"/>
              <a:t>CLmax</a:t>
            </a:r>
            <a:r>
              <a:rPr lang="en-GB" dirty="0"/>
              <a:t>. Since the wing </a:t>
            </a:r>
            <a:r>
              <a:rPr lang="en-GB" dirty="0" err="1"/>
              <a:t>CLmax</a:t>
            </a:r>
            <a:r>
              <a:rPr lang="en-GB" dirty="0"/>
              <a:t> depends on the </a:t>
            </a:r>
            <a:r>
              <a:rPr lang="en-GB" dirty="0" err="1"/>
              <a:t>Clmax</a:t>
            </a:r>
            <a:r>
              <a:rPr lang="en-GB" dirty="0"/>
              <a:t> of the </a:t>
            </a:r>
            <a:r>
              <a:rPr lang="en-GB" dirty="0" err="1"/>
              <a:t>airfoils</a:t>
            </a:r>
            <a:r>
              <a:rPr lang="en-GB" dirty="0"/>
              <a:t>, </a:t>
            </a:r>
            <a:r>
              <a:rPr lang="en-GB" b="1" dirty="0"/>
              <a:t>it is important that the appropriate low-speed Re is used to calculate </a:t>
            </a:r>
            <a:r>
              <a:rPr lang="en-GB" b="1" dirty="0" err="1"/>
              <a:t>Clmax</a:t>
            </a:r>
            <a:r>
              <a:rPr lang="en-GB" dirty="0"/>
              <a:t>. Using the </a:t>
            </a:r>
            <a:r>
              <a:rPr lang="en-GB" dirty="0" err="1"/>
              <a:t>Cl</a:t>
            </a:r>
            <a:r>
              <a:rPr lang="en-GB" dirty="0"/>
              <a:t>-alpha curves for cruise condition would bring to a </a:t>
            </a:r>
            <a:r>
              <a:rPr lang="en-GB" b="1" dirty="0"/>
              <a:t>large overestimation</a:t>
            </a:r>
            <a:r>
              <a:rPr lang="en-GB" dirty="0"/>
              <a:t> of the actual maximum lifting capability of the wing at low speed!</a:t>
            </a:r>
          </a:p>
          <a:p>
            <a:pPr eaLnBrk="1" hangingPunct="1"/>
            <a:endParaRPr lang="en-GB" dirty="0"/>
          </a:p>
          <a:p>
            <a:pPr eaLnBrk="1" hangingPunct="1"/>
            <a:r>
              <a:rPr lang="en-GB" dirty="0"/>
              <a:t>From the drag </a:t>
            </a:r>
            <a:r>
              <a:rPr lang="en-GB" dirty="0" err="1"/>
              <a:t>polars</a:t>
            </a:r>
            <a:r>
              <a:rPr lang="en-GB" dirty="0"/>
              <a:t> we see the effect of Re in decreasing the skin-friction coefficient C</a:t>
            </a:r>
            <a:r>
              <a:rPr lang="en-GB" baseline="-25000" dirty="0"/>
              <a:t>f</a:t>
            </a:r>
            <a:r>
              <a:rPr lang="en-GB" dirty="0"/>
              <a:t>. Attention! higher Re numbers yield lower friction coefficient values until the flow is laminar. As soon as there is the transition to turbulent, the friction increases suddenly and then begins decreasing again with increasing Re. </a:t>
            </a:r>
            <a:r>
              <a:rPr lang="en-GB" dirty="0" err="1"/>
              <a:t>Infact</a:t>
            </a:r>
            <a:r>
              <a:rPr lang="en-GB" dirty="0"/>
              <a:t> </a:t>
            </a:r>
            <a:r>
              <a:rPr lang="en-GB" dirty="0" err="1"/>
              <a:t>C</a:t>
            </a:r>
            <a:r>
              <a:rPr lang="en-GB" baseline="-25000" dirty="0" err="1"/>
              <a:t>f</a:t>
            </a:r>
            <a:r>
              <a:rPr lang="en-GB" dirty="0"/>
              <a:t> = 1/Re^0.5 (laminar flow) and </a:t>
            </a:r>
            <a:r>
              <a:rPr lang="en-GB" dirty="0" err="1"/>
              <a:t>C</a:t>
            </a:r>
            <a:r>
              <a:rPr lang="en-GB" baseline="-25000" dirty="0" err="1"/>
              <a:t>f</a:t>
            </a:r>
            <a:r>
              <a:rPr lang="en-GB" dirty="0"/>
              <a:t> = 1/Re^0.2 (turbulent flow). </a:t>
            </a:r>
          </a:p>
          <a:p>
            <a:pPr eaLnBrk="1" hangingPunct="1"/>
            <a:r>
              <a:rPr lang="en-GB" dirty="0"/>
              <a:t>Furthermore high values of Re allow the flow to stay attached longer (somehow the boundary layer has more energy to cope with the adverse pressure gradient), hence decreasing the drag contribution due to flow separation and increasing the maximum value of lift coefficient!</a:t>
            </a:r>
          </a:p>
          <a:p>
            <a:pPr eaLnBrk="1" hangingPunct="1"/>
            <a:endParaRPr lang="en-GB" dirty="0"/>
          </a:p>
          <a:p>
            <a:pPr eaLnBrk="1" hangingPunct="1"/>
            <a:r>
              <a:rPr lang="en-GB" dirty="0"/>
              <a:t>It should be noted that the effect of Re on </a:t>
            </a:r>
            <a:r>
              <a:rPr lang="en-GB" dirty="0" err="1"/>
              <a:t>Clmax</a:t>
            </a:r>
            <a:r>
              <a:rPr lang="en-GB" dirty="0"/>
              <a:t> depends also on the thickness and camber of the </a:t>
            </a:r>
            <a:r>
              <a:rPr lang="en-GB" dirty="0" err="1"/>
              <a:t>airfoil</a:t>
            </a:r>
            <a:r>
              <a:rPr lang="en-GB" dirty="0"/>
              <a:t> under consideration.</a:t>
            </a:r>
          </a:p>
          <a:p>
            <a:pPr eaLnBrk="1" hangingPunct="1"/>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E7484929-97D4-4B9F-9997-12C9612A1F21}" type="slidenum">
              <a:rPr lang="en-US" sz="1200">
                <a:latin typeface="Arial" charset="0"/>
              </a:rPr>
              <a:pPr algn="r" eaLnBrk="1" fontAlgn="base" hangingPunct="1"/>
              <a:t>36</a:t>
            </a:fld>
            <a:endParaRPr lang="en-US" sz="1200">
              <a:latin typeface="Arial" charset="0"/>
            </a:endParaRPr>
          </a:p>
        </p:txBody>
      </p:sp>
      <p:sp>
        <p:nvSpPr>
          <p:cNvPr id="97283" name="Rectangle 2"/>
          <p:cNvSpPr>
            <a:spLocks noGrp="1" noRot="1" noChangeAspect="1" noChangeArrowheads="1" noTextEdit="1"/>
          </p:cNvSpPr>
          <p:nvPr>
            <p:ph type="sldImg"/>
          </p:nvPr>
        </p:nvSpPr>
        <p:spPr>
          <a:xfrm>
            <a:off x="88900" y="746125"/>
            <a:ext cx="6619875" cy="3724275"/>
          </a:xfrm>
          <a:ln/>
        </p:spPr>
      </p:sp>
      <p:sp>
        <p:nvSpPr>
          <p:cNvPr id="9728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endParaRPr lang="en-GB" b="1" dirty="0">
              <a:cs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AD841B9E-4C8C-4E29-AF74-56D3C46E0B41}" type="slidenum">
              <a:rPr lang="en-US" sz="1200">
                <a:latin typeface="Arial" charset="0"/>
              </a:rPr>
              <a:pPr algn="r" eaLnBrk="1" fontAlgn="base" hangingPunct="1"/>
              <a:t>37</a:t>
            </a:fld>
            <a:endParaRPr lang="en-US" sz="1200">
              <a:latin typeface="Arial" charset="0"/>
            </a:endParaRPr>
          </a:p>
        </p:txBody>
      </p:sp>
      <p:sp>
        <p:nvSpPr>
          <p:cNvPr id="99331" name="Rectangle 2"/>
          <p:cNvSpPr>
            <a:spLocks noGrp="1" noRot="1" noChangeAspect="1" noChangeArrowheads="1" noTextEdit="1"/>
          </p:cNvSpPr>
          <p:nvPr>
            <p:ph type="sldImg"/>
          </p:nvPr>
        </p:nvSpPr>
        <p:spPr>
          <a:xfrm>
            <a:off x="88900" y="746125"/>
            <a:ext cx="6619875" cy="3724275"/>
          </a:xfrm>
          <a:ln/>
        </p:spPr>
      </p:sp>
      <p:sp>
        <p:nvSpPr>
          <p:cNvPr id="9933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a:t>* See later for the complete reference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421F96DC-B35B-4F41-BE44-6483E25146E4}" type="slidenum">
              <a:rPr lang="en-US" sz="1200">
                <a:latin typeface="Arial" charset="0"/>
              </a:rPr>
              <a:pPr algn="r" eaLnBrk="1" fontAlgn="base" hangingPunct="1"/>
              <a:t>38</a:t>
            </a:fld>
            <a:endParaRPr lang="en-US" sz="1200">
              <a:latin typeface="Arial" charset="0"/>
            </a:endParaRPr>
          </a:p>
        </p:txBody>
      </p:sp>
      <p:sp>
        <p:nvSpPr>
          <p:cNvPr id="100355" name="Rectangle 2"/>
          <p:cNvSpPr>
            <a:spLocks noGrp="1" noRot="1" noChangeAspect="1" noChangeArrowheads="1" noTextEdit="1"/>
          </p:cNvSpPr>
          <p:nvPr>
            <p:ph type="sldImg"/>
          </p:nvPr>
        </p:nvSpPr>
        <p:spPr>
          <a:xfrm>
            <a:off x="88900" y="746125"/>
            <a:ext cx="6619875" cy="3724275"/>
          </a:xfrm>
          <a:ln/>
        </p:spPr>
      </p:sp>
      <p:sp>
        <p:nvSpPr>
          <p:cNvPr id="10035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More complex analytical relations can be found in literature that are able to approximate the real Cl-M curve better than the P-G compressibility correction factor. However, the P-G method is one of the most simple, yet very good for the scope of conceptual design.</a:t>
            </a:r>
          </a:p>
          <a:p>
            <a:pPr eaLnBrk="1" hangingPunct="1"/>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eaLnBrk="1" hangingPunct="1"/>
            <a:r>
              <a:rPr lang="en-GB" sz="1400" b="1" dirty="0"/>
              <a:t>Effect</a:t>
            </a:r>
            <a:r>
              <a:rPr lang="en-GB" sz="1400" b="1" baseline="0" dirty="0"/>
              <a:t> of Mach number on </a:t>
            </a:r>
            <a:r>
              <a:rPr lang="en-GB" sz="1400" b="1" dirty="0"/>
              <a:t>LIFT</a:t>
            </a:r>
          </a:p>
          <a:p>
            <a:pPr eaLnBrk="1" hangingPunct="1"/>
            <a:r>
              <a:rPr lang="en-GB" dirty="0"/>
              <a:t>In</a:t>
            </a:r>
            <a:r>
              <a:rPr lang="en-GB" baseline="0" dirty="0"/>
              <a:t> the incompressible region (M&lt;0,3) the lift is almost constant. However by further increasing the Much number the lift start to increase. The reason is the additional flow acceleration due to the compressibility. At critical Mach number the first point on the (upper surface) of the </a:t>
            </a:r>
            <a:r>
              <a:rPr lang="en-GB" baseline="0" dirty="0" err="1"/>
              <a:t>airfoil</a:t>
            </a:r>
            <a:r>
              <a:rPr lang="en-GB" baseline="0" dirty="0"/>
              <a:t> reaches M=1. Br increasing the Mach number (M&gt;</a:t>
            </a:r>
            <a:r>
              <a:rPr lang="en-GB" baseline="0" dirty="0" err="1"/>
              <a:t>Mcr</a:t>
            </a:r>
            <a:r>
              <a:rPr lang="en-GB" baseline="0" dirty="0"/>
              <a:t>) the region of supersonic flow grows on the upper side of the </a:t>
            </a:r>
            <a:r>
              <a:rPr lang="en-GB" baseline="0" dirty="0" err="1"/>
              <a:t>airfoil</a:t>
            </a:r>
            <a:r>
              <a:rPr lang="en-GB" baseline="0" dirty="0"/>
              <a:t> resulting in further pressure drop and </a:t>
            </a:r>
            <a:r>
              <a:rPr lang="en-GB" baseline="0" dirty="0" err="1"/>
              <a:t>increas</a:t>
            </a:r>
            <a:r>
              <a:rPr lang="en-GB" baseline="0" dirty="0"/>
              <a:t> in the lift. However at some point flow on the lower surface of the </a:t>
            </a:r>
            <a:r>
              <a:rPr lang="en-GB" baseline="0" dirty="0" err="1"/>
              <a:t>airfoil</a:t>
            </a:r>
            <a:r>
              <a:rPr lang="en-GB" baseline="0" dirty="0"/>
              <a:t> also becomes supersonic. This results in flow acceleration and pressure drop on the lower surface of the </a:t>
            </a:r>
            <a:r>
              <a:rPr lang="en-GB" baseline="0" dirty="0" err="1"/>
              <a:t>airfoil</a:t>
            </a:r>
            <a:r>
              <a:rPr lang="en-GB" baseline="0" dirty="0"/>
              <a:t> so lift decreases. By further increasing the Mach number the whole lower surface of the </a:t>
            </a:r>
            <a:r>
              <a:rPr lang="en-GB" baseline="0" dirty="0" err="1"/>
              <a:t>airfoil</a:t>
            </a:r>
            <a:r>
              <a:rPr lang="en-GB" baseline="0" dirty="0"/>
              <a:t> experiences supersonic flow, however some part of the upper surface still has subsonic flow. So by increasing the Mach number the lift again increases. After M=1 both upper and lower sides of the </a:t>
            </a:r>
            <a:r>
              <a:rPr lang="en-GB" baseline="0" dirty="0" err="1"/>
              <a:t>airfoil</a:t>
            </a:r>
            <a:r>
              <a:rPr lang="en-GB" baseline="0" dirty="0"/>
              <a:t> have supersonic flow (except a small region in front of the leading edge). Increasing the Mach number further reduces the lift.</a:t>
            </a:r>
          </a:p>
          <a:p>
            <a:pPr eaLnBrk="1" hangingPunct="1"/>
            <a:endParaRPr lang="en-GB" baseline="0" dirty="0"/>
          </a:p>
          <a:p>
            <a:pPr eaLnBrk="1" hangingPunct="1"/>
            <a:endParaRPr lang="en-GB"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1" dirty="0"/>
              <a:t>Effect</a:t>
            </a:r>
            <a:r>
              <a:rPr lang="en-GB" sz="1200" b="1" baseline="0" dirty="0"/>
              <a:t> of Mach number on DRAG</a:t>
            </a:r>
            <a:endParaRPr lang="en-GB" sz="1200" b="1" dirty="0"/>
          </a:p>
          <a:p>
            <a:pPr eaLnBrk="1" hangingPunct="1"/>
            <a:r>
              <a:rPr lang="en-GB" dirty="0"/>
              <a:t>The behaviour of C</a:t>
            </a:r>
            <a:r>
              <a:rPr lang="en-GB" baseline="-25000" dirty="0"/>
              <a:t>d</a:t>
            </a:r>
            <a:r>
              <a:rPr lang="en-GB" dirty="0"/>
              <a:t> at growing Mach is different than C</a:t>
            </a:r>
            <a:r>
              <a:rPr lang="en-GB" baseline="-25000" dirty="0"/>
              <a:t>l</a:t>
            </a:r>
            <a:r>
              <a:rPr lang="en-GB" dirty="0"/>
              <a:t>. </a:t>
            </a:r>
          </a:p>
          <a:p>
            <a:pPr eaLnBrk="1" hangingPunct="1"/>
            <a:r>
              <a:rPr lang="en-GB" dirty="0"/>
              <a:t>C</a:t>
            </a:r>
            <a:r>
              <a:rPr lang="en-GB" baseline="-25000" dirty="0"/>
              <a:t>d</a:t>
            </a:r>
            <a:r>
              <a:rPr lang="en-GB" dirty="0"/>
              <a:t> remains constant until, in correspondence of a certain Mach value (smaller than 1!) the sonic conditions are reached locally on one point of the </a:t>
            </a:r>
            <a:r>
              <a:rPr lang="en-GB" dirty="0" err="1"/>
              <a:t>airfoil</a:t>
            </a:r>
            <a:r>
              <a:rPr lang="en-GB" dirty="0"/>
              <a:t>.  Before that, the drag is mainly due to friction. </a:t>
            </a:r>
            <a:r>
              <a:rPr lang="en-GB" b="1" dirty="0"/>
              <a:t>Compressibility does not have a relevant effect on friction drag.</a:t>
            </a:r>
          </a:p>
          <a:p>
            <a:pPr eaLnBrk="1" hangingPunct="1"/>
            <a:r>
              <a:rPr lang="en-GB" dirty="0"/>
              <a:t>After the critical conditions are reached a pocket of supersonic flow starts growing on the </a:t>
            </a:r>
            <a:r>
              <a:rPr lang="en-GB" dirty="0" err="1"/>
              <a:t>airfoil</a:t>
            </a:r>
            <a:r>
              <a:rPr lang="en-GB" dirty="0"/>
              <a:t> (sometimes also on the lower part of the </a:t>
            </a:r>
            <a:r>
              <a:rPr lang="en-GB" dirty="0" err="1"/>
              <a:t>airfoil</a:t>
            </a:r>
            <a:r>
              <a:rPr lang="en-GB" dirty="0"/>
              <a:t>). A shock wave is formed at the end of this pocket (after that the flow returns subsonic), which contributes to enhance the drag (</a:t>
            </a:r>
            <a:r>
              <a:rPr lang="en-GB" b="1" dirty="0"/>
              <a:t>wave drag</a:t>
            </a:r>
            <a:r>
              <a:rPr lang="en-GB" dirty="0"/>
              <a:t> contribution). As the shock wave grows, the large adverse pressure gradient associated to the flow recompression creates a growing separation of the flow. This large flow separation is responsible for the deep increase of the drag! </a:t>
            </a:r>
          </a:p>
          <a:p>
            <a:pPr eaLnBrk="1" hangingPunct="1"/>
            <a:endParaRPr lang="en-GB" dirty="0"/>
          </a:p>
          <a:p>
            <a:pPr eaLnBrk="1" hangingPunct="1"/>
            <a:r>
              <a:rPr lang="en-GB" b="1" dirty="0"/>
              <a:t>POINT OF ATTENTION:</a:t>
            </a:r>
            <a:r>
              <a:rPr lang="en-GB" dirty="0"/>
              <a:t> We can say that </a:t>
            </a:r>
            <a:r>
              <a:rPr lang="en-GB" dirty="0" err="1"/>
              <a:t>Mcritical</a:t>
            </a:r>
            <a:r>
              <a:rPr lang="en-GB" dirty="0"/>
              <a:t> (often addressed in literature as </a:t>
            </a:r>
            <a:r>
              <a:rPr lang="en-GB" dirty="0" err="1"/>
              <a:t>M</a:t>
            </a:r>
            <a:r>
              <a:rPr lang="en-GB" baseline="-25000" dirty="0" err="1"/>
              <a:t>cr</a:t>
            </a:r>
            <a:r>
              <a:rPr lang="en-GB" dirty="0"/>
              <a:t> or M</a:t>
            </a:r>
            <a:r>
              <a:rPr lang="en-GB" baseline="-25000" dirty="0"/>
              <a:t>CC</a:t>
            </a:r>
            <a:r>
              <a:rPr lang="en-GB" dirty="0"/>
              <a:t>, i.e. Mach </a:t>
            </a:r>
            <a:r>
              <a:rPr lang="en-GB" u="sng" dirty="0"/>
              <a:t>c</a:t>
            </a:r>
            <a:r>
              <a:rPr lang="en-GB" dirty="0"/>
              <a:t>rest </a:t>
            </a:r>
            <a:r>
              <a:rPr lang="en-GB" u="sng" dirty="0"/>
              <a:t>c</a:t>
            </a:r>
            <a:r>
              <a:rPr lang="en-GB" dirty="0"/>
              <a:t>ritical, because the critical conditions are reached in correspondence of the peak or crest of the pressure distribution on the </a:t>
            </a:r>
            <a:r>
              <a:rPr lang="en-GB" dirty="0" err="1"/>
              <a:t>airfoil</a:t>
            </a:r>
            <a:r>
              <a:rPr lang="en-GB" dirty="0"/>
              <a:t>) is a kind of warning value! The actual drastic drag increase is encountered at Mach values slightly higher than </a:t>
            </a:r>
            <a:r>
              <a:rPr lang="en-GB" dirty="0" err="1"/>
              <a:t>Mcr</a:t>
            </a:r>
            <a:r>
              <a:rPr lang="en-GB" dirty="0"/>
              <a:t>, i.e. in correspondence of the so called M</a:t>
            </a:r>
            <a:r>
              <a:rPr lang="en-GB" baseline="-25000" dirty="0"/>
              <a:t>DD</a:t>
            </a:r>
            <a:r>
              <a:rPr lang="en-GB" dirty="0"/>
              <a:t> (Mach </a:t>
            </a:r>
            <a:r>
              <a:rPr lang="en-GB" u="sng" dirty="0"/>
              <a:t>d</a:t>
            </a:r>
            <a:r>
              <a:rPr lang="en-GB" dirty="0"/>
              <a:t>rag </a:t>
            </a:r>
            <a:r>
              <a:rPr lang="en-GB" u="sng" dirty="0"/>
              <a:t>d</a:t>
            </a:r>
            <a:r>
              <a:rPr lang="en-GB" dirty="0"/>
              <a:t>ivergence), or simply </a:t>
            </a:r>
            <a:r>
              <a:rPr lang="en-GB" dirty="0" err="1"/>
              <a:t>M</a:t>
            </a:r>
            <a:r>
              <a:rPr lang="en-GB" baseline="-25000" dirty="0" err="1"/>
              <a:t>div</a:t>
            </a:r>
            <a:r>
              <a:rPr lang="en-GB" dirty="0"/>
              <a:t>. For conventional </a:t>
            </a:r>
            <a:r>
              <a:rPr lang="en-GB" dirty="0" err="1"/>
              <a:t>airfoils</a:t>
            </a:r>
            <a:r>
              <a:rPr lang="en-GB" dirty="0"/>
              <a:t> </a:t>
            </a:r>
            <a:r>
              <a:rPr lang="en-GB" dirty="0" err="1"/>
              <a:t>M</a:t>
            </a:r>
            <a:r>
              <a:rPr lang="en-GB" baseline="-25000" dirty="0" err="1"/>
              <a:t>div</a:t>
            </a:r>
            <a:r>
              <a:rPr lang="en-GB" dirty="0"/>
              <a:t> is 2-4% higher than </a:t>
            </a:r>
            <a:r>
              <a:rPr lang="en-GB" dirty="0" err="1"/>
              <a:t>M</a:t>
            </a:r>
            <a:r>
              <a:rPr lang="en-GB" baseline="-25000" dirty="0" err="1"/>
              <a:t>cr</a:t>
            </a:r>
            <a:r>
              <a:rPr lang="en-GB" dirty="0"/>
              <a:t>. As discussed later, special </a:t>
            </a:r>
            <a:r>
              <a:rPr lang="en-GB" dirty="0" err="1"/>
              <a:t>airfoils</a:t>
            </a:r>
            <a:r>
              <a:rPr lang="en-GB" dirty="0"/>
              <a:t>, so called supercritical, can push </a:t>
            </a:r>
            <a:r>
              <a:rPr lang="en-GB" dirty="0" err="1"/>
              <a:t>Mdd</a:t>
            </a:r>
            <a:r>
              <a:rPr lang="en-GB" dirty="0"/>
              <a:t> further to values about 6% higher than </a:t>
            </a:r>
            <a:r>
              <a:rPr lang="en-GB" dirty="0" err="1"/>
              <a:t>Mcr</a:t>
            </a:r>
            <a:r>
              <a:rPr lang="en-GB" dirty="0"/>
              <a:t>!</a:t>
            </a:r>
            <a:endParaRPr lang="en-GB" baseline="-25000"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39</a:t>
            </a:fld>
            <a:endParaRPr lang="en-US"/>
          </a:p>
        </p:txBody>
      </p:sp>
    </p:spTree>
    <p:extLst>
      <p:ext uri="{BB962C8B-B14F-4D97-AF65-F5344CB8AC3E}">
        <p14:creationId xmlns:p14="http://schemas.microsoft.com/office/powerpoint/2010/main" val="2255333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40</a:t>
            </a:fld>
            <a:endParaRPr lang="en-US"/>
          </a:p>
        </p:txBody>
      </p:sp>
    </p:spTree>
    <p:extLst>
      <p:ext uri="{BB962C8B-B14F-4D97-AF65-F5344CB8AC3E}">
        <p14:creationId xmlns:p14="http://schemas.microsoft.com/office/powerpoint/2010/main" val="17871665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7A70C999-B4FB-4F7F-8CA0-48545B3848C3}" type="slidenum">
              <a:rPr lang="en-US" sz="1200">
                <a:latin typeface="Arial" charset="0"/>
              </a:rPr>
              <a:pPr algn="r" eaLnBrk="1" fontAlgn="base" hangingPunct="1"/>
              <a:t>41</a:t>
            </a:fld>
            <a:endParaRPr lang="en-US" sz="1200">
              <a:latin typeface="Arial" charset="0"/>
            </a:endParaRPr>
          </a:p>
        </p:txBody>
      </p:sp>
      <p:sp>
        <p:nvSpPr>
          <p:cNvPr id="103427" name="Rectangle 2"/>
          <p:cNvSpPr>
            <a:spLocks noGrp="1" noRot="1" noChangeAspect="1" noChangeArrowheads="1" noTextEdit="1"/>
          </p:cNvSpPr>
          <p:nvPr>
            <p:ph type="sldImg"/>
          </p:nvPr>
        </p:nvSpPr>
        <p:spPr>
          <a:xfrm>
            <a:off x="88900" y="746125"/>
            <a:ext cx="6619875" cy="3724275"/>
          </a:xfrm>
          <a:ln/>
        </p:spPr>
      </p:sp>
      <p:sp>
        <p:nvSpPr>
          <p:cNvPr id="10342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 ATT. The value of the minimum pressure coefficient (hence of Mach Critical) depends also on the angle of attack at which the </a:t>
            </a:r>
            <a:r>
              <a:rPr lang="en-GB" dirty="0" err="1"/>
              <a:t>airfoil</a:t>
            </a:r>
            <a:r>
              <a:rPr lang="en-GB" dirty="0"/>
              <a:t> is operating! The higher alpha, the more negative the peak pressure coefficient, hence the lower Mach critical </a:t>
            </a:r>
          </a:p>
          <a:p>
            <a:pPr eaLnBrk="1" hangingPunct="1"/>
            <a:r>
              <a:rPr lang="en-GB" dirty="0"/>
              <a:t>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0391AABD-5FDA-4AED-8DE0-40BE072E0A39}" type="slidenum">
              <a:rPr lang="en-US" sz="1200">
                <a:latin typeface="Arial" charset="0"/>
              </a:rPr>
              <a:pPr algn="r" eaLnBrk="1" fontAlgn="base" hangingPunct="1"/>
              <a:t>42</a:t>
            </a:fld>
            <a:endParaRPr lang="en-US" sz="1200">
              <a:latin typeface="Arial" charset="0"/>
            </a:endParaRPr>
          </a:p>
        </p:txBody>
      </p:sp>
      <p:sp>
        <p:nvSpPr>
          <p:cNvPr id="104451" name="Rectangle 2"/>
          <p:cNvSpPr>
            <a:spLocks noGrp="1" noRot="1" noChangeAspect="1" noChangeArrowheads="1" noTextEdit="1"/>
          </p:cNvSpPr>
          <p:nvPr>
            <p:ph type="sldImg"/>
          </p:nvPr>
        </p:nvSpPr>
        <p:spPr>
          <a:xfrm>
            <a:off x="88900" y="746125"/>
            <a:ext cx="6619875" cy="3724275"/>
          </a:xfrm>
          <a:ln/>
        </p:spPr>
      </p:sp>
      <p:sp>
        <p:nvSpPr>
          <p:cNvPr id="10445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Attention: in this picture it is not shown any information concerning wing sweep angle values required to use such thickness values! </a:t>
            </a:r>
            <a:r>
              <a:rPr lang="en-GB" dirty="0" err="1"/>
              <a:t>E.g.,a</a:t>
            </a:r>
            <a:r>
              <a:rPr lang="en-GB" dirty="0"/>
              <a:t> t/c value of 0.15 is normal for Mach values around 0.8, </a:t>
            </a:r>
            <a:r>
              <a:rPr lang="en-GB" b="1" dirty="0"/>
              <a:t>however NOT for </a:t>
            </a:r>
            <a:r>
              <a:rPr lang="en-GB" b="1" dirty="0" err="1"/>
              <a:t>unswept</a:t>
            </a:r>
            <a:r>
              <a:rPr lang="en-GB" b="1" dirty="0"/>
              <a:t> wing!!!</a:t>
            </a:r>
          </a:p>
          <a:p>
            <a:pPr eaLnBrk="1" hangingPunct="1"/>
            <a:endParaRPr lang="en-GB" dirty="0"/>
          </a:p>
          <a:p>
            <a:pPr eaLnBrk="1" hangingPunct="1"/>
            <a:r>
              <a:rPr lang="en-GB" dirty="0"/>
              <a:t>The same data are plotted in fig 4.5. of </a:t>
            </a:r>
            <a:r>
              <a:rPr lang="en-GB" dirty="0" err="1"/>
              <a:t>Corke</a:t>
            </a:r>
            <a:r>
              <a:rPr lang="en-GB" dirty="0"/>
              <a:t>, nevertheless a different trend curve has been built, which does not show (like in the picture above) the discontinuity in the (t/c) values which do not really go below 12% for design MACH&lt;1, while they are always below 6% for supersonic  cruise speed.</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12D74779-8B0E-4438-AC91-58D3F182AD96}" type="slidenum">
              <a:rPr lang="en-US" sz="1200">
                <a:latin typeface="Arial" charset="0"/>
              </a:rPr>
              <a:pPr algn="r" eaLnBrk="1" fontAlgn="base" hangingPunct="1"/>
              <a:t>43</a:t>
            </a:fld>
            <a:endParaRPr lang="en-US" sz="1200">
              <a:latin typeface="Arial" charset="0"/>
            </a:endParaRPr>
          </a:p>
        </p:txBody>
      </p:sp>
      <p:sp>
        <p:nvSpPr>
          <p:cNvPr id="106499" name="Rectangle 2"/>
          <p:cNvSpPr>
            <a:spLocks noGrp="1" noRot="1" noChangeAspect="1" noChangeArrowheads="1" noTextEdit="1"/>
          </p:cNvSpPr>
          <p:nvPr>
            <p:ph type="sldImg"/>
          </p:nvPr>
        </p:nvSpPr>
        <p:spPr>
          <a:xfrm>
            <a:off x="88900" y="746125"/>
            <a:ext cx="6619875" cy="3724275"/>
          </a:xfrm>
          <a:ln/>
        </p:spPr>
      </p:sp>
      <p:sp>
        <p:nvSpPr>
          <p:cNvPr id="10650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sz="1000" dirty="0"/>
              <a:t>The shape of a SC </a:t>
            </a:r>
            <a:r>
              <a:rPr lang="en-GB" sz="1000" dirty="0" err="1"/>
              <a:t>airfoil</a:t>
            </a:r>
            <a:r>
              <a:rPr lang="en-GB" sz="1000" dirty="0"/>
              <a:t> is such that, on the suction side, the steep supersonic acceleration of the conventional </a:t>
            </a:r>
            <a:r>
              <a:rPr lang="en-GB" sz="1000" dirty="0" err="1"/>
              <a:t>airfoil</a:t>
            </a:r>
            <a:r>
              <a:rPr lang="en-GB" sz="1000" dirty="0"/>
              <a:t> is eliminated. The flow reaches supercritical speed, that is maintained over a large part of the </a:t>
            </a:r>
            <a:r>
              <a:rPr lang="en-GB" sz="1000" dirty="0" err="1"/>
              <a:t>airfoil</a:t>
            </a:r>
            <a:r>
              <a:rPr lang="en-GB" sz="1000" dirty="0"/>
              <a:t>. Then there is a small pressure plateau behind the shock and a pressure recovery in the trailing edge region. The reduction in local Mach number reduces the strength of the shock when the flow decelerates below critical speed. Aft loading and relatively high pitching moment values are other characteristics of supercritical </a:t>
            </a:r>
            <a:r>
              <a:rPr lang="en-GB" sz="1000" dirty="0" err="1"/>
              <a:t>airfoils</a:t>
            </a:r>
            <a:r>
              <a:rPr lang="en-GB" sz="1000" dirty="0"/>
              <a:t>. This has strong influence on the design of the tail, which has to counterbalance a stronger wing pitching moment than in case conventional </a:t>
            </a:r>
            <a:r>
              <a:rPr lang="en-GB" sz="1000" dirty="0" err="1"/>
              <a:t>airfoils</a:t>
            </a:r>
            <a:r>
              <a:rPr lang="en-GB" sz="1000" dirty="0"/>
              <a:t> are used, hence increasing the trim drag contribution.</a:t>
            </a:r>
          </a:p>
          <a:p>
            <a:pPr eaLnBrk="1" hangingPunct="1"/>
            <a:endParaRPr lang="en-GB" sz="1000" dirty="0"/>
          </a:p>
          <a:p>
            <a:pPr eaLnBrk="1" hangingPunct="1"/>
            <a:r>
              <a:rPr lang="en-GB" sz="1000" dirty="0"/>
              <a:t>The first supercritical </a:t>
            </a:r>
            <a:r>
              <a:rPr lang="en-GB" sz="1000" dirty="0" err="1"/>
              <a:t>airfoils</a:t>
            </a:r>
            <a:r>
              <a:rPr lang="en-GB" sz="1000" dirty="0"/>
              <a:t> were designed and </a:t>
            </a:r>
            <a:r>
              <a:rPr lang="en-GB" sz="1000" dirty="0" err="1"/>
              <a:t>analyzed</a:t>
            </a:r>
            <a:r>
              <a:rPr lang="en-GB" sz="1000" dirty="0"/>
              <a:t> by Whitcomb at NASA Langley in the 1950s. </a:t>
            </a:r>
          </a:p>
          <a:p>
            <a:pPr eaLnBrk="1" hangingPunct="1"/>
            <a:endParaRPr lang="en-GB" sz="1000" dirty="0"/>
          </a:p>
          <a:p>
            <a:pPr eaLnBrk="1" hangingPunct="1"/>
            <a:r>
              <a:rPr lang="en-GB" sz="1000" dirty="0"/>
              <a:t>Source http://aerodyn.org/HighSpeed/supercritical.html</a:t>
            </a:r>
          </a:p>
          <a:p>
            <a:pPr eaLnBrk="1" hangingPunct="1"/>
            <a:endParaRPr lang="en-GB" sz="1000" dirty="0"/>
          </a:p>
          <a:p>
            <a:pPr eaLnBrk="1" hangingPunct="1"/>
            <a:r>
              <a:rPr lang="en-GB" sz="1000" dirty="0"/>
              <a:t>A number of supercritical </a:t>
            </a:r>
            <a:r>
              <a:rPr lang="en-GB" sz="1000" dirty="0" err="1"/>
              <a:t>airfoils</a:t>
            </a:r>
            <a:r>
              <a:rPr lang="en-GB" sz="1000" dirty="0"/>
              <a:t> are also available in the </a:t>
            </a:r>
            <a:r>
              <a:rPr lang="en-GB" sz="1000" dirty="0" err="1"/>
              <a:t>airfoil</a:t>
            </a:r>
            <a:r>
              <a:rPr lang="en-GB" sz="1000" dirty="0"/>
              <a:t> archive posted on BB, including the Whitcomb </a:t>
            </a:r>
            <a:r>
              <a:rPr lang="en-GB" sz="1000" dirty="0" err="1"/>
              <a:t>airfoil</a:t>
            </a:r>
            <a:r>
              <a:rPr lang="en-GB" sz="1000" dirty="0"/>
              <a:t> and some of the NASA supercritical </a:t>
            </a:r>
            <a:r>
              <a:rPr lang="en-GB" sz="1000" dirty="0" err="1"/>
              <a:t>airfoils</a:t>
            </a:r>
            <a:r>
              <a:rPr lang="en-GB" sz="1000" dirty="0"/>
              <a:t> family (those coded as SC(X)-XXXX, where the first two digits (after the -) represent the design lift coefficient and the last two digits represent the max thickness of the </a:t>
            </a:r>
            <a:r>
              <a:rPr lang="en-GB" sz="1000" dirty="0" err="1"/>
              <a:t>airfoil</a:t>
            </a:r>
            <a:r>
              <a:rPr lang="en-GB" sz="1000" dirty="0"/>
              <a:t>. You can download the NASA official report at http://ntrs.nasa.gov/archive/nasa/casi.ntrs.nasa.gov/19900007394_1990007394.pdf)</a:t>
            </a:r>
          </a:p>
          <a:p>
            <a:pPr eaLnBrk="1" hangingPunct="1"/>
            <a:endParaRPr lang="en-GB" sz="1000" dirty="0"/>
          </a:p>
          <a:p>
            <a:pPr eaLnBrk="1" hangingPunct="1"/>
            <a:endParaRPr lang="en-GB"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A00D0904-C63A-47E2-B7FD-8541B7512B61}" type="slidenum">
              <a:rPr lang="en-US" sz="1200">
                <a:latin typeface="Arial" charset="0"/>
              </a:rPr>
              <a:pPr algn="r" eaLnBrk="1" fontAlgn="base" hangingPunct="1"/>
              <a:t>44</a:t>
            </a:fld>
            <a:endParaRPr lang="en-US" sz="1200">
              <a:latin typeface="Arial" charset="0"/>
            </a:endParaRPr>
          </a:p>
        </p:txBody>
      </p:sp>
      <p:sp>
        <p:nvSpPr>
          <p:cNvPr id="105475" name="Rectangle 2"/>
          <p:cNvSpPr>
            <a:spLocks noGrp="1" noRot="1" noChangeAspect="1" noChangeArrowheads="1" noTextEdit="1"/>
          </p:cNvSpPr>
          <p:nvPr>
            <p:ph type="sldImg"/>
          </p:nvPr>
        </p:nvSpPr>
        <p:spPr>
          <a:xfrm>
            <a:off x="88900" y="746125"/>
            <a:ext cx="6619875" cy="3724275"/>
          </a:xfrm>
          <a:ln/>
        </p:spPr>
      </p:sp>
      <p:sp>
        <p:nvSpPr>
          <p:cNvPr id="10547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dirty="0"/>
              <a:t>Note how, for the same value of </a:t>
            </a:r>
            <a:r>
              <a:rPr lang="en-GB" dirty="0" err="1"/>
              <a:t>Mcr</a:t>
            </a:r>
            <a:r>
              <a:rPr lang="en-GB" dirty="0"/>
              <a:t>, supercritical </a:t>
            </a:r>
            <a:r>
              <a:rPr lang="en-GB" dirty="0" err="1"/>
              <a:t>airfoils</a:t>
            </a:r>
            <a:r>
              <a:rPr lang="en-GB" dirty="0"/>
              <a:t> can be 10% thicker than conventional </a:t>
            </a:r>
            <a:r>
              <a:rPr lang="en-GB" dirty="0" err="1"/>
              <a:t>airfoils</a:t>
            </a:r>
            <a:r>
              <a:rPr lang="en-GB" dirty="0"/>
              <a:t> (conventional </a:t>
            </a:r>
            <a:r>
              <a:rPr lang="en-GB" dirty="0" err="1"/>
              <a:t>airfoil</a:t>
            </a:r>
            <a:r>
              <a:rPr lang="en-GB" dirty="0"/>
              <a:t> thickness ratio times 1.1) which is advantageous in term of weight and space for fuel, landing gear, systems etc. We can also read the graph like this: supercritical </a:t>
            </a:r>
            <a:r>
              <a:rPr lang="en-GB" dirty="0" err="1"/>
              <a:t>airfoils</a:t>
            </a:r>
            <a:r>
              <a:rPr lang="en-GB" dirty="0"/>
              <a:t> have a higher Mach critical values than other NACA 4, 5, 6 families of the same maximum thickness!</a:t>
            </a:r>
          </a:p>
          <a:p>
            <a:pPr eaLnBrk="1" hangingPunct="1"/>
            <a:r>
              <a:rPr lang="en-GB" dirty="0"/>
              <a:t>Note also how series 6 </a:t>
            </a:r>
            <a:r>
              <a:rPr lang="en-GB" dirty="0" err="1"/>
              <a:t>airfoils</a:t>
            </a:r>
            <a:r>
              <a:rPr lang="en-GB" dirty="0"/>
              <a:t>, of the same thickness as NACA series 4 and 5 </a:t>
            </a:r>
            <a:r>
              <a:rPr lang="en-GB" dirty="0" err="1"/>
              <a:t>airfoils</a:t>
            </a:r>
            <a:r>
              <a:rPr lang="en-GB" dirty="0"/>
              <a:t>, have a far higher </a:t>
            </a:r>
            <a:r>
              <a:rPr lang="en-GB" dirty="0" err="1"/>
              <a:t>Mcr</a:t>
            </a:r>
            <a:r>
              <a:rPr lang="en-GB" dirty="0"/>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45</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GB" dirty="0"/>
              <a:t>The geometric parameter and the aerodynamic</a:t>
            </a:r>
            <a:r>
              <a:rPr lang="en-GB" baseline="0" dirty="0"/>
              <a:t> properties of the wing depend heavily on the planform. Thus, the relations reported on the slide are valid only for the trapezoidal wing and they cannot be applied in the case, for example, of the kinked wing. A general definition of the mean aerodynamic chord and its location are available in literature (see for instance Raymer or </a:t>
            </a:r>
            <a:r>
              <a:rPr lang="en-GB" baseline="0" dirty="0" err="1"/>
              <a:t>Torenbeek</a:t>
            </a:r>
            <a:r>
              <a:rPr lang="en-GB" baseline="0" dirty="0"/>
              <a:t>).</a:t>
            </a:r>
            <a:endParaRPr lang="en-GB"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46</a:t>
            </a:fld>
            <a:endParaRPr lang="en-US"/>
          </a:p>
        </p:txBody>
      </p:sp>
    </p:spTree>
    <p:extLst>
      <p:ext uri="{BB962C8B-B14F-4D97-AF65-F5344CB8AC3E}">
        <p14:creationId xmlns:p14="http://schemas.microsoft.com/office/powerpoint/2010/main" val="2622662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47</a:t>
            </a:fld>
            <a:endParaRPr lang="en-US"/>
          </a:p>
        </p:txBody>
      </p:sp>
    </p:spTree>
    <p:extLst>
      <p:ext uri="{BB962C8B-B14F-4D97-AF65-F5344CB8AC3E}">
        <p14:creationId xmlns:p14="http://schemas.microsoft.com/office/powerpoint/2010/main" val="2622662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131EC7AE-BB46-40B9-ABB8-DC97A725097A}" type="slidenum">
              <a:rPr lang="en-US" altLang="nl-NL">
                <a:latin typeface="Arial" charset="0"/>
              </a:rPr>
              <a:pPr algn="r" eaLnBrk="1" hangingPunct="1">
                <a:spcBef>
                  <a:spcPct val="0"/>
                </a:spcBef>
              </a:pPr>
              <a:t>48</a:t>
            </a:fld>
            <a:endParaRPr lang="en-US" altLang="nl-NL">
              <a:latin typeface="Arial" charset="0"/>
            </a:endParaRPr>
          </a:p>
        </p:txBody>
      </p:sp>
      <p:sp>
        <p:nvSpPr>
          <p:cNvPr id="70659" name="Rectangle 2"/>
          <p:cNvSpPr>
            <a:spLocks noGrp="1" noRot="1" noChangeAspect="1" noChangeArrowheads="1" noTextEdit="1"/>
          </p:cNvSpPr>
          <p:nvPr>
            <p:ph type="sldImg"/>
          </p:nvPr>
        </p:nvSpPr>
        <p:spPr>
          <a:xfrm>
            <a:off x="90488" y="746125"/>
            <a:ext cx="6616700" cy="3722688"/>
          </a:xfrm>
          <a:ln/>
        </p:spPr>
      </p:sp>
      <p:sp>
        <p:nvSpPr>
          <p:cNvPr id="7066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dirty="0"/>
          </a:p>
        </p:txBody>
      </p:sp>
    </p:spTree>
    <p:extLst>
      <p:ext uri="{BB962C8B-B14F-4D97-AF65-F5344CB8AC3E}">
        <p14:creationId xmlns:p14="http://schemas.microsoft.com/office/powerpoint/2010/main" val="34862693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90488" y="746125"/>
            <a:ext cx="6616700" cy="3722688"/>
          </a:xfrm>
          <a:ln/>
        </p:spPr>
      </p:sp>
      <p:sp>
        <p:nvSpPr>
          <p:cNvPr id="80899"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 order to operate in common airports (manoeuvre on the ground, approach the terminal areas, enter hangars for maintenance) the maximum span length that is allowed today is </a:t>
            </a:r>
            <a:r>
              <a:rPr lang="en-GB" b="1" dirty="0"/>
              <a:t>80m</a:t>
            </a:r>
            <a:r>
              <a:rPr lang="en-GB" dirty="0"/>
              <a:t>. </a:t>
            </a:r>
            <a:r>
              <a:rPr lang="en-GB" b="1" dirty="0"/>
              <a:t>This has to be considered as the max value possible for b in your wing design!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90488" y="746125"/>
            <a:ext cx="6616700" cy="3722688"/>
          </a:xfrm>
          <a:ln/>
        </p:spPr>
      </p:sp>
      <p:sp>
        <p:nvSpPr>
          <p:cNvPr id="114691"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90488" y="746125"/>
            <a:ext cx="6616700" cy="3722688"/>
          </a:xfrm>
          <a:ln/>
        </p:spPr>
      </p:sp>
      <p:sp>
        <p:nvSpPr>
          <p:cNvPr id="115715"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Induced Drag, is also addressed as Vortex Drag.</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90488" y="746125"/>
            <a:ext cx="6616700" cy="3722688"/>
          </a:xfrm>
          <a:ln/>
        </p:spPr>
      </p:sp>
      <p:sp>
        <p:nvSpPr>
          <p:cNvPr id="115715"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Induced Drag, is also addressed as Vortex Drag.</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90488" y="746125"/>
            <a:ext cx="6616700" cy="3722688"/>
          </a:xfrm>
          <a:ln/>
        </p:spPr>
      </p:sp>
      <p:sp>
        <p:nvSpPr>
          <p:cNvPr id="115715"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54</a:t>
            </a:fld>
            <a:endParaRPr lang="en-US"/>
          </a:p>
        </p:txBody>
      </p:sp>
    </p:spTree>
    <p:extLst>
      <p:ext uri="{BB962C8B-B14F-4D97-AF65-F5344CB8AC3E}">
        <p14:creationId xmlns:p14="http://schemas.microsoft.com/office/powerpoint/2010/main" val="16085728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dirty="0"/>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55</a:t>
            </a:fld>
            <a:endParaRPr lang="en-US"/>
          </a:p>
        </p:txBody>
      </p:sp>
    </p:spTree>
    <p:extLst>
      <p:ext uri="{BB962C8B-B14F-4D97-AF65-F5344CB8AC3E}">
        <p14:creationId xmlns:p14="http://schemas.microsoft.com/office/powerpoint/2010/main" val="22860624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90488" y="746125"/>
            <a:ext cx="6616700" cy="3722688"/>
          </a:xfrm>
          <a:ln/>
        </p:spPr>
      </p:sp>
      <p:sp>
        <p:nvSpPr>
          <p:cNvPr id="118787"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On a correctly designed canard aircraft the canard wing stalls before the main wing, so that the aircraft will pitch down, hence reducing the angle of attack and automatically recovering from stall. High(</a:t>
            </a:r>
            <a:r>
              <a:rPr lang="en-GB" dirty="0" err="1"/>
              <a:t>er</a:t>
            </a:r>
            <a:r>
              <a:rPr lang="en-GB" dirty="0"/>
              <a:t> than the wing) aspect ratio allows generating a lot of lift at low angles of attack and stall before the wing.</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57</a:t>
            </a:fld>
            <a:endParaRPr lang="en-US"/>
          </a:p>
        </p:txBody>
      </p:sp>
    </p:spTree>
    <p:extLst>
      <p:ext uri="{BB962C8B-B14F-4D97-AF65-F5344CB8AC3E}">
        <p14:creationId xmlns:p14="http://schemas.microsoft.com/office/powerpoint/2010/main" val="37043764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58</a:t>
            </a:fld>
            <a:endParaRPr lang="en-US"/>
          </a:p>
        </p:txBody>
      </p:sp>
    </p:spTree>
    <p:extLst>
      <p:ext uri="{BB962C8B-B14F-4D97-AF65-F5344CB8AC3E}">
        <p14:creationId xmlns:p14="http://schemas.microsoft.com/office/powerpoint/2010/main" val="20386015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pitchFamily="18" charset="0"/>
                <a:ea typeface="+mn-ea"/>
                <a:cs typeface="+mn-cs"/>
              </a:rPr>
              <a:t>*The sweep has very important effect on structural loads. Cambered airfoils inherently generate a pitching moment</a:t>
            </a:r>
          </a:p>
          <a:p>
            <a:r>
              <a:rPr lang="en-US" sz="1200" b="0" i="0" u="none" strike="noStrike" kern="1200" baseline="0" dirty="0">
                <a:solidFill>
                  <a:schemeClr val="tx1"/>
                </a:solidFill>
                <a:latin typeface="Times" pitchFamily="18" charset="0"/>
                <a:ea typeface="+mn-ea"/>
                <a:cs typeface="+mn-cs"/>
              </a:rPr>
              <a:t>about their quarter chords whose tendency is to rotate the airfoil LE down. All flapped airfoils, cambered or not,</a:t>
            </a:r>
          </a:p>
          <a:p>
            <a:r>
              <a:rPr lang="en-US" sz="1200" b="0" i="0" u="none" strike="noStrike" kern="1200" baseline="0" dirty="0">
                <a:solidFill>
                  <a:schemeClr val="tx1"/>
                </a:solidFill>
                <a:latin typeface="Times" pitchFamily="18" charset="0"/>
                <a:ea typeface="+mn-ea"/>
                <a:cs typeface="+mn-cs"/>
              </a:rPr>
              <a:t>generate extra pitching moment (torsion), which is added to the baseline moment. The total moment, regardless of</a:t>
            </a:r>
          </a:p>
          <a:p>
            <a:r>
              <a:rPr lang="en-US" sz="1200" b="0" i="0" u="none" strike="noStrike" kern="1200" baseline="0" dirty="0">
                <a:solidFill>
                  <a:schemeClr val="tx1"/>
                </a:solidFill>
                <a:latin typeface="Times" pitchFamily="18" charset="0"/>
                <a:ea typeface="+mn-ea"/>
                <a:cs typeface="+mn-cs"/>
              </a:rPr>
              <a:t>composition, is reacted as shear flow in the wing structure. If the wing is swept aft, an additional and usually</a:t>
            </a:r>
          </a:p>
          <a:p>
            <a:r>
              <a:rPr lang="en-US" sz="1200" b="0" i="0" u="none" strike="noStrike" kern="1200" baseline="0" dirty="0">
                <a:solidFill>
                  <a:schemeClr val="tx1"/>
                </a:solidFill>
                <a:latin typeface="Times" pitchFamily="18" charset="0"/>
                <a:ea typeface="+mn-ea"/>
                <a:cs typeface="+mn-cs"/>
              </a:rPr>
              <a:t>much larger pitching moment is generated because of the center of lift being moved a large distance aft.</a:t>
            </a:r>
          </a:p>
          <a:p>
            <a:r>
              <a:rPr lang="en-US" sz="1200" b="0" i="0" u="none" strike="noStrike" kern="1200" baseline="0" dirty="0">
                <a:solidFill>
                  <a:schemeClr val="tx1"/>
                </a:solidFill>
                <a:latin typeface="Times" pitchFamily="18" charset="0"/>
                <a:ea typeface="+mn-ea"/>
                <a:cs typeface="+mn-cs"/>
              </a:rPr>
              <a:t>Consequently, the swept wing structure will be heavier than a straight wing designed for the same flight condition.</a:t>
            </a:r>
          </a:p>
          <a:p>
            <a:r>
              <a:rPr lang="en-US" sz="1200" b="0" i="0" u="none" strike="noStrike" kern="1200" baseline="0" dirty="0">
                <a:solidFill>
                  <a:schemeClr val="tx1"/>
                </a:solidFill>
                <a:latin typeface="Times" pitchFamily="18" charset="0"/>
                <a:ea typeface="+mn-ea"/>
                <a:cs typeface="+mn-cs"/>
              </a:rPr>
              <a:t>Similarly, a forward-swept wing may also introduce a large LE up torsion, if the sweep angle is large enough, although this is reduced by an amount corresponding to the innate torsion of the airfoils of the </a:t>
            </a:r>
            <a:r>
              <a:rPr lang="nl-NL" sz="1200" b="0" i="0" u="none" strike="noStrike" kern="1200" baseline="0" dirty="0" err="1">
                <a:solidFill>
                  <a:schemeClr val="tx1"/>
                </a:solidFill>
                <a:latin typeface="Times" pitchFamily="18" charset="0"/>
                <a:ea typeface="+mn-ea"/>
                <a:cs typeface="+mn-cs"/>
              </a:rPr>
              <a:t>wing</a:t>
            </a:r>
            <a:r>
              <a:rPr lang="nl-NL" sz="1200" b="0" i="0" u="none" strike="noStrike" kern="1200" baseline="0" dirty="0">
                <a:solidFill>
                  <a:schemeClr val="tx1"/>
                </a:solidFill>
                <a:latin typeface="Times" pitchFamily="18" charset="0"/>
                <a:ea typeface="+mn-ea"/>
                <a:cs typeface="+mn-cs"/>
              </a:rPr>
              <a:t>.</a:t>
            </a:r>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59</a:t>
            </a:fld>
            <a:endParaRPr lang="en-US"/>
          </a:p>
        </p:txBody>
      </p:sp>
    </p:spTree>
    <p:extLst>
      <p:ext uri="{BB962C8B-B14F-4D97-AF65-F5344CB8AC3E}">
        <p14:creationId xmlns:p14="http://schemas.microsoft.com/office/powerpoint/2010/main" val="30495617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60</a:t>
            </a:fld>
            <a:endParaRPr lang="en-US"/>
          </a:p>
        </p:txBody>
      </p:sp>
    </p:spTree>
    <p:extLst>
      <p:ext uri="{BB962C8B-B14F-4D97-AF65-F5344CB8AC3E}">
        <p14:creationId xmlns:p14="http://schemas.microsoft.com/office/powerpoint/2010/main" val="11162615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dirty="0"/>
              <a:t>Generally, twist angles values </a:t>
            </a:r>
            <a:r>
              <a:rPr lang="en-GB" sz="1200" b="1" dirty="0"/>
              <a:t>less </a:t>
            </a:r>
            <a:r>
              <a:rPr lang="en-GB" sz="1600" b="1" dirty="0"/>
              <a:t>than 5 degrees are used</a:t>
            </a:r>
            <a:r>
              <a:rPr lang="en-GB" sz="1200" dirty="0"/>
              <a:t>, to avoid drag increase when the wing is not operating at </a:t>
            </a:r>
            <a:r>
              <a:rPr lang="en-GB" sz="1200" dirty="0" err="1"/>
              <a:t>C</a:t>
            </a:r>
            <a:r>
              <a:rPr lang="en-GB" sz="1200" baseline="-25000" dirty="0" err="1"/>
              <a:t>Ldesign</a:t>
            </a:r>
            <a:r>
              <a:rPr lang="en-GB" sz="1200" dirty="0"/>
              <a:t> (for which the twist has been optimised). -3 degrees is a typical twist angle value to avoid wing tip stall.</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61</a:t>
            </a:fld>
            <a:endParaRPr lang="en-US"/>
          </a:p>
        </p:txBody>
      </p:sp>
    </p:spTree>
    <p:extLst>
      <p:ext uri="{BB962C8B-B14F-4D97-AF65-F5344CB8AC3E}">
        <p14:creationId xmlns:p14="http://schemas.microsoft.com/office/powerpoint/2010/main" val="776585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GB" dirty="0"/>
              <a:t>When the wing tip has stalled the lift force component generated by the wing </a:t>
            </a:r>
            <a:r>
              <a:rPr lang="en-GB" b="1" dirty="0"/>
              <a:t>suddenly</a:t>
            </a:r>
            <a:r>
              <a:rPr lang="en-GB" dirty="0"/>
              <a:t> decreases (because a smaller part of the wing contributes to the generation of the lift) and its application point moves forward, towards the aircraft </a:t>
            </a:r>
            <a:r>
              <a:rPr lang="en-GB" dirty="0" err="1"/>
              <a:t>center</a:t>
            </a:r>
            <a:r>
              <a:rPr lang="en-GB" dirty="0"/>
              <a:t> of gravity (see in the picture above how the wing aerodynamic </a:t>
            </a:r>
            <a:r>
              <a:rPr lang="en-GB" dirty="0" err="1"/>
              <a:t>center</a:t>
            </a:r>
            <a:r>
              <a:rPr lang="en-GB" dirty="0"/>
              <a:t> moves inboard and forward). This situation creates a forces unbalance such that the aircraft will tend to descend (because of the loss of net lift) and pitch up (i.e., put the nose up, because of the forward shift of the aircraft </a:t>
            </a:r>
            <a:r>
              <a:rPr lang="en-GB" dirty="0" err="1"/>
              <a:t>center</a:t>
            </a:r>
            <a:r>
              <a:rPr lang="en-GB" dirty="0"/>
              <a:t> of pressure)….hence, further increasing the wing angle of attack and further worsening the stall situation!</a:t>
            </a:r>
          </a:p>
          <a:p>
            <a:endParaRPr lang="en-GB" dirty="0"/>
          </a:p>
          <a:p>
            <a:endParaRPr lang="en-GB" dirty="0"/>
          </a:p>
          <a:p>
            <a:r>
              <a:rPr lang="en-GB" dirty="0"/>
              <a:t>Note that the right and left tip sections do not necessarily stall simultaneously, as a consequence when one of the two wing halves stall, the aircraft will roll. The pilot will not have the possibility to correct that when the ailerons are located in the stalled area! That is why tip stall in general is extremely </a:t>
            </a:r>
            <a:r>
              <a:rPr lang="en-GB" dirty="0" err="1"/>
              <a:t>dangereous</a:t>
            </a:r>
            <a:r>
              <a:rPr lang="en-GB" dirty="0"/>
              <a:t> and required design actions to be corrected.</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62</a:t>
            </a:fld>
            <a:endParaRPr lang="en-US"/>
          </a:p>
        </p:txBody>
      </p:sp>
    </p:spTree>
    <p:extLst>
      <p:ext uri="{BB962C8B-B14F-4D97-AF65-F5344CB8AC3E}">
        <p14:creationId xmlns:p14="http://schemas.microsoft.com/office/powerpoint/2010/main" val="24060240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xfrm>
            <a:off x="87313" y="746125"/>
            <a:ext cx="6619875" cy="3724275"/>
          </a:xfrm>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Many of the early swept wing aircraft (typically military vehicles), as the Super Sabre F100 and the F-101 Voodoo, were lost due of the pitch up phenomena. This was particularly dangerous at landing when the pilot had no time to recover or eject (see movie of the Super Sabre crash at </a:t>
            </a:r>
            <a:r>
              <a:rPr lang="nl-NL" dirty="0" err="1"/>
              <a:t>https</a:t>
            </a:r>
            <a:r>
              <a:rPr lang="nl-NL" dirty="0"/>
              <a:t>://</a:t>
            </a:r>
            <a:r>
              <a:rPr lang="nl-NL" dirty="0" err="1"/>
              <a:t>supersabresociety.com</a:t>
            </a:r>
            <a:r>
              <a:rPr lang="nl-NL" dirty="0"/>
              <a:t>/</a:t>
            </a:r>
            <a:r>
              <a:rPr lang="nl-NL" dirty="0" err="1"/>
              <a:t>sabre</a:t>
            </a:r>
            <a:r>
              <a:rPr lang="nl-NL" dirty="0"/>
              <a:t>-dance-</a:t>
            </a:r>
            <a:r>
              <a:rPr lang="nl-NL" dirty="0" err="1"/>
              <a:t>history</a:t>
            </a:r>
            <a:r>
              <a:rPr lang="nl-NL" dirty="0"/>
              <a:t> </a:t>
            </a:r>
            <a:r>
              <a:rPr lang="en-GB" dirty="0"/>
              <a:t>).</a:t>
            </a:r>
          </a:p>
          <a:p>
            <a:r>
              <a:rPr lang="en-GB" dirty="0"/>
              <a:t>Horns, buzzers and stick shakers were used to warn the pilot of entry into the wing-stall region.</a:t>
            </a:r>
          </a:p>
          <a:p>
            <a:r>
              <a:rPr lang="en-GB" dirty="0"/>
              <a:t>Due to the discovery (in the hard way) of the pitch up tendency of the super Sabre, the pitch up instability mode was addressed as the </a:t>
            </a:r>
            <a:r>
              <a:rPr lang="en-GB" i="1" dirty="0"/>
              <a:t>Sabre dance</a:t>
            </a:r>
            <a:r>
              <a:rPr lang="en-GB" dirty="0"/>
              <a:t>.</a:t>
            </a:r>
          </a:p>
          <a:p>
            <a:endParaRPr lang="en-GB" dirty="0"/>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5CD6659D-CA65-4FAB-AB3A-04C4A38B1687}" type="slidenum">
              <a:rPr lang="en-US" sz="1200" smtClean="0">
                <a:latin typeface="Times" pitchFamily="18" charset="0"/>
              </a:rPr>
              <a:pPr/>
              <a:t>63</a:t>
            </a:fld>
            <a:endParaRPr lang="en-US" sz="1200">
              <a:latin typeface="Times"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GB" dirty="0"/>
              <a:t>In a swept wing when stall starts at the</a:t>
            </a:r>
            <a:r>
              <a:rPr lang="en-GB" baseline="0" dirty="0"/>
              <a:t> tip and progresses toward the root, there is always the risk of pitch up problem. If the wing is tapered, the Reynolds number at the tip is lower than the Reynolds number at the root so </a:t>
            </a:r>
            <a:r>
              <a:rPr lang="en-GB" baseline="0" dirty="0" err="1"/>
              <a:t>Clmax</a:t>
            </a:r>
            <a:r>
              <a:rPr lang="en-GB" baseline="0" dirty="0"/>
              <a:t> of the </a:t>
            </a:r>
            <a:r>
              <a:rPr lang="en-GB" baseline="0" dirty="0" err="1"/>
              <a:t>airfoil</a:t>
            </a:r>
            <a:r>
              <a:rPr lang="en-GB" baseline="0" dirty="0"/>
              <a:t> at the tip is lower than </a:t>
            </a:r>
            <a:r>
              <a:rPr lang="en-GB" baseline="0" dirty="0" err="1"/>
              <a:t>Clmax</a:t>
            </a:r>
            <a:r>
              <a:rPr lang="en-GB" baseline="0" dirty="0"/>
              <a:t> of the root. It means that the stall will start at the tip. To avoid this problem the taper is combined with twist. So it means if you decrease the taper ratio of the wing (lowering the Reynolds number of the tip) you need to use higher negative twist at the tip. So the local angle of attack of the tip is always lower than the root. It helps to avoid stall at the tip.</a:t>
            </a:r>
          </a:p>
          <a:p>
            <a:endParaRPr lang="en-GB" baseline="0" dirty="0"/>
          </a:p>
          <a:p>
            <a:r>
              <a:rPr lang="en-GB" baseline="0" dirty="0"/>
              <a:t>The wing stall can also be tailored using different </a:t>
            </a:r>
            <a:r>
              <a:rPr lang="en-GB" baseline="0" dirty="0" err="1"/>
              <a:t>airfoil</a:t>
            </a:r>
            <a:r>
              <a:rPr lang="en-GB" baseline="0" dirty="0"/>
              <a:t> at root and tip. The </a:t>
            </a:r>
            <a:r>
              <a:rPr lang="en-GB" baseline="0" dirty="0" err="1"/>
              <a:t>airfoils</a:t>
            </a:r>
            <a:r>
              <a:rPr lang="en-GB" baseline="0" dirty="0"/>
              <a:t> should be selected in such a way to ensure that the wing tip stalls after the wing root. For that, the </a:t>
            </a:r>
            <a:r>
              <a:rPr lang="en-GB" baseline="0" dirty="0" err="1"/>
              <a:t>airfoil</a:t>
            </a:r>
            <a:r>
              <a:rPr lang="en-GB" baseline="0" dirty="0"/>
              <a:t> at the tip should have higher </a:t>
            </a:r>
            <a:r>
              <a:rPr lang="en-GB" baseline="0" dirty="0" err="1"/>
              <a:t>Clmax</a:t>
            </a:r>
            <a:r>
              <a:rPr lang="en-GB" baseline="0" dirty="0"/>
              <a:t> than the </a:t>
            </a:r>
            <a:r>
              <a:rPr lang="en-GB" baseline="0" dirty="0" err="1"/>
              <a:t>airfoil</a:t>
            </a:r>
            <a:r>
              <a:rPr lang="en-GB" baseline="0" dirty="0"/>
              <a:t> at root. If this is achieved the wing can be design with lower (or even without) negative twist at the tip.</a:t>
            </a:r>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64</a:t>
            </a:fld>
            <a:endParaRPr lang="en-US"/>
          </a:p>
        </p:txBody>
      </p:sp>
    </p:spTree>
    <p:extLst>
      <p:ext uri="{BB962C8B-B14F-4D97-AF65-F5344CB8AC3E}">
        <p14:creationId xmlns:p14="http://schemas.microsoft.com/office/powerpoint/2010/main" val="40381184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dirty="0"/>
              <a:t>* </a:t>
            </a:r>
            <a:r>
              <a:rPr lang="en-GB" dirty="0"/>
              <a:t>In case of twisted wings, the incidence angle should be evaluated with respect to the zero lift angle of the wing, rather than the root chord</a:t>
            </a:r>
          </a:p>
          <a:p>
            <a:pPr algn="l" eaLnBrk="1" fontAlgn="base" hangingPunct="1"/>
            <a:endParaRPr lang="en-GB" sz="1200" dirty="0"/>
          </a:p>
          <a:p>
            <a:pPr algn="l" eaLnBrk="1" fontAlgn="base" hangingPunct="1"/>
            <a:r>
              <a:rPr lang="en-GB" sz="1200" dirty="0"/>
              <a:t>This angle is selected such that when the wing is at the incidence angle required by </a:t>
            </a:r>
            <a:r>
              <a:rPr lang="en-GB" sz="1200" dirty="0" err="1"/>
              <a:t>C</a:t>
            </a:r>
            <a:r>
              <a:rPr lang="en-GB" sz="1200" baseline="-25000" dirty="0" err="1"/>
              <a:t>Ldesign</a:t>
            </a:r>
            <a:r>
              <a:rPr lang="en-GB" sz="1200" dirty="0"/>
              <a:t> (</a:t>
            </a:r>
            <a:r>
              <a:rPr lang="el-GR" sz="1200" dirty="0"/>
              <a:t>α</a:t>
            </a:r>
            <a:r>
              <a:rPr lang="nl-NL" sz="1200" baseline="-25000" dirty="0"/>
              <a:t>trim</a:t>
            </a:r>
            <a:r>
              <a:rPr lang="en-GB" sz="1200" dirty="0"/>
              <a:t>), the fuselage is not at an angle which …makes difficult to flight attendants to push food carts!</a:t>
            </a:r>
          </a:p>
          <a:p>
            <a:pPr algn="l" eaLnBrk="1" fontAlgn="base" hangingPunct="1"/>
            <a:r>
              <a:rPr lang="en-GB" sz="1200" dirty="0"/>
              <a:t>During cruise the fuselage can be kept slightly nose up to contribute to the lift generation. </a:t>
            </a:r>
          </a:p>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66</a:t>
            </a:fld>
            <a:endParaRPr lang="en-US"/>
          </a:p>
        </p:txBody>
      </p:sp>
    </p:spTree>
    <p:extLst>
      <p:ext uri="{BB962C8B-B14F-4D97-AF65-F5344CB8AC3E}">
        <p14:creationId xmlns:p14="http://schemas.microsoft.com/office/powerpoint/2010/main" val="36527607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67</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GB" dirty="0" err="1"/>
              <a:t>Dor</a:t>
            </a:r>
            <a:r>
              <a:rPr lang="en-GB" dirty="0"/>
              <a:t> pass</a:t>
            </a:r>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68</a:t>
            </a:fld>
            <a:endParaRPr lang="en-US"/>
          </a:p>
        </p:txBody>
      </p:sp>
    </p:spTree>
    <p:extLst>
      <p:ext uri="{BB962C8B-B14F-4D97-AF65-F5344CB8AC3E}">
        <p14:creationId xmlns:p14="http://schemas.microsoft.com/office/powerpoint/2010/main" val="10229131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pPr>
              <a:defRPr/>
            </a:pPr>
            <a:fld id="{3DCE6760-49BF-424B-AF44-59CE0FC2F5CE}" type="slidenum">
              <a:rPr lang="en-US" smtClean="0"/>
              <a:pPr>
                <a:defRPr/>
              </a:pPr>
              <a:t>69</a:t>
            </a:fld>
            <a:endParaRPr lang="en-US"/>
          </a:p>
        </p:txBody>
      </p:sp>
    </p:spTree>
    <p:extLst>
      <p:ext uri="{BB962C8B-B14F-4D97-AF65-F5344CB8AC3E}">
        <p14:creationId xmlns:p14="http://schemas.microsoft.com/office/powerpoint/2010/main" val="11611121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DCE6760-49BF-424B-AF44-59CE0FC2F5CE}" type="slidenum">
              <a:rPr lang="en-US" smtClean="0"/>
              <a:pPr>
                <a:defRPr/>
              </a:pPr>
              <a:t>72</a:t>
            </a:fld>
            <a:endParaRPr lang="en-US"/>
          </a:p>
        </p:txBody>
      </p:sp>
    </p:spTree>
    <p:extLst>
      <p:ext uri="{BB962C8B-B14F-4D97-AF65-F5344CB8AC3E}">
        <p14:creationId xmlns:p14="http://schemas.microsoft.com/office/powerpoint/2010/main" val="285617449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609A5E62-278B-4309-BA63-A61E82C794CB}" type="slidenum">
              <a:rPr lang="en-US" sz="1200">
                <a:latin typeface="Arial" charset="0"/>
              </a:rPr>
              <a:pPr algn="r" eaLnBrk="1" fontAlgn="base" hangingPunct="1"/>
              <a:t>73</a:t>
            </a:fld>
            <a:endParaRPr lang="en-US" sz="1200">
              <a:latin typeface="Arial" charset="0"/>
            </a:endParaRPr>
          </a:p>
        </p:txBody>
      </p:sp>
      <p:sp>
        <p:nvSpPr>
          <p:cNvPr id="132099" name="Rectangle 2"/>
          <p:cNvSpPr>
            <a:spLocks noGrp="1" noRot="1" noChangeAspect="1" noChangeArrowheads="1" noTextEdit="1"/>
          </p:cNvSpPr>
          <p:nvPr>
            <p:ph type="sldImg"/>
          </p:nvPr>
        </p:nvSpPr>
        <p:spPr>
          <a:xfrm>
            <a:off x="88900" y="746125"/>
            <a:ext cx="6619875" cy="3724275"/>
          </a:xfrm>
          <a:ln/>
        </p:spPr>
      </p:sp>
      <p:sp>
        <p:nvSpPr>
          <p:cNvPr id="13210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r>
              <a:rPr lang="en-GB"/>
              <a:t>See also on Raymer, </a:t>
            </a:r>
            <a:r>
              <a:rPr lang="en-GB" i="1"/>
              <a:t>Appendix D on airfoils data</a:t>
            </a:r>
            <a:r>
              <a:rPr lang="en-GB"/>
              <a:t>.</a:t>
            </a:r>
          </a:p>
          <a:p>
            <a:pPr eaLnBrk="1" hangingPunct="1"/>
            <a:endParaRPr lang="en-GB"/>
          </a:p>
          <a:p>
            <a:pPr eaLnBrk="1" hangingPunct="1"/>
            <a:r>
              <a:rPr lang="en-GB" b="1"/>
              <a:t>ATT! Check the content of the folder </a:t>
            </a:r>
            <a:r>
              <a:rPr lang="en-GB" b="1" i="1"/>
              <a:t>Airfoils data, tools and info </a:t>
            </a:r>
            <a:r>
              <a:rPr lang="en-GB" b="1"/>
              <a:t>posted on BB.</a:t>
            </a:r>
          </a:p>
          <a:p>
            <a:pPr eaLnBrk="1" hangingPunct="1"/>
            <a:r>
              <a:rPr lang="en-GB"/>
              <a:t>Among others, there you can find a large airfoil archive. You can use DesignFoil to visualize them directly, or javafoils (you will have to copy and paste the content of the .dat files). In the same folder, information/instructions are provided on the use of a few simple panel codes for airfoil analysis.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CD3A154D-3B82-4B04-A670-63B0C06CE67C}" type="slidenum">
              <a:rPr lang="en-US" sz="1200">
                <a:latin typeface="Arial" charset="0"/>
              </a:rPr>
              <a:pPr algn="r" eaLnBrk="1" fontAlgn="base" hangingPunct="1"/>
              <a:t>74</a:t>
            </a:fld>
            <a:endParaRPr lang="en-US" sz="1200">
              <a:latin typeface="Arial" charset="0"/>
            </a:endParaRPr>
          </a:p>
        </p:txBody>
      </p:sp>
      <p:sp>
        <p:nvSpPr>
          <p:cNvPr id="134147" name="Rectangle 2"/>
          <p:cNvSpPr>
            <a:spLocks noGrp="1" noRot="1" noChangeAspect="1" noChangeArrowheads="1" noTextEdit="1"/>
          </p:cNvSpPr>
          <p:nvPr>
            <p:ph type="sldImg"/>
          </p:nvPr>
        </p:nvSpPr>
        <p:spPr>
          <a:xfrm>
            <a:off x="88900" y="746125"/>
            <a:ext cx="6619875" cy="3724275"/>
          </a:xfrm>
          <a:ln/>
        </p:spPr>
      </p:sp>
      <p:sp>
        <p:nvSpPr>
          <p:cNvPr id="13414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marL="342900" indent="-342900" eaLnBrk="1" hangingPunct="1"/>
            <a:endParaRPr lang="en-GB" b="1"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hyperlink" Target="http://en.wikipedia.org/wiki/File:Apollo_CSM_lunar_orbit.jpg" TargetMode="External"/><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6134100"/>
            <a:ext cx="12192000" cy="723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5" name="Rectangle 23"/>
          <p:cNvSpPr>
            <a:spLocks noChangeArrowheads="1"/>
          </p:cNvSpPr>
          <p:nvPr userDrawn="1"/>
        </p:nvSpPr>
        <p:spPr bwMode="auto">
          <a:xfrm>
            <a:off x="0" y="2057400"/>
            <a:ext cx="11856640" cy="1981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6" name="Rectangle 20"/>
          <p:cNvSpPr>
            <a:spLocks noChangeArrowheads="1"/>
          </p:cNvSpPr>
          <p:nvPr userDrawn="1"/>
        </p:nvSpPr>
        <p:spPr bwMode="auto">
          <a:xfrm>
            <a:off x="0" y="0"/>
            <a:ext cx="626533" cy="2057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7" name="Rectangle 21"/>
          <p:cNvSpPr>
            <a:spLocks noChangeArrowheads="1"/>
          </p:cNvSpPr>
          <p:nvPr userDrawn="1"/>
        </p:nvSpPr>
        <p:spPr bwMode="auto">
          <a:xfrm>
            <a:off x="0" y="6584950"/>
            <a:ext cx="12192000" cy="2730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8" name="Line 22"/>
          <p:cNvSpPr>
            <a:spLocks noChangeShapeType="1"/>
          </p:cNvSpPr>
          <p:nvPr userDrawn="1"/>
        </p:nvSpPr>
        <p:spPr bwMode="auto">
          <a:xfrm>
            <a:off x="0" y="6781800"/>
            <a:ext cx="121920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nl-NL" sz="1600"/>
          </a:p>
        </p:txBody>
      </p:sp>
      <p:sp>
        <p:nvSpPr>
          <p:cNvPr id="9" name="Line 24"/>
          <p:cNvSpPr>
            <a:spLocks noChangeShapeType="1"/>
          </p:cNvSpPr>
          <p:nvPr userDrawn="1"/>
        </p:nvSpPr>
        <p:spPr bwMode="auto">
          <a:xfrm>
            <a:off x="0" y="6134100"/>
            <a:ext cx="12192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nl-NL" sz="1600"/>
          </a:p>
        </p:txBody>
      </p:sp>
      <p:pic>
        <p:nvPicPr>
          <p:cNvPr id="10" name="Picture 29" descr="TU_Delft_2.png                                                 00095E43Smidswater Server              C1CD65DB:"/>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71775" y="6168316"/>
            <a:ext cx="99451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0"/>
          <p:cNvSpPr txBox="1">
            <a:spLocks noChangeArrowheads="1"/>
          </p:cNvSpPr>
          <p:nvPr userDrawn="1"/>
        </p:nvSpPr>
        <p:spPr bwMode="auto">
          <a:xfrm>
            <a:off x="47328" y="6584949"/>
            <a:ext cx="39624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spcBef>
                <a:spcPct val="50000"/>
              </a:spcBef>
              <a:defRPr/>
            </a:pPr>
            <a:r>
              <a:rPr lang="nl-NL" sz="800" dirty="0">
                <a:solidFill>
                  <a:schemeClr val="bg1"/>
                </a:solidFill>
              </a:rPr>
              <a:t>Challenge </a:t>
            </a:r>
            <a:r>
              <a:rPr lang="nl-NL" sz="800" dirty="0" err="1">
                <a:solidFill>
                  <a:schemeClr val="bg1"/>
                </a:solidFill>
              </a:rPr>
              <a:t>the</a:t>
            </a:r>
            <a:r>
              <a:rPr lang="nl-NL" sz="800" dirty="0">
                <a:solidFill>
                  <a:schemeClr val="bg1"/>
                </a:solidFill>
              </a:rPr>
              <a:t> </a:t>
            </a:r>
            <a:r>
              <a:rPr lang="nl-NL" sz="800" dirty="0" err="1">
                <a:solidFill>
                  <a:schemeClr val="bg1"/>
                </a:solidFill>
              </a:rPr>
              <a:t>future</a:t>
            </a:r>
            <a:endParaRPr lang="nl-NL" sz="2200" dirty="0"/>
          </a:p>
        </p:txBody>
      </p:sp>
      <p:sp>
        <p:nvSpPr>
          <p:cNvPr id="12" name="Text Box 31"/>
          <p:cNvSpPr txBox="1">
            <a:spLocks noChangeArrowheads="1"/>
          </p:cNvSpPr>
          <p:nvPr userDrawn="1"/>
        </p:nvSpPr>
        <p:spPr bwMode="auto">
          <a:xfrm>
            <a:off x="1175150" y="6273625"/>
            <a:ext cx="13208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lnSpc>
                <a:spcPct val="90000"/>
              </a:lnSpc>
              <a:defRPr/>
            </a:pPr>
            <a:r>
              <a:rPr lang="nl-NL" sz="500" dirty="0"/>
              <a:t>Delft</a:t>
            </a:r>
          </a:p>
          <a:p>
            <a:pPr algn="l" eaLnBrk="1" fontAlgn="base" hangingPunct="1">
              <a:lnSpc>
                <a:spcPct val="90000"/>
              </a:lnSpc>
              <a:defRPr/>
            </a:pPr>
            <a:r>
              <a:rPr lang="nl-NL" sz="500" dirty="0"/>
              <a:t>University of</a:t>
            </a:r>
          </a:p>
          <a:p>
            <a:pPr algn="l" eaLnBrk="1" fontAlgn="base" hangingPunct="1">
              <a:lnSpc>
                <a:spcPct val="90000"/>
              </a:lnSpc>
              <a:defRPr/>
            </a:pPr>
            <a:r>
              <a:rPr lang="nl-NL" sz="500" dirty="0"/>
              <a:t>Technology</a:t>
            </a:r>
            <a:endParaRPr lang="nl-NL" sz="2200" dirty="0"/>
          </a:p>
        </p:txBody>
      </p:sp>
      <p:pic>
        <p:nvPicPr>
          <p:cNvPr id="13" name="Picture 32" descr="005m"/>
          <p:cNvPicPr>
            <a:picLocks noChangeAspect="1" noChangeArrowheads="1"/>
          </p:cNvPicPr>
          <p:nvPr userDrawn="1"/>
        </p:nvPicPr>
        <p:blipFill>
          <a:blip r:embed="rId3">
            <a:extLst>
              <a:ext uri="{28A0092B-C50C-407E-A947-70E740481C1C}">
                <a14:useLocalDpi xmlns:a14="http://schemas.microsoft.com/office/drawing/2010/main" val="0"/>
              </a:ext>
            </a:extLst>
          </a:blip>
          <a:srcRect l="48528"/>
          <a:stretch>
            <a:fillRect/>
          </a:stretch>
        </p:blipFill>
        <p:spPr bwMode="auto">
          <a:xfrm>
            <a:off x="1" y="4411663"/>
            <a:ext cx="12573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descr="305px-Apollo_CSM_lunar_orbit">
            <a:hlinkClick r:id="rId4" tooltip="Apollo CSM lunar orbit.jpg"/>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66284" y="4445000"/>
            <a:ext cx="19219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Mars Express artist's impression"/>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52784" y="4659313"/>
            <a:ext cx="14054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071285" y="4516438"/>
            <a:ext cx="21357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 name="Picture 15" descr="http://farm3.static.flickr.com/2554/4188993316_2b9ebdae17.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192184" y="4598988"/>
            <a:ext cx="22754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5" descr="http://go2inbox.files.wordpress.com/2009/11/airbus.jpg"/>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858251" y="4714875"/>
            <a:ext cx="22881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p:cNvPicPr>
            <a:picLocks noChangeAspect="1" noChangeArrowheads="1"/>
          </p:cNvPicPr>
          <p:nvPr userDrawn="1"/>
        </p:nvPicPr>
        <p:blipFill>
          <a:blip r:embed="rId10">
            <a:extLst>
              <a:ext uri="{28A0092B-C50C-407E-A947-70E740481C1C}">
                <a14:useLocalDpi xmlns:a14="http://schemas.microsoft.com/office/drawing/2010/main" val="0"/>
              </a:ext>
            </a:extLst>
          </a:blip>
          <a:srcRect r="26147"/>
          <a:stretch>
            <a:fillRect/>
          </a:stretch>
        </p:blipFill>
        <p:spPr bwMode="auto">
          <a:xfrm>
            <a:off x="11135784" y="4760913"/>
            <a:ext cx="10562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Freeform 19"/>
          <p:cNvSpPr/>
          <p:nvPr userDrawn="1"/>
        </p:nvSpPr>
        <p:spPr bwMode="auto">
          <a:xfrm>
            <a:off x="0" y="4286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14314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14314"/>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fontAlgn="base">
              <a:defRPr/>
            </a:pPr>
            <a:endParaRPr lang="nl-NL" sz="2200"/>
          </a:p>
        </p:txBody>
      </p:sp>
      <p:sp>
        <p:nvSpPr>
          <p:cNvPr id="21" name="Freeform 20"/>
          <p:cNvSpPr/>
          <p:nvPr userDrawn="1"/>
        </p:nvSpPr>
        <p:spPr bwMode="auto">
          <a:xfrm flipH="1" flipV="1">
            <a:off x="0" y="5429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85752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85752"/>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fontAlgn="base">
              <a:defRPr/>
            </a:pPr>
            <a:endParaRPr lang="nl-NL" sz="2200"/>
          </a:p>
        </p:txBody>
      </p:sp>
      <p:sp>
        <p:nvSpPr>
          <p:cNvPr id="271372" name="Rectangle 12"/>
          <p:cNvSpPr>
            <a:spLocks noGrp="1" noChangeArrowheads="1"/>
          </p:cNvSpPr>
          <p:nvPr>
            <p:ph type="ctrTitle"/>
          </p:nvPr>
        </p:nvSpPr>
        <p:spPr>
          <a:xfrm>
            <a:off x="914401" y="2286000"/>
            <a:ext cx="9241367" cy="457200"/>
          </a:xfrm>
        </p:spPr>
        <p:txBody>
          <a:bodyPr anchor="t"/>
          <a:lstStyle>
            <a:lvl1pPr marL="0" indent="0">
              <a:lnSpc>
                <a:spcPct val="80000"/>
              </a:lnSpc>
              <a:defRPr>
                <a:solidFill>
                  <a:schemeClr val="bg1"/>
                </a:solidFill>
              </a:defRPr>
            </a:lvl1pPr>
          </a:lstStyle>
          <a:p>
            <a:r>
              <a:rPr lang="nl-NL"/>
              <a:t>Click to edit Master title style</a:t>
            </a:r>
          </a:p>
        </p:txBody>
      </p:sp>
      <p:sp>
        <p:nvSpPr>
          <p:cNvPr id="271393" name="Rectangle 33"/>
          <p:cNvSpPr>
            <a:spLocks noGrp="1" noChangeArrowheads="1"/>
          </p:cNvSpPr>
          <p:nvPr>
            <p:ph type="subTitle" sz="quarter" idx="1"/>
          </p:nvPr>
        </p:nvSpPr>
        <p:spPr>
          <a:xfrm>
            <a:off x="914401" y="2743200"/>
            <a:ext cx="9241367" cy="381000"/>
          </a:xfrm>
        </p:spPr>
        <p:txBody>
          <a:bodyPr/>
          <a:lstStyle>
            <a:lvl1pPr marL="0" indent="0">
              <a:buFontTx/>
              <a:buNone/>
              <a:defRPr sz="2400">
                <a:solidFill>
                  <a:schemeClr val="bg2"/>
                </a:solidFill>
                <a:latin typeface="Bookman Old Style" pitchFamily="18" charset="0"/>
              </a:defRPr>
            </a:lvl1pPr>
          </a:lstStyle>
          <a:p>
            <a:r>
              <a:rPr lang="en-US"/>
              <a:t>Click to edit Master subtitle style</a:t>
            </a:r>
          </a:p>
        </p:txBody>
      </p:sp>
    </p:spTree>
    <p:extLst>
      <p:ext uri="{BB962C8B-B14F-4D97-AF65-F5344CB8AC3E}">
        <p14:creationId xmlns:p14="http://schemas.microsoft.com/office/powerpoint/2010/main" val="10296033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4042255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nl-NL"/>
              <a:t>Klik om de stijl te bewerken</a:t>
            </a:r>
          </a:p>
        </p:txBody>
      </p:sp>
      <p:sp>
        <p:nvSpPr>
          <p:cNvPr id="3" name="Tijdelijke aanduiding voor tekst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a:t>Klik om de modelstijlen te bewerken</a:t>
            </a:r>
          </a:p>
        </p:txBody>
      </p:sp>
    </p:spTree>
    <p:extLst>
      <p:ext uri="{BB962C8B-B14F-4D97-AF65-F5344CB8AC3E}">
        <p14:creationId xmlns:p14="http://schemas.microsoft.com/office/powerpoint/2010/main" val="105409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1234018" y="2286000"/>
            <a:ext cx="4997449"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434667" y="2286000"/>
            <a:ext cx="4997451"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228390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327538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3977875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6391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1" y="273050"/>
            <a:ext cx="4011084" cy="1162050"/>
          </a:xfrm>
        </p:spPr>
        <p:txBody>
          <a:bodyPr/>
          <a:lstStyle>
            <a:lvl1pPr algn="l">
              <a:defRPr sz="2000" b="1"/>
            </a:lvl1pPr>
          </a:lstStyle>
          <a:p>
            <a:r>
              <a:rPr lang="nl-NL"/>
              <a:t>Klik om de stijl te bewerken</a:t>
            </a:r>
          </a:p>
        </p:txBody>
      </p:sp>
      <p:sp>
        <p:nvSpPr>
          <p:cNvPr id="3" name="Tijdelijke aanduiding voor inhoud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971248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lstStyle>
            <a:lvl1pPr algn="l">
              <a:defRPr sz="2000" b="1"/>
            </a:lvl1pPr>
          </a:lstStyle>
          <a:p>
            <a:r>
              <a:rPr lang="nl-NL"/>
              <a:t>Klik om de stijl te bewerken</a:t>
            </a:r>
          </a:p>
        </p:txBody>
      </p:sp>
      <p:sp>
        <p:nvSpPr>
          <p:cNvPr id="3" name="Tijdelijke aanduiding voor afbeelding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1445629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438725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83651" y="457200"/>
            <a:ext cx="2552700" cy="4876800"/>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1223434" y="457200"/>
            <a:ext cx="7457017" cy="4876800"/>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61878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el en grafiek">
    <p:spTree>
      <p:nvGrpSpPr>
        <p:cNvPr id="1" name=""/>
        <p:cNvGrpSpPr/>
        <p:nvPr/>
      </p:nvGrpSpPr>
      <p:grpSpPr>
        <a:xfrm>
          <a:off x="0" y="0"/>
          <a:ext cx="0" cy="0"/>
          <a:chOff x="0" y="0"/>
          <a:chExt cx="0" cy="0"/>
        </a:xfrm>
      </p:grpSpPr>
      <p:sp>
        <p:nvSpPr>
          <p:cNvPr id="2" name="Titel 1"/>
          <p:cNvSpPr>
            <a:spLocks noGrp="1"/>
          </p:cNvSpPr>
          <p:nvPr>
            <p:ph type="title"/>
          </p:nvPr>
        </p:nvSpPr>
        <p:spPr>
          <a:xfrm>
            <a:off x="1223434" y="457200"/>
            <a:ext cx="10212917" cy="1066800"/>
          </a:xfrm>
        </p:spPr>
        <p:txBody>
          <a:bodyPr/>
          <a:lstStyle/>
          <a:p>
            <a:r>
              <a:rPr lang="nl-NL"/>
              <a:t>Klik om de stijl te bewerken</a:t>
            </a:r>
          </a:p>
        </p:txBody>
      </p:sp>
      <p:sp>
        <p:nvSpPr>
          <p:cNvPr id="3" name="Tijdelijke aanduiding voor grafiek 2"/>
          <p:cNvSpPr>
            <a:spLocks noGrp="1"/>
          </p:cNvSpPr>
          <p:nvPr>
            <p:ph type="chart" idx="1"/>
          </p:nvPr>
        </p:nvSpPr>
        <p:spPr>
          <a:xfrm>
            <a:off x="1234018" y="2286000"/>
            <a:ext cx="10198100" cy="3048000"/>
          </a:xfrm>
        </p:spPr>
        <p:txBody>
          <a:bodyPr/>
          <a:lstStyle/>
          <a:p>
            <a:pPr lvl="0"/>
            <a:endParaRPr lang="nl-NL" noProof="0"/>
          </a:p>
        </p:txBody>
      </p:sp>
    </p:spTree>
    <p:extLst>
      <p:ext uri="{BB962C8B-B14F-4D97-AF65-F5344CB8AC3E}">
        <p14:creationId xmlns:p14="http://schemas.microsoft.com/office/powerpoint/2010/main" val="419299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ClipArt Placeholder 2"/>
          <p:cNvSpPr>
            <a:spLocks noGrp="1"/>
          </p:cNvSpPr>
          <p:nvPr>
            <p:ph type="clipArt" sz="half" idx="1"/>
          </p:nvPr>
        </p:nvSpPr>
        <p:spPr>
          <a:xfrm>
            <a:off x="1234018" y="1196976"/>
            <a:ext cx="4997449" cy="4289425"/>
          </a:xfrm>
        </p:spPr>
        <p:txBody>
          <a:bodyPr/>
          <a:lstStyle/>
          <a:p>
            <a:pPr lvl="0"/>
            <a:endParaRPr lang="nl-NL" noProof="0"/>
          </a:p>
        </p:txBody>
      </p:sp>
      <p:sp>
        <p:nvSpPr>
          <p:cNvPr id="4" name="Text Placeholder 3"/>
          <p:cNvSpPr>
            <a:spLocks noGrp="1"/>
          </p:cNvSpPr>
          <p:nvPr>
            <p:ph type="body" sz="half" idx="2"/>
          </p:nvPr>
        </p:nvSpPr>
        <p:spPr>
          <a:xfrm>
            <a:off x="6434667" y="1196976"/>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050996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Text Placeholder 2"/>
          <p:cNvSpPr>
            <a:spLocks noGrp="1"/>
          </p:cNvSpPr>
          <p:nvPr>
            <p:ph type="body" sz="half" idx="1"/>
          </p:nvPr>
        </p:nvSpPr>
        <p:spPr>
          <a:xfrm>
            <a:off x="1234018" y="1196976"/>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6434667" y="1196976"/>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988735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Content Placeholder 2"/>
          <p:cNvSpPr>
            <a:spLocks noGrp="1"/>
          </p:cNvSpPr>
          <p:nvPr>
            <p:ph sz="half" idx="1"/>
          </p:nvPr>
        </p:nvSpPr>
        <p:spPr>
          <a:xfrm>
            <a:off x="1234018" y="1196976"/>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quarter" idx="2"/>
          </p:nvPr>
        </p:nvSpPr>
        <p:spPr>
          <a:xfrm>
            <a:off x="6434667" y="1196976"/>
            <a:ext cx="4997451" cy="206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Content Placeholder 4"/>
          <p:cNvSpPr>
            <a:spLocks noGrp="1"/>
          </p:cNvSpPr>
          <p:nvPr>
            <p:ph sz="quarter" idx="3"/>
          </p:nvPr>
        </p:nvSpPr>
        <p:spPr>
          <a:xfrm>
            <a:off x="6434667" y="3417888"/>
            <a:ext cx="4997451" cy="2068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302872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7955366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9/5/24</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15523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evox double dec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37C4F-B92E-1E2D-D640-6453A375F4B5}"/>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872EE1D6-E875-BC73-C0F1-ACBBEB438BBD}"/>
              </a:ext>
            </a:extLst>
          </p:cNvPr>
          <p:cNvSpPr>
            <a:spLocks noGrp="1"/>
          </p:cNvSpPr>
          <p:nvPr>
            <p:ph type="dt" sz="half" idx="10"/>
          </p:nvPr>
        </p:nvSpPr>
        <p:spPr/>
        <p:txBody>
          <a:bodyPr/>
          <a:lstStyle/>
          <a:p>
            <a:fld id="{1663657D-8E22-4681-BD7E-16E8F6F56673}" type="datetimeFigureOut">
              <a:rPr lang="en-FI" smtClean="0"/>
              <a:t>9/5/24</a:t>
            </a:fld>
            <a:endParaRPr lang="en-FI"/>
          </a:p>
        </p:txBody>
      </p:sp>
      <p:sp>
        <p:nvSpPr>
          <p:cNvPr id="4" name="Footer Placeholder 3">
            <a:extLst>
              <a:ext uri="{FF2B5EF4-FFF2-40B4-BE49-F238E27FC236}">
                <a16:creationId xmlns:a16="http://schemas.microsoft.com/office/drawing/2014/main" id="{E904571B-68EF-9D7B-0A35-F71996C84128}"/>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1BE06B6A-CB89-EBFF-94F3-3663DAF52C98}"/>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46DA7FF6-8C19-BA4D-02FE-C99E3C5CBD78}"/>
              </a:ext>
            </a:extLst>
          </p:cNvPr>
          <p:cNvSpPr>
            <a:spLocks noGrp="1"/>
          </p:cNvSpPr>
          <p:nvPr>
            <p:ph sz="quarter" idx="13"/>
          </p:nvPr>
        </p:nvSpPr>
        <p:spPr>
          <a:xfrm>
            <a:off x="838200" y="1838325"/>
            <a:ext cx="5156200" cy="4398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9" name="Content Placeholder 8">
            <a:extLst>
              <a:ext uri="{FF2B5EF4-FFF2-40B4-BE49-F238E27FC236}">
                <a16:creationId xmlns:a16="http://schemas.microsoft.com/office/drawing/2014/main" id="{9A01FD0F-07FA-89FA-36B2-E925D1119362}"/>
              </a:ext>
            </a:extLst>
          </p:cNvPr>
          <p:cNvSpPr>
            <a:spLocks noGrp="1"/>
          </p:cNvSpPr>
          <p:nvPr>
            <p:ph sz="quarter" idx="14"/>
          </p:nvPr>
        </p:nvSpPr>
        <p:spPr>
          <a:xfrm>
            <a:off x="6197600" y="1828800"/>
            <a:ext cx="5156200" cy="4398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578541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3"/>
          <p:cNvSpPr>
            <a:spLocks noChangeArrowheads="1"/>
          </p:cNvSpPr>
          <p:nvPr userDrawn="1"/>
        </p:nvSpPr>
        <p:spPr bwMode="auto">
          <a:xfrm>
            <a:off x="0" y="6132514"/>
            <a:ext cx="12192000" cy="725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1027" name="Rectangle 10"/>
          <p:cNvSpPr>
            <a:spLocks noGrp="1" noChangeArrowheads="1"/>
          </p:cNvSpPr>
          <p:nvPr>
            <p:ph type="title"/>
          </p:nvPr>
        </p:nvSpPr>
        <p:spPr bwMode="auto">
          <a:xfrm>
            <a:off x="1223434" y="76200"/>
            <a:ext cx="1021291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t>Click to edit Master title style</a:t>
            </a:r>
          </a:p>
        </p:txBody>
      </p:sp>
      <p:sp>
        <p:nvSpPr>
          <p:cNvPr id="1028" name="Rectangle 11"/>
          <p:cNvSpPr>
            <a:spLocks noGrp="1" noChangeArrowheads="1"/>
          </p:cNvSpPr>
          <p:nvPr>
            <p:ph type="body" idx="1"/>
          </p:nvPr>
        </p:nvSpPr>
        <p:spPr bwMode="auto">
          <a:xfrm>
            <a:off x="1234018" y="1196976"/>
            <a:ext cx="101981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17"/>
          <p:cNvSpPr>
            <a:spLocks noChangeArrowheads="1"/>
          </p:cNvSpPr>
          <p:nvPr/>
        </p:nvSpPr>
        <p:spPr bwMode="auto">
          <a:xfrm>
            <a:off x="10187517" y="6297613"/>
            <a:ext cx="71966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fontAlgn="base"/>
            <a:fld id="{9EB3EA9F-CE67-4C63-8315-4815E21624A2}" type="slidenum">
              <a:rPr lang="nl-NL" sz="1300"/>
              <a:pPr algn="r" fontAlgn="base"/>
              <a:t>‹#›</a:t>
            </a:fld>
            <a:endParaRPr lang="nl-NL" sz="1300"/>
          </a:p>
        </p:txBody>
      </p:sp>
      <p:sp>
        <p:nvSpPr>
          <p:cNvPr id="1030" name="Rectangle 19"/>
          <p:cNvSpPr>
            <a:spLocks noChangeArrowheads="1"/>
          </p:cNvSpPr>
          <p:nvPr userDrawn="1"/>
        </p:nvSpPr>
        <p:spPr bwMode="auto">
          <a:xfrm>
            <a:off x="0" y="6584950"/>
            <a:ext cx="12192000" cy="2730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
        <p:nvSpPr>
          <p:cNvPr id="1031" name="Line 20"/>
          <p:cNvSpPr>
            <a:spLocks noChangeShapeType="1"/>
          </p:cNvSpPr>
          <p:nvPr userDrawn="1"/>
        </p:nvSpPr>
        <p:spPr bwMode="auto">
          <a:xfrm>
            <a:off x="0" y="6781800"/>
            <a:ext cx="121920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nl-NL" sz="1600"/>
          </a:p>
        </p:txBody>
      </p:sp>
      <p:pic>
        <p:nvPicPr>
          <p:cNvPr id="1032" name="Picture 21" descr="TU_Delft_2.png                                                 00095E43Smidswater Server              C1CD65DB:"/>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191781" y="6184900"/>
            <a:ext cx="86950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Line 22"/>
          <p:cNvSpPr>
            <a:spLocks noChangeShapeType="1"/>
          </p:cNvSpPr>
          <p:nvPr userDrawn="1"/>
        </p:nvSpPr>
        <p:spPr bwMode="auto">
          <a:xfrm>
            <a:off x="0" y="6134100"/>
            <a:ext cx="12192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nl-NL" sz="1600"/>
          </a:p>
        </p:txBody>
      </p:sp>
      <p:sp>
        <p:nvSpPr>
          <p:cNvPr id="270359" name="Text Box 23"/>
          <p:cNvSpPr txBox="1">
            <a:spLocks noChangeArrowheads="1"/>
          </p:cNvSpPr>
          <p:nvPr userDrawn="1"/>
        </p:nvSpPr>
        <p:spPr bwMode="auto">
          <a:xfrm>
            <a:off x="3119967" y="6237289"/>
            <a:ext cx="6447367" cy="276225"/>
          </a:xfrm>
          <a:prstGeom prst="rect">
            <a:avLst/>
          </a:prstGeom>
          <a:noFill/>
          <a:ln w="9525">
            <a:noFill/>
            <a:miter lim="800000"/>
            <a:headEnd/>
            <a:tailEnd/>
          </a:ln>
          <a:effec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spcBef>
                <a:spcPct val="50000"/>
              </a:spcBef>
              <a:defRPr/>
            </a:pPr>
            <a:r>
              <a:rPr lang="en-US" sz="1200" dirty="0">
                <a:solidFill>
                  <a:schemeClr val="bg2"/>
                </a:solidFill>
              </a:rPr>
              <a:t>AE2111-II Aerospace Design and Systems Engineering Elements 2</a:t>
            </a:r>
          </a:p>
        </p:txBody>
      </p:sp>
      <p:sp>
        <p:nvSpPr>
          <p:cNvPr id="1035" name="Rectangle 28"/>
          <p:cNvSpPr>
            <a:spLocks noChangeArrowheads="1"/>
          </p:cNvSpPr>
          <p:nvPr userDrawn="1"/>
        </p:nvSpPr>
        <p:spPr bwMode="auto">
          <a:xfrm>
            <a:off x="0" y="0"/>
            <a:ext cx="626533" cy="2057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base"/>
            <a:endParaRPr lang="nl-NL" sz="2200"/>
          </a:p>
        </p:txBody>
      </p:sp>
    </p:spTree>
  </p:cSld>
  <p:clrMap bg1="lt1" tx1="dk1" bg2="lt2" tx2="dk2" accent1="accent1" accent2="accent2" accent3="accent3" accent4="accent4" accent5="accent5" accent6="accent6" hlink="hlink" folHlink="folHlink"/>
  <p:sldLayoutIdLst>
    <p:sldLayoutId id="2147484024"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 id="2147484025" r:id="rId17"/>
    <p:sldLayoutId id="2147484026" r:id="rId18"/>
  </p:sldLayoutIdLst>
  <p:hf hdr="0" ftr="0" dt="0"/>
  <p:txStyles>
    <p:title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p:titleStyle>
    <p:body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www.amazon.com/gp/product/images/0130892343/ref=dp_image_0/104-3314970-1390330?ie=UTF8&amp;n=283155&amp;s=books" TargetMode="External"/><Relationship Id="rId3" Type="http://schemas.openxmlformats.org/officeDocument/2006/relationships/image" Target="../media/image9.jpe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www.amazon.com/gp/product/images/0071160108/sr=1-1/qid=1188476073/ref=dp_image_0/104-3314970-1390330?ie=UTF8&amp;n=283155&amp;s=books&amp;qid=1188476073&amp;sr=1-1" TargetMode="External"/><Relationship Id="rId11" Type="http://schemas.openxmlformats.org/officeDocument/2006/relationships/image" Target="../media/image15.jpeg"/><Relationship Id="rId5" Type="http://schemas.openxmlformats.org/officeDocument/2006/relationships/image" Target="../media/image11.jpeg"/><Relationship Id="rId10" Type="http://schemas.openxmlformats.org/officeDocument/2006/relationships/image" Target="../media/image14.jpeg"/><Relationship Id="rId4" Type="http://schemas.openxmlformats.org/officeDocument/2006/relationships/image" Target="../media/image10.png"/><Relationship Id="rId9"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1.png"/><Relationship Id="rId7" Type="http://schemas.openxmlformats.org/officeDocument/2006/relationships/image" Target="../media/image33.w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2.wmf"/><Relationship Id="rId4" Type="http://schemas.openxmlformats.org/officeDocument/2006/relationships/oleObject" Target="../embeddings/oleObject2.bin"/><Relationship Id="rId9" Type="http://schemas.openxmlformats.org/officeDocument/2006/relationships/image" Target="../media/image34.wmf"/></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6.png"/><Relationship Id="rId7" Type="http://schemas.openxmlformats.org/officeDocument/2006/relationships/diagramColors" Target="../diagrams/colors2.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image" Target="../media/image38.png"/><Relationship Id="rId7" Type="http://schemas.openxmlformats.org/officeDocument/2006/relationships/oleObject" Target="../embeddings/oleObject6.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0.wmf"/><Relationship Id="rId5" Type="http://schemas.openxmlformats.org/officeDocument/2006/relationships/oleObject" Target="../embeddings/oleObject5.bin"/><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notesSlide" Target="../notesSlides/notesSlide23.xml"/><Relationship Id="rId7" Type="http://schemas.openxmlformats.org/officeDocument/2006/relationships/image" Target="../media/image49.jpeg"/><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image" Target="../media/image52.wmf"/><Relationship Id="rId5" Type="http://schemas.openxmlformats.org/officeDocument/2006/relationships/oleObject" Target="../embeddings/oleObject7.bin"/><Relationship Id="rId4" Type="http://schemas.openxmlformats.org/officeDocument/2006/relationships/image" Target="../media/image51.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13.xml"/><Relationship Id="rId6" Type="http://schemas.openxmlformats.org/officeDocument/2006/relationships/image" Target="../media/image56.emf"/><Relationship Id="rId5" Type="http://schemas.openxmlformats.org/officeDocument/2006/relationships/image" Target="../media/image50.emf"/><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notesSlide" Target="../notesSlides/notesSlide29.xml"/><Relationship Id="rId7" Type="http://schemas.openxmlformats.org/officeDocument/2006/relationships/image" Target="../media/image60.emf"/><Relationship Id="rId2" Type="http://schemas.openxmlformats.org/officeDocument/2006/relationships/slideLayout" Target="../slideLayouts/slideLayout7.xml"/><Relationship Id="rId1" Type="http://schemas.openxmlformats.org/officeDocument/2006/relationships/tags" Target="../tags/tag1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1.emf"/></Relationships>
</file>

<file path=ppt/slides/_rels/slide31.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notesSlide" Target="../notesSlides/notesSlide30.xml"/><Relationship Id="rId7" Type="http://schemas.openxmlformats.org/officeDocument/2006/relationships/image" Target="../media/image63.wmf"/><Relationship Id="rId2" Type="http://schemas.openxmlformats.org/officeDocument/2006/relationships/slideLayout" Target="../slideLayouts/slideLayout7.xml"/><Relationship Id="rId1" Type="http://schemas.openxmlformats.org/officeDocument/2006/relationships/tags" Target="../tags/tag15.xml"/><Relationship Id="rId6" Type="http://schemas.openxmlformats.org/officeDocument/2006/relationships/oleObject" Target="../embeddings/oleObject9.bin"/><Relationship Id="rId5" Type="http://schemas.openxmlformats.org/officeDocument/2006/relationships/image" Target="../media/image62.wmf"/><Relationship Id="rId4" Type="http://schemas.openxmlformats.org/officeDocument/2006/relationships/oleObject" Target="../embeddings/oleObject8.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16.xml"/><Relationship Id="rId6" Type="http://schemas.openxmlformats.org/officeDocument/2006/relationships/image" Target="../media/image66.png"/><Relationship Id="rId5" Type="http://schemas.openxmlformats.org/officeDocument/2006/relationships/image" Target="../media/image65.wmf"/><Relationship Id="rId4" Type="http://schemas.openxmlformats.org/officeDocument/2006/relationships/oleObject" Target="../embeddings/oleObject10.bin"/></Relationships>
</file>

<file path=ppt/slides/_rels/slide33.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notesSlide" Target="../notesSlides/notesSlide32.xml"/><Relationship Id="rId7" Type="http://schemas.openxmlformats.org/officeDocument/2006/relationships/image" Target="../media/image68.jpeg"/><Relationship Id="rId2" Type="http://schemas.openxmlformats.org/officeDocument/2006/relationships/slideLayout" Target="../slideLayouts/slideLayout7.xml"/><Relationship Id="rId1" Type="http://schemas.openxmlformats.org/officeDocument/2006/relationships/tags" Target="../tags/tag17.xml"/><Relationship Id="rId6" Type="http://schemas.openxmlformats.org/officeDocument/2006/relationships/image" Target="../media/image67.png"/><Relationship Id="rId5" Type="http://schemas.openxmlformats.org/officeDocument/2006/relationships/image" Target="../media/image65.wmf"/><Relationship Id="rId10" Type="http://schemas.openxmlformats.org/officeDocument/2006/relationships/image" Target="../media/image71.png"/><Relationship Id="rId4" Type="http://schemas.openxmlformats.org/officeDocument/2006/relationships/oleObject" Target="../embeddings/oleObject11.bin"/><Relationship Id="rId9" Type="http://schemas.openxmlformats.org/officeDocument/2006/relationships/image" Target="../media/image70.jpeg"/></Relationships>
</file>

<file path=ppt/slides/_rels/slide34.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notesSlide" Target="../notesSlides/notesSlide33.xml"/><Relationship Id="rId7" Type="http://schemas.openxmlformats.org/officeDocument/2006/relationships/image" Target="../media/image68.jpeg"/><Relationship Id="rId12" Type="http://schemas.openxmlformats.org/officeDocument/2006/relationships/image" Target="../media/image73.jpeg"/><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image" Target="../media/image67.png"/><Relationship Id="rId11" Type="http://schemas.openxmlformats.org/officeDocument/2006/relationships/image" Target="../media/image72.jpeg"/><Relationship Id="rId5" Type="http://schemas.openxmlformats.org/officeDocument/2006/relationships/image" Target="../media/image65.wmf"/><Relationship Id="rId10" Type="http://schemas.openxmlformats.org/officeDocument/2006/relationships/image" Target="../media/image71.png"/><Relationship Id="rId4" Type="http://schemas.openxmlformats.org/officeDocument/2006/relationships/oleObject" Target="../embeddings/oleObject11.bin"/><Relationship Id="rId9" Type="http://schemas.openxmlformats.org/officeDocument/2006/relationships/image" Target="../media/image70.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19.xml"/><Relationship Id="rId5" Type="http://schemas.openxmlformats.org/officeDocument/2006/relationships/image" Target="../media/image64.jpeg"/><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image" Target="../media/image75.jpeg"/><Relationship Id="rId5" Type="http://schemas.openxmlformats.org/officeDocument/2006/relationships/image" Target="../media/image63.wmf"/><Relationship Id="rId4" Type="http://schemas.openxmlformats.org/officeDocument/2006/relationships/oleObject" Target="../embeddings/oleObject1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21.xml"/><Relationship Id="rId4" Type="http://schemas.openxmlformats.org/officeDocument/2006/relationships/image" Target="../media/image7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79.jpeg"/><Relationship Id="rId2" Type="http://schemas.openxmlformats.org/officeDocument/2006/relationships/slideLayout" Target="../slideLayouts/slideLayout7.xml"/><Relationship Id="rId1" Type="http://schemas.openxmlformats.org/officeDocument/2006/relationships/tags" Target="../tags/tag22.xml"/><Relationship Id="rId6" Type="http://schemas.openxmlformats.org/officeDocument/2006/relationships/image" Target="../media/image78.wmf"/><Relationship Id="rId5" Type="http://schemas.openxmlformats.org/officeDocument/2006/relationships/oleObject" Target="../embeddings/oleObject13.bin"/><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24.xml"/><Relationship Id="rId5" Type="http://schemas.openxmlformats.org/officeDocument/2006/relationships/image" Target="../media/image83.jpeg"/><Relationship Id="rId4" Type="http://schemas.openxmlformats.org/officeDocument/2006/relationships/image" Target="../media/image8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25.xml"/><Relationship Id="rId5" Type="http://schemas.openxmlformats.org/officeDocument/2006/relationships/image" Target="../media/image85.png"/><Relationship Id="rId4" Type="http://schemas.openxmlformats.org/officeDocument/2006/relationships/image" Target="../media/image8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8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46.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jpe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90.jpeg"/><Relationship Id="rId5" Type="http://schemas.openxmlformats.org/officeDocument/2006/relationships/image" Target="../media/image89.jpeg"/><Relationship Id="rId4" Type="http://schemas.openxmlformats.org/officeDocument/2006/relationships/image" Target="../media/image88.jpeg"/></Relationships>
</file>

<file path=ppt/slides/_rels/slide4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750.png"/><Relationship Id="rId4" Type="http://schemas.openxmlformats.org/officeDocument/2006/relationships/image" Target="../media/image9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28.xml"/><Relationship Id="rId5" Type="http://schemas.openxmlformats.org/officeDocument/2006/relationships/image" Target="../media/image95.png"/><Relationship Id="rId4" Type="http://schemas.openxmlformats.org/officeDocument/2006/relationships/image" Target="../media/image94.jpeg"/></Relationships>
</file>

<file path=ppt/slides/_rels/slide5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97.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5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102.png"/><Relationship Id="rId4" Type="http://schemas.openxmlformats.org/officeDocument/2006/relationships/image" Target="../media/image101.png"/></Relationships>
</file>

<file path=ppt/slides/_rels/slide5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6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www.historynet.com/deadly-sabre-dance.htm" TargetMode="External"/><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112.jpeg"/><Relationship Id="rId4" Type="http://schemas.openxmlformats.org/officeDocument/2006/relationships/image" Target="../media/image111.jpeg"/></Relationships>
</file>

<file path=ppt/slides/_rels/slide6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65.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oleObject" Target="../embeddings/oleObject14.bin"/><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6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68.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121.png"/><Relationship Id="rId5" Type="http://schemas.openxmlformats.org/officeDocument/2006/relationships/image" Target="../media/image120.jpeg"/><Relationship Id="rId4" Type="http://schemas.openxmlformats.org/officeDocument/2006/relationships/image" Target="../media/image119.png"/><Relationship Id="rId9" Type="http://schemas.openxmlformats.org/officeDocument/2006/relationships/image" Target="../media/image124.jpeg"/></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126.wmf"/><Relationship Id="rId5" Type="http://schemas.openxmlformats.org/officeDocument/2006/relationships/oleObject" Target="../embeddings/oleObject16.bin"/><Relationship Id="rId4" Type="http://schemas.openxmlformats.org/officeDocument/2006/relationships/image" Target="../media/image125.wmf"/></Relationships>
</file>

<file path=ppt/slides/_rels/slide70.xml.rels><?xml version="1.0" encoding="UTF-8" standalone="yes"?>
<Relationships xmlns="http://schemas.openxmlformats.org/package/2006/relationships"><Relationship Id="rId3" Type="http://schemas.openxmlformats.org/officeDocument/2006/relationships/image" Target="../media/image127.wmf"/><Relationship Id="rId7" Type="http://schemas.openxmlformats.org/officeDocument/2006/relationships/image" Target="../media/image129.w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image" Target="../media/image128.wmf"/><Relationship Id="rId4" Type="http://schemas.openxmlformats.org/officeDocument/2006/relationships/oleObject" Target="../embeddings/oleObject18.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30.xml"/><Relationship Id="rId5" Type="http://schemas.openxmlformats.org/officeDocument/2006/relationships/image" Target="../media/image132.png"/><Relationship Id="rId4" Type="http://schemas.openxmlformats.org/officeDocument/2006/relationships/image" Target="../media/image131.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ags" Target="../tags/tag31.xml"/><Relationship Id="rId6" Type="http://schemas.openxmlformats.org/officeDocument/2006/relationships/image" Target="../media/image135.jpeg"/><Relationship Id="rId5" Type="http://schemas.openxmlformats.org/officeDocument/2006/relationships/image" Target="../media/image134.png"/><Relationship Id="rId4" Type="http://schemas.openxmlformats.org/officeDocument/2006/relationships/image" Target="../media/image1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38376" y="428626"/>
            <a:ext cx="7529513" cy="1368425"/>
          </a:xfrm>
        </p:spPr>
        <p:txBody>
          <a:bodyPr/>
          <a:lstStyle/>
          <a:p>
            <a:pPr marL="0" indent="0"/>
            <a:r>
              <a:rPr lang="en-US" sz="2800" b="1" dirty="0">
                <a:solidFill>
                  <a:schemeClr val="bg2"/>
                </a:solidFill>
              </a:rPr>
              <a:t>Aerospace Design and</a:t>
            </a:r>
            <a:br>
              <a:rPr lang="en-US" sz="2800" b="1" dirty="0">
                <a:solidFill>
                  <a:schemeClr val="bg2"/>
                </a:solidFill>
              </a:rPr>
            </a:br>
            <a:r>
              <a:rPr lang="en-US" sz="2800" b="1" dirty="0">
                <a:solidFill>
                  <a:schemeClr val="bg2"/>
                </a:solidFill>
              </a:rPr>
              <a:t>Systems Engineering Elements II  </a:t>
            </a:r>
            <a:r>
              <a:rPr lang="en-US" sz="2400" b="1" dirty="0">
                <a:solidFill>
                  <a:schemeClr val="bg2"/>
                </a:solidFill>
              </a:rPr>
              <a:t>AE2111-II aircraft part</a:t>
            </a:r>
          </a:p>
        </p:txBody>
      </p:sp>
      <p:sp>
        <p:nvSpPr>
          <p:cNvPr id="3075" name="Rectangle 3"/>
          <p:cNvSpPr>
            <a:spLocks noGrp="1" noChangeArrowheads="1"/>
          </p:cNvSpPr>
          <p:nvPr>
            <p:ph type="subTitle" sz="quarter" idx="1"/>
          </p:nvPr>
        </p:nvSpPr>
        <p:spPr>
          <a:xfrm>
            <a:off x="6240016" y="2173210"/>
            <a:ext cx="5472608" cy="1975869"/>
          </a:xfrm>
        </p:spPr>
        <p:txBody>
          <a:bodyPr/>
          <a:lstStyle/>
          <a:p>
            <a:pPr marL="0" indent="0" algn="ctr">
              <a:lnSpc>
                <a:spcPct val="100000"/>
              </a:lnSpc>
              <a:buNone/>
            </a:pPr>
            <a:endParaRPr lang="en-US" i="1" dirty="0">
              <a:solidFill>
                <a:schemeClr val="bg1"/>
              </a:solidFill>
            </a:endParaRPr>
          </a:p>
          <a:p>
            <a:pPr marL="0" indent="0" algn="ctr">
              <a:lnSpc>
                <a:spcPct val="100000"/>
              </a:lnSpc>
              <a:buNone/>
            </a:pPr>
            <a:r>
              <a:rPr lang="en-US" sz="3200" dirty="0">
                <a:solidFill>
                  <a:schemeClr val="bg1"/>
                </a:solidFill>
              </a:rPr>
              <a:t>Intro &amp; fundamentals on Aircraft aerodynamic designs</a:t>
            </a:r>
            <a:endParaRPr lang="en-US" dirty="0">
              <a:solidFill>
                <a:schemeClr val="bg1"/>
              </a:solidFill>
            </a:endParaRPr>
          </a:p>
        </p:txBody>
      </p:sp>
      <p:sp>
        <p:nvSpPr>
          <p:cNvPr id="3076" name="Rectangle 3"/>
          <p:cNvSpPr>
            <a:spLocks noGrp="1" noChangeArrowheads="1"/>
          </p:cNvSpPr>
          <p:nvPr>
            <p:ph type="subTitle" idx="4294967295"/>
          </p:nvPr>
        </p:nvSpPr>
        <p:spPr>
          <a:xfrm>
            <a:off x="191344" y="2276872"/>
            <a:ext cx="3208338" cy="1508125"/>
          </a:xfrm>
        </p:spPr>
        <p:txBody>
          <a:bodyPr/>
          <a:lstStyle/>
          <a:p>
            <a:pPr marL="0" indent="0">
              <a:buNone/>
            </a:pPr>
            <a:r>
              <a:rPr lang="en-US" sz="1800" b="1" dirty="0">
                <a:solidFill>
                  <a:schemeClr val="bg1"/>
                </a:solidFill>
              </a:rPr>
              <a:t>Dr. Fabrizio Oliviero</a:t>
            </a:r>
            <a:r>
              <a:rPr lang="en-US" sz="1800" dirty="0">
                <a:solidFill>
                  <a:schemeClr val="bg1"/>
                </a:solidFill>
              </a:rPr>
              <a:t>	</a:t>
            </a:r>
          </a:p>
          <a:p>
            <a:pPr marL="0" indent="0">
              <a:buNone/>
            </a:pPr>
            <a:r>
              <a:rPr lang="en-US" sz="1600" dirty="0">
                <a:solidFill>
                  <a:schemeClr val="bg1"/>
                </a:solidFill>
              </a:rPr>
              <a:t>Flight Performance &amp; Propulsion Group (FPP)</a:t>
            </a:r>
          </a:p>
          <a:p>
            <a:pPr marL="0" indent="0">
              <a:buNone/>
            </a:pPr>
            <a:r>
              <a:rPr lang="en-US" sz="1800" dirty="0">
                <a:solidFill>
                  <a:schemeClr val="bg1"/>
                </a:solidFill>
              </a:rPr>
              <a:t>		</a:t>
            </a: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2208" y="1132821"/>
            <a:ext cx="89043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4000" dirty="0">
                <a:solidFill>
                  <a:schemeClr val="bg1"/>
                </a:solidFill>
                <a:latin typeface="Bookman Old Style" pitchFamily="18" charset="0"/>
              </a:rPr>
              <a:t>  0. AE2111-II Aircraft part</a:t>
            </a:r>
          </a:p>
          <a:p>
            <a:pPr algn="l" fontAlgn="base"/>
            <a:endParaRPr lang="en-US" sz="4000" dirty="0">
              <a:solidFill>
                <a:schemeClr val="bg1"/>
              </a:solidFill>
              <a:latin typeface="Bookman Old Style" pitchFamily="18" charset="0"/>
            </a:endParaRPr>
          </a:p>
          <a:p>
            <a:pPr algn="l" fontAlgn="base"/>
            <a:r>
              <a:rPr lang="en-US" sz="4000" dirty="0">
                <a:solidFill>
                  <a:schemeClr val="bg1"/>
                </a:solidFill>
                <a:latin typeface="Bookman Old Style" pitchFamily="18" charset="0"/>
              </a:rPr>
              <a:t>	A brief overview</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2052458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6649207-C3E3-A842-84C5-863F72E91992}"/>
              </a:ext>
            </a:extLst>
          </p:cNvPr>
          <p:cNvSpPr txBox="1">
            <a:spLocks/>
          </p:cNvSpPr>
          <p:nvPr/>
        </p:nvSpPr>
        <p:spPr>
          <a:xfrm>
            <a:off x="773517" y="105148"/>
            <a:ext cx="1021291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Agenda for the AE2111-II, aircraft part</a:t>
            </a:r>
            <a:endParaRPr lang="nl-NL" kern="0" dirty="0">
              <a:solidFill>
                <a:schemeClr val="bg2"/>
              </a:solidFill>
            </a:endParaRPr>
          </a:p>
        </p:txBody>
      </p:sp>
      <p:graphicFrame>
        <p:nvGraphicFramePr>
          <p:cNvPr id="4" name="Table 4">
            <a:extLst>
              <a:ext uri="{FF2B5EF4-FFF2-40B4-BE49-F238E27FC236}">
                <a16:creationId xmlns:a16="http://schemas.microsoft.com/office/drawing/2014/main" id="{4362A857-E1A1-BE4A-A36D-BD1B5546C905}"/>
              </a:ext>
            </a:extLst>
          </p:cNvPr>
          <p:cNvGraphicFramePr>
            <a:graphicFrameLocks noGrp="1"/>
          </p:cNvGraphicFramePr>
          <p:nvPr>
            <p:extLst>
              <p:ext uri="{D42A27DB-BD31-4B8C-83A1-F6EECF244321}">
                <p14:modId xmlns:p14="http://schemas.microsoft.com/office/powerpoint/2010/main" val="4051683207"/>
              </p:ext>
            </p:extLst>
          </p:nvPr>
        </p:nvGraphicFramePr>
        <p:xfrm>
          <a:off x="1091443" y="1340768"/>
          <a:ext cx="9577064" cy="2360052"/>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1740252349"/>
                    </a:ext>
                  </a:extLst>
                </a:gridCol>
                <a:gridCol w="864096">
                  <a:extLst>
                    <a:ext uri="{9D8B030D-6E8A-4147-A177-3AD203B41FA5}">
                      <a16:colId xmlns:a16="http://schemas.microsoft.com/office/drawing/2014/main" val="3939981331"/>
                    </a:ext>
                  </a:extLst>
                </a:gridCol>
                <a:gridCol w="7488832">
                  <a:extLst>
                    <a:ext uri="{9D8B030D-6E8A-4147-A177-3AD203B41FA5}">
                      <a16:colId xmlns:a16="http://schemas.microsoft.com/office/drawing/2014/main" val="3473468863"/>
                    </a:ext>
                  </a:extLst>
                </a:gridCol>
              </a:tblGrid>
              <a:tr h="505852">
                <a:tc>
                  <a:txBody>
                    <a:bodyPr/>
                    <a:lstStyle/>
                    <a:p>
                      <a:r>
                        <a:rPr lang="en-GB" dirty="0"/>
                        <a:t>Number</a:t>
                      </a:r>
                    </a:p>
                  </a:txBody>
                  <a:tcPr/>
                </a:tc>
                <a:tc>
                  <a:txBody>
                    <a:bodyPr/>
                    <a:lstStyle/>
                    <a:p>
                      <a:r>
                        <a:rPr lang="en-GB" dirty="0"/>
                        <a:t>Date</a:t>
                      </a:r>
                    </a:p>
                  </a:txBody>
                  <a:tcPr/>
                </a:tc>
                <a:tc>
                  <a:txBody>
                    <a:bodyPr/>
                    <a:lstStyle/>
                    <a:p>
                      <a:r>
                        <a:rPr lang="en-GB" dirty="0"/>
                        <a:t>Topic</a:t>
                      </a:r>
                    </a:p>
                  </a:txBody>
                  <a:tcPr/>
                </a:tc>
                <a:extLst>
                  <a:ext uri="{0D108BD9-81ED-4DB2-BD59-A6C34878D82A}">
                    <a16:rowId xmlns:a16="http://schemas.microsoft.com/office/drawing/2014/main" val="1972296299"/>
                  </a:ext>
                </a:extLst>
              </a:tr>
              <a:tr h="370840">
                <a:tc>
                  <a:txBody>
                    <a:bodyPr/>
                    <a:lstStyle/>
                    <a:p>
                      <a:r>
                        <a:rPr lang="en-GB" dirty="0"/>
                        <a:t>1</a:t>
                      </a:r>
                    </a:p>
                  </a:txBody>
                  <a:tcPr/>
                </a:tc>
                <a:tc>
                  <a:txBody>
                    <a:bodyPr/>
                    <a:lstStyle/>
                    <a:p>
                      <a:r>
                        <a:rPr lang="en-GB" dirty="0"/>
                        <a:t>05/09</a:t>
                      </a:r>
                    </a:p>
                  </a:txBody>
                  <a:tcPr/>
                </a:tc>
                <a:tc>
                  <a:txBody>
                    <a:bodyPr/>
                    <a:lstStyle/>
                    <a:p>
                      <a:r>
                        <a:rPr lang="en-GB" i="1" dirty="0"/>
                        <a:t>Fundamentals on wing aerodynamics</a:t>
                      </a:r>
                    </a:p>
                  </a:txBody>
                  <a:tcPr/>
                </a:tc>
                <a:extLst>
                  <a:ext uri="{0D108BD9-81ED-4DB2-BD59-A6C34878D82A}">
                    <a16:rowId xmlns:a16="http://schemas.microsoft.com/office/drawing/2014/main" val="700154719"/>
                  </a:ext>
                </a:extLst>
              </a:tr>
              <a:tr h="370840">
                <a:tc>
                  <a:txBody>
                    <a:bodyPr/>
                    <a:lstStyle/>
                    <a:p>
                      <a:r>
                        <a:rPr lang="en-GB" dirty="0"/>
                        <a:t>2</a:t>
                      </a:r>
                    </a:p>
                  </a:txBody>
                  <a:tcPr/>
                </a:tc>
                <a:tc>
                  <a:txBody>
                    <a:bodyPr/>
                    <a:lstStyle/>
                    <a:p>
                      <a:r>
                        <a:rPr lang="en-GB" dirty="0"/>
                        <a:t>06/09</a:t>
                      </a:r>
                    </a:p>
                  </a:txBody>
                  <a:tcPr/>
                </a:tc>
                <a:tc>
                  <a:txBody>
                    <a:bodyPr/>
                    <a:lstStyle/>
                    <a:p>
                      <a:r>
                        <a:rPr lang="en-GB" i="1" dirty="0"/>
                        <a:t>Calculation of aero characteristics</a:t>
                      </a:r>
                    </a:p>
                  </a:txBody>
                  <a:tcPr/>
                </a:tc>
                <a:extLst>
                  <a:ext uri="{0D108BD9-81ED-4DB2-BD59-A6C34878D82A}">
                    <a16:rowId xmlns:a16="http://schemas.microsoft.com/office/drawing/2014/main" val="3177995342"/>
                  </a:ext>
                </a:extLst>
              </a:tr>
              <a:tr h="370840">
                <a:tc>
                  <a:txBody>
                    <a:bodyPr/>
                    <a:lstStyle/>
                    <a:p>
                      <a:r>
                        <a:rPr lang="en-GB" dirty="0"/>
                        <a:t>3</a:t>
                      </a:r>
                    </a:p>
                  </a:txBody>
                  <a:tcPr/>
                </a:tc>
                <a:tc>
                  <a:txBody>
                    <a:bodyPr/>
                    <a:lstStyle/>
                    <a:p>
                      <a:r>
                        <a:rPr lang="en-GB" dirty="0"/>
                        <a:t>10/09</a:t>
                      </a:r>
                    </a:p>
                  </a:txBody>
                  <a:tcPr/>
                </a:tc>
                <a:tc>
                  <a:txBody>
                    <a:bodyPr/>
                    <a:lstStyle/>
                    <a:p>
                      <a:r>
                        <a:rPr lang="en-GB" i="1" dirty="0"/>
                        <a:t>Aero sub system of the wing</a:t>
                      </a:r>
                    </a:p>
                  </a:txBody>
                  <a:tcPr/>
                </a:tc>
                <a:extLst>
                  <a:ext uri="{0D108BD9-81ED-4DB2-BD59-A6C34878D82A}">
                    <a16:rowId xmlns:a16="http://schemas.microsoft.com/office/drawing/2014/main" val="3987520111"/>
                  </a:ext>
                </a:extLst>
              </a:tr>
              <a:tr h="370840">
                <a:tc>
                  <a:txBody>
                    <a:bodyPr/>
                    <a:lstStyle/>
                    <a:p>
                      <a:r>
                        <a:rPr lang="en-GB" dirty="0"/>
                        <a:t>4</a:t>
                      </a:r>
                    </a:p>
                  </a:txBody>
                  <a:tcPr/>
                </a:tc>
                <a:tc>
                  <a:txBody>
                    <a:bodyPr/>
                    <a:lstStyle/>
                    <a:p>
                      <a:r>
                        <a:rPr lang="en-GB" dirty="0"/>
                        <a:t>12/09</a:t>
                      </a:r>
                    </a:p>
                  </a:txBody>
                  <a:tcPr/>
                </a:tc>
                <a:tc>
                  <a:txBody>
                    <a:bodyPr/>
                    <a:lstStyle/>
                    <a:p>
                      <a:r>
                        <a:rPr lang="en-GB" i="1" dirty="0"/>
                        <a:t>Utilization of aero software</a:t>
                      </a:r>
                    </a:p>
                  </a:txBody>
                  <a:tcPr/>
                </a:tc>
                <a:extLst>
                  <a:ext uri="{0D108BD9-81ED-4DB2-BD59-A6C34878D82A}">
                    <a16:rowId xmlns:a16="http://schemas.microsoft.com/office/drawing/2014/main" val="4173924675"/>
                  </a:ext>
                </a:extLst>
              </a:tr>
              <a:tr h="370840">
                <a:tc>
                  <a:txBody>
                    <a:bodyPr/>
                    <a:lstStyle/>
                    <a:p>
                      <a:r>
                        <a:rPr lang="en-GB" dirty="0"/>
                        <a:t>5</a:t>
                      </a:r>
                    </a:p>
                  </a:txBody>
                  <a:tcPr/>
                </a:tc>
                <a:tc>
                  <a:txBody>
                    <a:bodyPr/>
                    <a:lstStyle/>
                    <a:p>
                      <a:r>
                        <a:rPr lang="en-GB" dirty="0"/>
                        <a:t>13/09</a:t>
                      </a:r>
                    </a:p>
                  </a:txBody>
                  <a:tcPr/>
                </a:tc>
                <a:tc>
                  <a:txBody>
                    <a:bodyPr/>
                    <a:lstStyle/>
                    <a:p>
                      <a:r>
                        <a:rPr lang="en-GB" i="1" dirty="0"/>
                        <a:t>Weight estimation models</a:t>
                      </a:r>
                    </a:p>
                  </a:txBody>
                  <a:tcPr/>
                </a:tc>
                <a:extLst>
                  <a:ext uri="{0D108BD9-81ED-4DB2-BD59-A6C34878D82A}">
                    <a16:rowId xmlns:a16="http://schemas.microsoft.com/office/drawing/2014/main" val="2761030949"/>
                  </a:ext>
                </a:extLst>
              </a:tr>
            </a:tbl>
          </a:graphicData>
        </a:graphic>
      </p:graphicFrame>
    </p:spTree>
    <p:extLst>
      <p:ext uri="{BB962C8B-B14F-4D97-AF65-F5344CB8AC3E}">
        <p14:creationId xmlns:p14="http://schemas.microsoft.com/office/powerpoint/2010/main" val="39982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4">
            <a:extLst>
              <a:ext uri="{FF2B5EF4-FFF2-40B4-BE49-F238E27FC236}">
                <a16:creationId xmlns:a16="http://schemas.microsoft.com/office/drawing/2014/main" id="{C73290F7-436D-4E4C-A7B7-7C78263AF9A0}"/>
              </a:ext>
            </a:extLst>
          </p:cNvPr>
          <p:cNvSpPr>
            <a:spLocks noChangeArrowheads="1"/>
          </p:cNvSpPr>
          <p:nvPr/>
        </p:nvSpPr>
        <p:spPr bwMode="auto">
          <a:xfrm>
            <a:off x="752922" y="856449"/>
            <a:ext cx="908749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eaLnBrk="1" fontAlgn="ctr" hangingPunct="1">
              <a:lnSpc>
                <a:spcPct val="100000"/>
              </a:lnSpc>
              <a:buClrTx/>
              <a:buFontTx/>
              <a:buNone/>
            </a:pPr>
            <a:r>
              <a:rPr lang="en-US" altLang="nl-NL" sz="1800" dirty="0"/>
              <a:t>You will find most of the study material stored in the </a:t>
            </a:r>
            <a:r>
              <a:rPr lang="en-US" altLang="nl-NL" sz="1800" b="1" dirty="0"/>
              <a:t>Lectures/Aircraft Part </a:t>
            </a:r>
            <a:r>
              <a:rPr lang="en-US" altLang="nl-NL" sz="1800" dirty="0"/>
              <a:t>section on </a:t>
            </a:r>
            <a:r>
              <a:rPr lang="en-US" altLang="nl-NL" sz="1800" dirty="0" err="1"/>
              <a:t>BrightSpace</a:t>
            </a:r>
            <a:r>
              <a:rPr lang="en-US" altLang="nl-NL" sz="1800" dirty="0"/>
              <a:t>. </a:t>
            </a:r>
          </a:p>
          <a:p>
            <a:pPr eaLnBrk="1" fontAlgn="ctr" hangingPunct="1">
              <a:lnSpc>
                <a:spcPct val="100000"/>
              </a:lnSpc>
              <a:buClrTx/>
              <a:buFontTx/>
              <a:buNone/>
            </a:pPr>
            <a:endParaRPr lang="en-US" altLang="nl-NL" sz="1800" dirty="0"/>
          </a:p>
          <a:p>
            <a:pPr eaLnBrk="1" fontAlgn="ctr" hangingPunct="1">
              <a:lnSpc>
                <a:spcPct val="100000"/>
              </a:lnSpc>
              <a:buClrTx/>
              <a:buFontTx/>
              <a:buNone/>
            </a:pPr>
            <a:r>
              <a:rPr lang="en-US" altLang="nl-NL" sz="1800" dirty="0"/>
              <a:t>Study material mainly consists of </a:t>
            </a:r>
            <a:r>
              <a:rPr lang="en-US" altLang="nl-NL" sz="1800" b="1" dirty="0"/>
              <a:t>lecture notes, plus</a:t>
            </a:r>
            <a:r>
              <a:rPr lang="en-US" altLang="nl-NL" sz="1800" dirty="0"/>
              <a:t> a number of other relevant </a:t>
            </a:r>
            <a:r>
              <a:rPr lang="en-US" altLang="nl-NL" sz="1800" b="1" dirty="0"/>
              <a:t>documents</a:t>
            </a:r>
            <a:r>
              <a:rPr lang="en-US" altLang="nl-NL" sz="1800" dirty="0"/>
              <a:t> you are recommended to read/use. Those documents are reported on Brightspace in the section relative to each lecture</a:t>
            </a:r>
          </a:p>
        </p:txBody>
      </p:sp>
      <p:sp>
        <p:nvSpPr>
          <p:cNvPr id="3" name="Rectangle 24">
            <a:extLst>
              <a:ext uri="{FF2B5EF4-FFF2-40B4-BE49-F238E27FC236}">
                <a16:creationId xmlns:a16="http://schemas.microsoft.com/office/drawing/2014/main" id="{EC64317E-3D39-E843-B829-FFDD0E8F6751}"/>
              </a:ext>
            </a:extLst>
          </p:cNvPr>
          <p:cNvSpPr>
            <a:spLocks noChangeArrowheads="1"/>
          </p:cNvSpPr>
          <p:nvPr/>
        </p:nvSpPr>
        <p:spPr bwMode="auto">
          <a:xfrm>
            <a:off x="748604" y="2764636"/>
            <a:ext cx="1110912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eaLnBrk="1" fontAlgn="ctr" hangingPunct="1">
              <a:lnSpc>
                <a:spcPct val="100000"/>
              </a:lnSpc>
              <a:buClrTx/>
              <a:buFontTx/>
              <a:buNone/>
            </a:pPr>
            <a:r>
              <a:rPr lang="en-US" altLang="nl-NL" sz="1800" dirty="0"/>
              <a:t>Lecture notes will be posted on </a:t>
            </a:r>
            <a:r>
              <a:rPr lang="en-US" altLang="nl-NL" sz="1800" b="1" dirty="0"/>
              <a:t>BS at the end of each class. Even before when possible…</a:t>
            </a:r>
          </a:p>
          <a:p>
            <a:pPr eaLnBrk="1" fontAlgn="ctr" hangingPunct="1">
              <a:lnSpc>
                <a:spcPct val="100000"/>
              </a:lnSpc>
              <a:buClrTx/>
              <a:buFontTx/>
              <a:buNone/>
            </a:pPr>
            <a:endParaRPr lang="en-US" altLang="nl-NL" sz="1800" b="1" dirty="0"/>
          </a:p>
          <a:p>
            <a:pPr eaLnBrk="1" fontAlgn="ctr" hangingPunct="1">
              <a:lnSpc>
                <a:spcPct val="100000"/>
              </a:lnSpc>
              <a:buClrTx/>
              <a:buFontTx/>
              <a:buNone/>
            </a:pPr>
            <a:r>
              <a:rPr lang="en-US" altLang="nl-NL" sz="1800" b="1" dirty="0"/>
              <a:t>Updated versions</a:t>
            </a:r>
            <a:r>
              <a:rPr lang="en-US" altLang="nl-NL" sz="1800" dirty="0"/>
              <a:t> might be posted during the course when the need arises (a sequential version number will be indicated and the relevant changes highlighted)</a:t>
            </a:r>
          </a:p>
        </p:txBody>
      </p:sp>
      <p:pic>
        <p:nvPicPr>
          <p:cNvPr id="4" name="Picture 11">
            <a:extLst>
              <a:ext uri="{FF2B5EF4-FFF2-40B4-BE49-F238E27FC236}">
                <a16:creationId xmlns:a16="http://schemas.microsoft.com/office/drawing/2014/main" id="{BD967467-1DE4-1D4A-93BD-EC4084E82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0496" y="843897"/>
            <a:ext cx="1166614" cy="1652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Title 1">
            <a:extLst>
              <a:ext uri="{FF2B5EF4-FFF2-40B4-BE49-F238E27FC236}">
                <a16:creationId xmlns:a16="http://schemas.microsoft.com/office/drawing/2014/main" id="{FD391784-BE7F-4B45-B53F-F3E74FB8A990}"/>
              </a:ext>
            </a:extLst>
          </p:cNvPr>
          <p:cNvSpPr txBox="1">
            <a:spLocks/>
          </p:cNvSpPr>
          <p:nvPr/>
        </p:nvSpPr>
        <p:spPr>
          <a:xfrm>
            <a:off x="773517" y="105148"/>
            <a:ext cx="1021291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How to study for this part?</a:t>
            </a:r>
          </a:p>
          <a:p>
            <a:endParaRPr lang="nl-NL" kern="0" dirty="0">
              <a:solidFill>
                <a:schemeClr val="bg2"/>
              </a:solidFill>
            </a:endParaRPr>
          </a:p>
        </p:txBody>
      </p:sp>
      <p:pic>
        <p:nvPicPr>
          <p:cNvPr id="6" name="Picture 4">
            <a:extLst>
              <a:ext uri="{FF2B5EF4-FFF2-40B4-BE49-F238E27FC236}">
                <a16:creationId xmlns:a16="http://schemas.microsoft.com/office/drawing/2014/main" id="{4C39BC48-6922-524A-A5E6-547FC0408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739" y="4196910"/>
            <a:ext cx="1079010" cy="1563844"/>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6" descr="Airplane Design I - VIII">
            <a:extLst>
              <a:ext uri="{FF2B5EF4-FFF2-40B4-BE49-F238E27FC236}">
                <a16:creationId xmlns:a16="http://schemas.microsoft.com/office/drawing/2014/main" id="{F8602249-57B2-B44B-A45F-CA7E2A31A6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8916" y="3999420"/>
            <a:ext cx="1072007" cy="156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descr="Aircraft Performance and Design (McGraw-Hill International Editions)">
            <a:hlinkClick r:id="rId6"/>
            <a:extLst>
              <a:ext uri="{FF2B5EF4-FFF2-40B4-BE49-F238E27FC236}">
                <a16:creationId xmlns:a16="http://schemas.microsoft.com/office/drawing/2014/main" id="{C630BDEF-7316-1647-B53A-4B868EE9D4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9558" y="4216344"/>
            <a:ext cx="1094941" cy="14777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9" descr="Design of Aircraft">
            <a:hlinkClick r:id="rId8"/>
            <a:extLst>
              <a:ext uri="{FF2B5EF4-FFF2-40B4-BE49-F238E27FC236}">
                <a16:creationId xmlns:a16="http://schemas.microsoft.com/office/drawing/2014/main" id="{25BCE408-29C4-0144-9B17-92E4BB37876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41762" y="4388735"/>
            <a:ext cx="977646" cy="133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CF22F478-7091-794A-A27C-C4A8D0DBDE33}"/>
              </a:ext>
            </a:extLst>
          </p:cNvPr>
          <p:cNvSpPr>
            <a:spLocks noChangeArrowheads="1"/>
          </p:cNvSpPr>
          <p:nvPr/>
        </p:nvSpPr>
        <p:spPr bwMode="auto">
          <a:xfrm>
            <a:off x="2541521" y="5671211"/>
            <a:ext cx="955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a:t>Raymer</a:t>
            </a:r>
          </a:p>
        </p:txBody>
      </p:sp>
      <p:sp>
        <p:nvSpPr>
          <p:cNvPr id="12" name="Rectangle 11">
            <a:extLst>
              <a:ext uri="{FF2B5EF4-FFF2-40B4-BE49-F238E27FC236}">
                <a16:creationId xmlns:a16="http://schemas.microsoft.com/office/drawing/2014/main" id="{74985CAA-83E3-B343-A01D-0D770EA0CEBA}"/>
              </a:ext>
            </a:extLst>
          </p:cNvPr>
          <p:cNvSpPr>
            <a:spLocks noChangeArrowheads="1"/>
          </p:cNvSpPr>
          <p:nvPr/>
        </p:nvSpPr>
        <p:spPr bwMode="auto">
          <a:xfrm>
            <a:off x="336182" y="5709171"/>
            <a:ext cx="1254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err="1"/>
              <a:t>Torenbeek</a:t>
            </a:r>
            <a:endParaRPr lang="en-US" altLang="nl-NL" sz="1800" dirty="0"/>
          </a:p>
        </p:txBody>
      </p:sp>
      <p:sp>
        <p:nvSpPr>
          <p:cNvPr id="13" name="Rectangle 12">
            <a:extLst>
              <a:ext uri="{FF2B5EF4-FFF2-40B4-BE49-F238E27FC236}">
                <a16:creationId xmlns:a16="http://schemas.microsoft.com/office/drawing/2014/main" id="{C93A60E6-3979-BE40-90EC-1FA009F23296}"/>
              </a:ext>
            </a:extLst>
          </p:cNvPr>
          <p:cNvSpPr>
            <a:spLocks noChangeArrowheads="1"/>
          </p:cNvSpPr>
          <p:nvPr/>
        </p:nvSpPr>
        <p:spPr bwMode="auto">
          <a:xfrm>
            <a:off x="8393952" y="5671211"/>
            <a:ext cx="180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err="1"/>
              <a:t>Roskam</a:t>
            </a:r>
            <a:r>
              <a:rPr lang="en-US" altLang="nl-NL" sz="1800" dirty="0"/>
              <a:t> (series)</a:t>
            </a:r>
          </a:p>
        </p:txBody>
      </p:sp>
      <p:sp>
        <p:nvSpPr>
          <p:cNvPr id="14" name="Rectangle 13">
            <a:extLst>
              <a:ext uri="{FF2B5EF4-FFF2-40B4-BE49-F238E27FC236}">
                <a16:creationId xmlns:a16="http://schemas.microsoft.com/office/drawing/2014/main" id="{D84D1FAA-8E51-5548-809B-7C09A700D168}"/>
              </a:ext>
            </a:extLst>
          </p:cNvPr>
          <p:cNvSpPr>
            <a:spLocks noChangeArrowheads="1"/>
          </p:cNvSpPr>
          <p:nvPr/>
        </p:nvSpPr>
        <p:spPr bwMode="auto">
          <a:xfrm>
            <a:off x="10849585" y="566577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err="1"/>
              <a:t>Corke</a:t>
            </a:r>
            <a:endParaRPr lang="en-US" altLang="nl-NL" sz="1800" dirty="0"/>
          </a:p>
        </p:txBody>
      </p:sp>
      <p:sp>
        <p:nvSpPr>
          <p:cNvPr id="15" name="Rectangle 14">
            <a:extLst>
              <a:ext uri="{FF2B5EF4-FFF2-40B4-BE49-F238E27FC236}">
                <a16:creationId xmlns:a16="http://schemas.microsoft.com/office/drawing/2014/main" id="{CAD60CD3-6E1A-3E43-A0E9-CB0DD3CC8629}"/>
              </a:ext>
            </a:extLst>
          </p:cNvPr>
          <p:cNvSpPr>
            <a:spLocks noChangeArrowheads="1"/>
          </p:cNvSpPr>
          <p:nvPr/>
        </p:nvSpPr>
        <p:spPr bwMode="auto">
          <a:xfrm>
            <a:off x="6492662" y="5707559"/>
            <a:ext cx="11303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a:t>Anderson</a:t>
            </a:r>
          </a:p>
        </p:txBody>
      </p:sp>
      <p:pic>
        <p:nvPicPr>
          <p:cNvPr id="16" name="Picture 17" descr="http://t3.gstatic.com/images?q=tbn:ANd9GcQ3xke909DaxqBipBqMbyTv_VpJqhjA2dBR3vrWeJ1lhBMwc1Algw">
            <a:extLst>
              <a:ext uri="{FF2B5EF4-FFF2-40B4-BE49-F238E27FC236}">
                <a16:creationId xmlns:a16="http://schemas.microsoft.com/office/drawing/2014/main" id="{637AE35A-23AE-D846-BA26-26F2888CBF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l="18222" r="15254"/>
          <a:stretch>
            <a:fillRect/>
          </a:stretch>
        </p:blipFill>
        <p:spPr bwMode="auto">
          <a:xfrm>
            <a:off x="2549277" y="4216344"/>
            <a:ext cx="982990" cy="14777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7" name="Picture 19" descr="http://t1.gstatic.com/images?q=tbn:ANd9GcTa6DOjw96WyAaPdk4PZqKesUQwph3VVesbWRPcaOaVa68ntLCq">
            <a:extLst>
              <a:ext uri="{FF2B5EF4-FFF2-40B4-BE49-F238E27FC236}">
                <a16:creationId xmlns:a16="http://schemas.microsoft.com/office/drawing/2014/main" id="{56027A9B-D3E9-504F-95CF-521A6D79AB4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35968" y="4193916"/>
            <a:ext cx="959541" cy="14777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 name="Rectangle 10">
            <a:extLst>
              <a:ext uri="{FF2B5EF4-FFF2-40B4-BE49-F238E27FC236}">
                <a16:creationId xmlns:a16="http://schemas.microsoft.com/office/drawing/2014/main" id="{560F129F-6663-6E49-A02A-6002E2DB6963}"/>
              </a:ext>
            </a:extLst>
          </p:cNvPr>
          <p:cNvSpPr>
            <a:spLocks noChangeArrowheads="1"/>
          </p:cNvSpPr>
          <p:nvPr/>
        </p:nvSpPr>
        <p:spPr bwMode="auto">
          <a:xfrm>
            <a:off x="4573981" y="5671684"/>
            <a:ext cx="849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r>
              <a:rPr lang="en-US" altLang="nl-NL" sz="1800" dirty="0"/>
              <a:t>Nicolai</a:t>
            </a:r>
          </a:p>
        </p:txBody>
      </p:sp>
    </p:spTree>
    <p:extLst>
      <p:ext uri="{BB962C8B-B14F-4D97-AF65-F5344CB8AC3E}">
        <p14:creationId xmlns:p14="http://schemas.microsoft.com/office/powerpoint/2010/main" val="230267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D9CC5788-8254-1C4E-A81C-2996345A8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747" y="988220"/>
            <a:ext cx="4347804" cy="3480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Rectangle 5">
            <a:extLst>
              <a:ext uri="{FF2B5EF4-FFF2-40B4-BE49-F238E27FC236}">
                <a16:creationId xmlns:a16="http://schemas.microsoft.com/office/drawing/2014/main" id="{87ADEC8D-A475-0847-818A-F78F3657D2B9}"/>
              </a:ext>
            </a:extLst>
          </p:cNvPr>
          <p:cNvSpPr>
            <a:spLocks noChangeArrowheads="1"/>
          </p:cNvSpPr>
          <p:nvPr/>
        </p:nvSpPr>
        <p:spPr bwMode="auto">
          <a:xfrm>
            <a:off x="794429" y="1102348"/>
            <a:ext cx="640512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marL="342900" indent="-342900" eaLnBrk="1" fontAlgn="ctr" hangingPunct="1">
              <a:lnSpc>
                <a:spcPct val="100000"/>
              </a:lnSpc>
              <a:buClrTx/>
            </a:pPr>
            <a:r>
              <a:rPr lang="en-US" altLang="nl-NL" sz="1800" dirty="0"/>
              <a:t>The slides presented and discussed in class often contain extra information in the </a:t>
            </a:r>
            <a:r>
              <a:rPr lang="en-US" altLang="nl-NL" sz="1800" u="sng" dirty="0">
                <a:solidFill>
                  <a:srgbClr val="FF3300"/>
                </a:solidFill>
              </a:rPr>
              <a:t>notes section</a:t>
            </a:r>
            <a:r>
              <a:rPr lang="en-US" altLang="nl-NL" sz="1800" dirty="0"/>
              <a:t>. </a:t>
            </a:r>
          </a:p>
          <a:p>
            <a:pPr marL="342900" indent="-342900" eaLnBrk="1" fontAlgn="ctr" hangingPunct="1">
              <a:lnSpc>
                <a:spcPct val="100000"/>
              </a:lnSpc>
              <a:buClrTx/>
            </a:pPr>
            <a:endParaRPr lang="en-US" altLang="nl-NL" sz="1800" dirty="0"/>
          </a:p>
          <a:p>
            <a:pPr eaLnBrk="1" fontAlgn="ctr" hangingPunct="1">
              <a:lnSpc>
                <a:spcPct val="100000"/>
              </a:lnSpc>
              <a:buClrTx/>
              <a:buNone/>
            </a:pPr>
            <a:endParaRPr lang="en-US" altLang="nl-NL" sz="1800" dirty="0"/>
          </a:p>
          <a:p>
            <a:pPr marL="342900" indent="-342900" eaLnBrk="1" fontAlgn="ctr" hangingPunct="1">
              <a:lnSpc>
                <a:spcPct val="100000"/>
              </a:lnSpc>
              <a:buClrTx/>
            </a:pPr>
            <a:r>
              <a:rPr lang="en-US" altLang="nl-NL" sz="1800" dirty="0"/>
              <a:t>In addition there are a number of hidden slides that are </a:t>
            </a:r>
            <a:r>
              <a:rPr lang="en-US" altLang="nl-NL" sz="1800" dirty="0" err="1"/>
              <a:t>ot</a:t>
            </a:r>
            <a:r>
              <a:rPr lang="en-US" altLang="nl-NL" sz="1800" dirty="0"/>
              <a:t> discussed in classroom only for time reason: those ones are equally important and their content could be asked in the exam!</a:t>
            </a:r>
          </a:p>
          <a:p>
            <a:pPr eaLnBrk="1" fontAlgn="ctr" hangingPunct="1">
              <a:lnSpc>
                <a:spcPct val="100000"/>
              </a:lnSpc>
              <a:buClrTx/>
              <a:buFontTx/>
              <a:buNone/>
            </a:pPr>
            <a:endParaRPr lang="en-US" altLang="nl-NL" sz="1800" dirty="0"/>
          </a:p>
        </p:txBody>
      </p:sp>
      <p:sp>
        <p:nvSpPr>
          <p:cNvPr id="4" name="Line 7">
            <a:extLst>
              <a:ext uri="{FF2B5EF4-FFF2-40B4-BE49-F238E27FC236}">
                <a16:creationId xmlns:a16="http://schemas.microsoft.com/office/drawing/2014/main" id="{C8182AF8-658E-DE4E-BDB1-D7DA553BA3EC}"/>
              </a:ext>
            </a:extLst>
          </p:cNvPr>
          <p:cNvSpPr>
            <a:spLocks noChangeShapeType="1"/>
          </p:cNvSpPr>
          <p:nvPr/>
        </p:nvSpPr>
        <p:spPr bwMode="auto">
          <a:xfrm>
            <a:off x="3236325" y="3317579"/>
            <a:ext cx="3429000" cy="1143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a:spAutoFit/>
          </a:bodyPr>
          <a:lstStyle/>
          <a:p>
            <a:endParaRPr lang="en-GB"/>
          </a:p>
        </p:txBody>
      </p:sp>
      <p:sp>
        <p:nvSpPr>
          <p:cNvPr id="6" name="Rectangle 11">
            <a:extLst>
              <a:ext uri="{FF2B5EF4-FFF2-40B4-BE49-F238E27FC236}">
                <a16:creationId xmlns:a16="http://schemas.microsoft.com/office/drawing/2014/main" id="{A7FB6A08-C991-B641-AB56-A43BE3403B30}"/>
              </a:ext>
            </a:extLst>
          </p:cNvPr>
          <p:cNvSpPr>
            <a:spLocks noChangeArrowheads="1"/>
          </p:cNvSpPr>
          <p:nvPr/>
        </p:nvSpPr>
        <p:spPr bwMode="auto">
          <a:xfrm>
            <a:off x="794429" y="5050688"/>
            <a:ext cx="10774179" cy="646331"/>
          </a:xfrm>
          <a:prstGeom prst="rect">
            <a:avLst/>
          </a:prstGeom>
          <a:solidFill>
            <a:srgbClr val="FF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eaLnBrk="1" fontAlgn="ctr" hangingPunct="1">
              <a:lnSpc>
                <a:spcPct val="100000"/>
              </a:lnSpc>
              <a:buClrTx/>
              <a:buFontTx/>
              <a:buNone/>
            </a:pPr>
            <a:r>
              <a:rPr lang="en-US" altLang="nl-NL" sz="1800" dirty="0"/>
              <a:t>this </a:t>
            </a:r>
            <a:r>
              <a:rPr lang="en-US" altLang="nl-NL" sz="1800" b="1" i="1" dirty="0"/>
              <a:t>attention sign</a:t>
            </a:r>
            <a:r>
              <a:rPr lang="en-US" altLang="nl-NL" sz="1800" dirty="0"/>
              <a:t>            you often find on slides is meant to bring your attention on a particular point. Generally a corresponding comment is reported in the notes section.</a:t>
            </a:r>
          </a:p>
        </p:txBody>
      </p:sp>
      <p:pic>
        <p:nvPicPr>
          <p:cNvPr id="7" name="Picture 10" descr="warning">
            <a:extLst>
              <a:ext uri="{FF2B5EF4-FFF2-40B4-BE49-F238E27FC236}">
                <a16:creationId xmlns:a16="http://schemas.microsoft.com/office/drawing/2014/main" id="{98251D29-0C37-BD4E-AF5C-9E7BFB082BD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840946">
            <a:off x="3121205" y="4805418"/>
            <a:ext cx="53340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5">
            <a:extLst>
              <a:ext uri="{FF2B5EF4-FFF2-40B4-BE49-F238E27FC236}">
                <a16:creationId xmlns:a16="http://schemas.microsoft.com/office/drawing/2014/main" id="{59F85A89-10E1-6347-868F-05299BE362EA}"/>
              </a:ext>
            </a:extLst>
          </p:cNvPr>
          <p:cNvSpPr>
            <a:spLocks noChangeArrowheads="1"/>
          </p:cNvSpPr>
          <p:nvPr/>
        </p:nvSpPr>
        <p:spPr bwMode="auto">
          <a:xfrm>
            <a:off x="7428640" y="2957217"/>
            <a:ext cx="4593693" cy="1511300"/>
          </a:xfrm>
          <a:prstGeom prst="rect">
            <a:avLst/>
          </a:prstGeom>
          <a:noFill/>
          <a:ln w="38100" algn="ctr">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algn="ctr" eaLnBrk="1" fontAlgn="ctr" hangingPunct="1">
              <a:lnSpc>
                <a:spcPct val="100000"/>
              </a:lnSpc>
              <a:buClrTx/>
              <a:buFontTx/>
              <a:buNone/>
            </a:pPr>
            <a:endParaRPr lang="nl-NL" altLang="nl-NL" sz="1800"/>
          </a:p>
        </p:txBody>
      </p:sp>
      <p:sp>
        <p:nvSpPr>
          <p:cNvPr id="10" name="Title 1">
            <a:extLst>
              <a:ext uri="{FF2B5EF4-FFF2-40B4-BE49-F238E27FC236}">
                <a16:creationId xmlns:a16="http://schemas.microsoft.com/office/drawing/2014/main" id="{BC2109EA-FF20-0042-9118-858E25A1C789}"/>
              </a:ext>
            </a:extLst>
          </p:cNvPr>
          <p:cNvSpPr txBox="1">
            <a:spLocks/>
          </p:cNvSpPr>
          <p:nvPr/>
        </p:nvSpPr>
        <p:spPr>
          <a:xfrm>
            <a:off x="773517" y="105148"/>
            <a:ext cx="1021291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About the content of the slides</a:t>
            </a:r>
          </a:p>
          <a:p>
            <a:endParaRPr lang="nl-NL" kern="0" dirty="0">
              <a:solidFill>
                <a:schemeClr val="bg2"/>
              </a:solidFill>
            </a:endParaRPr>
          </a:p>
        </p:txBody>
      </p:sp>
      <p:cxnSp>
        <p:nvCxnSpPr>
          <p:cNvPr id="12" name="Elbow Connector 11">
            <a:extLst>
              <a:ext uri="{FF2B5EF4-FFF2-40B4-BE49-F238E27FC236}">
                <a16:creationId xmlns:a16="http://schemas.microsoft.com/office/drawing/2014/main" id="{B8637421-568F-E948-BA15-413CAFB3B968}"/>
              </a:ext>
            </a:extLst>
          </p:cNvPr>
          <p:cNvCxnSpPr>
            <a:cxnSpLocks/>
          </p:cNvCxnSpPr>
          <p:nvPr/>
        </p:nvCxnSpPr>
        <p:spPr bwMode="auto">
          <a:xfrm>
            <a:off x="5268400" y="1617504"/>
            <a:ext cx="2279962" cy="2271577"/>
          </a:xfrm>
          <a:prstGeom prst="bentConnector3">
            <a:avLst>
              <a:gd name="adj1" fmla="val 73662"/>
            </a:avLst>
          </a:prstGeom>
          <a:ln>
            <a:solidFill>
              <a:srgbClr val="FF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1403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4406-BE26-431D-FAF9-4878A3DF49EA}"/>
              </a:ext>
            </a:extLst>
          </p:cNvPr>
          <p:cNvSpPr txBox="1">
            <a:spLocks/>
          </p:cNvSpPr>
          <p:nvPr/>
        </p:nvSpPr>
        <p:spPr>
          <a:xfrm>
            <a:off x="773517" y="105148"/>
            <a:ext cx="1021291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Setting the right expectation on the contents</a:t>
            </a:r>
          </a:p>
          <a:p>
            <a:endParaRPr lang="nl-NL" kern="0" dirty="0">
              <a:solidFill>
                <a:schemeClr val="bg2"/>
              </a:solidFill>
            </a:endParaRPr>
          </a:p>
        </p:txBody>
      </p:sp>
      <p:sp>
        <p:nvSpPr>
          <p:cNvPr id="3" name="Rectangle 5">
            <a:extLst>
              <a:ext uri="{FF2B5EF4-FFF2-40B4-BE49-F238E27FC236}">
                <a16:creationId xmlns:a16="http://schemas.microsoft.com/office/drawing/2014/main" id="{DFA202A6-065D-775A-508F-19154979B6C3}"/>
              </a:ext>
            </a:extLst>
          </p:cNvPr>
          <p:cNvSpPr>
            <a:spLocks noChangeArrowheads="1"/>
          </p:cNvSpPr>
          <p:nvPr/>
        </p:nvSpPr>
        <p:spPr bwMode="auto">
          <a:xfrm>
            <a:off x="794428" y="1102348"/>
            <a:ext cx="10342131"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anose="020B0604030504040204" pitchFamily="34" charset="0"/>
              </a:defRPr>
            </a:lvl1pPr>
            <a:lvl2pPr marL="742950" indent="-285750" algn="l" eaLnBrk="0" fontAlgn="base" hangingPunct="0">
              <a:lnSpc>
                <a:spcPts val="2500"/>
              </a:lnSpc>
              <a:buClr>
                <a:schemeClr val="bg2"/>
              </a:buClr>
              <a:buFont typeface="Times" pitchFamily="2" charset="0"/>
              <a:buChar char="•"/>
              <a:defRPr>
                <a:solidFill>
                  <a:schemeClr val="tx1"/>
                </a:solidFill>
                <a:latin typeface="Tahoma" panose="020B0604030504040204" pitchFamily="34" charset="0"/>
              </a:defRPr>
            </a:lvl2pPr>
            <a:lvl3pPr marL="1143000" indent="-228600" algn="l" eaLnBrk="0" fontAlgn="base" hangingPunct="0">
              <a:lnSpc>
                <a:spcPts val="2500"/>
              </a:lnSpc>
              <a:buClr>
                <a:schemeClr val="bg2"/>
              </a:buClr>
              <a:buFont typeface="Times" pitchFamily="2" charset="0"/>
              <a:buChar char="•"/>
              <a:defRPr sz="1600">
                <a:solidFill>
                  <a:schemeClr val="tx1"/>
                </a:solidFill>
                <a:latin typeface="Tahoma" panose="020B0604030504040204" pitchFamily="34" charset="0"/>
              </a:defRPr>
            </a:lvl3pPr>
            <a:lvl4pPr marL="1600200" indent="-228600" algn="l" eaLnBrk="0" fontAlgn="base" hangingPunct="0">
              <a:lnSpc>
                <a:spcPts val="2500"/>
              </a:lnSpc>
              <a:buClr>
                <a:schemeClr val="bg2"/>
              </a:buClr>
              <a:buFont typeface="Times" pitchFamily="2" charset="0"/>
              <a:buChar char="•"/>
              <a:defRPr sz="1400">
                <a:solidFill>
                  <a:schemeClr val="tx1"/>
                </a:solidFill>
                <a:latin typeface="Tahoma" panose="020B0604030504040204" pitchFamily="34" charset="0"/>
              </a:defRPr>
            </a:lvl4pPr>
            <a:lvl5pPr marL="2057400" indent="-228600" algn="l" eaLnBrk="0" fontAlgn="base" hangingPunct="0">
              <a:lnSpc>
                <a:spcPts val="2500"/>
              </a:lnSpc>
              <a:buClr>
                <a:schemeClr val="bg2"/>
              </a:buClr>
              <a:buFont typeface="Times" pitchFamily="2" charset="0"/>
              <a:buChar char="•"/>
              <a:defRPr sz="1200">
                <a:solidFill>
                  <a:schemeClr val="tx1"/>
                </a:solidFill>
                <a:latin typeface="Tahoma" panose="020B0604030504040204" pitchFamily="34" charset="0"/>
              </a:defRPr>
            </a:lvl5pPr>
            <a:lvl6pPr marL="25146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6pPr>
            <a:lvl7pPr marL="29718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7pPr>
            <a:lvl8pPr marL="34290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8pPr>
            <a:lvl9pPr marL="3886200" indent="-228600" eaLnBrk="0" fontAlgn="base" hangingPunct="0">
              <a:lnSpc>
                <a:spcPts val="2500"/>
              </a:lnSpc>
              <a:spcBef>
                <a:spcPct val="0"/>
              </a:spcBef>
              <a:spcAft>
                <a:spcPct val="0"/>
              </a:spcAft>
              <a:buClr>
                <a:schemeClr val="bg2"/>
              </a:buClr>
              <a:buFont typeface="Times" pitchFamily="2" charset="0"/>
              <a:buChar char="•"/>
              <a:defRPr sz="1200">
                <a:solidFill>
                  <a:schemeClr val="tx1"/>
                </a:solidFill>
                <a:latin typeface="Tahoma" panose="020B0604030504040204" pitchFamily="34" charset="0"/>
              </a:defRPr>
            </a:lvl9pPr>
          </a:lstStyle>
          <a:p>
            <a:pPr eaLnBrk="1" fontAlgn="ctr" hangingPunct="1">
              <a:lnSpc>
                <a:spcPct val="100000"/>
              </a:lnSpc>
              <a:buClrTx/>
              <a:buNone/>
            </a:pPr>
            <a:r>
              <a:rPr lang="en-US" altLang="nl-NL" sz="1800" dirty="0"/>
              <a:t>Some disclaimer are needed to use at best the topic discussed in the coming 5 lectures and to face in general aircraft design in the bachelor program:</a:t>
            </a:r>
          </a:p>
          <a:p>
            <a:pPr eaLnBrk="1" fontAlgn="ctr" hangingPunct="1">
              <a:lnSpc>
                <a:spcPct val="100000"/>
              </a:lnSpc>
              <a:buClrTx/>
              <a:buNone/>
            </a:pPr>
            <a:endParaRPr lang="en-US" altLang="nl-NL" sz="1800" dirty="0"/>
          </a:p>
          <a:p>
            <a:pPr eaLnBrk="1" fontAlgn="ctr" hangingPunct="1">
              <a:lnSpc>
                <a:spcPct val="100000"/>
              </a:lnSpc>
              <a:buClrTx/>
              <a:buNone/>
            </a:pPr>
            <a:endParaRPr lang="en-US" altLang="nl-NL" sz="1800" dirty="0"/>
          </a:p>
          <a:p>
            <a:pPr marL="342900" indent="-342900" eaLnBrk="1" fontAlgn="ctr" hangingPunct="1">
              <a:lnSpc>
                <a:spcPct val="100000"/>
              </a:lnSpc>
              <a:buClrTx/>
            </a:pPr>
            <a:r>
              <a:rPr lang="en-US" altLang="nl-NL" sz="1800" dirty="0"/>
              <a:t>An aircraft designer relies on a number of disciplines: aerodynamics, structures, flight mechanics, </a:t>
            </a:r>
            <a:r>
              <a:rPr lang="en-US" altLang="nl-NL" sz="1800" dirty="0" err="1"/>
              <a:t>etc</a:t>
            </a:r>
            <a:r>
              <a:rPr lang="en-US" altLang="nl-NL" sz="1800" dirty="0"/>
              <a:t>… Even though we focus the attention on the first one, al the other aspect are not secondary, and they cannot be discarded.</a:t>
            </a:r>
          </a:p>
          <a:p>
            <a:pPr marL="342900" indent="-342900" eaLnBrk="1" fontAlgn="ctr" hangingPunct="1">
              <a:lnSpc>
                <a:spcPct val="100000"/>
              </a:lnSpc>
              <a:buClrTx/>
            </a:pPr>
            <a:endParaRPr lang="en-US" altLang="nl-NL" sz="1800" dirty="0"/>
          </a:p>
          <a:p>
            <a:pPr marL="342900" indent="-342900" eaLnBrk="1" fontAlgn="ctr" hangingPunct="1">
              <a:lnSpc>
                <a:spcPct val="100000"/>
              </a:lnSpc>
              <a:buClrTx/>
            </a:pPr>
            <a:r>
              <a:rPr lang="en-US" altLang="nl-NL" sz="1800" dirty="0"/>
              <a:t>Aircraft design focus on the application of different fundamental theories. Due to the placement in the Y2 program, we have to “give for granted” some concepts and theories that will be discussed later on in other courses.</a:t>
            </a:r>
          </a:p>
          <a:p>
            <a:pPr marL="342900" indent="-342900" eaLnBrk="1" fontAlgn="ctr" hangingPunct="1">
              <a:lnSpc>
                <a:spcPct val="100000"/>
              </a:lnSpc>
              <a:buClrTx/>
            </a:pPr>
            <a:endParaRPr lang="en-US" altLang="nl-NL" sz="1800" dirty="0"/>
          </a:p>
          <a:p>
            <a:pPr marL="342900" indent="-342900" eaLnBrk="1" fontAlgn="ctr" hangingPunct="1">
              <a:lnSpc>
                <a:spcPct val="100000"/>
              </a:lnSpc>
              <a:buClrTx/>
            </a:pPr>
            <a:r>
              <a:rPr lang="en-US" altLang="nl-NL" sz="1800" dirty="0"/>
              <a:t>We focus on procedures, and we’ll explain the main equations; those will be given in a formula sheet for the exam. Nevertheless some basics definition need to be known by hart!</a:t>
            </a:r>
          </a:p>
          <a:p>
            <a:pPr eaLnBrk="1" fontAlgn="ctr" hangingPunct="1">
              <a:lnSpc>
                <a:spcPct val="100000"/>
              </a:lnSpc>
              <a:buClrTx/>
              <a:buFontTx/>
              <a:buNone/>
            </a:pPr>
            <a:endParaRPr lang="en-US" altLang="nl-NL" sz="1800" dirty="0"/>
          </a:p>
        </p:txBody>
      </p:sp>
    </p:spTree>
    <p:extLst>
      <p:ext uri="{BB962C8B-B14F-4D97-AF65-F5344CB8AC3E}">
        <p14:creationId xmlns:p14="http://schemas.microsoft.com/office/powerpoint/2010/main" val="1466759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0" y="1104900"/>
            <a:ext cx="68405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4000" dirty="0">
                <a:solidFill>
                  <a:schemeClr val="bg1"/>
                </a:solidFill>
                <a:latin typeface="Bookman Old Style" pitchFamily="18" charset="0"/>
              </a:rPr>
              <a:t>  1. Aerodynamic design</a:t>
            </a:r>
          </a:p>
          <a:p>
            <a:pPr algn="l" fontAlgn="base"/>
            <a:r>
              <a:rPr lang="en-US" sz="4000" dirty="0">
                <a:solidFill>
                  <a:schemeClr val="bg1"/>
                </a:solidFill>
                <a:latin typeface="Bookman Old Style" pitchFamily="18" charset="0"/>
              </a:rPr>
              <a:t>	Introduction</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182821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517" y="105148"/>
            <a:ext cx="10212917" cy="760413"/>
          </a:xfrm>
        </p:spPr>
        <p:txBody>
          <a:bodyPr/>
          <a:lstStyle/>
          <a:p>
            <a:r>
              <a:rPr lang="en-GB" dirty="0">
                <a:solidFill>
                  <a:schemeClr val="bg2"/>
                </a:solidFill>
              </a:rPr>
              <a:t>Objective(s) of this lecture</a:t>
            </a:r>
            <a:endParaRPr lang="nl-NL" dirty="0">
              <a:solidFill>
                <a:schemeClr val="bg2"/>
              </a:solidFill>
            </a:endParaRPr>
          </a:p>
        </p:txBody>
      </p:sp>
      <p:pic>
        <p:nvPicPr>
          <p:cNvPr id="3" name="Picture 2" descr="D:\TUDelft\Lecturership\AE2111-II\Useful Pics\N2 Chart AC desig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68" y="1667643"/>
            <a:ext cx="6546746" cy="448880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bwMode="auto">
          <a:xfrm>
            <a:off x="2639616" y="4365104"/>
            <a:ext cx="2520280" cy="216024"/>
          </a:xfrm>
          <a:prstGeom prst="rect">
            <a:avLst/>
          </a:prstGeom>
          <a:solidFill>
            <a:srgbClr val="FF0000">
              <a:alpha val="42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
        <p:nvSpPr>
          <p:cNvPr id="6" name="Content Placeholder 2"/>
          <p:cNvSpPr txBox="1">
            <a:spLocks/>
          </p:cNvSpPr>
          <p:nvPr/>
        </p:nvSpPr>
        <p:spPr>
          <a:xfrm>
            <a:off x="6779568" y="1350588"/>
            <a:ext cx="3888432" cy="256145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kern="0" dirty="0"/>
              <a:t>Identification of the main aerodynamic curves</a:t>
            </a:r>
          </a:p>
          <a:p>
            <a:endParaRPr lang="en-GB" sz="1600" kern="0" dirty="0"/>
          </a:p>
          <a:p>
            <a:r>
              <a:rPr lang="en-GB" sz="1600" b="1" kern="0" dirty="0"/>
              <a:t>Qualitative</a:t>
            </a:r>
            <a:r>
              <a:rPr lang="en-GB" sz="1600" kern="0" dirty="0"/>
              <a:t> dependence of the aerodynamic characteristics on:</a:t>
            </a:r>
          </a:p>
          <a:p>
            <a:pPr lvl="1"/>
            <a:r>
              <a:rPr lang="en-GB" sz="1400" kern="0" dirty="0"/>
              <a:t>Geometry (</a:t>
            </a:r>
            <a:r>
              <a:rPr lang="en-GB" sz="1400" kern="0" dirty="0" err="1"/>
              <a:t>Airfoil</a:t>
            </a:r>
            <a:r>
              <a:rPr lang="en-GB" sz="1400" kern="0" dirty="0"/>
              <a:t> and wing planform)</a:t>
            </a:r>
          </a:p>
          <a:p>
            <a:pPr lvl="1"/>
            <a:r>
              <a:rPr lang="en-GB" sz="1400" kern="0" dirty="0"/>
              <a:t>Flow conditions</a:t>
            </a:r>
          </a:p>
          <a:p>
            <a:pPr lvl="1"/>
            <a:endParaRPr lang="en-GB" sz="1400" kern="0" dirty="0"/>
          </a:p>
          <a:p>
            <a:pPr marL="0" indent="0" algn="ctr">
              <a:buNone/>
            </a:pPr>
            <a:endParaRPr lang="en-GB" sz="1800" kern="0" dirty="0">
              <a:solidFill>
                <a:srgbClr val="FF0000"/>
              </a:solidFill>
              <a:latin typeface="Arial" charset="0"/>
            </a:endParaRPr>
          </a:p>
          <a:p>
            <a:pPr marL="0" indent="0" algn="ctr">
              <a:buNone/>
            </a:pPr>
            <a:endParaRPr lang="en-GB" sz="1600" kern="0" dirty="0">
              <a:solidFill>
                <a:srgbClr val="FF0000"/>
              </a:solidFill>
              <a:latin typeface="Arial" charset="0"/>
            </a:endParaRPr>
          </a:p>
          <a:p>
            <a:pPr marL="0" indent="0" algn="ctr">
              <a:buNone/>
            </a:pPr>
            <a:endParaRPr lang="en-GB" sz="1600" kern="0" dirty="0">
              <a:solidFill>
                <a:srgbClr val="FF0000"/>
              </a:solidFill>
              <a:latin typeface="Arial" charset="0"/>
            </a:endParaRPr>
          </a:p>
        </p:txBody>
      </p:sp>
      <p:sp>
        <p:nvSpPr>
          <p:cNvPr id="7" name="Left Brace 6"/>
          <p:cNvSpPr/>
          <p:nvPr/>
        </p:nvSpPr>
        <p:spPr bwMode="auto">
          <a:xfrm>
            <a:off x="6600056" y="1350588"/>
            <a:ext cx="360040" cy="2294436"/>
          </a:xfrm>
          <a:prstGeom prst="leftBrace">
            <a:avLst>
              <a:gd name="adj1" fmla="val 48545"/>
              <a:gd name="adj2" fmla="val 48672"/>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cxnSp>
        <p:nvCxnSpPr>
          <p:cNvPr id="10" name="Elbow Connector 9"/>
          <p:cNvCxnSpPr>
            <a:stCxn id="4" idx="3"/>
            <a:endCxn id="7" idx="1"/>
          </p:cNvCxnSpPr>
          <p:nvPr/>
        </p:nvCxnSpPr>
        <p:spPr bwMode="auto">
          <a:xfrm flipV="1">
            <a:off x="5159896" y="2467336"/>
            <a:ext cx="1440160" cy="2005780"/>
          </a:xfrm>
          <a:prstGeom prst="bentConnector3">
            <a:avLst>
              <a:gd name="adj1" fmla="val 50000"/>
            </a:avLst>
          </a:prstGeom>
          <a:solidFill>
            <a:schemeClr val="accent1"/>
          </a:solidFill>
          <a:ln w="25400" cap="flat" cmpd="sng" algn="ctr">
            <a:solidFill>
              <a:schemeClr val="tx1"/>
            </a:solidFill>
            <a:prstDash val="solid"/>
            <a:round/>
            <a:headEnd type="none" w="med" len="med"/>
            <a:tailEnd type="arrow"/>
          </a:ln>
          <a:effectLst/>
        </p:spPr>
      </p:cxnSp>
      <p:sp>
        <p:nvSpPr>
          <p:cNvPr id="8" name="Rectangle 7"/>
          <p:cNvSpPr/>
          <p:nvPr/>
        </p:nvSpPr>
        <p:spPr bwMode="auto">
          <a:xfrm>
            <a:off x="5735960" y="5013175"/>
            <a:ext cx="2160240" cy="1143269"/>
          </a:xfrm>
          <a:prstGeom prst="rect">
            <a:avLst/>
          </a:prstGeom>
          <a:solidFill>
            <a:schemeClr val="bg1">
              <a:lumMod val="85000"/>
              <a:alpha val="77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Tree>
    <p:extLst>
      <p:ext uri="{BB962C8B-B14F-4D97-AF65-F5344CB8AC3E}">
        <p14:creationId xmlns:p14="http://schemas.microsoft.com/office/powerpoint/2010/main" val="348170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95400" y="62340"/>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Aerodynamic Forces</a:t>
            </a:r>
            <a:endParaRPr lang="nl-NL" kern="0" dirty="0">
              <a:solidFill>
                <a:schemeClr val="bg2"/>
              </a:solidFill>
            </a:endParaRPr>
          </a:p>
        </p:txBody>
      </p:sp>
      <p:pic>
        <p:nvPicPr>
          <p:cNvPr id="5122"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8119" y="1133798"/>
            <a:ext cx="4826819" cy="372660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a:xfrm>
            <a:off x="839416" y="1052459"/>
            <a:ext cx="5760640" cy="378559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kern="0" dirty="0"/>
              <a:t>Lift: the aerodynamic force normal to the freestream</a:t>
            </a:r>
          </a:p>
          <a:p>
            <a:endParaRPr lang="en-GB" sz="1600" kern="0" dirty="0"/>
          </a:p>
          <a:p>
            <a:r>
              <a:rPr lang="en-GB" sz="1600" kern="0" dirty="0"/>
              <a:t>Drag: the aerodynamic force parallel to the freestream</a:t>
            </a:r>
          </a:p>
          <a:p>
            <a:endParaRPr lang="en-GB" sz="1600" kern="0" dirty="0"/>
          </a:p>
          <a:p>
            <a:r>
              <a:rPr lang="en-GB" sz="1600" kern="0" dirty="0">
                <a:solidFill>
                  <a:schemeClr val="bg1">
                    <a:lumMod val="50000"/>
                  </a:schemeClr>
                </a:solidFill>
              </a:rPr>
              <a:t>Pitching moment: aerodynamic moment around a reference point</a:t>
            </a:r>
          </a:p>
          <a:p>
            <a:pPr lvl="1"/>
            <a:r>
              <a:rPr lang="en-GB" sz="1200" kern="0" dirty="0">
                <a:solidFill>
                  <a:schemeClr val="bg1">
                    <a:lumMod val="50000"/>
                  </a:schemeClr>
                </a:solidFill>
              </a:rPr>
              <a:t>Usually around the quarter chord point or the aerodynamic </a:t>
            </a:r>
            <a:r>
              <a:rPr lang="en-GB" sz="1200" kern="0" dirty="0" err="1">
                <a:solidFill>
                  <a:schemeClr val="bg1">
                    <a:lumMod val="50000"/>
                  </a:schemeClr>
                </a:solidFill>
              </a:rPr>
              <a:t>center</a:t>
            </a:r>
            <a:endParaRPr lang="en-GB" sz="1200" kern="0" dirty="0">
              <a:solidFill>
                <a:schemeClr val="bg1">
                  <a:lumMod val="50000"/>
                </a:schemeClr>
              </a:solidFill>
            </a:endParaRPr>
          </a:p>
          <a:p>
            <a:pPr marL="385763" lvl="1" indent="0">
              <a:buNone/>
            </a:pPr>
            <a:endParaRPr lang="en-GB" sz="1200" kern="0" dirty="0"/>
          </a:p>
          <a:p>
            <a:r>
              <a:rPr lang="en-GB" sz="1800" kern="0" dirty="0"/>
              <a:t>Aerodynamic coefficients:</a:t>
            </a:r>
          </a:p>
          <a:p>
            <a:endParaRPr lang="en-GB" sz="1800" kern="0" dirty="0"/>
          </a:p>
          <a:p>
            <a:endParaRPr lang="en-GB" sz="1800" kern="0" dirty="0"/>
          </a:p>
          <a:p>
            <a:pPr marL="0" indent="0" algn="ctr">
              <a:buNone/>
            </a:pPr>
            <a:endParaRPr lang="en-GB" sz="1800" kern="0" dirty="0">
              <a:solidFill>
                <a:srgbClr val="FF0000"/>
              </a:solidFill>
              <a:latin typeface="Arial" charset="0"/>
            </a:endParaRPr>
          </a:p>
          <a:p>
            <a:pPr marL="0" indent="0" algn="ctr">
              <a:buNone/>
            </a:pPr>
            <a:endParaRPr lang="en-GB" sz="1600" kern="0" dirty="0">
              <a:solidFill>
                <a:srgbClr val="FF0000"/>
              </a:solidFill>
              <a:latin typeface="Arial" charset="0"/>
            </a:endParaRPr>
          </a:p>
          <a:p>
            <a:pPr marL="0" indent="0" algn="ctr">
              <a:buNone/>
            </a:pPr>
            <a:endParaRPr lang="en-GB" sz="1600" kern="0" dirty="0">
              <a:solidFill>
                <a:srgbClr val="FF0000"/>
              </a:solidFill>
              <a:latin typeface="Arial"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40984481"/>
              </p:ext>
            </p:extLst>
          </p:nvPr>
        </p:nvGraphicFramePr>
        <p:xfrm>
          <a:off x="1487488" y="4293096"/>
          <a:ext cx="4814718" cy="735874"/>
        </p:xfrm>
        <a:graphic>
          <a:graphicData uri="http://schemas.openxmlformats.org/presentationml/2006/ole">
            <mc:AlternateContent xmlns:mc="http://schemas.openxmlformats.org/markup-compatibility/2006">
              <mc:Choice xmlns:v="urn:schemas-microsoft-com:vml" Requires="v">
                <p:oleObj name="Equation" r:id="rId4" imgW="2908080" imgH="444240" progId="Equation.DSMT4">
                  <p:embed/>
                </p:oleObj>
              </mc:Choice>
              <mc:Fallback>
                <p:oleObj name="Equation" r:id="rId4" imgW="2908080" imgH="444240" progId="Equation.DSMT4">
                  <p:embed/>
                  <p:pic>
                    <p:nvPicPr>
                      <p:cNvPr id="0" name=""/>
                      <p:cNvPicPr/>
                      <p:nvPr/>
                    </p:nvPicPr>
                    <p:blipFill>
                      <a:blip r:embed="rId5"/>
                      <a:stretch>
                        <a:fillRect/>
                      </a:stretch>
                    </p:blipFill>
                    <p:spPr>
                      <a:xfrm>
                        <a:off x="1487488" y="4293096"/>
                        <a:ext cx="4814718" cy="735874"/>
                      </a:xfrm>
                      <a:prstGeom prst="rect">
                        <a:avLst/>
                      </a:prstGeom>
                    </p:spPr>
                  </p:pic>
                </p:oleObj>
              </mc:Fallback>
            </mc:AlternateContent>
          </a:graphicData>
        </a:graphic>
      </p:graphicFrame>
    </p:spTree>
    <p:extLst>
      <p:ext uri="{BB962C8B-B14F-4D97-AF65-F5344CB8AC3E}">
        <p14:creationId xmlns:p14="http://schemas.microsoft.com/office/powerpoint/2010/main" val="177001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44624"/>
            <a:ext cx="10212917" cy="760413"/>
          </a:xfrm>
        </p:spPr>
        <p:txBody>
          <a:bodyPr/>
          <a:lstStyle/>
          <a:p>
            <a:r>
              <a:rPr lang="en-GB" dirty="0">
                <a:solidFill>
                  <a:schemeClr val="bg2"/>
                </a:solidFill>
              </a:rPr>
              <a:t>Wing </a:t>
            </a:r>
            <a:r>
              <a:rPr lang="en-GB" dirty="0" err="1">
                <a:solidFill>
                  <a:schemeClr val="bg2"/>
                </a:solidFill>
              </a:rPr>
              <a:t>airfoil</a:t>
            </a:r>
            <a:r>
              <a:rPr lang="en-GB" dirty="0">
                <a:solidFill>
                  <a:schemeClr val="bg2"/>
                </a:solidFill>
              </a:rPr>
              <a:t> and planform</a:t>
            </a:r>
            <a:endParaRPr lang="nl-NL" dirty="0">
              <a:solidFill>
                <a:schemeClr val="bg2"/>
              </a:solidFill>
            </a:endParaRPr>
          </a:p>
        </p:txBody>
      </p:sp>
      <p:sp>
        <p:nvSpPr>
          <p:cNvPr id="3" name="Content Placeholder 2"/>
          <p:cNvSpPr>
            <a:spLocks noGrp="1"/>
          </p:cNvSpPr>
          <p:nvPr>
            <p:ph idx="1"/>
          </p:nvPr>
        </p:nvSpPr>
        <p:spPr>
          <a:xfrm>
            <a:off x="839416" y="1052736"/>
            <a:ext cx="9073008" cy="4289425"/>
          </a:xfrm>
        </p:spPr>
        <p:txBody>
          <a:bodyPr/>
          <a:lstStyle/>
          <a:p>
            <a:r>
              <a:rPr lang="en-GB" sz="1800" dirty="0"/>
              <a:t>From the design point of view, a 3D wing design can be categorized into two parts:</a:t>
            </a:r>
          </a:p>
          <a:p>
            <a:pPr lvl="1"/>
            <a:endParaRPr lang="en-GB" dirty="0"/>
          </a:p>
          <a:p>
            <a:pPr lvl="1"/>
            <a:r>
              <a:rPr lang="en-GB" sz="1600" dirty="0" err="1"/>
              <a:t>Airfoil</a:t>
            </a:r>
            <a:r>
              <a:rPr lang="en-GB" sz="1600" dirty="0"/>
              <a:t> design:        </a:t>
            </a:r>
            <a:r>
              <a:rPr lang="en-GB" sz="1600" dirty="0">
                <a:latin typeface="Arial" charset="0"/>
              </a:rPr>
              <a:t>wing’s cross-sectional shape</a:t>
            </a:r>
          </a:p>
          <a:p>
            <a:pPr lvl="1"/>
            <a:r>
              <a:rPr lang="en-GB" sz="1600" dirty="0"/>
              <a:t>Planform design :  </a:t>
            </a:r>
            <a:r>
              <a:rPr lang="en-GB" sz="1600" dirty="0">
                <a:latin typeface="Arial" charset="0"/>
              </a:rPr>
              <a:t>the projection of the wing’s shape when looking top-down</a:t>
            </a:r>
            <a:endParaRPr lang="en-GB" sz="1600"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marL="0" indent="0" algn="ctr">
              <a:buNone/>
            </a:pPr>
            <a:endParaRPr lang="en-GB" sz="1600" dirty="0">
              <a:solidFill>
                <a:srgbClr val="FF0000"/>
              </a:solidFill>
            </a:endParaRPr>
          </a:p>
          <a:p>
            <a:pPr marL="0" indent="0" algn="ctr">
              <a:buNone/>
            </a:pPr>
            <a:r>
              <a:rPr lang="en-GB" sz="1600" dirty="0">
                <a:solidFill>
                  <a:srgbClr val="FF0000"/>
                </a:solidFill>
              </a:rPr>
              <a:t>This decoupling is done just to have a design framework. </a:t>
            </a:r>
            <a:r>
              <a:rPr lang="en-GB" sz="1600" dirty="0">
                <a:solidFill>
                  <a:srgbClr val="FF0000"/>
                </a:solidFill>
                <a:latin typeface="Arial" charset="0"/>
              </a:rPr>
              <a:t>In practice, both 2D </a:t>
            </a:r>
            <a:r>
              <a:rPr lang="en-GB" sz="1600" dirty="0" err="1">
                <a:solidFill>
                  <a:srgbClr val="FF0000"/>
                </a:solidFill>
                <a:latin typeface="Arial" charset="0"/>
              </a:rPr>
              <a:t>airfoil</a:t>
            </a:r>
            <a:r>
              <a:rPr lang="en-GB" sz="1600" dirty="0">
                <a:solidFill>
                  <a:srgbClr val="FF0000"/>
                </a:solidFill>
                <a:latin typeface="Arial" charset="0"/>
              </a:rPr>
              <a:t> and 2D planform effects combine in determining the final 3D aerodynamic behaviour.</a:t>
            </a:r>
          </a:p>
          <a:p>
            <a:pPr marL="0" indent="0" algn="ctr">
              <a:buNone/>
            </a:pPr>
            <a:endParaRPr lang="en-GB" sz="1600" dirty="0">
              <a:solidFill>
                <a:srgbClr val="FF0000"/>
              </a:solidFill>
              <a:latin typeface="Arial" charset="0"/>
            </a:endParaRPr>
          </a:p>
          <a:p>
            <a:pPr marL="0" indent="0" algn="ctr">
              <a:buNone/>
            </a:pPr>
            <a:endParaRPr lang="en-GB" sz="1600" dirty="0">
              <a:solidFill>
                <a:srgbClr val="FF0000"/>
              </a:solidFill>
              <a:latin typeface="Arial" charset="0"/>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399709" y="2629347"/>
            <a:ext cx="1569914" cy="2017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Picture 6" descr="http://www.aviation-history.com/theory/airfoil-6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7488" y="2852936"/>
            <a:ext cx="3024336" cy="1466347"/>
          </a:xfrm>
          <a:prstGeom prst="roundRect">
            <a:avLst>
              <a:gd name="adj" fmla="val 8594"/>
            </a:avLst>
          </a:prstGeom>
          <a:solidFill>
            <a:srgbClr val="FFFFFF">
              <a:shade val="85000"/>
            </a:srgbClr>
          </a:solidFill>
          <a:ln>
            <a:solidFill>
              <a:schemeClr val="tx1"/>
            </a:solidFill>
          </a:ln>
          <a:effectLst>
            <a:reflection blurRad="12700" stA="38000" endPos="28000" dist="5000" dir="5400000" sy="-100000" algn="bl" rotWithShape="0"/>
          </a:effectLst>
        </p:spPr>
      </p:pic>
    </p:spTree>
    <p:extLst>
      <p:ext uri="{BB962C8B-B14F-4D97-AF65-F5344CB8AC3E}">
        <p14:creationId xmlns:p14="http://schemas.microsoft.com/office/powerpoint/2010/main" val="267427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8452" y="28575"/>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260350" y="674757"/>
            <a:ext cx="68405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4000" dirty="0">
                <a:solidFill>
                  <a:schemeClr val="bg1"/>
                </a:solidFill>
                <a:latin typeface="Bookman Old Style" pitchFamily="18" charset="0"/>
              </a:rPr>
              <a:t>  1.1 Airfoil Aerodynamics </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225924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95400" y="188640"/>
            <a:ext cx="928320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a definition</a:t>
            </a:r>
            <a:endParaRPr lang="nl-NL" kern="0" dirty="0">
              <a:solidFill>
                <a:schemeClr val="bg2"/>
              </a:solidFill>
            </a:endParaRPr>
          </a:p>
        </p:txBody>
      </p:sp>
      <p:sp>
        <p:nvSpPr>
          <p:cNvPr id="20" name="Content Placeholder 2"/>
          <p:cNvSpPr txBox="1">
            <a:spLocks/>
          </p:cNvSpPr>
          <p:nvPr/>
        </p:nvSpPr>
        <p:spPr>
          <a:xfrm>
            <a:off x="623392" y="2519493"/>
            <a:ext cx="8241576" cy="411981"/>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buNone/>
            </a:pPr>
            <a:r>
              <a:rPr lang="en-GB" b="1" kern="0" dirty="0"/>
              <a:t>Definition of an </a:t>
            </a:r>
            <a:r>
              <a:rPr lang="en-GB" b="1" kern="0" dirty="0" err="1"/>
              <a:t>airfoil</a:t>
            </a:r>
            <a:r>
              <a:rPr lang="en-GB" b="1" kern="0" dirty="0"/>
              <a:t>:</a:t>
            </a:r>
          </a:p>
          <a:p>
            <a:pPr marL="92075" lvl="1" indent="0">
              <a:buNone/>
            </a:pPr>
            <a:endParaRPr lang="en-GB" sz="1400" kern="0" dirty="0"/>
          </a:p>
        </p:txBody>
      </p:sp>
      <p:sp>
        <p:nvSpPr>
          <p:cNvPr id="21" name="Content Placeholder 2"/>
          <p:cNvSpPr txBox="1">
            <a:spLocks/>
          </p:cNvSpPr>
          <p:nvPr/>
        </p:nvSpPr>
        <p:spPr>
          <a:xfrm>
            <a:off x="551384" y="2916789"/>
            <a:ext cx="11161239"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1000"/>
              </a:spcAft>
              <a:buNone/>
            </a:pPr>
            <a:r>
              <a:rPr lang="en-GB" sz="1800" i="1" kern="0" dirty="0"/>
              <a:t>The </a:t>
            </a:r>
            <a:r>
              <a:rPr lang="en-GB" sz="1800" i="1" kern="0" dirty="0" err="1"/>
              <a:t>airfoil</a:t>
            </a:r>
            <a:r>
              <a:rPr lang="en-GB" sz="1800" i="1" kern="0" dirty="0"/>
              <a:t> is a streamlined (=slender) body able to provide </a:t>
            </a:r>
            <a:r>
              <a:rPr lang="en-GB" sz="1800" b="1" i="1" kern="0" dirty="0"/>
              <a:t>useful forces </a:t>
            </a:r>
            <a:r>
              <a:rPr lang="en-GB" sz="1800" i="1" kern="0" dirty="0"/>
              <a:t>(for motion) when immersed in a flow with certain conditions (of speed and angle of attack namely).</a:t>
            </a:r>
          </a:p>
          <a:p>
            <a:pPr marL="92075" lvl="1" indent="0">
              <a:lnSpc>
                <a:spcPct val="100000"/>
              </a:lnSpc>
              <a:spcAft>
                <a:spcPts val="1000"/>
              </a:spcAft>
              <a:buNone/>
            </a:pPr>
            <a:r>
              <a:rPr lang="en-GB" kern="0" dirty="0"/>
              <a:t>The </a:t>
            </a:r>
            <a:r>
              <a:rPr lang="en-GB" kern="0" dirty="0" err="1"/>
              <a:t>airfoil</a:t>
            </a:r>
            <a:r>
              <a:rPr lang="en-GB" kern="0" dirty="0"/>
              <a:t> is defined by means of its function and </a:t>
            </a:r>
            <a:r>
              <a:rPr lang="en-GB" b="1" kern="0" dirty="0"/>
              <a:t>not</a:t>
            </a:r>
            <a:r>
              <a:rPr lang="en-GB" kern="0" dirty="0"/>
              <a:t> depending on the geometric characteristics.</a:t>
            </a:r>
          </a:p>
          <a:p>
            <a:pPr marL="92075" lvl="1" indent="0">
              <a:lnSpc>
                <a:spcPct val="100000"/>
              </a:lnSpc>
              <a:spcAft>
                <a:spcPts val="1000"/>
              </a:spcAft>
              <a:buNone/>
            </a:pPr>
            <a:endParaRPr lang="en-GB" kern="0" dirty="0"/>
          </a:p>
        </p:txBody>
      </p:sp>
      <p:pic>
        <p:nvPicPr>
          <p:cNvPr id="5" name="Picture 277">
            <a:extLst>
              <a:ext uri="{FF2B5EF4-FFF2-40B4-BE49-F238E27FC236}">
                <a16:creationId xmlns:a16="http://schemas.microsoft.com/office/drawing/2014/main" id="{F5C58B31-6B63-0649-9E48-E10BBD18466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465" r="13743"/>
          <a:stretch/>
        </p:blipFill>
        <p:spPr bwMode="auto">
          <a:xfrm>
            <a:off x="4367808" y="1155441"/>
            <a:ext cx="2884337" cy="98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a:extLst>
              <a:ext uri="{FF2B5EF4-FFF2-40B4-BE49-F238E27FC236}">
                <a16:creationId xmlns:a16="http://schemas.microsoft.com/office/drawing/2014/main" id="{5294478F-0EE5-8243-9EBB-84F7C37939DE}"/>
              </a:ext>
            </a:extLst>
          </p:cNvPr>
          <p:cNvCxnSpPr/>
          <p:nvPr/>
        </p:nvCxnSpPr>
        <p:spPr bwMode="auto">
          <a:xfrm>
            <a:off x="1594179" y="1534549"/>
            <a:ext cx="2140022" cy="360040"/>
          </a:xfrm>
          <a:prstGeom prst="line">
            <a:avLst/>
          </a:prstGeom>
          <a:solidFill>
            <a:schemeClr val="accent1"/>
          </a:solidFill>
          <a:ln w="44450" cap="flat" cmpd="sng" algn="ctr">
            <a:solidFill>
              <a:schemeClr val="tx1"/>
            </a:solidFill>
            <a:prstDash val="solid"/>
            <a:round/>
            <a:headEnd type="none" w="med" len="med"/>
            <a:tailEnd type="none" w="med" len="med"/>
          </a:ln>
          <a:effectLst/>
        </p:spPr>
      </p:cxnSp>
      <p:sp>
        <p:nvSpPr>
          <p:cNvPr id="7" name="Flowchart: Decision 7">
            <a:extLst>
              <a:ext uri="{FF2B5EF4-FFF2-40B4-BE49-F238E27FC236}">
                <a16:creationId xmlns:a16="http://schemas.microsoft.com/office/drawing/2014/main" id="{7DBC7984-FD46-DD48-ACC4-704F9425CE6A}"/>
              </a:ext>
            </a:extLst>
          </p:cNvPr>
          <p:cNvSpPr/>
          <p:nvPr/>
        </p:nvSpPr>
        <p:spPr bwMode="auto">
          <a:xfrm>
            <a:off x="7858566" y="1540651"/>
            <a:ext cx="2434187" cy="547834"/>
          </a:xfrm>
          <a:prstGeom prst="flowChartDecision">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nl-NL" sz="2200" b="0" i="0" u="none" strike="noStrike" cap="none" normalizeH="0" baseline="0">
              <a:ln>
                <a:noFill/>
              </a:ln>
              <a:solidFill>
                <a:schemeClr val="tx1"/>
              </a:solidFill>
              <a:effectLst/>
              <a:latin typeface="Tahoma" pitchFamily="34" charset="0"/>
            </a:endParaRPr>
          </a:p>
        </p:txBody>
      </p:sp>
      <p:pic>
        <p:nvPicPr>
          <p:cNvPr id="8" name="Picture 2" descr="What is the performance of a flat plate wing? - Aviation Stack Exchange">
            <a:extLst>
              <a:ext uri="{FF2B5EF4-FFF2-40B4-BE49-F238E27FC236}">
                <a16:creationId xmlns:a16="http://schemas.microsoft.com/office/drawing/2014/main" id="{CBF13968-652C-3A4E-BC3A-F1BA7C71F9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9436" y="4501914"/>
            <a:ext cx="3024336" cy="15835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lark Y airfoil - Wikipedia">
            <a:extLst>
              <a:ext uri="{FF2B5EF4-FFF2-40B4-BE49-F238E27FC236}">
                <a16:creationId xmlns:a16="http://schemas.microsoft.com/office/drawing/2014/main" id="{101FAD41-FF18-DD47-ACF2-DEA03D21815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11824" y="3952548"/>
            <a:ext cx="2843407" cy="21325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s://www.ainonline.com/sites/ainonline.com/files/uploads/2018/08/309646main_ec96-43830-11_full.jpg">
            <a:extLst>
              <a:ext uri="{FF2B5EF4-FFF2-40B4-BE49-F238E27FC236}">
                <a16:creationId xmlns:a16="http://schemas.microsoft.com/office/drawing/2014/main" id="{1A5A376A-B5B3-AD4F-AC1D-F14947BE2AE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06" t="14423" r="10590" b="16541"/>
          <a:stretch/>
        </p:blipFill>
        <p:spPr bwMode="auto">
          <a:xfrm>
            <a:off x="7922231" y="4248918"/>
            <a:ext cx="2880320" cy="1728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87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5" name="Picture 277"/>
          <p:cNvPicPr>
            <a:picLocks noChangeAspect="1" noChangeArrowheads="1"/>
          </p:cNvPicPr>
          <p:nvPr/>
        </p:nvPicPr>
        <p:blipFill rotWithShape="1">
          <a:blip r:embed="rId3">
            <a:extLst>
              <a:ext uri="{28A0092B-C50C-407E-A947-70E740481C1C}">
                <a14:useLocalDpi xmlns:a14="http://schemas.microsoft.com/office/drawing/2010/main" val="0"/>
              </a:ext>
            </a:extLst>
          </a:blip>
          <a:srcRect l="29465" r="13743"/>
          <a:stretch/>
        </p:blipFill>
        <p:spPr bwMode="auto">
          <a:xfrm>
            <a:off x="4238089" y="2348881"/>
            <a:ext cx="5073042" cy="17316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77"/>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4214" r="2985"/>
          <a:stretch/>
        </p:blipFill>
        <p:spPr bwMode="auto">
          <a:xfrm>
            <a:off x="2876241" y="2348881"/>
            <a:ext cx="7396223" cy="17316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26" name="Picture 2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0177" y="2391177"/>
            <a:ext cx="8732520" cy="1960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27" name="Picture 27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0178" y="2495148"/>
            <a:ext cx="8749665" cy="2446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28" name="Picture 2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8346" y="2439846"/>
            <a:ext cx="8755380"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1"/>
          <p:cNvSpPr txBox="1">
            <a:spLocks/>
          </p:cNvSpPr>
          <p:nvPr/>
        </p:nvSpPr>
        <p:spPr>
          <a:xfrm>
            <a:off x="695400" y="188640"/>
            <a:ext cx="928320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a geometry definition</a:t>
            </a:r>
            <a:endParaRPr lang="nl-NL" kern="0" dirty="0">
              <a:solidFill>
                <a:schemeClr val="bg2"/>
              </a:solidFill>
            </a:endParaRPr>
          </a:p>
        </p:txBody>
      </p:sp>
      <p:sp>
        <p:nvSpPr>
          <p:cNvPr id="2" name="Rectangle 1"/>
          <p:cNvSpPr/>
          <p:nvPr/>
        </p:nvSpPr>
        <p:spPr>
          <a:xfrm>
            <a:off x="695400" y="1182594"/>
            <a:ext cx="9982221" cy="338554"/>
          </a:xfrm>
          <a:prstGeom prst="rect">
            <a:avLst/>
          </a:prstGeom>
        </p:spPr>
        <p:txBody>
          <a:bodyPr wrap="none">
            <a:spAutoFit/>
          </a:bodyPr>
          <a:lstStyle/>
          <a:p>
            <a:r>
              <a:rPr lang="en-GB" kern="0" dirty="0"/>
              <a:t>Common subsonic/transonic </a:t>
            </a:r>
            <a:r>
              <a:rPr lang="en-GB" kern="0" dirty="0" err="1"/>
              <a:t>airfoil</a:t>
            </a:r>
            <a:r>
              <a:rPr lang="en-GB" kern="0" dirty="0"/>
              <a:t> used for aircraft application, present a variety of geometric parameters:  </a:t>
            </a:r>
            <a:endParaRPr lang="en-US" dirty="0"/>
          </a:p>
        </p:txBody>
      </p:sp>
    </p:spTree>
    <p:extLst>
      <p:ext uri="{BB962C8B-B14F-4D97-AF65-F5344CB8AC3E}">
        <p14:creationId xmlns:p14="http://schemas.microsoft.com/office/powerpoint/2010/main" val="52166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338"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2280176"/>
            <a:ext cx="6048672" cy="138236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a:spLocks/>
          </p:cNvSpPr>
          <p:nvPr/>
        </p:nvSpPr>
        <p:spPr>
          <a:xfrm>
            <a:off x="695400" y="44624"/>
            <a:ext cx="11449272"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nl-NL" dirty="0" err="1">
                <a:solidFill>
                  <a:schemeClr val="bg2"/>
                </a:solidFill>
              </a:rPr>
              <a:t>Approximation</a:t>
            </a:r>
            <a:r>
              <a:rPr lang="nl-NL" dirty="0">
                <a:solidFill>
                  <a:schemeClr val="bg2"/>
                </a:solidFill>
              </a:rPr>
              <a:t> of </a:t>
            </a:r>
            <a:r>
              <a:rPr lang="nl-NL" dirty="0" err="1">
                <a:solidFill>
                  <a:schemeClr val="bg2"/>
                </a:solidFill>
              </a:rPr>
              <a:t>an</a:t>
            </a:r>
            <a:r>
              <a:rPr lang="nl-NL" dirty="0">
                <a:solidFill>
                  <a:schemeClr val="bg2"/>
                </a:solidFill>
              </a:rPr>
              <a:t> </a:t>
            </a:r>
            <a:r>
              <a:rPr lang="nl-NL" dirty="0" err="1">
                <a:solidFill>
                  <a:schemeClr val="bg2"/>
                </a:solidFill>
              </a:rPr>
              <a:t>Airfoil</a:t>
            </a:r>
            <a:endParaRPr lang="nl-NL" dirty="0">
              <a:solidFill>
                <a:schemeClr val="bg2"/>
              </a:solidFill>
            </a:endParaRPr>
          </a:p>
          <a:p>
            <a:r>
              <a:rPr lang="nl-NL" dirty="0">
                <a:solidFill>
                  <a:schemeClr val="bg2"/>
                </a:solidFill>
              </a:rPr>
              <a:t>Cross-</a:t>
            </a:r>
            <a:r>
              <a:rPr lang="nl-NL" dirty="0" err="1">
                <a:solidFill>
                  <a:schemeClr val="bg2"/>
                </a:solidFill>
              </a:rPr>
              <a:t>sectional</a:t>
            </a:r>
            <a:r>
              <a:rPr lang="nl-NL" dirty="0">
                <a:solidFill>
                  <a:schemeClr val="bg2"/>
                </a:solidFill>
              </a:rPr>
              <a:t> Area</a:t>
            </a:r>
            <a:endParaRPr lang="nl-NL" kern="0" dirty="0">
              <a:solidFill>
                <a:schemeClr val="bg2"/>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4206070154"/>
              </p:ext>
            </p:extLst>
          </p:nvPr>
        </p:nvGraphicFramePr>
        <p:xfrm>
          <a:off x="2084741" y="4005064"/>
          <a:ext cx="1890210" cy="1512168"/>
        </p:xfrm>
        <a:graphic>
          <a:graphicData uri="http://schemas.openxmlformats.org/presentationml/2006/ole">
            <mc:AlternateContent xmlns:mc="http://schemas.openxmlformats.org/markup-compatibility/2006">
              <mc:Choice xmlns:v="urn:schemas-microsoft-com:vml" Requires="v">
                <p:oleObj name="Equation" r:id="rId4" imgW="1015920" imgH="812520" progId="Equation.DSMT4">
                  <p:embed/>
                </p:oleObj>
              </mc:Choice>
              <mc:Fallback>
                <p:oleObj name="Equation" r:id="rId4" imgW="1015920" imgH="812520" progId="Equation.DSMT4">
                  <p:embed/>
                  <p:pic>
                    <p:nvPicPr>
                      <p:cNvPr id="0" name=""/>
                      <p:cNvPicPr/>
                      <p:nvPr/>
                    </p:nvPicPr>
                    <p:blipFill>
                      <a:blip r:embed="rId5"/>
                      <a:stretch>
                        <a:fillRect/>
                      </a:stretch>
                    </p:blipFill>
                    <p:spPr>
                      <a:xfrm>
                        <a:off x="2084741" y="4005064"/>
                        <a:ext cx="1890210" cy="1512168"/>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658954556"/>
              </p:ext>
            </p:extLst>
          </p:nvPr>
        </p:nvGraphicFramePr>
        <p:xfrm>
          <a:off x="4646549" y="3933056"/>
          <a:ext cx="4620126" cy="648072"/>
        </p:xfrm>
        <a:graphic>
          <a:graphicData uri="http://schemas.openxmlformats.org/presentationml/2006/ole">
            <mc:AlternateContent xmlns:mc="http://schemas.openxmlformats.org/markup-compatibility/2006">
              <mc:Choice xmlns:v="urn:schemas-microsoft-com:vml" Requires="v">
                <p:oleObj name="Equation" r:id="rId6" imgW="2806560" imgH="393480" progId="Equation.DSMT4">
                  <p:embed/>
                </p:oleObj>
              </mc:Choice>
              <mc:Fallback>
                <p:oleObj name="Equation" r:id="rId6" imgW="2806560" imgH="393480" progId="Equation.DSMT4">
                  <p:embed/>
                  <p:pic>
                    <p:nvPicPr>
                      <p:cNvPr id="0" name=""/>
                      <p:cNvPicPr/>
                      <p:nvPr/>
                    </p:nvPicPr>
                    <p:blipFill>
                      <a:blip r:embed="rId7"/>
                      <a:stretch>
                        <a:fillRect/>
                      </a:stretch>
                    </p:blipFill>
                    <p:spPr>
                      <a:xfrm>
                        <a:off x="4646549" y="3933056"/>
                        <a:ext cx="4620126" cy="648072"/>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445482888"/>
              </p:ext>
            </p:extLst>
          </p:nvPr>
        </p:nvGraphicFramePr>
        <p:xfrm>
          <a:off x="5807968" y="4725145"/>
          <a:ext cx="2418976" cy="814309"/>
        </p:xfrm>
        <a:graphic>
          <a:graphicData uri="http://schemas.openxmlformats.org/presentationml/2006/ole">
            <mc:AlternateContent xmlns:mc="http://schemas.openxmlformats.org/markup-compatibility/2006">
              <mc:Choice xmlns:v="urn:schemas-microsoft-com:vml" Requires="v">
                <p:oleObj name="Equation" r:id="rId8" imgW="1282680" imgH="431640" progId="Equation.DSMT4">
                  <p:embed/>
                </p:oleObj>
              </mc:Choice>
              <mc:Fallback>
                <p:oleObj name="Equation" r:id="rId8" imgW="1282680" imgH="431640" progId="Equation.DSMT4">
                  <p:embed/>
                  <p:pic>
                    <p:nvPicPr>
                      <p:cNvPr id="0" name=""/>
                      <p:cNvPicPr/>
                      <p:nvPr/>
                    </p:nvPicPr>
                    <p:blipFill>
                      <a:blip r:embed="rId9"/>
                      <a:stretch>
                        <a:fillRect/>
                      </a:stretch>
                    </p:blipFill>
                    <p:spPr>
                      <a:xfrm>
                        <a:off x="5807968" y="4725145"/>
                        <a:ext cx="2418976" cy="814309"/>
                      </a:xfrm>
                      <a:prstGeom prst="rect">
                        <a:avLst/>
                      </a:prstGeom>
                      <a:solidFill>
                        <a:srgbClr val="FFFF00"/>
                      </a:solidFill>
                    </p:spPr>
                  </p:pic>
                </p:oleObj>
              </mc:Fallback>
            </mc:AlternateContent>
          </a:graphicData>
        </a:graphic>
      </p:graphicFrame>
      <p:sp>
        <p:nvSpPr>
          <p:cNvPr id="7" name="TextBox 6"/>
          <p:cNvSpPr txBox="1"/>
          <p:nvPr/>
        </p:nvSpPr>
        <p:spPr>
          <a:xfrm>
            <a:off x="7996698" y="5766252"/>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Tree>
    <p:extLst>
      <p:ext uri="{BB962C8B-B14F-4D97-AF65-F5344CB8AC3E}">
        <p14:creationId xmlns:p14="http://schemas.microsoft.com/office/powerpoint/2010/main" val="1844841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txBox="1">
            <a:spLocks/>
          </p:cNvSpPr>
          <p:nvPr/>
        </p:nvSpPr>
        <p:spPr>
          <a:xfrm>
            <a:off x="695400" y="40299"/>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families</a:t>
            </a:r>
            <a:endParaRPr lang="nl-NL" kern="0" dirty="0">
              <a:solidFill>
                <a:schemeClr val="bg2"/>
              </a:solidFill>
            </a:endParaRPr>
          </a:p>
        </p:txBody>
      </p:sp>
      <p:sp>
        <p:nvSpPr>
          <p:cNvPr id="3" name="Content Placeholder 2"/>
          <p:cNvSpPr txBox="1">
            <a:spLocks/>
          </p:cNvSpPr>
          <p:nvPr/>
        </p:nvSpPr>
        <p:spPr>
          <a:xfrm>
            <a:off x="695400" y="1070740"/>
            <a:ext cx="11305256"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r>
              <a:rPr lang="en-GB" kern="0" dirty="0"/>
              <a:t>Thousands of </a:t>
            </a:r>
            <a:r>
              <a:rPr lang="en-GB" kern="0" dirty="0" err="1"/>
              <a:t>airfoil</a:t>
            </a:r>
            <a:r>
              <a:rPr lang="en-GB" kern="0" dirty="0"/>
              <a:t> are nowadays used for a wide range of applications (fixed and rotating wings, turbine blades, marine props etc…).</a:t>
            </a:r>
          </a:p>
          <a:p>
            <a:pPr marL="92075" lvl="1" indent="0">
              <a:lnSpc>
                <a:spcPct val="100000"/>
              </a:lnSpc>
              <a:spcAft>
                <a:spcPts val="1000"/>
              </a:spcAft>
              <a:buNone/>
            </a:pPr>
            <a:r>
              <a:rPr lang="en-GB" kern="0" dirty="0"/>
              <a:t>Most of them are grouped into family: among all the families, the NACA </a:t>
            </a:r>
            <a:r>
              <a:rPr lang="en-GB" kern="0" dirty="0" err="1"/>
              <a:t>airfoils</a:t>
            </a:r>
            <a:r>
              <a:rPr lang="en-GB" kern="0" dirty="0"/>
              <a:t> are still widely used for fixed wing application, because its coding system.</a:t>
            </a:r>
          </a:p>
        </p:txBody>
      </p:sp>
      <p:sp>
        <p:nvSpPr>
          <p:cNvPr id="5" name="Content Placeholder 2"/>
          <p:cNvSpPr txBox="1">
            <a:spLocks/>
          </p:cNvSpPr>
          <p:nvPr/>
        </p:nvSpPr>
        <p:spPr>
          <a:xfrm>
            <a:off x="1559275" y="2276872"/>
            <a:ext cx="8604448"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endParaRPr lang="en-GB" kern="0" dirty="0"/>
          </a:p>
        </p:txBody>
      </p:sp>
      <p:graphicFrame>
        <p:nvGraphicFramePr>
          <p:cNvPr id="2" name="Diagram 1"/>
          <p:cNvGraphicFramePr/>
          <p:nvPr>
            <p:extLst>
              <p:ext uri="{D42A27DB-BD31-4B8C-83A1-F6EECF244321}">
                <p14:modId xmlns:p14="http://schemas.microsoft.com/office/powerpoint/2010/main" val="1942148770"/>
              </p:ext>
            </p:extLst>
          </p:nvPr>
        </p:nvGraphicFramePr>
        <p:xfrm>
          <a:off x="1775520" y="2564904"/>
          <a:ext cx="4195708" cy="3312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194" name="Picture 2" descr="D:\TUDelft\Lecturership\AE2111-II\Useful Pics\NACA4digits.png"/>
          <p:cNvPicPr>
            <a:picLocks noChangeAspect="1" noChangeArrowheads="1"/>
          </p:cNvPicPr>
          <p:nvPr/>
        </p:nvPicPr>
        <p:blipFill rotWithShape="1">
          <a:blip r:embed="rId8">
            <a:extLst>
              <a:ext uri="{28A0092B-C50C-407E-A947-70E740481C1C}">
                <a14:useLocalDpi xmlns:a14="http://schemas.microsoft.com/office/drawing/2010/main" val="0"/>
              </a:ext>
            </a:extLst>
          </a:blip>
          <a:srcRect r="17460" b="12905"/>
          <a:stretch/>
        </p:blipFill>
        <p:spPr bwMode="auto">
          <a:xfrm>
            <a:off x="5734982" y="2324454"/>
            <a:ext cx="4897522" cy="3552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23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1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descr="D:\TUDelft\Lecturership\AE2111-II\Useful Pics\NACA5digits.png"/>
          <p:cNvPicPr>
            <a:picLocks noChangeAspect="1" noChangeArrowheads="1"/>
          </p:cNvPicPr>
          <p:nvPr/>
        </p:nvPicPr>
        <p:blipFill rotWithShape="1">
          <a:blip r:embed="rId3">
            <a:extLst>
              <a:ext uri="{28A0092B-C50C-407E-A947-70E740481C1C}">
                <a14:useLocalDpi xmlns:a14="http://schemas.microsoft.com/office/drawing/2010/main" val="0"/>
              </a:ext>
            </a:extLst>
          </a:blip>
          <a:srcRect r="15450" b="15806"/>
          <a:stretch/>
        </p:blipFill>
        <p:spPr bwMode="auto">
          <a:xfrm>
            <a:off x="5734982" y="2321816"/>
            <a:ext cx="4921924" cy="352839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695400" y="40299"/>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families</a:t>
            </a:r>
            <a:endParaRPr lang="nl-NL" kern="0" dirty="0">
              <a:solidFill>
                <a:schemeClr val="bg2"/>
              </a:solidFill>
            </a:endParaRPr>
          </a:p>
        </p:txBody>
      </p:sp>
      <p:sp>
        <p:nvSpPr>
          <p:cNvPr id="3" name="Content Placeholder 2"/>
          <p:cNvSpPr txBox="1">
            <a:spLocks/>
          </p:cNvSpPr>
          <p:nvPr/>
        </p:nvSpPr>
        <p:spPr>
          <a:xfrm>
            <a:off x="695400" y="1070740"/>
            <a:ext cx="11305256"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r>
              <a:rPr lang="en-GB" kern="0" dirty="0"/>
              <a:t>Thousands of </a:t>
            </a:r>
            <a:r>
              <a:rPr lang="en-GB" kern="0" dirty="0" err="1"/>
              <a:t>airfoil</a:t>
            </a:r>
            <a:r>
              <a:rPr lang="en-GB" kern="0" dirty="0"/>
              <a:t> are nowadays used for a wide range of applications (fixed and rotating wings, turbine blades, marine props etc…).</a:t>
            </a:r>
          </a:p>
          <a:p>
            <a:pPr marL="92075" lvl="1" indent="0">
              <a:lnSpc>
                <a:spcPct val="100000"/>
              </a:lnSpc>
              <a:spcAft>
                <a:spcPts val="1000"/>
              </a:spcAft>
              <a:buNone/>
            </a:pPr>
            <a:r>
              <a:rPr lang="en-GB" kern="0" dirty="0"/>
              <a:t>Most of them are grouped into family: among all the families, the NACA </a:t>
            </a:r>
            <a:r>
              <a:rPr lang="en-GB" kern="0" dirty="0" err="1"/>
              <a:t>airfoils</a:t>
            </a:r>
            <a:r>
              <a:rPr lang="en-GB" kern="0" dirty="0"/>
              <a:t> are still widely used for fixed wing application, because its coding system.</a:t>
            </a:r>
          </a:p>
        </p:txBody>
      </p:sp>
      <p:sp>
        <p:nvSpPr>
          <p:cNvPr id="5" name="Content Placeholder 2"/>
          <p:cNvSpPr txBox="1">
            <a:spLocks/>
          </p:cNvSpPr>
          <p:nvPr/>
        </p:nvSpPr>
        <p:spPr>
          <a:xfrm>
            <a:off x="1559275" y="2276872"/>
            <a:ext cx="8604448"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endParaRPr lang="en-GB" kern="0" dirty="0"/>
          </a:p>
        </p:txBody>
      </p:sp>
      <p:graphicFrame>
        <p:nvGraphicFramePr>
          <p:cNvPr id="2" name="Diagram 1"/>
          <p:cNvGraphicFramePr/>
          <p:nvPr/>
        </p:nvGraphicFramePr>
        <p:xfrm>
          <a:off x="1775520" y="2564904"/>
          <a:ext cx="4195708" cy="33123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1433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txBox="1">
            <a:spLocks/>
          </p:cNvSpPr>
          <p:nvPr/>
        </p:nvSpPr>
        <p:spPr>
          <a:xfrm>
            <a:off x="695400" y="40299"/>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families</a:t>
            </a:r>
            <a:endParaRPr lang="nl-NL" kern="0" dirty="0">
              <a:solidFill>
                <a:schemeClr val="bg2"/>
              </a:solidFill>
            </a:endParaRPr>
          </a:p>
        </p:txBody>
      </p:sp>
      <p:sp>
        <p:nvSpPr>
          <p:cNvPr id="3" name="Content Placeholder 2"/>
          <p:cNvSpPr txBox="1">
            <a:spLocks/>
          </p:cNvSpPr>
          <p:nvPr/>
        </p:nvSpPr>
        <p:spPr>
          <a:xfrm>
            <a:off x="695400" y="1070740"/>
            <a:ext cx="11305256"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r>
              <a:rPr lang="en-GB" kern="0" dirty="0"/>
              <a:t>Thousands of </a:t>
            </a:r>
            <a:r>
              <a:rPr lang="en-GB" kern="0" dirty="0" err="1"/>
              <a:t>airfoil</a:t>
            </a:r>
            <a:r>
              <a:rPr lang="en-GB" kern="0" dirty="0"/>
              <a:t> are </a:t>
            </a:r>
            <a:r>
              <a:rPr lang="en-GB" kern="0" dirty="0" err="1"/>
              <a:t>nowdays</a:t>
            </a:r>
            <a:r>
              <a:rPr lang="en-GB" kern="0" dirty="0"/>
              <a:t> used for a wide range of applications (fixed and rotating wings, turbine blades, marine props </a:t>
            </a:r>
            <a:r>
              <a:rPr lang="en-GB" kern="0" dirty="0" err="1"/>
              <a:t>etc</a:t>
            </a:r>
            <a:r>
              <a:rPr lang="en-GB" kern="0" dirty="0"/>
              <a:t>…).</a:t>
            </a:r>
          </a:p>
          <a:p>
            <a:pPr marL="92075" lvl="1" indent="0">
              <a:lnSpc>
                <a:spcPct val="100000"/>
              </a:lnSpc>
              <a:spcAft>
                <a:spcPts val="1000"/>
              </a:spcAft>
              <a:buNone/>
            </a:pPr>
            <a:r>
              <a:rPr lang="en-GB" kern="0" dirty="0"/>
              <a:t>Most of them are grouped into family: among all the families, the NACA </a:t>
            </a:r>
            <a:r>
              <a:rPr lang="en-GB" kern="0" dirty="0" err="1"/>
              <a:t>airfoils</a:t>
            </a:r>
            <a:r>
              <a:rPr lang="en-GB" kern="0" dirty="0"/>
              <a:t> are still widely used for fixed wing application, because its coding system.</a:t>
            </a:r>
          </a:p>
        </p:txBody>
      </p:sp>
      <p:sp>
        <p:nvSpPr>
          <p:cNvPr id="5" name="Content Placeholder 2"/>
          <p:cNvSpPr txBox="1">
            <a:spLocks/>
          </p:cNvSpPr>
          <p:nvPr/>
        </p:nvSpPr>
        <p:spPr>
          <a:xfrm>
            <a:off x="1559275" y="2276872"/>
            <a:ext cx="8604448"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endParaRPr lang="en-GB" kern="0" dirty="0"/>
          </a:p>
        </p:txBody>
      </p:sp>
      <p:graphicFrame>
        <p:nvGraphicFramePr>
          <p:cNvPr id="2" name="Diagram 1"/>
          <p:cNvGraphicFramePr/>
          <p:nvPr/>
        </p:nvGraphicFramePr>
        <p:xfrm>
          <a:off x="1775520" y="2564904"/>
          <a:ext cx="4195708" cy="3312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196" name="Picture 4" descr="D:\TUDelft\Lecturership\AE2111-II\Useful Pics\NACA6digits.pn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955" b="15958"/>
          <a:stretch/>
        </p:blipFill>
        <p:spPr bwMode="auto">
          <a:xfrm>
            <a:off x="6348028" y="2234442"/>
            <a:ext cx="4884986" cy="3552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77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3">
            <a:extLst>
              <a:ext uri="{28A0092B-C50C-407E-A947-70E740481C1C}">
                <a14:useLocalDpi xmlns:a14="http://schemas.microsoft.com/office/drawing/2010/main" val="0"/>
              </a:ext>
            </a:extLst>
          </a:blip>
          <a:srcRect b="6729"/>
          <a:stretch>
            <a:fillRect/>
          </a:stretch>
        </p:blipFill>
        <p:spPr bwMode="auto">
          <a:xfrm>
            <a:off x="859881" y="1318087"/>
            <a:ext cx="3613526" cy="2610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itle 1"/>
          <p:cNvSpPr txBox="1">
            <a:spLocks/>
          </p:cNvSpPr>
          <p:nvPr/>
        </p:nvSpPr>
        <p:spPr>
          <a:xfrm>
            <a:off x="695400" y="28357"/>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pressure field</a:t>
            </a:r>
            <a:endParaRPr lang="nl-NL" kern="0" dirty="0">
              <a:solidFill>
                <a:schemeClr val="bg2"/>
              </a:solidFill>
            </a:endParaRPr>
          </a:p>
        </p:txBody>
      </p:sp>
      <p:pic>
        <p:nvPicPr>
          <p:cNvPr id="3074" name="Picture 2"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9869" y="1437439"/>
            <a:ext cx="4932627" cy="26642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p:cNvGraphicFramePr>
            <a:graphicFrameLocks noChangeAspect="1"/>
          </p:cNvGraphicFramePr>
          <p:nvPr>
            <p:extLst>
              <p:ext uri="{D42A27DB-BD31-4B8C-83A1-F6EECF244321}">
                <p14:modId xmlns:p14="http://schemas.microsoft.com/office/powerpoint/2010/main" val="3782651604"/>
              </p:ext>
            </p:extLst>
          </p:nvPr>
        </p:nvGraphicFramePr>
        <p:xfrm>
          <a:off x="2223989" y="4797152"/>
          <a:ext cx="1409924" cy="1062882"/>
        </p:xfrm>
        <a:graphic>
          <a:graphicData uri="http://schemas.openxmlformats.org/presentationml/2006/ole">
            <mc:AlternateContent xmlns:mc="http://schemas.openxmlformats.org/markup-compatibility/2006">
              <mc:Choice xmlns:v="urn:schemas-microsoft-com:vml" Requires="v">
                <p:oleObj name="Equation" r:id="rId5" imgW="774364" imgH="583947" progId="Equation.3">
                  <p:embed/>
                </p:oleObj>
              </mc:Choice>
              <mc:Fallback>
                <p:oleObj name="Equation" r:id="rId5" imgW="774364" imgH="583947"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3989" y="4797152"/>
                        <a:ext cx="1409924" cy="1062882"/>
                      </a:xfrm>
                      <a:prstGeom prst="rect">
                        <a:avLst/>
                      </a:prstGeom>
                      <a:solidFill>
                        <a:srgbClr val="FFFF00"/>
                      </a:solidFill>
                      <a:ln w="9525">
                        <a:solidFill>
                          <a:schemeClr val="tx1"/>
                        </a:solidFill>
                        <a:miter lim="800000"/>
                        <a:headEnd/>
                        <a:tailEnd/>
                      </a:ln>
                      <a:effec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643219899"/>
              </p:ext>
            </p:extLst>
          </p:nvPr>
        </p:nvGraphicFramePr>
        <p:xfrm>
          <a:off x="6031858" y="4895140"/>
          <a:ext cx="3232494" cy="824959"/>
        </p:xfrm>
        <a:graphic>
          <a:graphicData uri="http://schemas.openxmlformats.org/presentationml/2006/ole">
            <mc:AlternateContent xmlns:mc="http://schemas.openxmlformats.org/markup-compatibility/2006">
              <mc:Choice xmlns:v="urn:schemas-microsoft-com:vml" Requires="v">
                <p:oleObj name="Equation" r:id="rId7" imgW="1854200" imgH="482600" progId="Equation.3">
                  <p:embed/>
                </p:oleObj>
              </mc:Choice>
              <mc:Fallback>
                <p:oleObj name="Equation" r:id="rId7" imgW="1854200" imgH="4826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1858" y="4895140"/>
                        <a:ext cx="3232494" cy="824959"/>
                      </a:xfrm>
                      <a:prstGeom prst="rect">
                        <a:avLst/>
                      </a:prstGeom>
                      <a:solidFill>
                        <a:srgbClr val="FFFF00"/>
                      </a:solidFill>
                      <a:ln w="9525">
                        <a:solidFill>
                          <a:schemeClr val="tx1"/>
                        </a:solidFill>
                        <a:miter lim="800000"/>
                        <a:headEnd/>
                        <a:tailEnd/>
                      </a:ln>
                      <a:effectLst/>
                    </p:spPr>
                  </p:pic>
                </p:oleObj>
              </mc:Fallback>
            </mc:AlternateContent>
          </a:graphicData>
        </a:graphic>
      </p:graphicFrame>
      <p:sp>
        <p:nvSpPr>
          <p:cNvPr id="10" name="Rectangle 17"/>
          <p:cNvSpPr>
            <a:spLocks noChangeArrowheads="1"/>
          </p:cNvSpPr>
          <p:nvPr/>
        </p:nvSpPr>
        <p:spPr bwMode="auto">
          <a:xfrm>
            <a:off x="3862235" y="5159316"/>
            <a:ext cx="19413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GB" dirty="0">
                <a:solidFill>
                  <a:schemeClr val="bg2"/>
                </a:solidFill>
              </a:rPr>
              <a:t>Pressure coefficient</a:t>
            </a:r>
          </a:p>
        </p:txBody>
      </p:sp>
    </p:spTree>
    <p:extLst>
      <p:ext uri="{BB962C8B-B14F-4D97-AF65-F5344CB8AC3E}">
        <p14:creationId xmlns:p14="http://schemas.microsoft.com/office/powerpoint/2010/main" val="181874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95400" y="76298"/>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lift: the lift curve</a:t>
            </a:r>
            <a:endParaRPr lang="nl-NL" kern="0" dirty="0">
              <a:solidFill>
                <a:schemeClr val="bg2"/>
              </a:solidFill>
            </a:endParaRPr>
          </a:p>
        </p:txBody>
      </p:sp>
      <p:sp>
        <p:nvSpPr>
          <p:cNvPr id="4" name="Content Placeholder 2"/>
          <p:cNvSpPr txBox="1">
            <a:spLocks/>
          </p:cNvSpPr>
          <p:nvPr/>
        </p:nvSpPr>
        <p:spPr>
          <a:xfrm>
            <a:off x="877188" y="908720"/>
            <a:ext cx="4723329" cy="449617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err="1"/>
              <a:t>Airfoil</a:t>
            </a:r>
            <a:r>
              <a:rPr lang="en-GB" sz="1600" dirty="0"/>
              <a:t> lift increases linearly with AOA in the linear range.</a:t>
            </a:r>
          </a:p>
          <a:p>
            <a:endParaRPr lang="en-GB" sz="1600" dirty="0"/>
          </a:p>
          <a:p>
            <a:endParaRPr lang="en-GB" sz="1600" dirty="0"/>
          </a:p>
          <a:p>
            <a:r>
              <a:rPr lang="en-GB" sz="1600" dirty="0"/>
              <a:t>The linear behaviour is lost starting from values of alpha close to the so called </a:t>
            </a:r>
            <a:r>
              <a:rPr lang="en-GB" sz="1600" b="1" dirty="0"/>
              <a:t>alpha stall (</a:t>
            </a:r>
            <a:r>
              <a:rPr lang="el-GR" sz="1600" b="1" dirty="0">
                <a:cs typeface="Arial" charset="0"/>
              </a:rPr>
              <a:t>α</a:t>
            </a:r>
            <a:r>
              <a:rPr lang="nl-NL" sz="1600" b="1" baseline="-25000" dirty="0">
                <a:cs typeface="Arial" charset="0"/>
              </a:rPr>
              <a:t>s</a:t>
            </a:r>
            <a:r>
              <a:rPr lang="nl-NL" sz="1600" b="1" dirty="0">
                <a:cs typeface="Arial" charset="0"/>
              </a:rPr>
              <a:t>), </a:t>
            </a:r>
            <a:r>
              <a:rPr lang="nl-NL" sz="1600" b="1" dirty="0" err="1">
                <a:cs typeface="Arial" charset="0"/>
              </a:rPr>
              <a:t>where</a:t>
            </a:r>
            <a:r>
              <a:rPr lang="nl-NL" sz="1600" b="1" dirty="0">
                <a:cs typeface="Arial" charset="0"/>
              </a:rPr>
              <a:t> </a:t>
            </a:r>
            <a:r>
              <a:rPr lang="en-GB" sz="1600" b="1" dirty="0"/>
              <a:t>C</a:t>
            </a:r>
            <a:r>
              <a:rPr lang="en-GB" sz="1600" b="1" baseline="-25000" dirty="0"/>
              <a:t>l</a:t>
            </a:r>
            <a:r>
              <a:rPr lang="en-GB" sz="1600" b="1" dirty="0"/>
              <a:t> reaches its maximum value</a:t>
            </a:r>
            <a:r>
              <a:rPr lang="en-GB" sz="1600" dirty="0"/>
              <a:t>. </a:t>
            </a:r>
          </a:p>
          <a:p>
            <a:endParaRPr lang="en-GB" sz="1600" dirty="0"/>
          </a:p>
          <a:p>
            <a:endParaRPr lang="en-GB" sz="1600" dirty="0"/>
          </a:p>
          <a:p>
            <a:r>
              <a:rPr lang="en-GB" sz="1600" dirty="0"/>
              <a:t>For thin </a:t>
            </a:r>
            <a:r>
              <a:rPr lang="en-GB" sz="1600" dirty="0" err="1"/>
              <a:t>airfoils</a:t>
            </a:r>
            <a:r>
              <a:rPr lang="en-GB" sz="1600" dirty="0"/>
              <a:t> in </a:t>
            </a:r>
            <a:r>
              <a:rPr lang="en-GB" sz="1600" b="1" dirty="0"/>
              <a:t>low Mach numbers </a:t>
            </a:r>
            <a:r>
              <a:rPr lang="en-GB" sz="1600" dirty="0"/>
              <a:t>the lift curve slope is </a:t>
            </a:r>
            <a:r>
              <a:rPr lang="en-GB" sz="1800" i="1" dirty="0"/>
              <a:t>2</a:t>
            </a:r>
            <a:r>
              <a:rPr lang="en-GB" sz="1800" i="1" dirty="0">
                <a:latin typeface="Symbol" panose="05050102010706020507" pitchFamily="18" charset="2"/>
              </a:rPr>
              <a:t>p</a:t>
            </a:r>
            <a:r>
              <a:rPr lang="en-GB" sz="1600" dirty="0"/>
              <a:t>  (per radian)</a:t>
            </a:r>
          </a:p>
          <a:p>
            <a:endParaRPr lang="en-GB" sz="1600" dirty="0"/>
          </a:p>
          <a:p>
            <a:pPr marL="0" indent="0">
              <a:buNone/>
            </a:pPr>
            <a:endParaRPr lang="en-GB" sz="1600" dirty="0"/>
          </a:p>
          <a:p>
            <a:endParaRPr lang="en-GB" sz="1600" dirty="0"/>
          </a:p>
          <a:p>
            <a:endParaRPr lang="en-GB" sz="1600" dirty="0"/>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pic>
        <p:nvPicPr>
          <p:cNvPr id="6152"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2271" t="2596" r="2424" b="1435"/>
          <a:stretch/>
        </p:blipFill>
        <p:spPr bwMode="auto">
          <a:xfrm>
            <a:off x="6312024" y="260648"/>
            <a:ext cx="5356024" cy="570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a:extLst>
              <a:ext uri="{FF2B5EF4-FFF2-40B4-BE49-F238E27FC236}">
                <a16:creationId xmlns:a16="http://schemas.microsoft.com/office/drawing/2014/main" id="{739B82BA-ABCD-9066-B57E-47350F05F41B}"/>
              </a:ext>
            </a:extLst>
          </p:cNvPr>
          <p:cNvGrpSpPr/>
          <p:nvPr/>
        </p:nvGrpSpPr>
        <p:grpSpPr>
          <a:xfrm>
            <a:off x="6768005" y="1576960"/>
            <a:ext cx="4188536" cy="3240360"/>
            <a:chOff x="6833066" y="2210230"/>
            <a:chExt cx="3145542" cy="2514914"/>
          </a:xfrm>
        </p:grpSpPr>
        <p:cxnSp>
          <p:nvCxnSpPr>
            <p:cNvPr id="8" name="Straight Connector 7"/>
            <p:cNvCxnSpPr/>
            <p:nvPr/>
          </p:nvCxnSpPr>
          <p:spPr bwMode="auto">
            <a:xfrm flipV="1">
              <a:off x="7392144" y="2420888"/>
              <a:ext cx="1584176" cy="2232248"/>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17" name="Freeform 16"/>
            <p:cNvSpPr/>
            <p:nvPr/>
          </p:nvSpPr>
          <p:spPr bwMode="auto">
            <a:xfrm>
              <a:off x="8971280" y="2210230"/>
              <a:ext cx="1007328" cy="210658"/>
            </a:xfrm>
            <a:custGeom>
              <a:avLst/>
              <a:gdLst>
                <a:gd name="connsiteX0" fmla="*/ 0 w 1071880"/>
                <a:gd name="connsiteY0" fmla="*/ 207850 h 207850"/>
                <a:gd name="connsiteX1" fmla="*/ 50800 w 1071880"/>
                <a:gd name="connsiteY1" fmla="*/ 177370 h 207850"/>
                <a:gd name="connsiteX2" fmla="*/ 66040 w 1071880"/>
                <a:gd name="connsiteY2" fmla="*/ 162130 h 207850"/>
                <a:gd name="connsiteX3" fmla="*/ 96520 w 1071880"/>
                <a:gd name="connsiteY3" fmla="*/ 141810 h 207850"/>
                <a:gd name="connsiteX4" fmla="*/ 106680 w 1071880"/>
                <a:gd name="connsiteY4" fmla="*/ 126570 h 207850"/>
                <a:gd name="connsiteX5" fmla="*/ 121920 w 1071880"/>
                <a:gd name="connsiteY5" fmla="*/ 121490 h 207850"/>
                <a:gd name="connsiteX6" fmla="*/ 137160 w 1071880"/>
                <a:gd name="connsiteY6" fmla="*/ 111330 h 207850"/>
                <a:gd name="connsiteX7" fmla="*/ 162560 w 1071880"/>
                <a:gd name="connsiteY7" fmla="*/ 80850 h 207850"/>
                <a:gd name="connsiteX8" fmla="*/ 187960 w 1071880"/>
                <a:gd name="connsiteY8" fmla="*/ 60530 h 207850"/>
                <a:gd name="connsiteX9" fmla="*/ 223520 w 1071880"/>
                <a:gd name="connsiteY9" fmla="*/ 40210 h 207850"/>
                <a:gd name="connsiteX10" fmla="*/ 254000 w 1071880"/>
                <a:gd name="connsiteY10" fmla="*/ 30050 h 207850"/>
                <a:gd name="connsiteX11" fmla="*/ 462280 w 1071880"/>
                <a:gd name="connsiteY11" fmla="*/ 14810 h 207850"/>
                <a:gd name="connsiteX12" fmla="*/ 528320 w 1071880"/>
                <a:gd name="connsiteY12" fmla="*/ 24970 h 207850"/>
                <a:gd name="connsiteX13" fmla="*/ 558800 w 1071880"/>
                <a:gd name="connsiteY13" fmla="*/ 35130 h 207850"/>
                <a:gd name="connsiteX14" fmla="*/ 574040 w 1071880"/>
                <a:gd name="connsiteY14" fmla="*/ 45290 h 207850"/>
                <a:gd name="connsiteX15" fmla="*/ 604520 w 1071880"/>
                <a:gd name="connsiteY15" fmla="*/ 55450 h 207850"/>
                <a:gd name="connsiteX16" fmla="*/ 619760 w 1071880"/>
                <a:gd name="connsiteY16" fmla="*/ 60530 h 207850"/>
                <a:gd name="connsiteX17" fmla="*/ 635000 w 1071880"/>
                <a:gd name="connsiteY17" fmla="*/ 65610 h 207850"/>
                <a:gd name="connsiteX18" fmla="*/ 650240 w 1071880"/>
                <a:gd name="connsiteY18" fmla="*/ 70690 h 207850"/>
                <a:gd name="connsiteX19" fmla="*/ 690880 w 1071880"/>
                <a:gd name="connsiteY19" fmla="*/ 80850 h 207850"/>
                <a:gd name="connsiteX20" fmla="*/ 736600 w 1071880"/>
                <a:gd name="connsiteY20" fmla="*/ 96090 h 207850"/>
                <a:gd name="connsiteX21" fmla="*/ 751840 w 1071880"/>
                <a:gd name="connsiteY21" fmla="*/ 101170 h 207850"/>
                <a:gd name="connsiteX22" fmla="*/ 792480 w 1071880"/>
                <a:gd name="connsiteY22" fmla="*/ 111330 h 207850"/>
                <a:gd name="connsiteX23" fmla="*/ 822960 w 1071880"/>
                <a:gd name="connsiteY23" fmla="*/ 121490 h 207850"/>
                <a:gd name="connsiteX24" fmla="*/ 838200 w 1071880"/>
                <a:gd name="connsiteY24" fmla="*/ 126570 h 207850"/>
                <a:gd name="connsiteX25" fmla="*/ 863600 w 1071880"/>
                <a:gd name="connsiteY25" fmla="*/ 131650 h 207850"/>
                <a:gd name="connsiteX26" fmla="*/ 919480 w 1071880"/>
                <a:gd name="connsiteY26" fmla="*/ 146890 h 207850"/>
                <a:gd name="connsiteX27" fmla="*/ 934720 w 1071880"/>
                <a:gd name="connsiteY27" fmla="*/ 151970 h 207850"/>
                <a:gd name="connsiteX28" fmla="*/ 949960 w 1071880"/>
                <a:gd name="connsiteY28" fmla="*/ 162130 h 207850"/>
                <a:gd name="connsiteX29" fmla="*/ 975360 w 1071880"/>
                <a:gd name="connsiteY29" fmla="*/ 167210 h 207850"/>
                <a:gd name="connsiteX30" fmla="*/ 1010920 w 1071880"/>
                <a:gd name="connsiteY30" fmla="*/ 182450 h 207850"/>
                <a:gd name="connsiteX31" fmla="*/ 1031240 w 1071880"/>
                <a:gd name="connsiteY31" fmla="*/ 192610 h 207850"/>
                <a:gd name="connsiteX32" fmla="*/ 1071880 w 1071880"/>
                <a:gd name="connsiteY32" fmla="*/ 207850 h 20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71880" h="207850">
                  <a:moveTo>
                    <a:pt x="0" y="207850"/>
                  </a:moveTo>
                  <a:cubicBezTo>
                    <a:pt x="26217" y="194742"/>
                    <a:pt x="30215" y="195014"/>
                    <a:pt x="50800" y="177370"/>
                  </a:cubicBezTo>
                  <a:cubicBezTo>
                    <a:pt x="56255" y="172695"/>
                    <a:pt x="60369" y="166541"/>
                    <a:pt x="66040" y="162130"/>
                  </a:cubicBezTo>
                  <a:cubicBezTo>
                    <a:pt x="75679" y="154633"/>
                    <a:pt x="96520" y="141810"/>
                    <a:pt x="96520" y="141810"/>
                  </a:cubicBezTo>
                  <a:cubicBezTo>
                    <a:pt x="99907" y="136730"/>
                    <a:pt x="101912" y="130384"/>
                    <a:pt x="106680" y="126570"/>
                  </a:cubicBezTo>
                  <a:cubicBezTo>
                    <a:pt x="110861" y="123225"/>
                    <a:pt x="117131" y="123885"/>
                    <a:pt x="121920" y="121490"/>
                  </a:cubicBezTo>
                  <a:cubicBezTo>
                    <a:pt x="127381" y="118760"/>
                    <a:pt x="132080" y="114717"/>
                    <a:pt x="137160" y="111330"/>
                  </a:cubicBezTo>
                  <a:cubicBezTo>
                    <a:pt x="146862" y="82223"/>
                    <a:pt x="134881" y="108529"/>
                    <a:pt x="162560" y="80850"/>
                  </a:cubicBezTo>
                  <a:cubicBezTo>
                    <a:pt x="185538" y="57872"/>
                    <a:pt x="158291" y="70420"/>
                    <a:pt x="187960" y="60530"/>
                  </a:cubicBezTo>
                  <a:cubicBezTo>
                    <a:pt x="201707" y="51366"/>
                    <a:pt x="207407" y="46655"/>
                    <a:pt x="223520" y="40210"/>
                  </a:cubicBezTo>
                  <a:cubicBezTo>
                    <a:pt x="233464" y="36233"/>
                    <a:pt x="254000" y="30050"/>
                    <a:pt x="254000" y="30050"/>
                  </a:cubicBezTo>
                  <a:cubicBezTo>
                    <a:pt x="333813" y="-23159"/>
                    <a:pt x="272274" y="9381"/>
                    <a:pt x="462280" y="14810"/>
                  </a:cubicBezTo>
                  <a:cubicBezTo>
                    <a:pt x="469800" y="15884"/>
                    <a:pt x="518922" y="22621"/>
                    <a:pt x="528320" y="24970"/>
                  </a:cubicBezTo>
                  <a:cubicBezTo>
                    <a:pt x="538710" y="27567"/>
                    <a:pt x="558800" y="35130"/>
                    <a:pt x="558800" y="35130"/>
                  </a:cubicBezTo>
                  <a:cubicBezTo>
                    <a:pt x="563880" y="38517"/>
                    <a:pt x="568461" y="42810"/>
                    <a:pt x="574040" y="45290"/>
                  </a:cubicBezTo>
                  <a:cubicBezTo>
                    <a:pt x="583827" y="49640"/>
                    <a:pt x="594360" y="52063"/>
                    <a:pt x="604520" y="55450"/>
                  </a:cubicBezTo>
                  <a:lnTo>
                    <a:pt x="619760" y="60530"/>
                  </a:lnTo>
                  <a:lnTo>
                    <a:pt x="635000" y="65610"/>
                  </a:lnTo>
                  <a:cubicBezTo>
                    <a:pt x="640080" y="67303"/>
                    <a:pt x="645045" y="69391"/>
                    <a:pt x="650240" y="70690"/>
                  </a:cubicBezTo>
                  <a:cubicBezTo>
                    <a:pt x="663787" y="74077"/>
                    <a:pt x="677633" y="76434"/>
                    <a:pt x="690880" y="80850"/>
                  </a:cubicBezTo>
                  <a:lnTo>
                    <a:pt x="736600" y="96090"/>
                  </a:lnTo>
                  <a:cubicBezTo>
                    <a:pt x="741680" y="97783"/>
                    <a:pt x="746645" y="99871"/>
                    <a:pt x="751840" y="101170"/>
                  </a:cubicBezTo>
                  <a:lnTo>
                    <a:pt x="792480" y="111330"/>
                  </a:lnTo>
                  <a:cubicBezTo>
                    <a:pt x="802870" y="113927"/>
                    <a:pt x="812800" y="118103"/>
                    <a:pt x="822960" y="121490"/>
                  </a:cubicBezTo>
                  <a:lnTo>
                    <a:pt x="838200" y="126570"/>
                  </a:lnTo>
                  <a:cubicBezTo>
                    <a:pt x="846391" y="129300"/>
                    <a:pt x="855330" y="129169"/>
                    <a:pt x="863600" y="131650"/>
                  </a:cubicBezTo>
                  <a:cubicBezTo>
                    <a:pt x="924786" y="150006"/>
                    <a:pt x="850386" y="135374"/>
                    <a:pt x="919480" y="146890"/>
                  </a:cubicBezTo>
                  <a:cubicBezTo>
                    <a:pt x="924560" y="148583"/>
                    <a:pt x="929931" y="149575"/>
                    <a:pt x="934720" y="151970"/>
                  </a:cubicBezTo>
                  <a:cubicBezTo>
                    <a:pt x="940181" y="154700"/>
                    <a:pt x="944243" y="159986"/>
                    <a:pt x="949960" y="162130"/>
                  </a:cubicBezTo>
                  <a:cubicBezTo>
                    <a:pt x="958045" y="165162"/>
                    <a:pt x="966893" y="165517"/>
                    <a:pt x="975360" y="167210"/>
                  </a:cubicBezTo>
                  <a:cubicBezTo>
                    <a:pt x="1006244" y="187800"/>
                    <a:pt x="973430" y="168391"/>
                    <a:pt x="1010920" y="182450"/>
                  </a:cubicBezTo>
                  <a:cubicBezTo>
                    <a:pt x="1018011" y="185109"/>
                    <a:pt x="1024209" y="189798"/>
                    <a:pt x="1031240" y="192610"/>
                  </a:cubicBezTo>
                  <a:cubicBezTo>
                    <a:pt x="1088027" y="215325"/>
                    <a:pt x="1044110" y="193965"/>
                    <a:pt x="1071880" y="207850"/>
                  </a:cubicBezTo>
                </a:path>
              </a:pathLst>
            </a:custGeom>
            <a:noFill/>
            <a:ln w="508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nl-NL" sz="2200" dirty="0"/>
            </a:p>
          </p:txBody>
        </p:sp>
        <p:sp>
          <p:nvSpPr>
            <p:cNvPr id="25" name="Freeform 24"/>
            <p:cNvSpPr/>
            <p:nvPr/>
          </p:nvSpPr>
          <p:spPr bwMode="auto">
            <a:xfrm>
              <a:off x="6833066" y="4547344"/>
              <a:ext cx="559079" cy="177800"/>
            </a:xfrm>
            <a:custGeom>
              <a:avLst/>
              <a:gdLst>
                <a:gd name="connsiteX0" fmla="*/ 0 w 559079"/>
                <a:gd name="connsiteY0" fmla="*/ 0 h 177800"/>
                <a:gd name="connsiteX1" fmla="*/ 17780 w 559079"/>
                <a:gd name="connsiteY1" fmla="*/ 20320 h 177800"/>
                <a:gd name="connsiteX2" fmla="*/ 40640 w 559079"/>
                <a:gd name="connsiteY2" fmla="*/ 43180 h 177800"/>
                <a:gd name="connsiteX3" fmla="*/ 48260 w 559079"/>
                <a:gd name="connsiteY3" fmla="*/ 48260 h 177800"/>
                <a:gd name="connsiteX4" fmla="*/ 63500 w 559079"/>
                <a:gd name="connsiteY4" fmla="*/ 63500 h 177800"/>
                <a:gd name="connsiteX5" fmla="*/ 71120 w 559079"/>
                <a:gd name="connsiteY5" fmla="*/ 71120 h 177800"/>
                <a:gd name="connsiteX6" fmla="*/ 86360 w 559079"/>
                <a:gd name="connsiteY6" fmla="*/ 78740 h 177800"/>
                <a:gd name="connsiteX7" fmla="*/ 93980 w 559079"/>
                <a:gd name="connsiteY7" fmla="*/ 86360 h 177800"/>
                <a:gd name="connsiteX8" fmla="*/ 101600 w 559079"/>
                <a:gd name="connsiteY8" fmla="*/ 91440 h 177800"/>
                <a:gd name="connsiteX9" fmla="*/ 111760 w 559079"/>
                <a:gd name="connsiteY9" fmla="*/ 99060 h 177800"/>
                <a:gd name="connsiteX10" fmla="*/ 127000 w 559079"/>
                <a:gd name="connsiteY10" fmla="*/ 109220 h 177800"/>
                <a:gd name="connsiteX11" fmla="*/ 147320 w 559079"/>
                <a:gd name="connsiteY11" fmla="*/ 119380 h 177800"/>
                <a:gd name="connsiteX12" fmla="*/ 154940 w 559079"/>
                <a:gd name="connsiteY12" fmla="*/ 127000 h 177800"/>
                <a:gd name="connsiteX13" fmla="*/ 162560 w 559079"/>
                <a:gd name="connsiteY13" fmla="*/ 132080 h 177800"/>
                <a:gd name="connsiteX14" fmla="*/ 177800 w 559079"/>
                <a:gd name="connsiteY14" fmla="*/ 137160 h 177800"/>
                <a:gd name="connsiteX15" fmla="*/ 187960 w 559079"/>
                <a:gd name="connsiteY15" fmla="*/ 142240 h 177800"/>
                <a:gd name="connsiteX16" fmla="*/ 203200 w 559079"/>
                <a:gd name="connsiteY16" fmla="*/ 147320 h 177800"/>
                <a:gd name="connsiteX17" fmla="*/ 210820 w 559079"/>
                <a:gd name="connsiteY17" fmla="*/ 149860 h 177800"/>
                <a:gd name="connsiteX18" fmla="*/ 220980 w 559079"/>
                <a:gd name="connsiteY18" fmla="*/ 152400 h 177800"/>
                <a:gd name="connsiteX19" fmla="*/ 236220 w 559079"/>
                <a:gd name="connsiteY19" fmla="*/ 157480 h 177800"/>
                <a:gd name="connsiteX20" fmla="*/ 261620 w 559079"/>
                <a:gd name="connsiteY20" fmla="*/ 165100 h 177800"/>
                <a:gd name="connsiteX21" fmla="*/ 279400 w 559079"/>
                <a:gd name="connsiteY21" fmla="*/ 167640 h 177800"/>
                <a:gd name="connsiteX22" fmla="*/ 292100 w 559079"/>
                <a:gd name="connsiteY22" fmla="*/ 170180 h 177800"/>
                <a:gd name="connsiteX23" fmla="*/ 299720 w 559079"/>
                <a:gd name="connsiteY23" fmla="*/ 175260 h 177800"/>
                <a:gd name="connsiteX24" fmla="*/ 314960 w 559079"/>
                <a:gd name="connsiteY24" fmla="*/ 177800 h 177800"/>
                <a:gd name="connsiteX25" fmla="*/ 434340 w 559079"/>
                <a:gd name="connsiteY25" fmla="*/ 175260 h 177800"/>
                <a:gd name="connsiteX26" fmla="*/ 441960 w 559079"/>
                <a:gd name="connsiteY26" fmla="*/ 172720 h 177800"/>
                <a:gd name="connsiteX27" fmla="*/ 452120 w 559079"/>
                <a:gd name="connsiteY27" fmla="*/ 170180 h 177800"/>
                <a:gd name="connsiteX28" fmla="*/ 459740 w 559079"/>
                <a:gd name="connsiteY28" fmla="*/ 165100 h 177800"/>
                <a:gd name="connsiteX29" fmla="*/ 469900 w 559079"/>
                <a:gd name="connsiteY29" fmla="*/ 162560 h 177800"/>
                <a:gd name="connsiteX30" fmla="*/ 477520 w 559079"/>
                <a:gd name="connsiteY30" fmla="*/ 160020 h 177800"/>
                <a:gd name="connsiteX31" fmla="*/ 500380 w 559079"/>
                <a:gd name="connsiteY31" fmla="*/ 147320 h 177800"/>
                <a:gd name="connsiteX32" fmla="*/ 523240 w 559079"/>
                <a:gd name="connsiteY32" fmla="*/ 132080 h 177800"/>
                <a:gd name="connsiteX33" fmla="*/ 530860 w 559079"/>
                <a:gd name="connsiteY33" fmla="*/ 129540 h 177800"/>
                <a:gd name="connsiteX34" fmla="*/ 548640 w 559079"/>
                <a:gd name="connsiteY34" fmla="*/ 109220 h 177800"/>
                <a:gd name="connsiteX35" fmla="*/ 553720 w 559079"/>
                <a:gd name="connsiteY35" fmla="*/ 99060 h 177800"/>
                <a:gd name="connsiteX36" fmla="*/ 558800 w 559079"/>
                <a:gd name="connsiteY36" fmla="*/ 91440 h 177800"/>
                <a:gd name="connsiteX37" fmla="*/ 558800 w 559079"/>
                <a:gd name="connsiteY37" fmla="*/ 86360 h 17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9079" h="177800">
                  <a:moveTo>
                    <a:pt x="0" y="0"/>
                  </a:moveTo>
                  <a:cubicBezTo>
                    <a:pt x="21090" y="31635"/>
                    <a:pt x="462" y="4926"/>
                    <a:pt x="17780" y="20320"/>
                  </a:cubicBezTo>
                  <a:lnTo>
                    <a:pt x="40640" y="43180"/>
                  </a:lnTo>
                  <a:cubicBezTo>
                    <a:pt x="42799" y="45339"/>
                    <a:pt x="45720" y="46567"/>
                    <a:pt x="48260" y="48260"/>
                  </a:cubicBezTo>
                  <a:cubicBezTo>
                    <a:pt x="62862" y="67730"/>
                    <a:pt x="48644" y="51120"/>
                    <a:pt x="63500" y="63500"/>
                  </a:cubicBezTo>
                  <a:cubicBezTo>
                    <a:pt x="66260" y="65800"/>
                    <a:pt x="68360" y="68820"/>
                    <a:pt x="71120" y="71120"/>
                  </a:cubicBezTo>
                  <a:cubicBezTo>
                    <a:pt x="77685" y="76591"/>
                    <a:pt x="78723" y="76194"/>
                    <a:pt x="86360" y="78740"/>
                  </a:cubicBezTo>
                  <a:cubicBezTo>
                    <a:pt x="88900" y="81280"/>
                    <a:pt x="91220" y="84060"/>
                    <a:pt x="93980" y="86360"/>
                  </a:cubicBezTo>
                  <a:cubicBezTo>
                    <a:pt x="96325" y="88314"/>
                    <a:pt x="99116" y="89666"/>
                    <a:pt x="101600" y="91440"/>
                  </a:cubicBezTo>
                  <a:cubicBezTo>
                    <a:pt x="105045" y="93901"/>
                    <a:pt x="108546" y="96305"/>
                    <a:pt x="111760" y="99060"/>
                  </a:cubicBezTo>
                  <a:cubicBezTo>
                    <a:pt x="123868" y="109438"/>
                    <a:pt x="114038" y="104899"/>
                    <a:pt x="127000" y="109220"/>
                  </a:cubicBezTo>
                  <a:cubicBezTo>
                    <a:pt x="145771" y="127991"/>
                    <a:pt x="121364" y="106402"/>
                    <a:pt x="147320" y="119380"/>
                  </a:cubicBezTo>
                  <a:cubicBezTo>
                    <a:pt x="150533" y="120986"/>
                    <a:pt x="152180" y="124700"/>
                    <a:pt x="154940" y="127000"/>
                  </a:cubicBezTo>
                  <a:cubicBezTo>
                    <a:pt x="157285" y="128954"/>
                    <a:pt x="159770" y="130840"/>
                    <a:pt x="162560" y="132080"/>
                  </a:cubicBezTo>
                  <a:cubicBezTo>
                    <a:pt x="167453" y="134255"/>
                    <a:pt x="173011" y="134765"/>
                    <a:pt x="177800" y="137160"/>
                  </a:cubicBezTo>
                  <a:cubicBezTo>
                    <a:pt x="181187" y="138853"/>
                    <a:pt x="184444" y="140834"/>
                    <a:pt x="187960" y="142240"/>
                  </a:cubicBezTo>
                  <a:cubicBezTo>
                    <a:pt x="192932" y="144229"/>
                    <a:pt x="198120" y="145627"/>
                    <a:pt x="203200" y="147320"/>
                  </a:cubicBezTo>
                  <a:cubicBezTo>
                    <a:pt x="205740" y="148167"/>
                    <a:pt x="208223" y="149211"/>
                    <a:pt x="210820" y="149860"/>
                  </a:cubicBezTo>
                  <a:cubicBezTo>
                    <a:pt x="214207" y="150707"/>
                    <a:pt x="217636" y="151397"/>
                    <a:pt x="220980" y="152400"/>
                  </a:cubicBezTo>
                  <a:cubicBezTo>
                    <a:pt x="226109" y="153939"/>
                    <a:pt x="231025" y="156181"/>
                    <a:pt x="236220" y="157480"/>
                  </a:cubicBezTo>
                  <a:cubicBezTo>
                    <a:pt x="251575" y="161319"/>
                    <a:pt x="243068" y="158916"/>
                    <a:pt x="261620" y="165100"/>
                  </a:cubicBezTo>
                  <a:cubicBezTo>
                    <a:pt x="267300" y="166993"/>
                    <a:pt x="273495" y="166656"/>
                    <a:pt x="279400" y="167640"/>
                  </a:cubicBezTo>
                  <a:cubicBezTo>
                    <a:pt x="283658" y="168350"/>
                    <a:pt x="287867" y="169333"/>
                    <a:pt x="292100" y="170180"/>
                  </a:cubicBezTo>
                  <a:cubicBezTo>
                    <a:pt x="294640" y="171873"/>
                    <a:pt x="296824" y="174295"/>
                    <a:pt x="299720" y="175260"/>
                  </a:cubicBezTo>
                  <a:cubicBezTo>
                    <a:pt x="304606" y="176889"/>
                    <a:pt x="309810" y="177800"/>
                    <a:pt x="314960" y="177800"/>
                  </a:cubicBezTo>
                  <a:cubicBezTo>
                    <a:pt x="354762" y="177800"/>
                    <a:pt x="394547" y="176107"/>
                    <a:pt x="434340" y="175260"/>
                  </a:cubicBezTo>
                  <a:cubicBezTo>
                    <a:pt x="436880" y="174413"/>
                    <a:pt x="439386" y="173456"/>
                    <a:pt x="441960" y="172720"/>
                  </a:cubicBezTo>
                  <a:cubicBezTo>
                    <a:pt x="445317" y="171761"/>
                    <a:pt x="448911" y="171555"/>
                    <a:pt x="452120" y="170180"/>
                  </a:cubicBezTo>
                  <a:cubicBezTo>
                    <a:pt x="454926" y="168977"/>
                    <a:pt x="456934" y="166303"/>
                    <a:pt x="459740" y="165100"/>
                  </a:cubicBezTo>
                  <a:cubicBezTo>
                    <a:pt x="462949" y="163725"/>
                    <a:pt x="466543" y="163519"/>
                    <a:pt x="469900" y="162560"/>
                  </a:cubicBezTo>
                  <a:cubicBezTo>
                    <a:pt x="472474" y="161824"/>
                    <a:pt x="474980" y="160867"/>
                    <a:pt x="477520" y="160020"/>
                  </a:cubicBezTo>
                  <a:cubicBezTo>
                    <a:pt x="494988" y="148375"/>
                    <a:pt x="486968" y="151791"/>
                    <a:pt x="500380" y="147320"/>
                  </a:cubicBezTo>
                  <a:lnTo>
                    <a:pt x="523240" y="132080"/>
                  </a:lnTo>
                  <a:cubicBezTo>
                    <a:pt x="525468" y="130595"/>
                    <a:pt x="528320" y="130387"/>
                    <a:pt x="530860" y="129540"/>
                  </a:cubicBezTo>
                  <a:cubicBezTo>
                    <a:pt x="542713" y="111760"/>
                    <a:pt x="535940" y="117687"/>
                    <a:pt x="548640" y="109220"/>
                  </a:cubicBezTo>
                  <a:cubicBezTo>
                    <a:pt x="550333" y="105833"/>
                    <a:pt x="551841" y="102348"/>
                    <a:pt x="553720" y="99060"/>
                  </a:cubicBezTo>
                  <a:cubicBezTo>
                    <a:pt x="555235" y="96410"/>
                    <a:pt x="557666" y="94274"/>
                    <a:pt x="558800" y="91440"/>
                  </a:cubicBezTo>
                  <a:cubicBezTo>
                    <a:pt x="559429" y="89868"/>
                    <a:pt x="558800" y="88053"/>
                    <a:pt x="558800" y="86360"/>
                  </a:cubicBezTo>
                </a:path>
              </a:pathLst>
            </a:custGeom>
            <a:noFill/>
            <a:ln w="508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nl-NL" sz="2200" dirty="0"/>
            </a:p>
          </p:txBody>
        </p:sp>
      </p:grpSp>
      <p:sp>
        <p:nvSpPr>
          <p:cNvPr id="7" name="TextBox 6"/>
          <p:cNvSpPr txBox="1"/>
          <p:nvPr/>
        </p:nvSpPr>
        <p:spPr>
          <a:xfrm>
            <a:off x="9527704" y="5805264"/>
            <a:ext cx="2664296" cy="307777"/>
          </a:xfrm>
          <a:prstGeom prst="rect">
            <a:avLst/>
          </a:prstGeom>
          <a:noFill/>
        </p:spPr>
        <p:txBody>
          <a:bodyPr wrap="square" rtlCol="0">
            <a:spAutoFit/>
          </a:bodyPr>
          <a:lstStyle/>
          <a:p>
            <a:r>
              <a:rPr lang="en-GB" sz="1400" dirty="0"/>
              <a:t>Fig. source: </a:t>
            </a:r>
            <a:r>
              <a:rPr lang="en-GB" sz="1400" dirty="0" err="1"/>
              <a:t>Gudmundsson</a:t>
            </a:r>
            <a:endParaRPr lang="nl-NL" sz="1400" dirty="0"/>
          </a:p>
        </p:txBody>
      </p:sp>
    </p:spTree>
    <p:extLst>
      <p:ext uri="{BB962C8B-B14F-4D97-AF65-F5344CB8AC3E}">
        <p14:creationId xmlns:p14="http://schemas.microsoft.com/office/powerpoint/2010/main" val="302869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95400" y="84958"/>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drag: the drag polar</a:t>
            </a:r>
            <a:endParaRPr lang="nl-NL" kern="0" dirty="0">
              <a:solidFill>
                <a:schemeClr val="bg2"/>
              </a:solidFill>
            </a:endParaRPr>
          </a:p>
        </p:txBody>
      </p:sp>
      <p:sp>
        <p:nvSpPr>
          <p:cNvPr id="3" name="Content Placeholder 2"/>
          <p:cNvSpPr txBox="1">
            <a:spLocks/>
          </p:cNvSpPr>
          <p:nvPr/>
        </p:nvSpPr>
        <p:spPr>
          <a:xfrm>
            <a:off x="839416" y="903575"/>
            <a:ext cx="4032447" cy="4690709"/>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At low Cl values:</a:t>
            </a:r>
          </a:p>
          <a:p>
            <a:pPr lvl="1"/>
            <a:r>
              <a:rPr lang="en-GB" sz="1400" dirty="0"/>
              <a:t>The friction drag is the dominant component of the </a:t>
            </a:r>
            <a:r>
              <a:rPr lang="en-GB" sz="1400" dirty="0" err="1"/>
              <a:t>airfoil</a:t>
            </a:r>
            <a:r>
              <a:rPr lang="en-GB" sz="1400" dirty="0"/>
              <a:t> drag.</a:t>
            </a:r>
          </a:p>
          <a:p>
            <a:pPr lvl="1"/>
            <a:r>
              <a:rPr lang="en-GB" sz="1400" b="1" u="sng" dirty="0"/>
              <a:t>The </a:t>
            </a:r>
            <a:r>
              <a:rPr lang="en-GB" sz="1400" b="1" u="sng" dirty="0" err="1"/>
              <a:t>airfoil</a:t>
            </a:r>
            <a:r>
              <a:rPr lang="en-GB" sz="1400" b="1" u="sng" dirty="0"/>
              <a:t> drag varies </a:t>
            </a:r>
            <a:r>
              <a:rPr lang="en-GB" sz="1400" b="1" u="sng" dirty="0" err="1"/>
              <a:t>quadratically</a:t>
            </a:r>
            <a:r>
              <a:rPr lang="en-GB" sz="1400" b="1" u="sng" dirty="0"/>
              <a:t> with lift</a:t>
            </a:r>
          </a:p>
          <a:p>
            <a:endParaRPr lang="en-GB" sz="1600" dirty="0"/>
          </a:p>
          <a:p>
            <a:r>
              <a:rPr lang="en-GB" sz="1600" dirty="0"/>
              <a:t>At high Cl values:</a:t>
            </a:r>
          </a:p>
          <a:p>
            <a:pPr lvl="1"/>
            <a:r>
              <a:rPr lang="en-GB" sz="1400" dirty="0"/>
              <a:t>The pressure drag due to flow separation is the main component of the drag.</a:t>
            </a:r>
          </a:p>
          <a:p>
            <a:pPr lvl="1"/>
            <a:r>
              <a:rPr lang="en-GB" sz="1400" dirty="0"/>
              <a:t>A quadratic drag polar is not valid anymore</a:t>
            </a:r>
          </a:p>
          <a:p>
            <a:pPr marL="0" indent="0">
              <a:buNone/>
            </a:pPr>
            <a:endParaRPr lang="en-GB" sz="1600" dirty="0"/>
          </a:p>
          <a:p>
            <a:r>
              <a:rPr lang="en-GB" sz="1600" dirty="0"/>
              <a:t>Some </a:t>
            </a:r>
            <a:r>
              <a:rPr lang="en-GB" sz="1600" dirty="0" err="1"/>
              <a:t>airfoils</a:t>
            </a:r>
            <a:r>
              <a:rPr lang="en-GB" sz="1600" dirty="0"/>
              <a:t> have drag bucket</a:t>
            </a:r>
          </a:p>
          <a:p>
            <a:pPr lvl="1"/>
            <a:r>
              <a:rPr lang="en-GB" sz="1200" dirty="0"/>
              <a:t>Drag does not change with lift</a:t>
            </a:r>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pic>
        <p:nvPicPr>
          <p:cNvPr id="7171" name="Picture 3"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008" y="803225"/>
            <a:ext cx="4572407" cy="4824636"/>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2"/>
          <p:cNvSpPr txBox="1">
            <a:spLocks noChangeArrowheads="1"/>
          </p:cNvSpPr>
          <p:nvPr/>
        </p:nvSpPr>
        <p:spPr bwMode="auto">
          <a:xfrm>
            <a:off x="5087888" y="5415027"/>
            <a:ext cx="978191" cy="584775"/>
          </a:xfrm>
          <a:prstGeom prst="rect">
            <a:avLst/>
          </a:prstGeom>
          <a:solidFill>
            <a:schemeClr val="accent1">
              <a:lumMod val="20000"/>
              <a:lumOff val="80000"/>
            </a:schemeClr>
          </a:solidFill>
          <a:ln w="9525" algn="ctr">
            <a:solidFill>
              <a:schemeClr val="tx1"/>
            </a:solidFill>
            <a:miter lim="800000"/>
            <a:headEnd/>
            <a:tailEnd/>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err="1"/>
              <a:t>Airfoil</a:t>
            </a:r>
            <a:r>
              <a:rPr lang="en-GB" dirty="0"/>
              <a:t> design c</a:t>
            </a:r>
            <a:r>
              <a:rPr lang="en-GB" baseline="-25000" dirty="0"/>
              <a:t>l</a:t>
            </a:r>
          </a:p>
        </p:txBody>
      </p:sp>
      <p:sp>
        <p:nvSpPr>
          <p:cNvPr id="8" name="Line 26"/>
          <p:cNvSpPr>
            <a:spLocks noChangeShapeType="1"/>
          </p:cNvSpPr>
          <p:nvPr/>
        </p:nvSpPr>
        <p:spPr bwMode="auto">
          <a:xfrm flipV="1">
            <a:off x="6069131" y="4149000"/>
            <a:ext cx="2547149" cy="1573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sp>
        <p:nvSpPr>
          <p:cNvPr id="9" name="TextBox 8"/>
          <p:cNvSpPr txBox="1"/>
          <p:nvPr/>
        </p:nvSpPr>
        <p:spPr>
          <a:xfrm>
            <a:off x="7680176" y="5661248"/>
            <a:ext cx="2664296" cy="338554"/>
          </a:xfrm>
          <a:prstGeom prst="rect">
            <a:avLst/>
          </a:prstGeom>
          <a:noFill/>
        </p:spPr>
        <p:txBody>
          <a:bodyPr wrap="square" rtlCol="0">
            <a:spAutoFit/>
          </a:bodyPr>
          <a:lstStyle/>
          <a:p>
            <a:r>
              <a:rPr lang="en-GB" dirty="0"/>
              <a:t>Fig. source: </a:t>
            </a:r>
            <a:r>
              <a:rPr lang="en-GB" dirty="0" err="1"/>
              <a:t>Gudmundsson</a:t>
            </a:r>
            <a:endParaRPr lang="nl-NL" dirty="0"/>
          </a:p>
        </p:txBody>
      </p:sp>
      <p:sp>
        <p:nvSpPr>
          <p:cNvPr id="10" name="Freeform 12">
            <a:extLst>
              <a:ext uri="{FF2B5EF4-FFF2-40B4-BE49-F238E27FC236}">
                <a16:creationId xmlns:a16="http://schemas.microsoft.com/office/drawing/2014/main" id="{81E76957-7567-6746-892C-AA17BDC52322}"/>
              </a:ext>
            </a:extLst>
          </p:cNvPr>
          <p:cNvSpPr>
            <a:spLocks/>
          </p:cNvSpPr>
          <p:nvPr/>
        </p:nvSpPr>
        <p:spPr bwMode="auto">
          <a:xfrm>
            <a:off x="6942152" y="3431885"/>
            <a:ext cx="2970273" cy="720000"/>
          </a:xfrm>
          <a:custGeom>
            <a:avLst/>
            <a:gdLst>
              <a:gd name="T0" fmla="*/ 0 w 3056"/>
              <a:gd name="T1" fmla="*/ 2147483647 h 1460"/>
              <a:gd name="T2" fmla="*/ 2147483647 w 3056"/>
              <a:gd name="T3" fmla="*/ 2147483647 h 1460"/>
              <a:gd name="T4" fmla="*/ 2147483647 w 3056"/>
              <a:gd name="T5" fmla="*/ 2147483647 h 1460"/>
              <a:gd name="T6" fmla="*/ 2147483647 w 3056"/>
              <a:gd name="T7" fmla="*/ 2147483647 h 1460"/>
              <a:gd name="T8" fmla="*/ 2147483647 w 3056"/>
              <a:gd name="T9" fmla="*/ 2147483647 h 1460"/>
              <a:gd name="T10" fmla="*/ 2147483647 w 3056"/>
              <a:gd name="T11" fmla="*/ 2147483647 h 1460"/>
              <a:gd name="T12" fmla="*/ 2147483647 w 3056"/>
              <a:gd name="T13" fmla="*/ 2147483647 h 1460"/>
              <a:gd name="T14" fmla="*/ 2147483647 w 3056"/>
              <a:gd name="T15" fmla="*/ 2147483647 h 1460"/>
              <a:gd name="T16" fmla="*/ 2147483647 w 3056"/>
              <a:gd name="T17" fmla="*/ 0 h 14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56"/>
              <a:gd name="T28" fmla="*/ 0 h 1460"/>
              <a:gd name="T29" fmla="*/ 3056 w 3056"/>
              <a:gd name="T30" fmla="*/ 1460 h 14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56" h="1460">
                <a:moveTo>
                  <a:pt x="0" y="40"/>
                </a:moveTo>
                <a:cubicBezTo>
                  <a:pt x="128" y="280"/>
                  <a:pt x="256" y="520"/>
                  <a:pt x="432" y="712"/>
                </a:cubicBezTo>
                <a:cubicBezTo>
                  <a:pt x="608" y="904"/>
                  <a:pt x="929" y="1076"/>
                  <a:pt x="1056" y="1192"/>
                </a:cubicBezTo>
                <a:cubicBezTo>
                  <a:pt x="1183" y="1308"/>
                  <a:pt x="1109" y="1365"/>
                  <a:pt x="1192" y="1408"/>
                </a:cubicBezTo>
                <a:cubicBezTo>
                  <a:pt x="1275" y="1451"/>
                  <a:pt x="1421" y="1447"/>
                  <a:pt x="1552" y="1448"/>
                </a:cubicBezTo>
                <a:cubicBezTo>
                  <a:pt x="1683" y="1449"/>
                  <a:pt x="1879" y="1460"/>
                  <a:pt x="1976" y="1416"/>
                </a:cubicBezTo>
                <a:cubicBezTo>
                  <a:pt x="2073" y="1372"/>
                  <a:pt x="2035" y="1295"/>
                  <a:pt x="2136" y="1184"/>
                </a:cubicBezTo>
                <a:cubicBezTo>
                  <a:pt x="2237" y="1073"/>
                  <a:pt x="2431" y="949"/>
                  <a:pt x="2584" y="752"/>
                </a:cubicBezTo>
                <a:cubicBezTo>
                  <a:pt x="2737" y="555"/>
                  <a:pt x="2958" y="156"/>
                  <a:pt x="3056" y="0"/>
                </a:cubicBezTo>
              </a:path>
            </a:pathLst>
          </a:custGeom>
          <a:ln>
            <a:headEnd/>
            <a:tailEnd/>
          </a:ln>
        </p:spPr>
        <p:style>
          <a:lnRef idx="3">
            <a:schemeClr val="accent2"/>
          </a:lnRef>
          <a:fillRef idx="0">
            <a:schemeClr val="accent2"/>
          </a:fillRef>
          <a:effectRef idx="2">
            <a:schemeClr val="accent2"/>
          </a:effectRef>
          <a:fontRef idx="minor">
            <a:schemeClr val="tx1"/>
          </a:fontRef>
        </p:style>
        <p:txBody>
          <a:bodyPr wrap="square">
            <a:spAutoFit/>
          </a:bodyPr>
          <a:lstStyle/>
          <a:p>
            <a:endParaRPr lang="nl-NL" dirty="0"/>
          </a:p>
        </p:txBody>
      </p:sp>
      <p:sp>
        <p:nvSpPr>
          <p:cNvPr id="13" name="Freeform 12">
            <a:extLst>
              <a:ext uri="{FF2B5EF4-FFF2-40B4-BE49-F238E27FC236}">
                <a16:creationId xmlns:a16="http://schemas.microsoft.com/office/drawing/2014/main" id="{03F7EC41-0B41-3B40-B321-5F778B2A3656}"/>
              </a:ext>
            </a:extLst>
          </p:cNvPr>
          <p:cNvSpPr/>
          <p:nvPr/>
        </p:nvSpPr>
        <p:spPr bwMode="auto">
          <a:xfrm>
            <a:off x="6853726" y="3294186"/>
            <a:ext cx="3200969" cy="760413"/>
          </a:xfrm>
          <a:custGeom>
            <a:avLst/>
            <a:gdLst>
              <a:gd name="connsiteX0" fmla="*/ 0 w 2999232"/>
              <a:gd name="connsiteY0" fmla="*/ 27432 h 665245"/>
              <a:gd name="connsiteX1" fmla="*/ 457200 w 2999232"/>
              <a:gd name="connsiteY1" fmla="*/ 374904 h 665245"/>
              <a:gd name="connsiteX2" fmla="*/ 1088136 w 2999232"/>
              <a:gd name="connsiteY2" fmla="*/ 630936 h 665245"/>
              <a:gd name="connsiteX3" fmla="*/ 1508760 w 2999232"/>
              <a:gd name="connsiteY3" fmla="*/ 658368 h 665245"/>
              <a:gd name="connsiteX4" fmla="*/ 1975104 w 2999232"/>
              <a:gd name="connsiteY4" fmla="*/ 640080 h 665245"/>
              <a:gd name="connsiteX5" fmla="*/ 2514600 w 2999232"/>
              <a:gd name="connsiteY5" fmla="*/ 411480 h 665245"/>
              <a:gd name="connsiteX6" fmla="*/ 2999232 w 2999232"/>
              <a:gd name="connsiteY6" fmla="*/ 0 h 66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232" h="665245">
                <a:moveTo>
                  <a:pt x="0" y="27432"/>
                </a:moveTo>
                <a:cubicBezTo>
                  <a:pt x="137922" y="150876"/>
                  <a:pt x="275844" y="274320"/>
                  <a:pt x="457200" y="374904"/>
                </a:cubicBezTo>
                <a:cubicBezTo>
                  <a:pt x="638556" y="475488"/>
                  <a:pt x="912876" y="583692"/>
                  <a:pt x="1088136" y="630936"/>
                </a:cubicBezTo>
                <a:cubicBezTo>
                  <a:pt x="1263396" y="678180"/>
                  <a:pt x="1360932" y="656844"/>
                  <a:pt x="1508760" y="658368"/>
                </a:cubicBezTo>
                <a:cubicBezTo>
                  <a:pt x="1656588" y="659892"/>
                  <a:pt x="1807464" y="681228"/>
                  <a:pt x="1975104" y="640080"/>
                </a:cubicBezTo>
                <a:cubicBezTo>
                  <a:pt x="2142744" y="598932"/>
                  <a:pt x="2343912" y="518160"/>
                  <a:pt x="2514600" y="411480"/>
                </a:cubicBezTo>
                <a:cubicBezTo>
                  <a:pt x="2685288" y="304800"/>
                  <a:pt x="2842260" y="152400"/>
                  <a:pt x="2999232" y="0"/>
                </a:cubicBezTo>
              </a:path>
            </a:pathLst>
          </a:custGeom>
          <a:ln>
            <a:headEnd type="none" w="med" len="med"/>
            <a:tailEnd type="none" w="med" len="med"/>
          </a:ln>
        </p:spPr>
        <p:style>
          <a:lnRef idx="3">
            <a:schemeClr val="accent1"/>
          </a:lnRef>
          <a:fillRef idx="0">
            <a:schemeClr val="accent1"/>
          </a:fillRef>
          <a:effectRef idx="2">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120466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1" nodeType="clickEffect">
                                  <p:stCondLst>
                                    <p:cond delay="0"/>
                                  </p:stCondLst>
                                  <p:childTnLst>
                                    <p:animEffect transition="out" filter="fade">
                                      <p:cBhvr>
                                        <p:cTn id="17" dur="500"/>
                                        <p:tgtEl>
                                          <p:spTgt spid="13"/>
                                        </p:tgtEl>
                                      </p:cBhvr>
                                    </p:animEffect>
                                    <p:set>
                                      <p:cBhvr>
                                        <p:cTn id="18" dur="1" fill="hold">
                                          <p:stCondLst>
                                            <p:cond delay="499"/>
                                          </p:stCondLst>
                                        </p:cTn>
                                        <p:tgtEl>
                                          <p:spTgt spid="13"/>
                                        </p:tgtEl>
                                        <p:attrNameLst>
                                          <p:attrName>style.visibility</p:attrName>
                                        </p:attrNameLst>
                                      </p:cBhvr>
                                      <p:to>
                                        <p:strVal val="hidden"/>
                                      </p:to>
                                    </p:set>
                                  </p:childTnLst>
                                </p:cTn>
                              </p:par>
                            </p:childTnLst>
                          </p:cTn>
                        </p:par>
                        <p:par>
                          <p:cTn id="19" fill="hold">
                            <p:stCondLst>
                              <p:cond delay="500"/>
                            </p:stCondLst>
                            <p:childTnLst>
                              <p:par>
                                <p:cTn id="20" presetID="10" presetClass="entr" presetSubtype="0" fill="hold" grpId="1"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1" animBg="1"/>
      <p:bldP spid="13" grpId="0" animBg="1"/>
      <p:bldP spid="1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blue lines on a black background&#10;&#10;Description automatically generated">
            <a:extLst>
              <a:ext uri="{FF2B5EF4-FFF2-40B4-BE49-F238E27FC236}">
                <a16:creationId xmlns:a16="http://schemas.microsoft.com/office/drawing/2014/main" id="{EE182F58-E988-9C60-025C-DDA098720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3890" y="1003190"/>
            <a:ext cx="10340742" cy="4607609"/>
          </a:xfrm>
          <a:prstGeom prst="rect">
            <a:avLst/>
          </a:prstGeom>
        </p:spPr>
      </p:pic>
      <p:sp>
        <p:nvSpPr>
          <p:cNvPr id="2" name="Title 1">
            <a:extLst>
              <a:ext uri="{FF2B5EF4-FFF2-40B4-BE49-F238E27FC236}">
                <a16:creationId xmlns:a16="http://schemas.microsoft.com/office/drawing/2014/main" id="{461AF0BB-0A1E-1139-4FAA-930E0EB1A801}"/>
              </a:ext>
            </a:extLst>
          </p:cNvPr>
          <p:cNvSpPr txBox="1">
            <a:spLocks/>
          </p:cNvSpPr>
          <p:nvPr/>
        </p:nvSpPr>
        <p:spPr>
          <a:xfrm>
            <a:off x="695399" y="84958"/>
            <a:ext cx="1094521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Lift curve and drag polar: important characteristics</a:t>
            </a:r>
            <a:endParaRPr lang="nl-NL" kern="0" dirty="0">
              <a:solidFill>
                <a:schemeClr val="bg2"/>
              </a:solidFill>
            </a:endParaRPr>
          </a:p>
        </p:txBody>
      </p:sp>
      <p:sp>
        <p:nvSpPr>
          <p:cNvPr id="5" name="TextBox 4">
            <a:extLst>
              <a:ext uri="{FF2B5EF4-FFF2-40B4-BE49-F238E27FC236}">
                <a16:creationId xmlns:a16="http://schemas.microsoft.com/office/drawing/2014/main" id="{7FDF1D93-0952-DFA2-06A9-B64FE1CE5F4D}"/>
              </a:ext>
            </a:extLst>
          </p:cNvPr>
          <p:cNvSpPr txBox="1"/>
          <p:nvPr/>
        </p:nvSpPr>
        <p:spPr>
          <a:xfrm>
            <a:off x="2365789" y="939778"/>
            <a:ext cx="576064" cy="400110"/>
          </a:xfrm>
          <a:prstGeom prst="rect">
            <a:avLst/>
          </a:prstGeom>
          <a:noFill/>
        </p:spPr>
        <p:txBody>
          <a:bodyPr wrap="square" rtlCol="0">
            <a:spAutoFit/>
          </a:bodyPr>
          <a:lstStyle/>
          <a:p>
            <a:r>
              <a:rPr lang="en-US" sz="2000" b="1" i="1" dirty="0">
                <a:latin typeface="Times New Roman" panose="02020603050405020304" pitchFamily="18" charset="0"/>
                <a:cs typeface="Times New Roman" panose="02020603050405020304" pitchFamily="18" charset="0"/>
              </a:rPr>
              <a:t>C</a:t>
            </a:r>
            <a:r>
              <a:rPr lang="en-US" sz="2000" b="1" i="1" baseline="-25000" dirty="0">
                <a:latin typeface="Times New Roman" panose="02020603050405020304" pitchFamily="18" charset="0"/>
                <a:cs typeface="Times New Roman" panose="02020603050405020304" pitchFamily="18" charset="0"/>
              </a:rPr>
              <a:t>l</a:t>
            </a:r>
          </a:p>
        </p:txBody>
      </p:sp>
      <p:sp>
        <p:nvSpPr>
          <p:cNvPr id="7" name="TextBox 6">
            <a:extLst>
              <a:ext uri="{FF2B5EF4-FFF2-40B4-BE49-F238E27FC236}">
                <a16:creationId xmlns:a16="http://schemas.microsoft.com/office/drawing/2014/main" id="{A2FA1FE6-B5A1-4712-4FEA-CB2FB4EC1CF3}"/>
              </a:ext>
            </a:extLst>
          </p:cNvPr>
          <p:cNvSpPr txBox="1"/>
          <p:nvPr/>
        </p:nvSpPr>
        <p:spPr>
          <a:xfrm>
            <a:off x="6902293" y="939778"/>
            <a:ext cx="576064" cy="400110"/>
          </a:xfrm>
          <a:prstGeom prst="rect">
            <a:avLst/>
          </a:prstGeom>
          <a:noFill/>
        </p:spPr>
        <p:txBody>
          <a:bodyPr wrap="square" rtlCol="0">
            <a:spAutoFit/>
          </a:bodyPr>
          <a:lstStyle/>
          <a:p>
            <a:r>
              <a:rPr lang="en-US" sz="2000" b="1" i="1" dirty="0">
                <a:latin typeface="Times New Roman" panose="02020603050405020304" pitchFamily="18" charset="0"/>
                <a:cs typeface="Times New Roman" panose="02020603050405020304" pitchFamily="18" charset="0"/>
              </a:rPr>
              <a:t>C</a:t>
            </a:r>
            <a:r>
              <a:rPr lang="en-US" sz="2000" b="1" i="1" baseline="-25000" dirty="0">
                <a:latin typeface="Times New Roman" panose="02020603050405020304" pitchFamily="18" charset="0"/>
                <a:cs typeface="Times New Roman" panose="02020603050405020304" pitchFamily="18" charset="0"/>
              </a:rPr>
              <a:t>l</a:t>
            </a:r>
          </a:p>
        </p:txBody>
      </p:sp>
      <p:sp>
        <p:nvSpPr>
          <p:cNvPr id="8" name="TextBox 7">
            <a:extLst>
              <a:ext uri="{FF2B5EF4-FFF2-40B4-BE49-F238E27FC236}">
                <a16:creationId xmlns:a16="http://schemas.microsoft.com/office/drawing/2014/main" id="{A86F0EBD-7F6B-D302-C3D6-26C2F34AF3E9}"/>
              </a:ext>
            </a:extLst>
          </p:cNvPr>
          <p:cNvSpPr txBox="1"/>
          <p:nvPr/>
        </p:nvSpPr>
        <p:spPr>
          <a:xfrm>
            <a:off x="11390784" y="4360362"/>
            <a:ext cx="576064" cy="400110"/>
          </a:xfrm>
          <a:prstGeom prst="rect">
            <a:avLst/>
          </a:prstGeom>
          <a:noFill/>
        </p:spPr>
        <p:txBody>
          <a:bodyPr wrap="square" rtlCol="0">
            <a:spAutoFit/>
          </a:bodyPr>
          <a:lstStyle/>
          <a:p>
            <a:r>
              <a:rPr lang="en-US" sz="2000" b="1" i="1" dirty="0">
                <a:latin typeface="Times New Roman" panose="02020603050405020304" pitchFamily="18" charset="0"/>
                <a:cs typeface="Times New Roman" panose="02020603050405020304" pitchFamily="18" charset="0"/>
              </a:rPr>
              <a:t>C</a:t>
            </a:r>
            <a:r>
              <a:rPr lang="en-US" sz="2000" b="1" i="1" baseline="-25000" dirty="0">
                <a:latin typeface="Times New Roman" panose="02020603050405020304" pitchFamily="18" charset="0"/>
                <a:cs typeface="Times New Roman" panose="02020603050405020304" pitchFamily="18" charset="0"/>
              </a:rPr>
              <a:t>d</a:t>
            </a:r>
          </a:p>
        </p:txBody>
      </p:sp>
      <p:sp>
        <p:nvSpPr>
          <p:cNvPr id="9" name="TextBox 8">
            <a:extLst>
              <a:ext uri="{FF2B5EF4-FFF2-40B4-BE49-F238E27FC236}">
                <a16:creationId xmlns:a16="http://schemas.microsoft.com/office/drawing/2014/main" id="{B66BBC03-E228-CE55-D258-3C1B642DC93F}"/>
              </a:ext>
            </a:extLst>
          </p:cNvPr>
          <p:cNvSpPr txBox="1"/>
          <p:nvPr/>
        </p:nvSpPr>
        <p:spPr>
          <a:xfrm>
            <a:off x="2167767" y="4623812"/>
            <a:ext cx="684076" cy="400110"/>
          </a:xfrm>
          <a:prstGeom prst="rect">
            <a:avLst/>
          </a:prstGeom>
          <a:noFill/>
        </p:spPr>
        <p:txBody>
          <a:bodyPr wrap="square" rtlCol="0">
            <a:spAutoFit/>
          </a:bodyPr>
          <a:lstStyle/>
          <a:p>
            <a:r>
              <a:rPr lang="en-US" sz="2000" b="1" i="1" dirty="0" err="1">
                <a:solidFill>
                  <a:srgbClr val="92D050"/>
                </a:solidFill>
                <a:latin typeface="Symbol" pitchFamily="2" charset="2"/>
                <a:cs typeface="Times New Roman" panose="02020603050405020304" pitchFamily="18" charset="0"/>
              </a:rPr>
              <a:t>a</a:t>
            </a:r>
            <a:r>
              <a:rPr lang="en-US" sz="2000" b="1" i="1" baseline="-25000" dirty="0" err="1">
                <a:solidFill>
                  <a:srgbClr val="92D050"/>
                </a:solidFill>
                <a:latin typeface="Times New Roman" panose="02020603050405020304" pitchFamily="18" charset="0"/>
                <a:cs typeface="Times New Roman" panose="02020603050405020304" pitchFamily="18" charset="0"/>
              </a:rPr>
              <a:t>trim</a:t>
            </a:r>
            <a:endParaRPr lang="en-US" sz="2000" b="1" i="1" baseline="-25000" dirty="0">
              <a:solidFill>
                <a:srgbClr val="92D050"/>
              </a:solidFill>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5F7E9B1C-4C80-EF67-90A2-B3EB0617FB99}"/>
              </a:ext>
            </a:extLst>
          </p:cNvPr>
          <p:cNvCxnSpPr>
            <a:cxnSpLocks/>
          </p:cNvCxnSpPr>
          <p:nvPr/>
        </p:nvCxnSpPr>
        <p:spPr bwMode="auto">
          <a:xfrm flipH="1">
            <a:off x="2509805" y="3923398"/>
            <a:ext cx="5184576"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7" name="Straight Connector 16">
            <a:extLst>
              <a:ext uri="{FF2B5EF4-FFF2-40B4-BE49-F238E27FC236}">
                <a16:creationId xmlns:a16="http://schemas.microsoft.com/office/drawing/2014/main" id="{24A2889E-7A09-0C49-2DE4-BE2C7BED2373}"/>
              </a:ext>
            </a:extLst>
          </p:cNvPr>
          <p:cNvCxnSpPr>
            <a:cxnSpLocks/>
          </p:cNvCxnSpPr>
          <p:nvPr/>
        </p:nvCxnSpPr>
        <p:spPr bwMode="auto">
          <a:xfrm flipH="1">
            <a:off x="7287735" y="1625453"/>
            <a:ext cx="1029315" cy="3024336"/>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3" name="Straight Connector 22">
            <a:extLst>
              <a:ext uri="{FF2B5EF4-FFF2-40B4-BE49-F238E27FC236}">
                <a16:creationId xmlns:a16="http://schemas.microsoft.com/office/drawing/2014/main" id="{31320E2F-2FE6-AE2A-D440-39F6AF7E6A5D}"/>
              </a:ext>
            </a:extLst>
          </p:cNvPr>
          <p:cNvCxnSpPr>
            <a:cxnSpLocks/>
          </p:cNvCxnSpPr>
          <p:nvPr/>
        </p:nvCxnSpPr>
        <p:spPr bwMode="auto">
          <a:xfrm flipH="1">
            <a:off x="2365789" y="2060848"/>
            <a:ext cx="79928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7" name="Straight Connector 26">
            <a:extLst>
              <a:ext uri="{FF2B5EF4-FFF2-40B4-BE49-F238E27FC236}">
                <a16:creationId xmlns:a16="http://schemas.microsoft.com/office/drawing/2014/main" id="{FDC9C28E-4B49-A803-A7D2-117522014D22}"/>
              </a:ext>
            </a:extLst>
          </p:cNvPr>
          <p:cNvCxnSpPr>
            <a:cxnSpLocks/>
          </p:cNvCxnSpPr>
          <p:nvPr/>
        </p:nvCxnSpPr>
        <p:spPr bwMode="auto">
          <a:xfrm flipH="1">
            <a:off x="2365789" y="3319008"/>
            <a:ext cx="536303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43" name="TextBox 42">
            <a:extLst>
              <a:ext uri="{FF2B5EF4-FFF2-40B4-BE49-F238E27FC236}">
                <a16:creationId xmlns:a16="http://schemas.microsoft.com/office/drawing/2014/main" id="{27DEDE2D-6E85-86C8-BDDC-9674CF9D783D}"/>
              </a:ext>
            </a:extLst>
          </p:cNvPr>
          <p:cNvSpPr txBox="1"/>
          <p:nvPr/>
        </p:nvSpPr>
        <p:spPr>
          <a:xfrm>
            <a:off x="7298337" y="4930239"/>
            <a:ext cx="792088" cy="400110"/>
          </a:xfrm>
          <a:prstGeom prst="rect">
            <a:avLst/>
          </a:prstGeom>
          <a:noFill/>
        </p:spPr>
        <p:txBody>
          <a:bodyPr wrap="square" rtlCol="0">
            <a:spAutoFit/>
          </a:bodyPr>
          <a:lstStyle/>
          <a:p>
            <a:r>
              <a:rPr lang="en-US" sz="2000" b="1" i="1" dirty="0">
                <a:solidFill>
                  <a:srgbClr val="92D050"/>
                </a:solidFill>
                <a:latin typeface="Times New Roman" panose="02020603050405020304" pitchFamily="18" charset="0"/>
                <a:cs typeface="Times New Roman" panose="02020603050405020304" pitchFamily="18" charset="0"/>
              </a:rPr>
              <a:t>C</a:t>
            </a:r>
            <a:r>
              <a:rPr lang="en-US" sz="2000" b="1" i="1" baseline="-25000" dirty="0">
                <a:solidFill>
                  <a:srgbClr val="92D050"/>
                </a:solidFill>
                <a:latin typeface="Times New Roman" panose="02020603050405020304" pitchFamily="18" charset="0"/>
                <a:cs typeface="Times New Roman" panose="02020603050405020304" pitchFamily="18" charset="0"/>
              </a:rPr>
              <a:t>d min</a:t>
            </a:r>
          </a:p>
        </p:txBody>
      </p:sp>
      <p:sp>
        <p:nvSpPr>
          <p:cNvPr id="44" name="TextBox 43">
            <a:extLst>
              <a:ext uri="{FF2B5EF4-FFF2-40B4-BE49-F238E27FC236}">
                <a16:creationId xmlns:a16="http://schemas.microsoft.com/office/drawing/2014/main" id="{E1FAE4B2-E47C-8F12-054D-D253A45EB2D4}"/>
              </a:ext>
            </a:extLst>
          </p:cNvPr>
          <p:cNvSpPr txBox="1"/>
          <p:nvPr/>
        </p:nvSpPr>
        <p:spPr>
          <a:xfrm>
            <a:off x="5604591" y="4319036"/>
            <a:ext cx="576064" cy="400110"/>
          </a:xfrm>
          <a:prstGeom prst="rect">
            <a:avLst/>
          </a:prstGeom>
          <a:noFill/>
        </p:spPr>
        <p:txBody>
          <a:bodyPr wrap="square" rtlCol="0">
            <a:spAutoFit/>
          </a:bodyPr>
          <a:lstStyle/>
          <a:p>
            <a:r>
              <a:rPr lang="en-US" sz="2000" b="1" i="1" dirty="0">
                <a:latin typeface="Symbol" pitchFamily="2" charset="2"/>
                <a:cs typeface="Times New Roman" panose="02020603050405020304" pitchFamily="18" charset="0"/>
              </a:rPr>
              <a:t>a</a:t>
            </a:r>
            <a:endParaRPr lang="en-US" sz="2000" b="1" i="1" baseline="-250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B3003EB5-5ED1-9A39-6105-2647A0F82AED}"/>
              </a:ext>
            </a:extLst>
          </p:cNvPr>
          <p:cNvSpPr txBox="1"/>
          <p:nvPr/>
        </p:nvSpPr>
        <p:spPr>
          <a:xfrm>
            <a:off x="726882" y="3676962"/>
            <a:ext cx="973555" cy="400110"/>
          </a:xfrm>
          <a:prstGeom prst="rect">
            <a:avLst/>
          </a:prstGeom>
          <a:noFill/>
        </p:spPr>
        <p:txBody>
          <a:bodyPr wrap="square" rtlCol="0">
            <a:spAutoFit/>
          </a:bodyPr>
          <a:lstStyle/>
          <a:p>
            <a:r>
              <a:rPr lang="en-US" sz="2000" b="1" i="1" dirty="0">
                <a:solidFill>
                  <a:srgbClr val="92D050"/>
                </a:solidFill>
                <a:latin typeface="Times New Roman" panose="02020603050405020304" pitchFamily="18" charset="0"/>
                <a:cs typeface="Times New Roman" panose="02020603050405020304" pitchFamily="18" charset="0"/>
              </a:rPr>
              <a:t>C</a:t>
            </a:r>
            <a:r>
              <a:rPr lang="en-US" sz="2000" b="1" i="1" baseline="-25000" dirty="0">
                <a:solidFill>
                  <a:srgbClr val="92D050"/>
                </a:solidFill>
                <a:latin typeface="Times New Roman" panose="02020603050405020304" pitchFamily="18" charset="0"/>
                <a:cs typeface="Times New Roman" panose="02020603050405020304" pitchFamily="18" charset="0"/>
              </a:rPr>
              <a:t>l des</a:t>
            </a:r>
          </a:p>
        </p:txBody>
      </p:sp>
      <p:cxnSp>
        <p:nvCxnSpPr>
          <p:cNvPr id="49" name="Straight Arrow Connector 48">
            <a:extLst>
              <a:ext uri="{FF2B5EF4-FFF2-40B4-BE49-F238E27FC236}">
                <a16:creationId xmlns:a16="http://schemas.microsoft.com/office/drawing/2014/main" id="{291186CC-0BC4-2725-B6EE-77CC4FFE3E8D}"/>
              </a:ext>
            </a:extLst>
          </p:cNvPr>
          <p:cNvCxnSpPr>
            <a:cxnSpLocks/>
          </p:cNvCxnSpPr>
          <p:nvPr/>
        </p:nvCxnSpPr>
        <p:spPr bwMode="auto">
          <a:xfrm flipH="1">
            <a:off x="2509805" y="3923398"/>
            <a:ext cx="10239" cy="726391"/>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C0176F28-B204-1A35-0201-B2EFE53A1D38}"/>
              </a:ext>
            </a:extLst>
          </p:cNvPr>
          <p:cNvCxnSpPr>
            <a:cxnSpLocks/>
          </p:cNvCxnSpPr>
          <p:nvPr/>
        </p:nvCxnSpPr>
        <p:spPr bwMode="auto">
          <a:xfrm flipH="1">
            <a:off x="1542628" y="3932918"/>
            <a:ext cx="972007" cy="1274"/>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FDA1832C-C6A7-5567-A2B1-8A26E5059056}"/>
              </a:ext>
            </a:extLst>
          </p:cNvPr>
          <p:cNvCxnSpPr>
            <a:cxnSpLocks/>
          </p:cNvCxnSpPr>
          <p:nvPr/>
        </p:nvCxnSpPr>
        <p:spPr bwMode="auto">
          <a:xfrm>
            <a:off x="7681425" y="3932918"/>
            <a:ext cx="0" cy="993345"/>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sp>
        <p:nvSpPr>
          <p:cNvPr id="57" name="TextBox 56">
            <a:extLst>
              <a:ext uri="{FF2B5EF4-FFF2-40B4-BE49-F238E27FC236}">
                <a16:creationId xmlns:a16="http://schemas.microsoft.com/office/drawing/2014/main" id="{F8EF1708-57DE-32FB-FBF3-412976A20C34}"/>
              </a:ext>
            </a:extLst>
          </p:cNvPr>
          <p:cNvSpPr txBox="1"/>
          <p:nvPr/>
        </p:nvSpPr>
        <p:spPr>
          <a:xfrm>
            <a:off x="7722325" y="3137621"/>
            <a:ext cx="1447020" cy="369332"/>
          </a:xfrm>
          <a:prstGeom prst="rect">
            <a:avLst/>
          </a:prstGeom>
          <a:noFill/>
        </p:spPr>
        <p:txBody>
          <a:bodyPr wrap="square" rtlCol="0">
            <a:spAutoFit/>
          </a:bodyPr>
          <a:lstStyle/>
          <a:p>
            <a:r>
              <a:rPr lang="en-US" sz="1800" b="1" i="1" dirty="0">
                <a:solidFill>
                  <a:srgbClr val="00B050"/>
                </a:solidFill>
                <a:latin typeface="Times New Roman" panose="02020603050405020304" pitchFamily="18" charset="0"/>
                <a:cs typeface="Times New Roman" panose="02020603050405020304" pitchFamily="18" charset="0"/>
              </a:rPr>
              <a:t>Max(C</a:t>
            </a:r>
            <a:r>
              <a:rPr lang="en-US" sz="1800" b="1" i="1" baseline="-25000" dirty="0">
                <a:solidFill>
                  <a:srgbClr val="00B050"/>
                </a:solidFill>
                <a:latin typeface="Times New Roman" panose="02020603050405020304" pitchFamily="18" charset="0"/>
                <a:cs typeface="Times New Roman" panose="02020603050405020304" pitchFamily="18" charset="0"/>
              </a:rPr>
              <a:t>l </a:t>
            </a:r>
            <a:r>
              <a:rPr lang="en-US" sz="1800" b="1" i="1" dirty="0">
                <a:solidFill>
                  <a:srgbClr val="00B050"/>
                </a:solidFill>
                <a:latin typeface="Times New Roman" panose="02020603050405020304" pitchFamily="18" charset="0"/>
                <a:cs typeface="Times New Roman" panose="02020603050405020304" pitchFamily="18" charset="0"/>
              </a:rPr>
              <a:t>/C</a:t>
            </a:r>
            <a:r>
              <a:rPr lang="en-US" sz="1800" b="1" i="1" baseline="-25000" dirty="0">
                <a:solidFill>
                  <a:srgbClr val="00B050"/>
                </a:solidFill>
                <a:latin typeface="Times New Roman" panose="02020603050405020304" pitchFamily="18" charset="0"/>
                <a:cs typeface="Times New Roman" panose="02020603050405020304" pitchFamily="18" charset="0"/>
              </a:rPr>
              <a:t>d</a:t>
            </a:r>
            <a:r>
              <a:rPr lang="en-US" sz="1800" b="1" i="1" dirty="0">
                <a:solidFill>
                  <a:srgbClr val="00B050"/>
                </a:solidFill>
                <a:latin typeface="Times New Roman" panose="02020603050405020304" pitchFamily="18" charset="0"/>
                <a:cs typeface="Times New Roman" panose="02020603050405020304" pitchFamily="18" charset="0"/>
              </a:rPr>
              <a:t>)</a:t>
            </a:r>
            <a:endParaRPr lang="en-US" sz="1800" b="1" i="1" baseline="-25000" dirty="0">
              <a:solidFill>
                <a:srgbClr val="00B050"/>
              </a:solidFill>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23BD3860-C1CB-6C19-912A-5FD9A2FC9566}"/>
              </a:ext>
            </a:extLst>
          </p:cNvPr>
          <p:cNvSpPr txBox="1"/>
          <p:nvPr/>
        </p:nvSpPr>
        <p:spPr>
          <a:xfrm>
            <a:off x="543203" y="3120464"/>
            <a:ext cx="1976841" cy="369332"/>
          </a:xfrm>
          <a:prstGeom prst="rect">
            <a:avLst/>
          </a:prstGeom>
          <a:noFill/>
        </p:spPr>
        <p:txBody>
          <a:bodyPr wrap="square" rtlCol="0">
            <a:spAutoFit/>
          </a:bodyPr>
          <a:lstStyle/>
          <a:p>
            <a:r>
              <a:rPr lang="en-US" sz="1800" b="1" i="1" dirty="0">
                <a:solidFill>
                  <a:srgbClr val="00B050"/>
                </a:solidFill>
                <a:latin typeface="Times New Roman" panose="02020603050405020304" pitchFamily="18" charset="0"/>
                <a:cs typeface="Times New Roman" panose="02020603050405020304" pitchFamily="18" charset="0"/>
              </a:rPr>
              <a:t>Cl @ Max(C</a:t>
            </a:r>
            <a:r>
              <a:rPr lang="en-US" sz="1800" b="1" i="1" baseline="-25000" dirty="0">
                <a:solidFill>
                  <a:srgbClr val="00B050"/>
                </a:solidFill>
                <a:latin typeface="Times New Roman" panose="02020603050405020304" pitchFamily="18" charset="0"/>
                <a:cs typeface="Times New Roman" panose="02020603050405020304" pitchFamily="18" charset="0"/>
              </a:rPr>
              <a:t>l </a:t>
            </a:r>
            <a:r>
              <a:rPr lang="en-US" sz="1800" b="1" i="1" dirty="0">
                <a:solidFill>
                  <a:srgbClr val="00B050"/>
                </a:solidFill>
                <a:latin typeface="Times New Roman" panose="02020603050405020304" pitchFamily="18" charset="0"/>
                <a:cs typeface="Times New Roman" panose="02020603050405020304" pitchFamily="18" charset="0"/>
              </a:rPr>
              <a:t>/C</a:t>
            </a:r>
            <a:r>
              <a:rPr lang="en-US" sz="1800" b="1" i="1" baseline="-25000" dirty="0">
                <a:solidFill>
                  <a:srgbClr val="00B050"/>
                </a:solidFill>
                <a:latin typeface="Times New Roman" panose="02020603050405020304" pitchFamily="18" charset="0"/>
                <a:cs typeface="Times New Roman" panose="02020603050405020304" pitchFamily="18" charset="0"/>
              </a:rPr>
              <a:t>d</a:t>
            </a:r>
            <a:r>
              <a:rPr lang="en-US" sz="1800" b="1" i="1" dirty="0">
                <a:solidFill>
                  <a:srgbClr val="00B050"/>
                </a:solidFill>
                <a:latin typeface="Times New Roman" panose="02020603050405020304" pitchFamily="18" charset="0"/>
                <a:cs typeface="Times New Roman" panose="02020603050405020304" pitchFamily="18" charset="0"/>
              </a:rPr>
              <a:t>)</a:t>
            </a:r>
            <a:endParaRPr lang="en-US" sz="1800" b="1" i="1" baseline="-25000" dirty="0">
              <a:solidFill>
                <a:srgbClr val="00B050"/>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F0F78BAD-C672-B93C-03B9-5E96438AEDA1}"/>
              </a:ext>
            </a:extLst>
          </p:cNvPr>
          <p:cNvSpPr txBox="1"/>
          <p:nvPr/>
        </p:nvSpPr>
        <p:spPr>
          <a:xfrm>
            <a:off x="991122" y="1842232"/>
            <a:ext cx="1976841" cy="369332"/>
          </a:xfrm>
          <a:prstGeom prst="rect">
            <a:avLst/>
          </a:prstGeom>
          <a:noFill/>
        </p:spPr>
        <p:txBody>
          <a:bodyPr wrap="square" rtlCol="0">
            <a:spAutoFit/>
          </a:bodyPr>
          <a:lstStyle/>
          <a:p>
            <a:r>
              <a:rPr lang="en-US" sz="1800" b="1" i="1" dirty="0">
                <a:solidFill>
                  <a:srgbClr val="C00000"/>
                </a:solidFill>
                <a:latin typeface="Times New Roman" panose="02020603050405020304" pitchFamily="18" charset="0"/>
                <a:cs typeface="Times New Roman" panose="02020603050405020304" pitchFamily="18" charset="0"/>
              </a:rPr>
              <a:t>C</a:t>
            </a:r>
            <a:r>
              <a:rPr lang="en-US" sz="1800" b="1" i="1" baseline="-25000" dirty="0">
                <a:solidFill>
                  <a:srgbClr val="C00000"/>
                </a:solidFill>
                <a:latin typeface="Times New Roman" panose="02020603050405020304" pitchFamily="18" charset="0"/>
                <a:cs typeface="Times New Roman" panose="02020603050405020304" pitchFamily="18" charset="0"/>
              </a:rPr>
              <a:t>l max</a:t>
            </a:r>
          </a:p>
        </p:txBody>
      </p:sp>
      <p:cxnSp>
        <p:nvCxnSpPr>
          <p:cNvPr id="61" name="Straight Connector 60">
            <a:extLst>
              <a:ext uri="{FF2B5EF4-FFF2-40B4-BE49-F238E27FC236}">
                <a16:creationId xmlns:a16="http://schemas.microsoft.com/office/drawing/2014/main" id="{C6E90CBE-AA89-3056-D566-78C223A38F81}"/>
              </a:ext>
            </a:extLst>
          </p:cNvPr>
          <p:cNvCxnSpPr>
            <a:cxnSpLocks/>
          </p:cNvCxnSpPr>
          <p:nvPr/>
        </p:nvCxnSpPr>
        <p:spPr bwMode="auto">
          <a:xfrm flipV="1">
            <a:off x="4237997" y="1842232"/>
            <a:ext cx="0" cy="2734936"/>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64" name="TextBox 63">
            <a:extLst>
              <a:ext uri="{FF2B5EF4-FFF2-40B4-BE49-F238E27FC236}">
                <a16:creationId xmlns:a16="http://schemas.microsoft.com/office/drawing/2014/main" id="{C76D9A3D-2A80-3DAE-76CD-3E4CDAC16B49}"/>
              </a:ext>
            </a:extLst>
          </p:cNvPr>
          <p:cNvSpPr txBox="1"/>
          <p:nvPr/>
        </p:nvSpPr>
        <p:spPr>
          <a:xfrm>
            <a:off x="3857432" y="4535667"/>
            <a:ext cx="684076" cy="400110"/>
          </a:xfrm>
          <a:prstGeom prst="rect">
            <a:avLst/>
          </a:prstGeom>
          <a:noFill/>
        </p:spPr>
        <p:txBody>
          <a:bodyPr wrap="square" rtlCol="0">
            <a:spAutoFit/>
          </a:bodyPr>
          <a:lstStyle/>
          <a:p>
            <a:r>
              <a:rPr lang="en-US" sz="2000" b="1" i="1" dirty="0" err="1">
                <a:solidFill>
                  <a:srgbClr val="C00000"/>
                </a:solidFill>
                <a:latin typeface="Symbol" pitchFamily="2" charset="2"/>
                <a:cs typeface="Times New Roman" panose="02020603050405020304" pitchFamily="18" charset="0"/>
              </a:rPr>
              <a:t>a</a:t>
            </a:r>
            <a:r>
              <a:rPr lang="en-US" sz="2000" b="1" i="1" baseline="-25000" dirty="0" err="1">
                <a:solidFill>
                  <a:srgbClr val="C00000"/>
                </a:solidFill>
                <a:latin typeface="Times New Roman" panose="02020603050405020304" pitchFamily="18" charset="0"/>
                <a:cs typeface="Times New Roman" panose="02020603050405020304" pitchFamily="18" charset="0"/>
              </a:rPr>
              <a:t>stall</a:t>
            </a:r>
            <a:endParaRPr lang="en-US" sz="2000" b="1" i="1" baseline="-25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48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p:tgtEl>
                                          <p:spTgt spid="53"/>
                                        </p:tgtEl>
                                        <p:attrNameLst>
                                          <p:attrName>ppt_y</p:attrName>
                                        </p:attrNameLst>
                                      </p:cBhvr>
                                      <p:tavLst>
                                        <p:tav tm="0">
                                          <p:val>
                                            <p:strVal val="#ppt_y-#ppt_h*1.125000"/>
                                          </p:val>
                                        </p:tav>
                                        <p:tav tm="100000">
                                          <p:val>
                                            <p:strVal val="#ppt_y"/>
                                          </p:val>
                                        </p:tav>
                                      </p:tavLst>
                                    </p:anim>
                                    <p:animEffect transition="in" filter="wipe(down)">
                                      <p:cBhvr>
                                        <p:cTn id="8" dur="500"/>
                                        <p:tgtEl>
                                          <p:spTgt spid="53"/>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p:tgtEl>
                                          <p:spTgt spid="43"/>
                                        </p:tgtEl>
                                        <p:attrNameLst>
                                          <p:attrName>ppt_y</p:attrName>
                                        </p:attrNameLst>
                                      </p:cBhvr>
                                      <p:tavLst>
                                        <p:tav tm="0">
                                          <p:val>
                                            <p:strVal val="#ppt_y-#ppt_h*1.125000"/>
                                          </p:val>
                                        </p:tav>
                                        <p:tav tm="100000">
                                          <p:val>
                                            <p:strVal val="#ppt_y"/>
                                          </p:val>
                                        </p:tav>
                                      </p:tavLst>
                                    </p:anim>
                                    <p:animEffect transition="in" filter="wipe(down)">
                                      <p:cBhvr>
                                        <p:cTn id="12" dur="500"/>
                                        <p:tgtEl>
                                          <p:spTgt spid="43"/>
                                        </p:tgtEl>
                                      </p:cBhvr>
                                    </p:animEffect>
                                  </p:childTnLst>
                                </p:cTn>
                              </p:par>
                            </p:childTnLst>
                          </p:cTn>
                        </p:par>
                        <p:par>
                          <p:cTn id="13" fill="hold">
                            <p:stCondLst>
                              <p:cond delay="500"/>
                            </p:stCondLst>
                            <p:childTnLst>
                              <p:par>
                                <p:cTn id="14" presetID="12" presetClass="entr" presetSubtype="2"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par>
                          <p:cTn id="18" fill="hold">
                            <p:stCondLst>
                              <p:cond delay="1000"/>
                            </p:stCondLst>
                            <p:childTnLst>
                              <p:par>
                                <p:cTn id="19" presetID="12" presetClass="entr" presetSubtype="1"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p:tgtEl>
                                          <p:spTgt spid="49"/>
                                        </p:tgtEl>
                                        <p:attrNameLst>
                                          <p:attrName>ppt_y</p:attrName>
                                        </p:attrNameLst>
                                      </p:cBhvr>
                                      <p:tavLst>
                                        <p:tav tm="0">
                                          <p:val>
                                            <p:strVal val="#ppt_y-#ppt_h*1.125000"/>
                                          </p:val>
                                        </p:tav>
                                        <p:tav tm="100000">
                                          <p:val>
                                            <p:strVal val="#ppt_y"/>
                                          </p:val>
                                        </p:tav>
                                      </p:tavLst>
                                    </p:anim>
                                    <p:animEffect transition="in" filter="wipe(down)">
                                      <p:cBhvr>
                                        <p:cTn id="22" dur="500"/>
                                        <p:tgtEl>
                                          <p:spTgt spid="49"/>
                                        </p:tgtEl>
                                      </p:cBhvr>
                                    </p:animEffect>
                                  </p:childTnLst>
                                </p:cTn>
                              </p:par>
                              <p:par>
                                <p:cTn id="23" presetID="12" presetClass="entr" presetSubtype="1"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p:tgtEl>
                                          <p:spTgt spid="9"/>
                                        </p:tgtEl>
                                        <p:attrNameLst>
                                          <p:attrName>ppt_y</p:attrName>
                                        </p:attrNameLst>
                                      </p:cBhvr>
                                      <p:tavLst>
                                        <p:tav tm="0">
                                          <p:val>
                                            <p:strVal val="#ppt_y-#ppt_h*1.125000"/>
                                          </p:val>
                                        </p:tav>
                                        <p:tav tm="100000">
                                          <p:val>
                                            <p:strVal val="#ppt_y"/>
                                          </p:val>
                                        </p:tav>
                                      </p:tavLst>
                                    </p:anim>
                                    <p:animEffect transition="in" filter="wipe(down)">
                                      <p:cBhvr>
                                        <p:cTn id="26" dur="500"/>
                                        <p:tgtEl>
                                          <p:spTgt spid="9"/>
                                        </p:tgtEl>
                                      </p:cBhvr>
                                    </p:animEffect>
                                  </p:childTnLst>
                                </p:cTn>
                              </p:par>
                              <p:par>
                                <p:cTn id="27" presetID="12" presetClass="entr" presetSubtype="2"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additive="base">
                                        <p:cTn id="29" dur="500"/>
                                        <p:tgtEl>
                                          <p:spTgt spid="51"/>
                                        </p:tgtEl>
                                        <p:attrNameLst>
                                          <p:attrName>ppt_x</p:attrName>
                                        </p:attrNameLst>
                                      </p:cBhvr>
                                      <p:tavLst>
                                        <p:tav tm="0">
                                          <p:val>
                                            <p:strVal val="#ppt_x+#ppt_w*1.125000"/>
                                          </p:val>
                                        </p:tav>
                                        <p:tav tm="100000">
                                          <p:val>
                                            <p:strVal val="#ppt_x"/>
                                          </p:val>
                                        </p:tav>
                                      </p:tavLst>
                                    </p:anim>
                                    <p:animEffect transition="in" filter="wipe(left)">
                                      <p:cBhvr>
                                        <p:cTn id="30" dur="500"/>
                                        <p:tgtEl>
                                          <p:spTgt spid="51"/>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p:tgtEl>
                                          <p:spTgt spid="46"/>
                                        </p:tgtEl>
                                        <p:attrNameLst>
                                          <p:attrName>ppt_y</p:attrName>
                                        </p:attrNameLst>
                                      </p:cBhvr>
                                      <p:tavLst>
                                        <p:tav tm="0">
                                          <p:val>
                                            <p:strVal val="#ppt_y+#ppt_h*1.125000"/>
                                          </p:val>
                                        </p:tav>
                                        <p:tav tm="100000">
                                          <p:val>
                                            <p:strVal val="#ppt_y"/>
                                          </p:val>
                                        </p:tav>
                                      </p:tavLst>
                                    </p:anim>
                                    <p:animEffect transition="in" filter="wipe(up)">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p:tgtEl>
                                          <p:spTgt spid="17"/>
                                        </p:tgtEl>
                                        <p:attrNameLst>
                                          <p:attrName>ppt_y</p:attrName>
                                        </p:attrNameLst>
                                      </p:cBhvr>
                                      <p:tavLst>
                                        <p:tav tm="0">
                                          <p:val>
                                            <p:strVal val="#ppt_y+#ppt_h*1.125000"/>
                                          </p:val>
                                        </p:tav>
                                        <p:tav tm="100000">
                                          <p:val>
                                            <p:strVal val="#ppt_y"/>
                                          </p:val>
                                        </p:tav>
                                      </p:tavLst>
                                    </p:anim>
                                    <p:animEffect transition="in" filter="wipe(up)">
                                      <p:cBhvr>
                                        <p:cTn id="40" dur="500"/>
                                        <p:tgtEl>
                                          <p:spTgt spid="17"/>
                                        </p:tgtEl>
                                      </p:cBhvr>
                                    </p:animEffect>
                                  </p:childTnLst>
                                </p:cTn>
                              </p:par>
                            </p:childTnLst>
                          </p:cTn>
                        </p:par>
                        <p:par>
                          <p:cTn id="41" fill="hold">
                            <p:stCondLst>
                              <p:cond delay="500"/>
                            </p:stCondLst>
                            <p:childTnLst>
                              <p:par>
                                <p:cTn id="42" presetID="12" presetClass="entr" presetSubtype="2" fill="hold" grpId="0" nodeType="afterEffect">
                                  <p:stCondLst>
                                    <p:cond delay="0"/>
                                  </p:stCondLst>
                                  <p:childTnLst>
                                    <p:set>
                                      <p:cBhvr>
                                        <p:cTn id="43" dur="1" fill="hold">
                                          <p:stCondLst>
                                            <p:cond delay="0"/>
                                          </p:stCondLst>
                                        </p:cTn>
                                        <p:tgtEl>
                                          <p:spTgt spid="57"/>
                                        </p:tgtEl>
                                        <p:attrNameLst>
                                          <p:attrName>style.visibility</p:attrName>
                                        </p:attrNameLst>
                                      </p:cBhvr>
                                      <p:to>
                                        <p:strVal val="visible"/>
                                      </p:to>
                                    </p:set>
                                    <p:anim calcmode="lin" valueType="num">
                                      <p:cBhvr additive="base">
                                        <p:cTn id="44" dur="500"/>
                                        <p:tgtEl>
                                          <p:spTgt spid="57"/>
                                        </p:tgtEl>
                                        <p:attrNameLst>
                                          <p:attrName>ppt_x</p:attrName>
                                        </p:attrNameLst>
                                      </p:cBhvr>
                                      <p:tavLst>
                                        <p:tav tm="0">
                                          <p:val>
                                            <p:strVal val="#ppt_x+#ppt_w*1.125000"/>
                                          </p:val>
                                        </p:tav>
                                        <p:tav tm="100000">
                                          <p:val>
                                            <p:strVal val="#ppt_x"/>
                                          </p:val>
                                        </p:tav>
                                      </p:tavLst>
                                    </p:anim>
                                    <p:animEffect transition="in" filter="wipe(left)">
                                      <p:cBhvr>
                                        <p:cTn id="45" dur="500"/>
                                        <p:tgtEl>
                                          <p:spTgt spid="57"/>
                                        </p:tgtEl>
                                      </p:cBhvr>
                                    </p:animEffect>
                                  </p:childTnLst>
                                </p:cTn>
                              </p:par>
                              <p:par>
                                <p:cTn id="46" presetID="12" presetClass="entr" presetSubtype="4"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p:tgtEl>
                                          <p:spTgt spid="27"/>
                                        </p:tgtEl>
                                        <p:attrNameLst>
                                          <p:attrName>ppt_y</p:attrName>
                                        </p:attrNameLst>
                                      </p:cBhvr>
                                      <p:tavLst>
                                        <p:tav tm="0">
                                          <p:val>
                                            <p:strVal val="#ppt_y+#ppt_h*1.125000"/>
                                          </p:val>
                                        </p:tav>
                                        <p:tav tm="100000">
                                          <p:val>
                                            <p:strVal val="#ppt_y"/>
                                          </p:val>
                                        </p:tav>
                                      </p:tavLst>
                                    </p:anim>
                                    <p:animEffect transition="in" filter="wipe(up)">
                                      <p:cBhvr>
                                        <p:cTn id="49" dur="500"/>
                                        <p:tgtEl>
                                          <p:spTgt spid="27"/>
                                        </p:tgtEl>
                                      </p:cBhvr>
                                    </p:animEffect>
                                  </p:childTnLst>
                                </p:cTn>
                              </p:par>
                              <p:par>
                                <p:cTn id="50" presetID="12" presetClass="entr" presetSubtype="4"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 calcmode="lin" valueType="num">
                                      <p:cBhvr additive="base">
                                        <p:cTn id="52" dur="500"/>
                                        <p:tgtEl>
                                          <p:spTgt spid="58"/>
                                        </p:tgtEl>
                                        <p:attrNameLst>
                                          <p:attrName>ppt_y</p:attrName>
                                        </p:attrNameLst>
                                      </p:cBhvr>
                                      <p:tavLst>
                                        <p:tav tm="0">
                                          <p:val>
                                            <p:strVal val="#ppt_y+#ppt_h*1.125000"/>
                                          </p:val>
                                        </p:tav>
                                        <p:tav tm="100000">
                                          <p:val>
                                            <p:strVal val="#ppt_y"/>
                                          </p:val>
                                        </p:tav>
                                      </p:tavLst>
                                    </p:anim>
                                    <p:animEffect transition="in" filter="wipe(up)">
                                      <p:cBhvr>
                                        <p:cTn id="53" dur="500"/>
                                        <p:tgtEl>
                                          <p:spTgt spid="5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2"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500"/>
                                        <p:tgtEl>
                                          <p:spTgt spid="23"/>
                                        </p:tgtEl>
                                        <p:attrNameLst>
                                          <p:attrName>ppt_x</p:attrName>
                                        </p:attrNameLst>
                                      </p:cBhvr>
                                      <p:tavLst>
                                        <p:tav tm="0">
                                          <p:val>
                                            <p:strVal val="#ppt_x+#ppt_w*1.125000"/>
                                          </p:val>
                                        </p:tav>
                                        <p:tav tm="100000">
                                          <p:val>
                                            <p:strVal val="#ppt_x"/>
                                          </p:val>
                                        </p:tav>
                                      </p:tavLst>
                                    </p:anim>
                                    <p:animEffect transition="in" filter="wipe(left)">
                                      <p:cBhvr>
                                        <p:cTn id="59" dur="500"/>
                                        <p:tgtEl>
                                          <p:spTgt spid="23"/>
                                        </p:tgtEl>
                                      </p:cBhvr>
                                    </p:animEffect>
                                  </p:childTnLst>
                                </p:cTn>
                              </p:par>
                              <p:par>
                                <p:cTn id="60" presetID="12" presetClass="entr" presetSubtype="2" fill="hold" grpId="0" nodeType="withEffect">
                                  <p:stCondLst>
                                    <p:cond delay="0"/>
                                  </p:stCondLst>
                                  <p:childTnLst>
                                    <p:set>
                                      <p:cBhvr>
                                        <p:cTn id="61" dur="1" fill="hold">
                                          <p:stCondLst>
                                            <p:cond delay="0"/>
                                          </p:stCondLst>
                                        </p:cTn>
                                        <p:tgtEl>
                                          <p:spTgt spid="59"/>
                                        </p:tgtEl>
                                        <p:attrNameLst>
                                          <p:attrName>style.visibility</p:attrName>
                                        </p:attrNameLst>
                                      </p:cBhvr>
                                      <p:to>
                                        <p:strVal val="visible"/>
                                      </p:to>
                                    </p:set>
                                    <p:anim calcmode="lin" valueType="num">
                                      <p:cBhvr additive="base">
                                        <p:cTn id="62" dur="500"/>
                                        <p:tgtEl>
                                          <p:spTgt spid="59"/>
                                        </p:tgtEl>
                                        <p:attrNameLst>
                                          <p:attrName>ppt_x</p:attrName>
                                        </p:attrNameLst>
                                      </p:cBhvr>
                                      <p:tavLst>
                                        <p:tav tm="0">
                                          <p:val>
                                            <p:strVal val="#ppt_x+#ppt_w*1.125000"/>
                                          </p:val>
                                        </p:tav>
                                        <p:tav tm="100000">
                                          <p:val>
                                            <p:strVal val="#ppt_x"/>
                                          </p:val>
                                        </p:tav>
                                      </p:tavLst>
                                    </p:anim>
                                    <p:animEffect transition="in" filter="wipe(left)">
                                      <p:cBhvr>
                                        <p:cTn id="63" dur="500"/>
                                        <p:tgtEl>
                                          <p:spTgt spid="59"/>
                                        </p:tgtEl>
                                      </p:cBhvr>
                                    </p:animEffect>
                                  </p:childTnLst>
                                </p:cTn>
                              </p:par>
                            </p:childTnLst>
                          </p:cTn>
                        </p:par>
                        <p:par>
                          <p:cTn id="64" fill="hold">
                            <p:stCondLst>
                              <p:cond delay="500"/>
                            </p:stCondLst>
                            <p:childTnLst>
                              <p:par>
                                <p:cTn id="65" presetID="12" presetClass="entr" presetSubtype="1" fill="hold" nodeType="afterEffect">
                                  <p:stCondLst>
                                    <p:cond delay="0"/>
                                  </p:stCondLst>
                                  <p:childTnLst>
                                    <p:set>
                                      <p:cBhvr>
                                        <p:cTn id="66" dur="1" fill="hold">
                                          <p:stCondLst>
                                            <p:cond delay="0"/>
                                          </p:stCondLst>
                                        </p:cTn>
                                        <p:tgtEl>
                                          <p:spTgt spid="61"/>
                                        </p:tgtEl>
                                        <p:attrNameLst>
                                          <p:attrName>style.visibility</p:attrName>
                                        </p:attrNameLst>
                                      </p:cBhvr>
                                      <p:to>
                                        <p:strVal val="visible"/>
                                      </p:to>
                                    </p:set>
                                    <p:anim calcmode="lin" valueType="num">
                                      <p:cBhvr additive="base">
                                        <p:cTn id="67" dur="500"/>
                                        <p:tgtEl>
                                          <p:spTgt spid="61"/>
                                        </p:tgtEl>
                                        <p:attrNameLst>
                                          <p:attrName>ppt_y</p:attrName>
                                        </p:attrNameLst>
                                      </p:cBhvr>
                                      <p:tavLst>
                                        <p:tav tm="0">
                                          <p:val>
                                            <p:strVal val="#ppt_y-#ppt_h*1.125000"/>
                                          </p:val>
                                        </p:tav>
                                        <p:tav tm="100000">
                                          <p:val>
                                            <p:strVal val="#ppt_y"/>
                                          </p:val>
                                        </p:tav>
                                      </p:tavLst>
                                    </p:anim>
                                    <p:animEffect transition="in" filter="wipe(down)">
                                      <p:cBhvr>
                                        <p:cTn id="68" dur="500"/>
                                        <p:tgtEl>
                                          <p:spTgt spid="61"/>
                                        </p:tgtEl>
                                      </p:cBhvr>
                                    </p:animEffect>
                                  </p:childTnLst>
                                </p:cTn>
                              </p:par>
                            </p:childTnLst>
                          </p:cTn>
                        </p:par>
                        <p:par>
                          <p:cTn id="69" fill="hold">
                            <p:stCondLst>
                              <p:cond delay="1000"/>
                            </p:stCondLst>
                            <p:childTnLst>
                              <p:par>
                                <p:cTn id="70" presetID="12" presetClass="entr" presetSubtype="1" fill="hold" grpId="0" nodeType="afterEffect">
                                  <p:stCondLst>
                                    <p:cond delay="0"/>
                                  </p:stCondLst>
                                  <p:childTnLst>
                                    <p:set>
                                      <p:cBhvr>
                                        <p:cTn id="71" dur="1" fill="hold">
                                          <p:stCondLst>
                                            <p:cond delay="0"/>
                                          </p:stCondLst>
                                        </p:cTn>
                                        <p:tgtEl>
                                          <p:spTgt spid="64"/>
                                        </p:tgtEl>
                                        <p:attrNameLst>
                                          <p:attrName>style.visibility</p:attrName>
                                        </p:attrNameLst>
                                      </p:cBhvr>
                                      <p:to>
                                        <p:strVal val="visible"/>
                                      </p:to>
                                    </p:set>
                                    <p:anim calcmode="lin" valueType="num">
                                      <p:cBhvr additive="base">
                                        <p:cTn id="72" dur="500"/>
                                        <p:tgtEl>
                                          <p:spTgt spid="64"/>
                                        </p:tgtEl>
                                        <p:attrNameLst>
                                          <p:attrName>ppt_y</p:attrName>
                                        </p:attrNameLst>
                                      </p:cBhvr>
                                      <p:tavLst>
                                        <p:tav tm="0">
                                          <p:val>
                                            <p:strVal val="#ppt_y-#ppt_h*1.125000"/>
                                          </p:val>
                                        </p:tav>
                                        <p:tav tm="100000">
                                          <p:val>
                                            <p:strVal val="#ppt_y"/>
                                          </p:val>
                                        </p:tav>
                                      </p:tavLst>
                                    </p:anim>
                                    <p:animEffect transition="in" filter="wipe(down)">
                                      <p:cBhvr>
                                        <p:cTn id="7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3" grpId="0"/>
      <p:bldP spid="46" grpId="0"/>
      <p:bldP spid="57" grpId="0"/>
      <p:bldP spid="58" grpId="0"/>
      <p:bldP spid="59" grpId="0"/>
      <p:bldP spid="64"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Title 1"/>
          <p:cNvSpPr txBox="1">
            <a:spLocks/>
          </p:cNvSpPr>
          <p:nvPr/>
        </p:nvSpPr>
        <p:spPr>
          <a:xfrm>
            <a:off x="695400" y="70590"/>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err="1">
                <a:solidFill>
                  <a:schemeClr val="bg2"/>
                </a:solidFill>
              </a:rPr>
              <a:t>Airfoil</a:t>
            </a:r>
            <a:r>
              <a:rPr lang="en-GB" kern="0" dirty="0">
                <a:solidFill>
                  <a:schemeClr val="bg2"/>
                </a:solidFill>
              </a:rPr>
              <a:t> pitching moment</a:t>
            </a:r>
            <a:endParaRPr lang="nl-NL" kern="0" dirty="0">
              <a:solidFill>
                <a:schemeClr val="bg2"/>
              </a:solidFill>
            </a:endParaRPr>
          </a:p>
        </p:txBody>
      </p:sp>
      <p:pic>
        <p:nvPicPr>
          <p:cNvPr id="18434" name="Picture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51785" y="3024966"/>
            <a:ext cx="6494113" cy="3140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bwMode="auto">
          <a:xfrm rot="21155538">
            <a:off x="8144883" y="4402678"/>
            <a:ext cx="603506" cy="545692"/>
          </a:xfrm>
          <a:custGeom>
            <a:avLst/>
            <a:gdLst>
              <a:gd name="connsiteX0" fmla="*/ 0 w 627888"/>
              <a:gd name="connsiteY0" fmla="*/ 566928 h 566928"/>
              <a:gd name="connsiteX1" fmla="*/ 243840 w 627888"/>
              <a:gd name="connsiteY1" fmla="*/ 536448 h 566928"/>
              <a:gd name="connsiteX2" fmla="*/ 377952 w 627888"/>
              <a:gd name="connsiteY2" fmla="*/ 457200 h 566928"/>
              <a:gd name="connsiteX3" fmla="*/ 475488 w 627888"/>
              <a:gd name="connsiteY3" fmla="*/ 353568 h 566928"/>
              <a:gd name="connsiteX4" fmla="*/ 585216 w 627888"/>
              <a:gd name="connsiteY4" fmla="*/ 152400 h 566928"/>
              <a:gd name="connsiteX5" fmla="*/ 627888 w 627888"/>
              <a:gd name="connsiteY5"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888" h="566928">
                <a:moveTo>
                  <a:pt x="0" y="566928"/>
                </a:moveTo>
                <a:cubicBezTo>
                  <a:pt x="90424" y="560832"/>
                  <a:pt x="180848" y="554736"/>
                  <a:pt x="243840" y="536448"/>
                </a:cubicBezTo>
                <a:cubicBezTo>
                  <a:pt x="306832" y="518160"/>
                  <a:pt x="339344" y="487680"/>
                  <a:pt x="377952" y="457200"/>
                </a:cubicBezTo>
                <a:cubicBezTo>
                  <a:pt x="416560" y="426720"/>
                  <a:pt x="440944" y="404368"/>
                  <a:pt x="475488" y="353568"/>
                </a:cubicBezTo>
                <a:cubicBezTo>
                  <a:pt x="510032" y="302768"/>
                  <a:pt x="559816" y="211328"/>
                  <a:pt x="585216" y="152400"/>
                </a:cubicBezTo>
                <a:cubicBezTo>
                  <a:pt x="610616" y="93472"/>
                  <a:pt x="619252" y="46736"/>
                  <a:pt x="627888" y="0"/>
                </a:cubicBezTo>
              </a:path>
            </a:pathLst>
          </a:custGeom>
          <a:noFill/>
          <a:ln w="25400" cap="flat" cmpd="sng" algn="ctr">
            <a:solidFill>
              <a:srgbClr val="FF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
        <p:nvSpPr>
          <p:cNvPr id="7" name="Oval 6"/>
          <p:cNvSpPr/>
          <p:nvPr/>
        </p:nvSpPr>
        <p:spPr bwMode="auto">
          <a:xfrm>
            <a:off x="8225638" y="5492084"/>
            <a:ext cx="643525" cy="64807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
        <p:nvSpPr>
          <p:cNvPr id="16" name="Oval 15"/>
          <p:cNvSpPr/>
          <p:nvPr/>
        </p:nvSpPr>
        <p:spPr bwMode="auto">
          <a:xfrm>
            <a:off x="6312025" y="3036865"/>
            <a:ext cx="643525" cy="64807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
        <p:nvSpPr>
          <p:cNvPr id="2" name="Rectangle 1"/>
          <p:cNvSpPr/>
          <p:nvPr/>
        </p:nvSpPr>
        <p:spPr>
          <a:xfrm>
            <a:off x="695400" y="793218"/>
            <a:ext cx="9793088" cy="338554"/>
          </a:xfrm>
          <a:prstGeom prst="rect">
            <a:avLst/>
          </a:prstGeom>
        </p:spPr>
        <p:txBody>
          <a:bodyPr wrap="square">
            <a:spAutoFit/>
          </a:bodyPr>
          <a:lstStyle/>
          <a:p>
            <a:pPr algn="just"/>
            <a:r>
              <a:rPr lang="en-GB" dirty="0"/>
              <a:t>A moment is be always evaluated with respect to a reference point.   </a:t>
            </a:r>
          </a:p>
        </p:txBody>
      </p:sp>
      <p:sp>
        <p:nvSpPr>
          <p:cNvPr id="14" name="Rectangle 13"/>
          <p:cNvSpPr/>
          <p:nvPr/>
        </p:nvSpPr>
        <p:spPr>
          <a:xfrm>
            <a:off x="695400" y="1413065"/>
            <a:ext cx="10225136" cy="1323439"/>
          </a:xfrm>
          <a:prstGeom prst="rect">
            <a:avLst/>
          </a:prstGeom>
        </p:spPr>
        <p:txBody>
          <a:bodyPr wrap="square">
            <a:spAutoFit/>
          </a:bodyPr>
          <a:lstStyle/>
          <a:p>
            <a:pPr algn="just"/>
            <a:r>
              <a:rPr lang="en-GB" dirty="0"/>
              <a:t>Some useful definitions:</a:t>
            </a:r>
          </a:p>
          <a:p>
            <a:pPr marL="285750" indent="-285750" algn="just">
              <a:buFont typeface="Arial" panose="020B0604020202020204" pitchFamily="34" charset="0"/>
              <a:buChar char="•"/>
            </a:pPr>
            <a:r>
              <a:rPr lang="en-GB" b="1" dirty="0" err="1"/>
              <a:t>Center</a:t>
            </a:r>
            <a:r>
              <a:rPr lang="en-GB" b="1" dirty="0"/>
              <a:t> of pressure: </a:t>
            </a:r>
            <a:r>
              <a:rPr lang="en-GB" dirty="0"/>
              <a:t>it is the point where the resultant force of the pressure distributions is applied without producing any moment (similar to </a:t>
            </a:r>
            <a:r>
              <a:rPr lang="en-GB" dirty="0" err="1"/>
              <a:t>c.g.</a:t>
            </a:r>
            <a:r>
              <a:rPr lang="en-GB" dirty="0"/>
              <a:t>)</a:t>
            </a:r>
          </a:p>
          <a:p>
            <a:pPr marL="285750" indent="-285750" algn="just">
              <a:buFont typeface="Arial" panose="020B0604020202020204" pitchFamily="34" charset="0"/>
              <a:buChar char="•"/>
            </a:pPr>
            <a:r>
              <a:rPr lang="en-GB" b="1" dirty="0"/>
              <a:t>Aerodynamic </a:t>
            </a:r>
            <a:r>
              <a:rPr lang="en-GB" b="1" dirty="0" err="1"/>
              <a:t>center</a:t>
            </a:r>
            <a:r>
              <a:rPr lang="en-GB" b="1" dirty="0"/>
              <a:t>:</a:t>
            </a:r>
            <a:r>
              <a:rPr lang="en-GB" dirty="0"/>
              <a:t> the point where the pitching moment does not depend on the generated lift (hence also the AOA)</a:t>
            </a:r>
            <a:r>
              <a:rPr lang="en-GB" b="1" dirty="0"/>
              <a:t>; </a:t>
            </a:r>
            <a:r>
              <a:rPr lang="en-GB" dirty="0"/>
              <a:t>usually it is very close to the quarter chord point.</a:t>
            </a:r>
          </a:p>
        </p:txBody>
      </p:sp>
      <p:sp>
        <p:nvSpPr>
          <p:cNvPr id="15" name="Text Box 23"/>
          <p:cNvSpPr txBox="1">
            <a:spLocks noChangeArrowheads="1"/>
          </p:cNvSpPr>
          <p:nvPr/>
        </p:nvSpPr>
        <p:spPr bwMode="auto">
          <a:xfrm>
            <a:off x="1750161" y="3269439"/>
            <a:ext cx="2169861" cy="830997"/>
          </a:xfrm>
          <a:prstGeom prst="rect">
            <a:avLst/>
          </a:prstGeom>
          <a:solidFill>
            <a:srgbClr val="FFFF00"/>
          </a:solidFill>
          <a:ln w="9525" algn="ctr">
            <a:solidFill>
              <a:schemeClr val="tx1"/>
            </a:solidFill>
            <a:miter lim="800000"/>
            <a:headEnd/>
            <a:tailEnd/>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Longitudinal stability &amp; tail sizing will be faced in AE3211 </a:t>
            </a:r>
            <a:endParaRPr lang="el-GR" dirty="0"/>
          </a:p>
        </p:txBody>
      </p:sp>
    </p:spTree>
    <p:custDataLst>
      <p:tags r:id="rId1"/>
    </p:custDataLst>
    <p:extLst>
      <p:ext uri="{BB962C8B-B14F-4D97-AF65-F5344CB8AC3E}">
        <p14:creationId xmlns:p14="http://schemas.microsoft.com/office/powerpoint/2010/main" val="220393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ChangeArrowheads="1"/>
          </p:cNvSpPr>
          <p:nvPr/>
        </p:nvSpPr>
        <p:spPr bwMode="auto">
          <a:xfrm>
            <a:off x="767408" y="137536"/>
            <a:ext cx="964907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p>
            <a:pPr algn="l" fontAlgn="base">
              <a:spcBef>
                <a:spcPct val="50000"/>
              </a:spcBef>
            </a:pPr>
            <a:r>
              <a:rPr lang="en-GB" sz="3300" dirty="0" err="1">
                <a:solidFill>
                  <a:schemeClr val="bg2"/>
                </a:solidFill>
                <a:latin typeface="Bookman Old Style" pitchFamily="18" charset="0"/>
              </a:rPr>
              <a:t>Airfoil</a:t>
            </a:r>
            <a:r>
              <a:rPr lang="en-GB" sz="3300" dirty="0">
                <a:solidFill>
                  <a:schemeClr val="bg2"/>
                </a:solidFill>
                <a:latin typeface="Bookman Old Style" pitchFamily="18" charset="0"/>
              </a:rPr>
              <a:t> design parameters (geometry)</a:t>
            </a:r>
          </a:p>
        </p:txBody>
      </p:sp>
      <p:sp>
        <p:nvSpPr>
          <p:cNvPr id="19465" name="Oval 1"/>
          <p:cNvSpPr>
            <a:spLocks noChangeAspect="1" noChangeArrowheads="1"/>
          </p:cNvSpPr>
          <p:nvPr/>
        </p:nvSpPr>
        <p:spPr bwMode="auto">
          <a:xfrm>
            <a:off x="7686532" y="5480044"/>
            <a:ext cx="212987" cy="220962"/>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lgn="r" fontAlgn="base"/>
            <a:endParaRPr lang="nl-NL" sz="2200"/>
          </a:p>
        </p:txBody>
      </p:sp>
      <p:sp>
        <p:nvSpPr>
          <p:cNvPr id="10" name="Content Placeholder 2"/>
          <p:cNvSpPr txBox="1">
            <a:spLocks/>
          </p:cNvSpPr>
          <p:nvPr/>
        </p:nvSpPr>
        <p:spPr>
          <a:xfrm>
            <a:off x="641648" y="1014627"/>
            <a:ext cx="10854952" cy="122413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92075" lvl="1" indent="0">
              <a:lnSpc>
                <a:spcPct val="100000"/>
              </a:lnSpc>
              <a:spcAft>
                <a:spcPts val="0"/>
              </a:spcAft>
              <a:buNone/>
            </a:pPr>
            <a:r>
              <a:rPr lang="en-GB" kern="0" dirty="0"/>
              <a:t>How do the aerodynamic characteristics of the </a:t>
            </a:r>
            <a:r>
              <a:rPr lang="en-GB" kern="0" dirty="0" err="1"/>
              <a:t>airfoil</a:t>
            </a:r>
            <a:r>
              <a:rPr lang="en-GB" kern="0" dirty="0"/>
              <a:t> depend on the main geometric parameters? </a:t>
            </a:r>
          </a:p>
          <a:p>
            <a:pPr marL="92075" lvl="1" indent="0">
              <a:lnSpc>
                <a:spcPct val="100000"/>
              </a:lnSpc>
              <a:spcAft>
                <a:spcPts val="0"/>
              </a:spcAft>
              <a:buNone/>
            </a:pPr>
            <a:r>
              <a:rPr lang="en-GB" kern="0" dirty="0"/>
              <a:t>But first…what are the main geometric parameters we are talking about?</a:t>
            </a:r>
          </a:p>
        </p:txBody>
      </p:sp>
      <p:sp>
        <p:nvSpPr>
          <p:cNvPr id="14" name="Text Box 4"/>
          <p:cNvSpPr txBox="1">
            <a:spLocks noChangeArrowheads="1"/>
          </p:cNvSpPr>
          <p:nvPr/>
        </p:nvSpPr>
        <p:spPr bwMode="auto">
          <a:xfrm>
            <a:off x="2135560" y="2132856"/>
            <a:ext cx="504031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lnSpc>
                <a:spcPct val="300000"/>
              </a:lnSpc>
              <a:buFontTx/>
              <a:buAutoNum type="arabicPeriod"/>
            </a:pPr>
            <a:r>
              <a:rPr lang="en-GB" sz="2000" dirty="0"/>
              <a:t>Effect of the </a:t>
            </a:r>
            <a:r>
              <a:rPr lang="en-GB" sz="2000" dirty="0" err="1"/>
              <a:t>airfoil</a:t>
            </a:r>
            <a:r>
              <a:rPr lang="en-GB" sz="2000" dirty="0"/>
              <a:t> camber</a:t>
            </a:r>
          </a:p>
          <a:p>
            <a:pPr algn="l" eaLnBrk="1" fontAlgn="base" hangingPunct="1">
              <a:lnSpc>
                <a:spcPct val="300000"/>
              </a:lnSpc>
              <a:buFontTx/>
              <a:buAutoNum type="arabicPeriod"/>
            </a:pPr>
            <a:r>
              <a:rPr lang="en-GB" sz="2000" dirty="0"/>
              <a:t>Effect of the </a:t>
            </a:r>
            <a:r>
              <a:rPr lang="en-GB" sz="2000" dirty="0" err="1"/>
              <a:t>airfoil</a:t>
            </a:r>
            <a:r>
              <a:rPr lang="en-GB" sz="2000" dirty="0"/>
              <a:t> (max) thickness</a:t>
            </a:r>
          </a:p>
          <a:p>
            <a:pPr algn="l" eaLnBrk="1" fontAlgn="base" hangingPunct="1">
              <a:lnSpc>
                <a:spcPct val="300000"/>
              </a:lnSpc>
              <a:buFontTx/>
              <a:buAutoNum type="arabicPeriod"/>
            </a:pPr>
            <a:r>
              <a:rPr lang="en-GB" sz="2000" dirty="0"/>
              <a:t>Effect of the (t/c)</a:t>
            </a:r>
            <a:r>
              <a:rPr lang="en-GB" sz="2000" baseline="-25000" dirty="0"/>
              <a:t>max</a:t>
            </a:r>
            <a:r>
              <a:rPr lang="en-GB" sz="2000" dirty="0"/>
              <a:t>  position</a:t>
            </a:r>
          </a:p>
          <a:p>
            <a:pPr algn="l" eaLnBrk="1" fontAlgn="base" hangingPunct="1">
              <a:lnSpc>
                <a:spcPct val="300000"/>
              </a:lnSpc>
              <a:buFontTx/>
              <a:buAutoNum type="arabicPeriod"/>
            </a:pPr>
            <a:r>
              <a:rPr lang="en-GB" sz="2000" dirty="0">
                <a:solidFill>
                  <a:schemeClr val="tx1">
                    <a:lumMod val="50000"/>
                    <a:lumOff val="50000"/>
                  </a:schemeClr>
                </a:solidFill>
              </a:rPr>
              <a:t>(Effect of the </a:t>
            </a:r>
            <a:r>
              <a:rPr lang="en-GB" sz="2000" dirty="0" err="1">
                <a:solidFill>
                  <a:schemeClr val="tx1">
                    <a:lumMod val="50000"/>
                    <a:lumOff val="50000"/>
                  </a:schemeClr>
                </a:solidFill>
              </a:rPr>
              <a:t>airfoil</a:t>
            </a:r>
            <a:r>
              <a:rPr lang="en-GB" sz="2000" dirty="0">
                <a:solidFill>
                  <a:schemeClr val="tx1">
                    <a:lumMod val="50000"/>
                    <a:lumOff val="50000"/>
                  </a:schemeClr>
                </a:solidFill>
              </a:rPr>
              <a:t> nose radius)*</a:t>
            </a:r>
          </a:p>
        </p:txBody>
      </p:sp>
      <p:grpSp>
        <p:nvGrpSpPr>
          <p:cNvPr id="29" name="Group 28"/>
          <p:cNvGrpSpPr/>
          <p:nvPr/>
        </p:nvGrpSpPr>
        <p:grpSpPr>
          <a:xfrm>
            <a:off x="7680176" y="2475122"/>
            <a:ext cx="2448272" cy="582069"/>
            <a:chOff x="6288545" y="2492896"/>
            <a:chExt cx="1883855" cy="500698"/>
          </a:xfrm>
        </p:grpSpPr>
        <p:sp>
          <p:nvSpPr>
            <p:cNvPr id="30" name="Freeform 24"/>
            <p:cNvSpPr>
              <a:spLocks noChangeAspect="1"/>
            </p:cNvSpPr>
            <p:nvPr/>
          </p:nvSpPr>
          <p:spPr bwMode="auto">
            <a:xfrm>
              <a:off x="6288545" y="2492896"/>
              <a:ext cx="1876278" cy="500698"/>
            </a:xfrm>
            <a:custGeom>
              <a:avLst/>
              <a:gdLst>
                <a:gd name="T0" fmla="*/ 2147483647 w 2925"/>
                <a:gd name="T1" fmla="*/ 2147483647 h 756"/>
                <a:gd name="T2" fmla="*/ 2147483647 w 2925"/>
                <a:gd name="T3" fmla="*/ 2147483647 h 756"/>
                <a:gd name="T4" fmla="*/ 2147483647 w 2925"/>
                <a:gd name="T5" fmla="*/ 2147483647 h 756"/>
                <a:gd name="T6" fmla="*/ 2147483647 w 2925"/>
                <a:gd name="T7" fmla="*/ 2147483647 h 756"/>
                <a:gd name="T8" fmla="*/ 2147483647 w 2925"/>
                <a:gd name="T9" fmla="*/ 2147483647 h 756"/>
                <a:gd name="T10" fmla="*/ 2147483647 w 2925"/>
                <a:gd name="T11" fmla="*/ 2147483647 h 756"/>
                <a:gd name="T12" fmla="*/ 2147483647 w 2925"/>
                <a:gd name="T13" fmla="*/ 2147483647 h 756"/>
                <a:gd name="T14" fmla="*/ 2147483647 w 2925"/>
                <a:gd name="T15" fmla="*/ 2147483647 h 756"/>
                <a:gd name="T16" fmla="*/ 2147483647 w 2925"/>
                <a:gd name="T17" fmla="*/ 2147483647 h 756"/>
                <a:gd name="T18" fmla="*/ 2147483647 w 2925"/>
                <a:gd name="T19" fmla="*/ 2147483647 h 756"/>
                <a:gd name="T20" fmla="*/ 2147483647 w 2925"/>
                <a:gd name="T21" fmla="*/ 2147483647 h 756"/>
                <a:gd name="T22" fmla="*/ 2147483647 w 2925"/>
                <a:gd name="T23" fmla="*/ 2147483647 h 756"/>
                <a:gd name="T24" fmla="*/ 2147483647 w 2925"/>
                <a:gd name="T25" fmla="*/ 2147483647 h 756"/>
                <a:gd name="T26" fmla="*/ 2147483647 w 2925"/>
                <a:gd name="T27" fmla="*/ 2147483647 h 756"/>
                <a:gd name="T28" fmla="*/ 2147483647 w 2925"/>
                <a:gd name="T29" fmla="*/ 2147483647 h 7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25"/>
                <a:gd name="T46" fmla="*/ 0 h 756"/>
                <a:gd name="T47" fmla="*/ 2925 w 2925"/>
                <a:gd name="T48" fmla="*/ 756 h 7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25" h="756">
                  <a:moveTo>
                    <a:pt x="2925" y="630"/>
                  </a:moveTo>
                  <a:cubicBezTo>
                    <a:pt x="2815" y="565"/>
                    <a:pt x="2497" y="332"/>
                    <a:pt x="2263" y="232"/>
                  </a:cubicBezTo>
                  <a:cubicBezTo>
                    <a:pt x="2029" y="132"/>
                    <a:pt x="1738" y="64"/>
                    <a:pt x="1521" y="32"/>
                  </a:cubicBezTo>
                  <a:cubicBezTo>
                    <a:pt x="1304" y="0"/>
                    <a:pt x="1126" y="25"/>
                    <a:pt x="962" y="40"/>
                  </a:cubicBezTo>
                  <a:cubicBezTo>
                    <a:pt x="798" y="55"/>
                    <a:pt x="661" y="80"/>
                    <a:pt x="535" y="119"/>
                  </a:cubicBezTo>
                  <a:cubicBezTo>
                    <a:pt x="409" y="158"/>
                    <a:pt x="288" y="220"/>
                    <a:pt x="208" y="275"/>
                  </a:cubicBezTo>
                  <a:cubicBezTo>
                    <a:pt x="128" y="330"/>
                    <a:pt x="85" y="389"/>
                    <a:pt x="54" y="447"/>
                  </a:cubicBezTo>
                  <a:cubicBezTo>
                    <a:pt x="23" y="505"/>
                    <a:pt x="0" y="576"/>
                    <a:pt x="21" y="625"/>
                  </a:cubicBezTo>
                  <a:cubicBezTo>
                    <a:pt x="42" y="674"/>
                    <a:pt x="97" y="724"/>
                    <a:pt x="178" y="740"/>
                  </a:cubicBezTo>
                  <a:cubicBezTo>
                    <a:pt x="259" y="756"/>
                    <a:pt x="381" y="750"/>
                    <a:pt x="507" y="722"/>
                  </a:cubicBezTo>
                  <a:cubicBezTo>
                    <a:pt x="633" y="694"/>
                    <a:pt x="765" y="611"/>
                    <a:pt x="936" y="573"/>
                  </a:cubicBezTo>
                  <a:cubicBezTo>
                    <a:pt x="1107" y="535"/>
                    <a:pt x="1280" y="503"/>
                    <a:pt x="1530" y="494"/>
                  </a:cubicBezTo>
                  <a:cubicBezTo>
                    <a:pt x="1780" y="485"/>
                    <a:pt x="2205" y="498"/>
                    <a:pt x="2437" y="520"/>
                  </a:cubicBezTo>
                  <a:cubicBezTo>
                    <a:pt x="2669" y="542"/>
                    <a:pt x="2839" y="607"/>
                    <a:pt x="2920" y="625"/>
                  </a:cubicBezTo>
                  <a:lnTo>
                    <a:pt x="2925" y="630"/>
                  </a:lnTo>
                  <a:close/>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
          <p:nvSpPr>
            <p:cNvPr id="31" name="Freeform 25"/>
            <p:cNvSpPr>
              <a:spLocks/>
            </p:cNvSpPr>
            <p:nvPr/>
          </p:nvSpPr>
          <p:spPr bwMode="auto">
            <a:xfrm>
              <a:off x="6333005" y="2636912"/>
              <a:ext cx="1839395" cy="288000"/>
            </a:xfrm>
            <a:custGeom>
              <a:avLst/>
              <a:gdLst>
                <a:gd name="T0" fmla="*/ 0 w 2880"/>
                <a:gd name="T1" fmla="*/ 2147483647 h 362"/>
                <a:gd name="T2" fmla="*/ 2147483647 w 2880"/>
                <a:gd name="T3" fmla="*/ 2147483647 h 362"/>
                <a:gd name="T4" fmla="*/ 2147483647 w 2880"/>
                <a:gd name="T5" fmla="*/ 2147483647 h 362"/>
                <a:gd name="T6" fmla="*/ 2147483647 w 2880"/>
                <a:gd name="T7" fmla="*/ 2147483647 h 362"/>
                <a:gd name="T8" fmla="*/ 2147483647 w 2880"/>
                <a:gd name="T9" fmla="*/ 2147483647 h 362"/>
                <a:gd name="T10" fmla="*/ 2147483647 w 2880"/>
                <a:gd name="T11" fmla="*/ 2147483647 h 362"/>
                <a:gd name="T12" fmla="*/ 2147483647 w 2880"/>
                <a:gd name="T13" fmla="*/ 2147483647 h 362"/>
                <a:gd name="T14" fmla="*/ 2147483647 w 2880"/>
                <a:gd name="T15" fmla="*/ 2147483647 h 362"/>
                <a:gd name="T16" fmla="*/ 2147483647 w 2880"/>
                <a:gd name="T17" fmla="*/ 2147483647 h 3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0"/>
                <a:gd name="T28" fmla="*/ 0 h 362"/>
                <a:gd name="T29" fmla="*/ 2880 w 2880"/>
                <a:gd name="T30" fmla="*/ 362 h 3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0" h="362">
                  <a:moveTo>
                    <a:pt x="0" y="362"/>
                  </a:moveTo>
                  <a:cubicBezTo>
                    <a:pt x="46" y="340"/>
                    <a:pt x="181" y="269"/>
                    <a:pt x="278" y="227"/>
                  </a:cubicBezTo>
                  <a:cubicBezTo>
                    <a:pt x="375" y="185"/>
                    <a:pt x="460" y="145"/>
                    <a:pt x="580" y="112"/>
                  </a:cubicBezTo>
                  <a:cubicBezTo>
                    <a:pt x="700" y="79"/>
                    <a:pt x="860" y="44"/>
                    <a:pt x="998" y="26"/>
                  </a:cubicBezTo>
                  <a:cubicBezTo>
                    <a:pt x="1136" y="8"/>
                    <a:pt x="1264" y="0"/>
                    <a:pt x="1406" y="2"/>
                  </a:cubicBezTo>
                  <a:cubicBezTo>
                    <a:pt x="1548" y="4"/>
                    <a:pt x="1703" y="18"/>
                    <a:pt x="1852" y="40"/>
                  </a:cubicBezTo>
                  <a:cubicBezTo>
                    <a:pt x="2001" y="62"/>
                    <a:pt x="2170" y="103"/>
                    <a:pt x="2299" y="136"/>
                  </a:cubicBezTo>
                  <a:cubicBezTo>
                    <a:pt x="2428" y="169"/>
                    <a:pt x="2528" y="200"/>
                    <a:pt x="2625" y="237"/>
                  </a:cubicBezTo>
                  <a:cubicBezTo>
                    <a:pt x="2722" y="274"/>
                    <a:pt x="2801" y="315"/>
                    <a:pt x="2880" y="357"/>
                  </a:cubicBezTo>
                </a:path>
              </a:pathLst>
            </a:custGeom>
            <a:noFill/>
            <a:ln w="38100" cap="flat"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grpSp>
      <p:grpSp>
        <p:nvGrpSpPr>
          <p:cNvPr id="7" name="Group 6"/>
          <p:cNvGrpSpPr/>
          <p:nvPr/>
        </p:nvGrpSpPr>
        <p:grpSpPr>
          <a:xfrm>
            <a:off x="7686532" y="3327577"/>
            <a:ext cx="2438425" cy="582069"/>
            <a:chOff x="7686532" y="3327577"/>
            <a:chExt cx="2438425" cy="582069"/>
          </a:xfrm>
        </p:grpSpPr>
        <p:sp>
          <p:nvSpPr>
            <p:cNvPr id="36" name="Freeform 24"/>
            <p:cNvSpPr>
              <a:spLocks noChangeAspect="1"/>
            </p:cNvSpPr>
            <p:nvPr/>
          </p:nvSpPr>
          <p:spPr bwMode="auto">
            <a:xfrm>
              <a:off x="7686532" y="3327577"/>
              <a:ext cx="2438425" cy="582069"/>
            </a:xfrm>
            <a:custGeom>
              <a:avLst/>
              <a:gdLst>
                <a:gd name="T0" fmla="*/ 2147483647 w 2925"/>
                <a:gd name="T1" fmla="*/ 2147483647 h 756"/>
                <a:gd name="T2" fmla="*/ 2147483647 w 2925"/>
                <a:gd name="T3" fmla="*/ 2147483647 h 756"/>
                <a:gd name="T4" fmla="*/ 2147483647 w 2925"/>
                <a:gd name="T5" fmla="*/ 2147483647 h 756"/>
                <a:gd name="T6" fmla="*/ 2147483647 w 2925"/>
                <a:gd name="T7" fmla="*/ 2147483647 h 756"/>
                <a:gd name="T8" fmla="*/ 2147483647 w 2925"/>
                <a:gd name="T9" fmla="*/ 2147483647 h 756"/>
                <a:gd name="T10" fmla="*/ 2147483647 w 2925"/>
                <a:gd name="T11" fmla="*/ 2147483647 h 756"/>
                <a:gd name="T12" fmla="*/ 2147483647 w 2925"/>
                <a:gd name="T13" fmla="*/ 2147483647 h 756"/>
                <a:gd name="T14" fmla="*/ 2147483647 w 2925"/>
                <a:gd name="T15" fmla="*/ 2147483647 h 756"/>
                <a:gd name="T16" fmla="*/ 2147483647 w 2925"/>
                <a:gd name="T17" fmla="*/ 2147483647 h 756"/>
                <a:gd name="T18" fmla="*/ 2147483647 w 2925"/>
                <a:gd name="T19" fmla="*/ 2147483647 h 756"/>
                <a:gd name="T20" fmla="*/ 2147483647 w 2925"/>
                <a:gd name="T21" fmla="*/ 2147483647 h 756"/>
                <a:gd name="T22" fmla="*/ 2147483647 w 2925"/>
                <a:gd name="T23" fmla="*/ 2147483647 h 756"/>
                <a:gd name="T24" fmla="*/ 2147483647 w 2925"/>
                <a:gd name="T25" fmla="*/ 2147483647 h 756"/>
                <a:gd name="T26" fmla="*/ 2147483647 w 2925"/>
                <a:gd name="T27" fmla="*/ 2147483647 h 756"/>
                <a:gd name="T28" fmla="*/ 2147483647 w 2925"/>
                <a:gd name="T29" fmla="*/ 2147483647 h 7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25"/>
                <a:gd name="T46" fmla="*/ 0 h 756"/>
                <a:gd name="T47" fmla="*/ 2925 w 2925"/>
                <a:gd name="T48" fmla="*/ 756 h 7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25" h="756">
                  <a:moveTo>
                    <a:pt x="2925" y="630"/>
                  </a:moveTo>
                  <a:cubicBezTo>
                    <a:pt x="2815" y="565"/>
                    <a:pt x="2497" y="332"/>
                    <a:pt x="2263" y="232"/>
                  </a:cubicBezTo>
                  <a:cubicBezTo>
                    <a:pt x="2029" y="132"/>
                    <a:pt x="1738" y="64"/>
                    <a:pt x="1521" y="32"/>
                  </a:cubicBezTo>
                  <a:cubicBezTo>
                    <a:pt x="1304" y="0"/>
                    <a:pt x="1126" y="25"/>
                    <a:pt x="962" y="40"/>
                  </a:cubicBezTo>
                  <a:cubicBezTo>
                    <a:pt x="798" y="55"/>
                    <a:pt x="661" y="80"/>
                    <a:pt x="535" y="119"/>
                  </a:cubicBezTo>
                  <a:cubicBezTo>
                    <a:pt x="409" y="158"/>
                    <a:pt x="288" y="220"/>
                    <a:pt x="208" y="275"/>
                  </a:cubicBezTo>
                  <a:cubicBezTo>
                    <a:pt x="128" y="330"/>
                    <a:pt x="85" y="389"/>
                    <a:pt x="54" y="447"/>
                  </a:cubicBezTo>
                  <a:cubicBezTo>
                    <a:pt x="23" y="505"/>
                    <a:pt x="0" y="576"/>
                    <a:pt x="21" y="625"/>
                  </a:cubicBezTo>
                  <a:cubicBezTo>
                    <a:pt x="42" y="674"/>
                    <a:pt x="97" y="724"/>
                    <a:pt x="178" y="740"/>
                  </a:cubicBezTo>
                  <a:cubicBezTo>
                    <a:pt x="259" y="756"/>
                    <a:pt x="381" y="750"/>
                    <a:pt x="507" y="722"/>
                  </a:cubicBezTo>
                  <a:cubicBezTo>
                    <a:pt x="633" y="694"/>
                    <a:pt x="765" y="611"/>
                    <a:pt x="936" y="573"/>
                  </a:cubicBezTo>
                  <a:cubicBezTo>
                    <a:pt x="1107" y="535"/>
                    <a:pt x="1280" y="503"/>
                    <a:pt x="1530" y="494"/>
                  </a:cubicBezTo>
                  <a:cubicBezTo>
                    <a:pt x="1780" y="485"/>
                    <a:pt x="2205" y="498"/>
                    <a:pt x="2437" y="520"/>
                  </a:cubicBezTo>
                  <a:cubicBezTo>
                    <a:pt x="2669" y="542"/>
                    <a:pt x="2839" y="607"/>
                    <a:pt x="2920" y="625"/>
                  </a:cubicBezTo>
                  <a:lnTo>
                    <a:pt x="2925" y="630"/>
                  </a:lnTo>
                  <a:close/>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
          <p:nvSpPr>
            <p:cNvPr id="38" name="Line 20"/>
            <p:cNvSpPr>
              <a:spLocks noChangeAspect="1" noChangeShapeType="1"/>
            </p:cNvSpPr>
            <p:nvPr/>
          </p:nvSpPr>
          <p:spPr bwMode="auto">
            <a:xfrm flipH="1">
              <a:off x="8340134" y="3356992"/>
              <a:ext cx="0" cy="453749"/>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grpSp>
      <p:grpSp>
        <p:nvGrpSpPr>
          <p:cNvPr id="8" name="Group 7"/>
          <p:cNvGrpSpPr/>
          <p:nvPr/>
        </p:nvGrpSpPr>
        <p:grpSpPr>
          <a:xfrm>
            <a:off x="7686532" y="4217469"/>
            <a:ext cx="2441322" cy="582069"/>
            <a:chOff x="7686532" y="4217469"/>
            <a:chExt cx="2441322" cy="582069"/>
          </a:xfrm>
        </p:grpSpPr>
        <p:sp>
          <p:nvSpPr>
            <p:cNvPr id="20" name="Line 20"/>
            <p:cNvSpPr>
              <a:spLocks noChangeAspect="1" noChangeShapeType="1"/>
            </p:cNvSpPr>
            <p:nvPr/>
          </p:nvSpPr>
          <p:spPr bwMode="auto">
            <a:xfrm rot="5400000" flipH="1">
              <a:off x="8016511" y="4370654"/>
              <a:ext cx="0" cy="659958"/>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grpSp>
          <p:nvGrpSpPr>
            <p:cNvPr id="43" name="Group 42"/>
            <p:cNvGrpSpPr/>
            <p:nvPr/>
          </p:nvGrpSpPr>
          <p:grpSpPr>
            <a:xfrm>
              <a:off x="7689429" y="4217469"/>
              <a:ext cx="2438425" cy="582069"/>
              <a:chOff x="7686532" y="3327577"/>
              <a:chExt cx="2438425" cy="582069"/>
            </a:xfrm>
          </p:grpSpPr>
          <p:sp>
            <p:nvSpPr>
              <p:cNvPr id="44" name="Freeform 24"/>
              <p:cNvSpPr>
                <a:spLocks noChangeAspect="1"/>
              </p:cNvSpPr>
              <p:nvPr/>
            </p:nvSpPr>
            <p:spPr bwMode="auto">
              <a:xfrm>
                <a:off x="7686532" y="3327577"/>
                <a:ext cx="2438425" cy="582069"/>
              </a:xfrm>
              <a:custGeom>
                <a:avLst/>
                <a:gdLst>
                  <a:gd name="T0" fmla="*/ 2147483647 w 2925"/>
                  <a:gd name="T1" fmla="*/ 2147483647 h 756"/>
                  <a:gd name="T2" fmla="*/ 2147483647 w 2925"/>
                  <a:gd name="T3" fmla="*/ 2147483647 h 756"/>
                  <a:gd name="T4" fmla="*/ 2147483647 w 2925"/>
                  <a:gd name="T5" fmla="*/ 2147483647 h 756"/>
                  <a:gd name="T6" fmla="*/ 2147483647 w 2925"/>
                  <a:gd name="T7" fmla="*/ 2147483647 h 756"/>
                  <a:gd name="T8" fmla="*/ 2147483647 w 2925"/>
                  <a:gd name="T9" fmla="*/ 2147483647 h 756"/>
                  <a:gd name="T10" fmla="*/ 2147483647 w 2925"/>
                  <a:gd name="T11" fmla="*/ 2147483647 h 756"/>
                  <a:gd name="T12" fmla="*/ 2147483647 w 2925"/>
                  <a:gd name="T13" fmla="*/ 2147483647 h 756"/>
                  <a:gd name="T14" fmla="*/ 2147483647 w 2925"/>
                  <a:gd name="T15" fmla="*/ 2147483647 h 756"/>
                  <a:gd name="T16" fmla="*/ 2147483647 w 2925"/>
                  <a:gd name="T17" fmla="*/ 2147483647 h 756"/>
                  <a:gd name="T18" fmla="*/ 2147483647 w 2925"/>
                  <a:gd name="T19" fmla="*/ 2147483647 h 756"/>
                  <a:gd name="T20" fmla="*/ 2147483647 w 2925"/>
                  <a:gd name="T21" fmla="*/ 2147483647 h 756"/>
                  <a:gd name="T22" fmla="*/ 2147483647 w 2925"/>
                  <a:gd name="T23" fmla="*/ 2147483647 h 756"/>
                  <a:gd name="T24" fmla="*/ 2147483647 w 2925"/>
                  <a:gd name="T25" fmla="*/ 2147483647 h 756"/>
                  <a:gd name="T26" fmla="*/ 2147483647 w 2925"/>
                  <a:gd name="T27" fmla="*/ 2147483647 h 756"/>
                  <a:gd name="T28" fmla="*/ 2147483647 w 2925"/>
                  <a:gd name="T29" fmla="*/ 2147483647 h 7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25"/>
                  <a:gd name="T46" fmla="*/ 0 h 756"/>
                  <a:gd name="T47" fmla="*/ 2925 w 2925"/>
                  <a:gd name="T48" fmla="*/ 756 h 7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25" h="756">
                    <a:moveTo>
                      <a:pt x="2925" y="630"/>
                    </a:moveTo>
                    <a:cubicBezTo>
                      <a:pt x="2815" y="565"/>
                      <a:pt x="2497" y="332"/>
                      <a:pt x="2263" y="232"/>
                    </a:cubicBezTo>
                    <a:cubicBezTo>
                      <a:pt x="2029" y="132"/>
                      <a:pt x="1738" y="64"/>
                      <a:pt x="1521" y="32"/>
                    </a:cubicBezTo>
                    <a:cubicBezTo>
                      <a:pt x="1304" y="0"/>
                      <a:pt x="1126" y="25"/>
                      <a:pt x="962" y="40"/>
                    </a:cubicBezTo>
                    <a:cubicBezTo>
                      <a:pt x="798" y="55"/>
                      <a:pt x="661" y="80"/>
                      <a:pt x="535" y="119"/>
                    </a:cubicBezTo>
                    <a:cubicBezTo>
                      <a:pt x="409" y="158"/>
                      <a:pt x="288" y="220"/>
                      <a:pt x="208" y="275"/>
                    </a:cubicBezTo>
                    <a:cubicBezTo>
                      <a:pt x="128" y="330"/>
                      <a:pt x="85" y="389"/>
                      <a:pt x="54" y="447"/>
                    </a:cubicBezTo>
                    <a:cubicBezTo>
                      <a:pt x="23" y="505"/>
                      <a:pt x="0" y="576"/>
                      <a:pt x="21" y="625"/>
                    </a:cubicBezTo>
                    <a:cubicBezTo>
                      <a:pt x="42" y="674"/>
                      <a:pt x="97" y="724"/>
                      <a:pt x="178" y="740"/>
                    </a:cubicBezTo>
                    <a:cubicBezTo>
                      <a:pt x="259" y="756"/>
                      <a:pt x="381" y="750"/>
                      <a:pt x="507" y="722"/>
                    </a:cubicBezTo>
                    <a:cubicBezTo>
                      <a:pt x="633" y="694"/>
                      <a:pt x="765" y="611"/>
                      <a:pt x="936" y="573"/>
                    </a:cubicBezTo>
                    <a:cubicBezTo>
                      <a:pt x="1107" y="535"/>
                      <a:pt x="1280" y="503"/>
                      <a:pt x="1530" y="494"/>
                    </a:cubicBezTo>
                    <a:cubicBezTo>
                      <a:pt x="1780" y="485"/>
                      <a:pt x="2205" y="498"/>
                      <a:pt x="2437" y="520"/>
                    </a:cubicBezTo>
                    <a:cubicBezTo>
                      <a:pt x="2669" y="542"/>
                      <a:pt x="2839" y="607"/>
                      <a:pt x="2920" y="625"/>
                    </a:cubicBezTo>
                    <a:lnTo>
                      <a:pt x="2925" y="630"/>
                    </a:lnTo>
                    <a:close/>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
            <p:nvSpPr>
              <p:cNvPr id="45" name="Line 20"/>
              <p:cNvSpPr>
                <a:spLocks noChangeAspect="1" noChangeShapeType="1"/>
              </p:cNvSpPr>
              <p:nvPr/>
            </p:nvSpPr>
            <p:spPr bwMode="auto">
              <a:xfrm flipH="1">
                <a:off x="8340134" y="3356992"/>
                <a:ext cx="0" cy="453749"/>
              </a:xfrm>
              <a:prstGeom prst="line">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square">
                <a:spAutoFit/>
              </a:bodyPr>
              <a:lstStyle/>
              <a:p>
                <a:endParaRPr lang="nl-NL"/>
              </a:p>
            </p:txBody>
          </p:sp>
        </p:grpSp>
      </p:grpSp>
      <p:sp>
        <p:nvSpPr>
          <p:cNvPr id="48" name="Freeform 24"/>
          <p:cNvSpPr>
            <a:spLocks noChangeAspect="1"/>
          </p:cNvSpPr>
          <p:nvPr/>
        </p:nvSpPr>
        <p:spPr bwMode="auto">
          <a:xfrm>
            <a:off x="7666884" y="5167814"/>
            <a:ext cx="2438425" cy="582069"/>
          </a:xfrm>
          <a:custGeom>
            <a:avLst/>
            <a:gdLst>
              <a:gd name="T0" fmla="*/ 2147483647 w 2925"/>
              <a:gd name="T1" fmla="*/ 2147483647 h 756"/>
              <a:gd name="T2" fmla="*/ 2147483647 w 2925"/>
              <a:gd name="T3" fmla="*/ 2147483647 h 756"/>
              <a:gd name="T4" fmla="*/ 2147483647 w 2925"/>
              <a:gd name="T5" fmla="*/ 2147483647 h 756"/>
              <a:gd name="T6" fmla="*/ 2147483647 w 2925"/>
              <a:gd name="T7" fmla="*/ 2147483647 h 756"/>
              <a:gd name="T8" fmla="*/ 2147483647 w 2925"/>
              <a:gd name="T9" fmla="*/ 2147483647 h 756"/>
              <a:gd name="T10" fmla="*/ 2147483647 w 2925"/>
              <a:gd name="T11" fmla="*/ 2147483647 h 756"/>
              <a:gd name="T12" fmla="*/ 2147483647 w 2925"/>
              <a:gd name="T13" fmla="*/ 2147483647 h 756"/>
              <a:gd name="T14" fmla="*/ 2147483647 w 2925"/>
              <a:gd name="T15" fmla="*/ 2147483647 h 756"/>
              <a:gd name="T16" fmla="*/ 2147483647 w 2925"/>
              <a:gd name="T17" fmla="*/ 2147483647 h 756"/>
              <a:gd name="T18" fmla="*/ 2147483647 w 2925"/>
              <a:gd name="T19" fmla="*/ 2147483647 h 756"/>
              <a:gd name="T20" fmla="*/ 2147483647 w 2925"/>
              <a:gd name="T21" fmla="*/ 2147483647 h 756"/>
              <a:gd name="T22" fmla="*/ 2147483647 w 2925"/>
              <a:gd name="T23" fmla="*/ 2147483647 h 756"/>
              <a:gd name="T24" fmla="*/ 2147483647 w 2925"/>
              <a:gd name="T25" fmla="*/ 2147483647 h 756"/>
              <a:gd name="T26" fmla="*/ 2147483647 w 2925"/>
              <a:gd name="T27" fmla="*/ 2147483647 h 756"/>
              <a:gd name="T28" fmla="*/ 2147483647 w 2925"/>
              <a:gd name="T29" fmla="*/ 2147483647 h 7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25"/>
              <a:gd name="T46" fmla="*/ 0 h 756"/>
              <a:gd name="T47" fmla="*/ 2925 w 2925"/>
              <a:gd name="T48" fmla="*/ 756 h 7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25" h="756">
                <a:moveTo>
                  <a:pt x="2925" y="630"/>
                </a:moveTo>
                <a:cubicBezTo>
                  <a:pt x="2815" y="565"/>
                  <a:pt x="2497" y="332"/>
                  <a:pt x="2263" y="232"/>
                </a:cubicBezTo>
                <a:cubicBezTo>
                  <a:pt x="2029" y="132"/>
                  <a:pt x="1738" y="64"/>
                  <a:pt x="1521" y="32"/>
                </a:cubicBezTo>
                <a:cubicBezTo>
                  <a:pt x="1304" y="0"/>
                  <a:pt x="1126" y="25"/>
                  <a:pt x="962" y="40"/>
                </a:cubicBezTo>
                <a:cubicBezTo>
                  <a:pt x="798" y="55"/>
                  <a:pt x="661" y="80"/>
                  <a:pt x="535" y="119"/>
                </a:cubicBezTo>
                <a:cubicBezTo>
                  <a:pt x="409" y="158"/>
                  <a:pt x="288" y="220"/>
                  <a:pt x="208" y="275"/>
                </a:cubicBezTo>
                <a:cubicBezTo>
                  <a:pt x="128" y="330"/>
                  <a:pt x="85" y="389"/>
                  <a:pt x="54" y="447"/>
                </a:cubicBezTo>
                <a:cubicBezTo>
                  <a:pt x="23" y="505"/>
                  <a:pt x="0" y="576"/>
                  <a:pt x="21" y="625"/>
                </a:cubicBezTo>
                <a:cubicBezTo>
                  <a:pt x="42" y="674"/>
                  <a:pt x="97" y="724"/>
                  <a:pt x="178" y="740"/>
                </a:cubicBezTo>
                <a:cubicBezTo>
                  <a:pt x="259" y="756"/>
                  <a:pt x="381" y="750"/>
                  <a:pt x="507" y="722"/>
                </a:cubicBezTo>
                <a:cubicBezTo>
                  <a:pt x="633" y="694"/>
                  <a:pt x="765" y="611"/>
                  <a:pt x="936" y="573"/>
                </a:cubicBezTo>
                <a:cubicBezTo>
                  <a:pt x="1107" y="535"/>
                  <a:pt x="1280" y="503"/>
                  <a:pt x="1530" y="494"/>
                </a:cubicBezTo>
                <a:cubicBezTo>
                  <a:pt x="1780" y="485"/>
                  <a:pt x="2205" y="498"/>
                  <a:pt x="2437" y="520"/>
                </a:cubicBezTo>
                <a:cubicBezTo>
                  <a:pt x="2669" y="542"/>
                  <a:pt x="2839" y="607"/>
                  <a:pt x="2920" y="625"/>
                </a:cubicBezTo>
                <a:lnTo>
                  <a:pt x="2925" y="630"/>
                </a:lnTo>
                <a:close/>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Tree>
    <p:custDataLst>
      <p:tags r:id="rId1"/>
    </p:custDataLst>
    <p:extLst>
      <p:ext uri="{BB962C8B-B14F-4D97-AF65-F5344CB8AC3E}">
        <p14:creationId xmlns:p14="http://schemas.microsoft.com/office/powerpoint/2010/main" val="5671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1692930" y="5251387"/>
            <a:ext cx="860123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marL="285750" indent="-285750" algn="l" eaLnBrk="1" fontAlgn="base" hangingPunct="1">
              <a:buFont typeface="Arial" panose="020B0604020202020204" pitchFamily="34" charset="0"/>
              <a:buChar char="•"/>
            </a:pPr>
            <a:r>
              <a:rPr lang="en-GB" dirty="0"/>
              <a:t>The minimum drag condition is obtained at higher lift coefficients (Cl design increases!)</a:t>
            </a:r>
          </a:p>
          <a:p>
            <a:pPr marL="285750" indent="-285750" algn="l" eaLnBrk="1" fontAlgn="base" hangingPunct="1">
              <a:buFont typeface="Arial" panose="020B0604020202020204" pitchFamily="34" charset="0"/>
              <a:buChar char="•"/>
            </a:pPr>
            <a:r>
              <a:rPr lang="en-GB" dirty="0"/>
              <a:t>At zero angle of attack the </a:t>
            </a:r>
            <a:r>
              <a:rPr lang="en-GB" dirty="0" err="1"/>
              <a:t>airfoil</a:t>
            </a:r>
            <a:r>
              <a:rPr lang="en-GB" dirty="0"/>
              <a:t> with camber is still generating lift*</a:t>
            </a:r>
          </a:p>
          <a:p>
            <a:pPr marL="285750" indent="-285750" algn="l" eaLnBrk="1" fontAlgn="base" hangingPunct="1">
              <a:buFont typeface="Arial" panose="020B0604020202020204" pitchFamily="34" charset="0"/>
              <a:buChar char="•"/>
            </a:pPr>
            <a:r>
              <a:rPr lang="en-GB" dirty="0"/>
              <a:t>Also the amount of pitching moment increases</a:t>
            </a:r>
          </a:p>
          <a:p>
            <a:pPr marL="285750" indent="-285750" algn="l" eaLnBrk="1" fontAlgn="base" hangingPunct="1">
              <a:buFont typeface="Arial" panose="020B0604020202020204" pitchFamily="34" charset="0"/>
              <a:buChar char="•"/>
            </a:pPr>
            <a:endParaRPr lang="en-GB" dirty="0"/>
          </a:p>
        </p:txBody>
      </p:sp>
      <p:pic>
        <p:nvPicPr>
          <p:cNvPr id="20490" name="Picture 10"/>
          <p:cNvPicPr>
            <a:picLocks noChangeAspect="1" noChangeArrowheads="1"/>
          </p:cNvPicPr>
          <p:nvPr/>
        </p:nvPicPr>
        <p:blipFill>
          <a:blip r:embed="rId4">
            <a:extLst>
              <a:ext uri="{28A0092B-C50C-407E-A947-70E740481C1C}">
                <a14:useLocalDpi xmlns:a14="http://schemas.microsoft.com/office/drawing/2010/main" val="0"/>
              </a:ext>
            </a:extLst>
          </a:blip>
          <a:srcRect l="3751" t="17999" r="52501" b="41667"/>
          <a:stretch>
            <a:fillRect/>
          </a:stretch>
        </p:blipFill>
        <p:spPr bwMode="auto">
          <a:xfrm>
            <a:off x="2747963" y="854012"/>
            <a:ext cx="6705600"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0491" name="Picture 11"/>
          <p:cNvPicPr>
            <a:picLocks noChangeAspect="1" noChangeArrowheads="1"/>
          </p:cNvPicPr>
          <p:nvPr/>
        </p:nvPicPr>
        <p:blipFill>
          <a:blip r:embed="rId5">
            <a:extLst>
              <a:ext uri="{28A0092B-C50C-407E-A947-70E740481C1C}">
                <a14:useLocalDpi xmlns:a14="http://schemas.microsoft.com/office/drawing/2010/main" val="0"/>
              </a:ext>
            </a:extLst>
          </a:blip>
          <a:srcRect l="75104" t="27167" r="7083" b="64999"/>
          <a:stretch>
            <a:fillRect/>
          </a:stretch>
        </p:blipFill>
        <p:spPr bwMode="auto">
          <a:xfrm>
            <a:off x="3205163" y="830198"/>
            <a:ext cx="21717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0492" name="Picture 12"/>
          <p:cNvPicPr>
            <a:picLocks noChangeAspect="1" noChangeArrowheads="1"/>
          </p:cNvPicPr>
          <p:nvPr/>
        </p:nvPicPr>
        <p:blipFill>
          <a:blip r:embed="rId6">
            <a:extLst>
              <a:ext uri="{28A0092B-C50C-407E-A947-70E740481C1C}">
                <a14:useLocalDpi xmlns:a14="http://schemas.microsoft.com/office/drawing/2010/main" val="0"/>
              </a:ext>
            </a:extLst>
          </a:blip>
          <a:srcRect l="75313" t="26334" r="6979" b="66000"/>
          <a:stretch>
            <a:fillRect/>
          </a:stretch>
        </p:blipFill>
        <p:spPr bwMode="auto">
          <a:xfrm>
            <a:off x="3205163" y="1363598"/>
            <a:ext cx="2159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0493" name="Line 13"/>
          <p:cNvSpPr>
            <a:spLocks noChangeShapeType="1"/>
          </p:cNvSpPr>
          <p:nvPr/>
        </p:nvSpPr>
        <p:spPr bwMode="auto">
          <a:xfrm>
            <a:off x="4119563" y="1820798"/>
            <a:ext cx="457200" cy="8382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20494" name="Line 14"/>
          <p:cNvSpPr>
            <a:spLocks noChangeShapeType="1"/>
          </p:cNvSpPr>
          <p:nvPr/>
        </p:nvSpPr>
        <p:spPr bwMode="auto">
          <a:xfrm>
            <a:off x="4271963" y="1820798"/>
            <a:ext cx="3657600" cy="8382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20495" name="Line 15"/>
          <p:cNvSpPr>
            <a:spLocks noChangeShapeType="1"/>
          </p:cNvSpPr>
          <p:nvPr/>
        </p:nvSpPr>
        <p:spPr bwMode="auto">
          <a:xfrm>
            <a:off x="4652963" y="1287398"/>
            <a:ext cx="381000" cy="1143000"/>
          </a:xfrm>
          <a:prstGeom prst="line">
            <a:avLst/>
          </a:prstGeom>
          <a:noFill/>
          <a:ln w="9525">
            <a:solidFill>
              <a:srgbClr val="00CC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20496" name="Line 16"/>
          <p:cNvSpPr>
            <a:spLocks noChangeShapeType="1"/>
          </p:cNvSpPr>
          <p:nvPr/>
        </p:nvSpPr>
        <p:spPr bwMode="auto">
          <a:xfrm>
            <a:off x="4805363" y="1287398"/>
            <a:ext cx="3505200" cy="1066800"/>
          </a:xfrm>
          <a:prstGeom prst="line">
            <a:avLst/>
          </a:prstGeom>
          <a:noFill/>
          <a:ln w="9525">
            <a:solidFill>
              <a:srgbClr val="00CC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20497" name="Text Box 23"/>
          <p:cNvSpPr txBox="1">
            <a:spLocks noChangeArrowheads="1"/>
          </p:cNvSpPr>
          <p:nvPr/>
        </p:nvSpPr>
        <p:spPr bwMode="auto">
          <a:xfrm>
            <a:off x="9393658" y="2390825"/>
            <a:ext cx="1287463" cy="711200"/>
          </a:xfrm>
          <a:prstGeom prst="rect">
            <a:avLst/>
          </a:prstGeom>
          <a:solidFill>
            <a:srgbClr val="FFFF00"/>
          </a:solidFill>
          <a:ln w="9525" algn="ctr">
            <a:solidFill>
              <a:schemeClr val="tx1"/>
            </a:solidFill>
            <a:miter lim="800000"/>
            <a:headEnd/>
            <a:tailEnd/>
          </a:ln>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C</a:t>
            </a:r>
            <a:r>
              <a:rPr lang="en-GB" sz="2000" baseline="-25000" dirty="0"/>
              <a:t>l</a:t>
            </a:r>
            <a:r>
              <a:rPr lang="el-GR" sz="2000" baseline="-25000" dirty="0"/>
              <a:t>α</a:t>
            </a:r>
            <a:r>
              <a:rPr lang="nl-NL" sz="2000" baseline="-25000" dirty="0"/>
              <a:t> </a:t>
            </a:r>
            <a:r>
              <a:rPr lang="nl-NL" sz="2000" dirty="0"/>
              <a:t>is </a:t>
            </a:r>
            <a:r>
              <a:rPr lang="nl-NL" sz="2000" dirty="0" err="1"/>
              <a:t>not</a:t>
            </a:r>
            <a:r>
              <a:rPr lang="nl-NL" sz="2000" dirty="0"/>
              <a:t> </a:t>
            </a:r>
            <a:r>
              <a:rPr lang="nl-NL" sz="2000" dirty="0" err="1"/>
              <a:t>affected</a:t>
            </a:r>
            <a:endParaRPr lang="el-GR" sz="2000" dirty="0"/>
          </a:p>
        </p:txBody>
      </p:sp>
      <p:pic>
        <p:nvPicPr>
          <p:cNvPr id="20498" name="Picture 24" descr="warning"/>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629765">
            <a:off x="10683170" y="2406700"/>
            <a:ext cx="7620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9" name="Picture 25" descr="MCj0242001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58163" y="4265548"/>
            <a:ext cx="47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1" name="AutoShape 16"/>
          <p:cNvSpPr>
            <a:spLocks noChangeArrowheads="1"/>
          </p:cNvSpPr>
          <p:nvPr/>
        </p:nvSpPr>
        <p:spPr bwMode="auto">
          <a:xfrm rot="10800000">
            <a:off x="7675159" y="2717921"/>
            <a:ext cx="581080" cy="310862"/>
          </a:xfrm>
          <a:prstGeom prst="rightArrow">
            <a:avLst>
              <a:gd name="adj1" fmla="val 50000"/>
              <a:gd name="adj2" fmla="val 68544"/>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0485" name="Rectangle 4"/>
          <p:cNvSpPr>
            <a:spLocks noChangeArrowheads="1"/>
          </p:cNvSpPr>
          <p:nvPr/>
        </p:nvSpPr>
        <p:spPr bwMode="auto">
          <a:xfrm>
            <a:off x="775193" y="122280"/>
            <a:ext cx="1098380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300" dirty="0">
                <a:solidFill>
                  <a:schemeClr val="bg2"/>
                </a:solidFill>
                <a:latin typeface="Bookman Old Style" pitchFamily="18" charset="0"/>
              </a:rPr>
              <a:t>Effect of airfoil camber</a:t>
            </a:r>
          </a:p>
        </p:txBody>
      </p:sp>
      <p:grpSp>
        <p:nvGrpSpPr>
          <p:cNvPr id="20486" name="Group 19"/>
          <p:cNvGrpSpPr>
            <a:grpSpLocks/>
          </p:cNvGrpSpPr>
          <p:nvPr/>
        </p:nvGrpSpPr>
        <p:grpSpPr bwMode="auto">
          <a:xfrm>
            <a:off x="1774826" y="4638611"/>
            <a:ext cx="4492270" cy="409575"/>
            <a:chOff x="181" y="2967"/>
            <a:chExt cx="3606" cy="258"/>
          </a:xfrm>
        </p:grpSpPr>
        <p:sp>
          <p:nvSpPr>
            <p:cNvPr id="20487" name="Text Box 20"/>
            <p:cNvSpPr txBox="1">
              <a:spLocks noChangeArrowheads="1"/>
            </p:cNvSpPr>
            <p:nvPr/>
          </p:nvSpPr>
          <p:spPr bwMode="auto">
            <a:xfrm>
              <a:off x="609" y="2967"/>
              <a:ext cx="31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 curves shift for higher camber</a:t>
              </a:r>
            </a:p>
          </p:txBody>
        </p:sp>
        <p:sp>
          <p:nvSpPr>
            <p:cNvPr id="20488" name="Rectangle 21"/>
            <p:cNvSpPr>
              <a:spLocks noChangeArrowheads="1"/>
            </p:cNvSpPr>
            <p:nvPr/>
          </p:nvSpPr>
          <p:spPr bwMode="auto">
            <a:xfrm>
              <a:off x="181" y="2969"/>
              <a:ext cx="3584" cy="25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l" fontAlgn="base"/>
              <a:endParaRPr lang="nl-NL" sz="2000"/>
            </a:p>
          </p:txBody>
        </p:sp>
        <p:sp>
          <p:nvSpPr>
            <p:cNvPr id="20489" name="AutoShape 22"/>
            <p:cNvSpPr>
              <a:spLocks noChangeArrowheads="1"/>
            </p:cNvSpPr>
            <p:nvPr/>
          </p:nvSpPr>
          <p:spPr bwMode="auto">
            <a:xfrm>
              <a:off x="203" y="2995"/>
              <a:ext cx="428" cy="203"/>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grpSp>
      <p:sp>
        <p:nvSpPr>
          <p:cNvPr id="22" name="AutoShape 16"/>
          <p:cNvSpPr>
            <a:spLocks noChangeArrowheads="1"/>
          </p:cNvSpPr>
          <p:nvPr/>
        </p:nvSpPr>
        <p:spPr bwMode="auto">
          <a:xfrm rot="16200000">
            <a:off x="4338486" y="2427367"/>
            <a:ext cx="581080" cy="310862"/>
          </a:xfrm>
          <a:prstGeom prst="rightArrow">
            <a:avLst>
              <a:gd name="adj1" fmla="val 50000"/>
              <a:gd name="adj2" fmla="val 68544"/>
            </a:avLst>
          </a:prstGeom>
          <a:solidFill>
            <a:srgbClr val="FFFF00"/>
          </a:solidFill>
          <a:ln w="9525" algn="ctr">
            <a:solidFill>
              <a:schemeClr val="tx1"/>
            </a:solidFill>
            <a:miter lim="800000"/>
            <a:headEnd/>
            <a:tailEnd/>
          </a:ln>
        </p:spPr>
        <p:txBody>
          <a:bodyPr wrap="square" anchor="ctr">
            <a:spAutoFit/>
          </a:bodyPr>
          <a:lstStyle/>
          <a:p>
            <a:endParaRPr lang="nl-NL"/>
          </a:p>
        </p:txBody>
      </p:sp>
    </p:spTree>
    <p:custDataLst>
      <p:tags r:id="rId1"/>
    </p:custDataLst>
    <p:extLst>
      <p:ext uri="{BB962C8B-B14F-4D97-AF65-F5344CB8AC3E}">
        <p14:creationId xmlns:p14="http://schemas.microsoft.com/office/powerpoint/2010/main" val="396513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97" grpId="0" animBg="1"/>
      <p:bldP spid="2050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95400" y="116632"/>
            <a:ext cx="769633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300" dirty="0">
                <a:solidFill>
                  <a:schemeClr val="bg2"/>
                </a:solidFill>
                <a:latin typeface="Bookman Old Style" pitchFamily="18" charset="0"/>
              </a:rPr>
              <a:t>Effects of the thickness ratio (t/c)</a:t>
            </a:r>
            <a:r>
              <a:rPr lang="en-US" sz="3300" baseline="-25000" dirty="0">
                <a:solidFill>
                  <a:schemeClr val="bg2"/>
                </a:solidFill>
                <a:latin typeface="Bookman Old Style" pitchFamily="18" charset="0"/>
              </a:rPr>
              <a:t>max</a:t>
            </a:r>
            <a:endParaRPr lang="en-US" sz="3300" dirty="0">
              <a:solidFill>
                <a:schemeClr val="bg2"/>
              </a:solidFill>
              <a:latin typeface="Bookman Old Style" pitchFamily="18" charset="0"/>
            </a:endParaRPr>
          </a:p>
        </p:txBody>
      </p:sp>
      <p:sp>
        <p:nvSpPr>
          <p:cNvPr id="21507" name="Text Box 10"/>
          <p:cNvSpPr txBox="1">
            <a:spLocks noChangeArrowheads="1"/>
          </p:cNvSpPr>
          <p:nvPr/>
        </p:nvSpPr>
        <p:spPr bwMode="auto">
          <a:xfrm>
            <a:off x="839416" y="980728"/>
            <a:ext cx="1000911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The maximum thickness (t/c) of the </a:t>
            </a:r>
            <a:r>
              <a:rPr lang="en-GB" dirty="0" err="1"/>
              <a:t>airfoil</a:t>
            </a:r>
            <a:r>
              <a:rPr lang="en-GB" dirty="0"/>
              <a:t> and its position along the chord have direct influence on a variety of aspects:</a:t>
            </a:r>
          </a:p>
          <a:p>
            <a:pPr algn="l" eaLnBrk="1" fontAlgn="base" hangingPunct="1"/>
            <a:endParaRPr lang="en-GB" dirty="0"/>
          </a:p>
          <a:p>
            <a:pPr algn="l" eaLnBrk="1" fontAlgn="base" hangingPunct="1">
              <a:buFontTx/>
              <a:buChar char="•"/>
            </a:pPr>
            <a:r>
              <a:rPr lang="en-GB" b="1" dirty="0"/>
              <a:t> MAXIMUM LIFT (</a:t>
            </a:r>
            <a:r>
              <a:rPr lang="en-GB" b="1" dirty="0" err="1"/>
              <a:t>C</a:t>
            </a:r>
            <a:r>
              <a:rPr lang="en-GB" b="1" baseline="-25000" dirty="0" err="1"/>
              <a:t>lmax</a:t>
            </a:r>
            <a:r>
              <a:rPr lang="en-GB" b="1" dirty="0"/>
              <a:t>)</a:t>
            </a:r>
          </a:p>
          <a:p>
            <a:pPr algn="l" eaLnBrk="1" fontAlgn="base" hangingPunct="1">
              <a:buFontTx/>
              <a:buChar char="•"/>
            </a:pPr>
            <a:endParaRPr lang="en-GB" b="1" dirty="0"/>
          </a:p>
          <a:p>
            <a:pPr algn="l" eaLnBrk="1" fontAlgn="base" hangingPunct="1">
              <a:buFontTx/>
              <a:buChar char="•"/>
            </a:pPr>
            <a:r>
              <a:rPr lang="en-GB" b="1" dirty="0"/>
              <a:t> AIRFOIL STALL CHARACTERISTICS*</a:t>
            </a:r>
          </a:p>
          <a:p>
            <a:pPr algn="l" eaLnBrk="1" fontAlgn="base" hangingPunct="1">
              <a:buFontTx/>
              <a:buChar char="•"/>
            </a:pPr>
            <a:endParaRPr lang="en-GB" b="1" dirty="0"/>
          </a:p>
          <a:p>
            <a:pPr algn="l" eaLnBrk="1" fontAlgn="base" hangingPunct="1">
              <a:buFontTx/>
              <a:buChar char="•"/>
            </a:pPr>
            <a:r>
              <a:rPr lang="en-GB" b="1" dirty="0"/>
              <a:t> DRAG (C</a:t>
            </a:r>
            <a:r>
              <a:rPr lang="en-GB" b="1" baseline="-25000" dirty="0"/>
              <a:t>d</a:t>
            </a:r>
            <a:r>
              <a:rPr lang="en-GB" b="1" dirty="0"/>
              <a:t>) </a:t>
            </a:r>
            <a:r>
              <a:rPr lang="en-GB" dirty="0"/>
              <a:t>(also discussed later together with the compressibility effect. I.e. (t/c) effect on Mach critical)</a:t>
            </a:r>
          </a:p>
          <a:p>
            <a:pPr algn="l" eaLnBrk="1" fontAlgn="base" hangingPunct="1">
              <a:buFontTx/>
              <a:buChar char="•"/>
            </a:pPr>
            <a:endParaRPr lang="en-GB" dirty="0"/>
          </a:p>
          <a:p>
            <a:pPr algn="l" eaLnBrk="1" fontAlgn="base" hangingPunct="1">
              <a:buFontTx/>
              <a:buChar char="•"/>
            </a:pPr>
            <a:r>
              <a:rPr lang="en-GB" b="1" dirty="0"/>
              <a:t> WING VOLUME &amp; STRUCTURAL WEIGHT </a:t>
            </a:r>
            <a:r>
              <a:rPr lang="en-GB" dirty="0"/>
              <a:t>(discussed later relatively to the wing characteristics)**</a:t>
            </a:r>
          </a:p>
        </p:txBody>
      </p:sp>
    </p:spTree>
    <p:custDataLst>
      <p:tags r:id="rId1"/>
    </p:custDataLst>
    <p:extLst>
      <p:ext uri="{BB962C8B-B14F-4D97-AF65-F5344CB8AC3E}">
        <p14:creationId xmlns:p14="http://schemas.microsoft.com/office/powerpoint/2010/main" val="1638988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1507">
                                            <p:txEl>
                                              <p:pRg st="4" end="4"/>
                                            </p:txEl>
                                          </p:spTgt>
                                        </p:tgtEl>
                                        <p:attrNameLst>
                                          <p:attrName>style.visibility</p:attrName>
                                        </p:attrNameLst>
                                      </p:cBhvr>
                                      <p:to>
                                        <p:strVal val="visible"/>
                                      </p:to>
                                    </p:set>
                                  </p:childTnLst>
                                </p:cTn>
                              </p:par>
                            </p:childTnLst>
                          </p:cTn>
                        </p:par>
                        <p:par>
                          <p:cTn id="10" fill="hold" nodeType="withGroup">
                            <p:stCondLst>
                              <p:cond delay="0"/>
                            </p:stCondLst>
                            <p:childTnLst>
                              <p:par>
                                <p:cTn id="11" presetID="1" presetClass="entr" presetSubtype="0" fill="hold" nodeType="afterEffect">
                                  <p:stCondLst>
                                    <p:cond delay="0"/>
                                  </p:stCondLst>
                                  <p:childTnLst>
                                    <p:set>
                                      <p:cBhvr>
                                        <p:cTn id="12" dur="1" fill="hold">
                                          <p:stCondLst>
                                            <p:cond delay="0"/>
                                          </p:stCondLst>
                                        </p:cTn>
                                        <p:tgtEl>
                                          <p:spTgt spid="21507">
                                            <p:txEl>
                                              <p:pRg st="6" end="6"/>
                                            </p:txEl>
                                          </p:spTgt>
                                        </p:tgtEl>
                                        <p:attrNameLst>
                                          <p:attrName>style.visibility</p:attrName>
                                        </p:attrNameLst>
                                      </p:cBhvr>
                                      <p:to>
                                        <p:strVal val="visible"/>
                                      </p:to>
                                    </p:set>
                                  </p:childTnLst>
                                </p:cTn>
                              </p:par>
                            </p:childTnLst>
                          </p:cTn>
                        </p:par>
                        <p:par>
                          <p:cTn id="13" fill="hold" nodeType="withGroup">
                            <p:stCondLst>
                              <p:cond delay="0"/>
                            </p:stCondLst>
                            <p:childTnLst>
                              <p:par>
                                <p:cTn id="14" presetID="1" presetClass="entr" presetSubtype="0" fill="hold" nodeType="afterEffect">
                                  <p:stCondLst>
                                    <p:cond delay="0"/>
                                  </p:stCondLst>
                                  <p:childTnLst>
                                    <p:set>
                                      <p:cBhvr>
                                        <p:cTn id="15"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79376" y="101532"/>
            <a:ext cx="47852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effect on </a:t>
            </a:r>
            <a:r>
              <a:rPr lang="en-US" sz="3200" dirty="0" err="1">
                <a:solidFill>
                  <a:schemeClr val="bg2"/>
                </a:solidFill>
                <a:latin typeface="Bookman Old Style" pitchFamily="18" charset="0"/>
              </a:rPr>
              <a:t>C</a:t>
            </a:r>
            <a:r>
              <a:rPr lang="en-US" sz="3200" baseline="-25000" dirty="0" err="1">
                <a:solidFill>
                  <a:schemeClr val="bg2"/>
                </a:solidFill>
                <a:latin typeface="Bookman Old Style" pitchFamily="18" charset="0"/>
              </a:rPr>
              <a:t>lmax</a:t>
            </a:r>
            <a:r>
              <a:rPr lang="en-US" sz="3200" dirty="0">
                <a:solidFill>
                  <a:schemeClr val="bg2"/>
                </a:solidFill>
                <a:latin typeface="Bookman Old Style" pitchFamily="18" charset="0"/>
              </a:rPr>
              <a:t> </a:t>
            </a:r>
          </a:p>
        </p:txBody>
      </p:sp>
      <p:pic>
        <p:nvPicPr>
          <p:cNvPr id="22535" name="Picture 3" descr="Clmax-tcmax"/>
          <p:cNvPicPr>
            <a:picLocks noChangeAspect="1" noChangeArrowheads="1"/>
          </p:cNvPicPr>
          <p:nvPr/>
        </p:nvPicPr>
        <p:blipFill>
          <a:blip r:embed="rId4">
            <a:extLst>
              <a:ext uri="{28A0092B-C50C-407E-A947-70E740481C1C}">
                <a14:useLocalDpi xmlns:a14="http://schemas.microsoft.com/office/drawing/2010/main" val="0"/>
              </a:ext>
            </a:extLst>
          </a:blip>
          <a:srcRect l="4349" t="7733" r="10146"/>
          <a:stretch>
            <a:fillRect/>
          </a:stretch>
        </p:blipFill>
        <p:spPr bwMode="auto">
          <a:xfrm>
            <a:off x="4037013" y="1249363"/>
            <a:ext cx="5541962"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Line 4"/>
          <p:cNvSpPr>
            <a:spLocks noChangeShapeType="1"/>
          </p:cNvSpPr>
          <p:nvPr/>
        </p:nvSpPr>
        <p:spPr bwMode="auto">
          <a:xfrm>
            <a:off x="3271838" y="2211387"/>
            <a:ext cx="4495800" cy="0"/>
          </a:xfrm>
          <a:prstGeom prst="line">
            <a:avLst/>
          </a:prstGeom>
          <a:noFill/>
          <a:ln w="38100">
            <a:solidFill>
              <a:srgbClr val="FF3300"/>
            </a:solidFill>
            <a:prstDash val="dashDot"/>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22537" name="Line 5"/>
          <p:cNvSpPr>
            <a:spLocks noChangeShapeType="1"/>
          </p:cNvSpPr>
          <p:nvPr/>
        </p:nvSpPr>
        <p:spPr bwMode="auto">
          <a:xfrm rot="5400000">
            <a:off x="4881563" y="3663949"/>
            <a:ext cx="4038600" cy="0"/>
          </a:xfrm>
          <a:prstGeom prst="line">
            <a:avLst/>
          </a:prstGeom>
          <a:noFill/>
          <a:ln w="38100">
            <a:solidFill>
              <a:srgbClr val="FF3300"/>
            </a:solidFill>
            <a:prstDash val="dashDot"/>
            <a:round/>
            <a:headEnd/>
            <a:tailEnd/>
          </a:ln>
          <a:extLst>
            <a:ext uri="{909E8E84-426E-40DD-AFC4-6F175D3DCCD1}">
              <a14:hiddenFill xmlns:a14="http://schemas.microsoft.com/office/drawing/2010/main">
                <a:noFill/>
              </a14:hiddenFill>
            </a:ext>
          </a:extLst>
        </p:spPr>
        <p:txBody>
          <a:bodyPr>
            <a:spAutoFit/>
          </a:bodyPr>
          <a:lstStyle/>
          <a:p>
            <a:endParaRPr lang="nl-NL"/>
          </a:p>
        </p:txBody>
      </p:sp>
      <p:graphicFrame>
        <p:nvGraphicFramePr>
          <p:cNvPr id="22532" name="Object 6"/>
          <p:cNvGraphicFramePr>
            <a:graphicFrameLocks noChangeAspect="1"/>
          </p:cNvGraphicFramePr>
          <p:nvPr/>
        </p:nvGraphicFramePr>
        <p:xfrm>
          <a:off x="2063750" y="1670050"/>
          <a:ext cx="1898650" cy="679450"/>
        </p:xfrm>
        <a:graphic>
          <a:graphicData uri="http://schemas.openxmlformats.org/presentationml/2006/ole">
            <mc:AlternateContent xmlns:mc="http://schemas.openxmlformats.org/markup-compatibility/2006">
              <mc:Choice xmlns:v="urn:schemas-microsoft-com:vml" Requires="v">
                <p:oleObj name="Equation" r:id="rId5" imgW="672808" imgH="241195" progId="Equation.3">
                  <p:embed/>
                </p:oleObj>
              </mc:Choice>
              <mc:Fallback>
                <p:oleObj name="Equation" r:id="rId5" imgW="672808" imgH="24119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0" y="1670050"/>
                        <a:ext cx="189865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3" name="Text Box 7"/>
          <p:cNvSpPr txBox="1">
            <a:spLocks noChangeArrowheads="1"/>
          </p:cNvSpPr>
          <p:nvPr/>
        </p:nvSpPr>
        <p:spPr bwMode="auto">
          <a:xfrm>
            <a:off x="5999164" y="5661025"/>
            <a:ext cx="1877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(t/c)</a:t>
            </a:r>
            <a:r>
              <a:rPr lang="en-GB" sz="2000" baseline="-25000" dirty="0"/>
              <a:t>max</a:t>
            </a:r>
            <a:r>
              <a:rPr lang="en-GB" sz="2000" dirty="0"/>
              <a:t>% = 14</a:t>
            </a:r>
          </a:p>
        </p:txBody>
      </p:sp>
      <p:sp>
        <p:nvSpPr>
          <p:cNvPr id="22534" name="Text Box 8"/>
          <p:cNvSpPr txBox="1">
            <a:spLocks noChangeArrowheads="1"/>
          </p:cNvSpPr>
          <p:nvPr/>
        </p:nvSpPr>
        <p:spPr bwMode="auto">
          <a:xfrm>
            <a:off x="9296401" y="5867400"/>
            <a:ext cx="12949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dirty="0"/>
              <a:t>Source: </a:t>
            </a:r>
            <a:r>
              <a:rPr lang="en-GB" sz="1400" dirty="0" err="1"/>
              <a:t>Corke</a:t>
            </a:r>
            <a:endParaRPr lang="en-GB" sz="1400" dirty="0"/>
          </a:p>
        </p:txBody>
      </p:sp>
    </p:spTree>
    <p:custDataLst>
      <p:tags r:id="rId1"/>
    </p:custDataLst>
    <p:extLst>
      <p:ext uri="{BB962C8B-B14F-4D97-AF65-F5344CB8AC3E}">
        <p14:creationId xmlns:p14="http://schemas.microsoft.com/office/powerpoint/2010/main" val="371802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animBg="1"/>
      <p:bldP spid="22537" grpId="0" animBg="1"/>
      <p:bldP spid="22533"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623392" y="116632"/>
            <a:ext cx="6655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effect on subsonic drag </a:t>
            </a:r>
          </a:p>
        </p:txBody>
      </p:sp>
      <p:pic>
        <p:nvPicPr>
          <p:cNvPr id="26627" name="Picture 8"/>
          <p:cNvPicPr>
            <a:picLocks noChangeAspect="1" noChangeArrowheads="1"/>
          </p:cNvPicPr>
          <p:nvPr/>
        </p:nvPicPr>
        <p:blipFill>
          <a:blip r:embed="rId4">
            <a:extLst>
              <a:ext uri="{28A0092B-C50C-407E-A947-70E740481C1C}">
                <a14:useLocalDpi xmlns:a14="http://schemas.microsoft.com/office/drawing/2010/main" val="0"/>
              </a:ext>
            </a:extLst>
          </a:blip>
          <a:srcRect b="8101"/>
          <a:stretch>
            <a:fillRect/>
          </a:stretch>
        </p:blipFill>
        <p:spPr bwMode="auto">
          <a:xfrm>
            <a:off x="2566988" y="996950"/>
            <a:ext cx="66103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6628" name="Text Box 9"/>
          <p:cNvSpPr txBox="1">
            <a:spLocks noChangeArrowheads="1"/>
          </p:cNvSpPr>
          <p:nvPr/>
        </p:nvSpPr>
        <p:spPr bwMode="auto">
          <a:xfrm>
            <a:off x="8159750" y="5480051"/>
            <a:ext cx="1104900" cy="396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(t/c)%</a:t>
            </a:r>
          </a:p>
        </p:txBody>
      </p:sp>
      <p:sp>
        <p:nvSpPr>
          <p:cNvPr id="26629" name="Text Box 10"/>
          <p:cNvSpPr txBox="1">
            <a:spLocks noChangeArrowheads="1"/>
          </p:cNvSpPr>
          <p:nvPr/>
        </p:nvSpPr>
        <p:spPr bwMode="auto">
          <a:xfrm>
            <a:off x="2143125" y="1136651"/>
            <a:ext cx="1676400" cy="7016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C</a:t>
            </a:r>
            <a:r>
              <a:rPr lang="en-GB" sz="2000" b="1" baseline="-25000"/>
              <a:t>d </a:t>
            </a:r>
            <a:r>
              <a:rPr lang="en-GB" sz="2000" b="1"/>
              <a:t>(subsonic)</a:t>
            </a:r>
          </a:p>
        </p:txBody>
      </p:sp>
      <p:sp>
        <p:nvSpPr>
          <p:cNvPr id="26630" name="Text Box 11"/>
          <p:cNvSpPr txBox="1">
            <a:spLocks noChangeArrowheads="1"/>
          </p:cNvSpPr>
          <p:nvPr/>
        </p:nvSpPr>
        <p:spPr bwMode="auto">
          <a:xfrm>
            <a:off x="9331325" y="5805488"/>
            <a:ext cx="1446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dirty="0"/>
              <a:t>Source: Raymer</a:t>
            </a:r>
          </a:p>
        </p:txBody>
      </p:sp>
    </p:spTree>
    <p:custDataLst>
      <p:tags r:id="rId1"/>
    </p:custDataLst>
    <p:extLst>
      <p:ext uri="{BB962C8B-B14F-4D97-AF65-F5344CB8AC3E}">
        <p14:creationId xmlns:p14="http://schemas.microsoft.com/office/powerpoint/2010/main" val="2197042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9"/>
          <p:cNvSpPr>
            <a:spLocks noChangeArrowheads="1"/>
          </p:cNvSpPr>
          <p:nvPr/>
        </p:nvSpPr>
        <p:spPr bwMode="auto">
          <a:xfrm>
            <a:off x="551384" y="51206"/>
            <a:ext cx="77652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effect on stall characteristics </a:t>
            </a:r>
          </a:p>
        </p:txBody>
      </p:sp>
      <p:sp>
        <p:nvSpPr>
          <p:cNvPr id="16" name="TextBox 15"/>
          <p:cNvSpPr txBox="1"/>
          <p:nvPr/>
        </p:nvSpPr>
        <p:spPr>
          <a:xfrm>
            <a:off x="9336360" y="5816297"/>
            <a:ext cx="2164084"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pic>
        <p:nvPicPr>
          <p:cNvPr id="11" name="Picture 10">
            <a:extLst>
              <a:ext uri="{FF2B5EF4-FFF2-40B4-BE49-F238E27FC236}">
                <a16:creationId xmlns:a16="http://schemas.microsoft.com/office/drawing/2014/main" id="{BFA51C02-9A0C-2E4D-A803-8B2344C49278}"/>
              </a:ext>
            </a:extLst>
          </p:cNvPr>
          <p:cNvPicPr>
            <a:picLocks noChangeAspect="1"/>
          </p:cNvPicPr>
          <p:nvPr/>
        </p:nvPicPr>
        <p:blipFill>
          <a:blip r:embed="rId4"/>
          <a:stretch>
            <a:fillRect/>
          </a:stretch>
        </p:blipFill>
        <p:spPr>
          <a:xfrm>
            <a:off x="2459596" y="980728"/>
            <a:ext cx="7272808" cy="3464188"/>
          </a:xfrm>
          <a:prstGeom prst="rect">
            <a:avLst/>
          </a:prstGeom>
        </p:spPr>
      </p:pic>
    </p:spTree>
    <p:custDataLst>
      <p:tags r:id="rId1"/>
    </p:custDataLst>
    <p:extLst>
      <p:ext uri="{BB962C8B-B14F-4D97-AF65-F5344CB8AC3E}">
        <p14:creationId xmlns:p14="http://schemas.microsoft.com/office/powerpoint/2010/main" val="61574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9"/>
          <p:cNvSpPr>
            <a:spLocks noChangeArrowheads="1"/>
          </p:cNvSpPr>
          <p:nvPr/>
        </p:nvSpPr>
        <p:spPr bwMode="auto">
          <a:xfrm>
            <a:off x="551384" y="51206"/>
            <a:ext cx="77652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effect on stall characteristics </a:t>
            </a:r>
          </a:p>
        </p:txBody>
      </p:sp>
      <p:sp>
        <p:nvSpPr>
          <p:cNvPr id="16" name="TextBox 15"/>
          <p:cNvSpPr txBox="1"/>
          <p:nvPr/>
        </p:nvSpPr>
        <p:spPr>
          <a:xfrm>
            <a:off x="9912424" y="5859232"/>
            <a:ext cx="2164084"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
        <p:nvSpPr>
          <p:cNvPr id="5" name="Text Box 6">
            <a:extLst>
              <a:ext uri="{FF2B5EF4-FFF2-40B4-BE49-F238E27FC236}">
                <a16:creationId xmlns:a16="http://schemas.microsoft.com/office/drawing/2014/main" id="{2378324C-77C3-E74F-8D18-E167FBA43D64}"/>
              </a:ext>
            </a:extLst>
          </p:cNvPr>
          <p:cNvSpPr txBox="1">
            <a:spLocks noChangeArrowheads="1"/>
          </p:cNvSpPr>
          <p:nvPr/>
        </p:nvSpPr>
        <p:spPr bwMode="auto">
          <a:xfrm>
            <a:off x="2916008" y="742313"/>
            <a:ext cx="203613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b="1" dirty="0">
                <a:solidFill>
                  <a:schemeClr val="bg2"/>
                </a:solidFill>
              </a:rPr>
              <a:t>Trailing edge stall</a:t>
            </a:r>
          </a:p>
          <a:p>
            <a:pPr algn="l" eaLnBrk="1" fontAlgn="base" hangingPunct="1"/>
            <a:r>
              <a:rPr lang="en-GB" b="1" dirty="0">
                <a:solidFill>
                  <a:schemeClr val="bg2"/>
                </a:solidFill>
              </a:rPr>
              <a:t>(t/c)</a:t>
            </a:r>
            <a:r>
              <a:rPr lang="en-GB" b="1" baseline="-25000" dirty="0">
                <a:solidFill>
                  <a:schemeClr val="bg2"/>
                </a:solidFill>
              </a:rPr>
              <a:t>max</a:t>
            </a:r>
            <a:r>
              <a:rPr lang="en-GB" b="1" dirty="0">
                <a:solidFill>
                  <a:schemeClr val="bg2"/>
                </a:solidFill>
              </a:rPr>
              <a:t> ≥ 14%</a:t>
            </a:r>
          </a:p>
        </p:txBody>
      </p:sp>
      <p:sp>
        <p:nvSpPr>
          <p:cNvPr id="6" name="Text Box 7">
            <a:extLst>
              <a:ext uri="{FF2B5EF4-FFF2-40B4-BE49-F238E27FC236}">
                <a16:creationId xmlns:a16="http://schemas.microsoft.com/office/drawing/2014/main" id="{97B4E046-6B52-3C45-9339-0FEECE356BA1}"/>
              </a:ext>
            </a:extLst>
          </p:cNvPr>
          <p:cNvSpPr txBox="1">
            <a:spLocks noChangeArrowheads="1"/>
          </p:cNvSpPr>
          <p:nvPr/>
        </p:nvSpPr>
        <p:spPr bwMode="auto">
          <a:xfrm>
            <a:off x="7612707" y="764704"/>
            <a:ext cx="18020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b="1" dirty="0">
                <a:solidFill>
                  <a:schemeClr val="bg2"/>
                </a:solidFill>
              </a:rPr>
              <a:t>Thin </a:t>
            </a:r>
            <a:r>
              <a:rPr lang="en-GB" b="1" dirty="0" err="1">
                <a:solidFill>
                  <a:schemeClr val="bg2"/>
                </a:solidFill>
              </a:rPr>
              <a:t>airfoil</a:t>
            </a:r>
            <a:r>
              <a:rPr lang="en-GB" b="1" dirty="0">
                <a:solidFill>
                  <a:schemeClr val="bg2"/>
                </a:solidFill>
              </a:rPr>
              <a:t> stall</a:t>
            </a:r>
          </a:p>
          <a:p>
            <a:pPr algn="l" eaLnBrk="1" fontAlgn="base" hangingPunct="1"/>
            <a:r>
              <a:rPr lang="en-GB" b="1" dirty="0">
                <a:solidFill>
                  <a:schemeClr val="bg2"/>
                </a:solidFill>
              </a:rPr>
              <a:t>(t/c)</a:t>
            </a:r>
            <a:r>
              <a:rPr lang="en-GB" b="1" baseline="-25000" dirty="0">
                <a:solidFill>
                  <a:schemeClr val="bg2"/>
                </a:solidFill>
              </a:rPr>
              <a:t>max</a:t>
            </a:r>
            <a:r>
              <a:rPr lang="en-GB" b="1" dirty="0">
                <a:solidFill>
                  <a:schemeClr val="bg2"/>
                </a:solidFill>
              </a:rPr>
              <a:t> &lt; 6%</a:t>
            </a:r>
          </a:p>
        </p:txBody>
      </p:sp>
      <p:sp>
        <p:nvSpPr>
          <p:cNvPr id="7" name="Text Box 8">
            <a:extLst>
              <a:ext uri="{FF2B5EF4-FFF2-40B4-BE49-F238E27FC236}">
                <a16:creationId xmlns:a16="http://schemas.microsoft.com/office/drawing/2014/main" id="{88465035-965D-2745-B928-520C1ED3211C}"/>
              </a:ext>
            </a:extLst>
          </p:cNvPr>
          <p:cNvSpPr txBox="1">
            <a:spLocks noChangeArrowheads="1"/>
          </p:cNvSpPr>
          <p:nvPr/>
        </p:nvSpPr>
        <p:spPr bwMode="auto">
          <a:xfrm>
            <a:off x="5060776" y="750088"/>
            <a:ext cx="244329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b="1" dirty="0">
                <a:solidFill>
                  <a:schemeClr val="bg2"/>
                </a:solidFill>
              </a:rPr>
              <a:t>Leading edge stall</a:t>
            </a:r>
          </a:p>
          <a:p>
            <a:pPr algn="l" eaLnBrk="1" fontAlgn="base" hangingPunct="1"/>
            <a:r>
              <a:rPr lang="en-GB" b="1" dirty="0">
                <a:solidFill>
                  <a:schemeClr val="bg2"/>
                </a:solidFill>
              </a:rPr>
              <a:t>6% ≤ (t/c)</a:t>
            </a:r>
            <a:r>
              <a:rPr lang="en-GB" b="1" baseline="-25000" dirty="0">
                <a:solidFill>
                  <a:schemeClr val="bg2"/>
                </a:solidFill>
              </a:rPr>
              <a:t>max</a:t>
            </a:r>
            <a:r>
              <a:rPr lang="en-GB" b="1" dirty="0">
                <a:solidFill>
                  <a:schemeClr val="bg2"/>
                </a:solidFill>
              </a:rPr>
              <a:t> &lt; 14%</a:t>
            </a:r>
          </a:p>
        </p:txBody>
      </p:sp>
      <p:pic>
        <p:nvPicPr>
          <p:cNvPr id="8" name="Picture 2">
            <a:extLst>
              <a:ext uri="{FF2B5EF4-FFF2-40B4-BE49-F238E27FC236}">
                <a16:creationId xmlns:a16="http://schemas.microsoft.com/office/drawing/2014/main" id="{5CBEA231-37E7-524A-8D10-86AD17D7501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9956"/>
          <a:stretch/>
        </p:blipFill>
        <p:spPr bwMode="auto">
          <a:xfrm>
            <a:off x="2626685" y="1403362"/>
            <a:ext cx="6938629" cy="2724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a:extLst>
              <a:ext uri="{FF2B5EF4-FFF2-40B4-BE49-F238E27FC236}">
                <a16:creationId xmlns:a16="http://schemas.microsoft.com/office/drawing/2014/main" id="{64AE48A8-895E-2A4A-9F5B-C55BBB9031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9761"/>
          <a:stretch/>
        </p:blipFill>
        <p:spPr bwMode="auto">
          <a:xfrm>
            <a:off x="2854692" y="4390207"/>
            <a:ext cx="6703179" cy="1746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5" descr="MCj02420010000[1]">
            <a:extLst>
              <a:ext uri="{FF2B5EF4-FFF2-40B4-BE49-F238E27FC236}">
                <a16:creationId xmlns:a16="http://schemas.microsoft.com/office/drawing/2014/main" id="{BA611537-0D74-4B4A-9B17-2F9CB30C4A7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06282" y="3965812"/>
            <a:ext cx="47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5" descr="MCj02420010000[1]">
            <a:extLst>
              <a:ext uri="{FF2B5EF4-FFF2-40B4-BE49-F238E27FC236}">
                <a16:creationId xmlns:a16="http://schemas.microsoft.com/office/drawing/2014/main" id="{12A3F5E8-491F-654A-BD15-D2B0A196B07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0800000">
            <a:off x="4012308" y="3965812"/>
            <a:ext cx="45561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5" descr="MCj02420010000[1]">
            <a:extLst>
              <a:ext uri="{FF2B5EF4-FFF2-40B4-BE49-F238E27FC236}">
                <a16:creationId xmlns:a16="http://schemas.microsoft.com/office/drawing/2014/main" id="{3E7EF987-6BF4-C44C-8FBA-2DCCDD1A9CF6}"/>
              </a:ext>
            </a:extLst>
          </p:cNvPr>
          <p:cNvPicPr>
            <a:picLocks noChangeAspect="1" noChangeArrowheads="1"/>
          </p:cNvPicPr>
          <p:nvPr/>
        </p:nvPicPr>
        <p:blipFill>
          <a:blip r:embed="rId6" cstate="print">
            <a:duotone>
              <a:prstClr val="black"/>
              <a:srgbClr val="FFFF00">
                <a:tint val="45000"/>
                <a:satMod val="400000"/>
              </a:srgbClr>
            </a:duotone>
            <a:lum bright="40000" contrast="-40000"/>
            <a:extLst>
              <a:ext uri="{28A0092B-C50C-407E-A947-70E740481C1C}">
                <a14:useLocalDpi xmlns:a14="http://schemas.microsoft.com/office/drawing/2010/main" val="0"/>
              </a:ext>
            </a:extLst>
          </a:blip>
          <a:srcRect/>
          <a:stretch>
            <a:fillRect/>
          </a:stretch>
        </p:blipFill>
        <p:spPr bwMode="auto">
          <a:xfrm rot="10800000">
            <a:off x="8251026" y="3965811"/>
            <a:ext cx="45561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415363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67408" y="127962"/>
            <a:ext cx="8064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200" dirty="0">
                <a:solidFill>
                  <a:schemeClr val="bg2"/>
                </a:solidFill>
                <a:latin typeface="Bookman Old Style" pitchFamily="18" charset="0"/>
              </a:rPr>
              <a:t>Effect of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position  </a:t>
            </a:r>
          </a:p>
        </p:txBody>
      </p:sp>
      <p:pic>
        <p:nvPicPr>
          <p:cNvPr id="23555" name="Picture 9"/>
          <p:cNvPicPr>
            <a:picLocks noChangeAspect="1" noChangeArrowheads="1"/>
          </p:cNvPicPr>
          <p:nvPr/>
        </p:nvPicPr>
        <p:blipFill>
          <a:blip r:embed="rId4">
            <a:extLst>
              <a:ext uri="{28A0092B-C50C-407E-A947-70E740481C1C}">
                <a14:useLocalDpi xmlns:a14="http://schemas.microsoft.com/office/drawing/2010/main" val="0"/>
              </a:ext>
            </a:extLst>
          </a:blip>
          <a:srcRect l="40260" t="30400" r="29390" b="36850"/>
          <a:stretch>
            <a:fillRect/>
          </a:stretch>
        </p:blipFill>
        <p:spPr bwMode="auto">
          <a:xfrm>
            <a:off x="932501" y="1386060"/>
            <a:ext cx="2765552" cy="186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56" name="Picture 10"/>
          <p:cNvPicPr>
            <a:picLocks noChangeAspect="1" noChangeArrowheads="1"/>
          </p:cNvPicPr>
          <p:nvPr/>
        </p:nvPicPr>
        <p:blipFill>
          <a:blip r:embed="rId5">
            <a:extLst>
              <a:ext uri="{28A0092B-C50C-407E-A947-70E740481C1C}">
                <a14:useLocalDpi xmlns:a14="http://schemas.microsoft.com/office/drawing/2010/main" val="0"/>
              </a:ext>
            </a:extLst>
          </a:blip>
          <a:srcRect l="54393" t="29701" r="15845" b="36720"/>
          <a:stretch>
            <a:fillRect/>
          </a:stretch>
        </p:blipFill>
        <p:spPr bwMode="auto">
          <a:xfrm>
            <a:off x="956667" y="3861048"/>
            <a:ext cx="2780220" cy="196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57" name="Picture 12"/>
          <p:cNvPicPr>
            <a:picLocks noChangeAspect="1" noChangeArrowheads="1"/>
          </p:cNvPicPr>
          <p:nvPr/>
        </p:nvPicPr>
        <p:blipFill>
          <a:blip r:embed="rId6">
            <a:extLst>
              <a:ext uri="{28A0092B-C50C-407E-A947-70E740481C1C}">
                <a14:useLocalDpi xmlns:a14="http://schemas.microsoft.com/office/drawing/2010/main" val="0"/>
              </a:ext>
            </a:extLst>
          </a:blip>
          <a:srcRect l="30000" t="21022" r="25999" b="39200"/>
          <a:stretch>
            <a:fillRect/>
          </a:stretch>
        </p:blipFill>
        <p:spPr bwMode="auto">
          <a:xfrm>
            <a:off x="5081588" y="2226808"/>
            <a:ext cx="6362700" cy="3595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58" name="Picture 11"/>
          <p:cNvPicPr>
            <a:picLocks noChangeAspect="1" noChangeArrowheads="1"/>
          </p:cNvPicPr>
          <p:nvPr/>
        </p:nvPicPr>
        <p:blipFill>
          <a:blip r:embed="rId6">
            <a:extLst>
              <a:ext uri="{28A0092B-C50C-407E-A947-70E740481C1C}">
                <a14:useLocalDpi xmlns:a14="http://schemas.microsoft.com/office/drawing/2010/main" val="0"/>
              </a:ext>
            </a:extLst>
          </a:blip>
          <a:srcRect l="30000" t="13556" r="48000" b="81111"/>
          <a:stretch>
            <a:fillRect/>
          </a:stretch>
        </p:blipFill>
        <p:spPr bwMode="auto">
          <a:xfrm>
            <a:off x="5447928" y="2327284"/>
            <a:ext cx="2514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59" name="Picture 23" descr="MCj0242001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16365" y="2921760"/>
            <a:ext cx="47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25" descr="MCj0242001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10800000">
            <a:off x="6402479" y="5049770"/>
            <a:ext cx="45561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26" descr="MCj0242001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61513" y="3354925"/>
            <a:ext cx="47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3" name="Picture 27"/>
          <p:cNvPicPr>
            <a:picLocks noChangeAspect="1" noChangeArrowheads="1"/>
          </p:cNvPicPr>
          <p:nvPr/>
        </p:nvPicPr>
        <p:blipFill>
          <a:blip r:embed="rId6">
            <a:extLst>
              <a:ext uri="{28A0092B-C50C-407E-A947-70E740481C1C}">
                <a14:useLocalDpi xmlns:a14="http://schemas.microsoft.com/office/drawing/2010/main" val="0"/>
              </a:ext>
            </a:extLst>
          </a:blip>
          <a:srcRect l="30000" t="13556" r="48000" b="84311"/>
          <a:stretch>
            <a:fillRect/>
          </a:stretch>
        </p:blipFill>
        <p:spPr bwMode="auto">
          <a:xfrm>
            <a:off x="2407739" y="1578752"/>
            <a:ext cx="25146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64" name="Picture 28"/>
          <p:cNvPicPr>
            <a:picLocks noChangeAspect="1" noChangeArrowheads="1"/>
          </p:cNvPicPr>
          <p:nvPr/>
        </p:nvPicPr>
        <p:blipFill>
          <a:blip r:embed="rId6">
            <a:extLst>
              <a:ext uri="{28A0092B-C50C-407E-A947-70E740481C1C}">
                <a14:useLocalDpi xmlns:a14="http://schemas.microsoft.com/office/drawing/2010/main" val="0"/>
              </a:ext>
            </a:extLst>
          </a:blip>
          <a:srcRect l="30000" t="15689" r="48000" b="81111"/>
          <a:stretch>
            <a:fillRect/>
          </a:stretch>
        </p:blipFill>
        <p:spPr bwMode="auto">
          <a:xfrm>
            <a:off x="2670493" y="4051300"/>
            <a:ext cx="2514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567" name="Text Box 20"/>
          <p:cNvSpPr txBox="1">
            <a:spLocks noChangeArrowheads="1"/>
          </p:cNvSpPr>
          <p:nvPr/>
        </p:nvSpPr>
        <p:spPr bwMode="auto">
          <a:xfrm>
            <a:off x="7747001" y="1358901"/>
            <a:ext cx="3190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Indicate effects when</a:t>
            </a:r>
            <a:br>
              <a:rPr lang="en-GB" sz="1800" dirty="0"/>
            </a:br>
            <a:r>
              <a:rPr lang="en-GB" sz="1800" dirty="0"/>
              <a:t>t/c </a:t>
            </a:r>
            <a:r>
              <a:rPr lang="en-GB" sz="1200" dirty="0"/>
              <a:t>max</a:t>
            </a:r>
            <a:r>
              <a:rPr lang="en-GB" sz="1800" dirty="0"/>
              <a:t> is shifted back</a:t>
            </a:r>
          </a:p>
        </p:txBody>
      </p:sp>
      <p:sp>
        <p:nvSpPr>
          <p:cNvPr id="23568" name="AutoShape 19"/>
          <p:cNvSpPr>
            <a:spLocks noChangeArrowheads="1"/>
          </p:cNvSpPr>
          <p:nvPr/>
        </p:nvSpPr>
        <p:spPr bwMode="auto">
          <a:xfrm rot="5400000">
            <a:off x="10616656" y="2791266"/>
            <a:ext cx="563631" cy="397667"/>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3569" name="AutoShape 20"/>
          <p:cNvSpPr>
            <a:spLocks noChangeArrowheads="1"/>
          </p:cNvSpPr>
          <p:nvPr/>
        </p:nvSpPr>
        <p:spPr bwMode="auto">
          <a:xfrm rot="5400000">
            <a:off x="7783895" y="2828190"/>
            <a:ext cx="481836" cy="300410"/>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3570" name="AutoShape 21"/>
          <p:cNvSpPr>
            <a:spLocks noChangeArrowheads="1"/>
          </p:cNvSpPr>
          <p:nvPr/>
        </p:nvSpPr>
        <p:spPr bwMode="auto">
          <a:xfrm rot="10800000">
            <a:off x="6164562" y="4771715"/>
            <a:ext cx="482029" cy="278054"/>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3571" name="AutoShape 13"/>
          <p:cNvSpPr>
            <a:spLocks noChangeArrowheads="1"/>
          </p:cNvSpPr>
          <p:nvPr/>
        </p:nvSpPr>
        <p:spPr bwMode="auto">
          <a:xfrm>
            <a:off x="7104063" y="1365539"/>
            <a:ext cx="504105" cy="284895"/>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3572" name="Rectangle 22"/>
          <p:cNvSpPr>
            <a:spLocks noChangeArrowheads="1"/>
          </p:cNvSpPr>
          <p:nvPr/>
        </p:nvSpPr>
        <p:spPr bwMode="auto">
          <a:xfrm>
            <a:off x="7032624" y="1341439"/>
            <a:ext cx="4031927" cy="719137"/>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r" fontAlgn="base"/>
            <a:endParaRPr lang="nl-NL" sz="2200"/>
          </a:p>
        </p:txBody>
      </p:sp>
      <p:sp>
        <p:nvSpPr>
          <p:cNvPr id="2" name="Rectangle 1"/>
          <p:cNvSpPr/>
          <p:nvPr/>
        </p:nvSpPr>
        <p:spPr>
          <a:xfrm>
            <a:off x="794169" y="787736"/>
            <a:ext cx="8322471" cy="338554"/>
          </a:xfrm>
          <a:prstGeom prst="rect">
            <a:avLst/>
          </a:prstGeom>
        </p:spPr>
        <p:txBody>
          <a:bodyPr wrap="none">
            <a:spAutoFit/>
          </a:bodyPr>
          <a:lstStyle/>
          <a:p>
            <a:r>
              <a:rPr lang="en-GB" dirty="0"/>
              <a:t>The location of the </a:t>
            </a:r>
            <a:r>
              <a:rPr lang="en-GB" dirty="0" err="1"/>
              <a:t>airfoil</a:t>
            </a:r>
            <a:r>
              <a:rPr lang="en-GB" dirty="0"/>
              <a:t> max thickness is linked to the location of the max peak pressure.</a:t>
            </a:r>
            <a:endParaRPr lang="en-US" dirty="0"/>
          </a:p>
        </p:txBody>
      </p:sp>
    </p:spTree>
    <p:custDataLst>
      <p:tags r:id="rId1"/>
    </p:custDataLst>
    <p:extLst>
      <p:ext uri="{BB962C8B-B14F-4D97-AF65-F5344CB8AC3E}">
        <p14:creationId xmlns:p14="http://schemas.microsoft.com/office/powerpoint/2010/main" val="350048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5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5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8" grpId="0" animBg="1"/>
      <p:bldP spid="23569" grpId="0" animBg="1"/>
      <p:bldP spid="2357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1777855" y="2942753"/>
            <a:ext cx="880348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buFontTx/>
              <a:buAutoNum type="arabicPeriod"/>
            </a:pPr>
            <a:r>
              <a:rPr lang="en-GB" sz="2000" dirty="0"/>
              <a:t>Viscosity effect:        Reynolds number </a:t>
            </a:r>
            <a:r>
              <a:rPr lang="en-GB" sz="2000" dirty="0">
                <a:sym typeface="Wingdings" pitchFamily="2" charset="2"/>
              </a:rPr>
              <a:t>  	             </a:t>
            </a:r>
            <a:br>
              <a:rPr lang="en-GB" sz="2000" dirty="0"/>
            </a:br>
            <a:br>
              <a:rPr lang="en-GB" sz="2000" dirty="0"/>
            </a:br>
            <a:br>
              <a:rPr lang="en-GB" sz="2000" dirty="0"/>
            </a:br>
            <a:endParaRPr lang="en-GB" sz="2000" dirty="0"/>
          </a:p>
        </p:txBody>
      </p:sp>
      <p:grpSp>
        <p:nvGrpSpPr>
          <p:cNvPr id="4" name="Group 3"/>
          <p:cNvGrpSpPr/>
          <p:nvPr/>
        </p:nvGrpSpPr>
        <p:grpSpPr>
          <a:xfrm>
            <a:off x="839416" y="812058"/>
            <a:ext cx="10945216" cy="1484621"/>
            <a:chOff x="251520" y="4470111"/>
            <a:chExt cx="8631728" cy="1484621"/>
          </a:xfrm>
        </p:grpSpPr>
        <p:sp>
          <p:nvSpPr>
            <p:cNvPr id="28675" name="Text Box 3"/>
            <p:cNvSpPr txBox="1">
              <a:spLocks noChangeArrowheads="1"/>
            </p:cNvSpPr>
            <p:nvPr/>
          </p:nvSpPr>
          <p:spPr bwMode="auto">
            <a:xfrm>
              <a:off x="251520" y="4470111"/>
              <a:ext cx="86317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The aerodynamic performance of a given </a:t>
              </a:r>
              <a:r>
                <a:rPr lang="en-GB" sz="2000" dirty="0" err="1"/>
                <a:t>airfoil</a:t>
              </a:r>
              <a:r>
                <a:rPr lang="en-GB" sz="2000" dirty="0"/>
                <a:t> depend not only on the </a:t>
              </a:r>
              <a:r>
                <a:rPr lang="en-GB" sz="2000" dirty="0" err="1"/>
                <a:t>AoA</a:t>
              </a:r>
              <a:r>
                <a:rPr lang="en-GB" sz="2000" dirty="0"/>
                <a:t> but also on the flow conditions:</a:t>
              </a:r>
            </a:p>
            <a:p>
              <a:pPr algn="l" eaLnBrk="1" fontAlgn="base" hangingPunct="1"/>
              <a:endParaRPr lang="en-GB" sz="2000" dirty="0"/>
            </a:p>
            <a:p>
              <a:pPr eaLnBrk="1" fontAlgn="base" hangingPunct="1"/>
              <a:r>
                <a:rPr lang="en-GB" sz="2000" b="1" dirty="0"/>
                <a:t>C</a:t>
              </a:r>
              <a:r>
                <a:rPr lang="en-GB" sz="2000" b="1" baseline="-25000" dirty="0"/>
                <a:t>l</a:t>
              </a:r>
              <a:r>
                <a:rPr lang="en-GB" sz="2000" b="1" dirty="0"/>
                <a:t>, C</a:t>
              </a:r>
              <a:r>
                <a:rPr lang="en-GB" sz="2000" b="1" baseline="-25000" dirty="0"/>
                <a:t>m</a:t>
              </a:r>
              <a:r>
                <a:rPr lang="en-GB" sz="2000" b="1" dirty="0"/>
                <a:t> and C</a:t>
              </a:r>
              <a:r>
                <a:rPr lang="en-GB" sz="2000" b="1" baseline="-25000" dirty="0"/>
                <a:t>d</a:t>
              </a:r>
              <a:r>
                <a:rPr lang="en-GB" sz="2000" b="1" dirty="0"/>
                <a:t> = </a:t>
              </a:r>
              <a:r>
                <a:rPr lang="en-GB" sz="2000" b="1" i="1" dirty="0"/>
                <a:t>f </a:t>
              </a:r>
              <a:r>
                <a:rPr lang="en-GB" sz="2000" b="1" dirty="0"/>
                <a:t>(</a:t>
              </a:r>
              <a:r>
                <a:rPr lang="el-GR" sz="2000" b="1" dirty="0"/>
                <a:t>α</a:t>
              </a:r>
              <a:r>
                <a:rPr lang="en-GB" sz="2000" b="1" dirty="0"/>
                <a:t>, Re, M)</a:t>
              </a:r>
              <a:r>
                <a:rPr lang="en-GB" sz="2000" dirty="0"/>
                <a:t> </a:t>
              </a:r>
            </a:p>
          </p:txBody>
        </p:sp>
        <p:sp>
          <p:nvSpPr>
            <p:cNvPr id="28676" name="Oval 4"/>
            <p:cNvSpPr>
              <a:spLocks noChangeArrowheads="1"/>
            </p:cNvSpPr>
            <p:nvPr/>
          </p:nvSpPr>
          <p:spPr bwMode="auto">
            <a:xfrm>
              <a:off x="4737747" y="5284632"/>
              <a:ext cx="1249329" cy="670100"/>
            </a:xfrm>
            <a:prstGeom prst="ellipse">
              <a:avLst/>
            </a:prstGeom>
            <a:noFill/>
            <a:ln w="3810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l" fontAlgn="base"/>
              <a:endParaRPr lang="nl-NL" sz="2000"/>
            </a:p>
          </p:txBody>
        </p:sp>
      </p:grpSp>
      <p:graphicFrame>
        <p:nvGraphicFramePr>
          <p:cNvPr id="28677" name="Object 5"/>
          <p:cNvGraphicFramePr>
            <a:graphicFrameLocks noChangeAspect="1"/>
          </p:cNvGraphicFramePr>
          <p:nvPr>
            <p:extLst>
              <p:ext uri="{D42A27DB-BD31-4B8C-83A1-F6EECF244321}">
                <p14:modId xmlns:p14="http://schemas.microsoft.com/office/powerpoint/2010/main" val="3222896990"/>
              </p:ext>
            </p:extLst>
          </p:nvPr>
        </p:nvGraphicFramePr>
        <p:xfrm>
          <a:off x="7325295" y="2747203"/>
          <a:ext cx="1314450" cy="850900"/>
        </p:xfrm>
        <a:graphic>
          <a:graphicData uri="http://schemas.openxmlformats.org/presentationml/2006/ole">
            <mc:AlternateContent xmlns:mc="http://schemas.openxmlformats.org/markup-compatibility/2006">
              <mc:Choice xmlns:v="urn:schemas-microsoft-com:vml" Requires="v">
                <p:oleObj name="Equation" r:id="rId4" imgW="647700" imgH="419100" progId="Equation.DSMT4">
                  <p:embed/>
                </p:oleObj>
              </mc:Choice>
              <mc:Fallback>
                <p:oleObj name="Equation" r:id="rId4" imgW="6477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5295" y="2747203"/>
                        <a:ext cx="131445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8" name="Object 6"/>
          <p:cNvGraphicFramePr>
            <a:graphicFrameLocks noChangeAspect="1"/>
          </p:cNvGraphicFramePr>
          <p:nvPr>
            <p:extLst>
              <p:ext uri="{D42A27DB-BD31-4B8C-83A1-F6EECF244321}">
                <p14:modId xmlns:p14="http://schemas.microsoft.com/office/powerpoint/2010/main" val="1054185690"/>
              </p:ext>
            </p:extLst>
          </p:nvPr>
        </p:nvGraphicFramePr>
        <p:xfrm>
          <a:off x="7492776" y="4357092"/>
          <a:ext cx="979488" cy="800100"/>
        </p:xfrm>
        <a:graphic>
          <a:graphicData uri="http://schemas.openxmlformats.org/presentationml/2006/ole">
            <mc:AlternateContent xmlns:mc="http://schemas.openxmlformats.org/markup-compatibility/2006">
              <mc:Choice xmlns:v="urn:schemas-microsoft-com:vml" Requires="v">
                <p:oleObj name="Equation" r:id="rId6" imgW="482391" imgH="393529" progId="Equation.3">
                  <p:embed/>
                </p:oleObj>
              </mc:Choice>
              <mc:Fallback>
                <p:oleObj name="Equation" r:id="rId6" imgW="482391"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2776" y="4357092"/>
                        <a:ext cx="979488"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679" name="Group 11"/>
          <p:cNvGrpSpPr>
            <a:grpSpLocks/>
          </p:cNvGrpSpPr>
          <p:nvPr/>
        </p:nvGrpSpPr>
        <p:grpSpPr bwMode="auto">
          <a:xfrm>
            <a:off x="9303545" y="3506623"/>
            <a:ext cx="1023937" cy="952500"/>
            <a:chOff x="4694" y="1061"/>
            <a:chExt cx="645" cy="600"/>
          </a:xfrm>
        </p:grpSpPr>
        <p:pic>
          <p:nvPicPr>
            <p:cNvPr id="28681" name="Picture 7" descr="warning"/>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946588">
              <a:off x="4694" y="1104"/>
              <a:ext cx="624" cy="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Text Box 8"/>
            <p:cNvSpPr txBox="1">
              <a:spLocks noChangeArrowheads="1"/>
            </p:cNvSpPr>
            <p:nvPr/>
          </p:nvSpPr>
          <p:spPr bwMode="auto">
            <a:xfrm>
              <a:off x="5136" y="1061"/>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a:t>*</a:t>
              </a:r>
            </a:p>
          </p:txBody>
        </p:sp>
      </p:grpSp>
      <p:sp>
        <p:nvSpPr>
          <p:cNvPr id="28680" name="Rectangle 9"/>
          <p:cNvSpPr>
            <a:spLocks noChangeArrowheads="1"/>
          </p:cNvSpPr>
          <p:nvPr/>
        </p:nvSpPr>
        <p:spPr bwMode="auto">
          <a:xfrm>
            <a:off x="695400" y="50712"/>
            <a:ext cx="842486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3300" dirty="0">
                <a:solidFill>
                  <a:schemeClr val="bg2"/>
                </a:solidFill>
                <a:latin typeface="Bookman Old Style" pitchFamily="18" charset="0"/>
              </a:rPr>
              <a:t>Influence on flow characteristics</a:t>
            </a:r>
          </a:p>
        </p:txBody>
      </p:sp>
      <p:sp>
        <p:nvSpPr>
          <p:cNvPr id="3" name="Rectangle 2"/>
          <p:cNvSpPr/>
          <p:nvPr/>
        </p:nvSpPr>
        <p:spPr>
          <a:xfrm>
            <a:off x="1757016" y="4573116"/>
            <a:ext cx="6624985" cy="400110"/>
          </a:xfrm>
          <a:prstGeom prst="rect">
            <a:avLst/>
          </a:prstGeom>
        </p:spPr>
        <p:txBody>
          <a:bodyPr wrap="square">
            <a:spAutoFit/>
          </a:bodyPr>
          <a:lstStyle/>
          <a:p>
            <a:pPr marL="457200" indent="-457200" algn="l" fontAlgn="base">
              <a:buFont typeface="+mj-lt"/>
              <a:buAutoNum type="arabicPeriod" startAt="2"/>
            </a:pPr>
            <a:r>
              <a:rPr lang="en-GB" sz="2000" dirty="0">
                <a:solidFill>
                  <a:srgbClr val="000000"/>
                </a:solidFill>
              </a:rPr>
              <a:t>Compressibility effect:     Mach number </a:t>
            </a:r>
            <a:r>
              <a:rPr lang="en-GB" sz="2000" dirty="0">
                <a:solidFill>
                  <a:srgbClr val="000000"/>
                </a:solidFill>
                <a:sym typeface="Wingdings" pitchFamily="2" charset="2"/>
              </a:rPr>
              <a:t></a:t>
            </a:r>
            <a:r>
              <a:rPr lang="en-GB" sz="2000" dirty="0">
                <a:solidFill>
                  <a:srgbClr val="000000"/>
                </a:solidFill>
              </a:rPr>
              <a:t>                    </a:t>
            </a:r>
          </a:p>
        </p:txBody>
      </p:sp>
    </p:spTree>
    <p:custDataLst>
      <p:tags r:id="rId1"/>
    </p:custDataLst>
    <p:extLst>
      <p:ext uri="{BB962C8B-B14F-4D97-AF65-F5344CB8AC3E}">
        <p14:creationId xmlns:p14="http://schemas.microsoft.com/office/powerpoint/2010/main" val="728253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7" name="Object 5"/>
          <p:cNvGraphicFramePr>
            <a:graphicFrameLocks noChangeAspect="1"/>
          </p:cNvGraphicFramePr>
          <p:nvPr>
            <p:extLst>
              <p:ext uri="{D42A27DB-BD31-4B8C-83A1-F6EECF244321}">
                <p14:modId xmlns:p14="http://schemas.microsoft.com/office/powerpoint/2010/main" val="3232539923"/>
              </p:ext>
            </p:extLst>
          </p:nvPr>
        </p:nvGraphicFramePr>
        <p:xfrm>
          <a:off x="4887330" y="5157192"/>
          <a:ext cx="2681288" cy="850900"/>
        </p:xfrm>
        <a:graphic>
          <a:graphicData uri="http://schemas.openxmlformats.org/presentationml/2006/ole">
            <mc:AlternateContent xmlns:mc="http://schemas.openxmlformats.org/markup-compatibility/2006">
              <mc:Choice xmlns:v="urn:schemas-microsoft-com:vml" Requires="v">
                <p:oleObj name="Equation" r:id="rId4" imgW="1320480" imgH="419040" progId="Equation.DSMT4">
                  <p:embed/>
                </p:oleObj>
              </mc:Choice>
              <mc:Fallback>
                <p:oleObj name="Equation" r:id="rId4" imgW="1320480" imgH="419040" progId="Equation.DSMT4">
                  <p:embed/>
                  <p:pic>
                    <p:nvPicPr>
                      <p:cNvPr id="0" name=""/>
                      <p:cNvPicPr>
                        <a:picLocks noChangeAspect="1" noChangeArrowheads="1"/>
                      </p:cNvPicPr>
                      <p:nvPr/>
                    </p:nvPicPr>
                    <p:blipFill>
                      <a:blip r:embed="rId5"/>
                      <a:srcRect/>
                      <a:stretch>
                        <a:fillRect/>
                      </a:stretch>
                    </p:blipFill>
                    <p:spPr bwMode="auto">
                      <a:xfrm>
                        <a:off x="4887330" y="5157192"/>
                        <a:ext cx="26812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Rectangle 9"/>
          <p:cNvSpPr>
            <a:spLocks noChangeArrowheads="1"/>
          </p:cNvSpPr>
          <p:nvPr/>
        </p:nvSpPr>
        <p:spPr bwMode="auto">
          <a:xfrm>
            <a:off x="695400" y="16322"/>
            <a:ext cx="84248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3200" dirty="0">
                <a:solidFill>
                  <a:schemeClr val="bg2"/>
                </a:solidFill>
                <a:latin typeface="Bookman Old Style" pitchFamily="18" charset="0"/>
              </a:rPr>
              <a:t>Intermezzo: fluid viscosity</a:t>
            </a:r>
          </a:p>
        </p:txBody>
      </p:sp>
      <p:sp>
        <p:nvSpPr>
          <p:cNvPr id="4" name="TextBox 3"/>
          <p:cNvSpPr txBox="1"/>
          <p:nvPr/>
        </p:nvSpPr>
        <p:spPr>
          <a:xfrm>
            <a:off x="767408" y="811452"/>
            <a:ext cx="11017224" cy="584775"/>
          </a:xfrm>
          <a:prstGeom prst="rect">
            <a:avLst/>
          </a:prstGeom>
          <a:noFill/>
        </p:spPr>
        <p:txBody>
          <a:bodyPr wrap="square" rtlCol="0">
            <a:spAutoFit/>
          </a:bodyPr>
          <a:lstStyle/>
          <a:p>
            <a:pPr algn="l"/>
            <a:r>
              <a:rPr lang="en-GB" dirty="0"/>
              <a:t>The (dynamic) viscosity is a </a:t>
            </a:r>
            <a:r>
              <a:rPr lang="en-GB" b="1" dirty="0"/>
              <a:t>inner</a:t>
            </a:r>
            <a:r>
              <a:rPr lang="en-GB" dirty="0"/>
              <a:t> property of the fluid related to its resistance to the tangential deformations by shear stresses. </a:t>
            </a:r>
          </a:p>
        </p:txBody>
      </p:sp>
      <p:pic>
        <p:nvPicPr>
          <p:cNvPr id="9234"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240" y="1556736"/>
            <a:ext cx="3388278" cy="22279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767408" y="1510913"/>
            <a:ext cx="6264696" cy="2062103"/>
          </a:xfrm>
          <a:prstGeom prst="rect">
            <a:avLst/>
          </a:prstGeom>
          <a:noFill/>
        </p:spPr>
        <p:txBody>
          <a:bodyPr wrap="square" rtlCol="0">
            <a:spAutoFit/>
          </a:bodyPr>
          <a:lstStyle/>
          <a:p>
            <a:pPr algn="l"/>
            <a:r>
              <a:rPr lang="en-GB" dirty="0"/>
              <a:t>As a body moves within a fluid, the fluid molecules tend to remain attached to its external surface.</a:t>
            </a:r>
          </a:p>
          <a:p>
            <a:pPr algn="l"/>
            <a:r>
              <a:rPr lang="en-GB" dirty="0"/>
              <a:t>A layer of fluid where the velocity is strongly depending on the tangential forces can be observed. This layer, called, boundary layer, “changes”  the aerodynamic shape of the body altering the lift and drag produced by the body itself.</a:t>
            </a:r>
          </a:p>
          <a:p>
            <a:pPr algn="l"/>
            <a:r>
              <a:rPr lang="en-GB" dirty="0"/>
              <a:t>Thickness and “type” of the BL (laminar or turbulent) is depending on the fluid and motion characteristics. </a:t>
            </a:r>
          </a:p>
        </p:txBody>
      </p:sp>
      <p:sp>
        <p:nvSpPr>
          <p:cNvPr id="5" name="Rectangle 4"/>
          <p:cNvSpPr/>
          <p:nvPr/>
        </p:nvSpPr>
        <p:spPr>
          <a:xfrm>
            <a:off x="767408" y="4221088"/>
            <a:ext cx="10441159" cy="584775"/>
          </a:xfrm>
          <a:prstGeom prst="rect">
            <a:avLst/>
          </a:prstGeom>
        </p:spPr>
        <p:txBody>
          <a:bodyPr wrap="square">
            <a:spAutoFit/>
          </a:bodyPr>
          <a:lstStyle/>
          <a:p>
            <a:pPr algn="l"/>
            <a:r>
              <a:rPr lang="en-GB" dirty="0"/>
              <a:t>The similarity parameter for viscosity is the </a:t>
            </a:r>
            <a:r>
              <a:rPr lang="en-GB" b="1" dirty="0"/>
              <a:t>Reynolds number</a:t>
            </a:r>
            <a:r>
              <a:rPr lang="en-GB" dirty="0"/>
              <a:t>. The Reynolds number expresses the ratio of </a:t>
            </a:r>
            <a:r>
              <a:rPr lang="en-GB" b="1" dirty="0"/>
              <a:t>inertial</a:t>
            </a:r>
            <a:r>
              <a:rPr lang="en-GB" dirty="0"/>
              <a:t> (resistant to change or motion) forces to </a:t>
            </a:r>
            <a:r>
              <a:rPr lang="en-GB" b="1" dirty="0"/>
              <a:t>viscous </a:t>
            </a:r>
            <a:r>
              <a:rPr lang="en-GB" dirty="0"/>
              <a:t>(heavy and gluey) forces</a:t>
            </a:r>
          </a:p>
        </p:txBody>
      </p:sp>
    </p:spTree>
    <p:custDataLst>
      <p:tags r:id="rId1"/>
    </p:custDataLst>
    <p:extLst>
      <p:ext uri="{BB962C8B-B14F-4D97-AF65-F5344CB8AC3E}">
        <p14:creationId xmlns:p14="http://schemas.microsoft.com/office/powerpoint/2010/main" val="958704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7" name="Object 5"/>
          <p:cNvGraphicFramePr>
            <a:graphicFrameLocks noChangeAspect="1"/>
          </p:cNvGraphicFramePr>
          <p:nvPr>
            <p:extLst>
              <p:ext uri="{D42A27DB-BD31-4B8C-83A1-F6EECF244321}">
                <p14:modId xmlns:p14="http://schemas.microsoft.com/office/powerpoint/2010/main" val="351702340"/>
              </p:ext>
            </p:extLst>
          </p:nvPr>
        </p:nvGraphicFramePr>
        <p:xfrm>
          <a:off x="5430450" y="764704"/>
          <a:ext cx="2681288" cy="850900"/>
        </p:xfrm>
        <a:graphic>
          <a:graphicData uri="http://schemas.openxmlformats.org/presentationml/2006/ole">
            <mc:AlternateContent xmlns:mc="http://schemas.openxmlformats.org/markup-compatibility/2006">
              <mc:Choice xmlns:v="urn:schemas-microsoft-com:vml" Requires="v">
                <p:oleObj name="Equation" r:id="rId4" imgW="1320480" imgH="419040" progId="Equation.DSMT4">
                  <p:embed/>
                </p:oleObj>
              </mc:Choice>
              <mc:Fallback>
                <p:oleObj name="Equation" r:id="rId4" imgW="1320480" imgH="419040" progId="Equation.DSMT4">
                  <p:embed/>
                  <p:pic>
                    <p:nvPicPr>
                      <p:cNvPr id="0" name=""/>
                      <p:cNvPicPr>
                        <a:picLocks noChangeAspect="1" noChangeArrowheads="1"/>
                      </p:cNvPicPr>
                      <p:nvPr/>
                    </p:nvPicPr>
                    <p:blipFill>
                      <a:blip r:embed="rId5"/>
                      <a:srcRect/>
                      <a:stretch>
                        <a:fillRect/>
                      </a:stretch>
                    </p:blipFill>
                    <p:spPr bwMode="auto">
                      <a:xfrm>
                        <a:off x="5430450" y="764704"/>
                        <a:ext cx="26812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Rectangle 9"/>
          <p:cNvSpPr>
            <a:spLocks noChangeArrowheads="1"/>
          </p:cNvSpPr>
          <p:nvPr/>
        </p:nvSpPr>
        <p:spPr bwMode="auto">
          <a:xfrm>
            <a:off x="695400" y="47199"/>
            <a:ext cx="84248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3200" dirty="0">
                <a:solidFill>
                  <a:schemeClr val="bg2"/>
                </a:solidFill>
                <a:latin typeface="Bookman Old Style" pitchFamily="18" charset="0"/>
              </a:rPr>
              <a:t>Intermezzo: fluid viscosity</a:t>
            </a:r>
          </a:p>
        </p:txBody>
      </p:sp>
      <p:sp>
        <p:nvSpPr>
          <p:cNvPr id="2" name="Right Arrow 1">
            <a:extLst>
              <a:ext uri="{FF2B5EF4-FFF2-40B4-BE49-F238E27FC236}">
                <a16:creationId xmlns:a16="http://schemas.microsoft.com/office/drawing/2014/main" id="{6628E15E-B9A3-E046-957C-4EB4AEE12DC7}"/>
              </a:ext>
            </a:extLst>
          </p:cNvPr>
          <p:cNvSpPr/>
          <p:nvPr/>
        </p:nvSpPr>
        <p:spPr bwMode="auto">
          <a:xfrm>
            <a:off x="695400" y="1987824"/>
            <a:ext cx="11441948" cy="432048"/>
          </a:xfrm>
          <a:prstGeom prst="rightArrow">
            <a:avLst>
              <a:gd name="adj1" fmla="val 26806"/>
              <a:gd name="adj2" fmla="val 67395"/>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NL" sz="2200" b="0" i="0" u="none" strike="noStrike" cap="none" normalizeH="0" baseline="0">
              <a:ln>
                <a:noFill/>
              </a:ln>
              <a:solidFill>
                <a:schemeClr val="tx1"/>
              </a:solidFill>
              <a:effectLst/>
              <a:latin typeface="Tahoma" pitchFamily="34" charset="0"/>
            </a:endParaRPr>
          </a:p>
        </p:txBody>
      </p:sp>
      <p:cxnSp>
        <p:nvCxnSpPr>
          <p:cNvPr id="5" name="Straight Connector 4">
            <a:extLst>
              <a:ext uri="{FF2B5EF4-FFF2-40B4-BE49-F238E27FC236}">
                <a16:creationId xmlns:a16="http://schemas.microsoft.com/office/drawing/2014/main" id="{8BE9776B-2CCC-429F-431C-0DDEB2FC3C53}"/>
              </a:ext>
            </a:extLst>
          </p:cNvPr>
          <p:cNvCxnSpPr>
            <a:cxnSpLocks/>
          </p:cNvCxnSpPr>
          <p:nvPr/>
        </p:nvCxnSpPr>
        <p:spPr bwMode="auto">
          <a:xfrm>
            <a:off x="695400" y="2059832"/>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E8219B72-6981-146F-EE00-4D9E8B9FD2F6}"/>
              </a:ext>
            </a:extLst>
          </p:cNvPr>
          <p:cNvCxnSpPr>
            <a:cxnSpLocks/>
          </p:cNvCxnSpPr>
          <p:nvPr/>
        </p:nvCxnSpPr>
        <p:spPr bwMode="auto">
          <a:xfrm>
            <a:off x="2056228"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47BFE573-4315-4B76-04F1-967C5A003207}"/>
              </a:ext>
            </a:extLst>
          </p:cNvPr>
          <p:cNvCxnSpPr>
            <a:cxnSpLocks/>
          </p:cNvCxnSpPr>
          <p:nvPr/>
        </p:nvCxnSpPr>
        <p:spPr bwMode="auto">
          <a:xfrm>
            <a:off x="3417056"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1BBFCCE6-3611-6BEA-05B5-EAD5E201548A}"/>
              </a:ext>
            </a:extLst>
          </p:cNvPr>
          <p:cNvCxnSpPr>
            <a:cxnSpLocks/>
          </p:cNvCxnSpPr>
          <p:nvPr/>
        </p:nvCxnSpPr>
        <p:spPr bwMode="auto">
          <a:xfrm>
            <a:off x="4777884"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C6EF6EB6-A7AB-902E-2F99-5A31C41B8015}"/>
              </a:ext>
            </a:extLst>
          </p:cNvPr>
          <p:cNvCxnSpPr>
            <a:cxnSpLocks/>
          </p:cNvCxnSpPr>
          <p:nvPr/>
        </p:nvCxnSpPr>
        <p:spPr bwMode="auto">
          <a:xfrm>
            <a:off x="6138712"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CC89FC6E-1AF1-B16D-C279-3BB7A83C61A3}"/>
              </a:ext>
            </a:extLst>
          </p:cNvPr>
          <p:cNvCxnSpPr>
            <a:cxnSpLocks/>
          </p:cNvCxnSpPr>
          <p:nvPr/>
        </p:nvCxnSpPr>
        <p:spPr bwMode="auto">
          <a:xfrm>
            <a:off x="7493566"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2CCCB714-7DBA-87B6-B1A2-BAB00F6758D5}"/>
              </a:ext>
            </a:extLst>
          </p:cNvPr>
          <p:cNvCxnSpPr>
            <a:cxnSpLocks/>
          </p:cNvCxnSpPr>
          <p:nvPr/>
        </p:nvCxnSpPr>
        <p:spPr bwMode="auto">
          <a:xfrm>
            <a:off x="8854394"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2D5493A4-B0BC-F5F1-A793-EBE877AF4718}"/>
              </a:ext>
            </a:extLst>
          </p:cNvPr>
          <p:cNvCxnSpPr>
            <a:cxnSpLocks/>
          </p:cNvCxnSpPr>
          <p:nvPr/>
        </p:nvCxnSpPr>
        <p:spPr bwMode="auto">
          <a:xfrm>
            <a:off x="10215222"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B72A3DF9-59BB-9196-8CA6-5911CFE94CA3}"/>
              </a:ext>
            </a:extLst>
          </p:cNvPr>
          <p:cNvCxnSpPr>
            <a:cxnSpLocks/>
          </p:cNvCxnSpPr>
          <p:nvPr/>
        </p:nvCxnSpPr>
        <p:spPr bwMode="auto">
          <a:xfrm>
            <a:off x="11576050"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4" name="TextBox 33">
            <a:extLst>
              <a:ext uri="{FF2B5EF4-FFF2-40B4-BE49-F238E27FC236}">
                <a16:creationId xmlns:a16="http://schemas.microsoft.com/office/drawing/2014/main" id="{355E4786-34F1-7DA7-930B-86D23259AA35}"/>
              </a:ext>
            </a:extLst>
          </p:cNvPr>
          <p:cNvSpPr txBox="1"/>
          <p:nvPr/>
        </p:nvSpPr>
        <p:spPr>
          <a:xfrm>
            <a:off x="453185" y="2347864"/>
            <a:ext cx="484427" cy="338554"/>
          </a:xfrm>
          <a:prstGeom prst="rect">
            <a:avLst/>
          </a:prstGeom>
          <a:noFill/>
        </p:spPr>
        <p:txBody>
          <a:bodyPr wrap="none" rtlCol="0">
            <a:spAutoFit/>
          </a:bodyPr>
          <a:lstStyle/>
          <a:p>
            <a:r>
              <a:rPr lang="en-NL" dirty="0"/>
              <a:t>10</a:t>
            </a:r>
            <a:r>
              <a:rPr lang="en-NL" baseline="30000" dirty="0"/>
              <a:t>1</a:t>
            </a:r>
          </a:p>
        </p:txBody>
      </p:sp>
      <p:sp>
        <p:nvSpPr>
          <p:cNvPr id="35" name="TextBox 34">
            <a:extLst>
              <a:ext uri="{FF2B5EF4-FFF2-40B4-BE49-F238E27FC236}">
                <a16:creationId xmlns:a16="http://schemas.microsoft.com/office/drawing/2014/main" id="{621C32C0-D931-318B-DF2F-75EBFDFD076C}"/>
              </a:ext>
            </a:extLst>
          </p:cNvPr>
          <p:cNvSpPr txBox="1"/>
          <p:nvPr/>
        </p:nvSpPr>
        <p:spPr>
          <a:xfrm>
            <a:off x="1814014" y="2383868"/>
            <a:ext cx="484427" cy="338554"/>
          </a:xfrm>
          <a:prstGeom prst="rect">
            <a:avLst/>
          </a:prstGeom>
          <a:noFill/>
        </p:spPr>
        <p:txBody>
          <a:bodyPr wrap="none" rtlCol="0">
            <a:spAutoFit/>
          </a:bodyPr>
          <a:lstStyle/>
          <a:p>
            <a:r>
              <a:rPr lang="en-NL" dirty="0"/>
              <a:t>10</a:t>
            </a:r>
            <a:r>
              <a:rPr lang="en-NL" baseline="30000" dirty="0"/>
              <a:t>2</a:t>
            </a:r>
          </a:p>
        </p:txBody>
      </p:sp>
      <p:sp>
        <p:nvSpPr>
          <p:cNvPr id="36" name="TextBox 35">
            <a:extLst>
              <a:ext uri="{FF2B5EF4-FFF2-40B4-BE49-F238E27FC236}">
                <a16:creationId xmlns:a16="http://schemas.microsoft.com/office/drawing/2014/main" id="{104222E7-6498-ED94-BDE0-BAC9222D5E5F}"/>
              </a:ext>
            </a:extLst>
          </p:cNvPr>
          <p:cNvSpPr txBox="1"/>
          <p:nvPr/>
        </p:nvSpPr>
        <p:spPr>
          <a:xfrm>
            <a:off x="3174842" y="2375360"/>
            <a:ext cx="484427" cy="338554"/>
          </a:xfrm>
          <a:prstGeom prst="rect">
            <a:avLst/>
          </a:prstGeom>
          <a:noFill/>
        </p:spPr>
        <p:txBody>
          <a:bodyPr wrap="none" rtlCol="0">
            <a:spAutoFit/>
          </a:bodyPr>
          <a:lstStyle/>
          <a:p>
            <a:r>
              <a:rPr lang="en-NL" dirty="0"/>
              <a:t>10</a:t>
            </a:r>
            <a:r>
              <a:rPr lang="en-NL" baseline="30000" dirty="0"/>
              <a:t>3</a:t>
            </a:r>
          </a:p>
        </p:txBody>
      </p:sp>
      <p:sp>
        <p:nvSpPr>
          <p:cNvPr id="37" name="TextBox 36">
            <a:extLst>
              <a:ext uri="{FF2B5EF4-FFF2-40B4-BE49-F238E27FC236}">
                <a16:creationId xmlns:a16="http://schemas.microsoft.com/office/drawing/2014/main" id="{03F9B914-1A42-CEB0-2823-FCDE697D3A0D}"/>
              </a:ext>
            </a:extLst>
          </p:cNvPr>
          <p:cNvSpPr txBox="1"/>
          <p:nvPr/>
        </p:nvSpPr>
        <p:spPr>
          <a:xfrm>
            <a:off x="4535670" y="2363646"/>
            <a:ext cx="484427" cy="338554"/>
          </a:xfrm>
          <a:prstGeom prst="rect">
            <a:avLst/>
          </a:prstGeom>
          <a:noFill/>
        </p:spPr>
        <p:txBody>
          <a:bodyPr wrap="none" rtlCol="0">
            <a:spAutoFit/>
          </a:bodyPr>
          <a:lstStyle/>
          <a:p>
            <a:r>
              <a:rPr lang="en-NL" dirty="0"/>
              <a:t>10</a:t>
            </a:r>
            <a:r>
              <a:rPr lang="en-NL" baseline="30000" dirty="0"/>
              <a:t>4</a:t>
            </a:r>
          </a:p>
        </p:txBody>
      </p:sp>
      <p:sp>
        <p:nvSpPr>
          <p:cNvPr id="38" name="TextBox 37">
            <a:extLst>
              <a:ext uri="{FF2B5EF4-FFF2-40B4-BE49-F238E27FC236}">
                <a16:creationId xmlns:a16="http://schemas.microsoft.com/office/drawing/2014/main" id="{B8420FEE-B65A-2A76-C261-1B6DF017BB86}"/>
              </a:ext>
            </a:extLst>
          </p:cNvPr>
          <p:cNvSpPr txBox="1"/>
          <p:nvPr/>
        </p:nvSpPr>
        <p:spPr>
          <a:xfrm>
            <a:off x="5896499" y="2399650"/>
            <a:ext cx="484427" cy="338554"/>
          </a:xfrm>
          <a:prstGeom prst="rect">
            <a:avLst/>
          </a:prstGeom>
          <a:noFill/>
        </p:spPr>
        <p:txBody>
          <a:bodyPr wrap="none" rtlCol="0">
            <a:spAutoFit/>
          </a:bodyPr>
          <a:lstStyle/>
          <a:p>
            <a:r>
              <a:rPr lang="en-NL" dirty="0"/>
              <a:t>10</a:t>
            </a:r>
            <a:r>
              <a:rPr lang="en-NL" baseline="30000" dirty="0"/>
              <a:t>5</a:t>
            </a:r>
          </a:p>
        </p:txBody>
      </p:sp>
      <p:sp>
        <p:nvSpPr>
          <p:cNvPr id="39" name="TextBox 38">
            <a:extLst>
              <a:ext uri="{FF2B5EF4-FFF2-40B4-BE49-F238E27FC236}">
                <a16:creationId xmlns:a16="http://schemas.microsoft.com/office/drawing/2014/main" id="{3C2941A5-877E-012A-D0E4-30704D1A8C09}"/>
              </a:ext>
            </a:extLst>
          </p:cNvPr>
          <p:cNvSpPr txBox="1"/>
          <p:nvPr/>
        </p:nvSpPr>
        <p:spPr>
          <a:xfrm>
            <a:off x="7257327" y="2391142"/>
            <a:ext cx="484427" cy="338554"/>
          </a:xfrm>
          <a:prstGeom prst="rect">
            <a:avLst/>
          </a:prstGeom>
          <a:noFill/>
        </p:spPr>
        <p:txBody>
          <a:bodyPr wrap="none" rtlCol="0">
            <a:spAutoFit/>
          </a:bodyPr>
          <a:lstStyle/>
          <a:p>
            <a:r>
              <a:rPr lang="en-NL" dirty="0"/>
              <a:t>10</a:t>
            </a:r>
            <a:r>
              <a:rPr lang="en-NL" baseline="30000" dirty="0"/>
              <a:t>6</a:t>
            </a:r>
          </a:p>
        </p:txBody>
      </p:sp>
      <p:sp>
        <p:nvSpPr>
          <p:cNvPr id="40" name="TextBox 39">
            <a:extLst>
              <a:ext uri="{FF2B5EF4-FFF2-40B4-BE49-F238E27FC236}">
                <a16:creationId xmlns:a16="http://schemas.microsoft.com/office/drawing/2014/main" id="{DF569C88-509B-B196-2963-52A041742298}"/>
              </a:ext>
            </a:extLst>
          </p:cNvPr>
          <p:cNvSpPr txBox="1"/>
          <p:nvPr/>
        </p:nvSpPr>
        <p:spPr>
          <a:xfrm>
            <a:off x="8618155" y="2391142"/>
            <a:ext cx="484427" cy="338554"/>
          </a:xfrm>
          <a:prstGeom prst="rect">
            <a:avLst/>
          </a:prstGeom>
          <a:noFill/>
        </p:spPr>
        <p:txBody>
          <a:bodyPr wrap="none" rtlCol="0">
            <a:spAutoFit/>
          </a:bodyPr>
          <a:lstStyle/>
          <a:p>
            <a:r>
              <a:rPr lang="en-NL" dirty="0"/>
              <a:t>10</a:t>
            </a:r>
            <a:r>
              <a:rPr lang="en-NL" baseline="30000" dirty="0"/>
              <a:t>7</a:t>
            </a:r>
          </a:p>
        </p:txBody>
      </p:sp>
      <p:sp>
        <p:nvSpPr>
          <p:cNvPr id="41" name="TextBox 40">
            <a:extLst>
              <a:ext uri="{FF2B5EF4-FFF2-40B4-BE49-F238E27FC236}">
                <a16:creationId xmlns:a16="http://schemas.microsoft.com/office/drawing/2014/main" id="{7F0059D2-D28E-C6BC-AEEB-2DAA7D5F8629}"/>
              </a:ext>
            </a:extLst>
          </p:cNvPr>
          <p:cNvSpPr txBox="1"/>
          <p:nvPr/>
        </p:nvSpPr>
        <p:spPr>
          <a:xfrm>
            <a:off x="9978984" y="2427146"/>
            <a:ext cx="484427" cy="338554"/>
          </a:xfrm>
          <a:prstGeom prst="rect">
            <a:avLst/>
          </a:prstGeom>
          <a:noFill/>
        </p:spPr>
        <p:txBody>
          <a:bodyPr wrap="none" rtlCol="0">
            <a:spAutoFit/>
          </a:bodyPr>
          <a:lstStyle/>
          <a:p>
            <a:r>
              <a:rPr lang="en-NL" dirty="0"/>
              <a:t>10</a:t>
            </a:r>
            <a:r>
              <a:rPr lang="en-NL" baseline="30000" dirty="0"/>
              <a:t>8</a:t>
            </a:r>
          </a:p>
        </p:txBody>
      </p:sp>
      <p:sp>
        <p:nvSpPr>
          <p:cNvPr id="42" name="TextBox 41">
            <a:extLst>
              <a:ext uri="{FF2B5EF4-FFF2-40B4-BE49-F238E27FC236}">
                <a16:creationId xmlns:a16="http://schemas.microsoft.com/office/drawing/2014/main" id="{748958BF-9A1D-9C9F-D42A-5DF3CCCF98CC}"/>
              </a:ext>
            </a:extLst>
          </p:cNvPr>
          <p:cNvSpPr txBox="1"/>
          <p:nvPr/>
        </p:nvSpPr>
        <p:spPr>
          <a:xfrm>
            <a:off x="11339811" y="2418638"/>
            <a:ext cx="484428" cy="338554"/>
          </a:xfrm>
          <a:prstGeom prst="rect">
            <a:avLst/>
          </a:prstGeom>
          <a:noFill/>
        </p:spPr>
        <p:txBody>
          <a:bodyPr wrap="none" rtlCol="0">
            <a:spAutoFit/>
          </a:bodyPr>
          <a:lstStyle/>
          <a:p>
            <a:r>
              <a:rPr lang="en-NL" dirty="0"/>
              <a:t>10</a:t>
            </a:r>
            <a:r>
              <a:rPr lang="en-NL" baseline="30000" dirty="0"/>
              <a:t>9</a:t>
            </a:r>
          </a:p>
        </p:txBody>
      </p:sp>
      <p:pic>
        <p:nvPicPr>
          <p:cNvPr id="1028" name="Picture 4" descr="Model 3D Bloodflow in a Bifurcating Artery | Ansys Innovation Courses">
            <a:extLst>
              <a:ext uri="{FF2B5EF4-FFF2-40B4-BE49-F238E27FC236}">
                <a16:creationId xmlns:a16="http://schemas.microsoft.com/office/drawing/2014/main" id="{A1DEB68B-8DEB-E2B5-788E-EE0D23837D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93" y="3403382"/>
            <a:ext cx="1768817" cy="10971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erodynamic Design Considerations for a Soccer Ball">
            <a:extLst>
              <a:ext uri="{FF2B5EF4-FFF2-40B4-BE49-F238E27FC236}">
                <a16:creationId xmlns:a16="http://schemas.microsoft.com/office/drawing/2014/main" id="{1A3AE685-D2F7-C326-7233-658EFC20D04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0913" b="7006"/>
          <a:stretch/>
        </p:blipFill>
        <p:spPr bwMode="auto">
          <a:xfrm>
            <a:off x="2242941" y="3937716"/>
            <a:ext cx="1863801" cy="13731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drea Sciacchitano على LinkedIn: #windtunnel #tudelft #piv #flow #cyclist  #aerodynamics #cycling…">
            <a:extLst>
              <a:ext uri="{FF2B5EF4-FFF2-40B4-BE49-F238E27FC236}">
                <a16:creationId xmlns:a16="http://schemas.microsoft.com/office/drawing/2014/main" id="{C28A3C16-E9E0-8C3C-F34B-4F91DDD84DF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31644"/>
          <a:stretch/>
        </p:blipFill>
        <p:spPr bwMode="auto">
          <a:xfrm>
            <a:off x="4384788" y="3529957"/>
            <a:ext cx="1996138" cy="164111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low Swim Gear - Swim With Attitude">
            <a:extLst>
              <a:ext uri="{FF2B5EF4-FFF2-40B4-BE49-F238E27FC236}">
                <a16:creationId xmlns:a16="http://schemas.microsoft.com/office/drawing/2014/main" id="{BCB5D9B3-D4E6-D611-8DD6-B2B3E125211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8560"/>
          <a:stretch/>
        </p:blipFill>
        <p:spPr bwMode="auto">
          <a:xfrm>
            <a:off x="6642985" y="3872349"/>
            <a:ext cx="2378704" cy="16411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he Fastest Sharks in the Ocean Ranked - American Oceans">
            <a:extLst>
              <a:ext uri="{FF2B5EF4-FFF2-40B4-BE49-F238E27FC236}">
                <a16:creationId xmlns:a16="http://schemas.microsoft.com/office/drawing/2014/main" id="{A493DC71-B975-C8BB-CBCA-C3B418F8F23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6408" t="26917" r="14757" b="12213"/>
          <a:stretch/>
        </p:blipFill>
        <p:spPr bwMode="auto">
          <a:xfrm>
            <a:off x="9501334" y="3511576"/>
            <a:ext cx="1996138" cy="1239273"/>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Elbow Connector 44">
            <a:extLst>
              <a:ext uri="{FF2B5EF4-FFF2-40B4-BE49-F238E27FC236}">
                <a16:creationId xmlns:a16="http://schemas.microsoft.com/office/drawing/2014/main" id="{44784396-6C76-A255-B36F-466A91C9E1A1}"/>
              </a:ext>
            </a:extLst>
          </p:cNvPr>
          <p:cNvCxnSpPr>
            <a:cxnSpLocks/>
          </p:cNvCxnSpPr>
          <p:nvPr/>
        </p:nvCxnSpPr>
        <p:spPr bwMode="auto">
          <a:xfrm rot="5400000">
            <a:off x="1615569" y="2281160"/>
            <a:ext cx="769402" cy="132730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52" name="Elbow Connector 51">
            <a:extLst>
              <a:ext uri="{FF2B5EF4-FFF2-40B4-BE49-F238E27FC236}">
                <a16:creationId xmlns:a16="http://schemas.microsoft.com/office/drawing/2014/main" id="{A685F6F3-A35D-34AC-69A4-AF1F736D94C0}"/>
              </a:ext>
            </a:extLst>
          </p:cNvPr>
          <p:cNvCxnSpPr>
            <a:cxnSpLocks/>
            <a:stCxn id="38" idx="2"/>
            <a:endCxn id="1030" idx="0"/>
          </p:cNvCxnSpPr>
          <p:nvPr/>
        </p:nvCxnSpPr>
        <p:spPr bwMode="auto">
          <a:xfrm rot="5400000">
            <a:off x="4057022" y="1856025"/>
            <a:ext cx="1199512" cy="2963871"/>
          </a:xfrm>
          <a:prstGeom prst="bentConnector3">
            <a:avLst>
              <a:gd name="adj1" fmla="val 17178"/>
            </a:avLst>
          </a:prstGeom>
          <a:solidFill>
            <a:schemeClr val="accent1"/>
          </a:solidFill>
          <a:ln w="9525" cap="flat" cmpd="sng" algn="ctr">
            <a:solidFill>
              <a:schemeClr val="tx1"/>
            </a:solidFill>
            <a:prstDash val="solid"/>
            <a:round/>
            <a:headEnd type="none" w="med" len="med"/>
            <a:tailEnd type="triangle"/>
          </a:ln>
          <a:effectLst/>
        </p:spPr>
      </p:cxnSp>
      <p:cxnSp>
        <p:nvCxnSpPr>
          <p:cNvPr id="56" name="Elbow Connector 55">
            <a:extLst>
              <a:ext uri="{FF2B5EF4-FFF2-40B4-BE49-F238E27FC236}">
                <a16:creationId xmlns:a16="http://schemas.microsoft.com/office/drawing/2014/main" id="{6D117507-8E2D-3791-DB87-D632BA44244B}"/>
              </a:ext>
            </a:extLst>
          </p:cNvPr>
          <p:cNvCxnSpPr>
            <a:cxnSpLocks/>
          </p:cNvCxnSpPr>
          <p:nvPr/>
        </p:nvCxnSpPr>
        <p:spPr bwMode="auto">
          <a:xfrm rot="5400000">
            <a:off x="5722741" y="2471234"/>
            <a:ext cx="769402" cy="132730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57" name="Elbow Connector 56">
            <a:extLst>
              <a:ext uri="{FF2B5EF4-FFF2-40B4-BE49-F238E27FC236}">
                <a16:creationId xmlns:a16="http://schemas.microsoft.com/office/drawing/2014/main" id="{06212B0E-7D94-C6C8-8F4D-B39DF2444E27}"/>
              </a:ext>
            </a:extLst>
          </p:cNvPr>
          <p:cNvCxnSpPr>
            <a:cxnSpLocks/>
            <a:stCxn id="39" idx="3"/>
            <a:endCxn id="1034" idx="0"/>
          </p:cNvCxnSpPr>
          <p:nvPr/>
        </p:nvCxnSpPr>
        <p:spPr bwMode="auto">
          <a:xfrm>
            <a:off x="7741754" y="2560419"/>
            <a:ext cx="90583" cy="131193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61" name="Elbow Connector 60">
            <a:extLst>
              <a:ext uri="{FF2B5EF4-FFF2-40B4-BE49-F238E27FC236}">
                <a16:creationId xmlns:a16="http://schemas.microsoft.com/office/drawing/2014/main" id="{B068F85F-93FD-7F63-3B79-0545FC9D08DF}"/>
              </a:ext>
            </a:extLst>
          </p:cNvPr>
          <p:cNvCxnSpPr>
            <a:cxnSpLocks/>
          </p:cNvCxnSpPr>
          <p:nvPr/>
        </p:nvCxnSpPr>
        <p:spPr bwMode="auto">
          <a:xfrm rot="16200000" flipH="1">
            <a:off x="10102219" y="2984021"/>
            <a:ext cx="745876" cy="278205"/>
          </a:xfrm>
          <a:prstGeom prst="bentConnector3">
            <a:avLst>
              <a:gd name="adj1" fmla="val 51703"/>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2895571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7" name="Object 5"/>
          <p:cNvGraphicFramePr>
            <a:graphicFrameLocks noChangeAspect="1"/>
          </p:cNvGraphicFramePr>
          <p:nvPr/>
        </p:nvGraphicFramePr>
        <p:xfrm>
          <a:off x="5430450" y="764704"/>
          <a:ext cx="2681288" cy="850900"/>
        </p:xfrm>
        <a:graphic>
          <a:graphicData uri="http://schemas.openxmlformats.org/presentationml/2006/ole">
            <mc:AlternateContent xmlns:mc="http://schemas.openxmlformats.org/markup-compatibility/2006">
              <mc:Choice xmlns:v="urn:schemas-microsoft-com:vml" Requires="v">
                <p:oleObj name="Equation" r:id="rId4" imgW="1320480" imgH="419040" progId="Equation.DSMT4">
                  <p:embed/>
                </p:oleObj>
              </mc:Choice>
              <mc:Fallback>
                <p:oleObj name="Equation" r:id="rId4" imgW="1320480" imgH="419040" progId="Equation.DSMT4">
                  <p:embed/>
                  <p:pic>
                    <p:nvPicPr>
                      <p:cNvPr id="28677" name="Object 5"/>
                      <p:cNvPicPr>
                        <a:picLocks noChangeAspect="1" noChangeArrowheads="1"/>
                      </p:cNvPicPr>
                      <p:nvPr/>
                    </p:nvPicPr>
                    <p:blipFill>
                      <a:blip r:embed="rId5"/>
                      <a:srcRect/>
                      <a:stretch>
                        <a:fillRect/>
                      </a:stretch>
                    </p:blipFill>
                    <p:spPr bwMode="auto">
                      <a:xfrm>
                        <a:off x="5430450" y="764704"/>
                        <a:ext cx="26812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Rectangle 9"/>
          <p:cNvSpPr>
            <a:spLocks noChangeArrowheads="1"/>
          </p:cNvSpPr>
          <p:nvPr/>
        </p:nvSpPr>
        <p:spPr bwMode="auto">
          <a:xfrm>
            <a:off x="695400" y="47199"/>
            <a:ext cx="84248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3200" dirty="0">
                <a:solidFill>
                  <a:schemeClr val="bg2"/>
                </a:solidFill>
                <a:latin typeface="Bookman Old Style" pitchFamily="18" charset="0"/>
              </a:rPr>
              <a:t>Intermezzo: fluid viscosity</a:t>
            </a:r>
          </a:p>
        </p:txBody>
      </p:sp>
      <p:sp>
        <p:nvSpPr>
          <p:cNvPr id="2" name="Right Arrow 1">
            <a:extLst>
              <a:ext uri="{FF2B5EF4-FFF2-40B4-BE49-F238E27FC236}">
                <a16:creationId xmlns:a16="http://schemas.microsoft.com/office/drawing/2014/main" id="{6628E15E-B9A3-E046-957C-4EB4AEE12DC7}"/>
              </a:ext>
            </a:extLst>
          </p:cNvPr>
          <p:cNvSpPr/>
          <p:nvPr/>
        </p:nvSpPr>
        <p:spPr bwMode="auto">
          <a:xfrm>
            <a:off x="695400" y="1987824"/>
            <a:ext cx="11441948" cy="432048"/>
          </a:xfrm>
          <a:prstGeom prst="rightArrow">
            <a:avLst>
              <a:gd name="adj1" fmla="val 26806"/>
              <a:gd name="adj2" fmla="val 67395"/>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NL" sz="2200" b="0" i="0" u="none" strike="noStrike" cap="none" normalizeH="0" baseline="0">
              <a:ln>
                <a:noFill/>
              </a:ln>
              <a:solidFill>
                <a:schemeClr val="tx1"/>
              </a:solidFill>
              <a:effectLst/>
              <a:latin typeface="Tahoma" pitchFamily="34" charset="0"/>
            </a:endParaRPr>
          </a:p>
        </p:txBody>
      </p:sp>
      <p:cxnSp>
        <p:nvCxnSpPr>
          <p:cNvPr id="5" name="Straight Connector 4">
            <a:extLst>
              <a:ext uri="{FF2B5EF4-FFF2-40B4-BE49-F238E27FC236}">
                <a16:creationId xmlns:a16="http://schemas.microsoft.com/office/drawing/2014/main" id="{8BE9776B-2CCC-429F-431C-0DDEB2FC3C53}"/>
              </a:ext>
            </a:extLst>
          </p:cNvPr>
          <p:cNvCxnSpPr>
            <a:cxnSpLocks/>
          </p:cNvCxnSpPr>
          <p:nvPr/>
        </p:nvCxnSpPr>
        <p:spPr bwMode="auto">
          <a:xfrm>
            <a:off x="695400" y="2059832"/>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E8219B72-6981-146F-EE00-4D9E8B9FD2F6}"/>
              </a:ext>
            </a:extLst>
          </p:cNvPr>
          <p:cNvCxnSpPr>
            <a:cxnSpLocks/>
          </p:cNvCxnSpPr>
          <p:nvPr/>
        </p:nvCxnSpPr>
        <p:spPr bwMode="auto">
          <a:xfrm>
            <a:off x="2056228"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47BFE573-4315-4B76-04F1-967C5A003207}"/>
              </a:ext>
            </a:extLst>
          </p:cNvPr>
          <p:cNvCxnSpPr>
            <a:cxnSpLocks/>
          </p:cNvCxnSpPr>
          <p:nvPr/>
        </p:nvCxnSpPr>
        <p:spPr bwMode="auto">
          <a:xfrm>
            <a:off x="3417056"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1BBFCCE6-3611-6BEA-05B5-EAD5E201548A}"/>
              </a:ext>
            </a:extLst>
          </p:cNvPr>
          <p:cNvCxnSpPr>
            <a:cxnSpLocks/>
          </p:cNvCxnSpPr>
          <p:nvPr/>
        </p:nvCxnSpPr>
        <p:spPr bwMode="auto">
          <a:xfrm>
            <a:off x="4777884"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C6EF6EB6-A7AB-902E-2F99-5A31C41B8015}"/>
              </a:ext>
            </a:extLst>
          </p:cNvPr>
          <p:cNvCxnSpPr>
            <a:cxnSpLocks/>
          </p:cNvCxnSpPr>
          <p:nvPr/>
        </p:nvCxnSpPr>
        <p:spPr bwMode="auto">
          <a:xfrm>
            <a:off x="6138712"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CC89FC6E-1AF1-B16D-C279-3BB7A83C61A3}"/>
              </a:ext>
            </a:extLst>
          </p:cNvPr>
          <p:cNvCxnSpPr>
            <a:cxnSpLocks/>
          </p:cNvCxnSpPr>
          <p:nvPr/>
        </p:nvCxnSpPr>
        <p:spPr bwMode="auto">
          <a:xfrm>
            <a:off x="7493566"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2CCCB714-7DBA-87B6-B1A2-BAB00F6758D5}"/>
              </a:ext>
            </a:extLst>
          </p:cNvPr>
          <p:cNvCxnSpPr>
            <a:cxnSpLocks/>
          </p:cNvCxnSpPr>
          <p:nvPr/>
        </p:nvCxnSpPr>
        <p:spPr bwMode="auto">
          <a:xfrm>
            <a:off x="8854394"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2D5493A4-B0BC-F5F1-A793-EBE877AF4718}"/>
              </a:ext>
            </a:extLst>
          </p:cNvPr>
          <p:cNvCxnSpPr>
            <a:cxnSpLocks/>
          </p:cNvCxnSpPr>
          <p:nvPr/>
        </p:nvCxnSpPr>
        <p:spPr bwMode="auto">
          <a:xfrm>
            <a:off x="10215222"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B72A3DF9-59BB-9196-8CA6-5911CFE94CA3}"/>
              </a:ext>
            </a:extLst>
          </p:cNvPr>
          <p:cNvCxnSpPr>
            <a:cxnSpLocks/>
          </p:cNvCxnSpPr>
          <p:nvPr/>
        </p:nvCxnSpPr>
        <p:spPr bwMode="auto">
          <a:xfrm>
            <a:off x="11576050" y="2061124"/>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4" name="TextBox 33">
            <a:extLst>
              <a:ext uri="{FF2B5EF4-FFF2-40B4-BE49-F238E27FC236}">
                <a16:creationId xmlns:a16="http://schemas.microsoft.com/office/drawing/2014/main" id="{355E4786-34F1-7DA7-930B-86D23259AA35}"/>
              </a:ext>
            </a:extLst>
          </p:cNvPr>
          <p:cNvSpPr txBox="1"/>
          <p:nvPr/>
        </p:nvSpPr>
        <p:spPr>
          <a:xfrm>
            <a:off x="453185" y="2347864"/>
            <a:ext cx="484427" cy="338554"/>
          </a:xfrm>
          <a:prstGeom prst="rect">
            <a:avLst/>
          </a:prstGeom>
          <a:noFill/>
        </p:spPr>
        <p:txBody>
          <a:bodyPr wrap="none" rtlCol="0">
            <a:spAutoFit/>
          </a:bodyPr>
          <a:lstStyle/>
          <a:p>
            <a:r>
              <a:rPr lang="en-NL" dirty="0"/>
              <a:t>10</a:t>
            </a:r>
            <a:r>
              <a:rPr lang="en-NL" baseline="30000" dirty="0"/>
              <a:t>1</a:t>
            </a:r>
          </a:p>
        </p:txBody>
      </p:sp>
      <p:sp>
        <p:nvSpPr>
          <p:cNvPr id="35" name="TextBox 34">
            <a:extLst>
              <a:ext uri="{FF2B5EF4-FFF2-40B4-BE49-F238E27FC236}">
                <a16:creationId xmlns:a16="http://schemas.microsoft.com/office/drawing/2014/main" id="{621C32C0-D931-318B-DF2F-75EBFDFD076C}"/>
              </a:ext>
            </a:extLst>
          </p:cNvPr>
          <p:cNvSpPr txBox="1"/>
          <p:nvPr/>
        </p:nvSpPr>
        <p:spPr>
          <a:xfrm>
            <a:off x="1814014" y="2383868"/>
            <a:ext cx="484427" cy="338554"/>
          </a:xfrm>
          <a:prstGeom prst="rect">
            <a:avLst/>
          </a:prstGeom>
          <a:noFill/>
        </p:spPr>
        <p:txBody>
          <a:bodyPr wrap="none" rtlCol="0">
            <a:spAutoFit/>
          </a:bodyPr>
          <a:lstStyle/>
          <a:p>
            <a:r>
              <a:rPr lang="en-NL" dirty="0"/>
              <a:t>10</a:t>
            </a:r>
            <a:r>
              <a:rPr lang="en-NL" baseline="30000" dirty="0"/>
              <a:t>2</a:t>
            </a:r>
          </a:p>
        </p:txBody>
      </p:sp>
      <p:sp>
        <p:nvSpPr>
          <p:cNvPr id="36" name="TextBox 35">
            <a:extLst>
              <a:ext uri="{FF2B5EF4-FFF2-40B4-BE49-F238E27FC236}">
                <a16:creationId xmlns:a16="http://schemas.microsoft.com/office/drawing/2014/main" id="{104222E7-6498-ED94-BDE0-BAC9222D5E5F}"/>
              </a:ext>
            </a:extLst>
          </p:cNvPr>
          <p:cNvSpPr txBox="1"/>
          <p:nvPr/>
        </p:nvSpPr>
        <p:spPr>
          <a:xfrm>
            <a:off x="3174842" y="2375360"/>
            <a:ext cx="484427" cy="338554"/>
          </a:xfrm>
          <a:prstGeom prst="rect">
            <a:avLst/>
          </a:prstGeom>
          <a:noFill/>
        </p:spPr>
        <p:txBody>
          <a:bodyPr wrap="none" rtlCol="0">
            <a:spAutoFit/>
          </a:bodyPr>
          <a:lstStyle/>
          <a:p>
            <a:r>
              <a:rPr lang="en-NL" dirty="0"/>
              <a:t>10</a:t>
            </a:r>
            <a:r>
              <a:rPr lang="en-NL" baseline="30000" dirty="0"/>
              <a:t>3</a:t>
            </a:r>
          </a:p>
        </p:txBody>
      </p:sp>
      <p:sp>
        <p:nvSpPr>
          <p:cNvPr id="37" name="TextBox 36">
            <a:extLst>
              <a:ext uri="{FF2B5EF4-FFF2-40B4-BE49-F238E27FC236}">
                <a16:creationId xmlns:a16="http://schemas.microsoft.com/office/drawing/2014/main" id="{03F9B914-1A42-CEB0-2823-FCDE697D3A0D}"/>
              </a:ext>
            </a:extLst>
          </p:cNvPr>
          <p:cNvSpPr txBox="1"/>
          <p:nvPr/>
        </p:nvSpPr>
        <p:spPr>
          <a:xfrm>
            <a:off x="4535670" y="2363646"/>
            <a:ext cx="484427" cy="338554"/>
          </a:xfrm>
          <a:prstGeom prst="rect">
            <a:avLst/>
          </a:prstGeom>
          <a:noFill/>
        </p:spPr>
        <p:txBody>
          <a:bodyPr wrap="none" rtlCol="0">
            <a:spAutoFit/>
          </a:bodyPr>
          <a:lstStyle/>
          <a:p>
            <a:r>
              <a:rPr lang="en-NL" dirty="0"/>
              <a:t>10</a:t>
            </a:r>
            <a:r>
              <a:rPr lang="en-NL" baseline="30000" dirty="0"/>
              <a:t>4</a:t>
            </a:r>
          </a:p>
        </p:txBody>
      </p:sp>
      <p:sp>
        <p:nvSpPr>
          <p:cNvPr id="38" name="TextBox 37">
            <a:extLst>
              <a:ext uri="{FF2B5EF4-FFF2-40B4-BE49-F238E27FC236}">
                <a16:creationId xmlns:a16="http://schemas.microsoft.com/office/drawing/2014/main" id="{B8420FEE-B65A-2A76-C261-1B6DF017BB86}"/>
              </a:ext>
            </a:extLst>
          </p:cNvPr>
          <p:cNvSpPr txBox="1"/>
          <p:nvPr/>
        </p:nvSpPr>
        <p:spPr>
          <a:xfrm>
            <a:off x="5896499" y="2399650"/>
            <a:ext cx="484427" cy="338554"/>
          </a:xfrm>
          <a:prstGeom prst="rect">
            <a:avLst/>
          </a:prstGeom>
          <a:noFill/>
        </p:spPr>
        <p:txBody>
          <a:bodyPr wrap="none" rtlCol="0">
            <a:spAutoFit/>
          </a:bodyPr>
          <a:lstStyle/>
          <a:p>
            <a:r>
              <a:rPr lang="en-NL" dirty="0"/>
              <a:t>10</a:t>
            </a:r>
            <a:r>
              <a:rPr lang="en-NL" baseline="30000" dirty="0"/>
              <a:t>5</a:t>
            </a:r>
          </a:p>
        </p:txBody>
      </p:sp>
      <p:sp>
        <p:nvSpPr>
          <p:cNvPr id="39" name="TextBox 38">
            <a:extLst>
              <a:ext uri="{FF2B5EF4-FFF2-40B4-BE49-F238E27FC236}">
                <a16:creationId xmlns:a16="http://schemas.microsoft.com/office/drawing/2014/main" id="{3C2941A5-877E-012A-D0E4-30704D1A8C09}"/>
              </a:ext>
            </a:extLst>
          </p:cNvPr>
          <p:cNvSpPr txBox="1"/>
          <p:nvPr/>
        </p:nvSpPr>
        <p:spPr>
          <a:xfrm>
            <a:off x="7257327" y="2391142"/>
            <a:ext cx="484427" cy="338554"/>
          </a:xfrm>
          <a:prstGeom prst="rect">
            <a:avLst/>
          </a:prstGeom>
          <a:noFill/>
        </p:spPr>
        <p:txBody>
          <a:bodyPr wrap="none" rtlCol="0">
            <a:spAutoFit/>
          </a:bodyPr>
          <a:lstStyle/>
          <a:p>
            <a:r>
              <a:rPr lang="en-NL" dirty="0"/>
              <a:t>10</a:t>
            </a:r>
            <a:r>
              <a:rPr lang="en-NL" baseline="30000" dirty="0"/>
              <a:t>6</a:t>
            </a:r>
          </a:p>
        </p:txBody>
      </p:sp>
      <p:sp>
        <p:nvSpPr>
          <p:cNvPr id="40" name="TextBox 39">
            <a:extLst>
              <a:ext uri="{FF2B5EF4-FFF2-40B4-BE49-F238E27FC236}">
                <a16:creationId xmlns:a16="http://schemas.microsoft.com/office/drawing/2014/main" id="{DF569C88-509B-B196-2963-52A041742298}"/>
              </a:ext>
            </a:extLst>
          </p:cNvPr>
          <p:cNvSpPr txBox="1"/>
          <p:nvPr/>
        </p:nvSpPr>
        <p:spPr>
          <a:xfrm>
            <a:off x="8618155" y="2391142"/>
            <a:ext cx="484427" cy="338554"/>
          </a:xfrm>
          <a:prstGeom prst="rect">
            <a:avLst/>
          </a:prstGeom>
          <a:noFill/>
        </p:spPr>
        <p:txBody>
          <a:bodyPr wrap="none" rtlCol="0">
            <a:spAutoFit/>
          </a:bodyPr>
          <a:lstStyle/>
          <a:p>
            <a:r>
              <a:rPr lang="en-NL" dirty="0"/>
              <a:t>10</a:t>
            </a:r>
            <a:r>
              <a:rPr lang="en-NL" baseline="30000" dirty="0"/>
              <a:t>7</a:t>
            </a:r>
          </a:p>
        </p:txBody>
      </p:sp>
      <p:sp>
        <p:nvSpPr>
          <p:cNvPr id="41" name="TextBox 40">
            <a:extLst>
              <a:ext uri="{FF2B5EF4-FFF2-40B4-BE49-F238E27FC236}">
                <a16:creationId xmlns:a16="http://schemas.microsoft.com/office/drawing/2014/main" id="{7F0059D2-D28E-C6BC-AEEB-2DAA7D5F8629}"/>
              </a:ext>
            </a:extLst>
          </p:cNvPr>
          <p:cNvSpPr txBox="1"/>
          <p:nvPr/>
        </p:nvSpPr>
        <p:spPr>
          <a:xfrm>
            <a:off x="9978984" y="2427146"/>
            <a:ext cx="484427" cy="338554"/>
          </a:xfrm>
          <a:prstGeom prst="rect">
            <a:avLst/>
          </a:prstGeom>
          <a:noFill/>
        </p:spPr>
        <p:txBody>
          <a:bodyPr wrap="none" rtlCol="0">
            <a:spAutoFit/>
          </a:bodyPr>
          <a:lstStyle/>
          <a:p>
            <a:r>
              <a:rPr lang="en-NL" dirty="0"/>
              <a:t>10</a:t>
            </a:r>
            <a:r>
              <a:rPr lang="en-NL" baseline="30000" dirty="0"/>
              <a:t>8</a:t>
            </a:r>
          </a:p>
        </p:txBody>
      </p:sp>
      <p:sp>
        <p:nvSpPr>
          <p:cNvPr id="42" name="TextBox 41">
            <a:extLst>
              <a:ext uri="{FF2B5EF4-FFF2-40B4-BE49-F238E27FC236}">
                <a16:creationId xmlns:a16="http://schemas.microsoft.com/office/drawing/2014/main" id="{748958BF-9A1D-9C9F-D42A-5DF3CCCF98CC}"/>
              </a:ext>
            </a:extLst>
          </p:cNvPr>
          <p:cNvSpPr txBox="1"/>
          <p:nvPr/>
        </p:nvSpPr>
        <p:spPr>
          <a:xfrm>
            <a:off x="11339811" y="2418638"/>
            <a:ext cx="484428" cy="338554"/>
          </a:xfrm>
          <a:prstGeom prst="rect">
            <a:avLst/>
          </a:prstGeom>
          <a:noFill/>
        </p:spPr>
        <p:txBody>
          <a:bodyPr wrap="none" rtlCol="0">
            <a:spAutoFit/>
          </a:bodyPr>
          <a:lstStyle/>
          <a:p>
            <a:r>
              <a:rPr lang="en-NL" dirty="0"/>
              <a:t>10</a:t>
            </a:r>
            <a:r>
              <a:rPr lang="en-NL" baseline="30000" dirty="0"/>
              <a:t>9</a:t>
            </a:r>
          </a:p>
        </p:txBody>
      </p:sp>
      <p:pic>
        <p:nvPicPr>
          <p:cNvPr id="1028" name="Picture 4" descr="Model 3D Bloodflow in a Bifurcating Artery | Ansys Innovation Courses">
            <a:extLst>
              <a:ext uri="{FF2B5EF4-FFF2-40B4-BE49-F238E27FC236}">
                <a16:creationId xmlns:a16="http://schemas.microsoft.com/office/drawing/2014/main" id="{A1DEB68B-8DEB-E2B5-788E-EE0D23837D30}"/>
              </a:ext>
            </a:extLst>
          </p:cNvPr>
          <p:cNvPicPr>
            <a:picLocks noChangeAspect="1" noChangeArrowheads="1"/>
          </p:cNvPicPr>
          <p:nvPr/>
        </p:nvPicPr>
        <p:blipFill>
          <a:blip r:embed="rId6">
            <a:alphaModFix amt="20000"/>
            <a:extLst>
              <a:ext uri="{28A0092B-C50C-407E-A947-70E740481C1C}">
                <a14:useLocalDpi xmlns:a14="http://schemas.microsoft.com/office/drawing/2010/main" val="0"/>
              </a:ext>
            </a:extLst>
          </a:blip>
          <a:srcRect/>
          <a:stretch>
            <a:fillRect/>
          </a:stretch>
        </p:blipFill>
        <p:spPr bwMode="auto">
          <a:xfrm>
            <a:off x="192093" y="3403382"/>
            <a:ext cx="1768817" cy="1097157"/>
          </a:xfrm>
          <a:prstGeom prst="rect">
            <a:avLst/>
          </a:prstGeom>
          <a:noFill/>
        </p:spPr>
      </p:pic>
      <p:pic>
        <p:nvPicPr>
          <p:cNvPr id="1030" name="Picture 6" descr="Aerodynamic Design Considerations for a Soccer Ball">
            <a:extLst>
              <a:ext uri="{FF2B5EF4-FFF2-40B4-BE49-F238E27FC236}">
                <a16:creationId xmlns:a16="http://schemas.microsoft.com/office/drawing/2014/main" id="{1A3AE685-D2F7-C326-7233-658EFC20D043}"/>
              </a:ext>
            </a:extLst>
          </p:cNvPr>
          <p:cNvPicPr>
            <a:picLocks noChangeAspect="1" noChangeArrowheads="1"/>
          </p:cNvPicPr>
          <p:nvPr/>
        </p:nvPicPr>
        <p:blipFill rotWithShape="1">
          <a:blip r:embed="rId7">
            <a:alphaModFix amt="20000"/>
            <a:extLst>
              <a:ext uri="{28A0092B-C50C-407E-A947-70E740481C1C}">
                <a14:useLocalDpi xmlns:a14="http://schemas.microsoft.com/office/drawing/2010/main" val="0"/>
              </a:ext>
            </a:extLst>
          </a:blip>
          <a:srcRect l="50913" b="7006"/>
          <a:stretch/>
        </p:blipFill>
        <p:spPr bwMode="auto">
          <a:xfrm>
            <a:off x="2242941" y="3937716"/>
            <a:ext cx="1863801" cy="1373145"/>
          </a:xfrm>
          <a:prstGeom prst="rect">
            <a:avLst/>
          </a:prstGeom>
          <a:noFill/>
        </p:spPr>
      </p:pic>
      <p:pic>
        <p:nvPicPr>
          <p:cNvPr id="1032" name="Picture 8" descr="Andrea Sciacchitano على LinkedIn: #windtunnel #tudelft #piv #flow #cyclist  #aerodynamics #cycling…">
            <a:extLst>
              <a:ext uri="{FF2B5EF4-FFF2-40B4-BE49-F238E27FC236}">
                <a16:creationId xmlns:a16="http://schemas.microsoft.com/office/drawing/2014/main" id="{C28A3C16-E9E0-8C3C-F34B-4F91DDD84DF4}"/>
              </a:ext>
            </a:extLst>
          </p:cNvPr>
          <p:cNvPicPr>
            <a:picLocks noChangeAspect="1" noChangeArrowheads="1"/>
          </p:cNvPicPr>
          <p:nvPr/>
        </p:nvPicPr>
        <p:blipFill rotWithShape="1">
          <a:blip r:embed="rId8">
            <a:alphaModFix amt="20000"/>
            <a:extLst>
              <a:ext uri="{28A0092B-C50C-407E-A947-70E740481C1C}">
                <a14:useLocalDpi xmlns:a14="http://schemas.microsoft.com/office/drawing/2010/main" val="0"/>
              </a:ext>
            </a:extLst>
          </a:blip>
          <a:srcRect r="31644"/>
          <a:stretch/>
        </p:blipFill>
        <p:spPr bwMode="auto">
          <a:xfrm>
            <a:off x="4384788" y="3529957"/>
            <a:ext cx="1996138" cy="1641112"/>
          </a:xfrm>
          <a:prstGeom prst="rect">
            <a:avLst/>
          </a:prstGeom>
          <a:noFill/>
        </p:spPr>
      </p:pic>
      <p:pic>
        <p:nvPicPr>
          <p:cNvPr id="1034" name="Picture 10" descr="Flow Swim Gear - Swim With Attitude">
            <a:extLst>
              <a:ext uri="{FF2B5EF4-FFF2-40B4-BE49-F238E27FC236}">
                <a16:creationId xmlns:a16="http://schemas.microsoft.com/office/drawing/2014/main" id="{BCB5D9B3-D4E6-D611-8DD6-B2B3E1252111}"/>
              </a:ext>
            </a:extLst>
          </p:cNvPr>
          <p:cNvPicPr>
            <a:picLocks noChangeAspect="1" noChangeArrowheads="1"/>
          </p:cNvPicPr>
          <p:nvPr/>
        </p:nvPicPr>
        <p:blipFill rotWithShape="1">
          <a:blip r:embed="rId9">
            <a:alphaModFix amt="20000"/>
            <a:extLst>
              <a:ext uri="{28A0092B-C50C-407E-A947-70E740481C1C}">
                <a14:useLocalDpi xmlns:a14="http://schemas.microsoft.com/office/drawing/2010/main" val="0"/>
              </a:ext>
            </a:extLst>
          </a:blip>
          <a:srcRect l="18560"/>
          <a:stretch/>
        </p:blipFill>
        <p:spPr bwMode="auto">
          <a:xfrm>
            <a:off x="6642985" y="3872349"/>
            <a:ext cx="2378704" cy="1641112"/>
          </a:xfrm>
          <a:prstGeom prst="rect">
            <a:avLst/>
          </a:prstGeom>
          <a:noFill/>
        </p:spPr>
      </p:pic>
      <p:pic>
        <p:nvPicPr>
          <p:cNvPr id="1036" name="Picture 12" descr="The Fastest Sharks in the Ocean Ranked - American Oceans">
            <a:extLst>
              <a:ext uri="{FF2B5EF4-FFF2-40B4-BE49-F238E27FC236}">
                <a16:creationId xmlns:a16="http://schemas.microsoft.com/office/drawing/2014/main" id="{A493DC71-B975-C8BB-CBCA-C3B418F8F23E}"/>
              </a:ext>
            </a:extLst>
          </p:cNvPr>
          <p:cNvPicPr>
            <a:picLocks noChangeAspect="1" noChangeArrowheads="1"/>
          </p:cNvPicPr>
          <p:nvPr/>
        </p:nvPicPr>
        <p:blipFill rotWithShape="1">
          <a:blip r:embed="rId10">
            <a:alphaModFix amt="20000"/>
            <a:extLst>
              <a:ext uri="{28A0092B-C50C-407E-A947-70E740481C1C}">
                <a14:useLocalDpi xmlns:a14="http://schemas.microsoft.com/office/drawing/2010/main" val="0"/>
              </a:ext>
            </a:extLst>
          </a:blip>
          <a:srcRect l="26408" t="26917" r="14757" b="12213"/>
          <a:stretch/>
        </p:blipFill>
        <p:spPr bwMode="auto">
          <a:xfrm>
            <a:off x="9501334" y="3511576"/>
            <a:ext cx="1996138" cy="1239273"/>
          </a:xfrm>
          <a:prstGeom prst="rect">
            <a:avLst/>
          </a:prstGeom>
          <a:noFill/>
        </p:spPr>
      </p:pic>
      <p:cxnSp>
        <p:nvCxnSpPr>
          <p:cNvPr id="45" name="Elbow Connector 44">
            <a:extLst>
              <a:ext uri="{FF2B5EF4-FFF2-40B4-BE49-F238E27FC236}">
                <a16:creationId xmlns:a16="http://schemas.microsoft.com/office/drawing/2014/main" id="{44784396-6C76-A255-B36F-466A91C9E1A1}"/>
              </a:ext>
            </a:extLst>
          </p:cNvPr>
          <p:cNvCxnSpPr>
            <a:cxnSpLocks/>
          </p:cNvCxnSpPr>
          <p:nvPr/>
        </p:nvCxnSpPr>
        <p:spPr bwMode="auto">
          <a:xfrm rot="5400000">
            <a:off x="1615569" y="2281160"/>
            <a:ext cx="769402" cy="1327305"/>
          </a:xfrm>
          <a:prstGeom prst="bentConnector3">
            <a:avLst>
              <a:gd name="adj1" fmla="val 50000"/>
            </a:avLst>
          </a:prstGeom>
          <a:solidFill>
            <a:schemeClr val="accent1"/>
          </a:solidFill>
          <a:ln w="9525" cap="flat" cmpd="sng" algn="ctr">
            <a:solidFill>
              <a:schemeClr val="tx1">
                <a:alpha val="15115"/>
              </a:schemeClr>
            </a:solidFill>
            <a:prstDash val="solid"/>
            <a:round/>
            <a:headEnd type="none" w="med" len="med"/>
            <a:tailEnd type="triangle"/>
          </a:ln>
          <a:effectLst/>
        </p:spPr>
      </p:cxnSp>
      <p:cxnSp>
        <p:nvCxnSpPr>
          <p:cNvPr id="52" name="Elbow Connector 51">
            <a:extLst>
              <a:ext uri="{FF2B5EF4-FFF2-40B4-BE49-F238E27FC236}">
                <a16:creationId xmlns:a16="http://schemas.microsoft.com/office/drawing/2014/main" id="{A685F6F3-A35D-34AC-69A4-AF1F736D94C0}"/>
              </a:ext>
            </a:extLst>
          </p:cNvPr>
          <p:cNvCxnSpPr>
            <a:cxnSpLocks/>
            <a:stCxn id="38" idx="2"/>
            <a:endCxn id="1030" idx="0"/>
          </p:cNvCxnSpPr>
          <p:nvPr/>
        </p:nvCxnSpPr>
        <p:spPr bwMode="auto">
          <a:xfrm rot="5400000">
            <a:off x="4057022" y="1856025"/>
            <a:ext cx="1199512" cy="2963871"/>
          </a:xfrm>
          <a:prstGeom prst="bentConnector3">
            <a:avLst>
              <a:gd name="adj1" fmla="val 17178"/>
            </a:avLst>
          </a:prstGeom>
          <a:solidFill>
            <a:schemeClr val="accent1"/>
          </a:solidFill>
          <a:ln w="9525" cap="flat" cmpd="sng" algn="ctr">
            <a:solidFill>
              <a:schemeClr val="tx1">
                <a:alpha val="14998"/>
              </a:schemeClr>
            </a:solidFill>
            <a:prstDash val="solid"/>
            <a:round/>
            <a:headEnd type="none" w="med" len="med"/>
            <a:tailEnd type="triangle"/>
          </a:ln>
          <a:effectLst/>
        </p:spPr>
      </p:cxnSp>
      <p:cxnSp>
        <p:nvCxnSpPr>
          <p:cNvPr id="56" name="Elbow Connector 55">
            <a:extLst>
              <a:ext uri="{FF2B5EF4-FFF2-40B4-BE49-F238E27FC236}">
                <a16:creationId xmlns:a16="http://schemas.microsoft.com/office/drawing/2014/main" id="{6D117507-8E2D-3791-DB87-D632BA44244B}"/>
              </a:ext>
            </a:extLst>
          </p:cNvPr>
          <p:cNvCxnSpPr>
            <a:cxnSpLocks/>
          </p:cNvCxnSpPr>
          <p:nvPr/>
        </p:nvCxnSpPr>
        <p:spPr bwMode="auto">
          <a:xfrm rot="5400000">
            <a:off x="5722741" y="2471234"/>
            <a:ext cx="769402" cy="1327305"/>
          </a:xfrm>
          <a:prstGeom prst="bentConnector3">
            <a:avLst>
              <a:gd name="adj1" fmla="val 50000"/>
            </a:avLst>
          </a:prstGeom>
          <a:solidFill>
            <a:schemeClr val="accent1"/>
          </a:solidFill>
          <a:ln w="9525" cap="flat" cmpd="sng" algn="ctr">
            <a:solidFill>
              <a:schemeClr val="tx1">
                <a:alpha val="14998"/>
              </a:schemeClr>
            </a:solidFill>
            <a:prstDash val="solid"/>
            <a:round/>
            <a:headEnd type="none" w="med" len="med"/>
            <a:tailEnd type="triangle"/>
          </a:ln>
          <a:effectLst/>
        </p:spPr>
      </p:cxnSp>
      <p:cxnSp>
        <p:nvCxnSpPr>
          <p:cNvPr id="57" name="Elbow Connector 56">
            <a:extLst>
              <a:ext uri="{FF2B5EF4-FFF2-40B4-BE49-F238E27FC236}">
                <a16:creationId xmlns:a16="http://schemas.microsoft.com/office/drawing/2014/main" id="{06212B0E-7D94-C6C8-8F4D-B39DF2444E27}"/>
              </a:ext>
            </a:extLst>
          </p:cNvPr>
          <p:cNvCxnSpPr>
            <a:cxnSpLocks/>
            <a:stCxn id="39" idx="3"/>
            <a:endCxn id="1034" idx="0"/>
          </p:cNvCxnSpPr>
          <p:nvPr/>
        </p:nvCxnSpPr>
        <p:spPr bwMode="auto">
          <a:xfrm>
            <a:off x="7741754" y="2560419"/>
            <a:ext cx="90583" cy="1311930"/>
          </a:xfrm>
          <a:prstGeom prst="bentConnector2">
            <a:avLst/>
          </a:prstGeom>
          <a:solidFill>
            <a:schemeClr val="accent1"/>
          </a:solidFill>
          <a:ln w="9525" cap="flat" cmpd="sng" algn="ctr">
            <a:solidFill>
              <a:schemeClr val="tx1">
                <a:alpha val="14998"/>
              </a:schemeClr>
            </a:solidFill>
            <a:prstDash val="solid"/>
            <a:round/>
            <a:headEnd type="none" w="med" len="med"/>
            <a:tailEnd type="triangle"/>
          </a:ln>
          <a:effectLst/>
        </p:spPr>
      </p:cxnSp>
      <p:cxnSp>
        <p:nvCxnSpPr>
          <p:cNvPr id="61" name="Elbow Connector 60">
            <a:extLst>
              <a:ext uri="{FF2B5EF4-FFF2-40B4-BE49-F238E27FC236}">
                <a16:creationId xmlns:a16="http://schemas.microsoft.com/office/drawing/2014/main" id="{B068F85F-93FD-7F63-3B79-0545FC9D08DF}"/>
              </a:ext>
            </a:extLst>
          </p:cNvPr>
          <p:cNvCxnSpPr>
            <a:cxnSpLocks/>
          </p:cNvCxnSpPr>
          <p:nvPr/>
        </p:nvCxnSpPr>
        <p:spPr bwMode="auto">
          <a:xfrm rot="16200000" flipH="1">
            <a:off x="10102219" y="2984021"/>
            <a:ext cx="745876" cy="278205"/>
          </a:xfrm>
          <a:prstGeom prst="bentConnector3">
            <a:avLst>
              <a:gd name="adj1" fmla="val 51703"/>
            </a:avLst>
          </a:prstGeom>
          <a:solidFill>
            <a:schemeClr val="accent1"/>
          </a:solidFill>
          <a:ln w="9525" cap="flat" cmpd="sng" algn="ctr">
            <a:solidFill>
              <a:schemeClr val="tx1">
                <a:alpha val="14998"/>
              </a:schemeClr>
            </a:solidFill>
            <a:prstDash val="solid"/>
            <a:round/>
            <a:headEnd type="none" w="med" len="med"/>
            <a:tailEnd type="triangle"/>
          </a:ln>
          <a:effectLst/>
        </p:spPr>
      </p:cxnSp>
      <p:sp>
        <p:nvSpPr>
          <p:cNvPr id="3" name="Left Brace 2">
            <a:extLst>
              <a:ext uri="{FF2B5EF4-FFF2-40B4-BE49-F238E27FC236}">
                <a16:creationId xmlns:a16="http://schemas.microsoft.com/office/drawing/2014/main" id="{2CF6DEE8-6995-8958-03AD-BFD5D049F52D}"/>
              </a:ext>
            </a:extLst>
          </p:cNvPr>
          <p:cNvSpPr/>
          <p:nvPr/>
        </p:nvSpPr>
        <p:spPr bwMode="auto">
          <a:xfrm rot="16200000">
            <a:off x="8127064" y="1706740"/>
            <a:ext cx="599817" cy="2645721"/>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NL" sz="2200" b="0" i="0" u="none" strike="noStrike" cap="none" normalizeH="0" baseline="0">
              <a:ln>
                <a:noFill/>
              </a:ln>
              <a:solidFill>
                <a:schemeClr val="tx1"/>
              </a:solidFill>
              <a:effectLst/>
              <a:latin typeface="Tahoma" pitchFamily="34" charset="0"/>
            </a:endParaRPr>
          </a:p>
        </p:txBody>
      </p:sp>
      <p:pic>
        <p:nvPicPr>
          <p:cNvPr id="1026" name="Picture 2" descr="General aviation - Wikipedia">
            <a:extLst>
              <a:ext uri="{FF2B5EF4-FFF2-40B4-BE49-F238E27FC236}">
                <a16:creationId xmlns:a16="http://schemas.microsoft.com/office/drawing/2014/main" id="{AA517236-0A0E-42D7-A808-8803D6423FB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17434" y="3473446"/>
            <a:ext cx="2507985" cy="16757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oncorde fans hope to get jet airborne by 2019 - BBC News">
            <a:extLst>
              <a:ext uri="{FF2B5EF4-FFF2-40B4-BE49-F238E27FC236}">
                <a16:creationId xmlns:a16="http://schemas.microsoft.com/office/drawing/2014/main" id="{573CDFA9-FFAE-043F-46B2-880FCF72C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97312" y="3496062"/>
            <a:ext cx="2862294" cy="161242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31919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648743" y="44624"/>
            <a:ext cx="9983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dirty="0">
                <a:solidFill>
                  <a:schemeClr val="bg2"/>
                </a:solidFill>
                <a:latin typeface="Bookman Old Style" pitchFamily="18" charset="0"/>
              </a:rPr>
              <a:t>Re effect on airfoil performance (viscosity effect) </a:t>
            </a:r>
          </a:p>
        </p:txBody>
      </p:sp>
      <p:pic>
        <p:nvPicPr>
          <p:cNvPr id="29699" name="Picture 6"/>
          <p:cNvPicPr>
            <a:picLocks noChangeAspect="1" noChangeArrowheads="1"/>
          </p:cNvPicPr>
          <p:nvPr/>
        </p:nvPicPr>
        <p:blipFill>
          <a:blip r:embed="rId4">
            <a:extLst>
              <a:ext uri="{28A0092B-C50C-407E-A947-70E740481C1C}">
                <a14:useLocalDpi xmlns:a14="http://schemas.microsoft.com/office/drawing/2010/main" val="0"/>
              </a:ext>
            </a:extLst>
          </a:blip>
          <a:srcRect l="6876" t="38396" r="49374" b="14999"/>
          <a:stretch>
            <a:fillRect/>
          </a:stretch>
        </p:blipFill>
        <p:spPr bwMode="auto">
          <a:xfrm>
            <a:off x="1991544" y="920096"/>
            <a:ext cx="7000056" cy="466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9700" name="Picture 5"/>
          <p:cNvPicPr>
            <a:picLocks noChangeAspect="1" noChangeArrowheads="1"/>
          </p:cNvPicPr>
          <p:nvPr/>
        </p:nvPicPr>
        <p:blipFill>
          <a:blip r:embed="rId4">
            <a:extLst>
              <a:ext uri="{28A0092B-C50C-407E-A947-70E740481C1C}">
                <a14:useLocalDpi xmlns:a14="http://schemas.microsoft.com/office/drawing/2010/main" val="0"/>
              </a:ext>
            </a:extLst>
          </a:blip>
          <a:srcRect l="25626" t="25999" r="56250" b="67000"/>
          <a:stretch>
            <a:fillRect/>
          </a:stretch>
        </p:blipFill>
        <p:spPr bwMode="auto">
          <a:xfrm>
            <a:off x="5744620" y="938128"/>
            <a:ext cx="2749801" cy="66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9701" name="Text Box 14"/>
          <p:cNvSpPr txBox="1">
            <a:spLocks noChangeArrowheads="1"/>
          </p:cNvSpPr>
          <p:nvPr/>
        </p:nvSpPr>
        <p:spPr bwMode="auto">
          <a:xfrm>
            <a:off x="6527801" y="5614988"/>
            <a:ext cx="3897313" cy="406400"/>
          </a:xfrm>
          <a:prstGeom prst="rect">
            <a:avLst/>
          </a:prstGeom>
          <a:solidFill>
            <a:srgbClr val="FFFF00"/>
          </a:solidFill>
          <a:ln w="9525" algn="ctr">
            <a:solidFill>
              <a:schemeClr val="tx1"/>
            </a:solidFill>
            <a:miter lim="800000"/>
            <a:headEnd/>
            <a:tailEnd/>
          </a:ln>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N.B. linear part is not influenced!</a:t>
            </a:r>
          </a:p>
        </p:txBody>
      </p:sp>
      <p:sp>
        <p:nvSpPr>
          <p:cNvPr id="29702" name="Text Box 15"/>
          <p:cNvSpPr txBox="1">
            <a:spLocks noChangeArrowheads="1"/>
          </p:cNvSpPr>
          <p:nvPr/>
        </p:nvSpPr>
        <p:spPr bwMode="auto">
          <a:xfrm>
            <a:off x="9471027" y="1263651"/>
            <a:ext cx="2286000" cy="1938992"/>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Here the effect of Re is significant.</a:t>
            </a:r>
          </a:p>
          <a:p>
            <a:pPr algn="l" eaLnBrk="1" fontAlgn="base" hangingPunct="1"/>
            <a:r>
              <a:rPr lang="en-GB" sz="2000" dirty="0"/>
              <a:t>So the low speed design is highly sensitive to the proper Re!</a:t>
            </a:r>
          </a:p>
        </p:txBody>
      </p:sp>
      <p:sp>
        <p:nvSpPr>
          <p:cNvPr id="29703" name="Text Box 17"/>
          <p:cNvSpPr txBox="1">
            <a:spLocks noChangeArrowheads="1"/>
          </p:cNvSpPr>
          <p:nvPr/>
        </p:nvSpPr>
        <p:spPr bwMode="auto">
          <a:xfrm>
            <a:off x="2487985" y="1922097"/>
            <a:ext cx="246909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Friction and form drag “decrease” with higher Re</a:t>
            </a:r>
          </a:p>
        </p:txBody>
      </p:sp>
      <p:pic>
        <p:nvPicPr>
          <p:cNvPr id="29704" name="Picture 18" descr="warnin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946588">
            <a:off x="10137204" y="3985243"/>
            <a:ext cx="990600"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705" name="Straight Connector 16"/>
          <p:cNvCxnSpPr>
            <a:cxnSpLocks noChangeShapeType="1"/>
            <a:endCxn id="29708" idx="7"/>
          </p:cNvCxnSpPr>
          <p:nvPr/>
        </p:nvCxnSpPr>
        <p:spPr bwMode="auto">
          <a:xfrm flipH="1">
            <a:off x="8670442" y="1984376"/>
            <a:ext cx="800585" cy="449115"/>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grpSp>
        <p:nvGrpSpPr>
          <p:cNvPr id="29706" name="Group 10"/>
          <p:cNvGrpSpPr>
            <a:grpSpLocks/>
          </p:cNvGrpSpPr>
          <p:nvPr/>
        </p:nvGrpSpPr>
        <p:grpSpPr bwMode="auto">
          <a:xfrm>
            <a:off x="1631951" y="5614989"/>
            <a:ext cx="4722813" cy="409575"/>
            <a:chOff x="68" y="3444"/>
            <a:chExt cx="2975" cy="258"/>
          </a:xfrm>
        </p:grpSpPr>
        <p:sp>
          <p:nvSpPr>
            <p:cNvPr id="29711" name="Text Box 10"/>
            <p:cNvSpPr txBox="1">
              <a:spLocks noChangeArrowheads="1"/>
            </p:cNvSpPr>
            <p:nvPr/>
          </p:nvSpPr>
          <p:spPr bwMode="auto">
            <a:xfrm>
              <a:off x="514" y="3452"/>
              <a:ext cx="25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a:t>Indicate higher Reynolds numbers</a:t>
              </a:r>
            </a:p>
          </p:txBody>
        </p:sp>
        <p:sp>
          <p:nvSpPr>
            <p:cNvPr id="29712" name="Rectangle 11"/>
            <p:cNvSpPr>
              <a:spLocks noChangeArrowheads="1"/>
            </p:cNvSpPr>
            <p:nvPr/>
          </p:nvSpPr>
          <p:spPr bwMode="auto">
            <a:xfrm>
              <a:off x="68" y="3444"/>
              <a:ext cx="2951" cy="25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l" fontAlgn="base"/>
              <a:endParaRPr lang="nl-NL" sz="2000"/>
            </a:p>
          </p:txBody>
        </p:sp>
        <p:sp>
          <p:nvSpPr>
            <p:cNvPr id="29713" name="AutoShape 13"/>
            <p:cNvSpPr>
              <a:spLocks noChangeArrowheads="1"/>
            </p:cNvSpPr>
            <p:nvPr/>
          </p:nvSpPr>
          <p:spPr bwMode="auto">
            <a:xfrm>
              <a:off x="152" y="3472"/>
              <a:ext cx="375" cy="207"/>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grpSp>
      <p:sp>
        <p:nvSpPr>
          <p:cNvPr id="29707" name="AutoShape 14"/>
          <p:cNvSpPr>
            <a:spLocks noChangeArrowheads="1"/>
          </p:cNvSpPr>
          <p:nvPr/>
        </p:nvSpPr>
        <p:spPr bwMode="auto">
          <a:xfrm rot="-5400000">
            <a:off x="7535332" y="2290256"/>
            <a:ext cx="716978" cy="407601"/>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29708" name="Oval 15"/>
          <p:cNvSpPr>
            <a:spLocks noChangeArrowheads="1"/>
          </p:cNvSpPr>
          <p:nvPr/>
        </p:nvSpPr>
        <p:spPr bwMode="auto">
          <a:xfrm>
            <a:off x="7937653" y="2361592"/>
            <a:ext cx="858516" cy="490954"/>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nl-NL"/>
          </a:p>
        </p:txBody>
      </p:sp>
      <p:sp>
        <p:nvSpPr>
          <p:cNvPr id="29710" name="AutoShape 17"/>
          <p:cNvSpPr>
            <a:spLocks noChangeArrowheads="1"/>
          </p:cNvSpPr>
          <p:nvPr/>
        </p:nvSpPr>
        <p:spPr bwMode="auto">
          <a:xfrm rot="10800000">
            <a:off x="3287712" y="4105564"/>
            <a:ext cx="648047" cy="403556"/>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
        <p:nvSpPr>
          <p:cNvPr id="18" name="AutoShape 17"/>
          <p:cNvSpPr>
            <a:spLocks noChangeArrowheads="1"/>
          </p:cNvSpPr>
          <p:nvPr/>
        </p:nvSpPr>
        <p:spPr bwMode="auto">
          <a:xfrm rot="13235221">
            <a:off x="4219028" y="2835626"/>
            <a:ext cx="648047" cy="403556"/>
          </a:xfrm>
          <a:prstGeom prst="rightArrow">
            <a:avLst>
              <a:gd name="adj1" fmla="val 50000"/>
              <a:gd name="adj2" fmla="val 49863"/>
            </a:avLst>
          </a:prstGeom>
          <a:solidFill>
            <a:srgbClr val="FFFF00"/>
          </a:solidFill>
          <a:ln w="9525" algn="ctr">
            <a:solidFill>
              <a:schemeClr val="tx1"/>
            </a:solidFill>
            <a:miter lim="800000"/>
            <a:headEnd/>
            <a:tailEnd/>
          </a:ln>
        </p:spPr>
        <p:txBody>
          <a:bodyPr wrap="square" anchor="ctr">
            <a:spAutoFit/>
          </a:bodyPr>
          <a:lstStyle/>
          <a:p>
            <a:endParaRPr lang="nl-NL"/>
          </a:p>
        </p:txBody>
      </p:sp>
    </p:spTree>
    <p:custDataLst>
      <p:tags r:id="rId1"/>
    </p:custDataLst>
    <p:extLst>
      <p:ext uri="{BB962C8B-B14F-4D97-AF65-F5344CB8AC3E}">
        <p14:creationId xmlns:p14="http://schemas.microsoft.com/office/powerpoint/2010/main" val="229249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7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70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7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nimBg="1"/>
      <p:bldP spid="29702" grpId="0" animBg="1"/>
      <p:bldP spid="29707" grpId="0" animBg="1"/>
      <p:bldP spid="29708" grpId="0" animBg="1"/>
      <p:bldP spid="29710"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8" name="Object 6"/>
          <p:cNvGraphicFramePr>
            <a:graphicFrameLocks noChangeAspect="1"/>
          </p:cNvGraphicFramePr>
          <p:nvPr>
            <p:extLst>
              <p:ext uri="{D42A27DB-BD31-4B8C-83A1-F6EECF244321}">
                <p14:modId xmlns:p14="http://schemas.microsoft.com/office/powerpoint/2010/main" val="302142126"/>
              </p:ext>
            </p:extLst>
          </p:nvPr>
        </p:nvGraphicFramePr>
        <p:xfrm>
          <a:off x="2855640" y="2615507"/>
          <a:ext cx="979488" cy="800100"/>
        </p:xfrm>
        <a:graphic>
          <a:graphicData uri="http://schemas.openxmlformats.org/presentationml/2006/ole">
            <mc:AlternateContent xmlns:mc="http://schemas.openxmlformats.org/markup-compatibility/2006">
              <mc:Choice xmlns:v="urn:schemas-microsoft-com:vml" Requires="v">
                <p:oleObj name="Equation" r:id="rId4" imgW="482391" imgH="393529" progId="Equation.3">
                  <p:embed/>
                </p:oleObj>
              </mc:Choice>
              <mc:Fallback>
                <p:oleObj name="Equation" r:id="rId4" imgW="482391"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640" y="2615507"/>
                        <a:ext cx="979488"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Rectangle 9"/>
          <p:cNvSpPr>
            <a:spLocks noChangeArrowheads="1"/>
          </p:cNvSpPr>
          <p:nvPr/>
        </p:nvSpPr>
        <p:spPr bwMode="auto">
          <a:xfrm>
            <a:off x="695400" y="30657"/>
            <a:ext cx="84248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3200" dirty="0">
                <a:solidFill>
                  <a:schemeClr val="bg2"/>
                </a:solidFill>
                <a:latin typeface="Bookman Old Style" pitchFamily="18" charset="0"/>
              </a:rPr>
              <a:t>Intermezzo: fluid compressibility</a:t>
            </a:r>
          </a:p>
        </p:txBody>
      </p:sp>
      <p:sp>
        <p:nvSpPr>
          <p:cNvPr id="10" name="TextBox 9"/>
          <p:cNvSpPr txBox="1"/>
          <p:nvPr/>
        </p:nvSpPr>
        <p:spPr>
          <a:xfrm>
            <a:off x="777896" y="739136"/>
            <a:ext cx="11150752" cy="1569660"/>
          </a:xfrm>
          <a:prstGeom prst="rect">
            <a:avLst/>
          </a:prstGeom>
          <a:noFill/>
        </p:spPr>
        <p:txBody>
          <a:bodyPr wrap="square" rtlCol="0">
            <a:spAutoFit/>
          </a:bodyPr>
          <a:lstStyle/>
          <a:p>
            <a:pPr algn="l"/>
            <a:r>
              <a:rPr lang="en-GB" dirty="0"/>
              <a:t>Aerodynamic forces depend on the density of the fluid. At low speed, the density of the fluid can be considered constant and the presence of the moving body does not introduce significant changes. </a:t>
            </a:r>
            <a:br>
              <a:rPr lang="en-GB" dirty="0"/>
            </a:br>
            <a:endParaRPr lang="en-GB" dirty="0"/>
          </a:p>
          <a:p>
            <a:pPr algn="l"/>
            <a:r>
              <a:rPr lang="en-GB" dirty="0"/>
              <a:t>As the body speed increases, part of its energy is spent to compress the fluid and the density changes. </a:t>
            </a:r>
          </a:p>
          <a:p>
            <a:pPr algn="l"/>
            <a:r>
              <a:rPr lang="en-GB" dirty="0"/>
              <a:t>The similarity parameter for compressibility effects is the Mach number, where the speed of sounds represent how fast a perturbation is transmitted through the fluid particles.</a:t>
            </a:r>
          </a:p>
        </p:txBody>
      </p:sp>
      <p:sp>
        <p:nvSpPr>
          <p:cNvPr id="11" name="TextBox 10"/>
          <p:cNvSpPr txBox="1"/>
          <p:nvPr/>
        </p:nvSpPr>
        <p:spPr>
          <a:xfrm>
            <a:off x="551384" y="3748214"/>
            <a:ext cx="5955686" cy="2369880"/>
          </a:xfrm>
          <a:prstGeom prst="rect">
            <a:avLst/>
          </a:prstGeom>
          <a:noFill/>
        </p:spPr>
        <p:txBody>
          <a:bodyPr wrap="square" rtlCol="0">
            <a:spAutoFit/>
          </a:bodyPr>
          <a:lstStyle/>
          <a:p>
            <a:pPr marL="285750" indent="-285750" algn="l">
              <a:spcAft>
                <a:spcPts val="600"/>
              </a:spcAft>
              <a:buFont typeface="Arial" panose="020B0604020202020204" pitchFamily="34" charset="0"/>
              <a:buChar char="•"/>
            </a:pPr>
            <a:r>
              <a:rPr lang="en-GB" dirty="0"/>
              <a:t>M&lt;&lt;1 Subsonic flow: no compressibility effects</a:t>
            </a:r>
          </a:p>
          <a:p>
            <a:pPr marL="285750" indent="-285750" algn="l">
              <a:spcAft>
                <a:spcPts val="600"/>
              </a:spcAft>
              <a:buFont typeface="Arial" panose="020B0604020202020204" pitchFamily="34" charset="0"/>
              <a:buChar char="•"/>
            </a:pPr>
            <a:r>
              <a:rPr lang="en-GB" dirty="0"/>
              <a:t>M≈0.35-0.6 Effects of compressibility become significant</a:t>
            </a:r>
          </a:p>
          <a:p>
            <a:pPr marL="285750" indent="-285750" algn="l">
              <a:spcAft>
                <a:spcPts val="600"/>
              </a:spcAft>
              <a:buFont typeface="Arial" panose="020B0604020202020204" pitchFamily="34" charset="0"/>
              <a:buChar char="•"/>
            </a:pPr>
            <a:r>
              <a:rPr lang="en-GB" dirty="0"/>
              <a:t>M≈0.75 transonic regime (critical Mach), shock waves start to occur</a:t>
            </a:r>
          </a:p>
          <a:p>
            <a:pPr marL="285750" indent="-285750" algn="l">
              <a:spcAft>
                <a:spcPts val="600"/>
              </a:spcAft>
              <a:buFont typeface="Arial" panose="020B0604020202020204" pitchFamily="34" charset="0"/>
              <a:buChar char="•"/>
            </a:pPr>
            <a:r>
              <a:rPr lang="en-GB" dirty="0"/>
              <a:t>M&gt;1 Supersonic speed; aerodynamic physic and governing equation are different</a:t>
            </a:r>
          </a:p>
          <a:p>
            <a:pPr marL="285750" indent="-285750" algn="l">
              <a:spcAft>
                <a:spcPts val="600"/>
              </a:spcAft>
              <a:buFont typeface="Arial" panose="020B0604020202020204" pitchFamily="34" charset="0"/>
              <a:buChar char="•"/>
            </a:pPr>
            <a:r>
              <a:rPr lang="en-GB" dirty="0"/>
              <a:t>M&gt;5 Hypersonic: thermal effects ionization and chemical processes become predominant </a:t>
            </a:r>
          </a:p>
        </p:txBody>
      </p:sp>
      <p:pic>
        <p:nvPicPr>
          <p:cNvPr id="11455" name="Picture 191" descr="Visualizing 2D Prandtl-Meyer Shock Flow Emanating Over A Sharp Convex  Corner using Converge CFD &amp;amp; Post-processing It In ParaView. : Skill-Lync">
            <a:extLst>
              <a:ext uri="{FF2B5EF4-FFF2-40B4-BE49-F238E27FC236}">
                <a16:creationId xmlns:a16="http://schemas.microsoft.com/office/drawing/2014/main" id="{11C401CA-1DFB-C44A-9D2E-C1EB4CB976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0056" y="4221088"/>
            <a:ext cx="5184576" cy="176734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32929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6"/>
          <p:cNvSpPr>
            <a:spLocks noChangeArrowheads="1"/>
          </p:cNvSpPr>
          <p:nvPr/>
        </p:nvSpPr>
        <p:spPr bwMode="auto">
          <a:xfrm>
            <a:off x="695400" y="116632"/>
            <a:ext cx="85058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200" dirty="0">
                <a:solidFill>
                  <a:schemeClr val="bg2"/>
                </a:solidFill>
                <a:latin typeface="Bookman Old Style" pitchFamily="18" charset="0"/>
              </a:rPr>
              <a:t>Mach effect on airfoil performance</a:t>
            </a:r>
          </a:p>
        </p:txBody>
      </p:sp>
      <p:sp>
        <p:nvSpPr>
          <p:cNvPr id="30723" name="Text Box 7"/>
          <p:cNvSpPr txBox="1">
            <a:spLocks noChangeArrowheads="1"/>
          </p:cNvSpPr>
          <p:nvPr/>
        </p:nvSpPr>
        <p:spPr bwMode="auto">
          <a:xfrm>
            <a:off x="839416" y="980728"/>
            <a:ext cx="46482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All the experimental curves, like the one in the next figure from Abbott*, do not show any effect of the Mach number on the </a:t>
            </a:r>
            <a:r>
              <a:rPr lang="en-GB" dirty="0" err="1"/>
              <a:t>airfoil</a:t>
            </a:r>
            <a:r>
              <a:rPr lang="en-GB" dirty="0"/>
              <a:t> performance.</a:t>
            </a:r>
          </a:p>
          <a:p>
            <a:pPr algn="l" eaLnBrk="1" fontAlgn="base" hangingPunct="1"/>
            <a:endParaRPr lang="en-GB" dirty="0"/>
          </a:p>
          <a:p>
            <a:pPr algn="l" eaLnBrk="1" fontAlgn="base" hangingPunct="1"/>
            <a:r>
              <a:rPr lang="en-GB" dirty="0"/>
              <a:t>That’s because they were drawn with data collected in a </a:t>
            </a:r>
            <a:r>
              <a:rPr lang="en-GB" b="1" dirty="0"/>
              <a:t>low speed subsonic wind tunnel</a:t>
            </a:r>
            <a:r>
              <a:rPr lang="en-GB" dirty="0"/>
              <a:t>. No compressibility effect could be reproduced at the available speed (M&lt; 0.2).</a:t>
            </a:r>
          </a:p>
          <a:p>
            <a:pPr algn="l" eaLnBrk="1" fontAlgn="base" hangingPunct="1"/>
            <a:endParaRPr lang="en-GB" dirty="0"/>
          </a:p>
          <a:p>
            <a:pPr algn="l" eaLnBrk="1" fontAlgn="base" hangingPunct="1"/>
            <a:r>
              <a:rPr lang="en-GB" dirty="0"/>
              <a:t>Indeed the aerodynamic coefficients of an </a:t>
            </a:r>
            <a:r>
              <a:rPr lang="en-GB" dirty="0" err="1"/>
              <a:t>airfoil</a:t>
            </a:r>
            <a:r>
              <a:rPr lang="en-GB" dirty="0"/>
              <a:t> change as the Mach number of the freestream flow increases! </a:t>
            </a:r>
          </a:p>
        </p:txBody>
      </p:sp>
      <p:pic>
        <p:nvPicPr>
          <p:cNvPr id="30724" name="Picture 9"/>
          <p:cNvPicPr>
            <a:picLocks noChangeAspect="1" noChangeArrowheads="1"/>
          </p:cNvPicPr>
          <p:nvPr/>
        </p:nvPicPr>
        <p:blipFill>
          <a:blip r:embed="rId4"/>
          <a:srcRect b="2899"/>
          <a:stretch>
            <a:fillRect/>
          </a:stretch>
        </p:blipFill>
        <p:spPr bwMode="auto">
          <a:xfrm>
            <a:off x="7680176" y="980728"/>
            <a:ext cx="2886075" cy="47767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25" name="Text Box 10"/>
          <p:cNvSpPr txBox="1">
            <a:spLocks noChangeArrowheads="1"/>
          </p:cNvSpPr>
          <p:nvPr/>
        </p:nvSpPr>
        <p:spPr bwMode="auto">
          <a:xfrm>
            <a:off x="9336089" y="5861050"/>
            <a:ext cx="12906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a:t>Source Abbott</a:t>
            </a:r>
          </a:p>
        </p:txBody>
      </p:sp>
    </p:spTree>
    <p:custDataLst>
      <p:tags r:id="rId1"/>
    </p:custDataLst>
    <p:extLst>
      <p:ext uri="{BB962C8B-B14F-4D97-AF65-F5344CB8AC3E}">
        <p14:creationId xmlns:p14="http://schemas.microsoft.com/office/powerpoint/2010/main" val="39291331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9"/>
          <p:cNvGrpSpPr>
            <a:grpSpLocks/>
          </p:cNvGrpSpPr>
          <p:nvPr/>
        </p:nvGrpSpPr>
        <p:grpSpPr bwMode="auto">
          <a:xfrm>
            <a:off x="1797050" y="981075"/>
            <a:ext cx="7677150" cy="5029200"/>
            <a:chOff x="528" y="336"/>
            <a:chExt cx="4836" cy="3168"/>
          </a:xfrm>
        </p:grpSpPr>
        <p:pic>
          <p:nvPicPr>
            <p:cNvPr id="31768" name="Picture 2"/>
            <p:cNvPicPr>
              <a:picLocks noChangeAspect="1" noChangeArrowheads="1"/>
            </p:cNvPicPr>
            <p:nvPr/>
          </p:nvPicPr>
          <p:blipFill>
            <a:blip r:embed="rId4">
              <a:clrChange>
                <a:clrFrom>
                  <a:srgbClr val="FFFFFF"/>
                </a:clrFrom>
                <a:clrTo>
                  <a:srgbClr val="FFFFFF">
                    <a:alpha val="0"/>
                  </a:srgbClr>
                </a:clrTo>
              </a:clrChange>
              <a:lum bright="-12000" contrast="30000"/>
              <a:extLst>
                <a:ext uri="{28A0092B-C50C-407E-A947-70E740481C1C}">
                  <a14:useLocalDpi xmlns:a14="http://schemas.microsoft.com/office/drawing/2010/main" val="0"/>
                </a:ext>
              </a:extLst>
            </a:blip>
            <a:srcRect b="8174"/>
            <a:stretch>
              <a:fillRect/>
            </a:stretch>
          </p:blipFill>
          <p:spPr bwMode="auto">
            <a:xfrm>
              <a:off x="528" y="336"/>
              <a:ext cx="4836" cy="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1769" name="Rectangle 7"/>
            <p:cNvSpPr>
              <a:spLocks noChangeArrowheads="1"/>
            </p:cNvSpPr>
            <p:nvPr/>
          </p:nvSpPr>
          <p:spPr bwMode="auto">
            <a:xfrm>
              <a:off x="2112" y="1267"/>
              <a:ext cx="600" cy="25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l" fontAlgn="base"/>
              <a:endParaRPr lang="nl-NL" sz="2000"/>
            </a:p>
          </p:txBody>
        </p:sp>
        <p:sp>
          <p:nvSpPr>
            <p:cNvPr id="31770" name="Rectangle 8"/>
            <p:cNvSpPr>
              <a:spLocks noChangeArrowheads="1"/>
            </p:cNvSpPr>
            <p:nvPr/>
          </p:nvSpPr>
          <p:spPr bwMode="auto">
            <a:xfrm>
              <a:off x="3168" y="1411"/>
              <a:ext cx="600" cy="25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l" fontAlgn="base"/>
              <a:endParaRPr lang="nl-NL" sz="2000"/>
            </a:p>
          </p:txBody>
        </p:sp>
      </p:grpSp>
      <p:sp>
        <p:nvSpPr>
          <p:cNvPr id="31747" name="Rectangle 3"/>
          <p:cNvSpPr>
            <a:spLocks noChangeArrowheads="1"/>
          </p:cNvSpPr>
          <p:nvPr/>
        </p:nvSpPr>
        <p:spPr bwMode="auto">
          <a:xfrm>
            <a:off x="661452" y="36225"/>
            <a:ext cx="73003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Compressibility correction methods</a:t>
            </a:r>
          </a:p>
        </p:txBody>
      </p:sp>
      <p:sp>
        <p:nvSpPr>
          <p:cNvPr id="31748" name="Text Box 6"/>
          <p:cNvSpPr txBox="1">
            <a:spLocks noChangeArrowheads="1"/>
          </p:cNvSpPr>
          <p:nvPr/>
        </p:nvSpPr>
        <p:spPr bwMode="auto">
          <a:xfrm>
            <a:off x="9159876" y="5867400"/>
            <a:ext cx="1508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a:t>Source Anderson</a:t>
            </a:r>
          </a:p>
        </p:txBody>
      </p:sp>
      <p:sp>
        <p:nvSpPr>
          <p:cNvPr id="31749" name="Text Box 12"/>
          <p:cNvSpPr txBox="1">
            <a:spLocks noChangeArrowheads="1"/>
          </p:cNvSpPr>
          <p:nvPr/>
        </p:nvSpPr>
        <p:spPr bwMode="auto">
          <a:xfrm>
            <a:off x="3426268" y="4165600"/>
            <a:ext cx="2332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Experimental curve</a:t>
            </a:r>
          </a:p>
        </p:txBody>
      </p:sp>
      <p:sp>
        <p:nvSpPr>
          <p:cNvPr id="31750" name="Line 13"/>
          <p:cNvSpPr>
            <a:spLocks noChangeShapeType="1"/>
          </p:cNvSpPr>
          <p:nvPr/>
        </p:nvSpPr>
        <p:spPr bwMode="auto">
          <a:xfrm flipV="1">
            <a:off x="4979989" y="3541712"/>
            <a:ext cx="425448" cy="619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sp>
        <p:nvSpPr>
          <p:cNvPr id="31755" name="Text Box 14"/>
          <p:cNvSpPr txBox="1">
            <a:spLocks noChangeArrowheads="1"/>
          </p:cNvSpPr>
          <p:nvPr/>
        </p:nvSpPr>
        <p:spPr bwMode="auto">
          <a:xfrm>
            <a:off x="7609508" y="1171832"/>
            <a:ext cx="4379292"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b="1" dirty="0"/>
              <a:t>C</a:t>
            </a:r>
            <a:r>
              <a:rPr lang="en-GB" sz="1800" b="1" baseline="-25000" dirty="0"/>
              <a:t>l</a:t>
            </a:r>
            <a:r>
              <a:rPr lang="en-GB" sz="1800" b="1" dirty="0"/>
              <a:t> grows with M</a:t>
            </a:r>
            <a:r>
              <a:rPr lang="en-GB" sz="1800" dirty="0"/>
              <a:t> (till M=1)</a:t>
            </a:r>
          </a:p>
          <a:p>
            <a:pPr algn="l" eaLnBrk="1" fontAlgn="base" hangingPunct="1"/>
            <a:endParaRPr lang="en-GB" sz="1800" dirty="0"/>
          </a:p>
          <a:p>
            <a:pPr algn="l" eaLnBrk="1" fontAlgn="base" hangingPunct="1"/>
            <a:r>
              <a:rPr lang="en-GB" dirty="0"/>
              <a:t>The </a:t>
            </a:r>
            <a:r>
              <a:rPr lang="en-GB" b="1" dirty="0" err="1"/>
              <a:t>Prandtl-Glauert</a:t>
            </a:r>
            <a:r>
              <a:rPr lang="en-GB" b="1" dirty="0"/>
              <a:t> compressibility corrections</a:t>
            </a:r>
            <a:r>
              <a:rPr lang="en-GB" dirty="0"/>
              <a:t> can be used for a reasonable estimation of C</a:t>
            </a:r>
            <a:r>
              <a:rPr lang="en-GB" baseline="-25000" dirty="0"/>
              <a:t>l</a:t>
            </a:r>
            <a:r>
              <a:rPr lang="en-GB" dirty="0"/>
              <a:t>.</a:t>
            </a:r>
          </a:p>
          <a:p>
            <a:pPr algn="l" eaLnBrk="1" fontAlgn="base" hangingPunct="1"/>
            <a:r>
              <a:rPr lang="en-GB" dirty="0"/>
              <a:t>The same corrections can be used also for the </a:t>
            </a:r>
            <a:r>
              <a:rPr lang="en-GB" dirty="0" err="1"/>
              <a:t>airfoil</a:t>
            </a:r>
            <a:r>
              <a:rPr lang="en-GB" dirty="0"/>
              <a:t> moment coefficient and Cp.</a:t>
            </a:r>
          </a:p>
          <a:p>
            <a:pPr algn="l" eaLnBrk="1" fontAlgn="base" hangingPunct="1"/>
            <a:r>
              <a:rPr lang="en-GB" dirty="0"/>
              <a:t>Similarly we can use these corrections also for C</a:t>
            </a:r>
            <a:r>
              <a:rPr lang="en-GB" baseline="-25000" dirty="0"/>
              <a:t>L</a:t>
            </a:r>
            <a:r>
              <a:rPr lang="en-GB" dirty="0"/>
              <a:t> and C</a:t>
            </a:r>
            <a:r>
              <a:rPr lang="en-GB" baseline="-25000" dirty="0"/>
              <a:t>M </a:t>
            </a:r>
            <a:r>
              <a:rPr lang="en-GB" dirty="0"/>
              <a:t>  (3D wing)</a:t>
            </a:r>
          </a:p>
        </p:txBody>
      </p:sp>
      <p:sp>
        <p:nvSpPr>
          <p:cNvPr id="31752" name="Text Box 15"/>
          <p:cNvSpPr txBox="1">
            <a:spLocks noChangeArrowheads="1"/>
          </p:cNvSpPr>
          <p:nvPr/>
        </p:nvSpPr>
        <p:spPr bwMode="auto">
          <a:xfrm>
            <a:off x="9264651" y="5480050"/>
            <a:ext cx="5854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M</a:t>
            </a:r>
            <a:r>
              <a:rPr lang="en-GB" sz="2000" b="1" baseline="-25000"/>
              <a:t>∞</a:t>
            </a:r>
          </a:p>
        </p:txBody>
      </p:sp>
      <p:sp>
        <p:nvSpPr>
          <p:cNvPr id="31753" name="Text Box 16"/>
          <p:cNvSpPr txBox="1">
            <a:spLocks noChangeArrowheads="1"/>
          </p:cNvSpPr>
          <p:nvPr/>
        </p:nvSpPr>
        <p:spPr bwMode="auto">
          <a:xfrm>
            <a:off x="2020888" y="1412875"/>
            <a:ext cx="4074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C</a:t>
            </a:r>
            <a:r>
              <a:rPr lang="en-GB" sz="2000" b="1" baseline="-25000"/>
              <a:t>l</a:t>
            </a:r>
          </a:p>
        </p:txBody>
      </p:sp>
      <p:sp>
        <p:nvSpPr>
          <p:cNvPr id="31754" name="Text Box 17"/>
          <p:cNvSpPr txBox="1">
            <a:spLocks noChangeArrowheads="1"/>
          </p:cNvSpPr>
          <p:nvPr/>
        </p:nvSpPr>
        <p:spPr bwMode="auto">
          <a:xfrm>
            <a:off x="2488405" y="2802110"/>
            <a:ext cx="1922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analytical curve</a:t>
            </a:r>
          </a:p>
        </p:txBody>
      </p:sp>
      <p:sp>
        <p:nvSpPr>
          <p:cNvPr id="2" name="Line 18"/>
          <p:cNvSpPr>
            <a:spLocks noChangeShapeType="1"/>
          </p:cNvSpPr>
          <p:nvPr/>
        </p:nvSpPr>
        <p:spPr bwMode="auto">
          <a:xfrm>
            <a:off x="4154486" y="3178176"/>
            <a:ext cx="385763" cy="3635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sp>
        <p:nvSpPr>
          <p:cNvPr id="31757" name="Line 20"/>
          <p:cNvSpPr>
            <a:spLocks noChangeShapeType="1"/>
          </p:cNvSpPr>
          <p:nvPr/>
        </p:nvSpPr>
        <p:spPr bwMode="auto">
          <a:xfrm flipV="1">
            <a:off x="2101850" y="4325938"/>
            <a:ext cx="228600" cy="76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a:spAutoFit/>
          </a:bodyPr>
          <a:lstStyle/>
          <a:p>
            <a:endParaRPr lang="nl-NL"/>
          </a:p>
        </p:txBody>
      </p:sp>
      <p:grpSp>
        <p:nvGrpSpPr>
          <p:cNvPr id="6" name="Group 5"/>
          <p:cNvGrpSpPr>
            <a:grpSpLocks/>
          </p:cNvGrpSpPr>
          <p:nvPr/>
        </p:nvGrpSpPr>
        <p:grpSpPr bwMode="auto">
          <a:xfrm>
            <a:off x="2689225" y="1530351"/>
            <a:ext cx="2281238" cy="1647825"/>
            <a:chOff x="1165225" y="1530350"/>
            <a:chExt cx="2281238" cy="1647825"/>
          </a:xfrm>
        </p:grpSpPr>
        <p:sp>
          <p:nvSpPr>
            <p:cNvPr id="31766" name="Line 10"/>
            <p:cNvSpPr>
              <a:spLocks noChangeShapeType="1"/>
            </p:cNvSpPr>
            <p:nvPr/>
          </p:nvSpPr>
          <p:spPr bwMode="auto">
            <a:xfrm>
              <a:off x="3016250" y="2625725"/>
              <a:ext cx="430213"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graphicFrame>
          <p:nvGraphicFramePr>
            <p:cNvPr id="31767" name="Object 4"/>
            <p:cNvGraphicFramePr>
              <a:graphicFrameLocks noChangeAspect="1"/>
            </p:cNvGraphicFramePr>
            <p:nvPr>
              <p:extLst>
                <p:ext uri="{D42A27DB-BD31-4B8C-83A1-F6EECF244321}">
                  <p14:modId xmlns:p14="http://schemas.microsoft.com/office/powerpoint/2010/main" val="483495629"/>
                </p:ext>
              </p:extLst>
            </p:nvPr>
          </p:nvGraphicFramePr>
          <p:xfrm>
            <a:off x="1165225" y="1530350"/>
            <a:ext cx="2062163" cy="1058863"/>
          </p:xfrm>
          <a:graphic>
            <a:graphicData uri="http://schemas.openxmlformats.org/presentationml/2006/ole">
              <mc:AlternateContent xmlns:mc="http://schemas.openxmlformats.org/markup-compatibility/2006">
                <mc:Choice xmlns:v="urn:schemas-microsoft-com:vml" Requires="v">
                  <p:oleObj name="Equation" r:id="rId5" imgW="965160" imgH="495000" progId="Equation.DSMT4">
                    <p:embed/>
                  </p:oleObj>
                </mc:Choice>
                <mc:Fallback>
                  <p:oleObj name="Equation" r:id="rId5" imgW="965160" imgH="495000" progId="Equation.DSMT4">
                    <p:embed/>
                    <p:pic>
                      <p:nvPicPr>
                        <p:cNvPr id="0" name=""/>
                        <p:cNvPicPr>
                          <a:picLocks noChangeAspect="1" noChangeArrowheads="1"/>
                        </p:cNvPicPr>
                        <p:nvPr/>
                      </p:nvPicPr>
                      <p:blipFill>
                        <a:blip r:embed="rId6"/>
                        <a:srcRect/>
                        <a:stretch>
                          <a:fillRect/>
                        </a:stretch>
                      </p:blipFill>
                      <p:spPr bwMode="auto">
                        <a:xfrm>
                          <a:off x="1165225" y="1530350"/>
                          <a:ext cx="2062163" cy="1058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765" name="Oval 25"/>
          <p:cNvSpPr>
            <a:spLocks noChangeArrowheads="1"/>
          </p:cNvSpPr>
          <p:nvPr/>
        </p:nvSpPr>
        <p:spPr bwMode="auto">
          <a:xfrm>
            <a:off x="3251201" y="2042785"/>
            <a:ext cx="1584325" cy="562630"/>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l" fontAlgn="base"/>
            <a:endParaRPr lang="nl-NL" sz="2000"/>
          </a:p>
        </p:txBody>
      </p:sp>
      <p:pic>
        <p:nvPicPr>
          <p:cNvPr id="31761" name="Picture 26" descr="warning"/>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946588">
            <a:off x="1633538" y="3440113"/>
            <a:ext cx="6096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a:grpSpLocks/>
          </p:cNvGrpSpPr>
          <p:nvPr/>
        </p:nvGrpSpPr>
        <p:grpSpPr bwMode="auto">
          <a:xfrm>
            <a:off x="223446" y="3822284"/>
            <a:ext cx="3215692" cy="2144335"/>
            <a:chOff x="-1300555" y="3822284"/>
            <a:chExt cx="3215692" cy="2144335"/>
          </a:xfrm>
        </p:grpSpPr>
        <p:sp>
          <p:nvSpPr>
            <p:cNvPr id="31763" name="Text Box 23"/>
            <p:cNvSpPr txBox="1">
              <a:spLocks noChangeArrowheads="1"/>
            </p:cNvSpPr>
            <p:nvPr/>
          </p:nvSpPr>
          <p:spPr bwMode="auto">
            <a:xfrm>
              <a:off x="-1300555" y="5043289"/>
              <a:ext cx="1857375" cy="923330"/>
            </a:xfrm>
            <a:prstGeom prst="rect">
              <a:avLst/>
            </a:prstGeom>
            <a:solidFill>
              <a:srgbClr val="FFFF00"/>
            </a:solidFill>
            <a:ln w="9525" algn="ctr">
              <a:solidFill>
                <a:schemeClr val="tx1"/>
              </a:solidFill>
              <a:miter lim="800000"/>
              <a:headEnd/>
              <a:tailEnd/>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Compressibility effects negligible</a:t>
              </a:r>
            </a:p>
          </p:txBody>
        </p:sp>
        <p:sp>
          <p:nvSpPr>
            <p:cNvPr id="31764" name="Line 24"/>
            <p:cNvSpPr>
              <a:spLocks noChangeShapeType="1"/>
            </p:cNvSpPr>
            <p:nvPr/>
          </p:nvSpPr>
          <p:spPr bwMode="auto">
            <a:xfrm flipV="1">
              <a:off x="577848" y="4143726"/>
              <a:ext cx="734221" cy="133632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nl-NL"/>
            </a:p>
          </p:txBody>
        </p:sp>
        <p:sp>
          <p:nvSpPr>
            <p:cNvPr id="3" name="Rectangle 26"/>
            <p:cNvSpPr>
              <a:spLocks noChangeArrowheads="1"/>
            </p:cNvSpPr>
            <p:nvPr/>
          </p:nvSpPr>
          <p:spPr bwMode="auto">
            <a:xfrm>
              <a:off x="904371" y="3822284"/>
              <a:ext cx="1010766" cy="338554"/>
            </a:xfrm>
            <a:prstGeom prst="rect">
              <a:avLst/>
            </a:prstGeom>
            <a:solidFill>
              <a:srgbClr val="FFFF00">
                <a:alpha val="52156"/>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p>
              <a:endParaRPr lang="nl-NL"/>
            </a:p>
          </p:txBody>
        </p:sp>
      </p:grpSp>
    </p:spTree>
    <p:custDataLst>
      <p:tags r:id="rId1"/>
    </p:custDataLst>
    <p:extLst>
      <p:ext uri="{BB962C8B-B14F-4D97-AF65-F5344CB8AC3E}">
        <p14:creationId xmlns:p14="http://schemas.microsoft.com/office/powerpoint/2010/main" val="3589158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7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5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5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0000">
            <a:off x="2042482" y="1270397"/>
            <a:ext cx="8479034" cy="4540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3"/>
          <p:cNvSpPr>
            <a:spLocks noChangeArrowheads="1"/>
          </p:cNvSpPr>
          <p:nvPr/>
        </p:nvSpPr>
        <p:spPr bwMode="auto">
          <a:xfrm>
            <a:off x="778651" y="108958"/>
            <a:ext cx="703429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US" sz="3200" dirty="0">
                <a:solidFill>
                  <a:schemeClr val="bg2"/>
                </a:solidFill>
                <a:latin typeface="Bookman Old Style" pitchFamily="18" charset="0"/>
              </a:rPr>
              <a:t>Mach effect on airfoil performance</a:t>
            </a:r>
          </a:p>
        </p:txBody>
      </p:sp>
      <p:sp>
        <p:nvSpPr>
          <p:cNvPr id="4" name="TextBox 3"/>
          <p:cNvSpPr txBox="1"/>
          <p:nvPr/>
        </p:nvSpPr>
        <p:spPr>
          <a:xfrm>
            <a:off x="1919536" y="1362254"/>
            <a:ext cx="648072" cy="338554"/>
          </a:xfrm>
          <a:prstGeom prst="rect">
            <a:avLst/>
          </a:prstGeom>
          <a:noFill/>
        </p:spPr>
        <p:txBody>
          <a:bodyPr wrap="square" rtlCol="0">
            <a:spAutoFit/>
          </a:bodyPr>
          <a:lstStyle/>
          <a:p>
            <a:r>
              <a:rPr lang="en-GB" dirty="0"/>
              <a:t>Cl</a:t>
            </a:r>
            <a:endParaRPr lang="nl-NL" dirty="0"/>
          </a:p>
        </p:txBody>
      </p:sp>
      <p:sp>
        <p:nvSpPr>
          <p:cNvPr id="7" name="TextBox 6"/>
          <p:cNvSpPr txBox="1"/>
          <p:nvPr/>
        </p:nvSpPr>
        <p:spPr>
          <a:xfrm>
            <a:off x="1847528" y="1700808"/>
            <a:ext cx="648072" cy="338554"/>
          </a:xfrm>
          <a:prstGeom prst="rect">
            <a:avLst/>
          </a:prstGeom>
          <a:noFill/>
        </p:spPr>
        <p:txBody>
          <a:bodyPr wrap="square" rtlCol="0">
            <a:spAutoFit/>
          </a:bodyPr>
          <a:lstStyle/>
          <a:p>
            <a:r>
              <a:rPr lang="en-GB" dirty="0"/>
              <a:t>Cd</a:t>
            </a:r>
            <a:endParaRPr lang="nl-NL" dirty="0"/>
          </a:p>
        </p:txBody>
      </p:sp>
      <p:sp>
        <p:nvSpPr>
          <p:cNvPr id="8" name="TextBox 7"/>
          <p:cNvSpPr txBox="1"/>
          <p:nvPr/>
        </p:nvSpPr>
        <p:spPr>
          <a:xfrm>
            <a:off x="9048328" y="4221088"/>
            <a:ext cx="648072" cy="338554"/>
          </a:xfrm>
          <a:prstGeom prst="rect">
            <a:avLst/>
          </a:prstGeom>
          <a:noFill/>
        </p:spPr>
        <p:txBody>
          <a:bodyPr wrap="square" rtlCol="0">
            <a:spAutoFit/>
          </a:bodyPr>
          <a:lstStyle/>
          <a:p>
            <a:r>
              <a:rPr lang="en-GB" dirty="0"/>
              <a:t>Cl</a:t>
            </a:r>
            <a:endParaRPr lang="nl-NL" dirty="0"/>
          </a:p>
        </p:txBody>
      </p:sp>
      <p:sp>
        <p:nvSpPr>
          <p:cNvPr id="9" name="TextBox 8"/>
          <p:cNvSpPr txBox="1"/>
          <p:nvPr/>
        </p:nvSpPr>
        <p:spPr>
          <a:xfrm>
            <a:off x="8976320" y="2564904"/>
            <a:ext cx="648072" cy="338554"/>
          </a:xfrm>
          <a:prstGeom prst="rect">
            <a:avLst/>
          </a:prstGeom>
          <a:noFill/>
        </p:spPr>
        <p:txBody>
          <a:bodyPr wrap="square" rtlCol="0">
            <a:spAutoFit/>
          </a:bodyPr>
          <a:lstStyle/>
          <a:p>
            <a:r>
              <a:rPr lang="en-GB" dirty="0"/>
              <a:t>Cd</a:t>
            </a:r>
            <a:endParaRPr lang="nl-NL" dirty="0"/>
          </a:p>
        </p:txBody>
      </p:sp>
      <p:sp>
        <p:nvSpPr>
          <p:cNvPr id="10" name="TextBox 9"/>
          <p:cNvSpPr txBox="1"/>
          <p:nvPr/>
        </p:nvSpPr>
        <p:spPr>
          <a:xfrm>
            <a:off x="4820568" y="5390931"/>
            <a:ext cx="648072" cy="400110"/>
          </a:xfrm>
          <a:prstGeom prst="rect">
            <a:avLst/>
          </a:prstGeom>
          <a:noFill/>
        </p:spPr>
        <p:txBody>
          <a:bodyPr wrap="square" rtlCol="0">
            <a:spAutoFit/>
          </a:bodyPr>
          <a:lstStyle/>
          <a:p>
            <a:r>
              <a:rPr lang="en-GB" sz="2000" dirty="0" err="1">
                <a:solidFill>
                  <a:srgbClr val="FF0000"/>
                </a:solidFill>
              </a:rPr>
              <a:t>Mcr</a:t>
            </a:r>
            <a:endParaRPr lang="nl-NL" sz="2000" dirty="0">
              <a:solidFill>
                <a:srgbClr val="FF0000"/>
              </a:solidFill>
            </a:endParaRPr>
          </a:p>
        </p:txBody>
      </p:sp>
      <p:cxnSp>
        <p:nvCxnSpPr>
          <p:cNvPr id="5" name="Straight Arrow Connector 4"/>
          <p:cNvCxnSpPr/>
          <p:nvPr/>
        </p:nvCxnSpPr>
        <p:spPr bwMode="auto">
          <a:xfrm>
            <a:off x="3524424" y="3643523"/>
            <a:ext cx="1296144" cy="576064"/>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flipV="1">
            <a:off x="5220804" y="4999079"/>
            <a:ext cx="495672" cy="783704"/>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12391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695400" y="57813"/>
            <a:ext cx="69961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200" dirty="0">
                <a:solidFill>
                  <a:schemeClr val="bg2"/>
                </a:solidFill>
                <a:latin typeface="Bookman Old Style" pitchFamily="18" charset="0"/>
              </a:rPr>
              <a:t>Airfoil critical Mach number</a:t>
            </a:r>
          </a:p>
        </p:txBody>
      </p:sp>
      <p:pic>
        <p:nvPicPr>
          <p:cNvPr id="3" name="Picture 2" descr="D:\aelham\Desktop\transfl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998104"/>
            <a:ext cx="5754121" cy="4991086"/>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6"/>
          <p:cNvSpPr txBox="1">
            <a:spLocks noChangeArrowheads="1"/>
          </p:cNvSpPr>
          <p:nvPr/>
        </p:nvSpPr>
        <p:spPr bwMode="auto">
          <a:xfrm>
            <a:off x="839416" y="1340768"/>
            <a:ext cx="4968552"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The </a:t>
            </a:r>
            <a:r>
              <a:rPr lang="en-GB" dirty="0" err="1"/>
              <a:t>airfoil</a:t>
            </a:r>
            <a:r>
              <a:rPr lang="en-GB" dirty="0"/>
              <a:t> </a:t>
            </a:r>
            <a:r>
              <a:rPr lang="en-GB" b="1" dirty="0"/>
              <a:t>critical Mach number </a:t>
            </a:r>
            <a:r>
              <a:rPr lang="en-GB" dirty="0"/>
              <a:t>is the freestream Mach number at which the flow velocity on the </a:t>
            </a:r>
            <a:r>
              <a:rPr lang="en-GB" dirty="0" err="1"/>
              <a:t>airfoil</a:t>
            </a:r>
            <a:r>
              <a:rPr lang="en-GB" dirty="0"/>
              <a:t> reaches the speed of sound.</a:t>
            </a:r>
          </a:p>
          <a:p>
            <a:pPr algn="l" eaLnBrk="1" fontAlgn="base" hangingPunct="1"/>
            <a:endParaRPr lang="en-GB" dirty="0"/>
          </a:p>
          <a:p>
            <a:pPr algn="l" eaLnBrk="1" fontAlgn="base" hangingPunct="1"/>
            <a:r>
              <a:rPr lang="en-GB" dirty="0"/>
              <a:t>After the sonic conditions are reached on the </a:t>
            </a:r>
            <a:r>
              <a:rPr lang="en-GB" dirty="0" err="1"/>
              <a:t>airfoil</a:t>
            </a:r>
            <a:r>
              <a:rPr lang="en-GB" dirty="0"/>
              <a:t>, a further increase in the freestream velocity causes the generation of shock wave(s). </a:t>
            </a:r>
          </a:p>
          <a:p>
            <a:pPr algn="l" eaLnBrk="1" fontAlgn="base" hangingPunct="1"/>
            <a:endParaRPr lang="en-GB" dirty="0"/>
          </a:p>
          <a:p>
            <a:pPr algn="l" eaLnBrk="1" fontAlgn="base" hangingPunct="1"/>
            <a:r>
              <a:rPr lang="en-GB" dirty="0"/>
              <a:t>The recompression after the shock wave induces boundary layer thickening and then </a:t>
            </a:r>
            <a:r>
              <a:rPr lang="en-GB" b="1" dirty="0"/>
              <a:t>major flow separation</a:t>
            </a:r>
            <a:r>
              <a:rPr lang="en-GB" dirty="0"/>
              <a:t>.</a:t>
            </a:r>
          </a:p>
          <a:p>
            <a:pPr algn="l" eaLnBrk="1" fontAlgn="base" hangingPunct="1"/>
            <a:endParaRPr lang="en-GB" dirty="0"/>
          </a:p>
          <a:p>
            <a:pPr algn="l" eaLnBrk="1" fontAlgn="base" hangingPunct="1"/>
            <a:r>
              <a:rPr lang="en-GB" dirty="0"/>
              <a:t>This can lead to the occurrence of </a:t>
            </a:r>
            <a:r>
              <a:rPr lang="en-GB" b="1" dirty="0"/>
              <a:t>buffeting</a:t>
            </a:r>
            <a:r>
              <a:rPr lang="en-GB" dirty="0"/>
              <a:t> and then to </a:t>
            </a:r>
            <a:r>
              <a:rPr lang="en-GB" b="1" dirty="0"/>
              <a:t>high speed stall</a:t>
            </a:r>
          </a:p>
        </p:txBody>
      </p:sp>
    </p:spTree>
    <p:extLst>
      <p:ext uri="{BB962C8B-B14F-4D97-AF65-F5344CB8AC3E}">
        <p14:creationId xmlns:p14="http://schemas.microsoft.com/office/powerpoint/2010/main" val="2969632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839416" y="1124744"/>
            <a:ext cx="10369152" cy="340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defRPr/>
            </a:pPr>
            <a:r>
              <a:rPr lang="en-GB" dirty="0"/>
              <a:t>Since different airfoils accelerate differently the flow around their boundary, it is intuitive that </a:t>
            </a:r>
            <a:r>
              <a:rPr lang="en-GB" b="1" dirty="0"/>
              <a:t>different airfoils have different values* of </a:t>
            </a:r>
            <a:r>
              <a:rPr lang="en-GB" b="1" dirty="0" err="1"/>
              <a:t>M</a:t>
            </a:r>
            <a:r>
              <a:rPr lang="en-GB" b="1" baseline="-25000" dirty="0" err="1"/>
              <a:t>cr</a:t>
            </a:r>
            <a:endParaRPr lang="en-GB" b="1" dirty="0"/>
          </a:p>
          <a:p>
            <a:pPr marL="342900" indent="-342900" algn="l" fontAlgn="base">
              <a:defRPr/>
            </a:pPr>
            <a:endParaRPr lang="en-US" sz="1000" b="1" dirty="0"/>
          </a:p>
          <a:p>
            <a:pPr marL="342900" indent="-342900" algn="l" fontAlgn="base">
              <a:defRPr/>
            </a:pPr>
            <a:endParaRPr lang="en-US" sz="1000" b="1" dirty="0"/>
          </a:p>
          <a:p>
            <a:pPr marL="342900" indent="-342900" algn="l" fontAlgn="base">
              <a:defRPr/>
            </a:pPr>
            <a:r>
              <a:rPr lang="en-US" b="1" dirty="0"/>
              <a:t>How to make sure we are using airfoils with adequate </a:t>
            </a:r>
            <a:r>
              <a:rPr lang="en-US" b="1" dirty="0" err="1"/>
              <a:t>M</a:t>
            </a:r>
            <a:r>
              <a:rPr lang="en-US" b="1" baseline="-25000" dirty="0" err="1"/>
              <a:t>cr</a:t>
            </a:r>
            <a:r>
              <a:rPr lang="en-US" b="1" dirty="0"/>
              <a:t> for our mission?</a:t>
            </a:r>
          </a:p>
          <a:p>
            <a:pPr marL="342900" indent="-342900" algn="l" fontAlgn="base">
              <a:defRPr/>
            </a:pPr>
            <a:endParaRPr lang="en-US" b="1" dirty="0"/>
          </a:p>
          <a:p>
            <a:pPr marL="342900" indent="-342900" algn="l" fontAlgn="base">
              <a:defRPr/>
            </a:pPr>
            <a:endParaRPr lang="en-US" b="1" dirty="0"/>
          </a:p>
          <a:p>
            <a:pPr marL="342900" indent="-342900" algn="l" fontAlgn="base">
              <a:defRPr/>
            </a:pPr>
            <a:r>
              <a:rPr lang="en-US" dirty="0" err="1"/>
              <a:t>Mcr</a:t>
            </a:r>
            <a:r>
              <a:rPr lang="en-US" dirty="0"/>
              <a:t> for an airfoil can be determined in three ways:</a:t>
            </a:r>
          </a:p>
          <a:p>
            <a:pPr marL="342900" indent="-342900" algn="l" fontAlgn="base">
              <a:defRPr/>
            </a:pPr>
            <a:endParaRPr lang="en-US" sz="1000" dirty="0"/>
          </a:p>
          <a:p>
            <a:pPr marL="342900" indent="-342900" algn="l" fontAlgn="base">
              <a:defRPr/>
            </a:pPr>
            <a:endParaRPr lang="en-US" sz="900" dirty="0"/>
          </a:p>
          <a:p>
            <a:pPr marL="342900" indent="-342900" algn="l" fontAlgn="base">
              <a:buFontTx/>
              <a:buAutoNum type="arabicPeriod"/>
              <a:defRPr/>
            </a:pPr>
            <a:r>
              <a:rPr lang="en-US" dirty="0"/>
              <a:t>Look at </a:t>
            </a:r>
            <a:r>
              <a:rPr lang="en-US" b="1" dirty="0"/>
              <a:t>statistics</a:t>
            </a:r>
            <a:r>
              <a:rPr lang="en-US" dirty="0"/>
              <a:t>, historical trends and reference aircraft (good to get a rough feeling)</a:t>
            </a:r>
          </a:p>
          <a:p>
            <a:pPr marL="342900" indent="-342900" algn="l" fontAlgn="base">
              <a:buFontTx/>
              <a:buAutoNum type="arabicPeriod"/>
              <a:defRPr/>
            </a:pPr>
            <a:r>
              <a:rPr lang="en-US" dirty="0"/>
              <a:t>Use </a:t>
            </a:r>
            <a:r>
              <a:rPr lang="en-US" b="1" dirty="0"/>
              <a:t>experimental data </a:t>
            </a:r>
            <a:r>
              <a:rPr lang="en-US" dirty="0"/>
              <a:t>(when available!) showing the variation of critical Mach with different airfoil shapes and thickness</a:t>
            </a:r>
          </a:p>
          <a:p>
            <a:pPr marL="342900" indent="-342900" algn="l" fontAlgn="base">
              <a:buFontTx/>
              <a:buAutoNum type="arabicPeriod"/>
              <a:defRPr/>
            </a:pPr>
            <a:r>
              <a:rPr lang="en-US" b="1" dirty="0"/>
              <a:t>Calculate</a:t>
            </a:r>
            <a:r>
              <a:rPr lang="en-US" dirty="0"/>
              <a:t> the actual </a:t>
            </a:r>
            <a:r>
              <a:rPr lang="en-US" dirty="0" err="1"/>
              <a:t>M</a:t>
            </a:r>
            <a:r>
              <a:rPr lang="en-US" baseline="-25000" dirty="0" err="1"/>
              <a:t>cr</a:t>
            </a:r>
            <a:r>
              <a:rPr lang="en-US" dirty="0"/>
              <a:t> of the given airfoil!</a:t>
            </a:r>
          </a:p>
          <a:p>
            <a:pPr marL="342900" indent="-342900" algn="l" fontAlgn="base">
              <a:defRPr/>
            </a:pPr>
            <a:r>
              <a:rPr lang="en-US" dirty="0"/>
              <a:t> </a:t>
            </a:r>
          </a:p>
        </p:txBody>
      </p:sp>
      <p:sp>
        <p:nvSpPr>
          <p:cNvPr id="34819" name="Rectangle 6"/>
          <p:cNvSpPr>
            <a:spLocks noChangeArrowheads="1"/>
          </p:cNvSpPr>
          <p:nvPr/>
        </p:nvSpPr>
        <p:spPr bwMode="auto">
          <a:xfrm>
            <a:off x="695400" y="44624"/>
            <a:ext cx="95935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dirty="0">
                <a:solidFill>
                  <a:schemeClr val="bg2"/>
                </a:solidFill>
                <a:latin typeface="Bookman Old Style" pitchFamily="18" charset="0"/>
              </a:rPr>
              <a:t>Relevance of the airfoil critical Mach number </a:t>
            </a:r>
          </a:p>
        </p:txBody>
      </p:sp>
    </p:spTree>
    <p:custDataLst>
      <p:tags r:id="rId1"/>
    </p:custDataLst>
    <p:extLst>
      <p:ext uri="{BB962C8B-B14F-4D97-AF65-F5344CB8AC3E}">
        <p14:creationId xmlns:p14="http://schemas.microsoft.com/office/powerpoint/2010/main" val="30835950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2">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2">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842">
                                            <p:txEl>
                                              <p:pRg st="10" end="1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584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750805" y="1124745"/>
            <a:ext cx="111778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sz="1800" dirty="0"/>
              <a:t>Historical trend of (t/c)max on the main wing of aircraft as a function of their maximum design Mach number.</a:t>
            </a:r>
          </a:p>
        </p:txBody>
      </p:sp>
      <p:pic>
        <p:nvPicPr>
          <p:cNvPr id="35843" name="Picture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7329"/>
          <a:stretch>
            <a:fillRect/>
          </a:stretch>
        </p:blipFill>
        <p:spPr bwMode="auto">
          <a:xfrm>
            <a:off x="2625725" y="1804989"/>
            <a:ext cx="6477000"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5844" name="Rectangle 5"/>
          <p:cNvSpPr>
            <a:spLocks noChangeArrowheads="1"/>
          </p:cNvSpPr>
          <p:nvPr/>
        </p:nvSpPr>
        <p:spPr bwMode="auto">
          <a:xfrm>
            <a:off x="750805" y="115601"/>
            <a:ext cx="82088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dirty="0">
                <a:solidFill>
                  <a:schemeClr val="bg2"/>
                </a:solidFill>
                <a:latin typeface="Bookman Old Style" pitchFamily="18" charset="0"/>
              </a:rPr>
              <a:t>Historical trend of (t/c)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and </a:t>
            </a:r>
            <a:r>
              <a:rPr lang="en-US" sz="3200" dirty="0" err="1">
                <a:solidFill>
                  <a:schemeClr val="bg2"/>
                </a:solidFill>
                <a:latin typeface="Bookman Old Style" pitchFamily="18" charset="0"/>
              </a:rPr>
              <a:t>M</a:t>
            </a:r>
            <a:r>
              <a:rPr lang="en-US" sz="3200" baseline="-25000" dirty="0" err="1">
                <a:solidFill>
                  <a:schemeClr val="bg2"/>
                </a:solidFill>
                <a:latin typeface="Bookman Old Style" pitchFamily="18" charset="0"/>
              </a:rPr>
              <a:t>crit</a:t>
            </a:r>
            <a:endParaRPr lang="en-US" sz="3200" dirty="0">
              <a:solidFill>
                <a:schemeClr val="bg2"/>
              </a:solidFill>
              <a:latin typeface="Bookman Old Style" pitchFamily="18" charset="0"/>
            </a:endParaRPr>
          </a:p>
        </p:txBody>
      </p:sp>
      <p:sp>
        <p:nvSpPr>
          <p:cNvPr id="35845" name="Text Box 6"/>
          <p:cNvSpPr txBox="1">
            <a:spLocks noChangeArrowheads="1"/>
          </p:cNvSpPr>
          <p:nvPr/>
        </p:nvSpPr>
        <p:spPr bwMode="auto">
          <a:xfrm>
            <a:off x="9331325" y="586105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a:t>Source Raymer</a:t>
            </a:r>
          </a:p>
        </p:txBody>
      </p:sp>
      <p:pic>
        <p:nvPicPr>
          <p:cNvPr id="35846" name="Picture 8" descr="warnin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102725" y="2490788"/>
            <a:ext cx="1066800"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Line 9"/>
          <p:cNvSpPr>
            <a:spLocks noChangeShapeType="1"/>
          </p:cNvSpPr>
          <p:nvPr/>
        </p:nvSpPr>
        <p:spPr bwMode="auto">
          <a:xfrm flipV="1">
            <a:off x="4606925" y="2795588"/>
            <a:ext cx="0" cy="2819400"/>
          </a:xfrm>
          <a:prstGeom prst="line">
            <a:avLst/>
          </a:prstGeom>
          <a:noFill/>
          <a:ln w="38100">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35848" name="Line 10"/>
          <p:cNvSpPr>
            <a:spLocks noChangeShapeType="1"/>
          </p:cNvSpPr>
          <p:nvPr/>
        </p:nvSpPr>
        <p:spPr bwMode="auto">
          <a:xfrm rot="5400000">
            <a:off x="4031457" y="2380457"/>
            <a:ext cx="20637" cy="1003300"/>
          </a:xfrm>
          <a:prstGeom prst="line">
            <a:avLst/>
          </a:prstGeom>
          <a:noFill/>
          <a:ln w="38100">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35849" name="Text Box 11"/>
          <p:cNvSpPr txBox="1">
            <a:spLocks noChangeArrowheads="1"/>
          </p:cNvSpPr>
          <p:nvPr/>
        </p:nvSpPr>
        <p:spPr bwMode="auto">
          <a:xfrm>
            <a:off x="4151313" y="5589589"/>
            <a:ext cx="1022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M=0.8</a:t>
            </a:r>
          </a:p>
        </p:txBody>
      </p:sp>
      <p:sp>
        <p:nvSpPr>
          <p:cNvPr id="35850" name="Text Box 12"/>
          <p:cNvSpPr txBox="1">
            <a:spLocks noChangeArrowheads="1"/>
          </p:cNvSpPr>
          <p:nvPr/>
        </p:nvSpPr>
        <p:spPr bwMode="auto">
          <a:xfrm>
            <a:off x="2233614" y="2671764"/>
            <a:ext cx="1341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t/c=0.15</a:t>
            </a:r>
          </a:p>
        </p:txBody>
      </p:sp>
    </p:spTree>
    <p:custDataLst>
      <p:tags r:id="rId1"/>
    </p:custDataLst>
    <p:extLst>
      <p:ext uri="{BB962C8B-B14F-4D97-AF65-F5344CB8AC3E}">
        <p14:creationId xmlns:p14="http://schemas.microsoft.com/office/powerpoint/2010/main" val="288666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695400" y="169686"/>
            <a:ext cx="93122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a:solidFill>
                  <a:schemeClr val="bg2"/>
                </a:solidFill>
                <a:latin typeface="Bookman Old Style" pitchFamily="18" charset="0"/>
              </a:rPr>
              <a:t>Intermezzo: Supercritical airfoils</a:t>
            </a:r>
          </a:p>
        </p:txBody>
      </p:sp>
      <p:pic>
        <p:nvPicPr>
          <p:cNvPr id="37891" name="Picture 3" descr="Supercritical Airfoil"/>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96000" y="1598464"/>
            <a:ext cx="4114800" cy="341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4"/>
          <p:cNvSpPr>
            <a:spLocks noChangeArrowheads="1"/>
          </p:cNvSpPr>
          <p:nvPr/>
        </p:nvSpPr>
        <p:spPr bwMode="auto">
          <a:xfrm>
            <a:off x="767408" y="1120776"/>
            <a:ext cx="99069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dirty="0"/>
              <a:t>These </a:t>
            </a:r>
            <a:r>
              <a:rPr lang="en-GB" dirty="0" err="1"/>
              <a:t>airfoils</a:t>
            </a:r>
            <a:r>
              <a:rPr lang="en-GB" b="1" dirty="0"/>
              <a:t> </a:t>
            </a:r>
            <a:r>
              <a:rPr lang="en-GB" dirty="0"/>
              <a:t>are designed to delay the transonic drag rise (M</a:t>
            </a:r>
            <a:r>
              <a:rPr lang="en-GB" baseline="-25000" dirty="0"/>
              <a:t>DD</a:t>
            </a:r>
            <a:r>
              <a:rPr lang="en-GB" dirty="0"/>
              <a:t>), due both to strong normal shock and shock-induced boundary layer separation (actually also </a:t>
            </a:r>
            <a:r>
              <a:rPr lang="en-GB" dirty="0" err="1"/>
              <a:t>M</a:t>
            </a:r>
            <a:r>
              <a:rPr lang="en-GB" baseline="-25000" dirty="0" err="1"/>
              <a:t>cr</a:t>
            </a:r>
            <a:r>
              <a:rPr lang="en-GB" dirty="0"/>
              <a:t> is enhanced).</a:t>
            </a:r>
          </a:p>
        </p:txBody>
      </p:sp>
      <p:sp>
        <p:nvSpPr>
          <p:cNvPr id="37893" name="Rectangle 5"/>
          <p:cNvSpPr>
            <a:spLocks noChangeArrowheads="1"/>
          </p:cNvSpPr>
          <p:nvPr/>
        </p:nvSpPr>
        <p:spPr bwMode="auto">
          <a:xfrm>
            <a:off x="767408" y="5084764"/>
            <a:ext cx="98386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dirty="0"/>
              <a:t>As compared with a conventional </a:t>
            </a:r>
            <a:r>
              <a:rPr lang="en-GB" dirty="0" err="1"/>
              <a:t>airfoil</a:t>
            </a:r>
            <a:r>
              <a:rPr lang="en-GB" dirty="0"/>
              <a:t>, a supercritical </a:t>
            </a:r>
            <a:r>
              <a:rPr lang="en-GB" dirty="0" err="1"/>
              <a:t>airfoil</a:t>
            </a:r>
            <a:r>
              <a:rPr lang="en-GB" dirty="0"/>
              <a:t> has a smaller camber, a larger leading edge radius, a small surface curvature on the suction side and a concavity in the rear part of the pressure side.</a:t>
            </a:r>
          </a:p>
        </p:txBody>
      </p:sp>
      <p:pic>
        <p:nvPicPr>
          <p:cNvPr id="37894" name="Picture 7" descr="whitcomb"/>
          <p:cNvPicPr>
            <a:picLocks noChangeAspect="1" noChangeArrowheads="1"/>
          </p:cNvPicPr>
          <p:nvPr/>
        </p:nvPicPr>
        <p:blipFill>
          <a:blip r:embed="rId5">
            <a:lum bright="-36000" contrast="54000"/>
            <a:extLst>
              <a:ext uri="{28A0092B-C50C-407E-A947-70E740481C1C}">
                <a14:useLocalDpi xmlns:a14="http://schemas.microsoft.com/office/drawing/2010/main" val="0"/>
              </a:ext>
            </a:extLst>
          </a:blip>
          <a:srcRect l="13734" t="38620" r="6380" b="42070"/>
          <a:stretch>
            <a:fillRect/>
          </a:stretch>
        </p:blipFill>
        <p:spPr bwMode="auto">
          <a:xfrm>
            <a:off x="1774826" y="2536696"/>
            <a:ext cx="411480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Text Box 8"/>
          <p:cNvSpPr txBox="1">
            <a:spLocks noChangeArrowheads="1"/>
          </p:cNvSpPr>
          <p:nvPr/>
        </p:nvSpPr>
        <p:spPr bwMode="auto">
          <a:xfrm>
            <a:off x="2057400" y="3525689"/>
            <a:ext cx="3125536" cy="3693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a:t>Whitcomb supercritical airfoil</a:t>
            </a:r>
          </a:p>
        </p:txBody>
      </p:sp>
    </p:spTree>
    <p:custDataLst>
      <p:tags r:id="rId1"/>
    </p:custDataLst>
    <p:extLst>
      <p:ext uri="{BB962C8B-B14F-4D97-AF65-F5344CB8AC3E}">
        <p14:creationId xmlns:p14="http://schemas.microsoft.com/office/powerpoint/2010/main" val="3445203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8218" y="117362"/>
            <a:ext cx="103763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dirty="0">
                <a:solidFill>
                  <a:schemeClr val="bg2"/>
                </a:solidFill>
                <a:latin typeface="Bookman Old Style" pitchFamily="18" charset="0"/>
              </a:rPr>
              <a:t>(t/c)</a:t>
            </a:r>
            <a:r>
              <a:rPr lang="en-US" sz="3200" baseline="-25000" dirty="0">
                <a:solidFill>
                  <a:schemeClr val="bg2"/>
                </a:solidFill>
                <a:latin typeface="Bookman Old Style" pitchFamily="18" charset="0"/>
              </a:rPr>
              <a:t>max</a:t>
            </a:r>
            <a:r>
              <a:rPr lang="en-US" sz="3200" dirty="0">
                <a:solidFill>
                  <a:schemeClr val="bg2"/>
                </a:solidFill>
                <a:latin typeface="Bookman Old Style" pitchFamily="18" charset="0"/>
              </a:rPr>
              <a:t> effect on </a:t>
            </a:r>
            <a:r>
              <a:rPr lang="en-US" sz="3200" dirty="0" err="1">
                <a:solidFill>
                  <a:schemeClr val="bg2"/>
                </a:solidFill>
                <a:latin typeface="Bookman Old Style" pitchFamily="18" charset="0"/>
              </a:rPr>
              <a:t>M</a:t>
            </a:r>
            <a:r>
              <a:rPr lang="en-US" sz="3200" baseline="-25000" dirty="0" err="1">
                <a:solidFill>
                  <a:schemeClr val="bg2"/>
                </a:solidFill>
                <a:latin typeface="Bookman Old Style" pitchFamily="18" charset="0"/>
              </a:rPr>
              <a:t>cr</a:t>
            </a:r>
            <a:r>
              <a:rPr lang="en-US" sz="3200" dirty="0">
                <a:solidFill>
                  <a:schemeClr val="bg2"/>
                </a:solidFill>
                <a:latin typeface="Bookman Old Style" pitchFamily="18" charset="0"/>
              </a:rPr>
              <a:t> for different airfoils families </a:t>
            </a:r>
          </a:p>
        </p:txBody>
      </p:sp>
      <p:sp>
        <p:nvSpPr>
          <p:cNvPr id="36867" name="Text Box 5"/>
          <p:cNvSpPr txBox="1">
            <a:spLocks noChangeArrowheads="1"/>
          </p:cNvSpPr>
          <p:nvPr/>
        </p:nvSpPr>
        <p:spPr bwMode="auto">
          <a:xfrm rot="-5400000">
            <a:off x="2027238" y="2316163"/>
            <a:ext cx="1524000" cy="396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Airfoil M</a:t>
            </a:r>
            <a:r>
              <a:rPr lang="en-GB" sz="2000" b="1" baseline="-25000"/>
              <a:t>cr</a:t>
            </a:r>
          </a:p>
        </p:txBody>
      </p:sp>
      <p:sp>
        <p:nvSpPr>
          <p:cNvPr id="36868" name="Text Box 8"/>
          <p:cNvSpPr txBox="1">
            <a:spLocks noChangeArrowheads="1"/>
          </p:cNvSpPr>
          <p:nvPr/>
        </p:nvSpPr>
        <p:spPr bwMode="auto">
          <a:xfrm>
            <a:off x="9294814" y="5867400"/>
            <a:ext cx="1373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a:t>Source Raymer</a:t>
            </a:r>
          </a:p>
        </p:txBody>
      </p:sp>
      <p:sp>
        <p:nvSpPr>
          <p:cNvPr id="36869" name="Line 9"/>
          <p:cNvSpPr>
            <a:spLocks noChangeShapeType="1"/>
          </p:cNvSpPr>
          <p:nvPr/>
        </p:nvSpPr>
        <p:spPr bwMode="auto">
          <a:xfrm>
            <a:off x="4265613" y="3505200"/>
            <a:ext cx="2057400" cy="0"/>
          </a:xfrm>
          <a:prstGeom prst="line">
            <a:avLst/>
          </a:prstGeom>
          <a:noFill/>
          <a:ln w="3175">
            <a:solidFill>
              <a:srgbClr val="FF3300"/>
            </a:solidFill>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0" name="Line 10"/>
          <p:cNvSpPr>
            <a:spLocks noChangeShapeType="1"/>
          </p:cNvSpPr>
          <p:nvPr/>
        </p:nvSpPr>
        <p:spPr bwMode="auto">
          <a:xfrm>
            <a:off x="4951413" y="2895600"/>
            <a:ext cx="0" cy="2895600"/>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1" name="Line 11"/>
          <p:cNvSpPr>
            <a:spLocks noChangeShapeType="1"/>
          </p:cNvSpPr>
          <p:nvPr/>
        </p:nvSpPr>
        <p:spPr bwMode="auto">
          <a:xfrm>
            <a:off x="5368925" y="2889250"/>
            <a:ext cx="0" cy="2895600"/>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2" name="Text Box 12"/>
          <p:cNvSpPr txBox="1">
            <a:spLocks noChangeArrowheads="1"/>
          </p:cNvSpPr>
          <p:nvPr/>
        </p:nvSpPr>
        <p:spPr bwMode="auto">
          <a:xfrm>
            <a:off x="5468939" y="3079751"/>
            <a:ext cx="708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a:solidFill>
                  <a:srgbClr val="FF3300"/>
                </a:solidFill>
              </a:rPr>
              <a:t>10%</a:t>
            </a:r>
          </a:p>
        </p:txBody>
      </p:sp>
      <p:sp>
        <p:nvSpPr>
          <p:cNvPr id="36873" name="Line 13"/>
          <p:cNvSpPr>
            <a:spLocks noChangeShapeType="1"/>
          </p:cNvSpPr>
          <p:nvPr/>
        </p:nvSpPr>
        <p:spPr bwMode="auto">
          <a:xfrm flipV="1">
            <a:off x="5942013" y="3962400"/>
            <a:ext cx="0" cy="1676400"/>
          </a:xfrm>
          <a:prstGeom prst="line">
            <a:avLst/>
          </a:prstGeom>
          <a:noFill/>
          <a:ln w="9525">
            <a:solidFill>
              <a:srgbClr val="00A4DE"/>
            </a:solidFill>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4" name="Line 14"/>
          <p:cNvSpPr>
            <a:spLocks noChangeShapeType="1"/>
          </p:cNvSpPr>
          <p:nvPr/>
        </p:nvSpPr>
        <p:spPr bwMode="auto">
          <a:xfrm>
            <a:off x="5789613" y="4191000"/>
            <a:ext cx="457200" cy="0"/>
          </a:xfrm>
          <a:prstGeom prst="line">
            <a:avLst/>
          </a:prstGeom>
          <a:noFill/>
          <a:ln w="9525">
            <a:solidFill>
              <a:srgbClr val="00A4DE"/>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36875" name="Line 15"/>
          <p:cNvSpPr>
            <a:spLocks noChangeShapeType="1"/>
          </p:cNvSpPr>
          <p:nvPr/>
        </p:nvSpPr>
        <p:spPr bwMode="auto">
          <a:xfrm flipV="1">
            <a:off x="5775325" y="4648201"/>
            <a:ext cx="547688" cy="28575"/>
          </a:xfrm>
          <a:prstGeom prst="line">
            <a:avLst/>
          </a:prstGeom>
          <a:noFill/>
          <a:ln w="9525">
            <a:solidFill>
              <a:srgbClr val="00A4DE"/>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36876" name="Line 16"/>
          <p:cNvSpPr>
            <a:spLocks noChangeShapeType="1"/>
          </p:cNvSpPr>
          <p:nvPr/>
        </p:nvSpPr>
        <p:spPr bwMode="auto">
          <a:xfrm>
            <a:off x="4265613" y="3505200"/>
            <a:ext cx="685800"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7" name="Line 17"/>
          <p:cNvSpPr>
            <a:spLocks noChangeShapeType="1"/>
          </p:cNvSpPr>
          <p:nvPr/>
        </p:nvSpPr>
        <p:spPr bwMode="auto">
          <a:xfrm flipH="1">
            <a:off x="5332413" y="3505200"/>
            <a:ext cx="838200"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8" name="Line 18"/>
          <p:cNvSpPr>
            <a:spLocks noChangeShapeType="1"/>
          </p:cNvSpPr>
          <p:nvPr/>
        </p:nvSpPr>
        <p:spPr bwMode="auto">
          <a:xfrm>
            <a:off x="5942013" y="4191000"/>
            <a:ext cx="0" cy="457200"/>
          </a:xfrm>
          <a:prstGeom prst="line">
            <a:avLst/>
          </a:prstGeom>
          <a:noFill/>
          <a:ln w="9525">
            <a:solidFill>
              <a:srgbClr val="00A4DE"/>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36879" name="Text Box 21"/>
          <p:cNvSpPr txBox="1">
            <a:spLocks noChangeArrowheads="1"/>
          </p:cNvSpPr>
          <p:nvPr/>
        </p:nvSpPr>
        <p:spPr bwMode="auto">
          <a:xfrm>
            <a:off x="7696200" y="2590800"/>
            <a:ext cx="16450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b="1"/>
              <a:t>Supercritical</a:t>
            </a:r>
          </a:p>
        </p:txBody>
      </p:sp>
      <p:sp>
        <p:nvSpPr>
          <p:cNvPr id="36880" name="Text Box 22"/>
          <p:cNvSpPr txBox="1">
            <a:spLocks noChangeArrowheads="1"/>
          </p:cNvSpPr>
          <p:nvPr/>
        </p:nvSpPr>
        <p:spPr bwMode="auto">
          <a:xfrm>
            <a:off x="7696200" y="3657600"/>
            <a:ext cx="1837362" cy="36933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b="1"/>
              <a:t>NACA 64</a:t>
            </a:r>
            <a:r>
              <a:rPr lang="en-GB" sz="1800" b="1" baseline="-25000"/>
              <a:t>1</a:t>
            </a:r>
            <a:r>
              <a:rPr lang="en-GB" sz="1800" b="1"/>
              <a:t> XXX</a:t>
            </a:r>
          </a:p>
        </p:txBody>
      </p:sp>
      <p:grpSp>
        <p:nvGrpSpPr>
          <p:cNvPr id="36881" name="Group 17"/>
          <p:cNvGrpSpPr>
            <a:grpSpLocks/>
          </p:cNvGrpSpPr>
          <p:nvPr/>
        </p:nvGrpSpPr>
        <p:grpSpPr bwMode="auto">
          <a:xfrm>
            <a:off x="2667000" y="1600200"/>
            <a:ext cx="6229350" cy="4179888"/>
            <a:chOff x="720" y="1008"/>
            <a:chExt cx="3924" cy="2633"/>
          </a:xfrm>
        </p:grpSpPr>
        <p:pic>
          <p:nvPicPr>
            <p:cNvPr id="36888" name="Picture 6"/>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10779" b="6474"/>
            <a:stretch>
              <a:fillRect/>
            </a:stretch>
          </p:blipFill>
          <p:spPr bwMode="auto">
            <a:xfrm rot="-133983">
              <a:off x="720" y="1008"/>
              <a:ext cx="3924" cy="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6889" name="Rectangle 23"/>
            <p:cNvSpPr>
              <a:spLocks noChangeArrowheads="1"/>
            </p:cNvSpPr>
            <p:nvPr/>
          </p:nvSpPr>
          <p:spPr bwMode="auto">
            <a:xfrm>
              <a:off x="3023" y="2583"/>
              <a:ext cx="764" cy="25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l" fontAlgn="base"/>
              <a:endParaRPr lang="nl-NL" sz="2000"/>
            </a:p>
          </p:txBody>
        </p:sp>
      </p:grpSp>
      <p:sp>
        <p:nvSpPr>
          <p:cNvPr id="36882" name="Line 24"/>
          <p:cNvSpPr>
            <a:spLocks noChangeShapeType="1"/>
          </p:cNvSpPr>
          <p:nvPr/>
        </p:nvSpPr>
        <p:spPr bwMode="auto">
          <a:xfrm flipV="1">
            <a:off x="5791200" y="2895600"/>
            <a:ext cx="1905000" cy="9144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nl-NL"/>
          </a:p>
        </p:txBody>
      </p:sp>
      <p:sp>
        <p:nvSpPr>
          <p:cNvPr id="36883" name="Line 25"/>
          <p:cNvSpPr>
            <a:spLocks noChangeShapeType="1"/>
          </p:cNvSpPr>
          <p:nvPr/>
        </p:nvSpPr>
        <p:spPr bwMode="auto">
          <a:xfrm flipV="1">
            <a:off x="6094414" y="3886200"/>
            <a:ext cx="1601787" cy="3810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nl-NL"/>
          </a:p>
        </p:txBody>
      </p:sp>
      <p:sp>
        <p:nvSpPr>
          <p:cNvPr id="36884" name="Text Box 26"/>
          <p:cNvSpPr txBox="1">
            <a:spLocks noChangeArrowheads="1"/>
          </p:cNvSpPr>
          <p:nvPr/>
        </p:nvSpPr>
        <p:spPr bwMode="auto">
          <a:xfrm>
            <a:off x="4572000" y="1600200"/>
            <a:ext cx="2819400" cy="92333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b="1" dirty="0"/>
              <a:t>Curves from experimental data (zero lift)</a:t>
            </a:r>
          </a:p>
        </p:txBody>
      </p:sp>
      <p:sp>
        <p:nvSpPr>
          <p:cNvPr id="36885" name="Line 27"/>
          <p:cNvSpPr>
            <a:spLocks noChangeShapeType="1"/>
          </p:cNvSpPr>
          <p:nvPr/>
        </p:nvSpPr>
        <p:spPr bwMode="auto">
          <a:xfrm flipV="1">
            <a:off x="7162800" y="4876800"/>
            <a:ext cx="457200" cy="76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nl-NL"/>
          </a:p>
        </p:txBody>
      </p:sp>
      <p:sp>
        <p:nvSpPr>
          <p:cNvPr id="36886" name="Text Box 19"/>
          <p:cNvSpPr txBox="1">
            <a:spLocks noChangeArrowheads="1"/>
          </p:cNvSpPr>
          <p:nvPr/>
        </p:nvSpPr>
        <p:spPr bwMode="auto">
          <a:xfrm>
            <a:off x="7608888" y="4687888"/>
            <a:ext cx="1513556" cy="36933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b="1" dirty="0"/>
              <a:t>NACA 00XX</a:t>
            </a:r>
          </a:p>
        </p:txBody>
      </p:sp>
      <p:sp>
        <p:nvSpPr>
          <p:cNvPr id="36887" name="Text Box 4"/>
          <p:cNvSpPr txBox="1">
            <a:spLocks noChangeArrowheads="1"/>
          </p:cNvSpPr>
          <p:nvPr/>
        </p:nvSpPr>
        <p:spPr bwMode="auto">
          <a:xfrm>
            <a:off x="8256588" y="5480051"/>
            <a:ext cx="1104900" cy="396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b="1"/>
              <a:t>(t/c)%</a:t>
            </a:r>
          </a:p>
        </p:txBody>
      </p:sp>
    </p:spTree>
    <p:custDataLst>
      <p:tags r:id="rId1"/>
    </p:custDataLst>
    <p:extLst>
      <p:ext uri="{BB962C8B-B14F-4D97-AF65-F5344CB8AC3E}">
        <p14:creationId xmlns:p14="http://schemas.microsoft.com/office/powerpoint/2010/main" val="2658031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412750" y="674757"/>
            <a:ext cx="68405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4000" dirty="0">
                <a:solidFill>
                  <a:schemeClr val="bg1"/>
                </a:solidFill>
                <a:latin typeface="Bookman Old Style" pitchFamily="18" charset="0"/>
              </a:rPr>
              <a:t>1.2: Wing Aerodynamics</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1004367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7408" y="75560"/>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Planform geometry definition</a:t>
            </a:r>
            <a:endParaRPr lang="nl-NL" kern="0" dirty="0">
              <a:solidFill>
                <a:schemeClr val="bg2"/>
              </a:solidFill>
            </a:endParaRPr>
          </a:p>
        </p:txBody>
      </p:sp>
      <p:pic>
        <p:nvPicPr>
          <p:cNvPr id="4098" name="Picture 2" descr="D:\aelham\Desktop\Untitled.png"/>
          <p:cNvPicPr>
            <a:picLocks noChangeAspect="1" noChangeArrowheads="1"/>
          </p:cNvPicPr>
          <p:nvPr/>
        </p:nvPicPr>
        <p:blipFill rotWithShape="1">
          <a:blip r:embed="rId3">
            <a:extLst>
              <a:ext uri="{28A0092B-C50C-407E-A947-70E740481C1C}">
                <a14:useLocalDpi xmlns:a14="http://schemas.microsoft.com/office/drawing/2010/main" val="0"/>
              </a:ext>
            </a:extLst>
          </a:blip>
          <a:srcRect r="3464"/>
          <a:stretch/>
        </p:blipFill>
        <p:spPr bwMode="auto">
          <a:xfrm>
            <a:off x="6627652" y="797110"/>
            <a:ext cx="5077330" cy="223224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7130586" y="3161895"/>
            <a:ext cx="2088232" cy="2593440"/>
            <a:chOff x="4626828" y="3690966"/>
            <a:chExt cx="2088232" cy="2593440"/>
          </a:xfrm>
        </p:grpSpPr>
        <p:pic>
          <p:nvPicPr>
            <p:cNvPr id="13314" name="Picture 2" descr="D:\aelham\Desktop\Untitled-1.jpg"/>
            <p:cNvPicPr>
              <a:picLocks noChangeAspect="1" noChangeArrowheads="1"/>
            </p:cNvPicPr>
            <p:nvPr/>
          </p:nvPicPr>
          <p:blipFill rotWithShape="1">
            <a:blip r:embed="rId4" cstate="print">
              <a:biLevel thresh="75000"/>
              <a:extLst>
                <a:ext uri="{28A0092B-C50C-407E-A947-70E740481C1C}">
                  <a14:useLocalDpi xmlns:a14="http://schemas.microsoft.com/office/drawing/2010/main" val="0"/>
                </a:ext>
              </a:extLst>
            </a:blip>
            <a:srcRect b="56973"/>
            <a:stretch/>
          </p:blipFill>
          <p:spPr bwMode="auto">
            <a:xfrm>
              <a:off x="4639260" y="3690966"/>
              <a:ext cx="1885556" cy="2049782"/>
            </a:xfrm>
            <a:prstGeom prst="rect">
              <a:avLst/>
            </a:prstGeom>
            <a:noFill/>
            <a:extLst>
              <a:ext uri="{909E8E84-426E-40DD-AFC4-6F175D3DCCD1}">
                <a14:hiddenFill xmlns:a14="http://schemas.microsoft.com/office/drawing/2010/main">
                  <a:solidFill>
                    <a:srgbClr val="FFFFFF"/>
                  </a:solidFill>
                </a14:hiddenFill>
              </a:ext>
            </a:extLst>
          </p:spPr>
        </p:pic>
        <p:pic>
          <p:nvPicPr>
            <p:cNvPr id="13315" name="Picture 3" descr="D:\aelham\Desktop\Untitled-1.jpg"/>
            <p:cNvPicPr>
              <a:picLocks noChangeAspect="1" noChangeArrowheads="1"/>
            </p:cNvPicPr>
            <p:nvPr/>
          </p:nvPicPr>
          <p:blipFill rotWithShape="1">
            <a:blip r:embed="rId5" cstate="print">
              <a:biLevel thresh="75000"/>
              <a:extLst>
                <a:ext uri="{28A0092B-C50C-407E-A947-70E740481C1C}">
                  <a14:useLocalDpi xmlns:a14="http://schemas.microsoft.com/office/drawing/2010/main" val="0"/>
                </a:ext>
              </a:extLst>
            </a:blip>
            <a:srcRect t="4751" b="45249"/>
            <a:stretch/>
          </p:blipFill>
          <p:spPr bwMode="auto">
            <a:xfrm>
              <a:off x="4626828" y="5740748"/>
              <a:ext cx="2088232" cy="543658"/>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2" descr="D:\aelham\Desktop\Untitled-1.jpg"/>
          <p:cNvPicPr>
            <a:picLocks noChangeAspect="1" noChangeArrowheads="1"/>
          </p:cNvPicPr>
          <p:nvPr/>
        </p:nvPicPr>
        <p:blipFill rotWithShape="1">
          <a:blip r:embed="rId6" cstate="print">
            <a:biLevel thresh="75000"/>
            <a:extLst>
              <a:ext uri="{28A0092B-C50C-407E-A947-70E740481C1C}">
                <a14:useLocalDpi xmlns:a14="http://schemas.microsoft.com/office/drawing/2010/main" val="0"/>
              </a:ext>
            </a:extLst>
          </a:blip>
          <a:srcRect t="42883"/>
          <a:stretch/>
        </p:blipFill>
        <p:spPr bwMode="auto">
          <a:xfrm>
            <a:off x="9818581" y="3068960"/>
            <a:ext cx="1925910" cy="27793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p:cNvSpPr>
            <a:spLocks noChangeArrowheads="1"/>
          </p:cNvSpPr>
          <p:nvPr/>
        </p:nvSpPr>
        <p:spPr bwMode="auto">
          <a:xfrm>
            <a:off x="767408" y="797110"/>
            <a:ext cx="83989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dirty="0"/>
              <a:t>The half-wing planform can be considered a trapezoid. </a:t>
            </a:r>
          </a:p>
        </p:txBody>
      </p:sp>
      <p:grpSp>
        <p:nvGrpSpPr>
          <p:cNvPr id="4" name="Group 3"/>
          <p:cNvGrpSpPr/>
          <p:nvPr/>
        </p:nvGrpSpPr>
        <p:grpSpPr>
          <a:xfrm>
            <a:off x="1440207" y="3236566"/>
            <a:ext cx="2322221" cy="1356335"/>
            <a:chOff x="391725" y="3877404"/>
            <a:chExt cx="2322221" cy="1356335"/>
          </a:xfrm>
        </p:grpSpPr>
        <p:sp>
          <p:nvSpPr>
            <p:cNvPr id="3" name="Flowchart: Manual Input 2"/>
            <p:cNvSpPr/>
            <p:nvPr/>
          </p:nvSpPr>
          <p:spPr bwMode="auto">
            <a:xfrm>
              <a:off x="2012491" y="3877404"/>
              <a:ext cx="701455" cy="101988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9227 h 10000"/>
                <a:gd name="connsiteX3" fmla="*/ 0 w 10000"/>
                <a:gd name="connsiteY3" fmla="*/ 10000 h 10000"/>
                <a:gd name="connsiteX4" fmla="*/ 0 w 10000"/>
                <a:gd name="connsiteY4" fmla="*/ 2000 h 10000"/>
                <a:gd name="connsiteX0" fmla="*/ 0 w 10166"/>
                <a:gd name="connsiteY0" fmla="*/ 2895 h 10895"/>
                <a:gd name="connsiteX1" fmla="*/ 10166 w 10166"/>
                <a:gd name="connsiteY1" fmla="*/ 0 h 10895"/>
                <a:gd name="connsiteX2" fmla="*/ 10000 w 10166"/>
                <a:gd name="connsiteY2" fmla="*/ 10122 h 10895"/>
                <a:gd name="connsiteX3" fmla="*/ 0 w 10166"/>
                <a:gd name="connsiteY3" fmla="*/ 10895 h 10895"/>
                <a:gd name="connsiteX4" fmla="*/ 0 w 10166"/>
                <a:gd name="connsiteY4" fmla="*/ 2895 h 1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6" h="10895">
                  <a:moveTo>
                    <a:pt x="0" y="2895"/>
                  </a:moveTo>
                  <a:lnTo>
                    <a:pt x="10166" y="0"/>
                  </a:lnTo>
                  <a:cubicBezTo>
                    <a:pt x="10111" y="3374"/>
                    <a:pt x="10055" y="6748"/>
                    <a:pt x="10000" y="10122"/>
                  </a:cubicBezTo>
                  <a:lnTo>
                    <a:pt x="0" y="10895"/>
                  </a:lnTo>
                  <a:lnTo>
                    <a:pt x="0" y="2895"/>
                  </a:lnTo>
                  <a:close/>
                </a:path>
              </a:pathLst>
            </a:cu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
          <p:nvSpPr>
            <p:cNvPr id="12" name="Flowchart: Manual Input 2"/>
            <p:cNvSpPr/>
            <p:nvPr/>
          </p:nvSpPr>
          <p:spPr bwMode="auto">
            <a:xfrm>
              <a:off x="391725" y="4149080"/>
              <a:ext cx="1620766" cy="108465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9227 h 10000"/>
                <a:gd name="connsiteX3" fmla="*/ 0 w 10000"/>
                <a:gd name="connsiteY3" fmla="*/ 10000 h 10000"/>
                <a:gd name="connsiteX4" fmla="*/ 0 w 10000"/>
                <a:gd name="connsiteY4" fmla="*/ 2000 h 10000"/>
                <a:gd name="connsiteX0" fmla="*/ 0 w 10166"/>
                <a:gd name="connsiteY0" fmla="*/ 2895 h 10895"/>
                <a:gd name="connsiteX1" fmla="*/ 10166 w 10166"/>
                <a:gd name="connsiteY1" fmla="*/ 0 h 10895"/>
                <a:gd name="connsiteX2" fmla="*/ 10000 w 10166"/>
                <a:gd name="connsiteY2" fmla="*/ 10122 h 10895"/>
                <a:gd name="connsiteX3" fmla="*/ 0 w 10166"/>
                <a:gd name="connsiteY3" fmla="*/ 10895 h 10895"/>
                <a:gd name="connsiteX4" fmla="*/ 0 w 10166"/>
                <a:gd name="connsiteY4" fmla="*/ 2895 h 10895"/>
                <a:gd name="connsiteX0" fmla="*/ 0 w 10205"/>
                <a:gd name="connsiteY0" fmla="*/ 2895 h 10895"/>
                <a:gd name="connsiteX1" fmla="*/ 10166 w 10205"/>
                <a:gd name="connsiteY1" fmla="*/ 0 h 10895"/>
                <a:gd name="connsiteX2" fmla="*/ 10192 w 10205"/>
                <a:gd name="connsiteY2" fmla="*/ 8703 h 10895"/>
                <a:gd name="connsiteX3" fmla="*/ 0 w 10205"/>
                <a:gd name="connsiteY3" fmla="*/ 10895 h 10895"/>
                <a:gd name="connsiteX4" fmla="*/ 0 w 10205"/>
                <a:gd name="connsiteY4" fmla="*/ 2895 h 10895"/>
                <a:gd name="connsiteX0" fmla="*/ 48 w 10205"/>
                <a:gd name="connsiteY0" fmla="*/ 8349 h 10895"/>
                <a:gd name="connsiteX1" fmla="*/ 10166 w 10205"/>
                <a:gd name="connsiteY1" fmla="*/ 0 h 10895"/>
                <a:gd name="connsiteX2" fmla="*/ 10192 w 10205"/>
                <a:gd name="connsiteY2" fmla="*/ 8703 h 10895"/>
                <a:gd name="connsiteX3" fmla="*/ 0 w 10205"/>
                <a:gd name="connsiteY3" fmla="*/ 10895 h 10895"/>
                <a:gd name="connsiteX4" fmla="*/ 48 w 10205"/>
                <a:gd name="connsiteY4" fmla="*/ 8349 h 10895"/>
                <a:gd name="connsiteX0" fmla="*/ 48 w 10183"/>
                <a:gd name="connsiteY0" fmla="*/ 8349 h 10895"/>
                <a:gd name="connsiteX1" fmla="*/ 10166 w 10183"/>
                <a:gd name="connsiteY1" fmla="*/ 0 h 10895"/>
                <a:gd name="connsiteX2" fmla="*/ 10168 w 10183"/>
                <a:gd name="connsiteY2" fmla="*/ 8747 h 10895"/>
                <a:gd name="connsiteX3" fmla="*/ 0 w 10183"/>
                <a:gd name="connsiteY3" fmla="*/ 10895 h 10895"/>
                <a:gd name="connsiteX4" fmla="*/ 48 w 10183"/>
                <a:gd name="connsiteY4" fmla="*/ 8349 h 10895"/>
                <a:gd name="connsiteX0" fmla="*/ 72 w 10207"/>
                <a:gd name="connsiteY0" fmla="*/ 8349 h 12624"/>
                <a:gd name="connsiteX1" fmla="*/ 10190 w 10207"/>
                <a:gd name="connsiteY1" fmla="*/ 0 h 12624"/>
                <a:gd name="connsiteX2" fmla="*/ 10192 w 10207"/>
                <a:gd name="connsiteY2" fmla="*/ 8747 h 12624"/>
                <a:gd name="connsiteX3" fmla="*/ 0 w 10207"/>
                <a:gd name="connsiteY3" fmla="*/ 12624 h 12624"/>
                <a:gd name="connsiteX4" fmla="*/ 72 w 10207"/>
                <a:gd name="connsiteY4" fmla="*/ 8349 h 12624"/>
                <a:gd name="connsiteX0" fmla="*/ 48 w 10207"/>
                <a:gd name="connsiteY0" fmla="*/ 10566 h 12624"/>
                <a:gd name="connsiteX1" fmla="*/ 10190 w 10207"/>
                <a:gd name="connsiteY1" fmla="*/ 0 h 12624"/>
                <a:gd name="connsiteX2" fmla="*/ 10192 w 10207"/>
                <a:gd name="connsiteY2" fmla="*/ 8747 h 12624"/>
                <a:gd name="connsiteX3" fmla="*/ 0 w 10207"/>
                <a:gd name="connsiteY3" fmla="*/ 12624 h 12624"/>
                <a:gd name="connsiteX4" fmla="*/ 48 w 10207"/>
                <a:gd name="connsiteY4" fmla="*/ 10566 h 12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7" h="12624">
                  <a:moveTo>
                    <a:pt x="48" y="10566"/>
                  </a:moveTo>
                  <a:lnTo>
                    <a:pt x="10190" y="0"/>
                  </a:lnTo>
                  <a:cubicBezTo>
                    <a:pt x="10135" y="3374"/>
                    <a:pt x="10247" y="5373"/>
                    <a:pt x="10192" y="8747"/>
                  </a:cubicBezTo>
                  <a:lnTo>
                    <a:pt x="0" y="12624"/>
                  </a:lnTo>
                  <a:cubicBezTo>
                    <a:pt x="16" y="11775"/>
                    <a:pt x="32" y="11415"/>
                    <a:pt x="48" y="10566"/>
                  </a:cubicBezTo>
                  <a:close/>
                </a:path>
              </a:pathLst>
            </a:cu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grpSp>
      <p:sp>
        <p:nvSpPr>
          <p:cNvPr id="14" name="Rectangle 5"/>
          <p:cNvSpPr>
            <a:spLocks noChangeArrowheads="1"/>
          </p:cNvSpPr>
          <p:nvPr/>
        </p:nvSpPr>
        <p:spPr bwMode="auto">
          <a:xfrm>
            <a:off x="767408" y="2041006"/>
            <a:ext cx="46085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dirty="0"/>
              <a:t>Most of the commercial airplane have a kink: in this case the geometric properties can be computed considering two trapezoids</a:t>
            </a:r>
          </a:p>
        </p:txBody>
      </p:sp>
      <p:sp>
        <p:nvSpPr>
          <p:cNvPr id="15" name="Rectangle 5"/>
          <p:cNvSpPr>
            <a:spLocks noChangeArrowheads="1"/>
          </p:cNvSpPr>
          <p:nvPr/>
        </p:nvSpPr>
        <p:spPr bwMode="auto">
          <a:xfrm>
            <a:off x="1059788" y="4745851"/>
            <a:ext cx="38040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dirty="0" err="1"/>
              <a:t>Att</a:t>
            </a:r>
            <a:r>
              <a:rPr lang="en-GB" dirty="0"/>
              <a:t>! : mac, </a:t>
            </a:r>
            <a:r>
              <a:rPr lang="en-GB" dirty="0" err="1"/>
              <a:t>mgc</a:t>
            </a:r>
            <a:r>
              <a:rPr lang="en-GB" dirty="0"/>
              <a:t>,… depend on the geometry!</a:t>
            </a:r>
          </a:p>
        </p:txBody>
      </p:sp>
      <p:pic>
        <p:nvPicPr>
          <p:cNvPr id="17" name="Picture 8" descr="warning"/>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523026" y="4430735"/>
            <a:ext cx="363860" cy="32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494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2318920" y="260649"/>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r>
              <a:rPr lang="en-GB" kern="0" dirty="0">
                <a:solidFill>
                  <a:schemeClr val="bg2"/>
                </a:solidFill>
              </a:rPr>
              <a:t>MAC in the kinked wing</a:t>
            </a:r>
            <a:endParaRPr lang="nl-NL" kern="0" dirty="0">
              <a:solidFill>
                <a:schemeClr val="bg2"/>
              </a:solidFill>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5664" y="1124744"/>
            <a:ext cx="8966200"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9469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66885" y="67892"/>
            <a:ext cx="8280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The Mean Aerodynamic Chord</a:t>
            </a:r>
          </a:p>
        </p:txBody>
      </p:sp>
      <p:sp>
        <p:nvSpPr>
          <p:cNvPr id="5" name="Rectangle 4"/>
          <p:cNvSpPr/>
          <p:nvPr/>
        </p:nvSpPr>
        <p:spPr>
          <a:xfrm>
            <a:off x="839416" y="908721"/>
            <a:ext cx="10454848" cy="1077218"/>
          </a:xfrm>
          <a:prstGeom prst="rect">
            <a:avLst/>
          </a:prstGeom>
        </p:spPr>
        <p:txBody>
          <a:bodyPr wrap="square">
            <a:spAutoFit/>
          </a:bodyPr>
          <a:lstStyle/>
          <a:p>
            <a:pPr algn="l"/>
            <a:r>
              <a:rPr lang="en-GB" dirty="0">
                <a:latin typeface="+mn-lt"/>
              </a:rPr>
              <a:t>Definition:</a:t>
            </a:r>
          </a:p>
          <a:p>
            <a:pPr algn="l"/>
            <a:r>
              <a:rPr lang="en-GB" dirty="0">
                <a:latin typeface="+mn-lt"/>
              </a:rPr>
              <a:t>The chord </a:t>
            </a:r>
            <a:r>
              <a:rPr lang="en-US" dirty="0">
                <a:latin typeface="+mn-lt"/>
              </a:rPr>
              <a:t>of an equivalent untwisted, </a:t>
            </a:r>
            <a:r>
              <a:rPr lang="en-US" dirty="0" err="1">
                <a:latin typeface="+mn-lt"/>
              </a:rPr>
              <a:t>unswept</a:t>
            </a:r>
            <a:r>
              <a:rPr lang="en-US" dirty="0">
                <a:latin typeface="+mn-lt"/>
              </a:rPr>
              <a:t> and non-tapered wing, for which </a:t>
            </a:r>
            <a:r>
              <a:rPr lang="en-US" b="1" dirty="0">
                <a:latin typeface="+mn-lt"/>
              </a:rPr>
              <a:t>the total lift and pitching moment</a:t>
            </a:r>
            <a:r>
              <a:rPr lang="en-US" dirty="0">
                <a:latin typeface="+mn-lt"/>
              </a:rPr>
              <a:t> are essentially equal to the lift and pitching moment on the actual </a:t>
            </a:r>
            <a:r>
              <a:rPr lang="en-GB" dirty="0">
                <a:latin typeface="+mn-lt"/>
              </a:rPr>
              <a:t>wing. In other terms, it is a 2D representation of the aerodynamic characteristics (both forces and moment) of the actual wing.</a:t>
            </a:r>
          </a:p>
        </p:txBody>
      </p:sp>
      <mc:AlternateContent xmlns:mc="http://schemas.openxmlformats.org/markup-compatibility/2006" xmlns:a14="http://schemas.microsoft.com/office/drawing/2010/main">
        <mc:Choice Requires="a14">
          <p:sp>
            <p:nvSpPr>
              <p:cNvPr id="6" name="Rectangle 5"/>
              <p:cNvSpPr/>
              <p:nvPr/>
            </p:nvSpPr>
            <p:spPr>
              <a:xfrm>
                <a:off x="1543669" y="2498046"/>
                <a:ext cx="4536504" cy="9376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𝑚𝑎𝑐</m:t>
                      </m:r>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2</m:t>
                          </m:r>
                        </m:num>
                        <m:den>
                          <m:r>
                            <a:rPr lang="en-GB" sz="2400" i="1">
                              <a:latin typeface="Cambria Math" panose="02040503050406030204" pitchFamily="18" charset="0"/>
                            </a:rPr>
                            <m:t>𝑆</m:t>
                          </m:r>
                        </m:den>
                      </m:f>
                      <m:nary>
                        <m:naryPr>
                          <m:ctrlPr>
                            <a:rPr lang="en-GB" sz="2400" i="1">
                              <a:latin typeface="Cambria Math" panose="02040503050406030204" pitchFamily="18" charset="0"/>
                            </a:rPr>
                          </m:ctrlPr>
                        </m:naryPr>
                        <m:sub>
                          <m:r>
                            <m:rPr>
                              <m:brk m:alnAt="23"/>
                            </m:rPr>
                            <a:rPr lang="en-GB" sz="2400" i="1">
                              <a:latin typeface="Cambria Math" panose="02040503050406030204" pitchFamily="18" charset="0"/>
                            </a:rPr>
                            <m:t>0</m:t>
                          </m:r>
                        </m:sub>
                        <m:sup>
                          <m:r>
                            <a:rPr lang="en-GB" sz="2400" i="1">
                              <a:latin typeface="Cambria Math" panose="02040503050406030204" pitchFamily="18" charset="0"/>
                            </a:rPr>
                            <m:t>𝑏</m:t>
                          </m:r>
                          <m:r>
                            <a:rPr lang="en-GB" sz="2400" i="1">
                              <a:latin typeface="Cambria Math" panose="02040503050406030204" pitchFamily="18" charset="0"/>
                            </a:rPr>
                            <m:t>/2</m:t>
                          </m:r>
                        </m:sup>
                        <m:e>
                          <m:sSup>
                            <m:sSupPr>
                              <m:ctrlPr>
                                <a:rPr lang="en-GB" sz="2400" i="1">
                                  <a:latin typeface="Cambria Math" panose="02040503050406030204" pitchFamily="18" charset="0"/>
                                </a:rPr>
                              </m:ctrlPr>
                            </m:sSupPr>
                            <m:e>
                              <m:r>
                                <a:rPr lang="en-GB" sz="2400" i="1">
                                  <a:latin typeface="Cambria Math" panose="02040503050406030204" pitchFamily="18" charset="0"/>
                                </a:rPr>
                                <m:t>𝑐</m:t>
                              </m:r>
                            </m:e>
                            <m:sup>
                              <m:r>
                                <a:rPr lang="en-GB" sz="2400" i="1">
                                  <a:latin typeface="Cambria Math" panose="02040503050406030204" pitchFamily="18" charset="0"/>
                                </a:rPr>
                                <m:t>2</m:t>
                              </m:r>
                            </m:sup>
                          </m:sSup>
                          <m:d>
                            <m:dPr>
                              <m:ctrlPr>
                                <a:rPr lang="en-GB" sz="2400" i="1">
                                  <a:latin typeface="Cambria Math" panose="02040503050406030204" pitchFamily="18" charset="0"/>
                                </a:rPr>
                              </m:ctrlPr>
                            </m:dPr>
                            <m:e>
                              <m:r>
                                <a:rPr lang="en-GB" sz="2400" i="1">
                                  <a:latin typeface="Cambria Math" panose="02040503050406030204" pitchFamily="18" charset="0"/>
                                </a:rPr>
                                <m:t>𝑦</m:t>
                              </m:r>
                            </m:e>
                          </m:d>
                          <m:r>
                            <a:rPr lang="en-GB" sz="2400" i="1">
                              <a:latin typeface="Cambria Math" panose="02040503050406030204" pitchFamily="18" charset="0"/>
                            </a:rPr>
                            <m:t>𝑑𝑦</m:t>
                          </m:r>
                        </m:e>
                      </m:nary>
                    </m:oMath>
                  </m:oMathPara>
                </a14:m>
                <a:endParaRPr lang="en-GB" sz="2000" dirty="0"/>
              </a:p>
            </p:txBody>
          </p:sp>
        </mc:Choice>
        <mc:Fallback xmlns="">
          <p:sp>
            <p:nvSpPr>
              <p:cNvPr id="6" name="Rectangle 5"/>
              <p:cNvSpPr>
                <a:spLocks noRot="1" noChangeAspect="1" noMove="1" noResize="1" noEditPoints="1" noAdjustHandles="1" noChangeArrowheads="1" noChangeShapeType="1" noTextEdit="1"/>
              </p:cNvSpPr>
              <p:nvPr/>
            </p:nvSpPr>
            <p:spPr>
              <a:xfrm>
                <a:off x="1543669" y="2498046"/>
                <a:ext cx="4536504" cy="937629"/>
              </a:xfrm>
              <a:prstGeom prst="rect">
                <a:avLst/>
              </a:prstGeom>
              <a:blipFill>
                <a:blip r:embed="rId3"/>
                <a:stretch>
                  <a:fillRect/>
                </a:stretch>
              </a:blipFill>
            </p:spPr>
            <p:txBody>
              <a:bodyPr/>
              <a:lstStyle/>
              <a:p>
                <a:r>
                  <a:rPr lang="en-US">
                    <a:noFill/>
                  </a:rPr>
                  <a:t> </a:t>
                </a:r>
              </a:p>
            </p:txBody>
          </p:sp>
        </mc:Fallback>
      </mc:AlternateContent>
      <p:pic>
        <p:nvPicPr>
          <p:cNvPr id="7" name="Picture 6"/>
          <p:cNvPicPr>
            <a:picLocks noChangeAspect="1"/>
          </p:cNvPicPr>
          <p:nvPr/>
        </p:nvPicPr>
        <p:blipFill>
          <a:blip r:embed="rId4"/>
          <a:stretch>
            <a:fillRect/>
          </a:stretch>
        </p:blipFill>
        <p:spPr>
          <a:xfrm>
            <a:off x="6600056" y="2852936"/>
            <a:ext cx="4694208" cy="2877216"/>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983432" y="3942099"/>
                <a:ext cx="5256584" cy="1569660"/>
              </a:xfrm>
              <a:prstGeom prst="rect">
                <a:avLst/>
              </a:prstGeom>
            </p:spPr>
            <p:txBody>
              <a:bodyPr wrap="square">
                <a:spAutoFit/>
              </a:bodyPr>
              <a:lstStyle/>
              <a:p>
                <a:pPr algn="l"/>
                <a:r>
                  <a:rPr lang="en-GB" dirty="0"/>
                  <a:t>Its length and its position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𝑚𝑎𝑐</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𝑚𝑎𝑐</m:t>
                        </m:r>
                      </m:sub>
                    </m:sSub>
                  </m:oMath>
                </a14:m>
                <a:r>
                  <a:rPr lang="en-GB" dirty="0"/>
                  <a:t>) are extremely important for balance, stability and controllability characteristics.</a:t>
                </a:r>
              </a:p>
              <a:p>
                <a:pPr algn="l"/>
                <a:endParaRPr lang="en-GB" dirty="0"/>
              </a:p>
              <a:p>
                <a:pPr algn="l"/>
                <a:r>
                  <a:rPr lang="en-GB" dirty="0"/>
                  <a:t>The general equation can be solved for certain wing planform…</a:t>
                </a:r>
              </a:p>
            </p:txBody>
          </p:sp>
        </mc:Choice>
        <mc:Fallback xmlns="">
          <p:sp>
            <p:nvSpPr>
              <p:cNvPr id="8" name="Rectangle 7"/>
              <p:cNvSpPr>
                <a:spLocks noRot="1" noChangeAspect="1" noMove="1" noResize="1" noEditPoints="1" noAdjustHandles="1" noChangeArrowheads="1" noChangeShapeType="1" noTextEdit="1"/>
              </p:cNvSpPr>
              <p:nvPr/>
            </p:nvSpPr>
            <p:spPr>
              <a:xfrm>
                <a:off x="983432" y="3942099"/>
                <a:ext cx="5256584" cy="1569660"/>
              </a:xfrm>
              <a:prstGeom prst="rect">
                <a:avLst/>
              </a:prstGeom>
              <a:blipFill>
                <a:blip r:embed="rId5"/>
                <a:stretch>
                  <a:fillRect l="-579" t="-1167" b="-4280"/>
                </a:stretch>
              </a:blipFill>
            </p:spPr>
            <p:txBody>
              <a:bodyPr/>
              <a:lstStyle/>
              <a:p>
                <a:r>
                  <a:rPr lang="en-US">
                    <a:noFill/>
                  </a:rPr>
                  <a:t> </a:t>
                </a:r>
              </a:p>
            </p:txBody>
          </p:sp>
        </mc:Fallback>
      </mc:AlternateContent>
    </p:spTree>
    <p:extLst>
      <p:ext uri="{BB962C8B-B14F-4D97-AF65-F5344CB8AC3E}">
        <p14:creationId xmlns:p14="http://schemas.microsoft.com/office/powerpoint/2010/main" val="40739076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6" name="Rectangle 28"/>
          <p:cNvSpPr>
            <a:spLocks noChangeArrowheads="1"/>
          </p:cNvSpPr>
          <p:nvPr/>
        </p:nvSpPr>
        <p:spPr bwMode="auto">
          <a:xfrm>
            <a:off x="2198688" y="260648"/>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Theoretical wing vs exposed wing</a:t>
            </a:r>
          </a:p>
        </p:txBody>
      </p:sp>
      <p:sp>
        <p:nvSpPr>
          <p:cNvPr id="7189" name="Rectangle 32"/>
          <p:cNvSpPr>
            <a:spLocks noChangeArrowheads="1"/>
          </p:cNvSpPr>
          <p:nvPr/>
        </p:nvSpPr>
        <p:spPr bwMode="auto">
          <a:xfrm>
            <a:off x="7042150" y="4841330"/>
            <a:ext cx="34559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marL="342900" indent="-342900" algn="l" fontAlgn="base">
              <a:buFont typeface="Arial" charset="0"/>
              <a:buChar char="•"/>
            </a:pPr>
            <a:r>
              <a:rPr lang="en-GB" sz="2000" dirty="0"/>
              <a:t>b is the </a:t>
            </a:r>
            <a:r>
              <a:rPr lang="en-GB" sz="2000" b="1" dirty="0"/>
              <a:t>wing span</a:t>
            </a:r>
            <a:r>
              <a:rPr lang="en-GB" sz="2000" dirty="0"/>
              <a:t>, i.e., the wing length measured from </a:t>
            </a:r>
            <a:r>
              <a:rPr lang="en-GB" sz="2000" b="1" dirty="0"/>
              <a:t>tip to tip</a:t>
            </a:r>
          </a:p>
          <a:p>
            <a:pPr marL="342900" indent="-342900" algn="l" fontAlgn="base">
              <a:buFont typeface="Arial" charset="0"/>
              <a:buChar char="•"/>
            </a:pPr>
            <a:r>
              <a:rPr lang="en-GB" sz="2000" b="1" dirty="0"/>
              <a:t>b &lt; 80m</a:t>
            </a:r>
          </a:p>
        </p:txBody>
      </p:sp>
      <p:pic>
        <p:nvPicPr>
          <p:cNvPr id="7191" name="Picture 34" descr="warnin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361489" y="5684293"/>
            <a:ext cx="4667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5"/>
          <a:stretch>
            <a:fillRect/>
          </a:stretch>
        </p:blipFill>
        <p:spPr>
          <a:xfrm>
            <a:off x="1559496" y="1060654"/>
            <a:ext cx="9035055" cy="4170025"/>
          </a:xfrm>
          <a:prstGeom prst="rect">
            <a:avLst/>
          </a:prstGeom>
        </p:spPr>
      </p:pic>
      <p:sp>
        <p:nvSpPr>
          <p:cNvPr id="73" name="Text Box 30"/>
          <p:cNvSpPr txBox="1">
            <a:spLocks noChangeArrowheads="1"/>
          </p:cNvSpPr>
          <p:nvPr/>
        </p:nvSpPr>
        <p:spPr bwMode="auto">
          <a:xfrm>
            <a:off x="2567608" y="5223153"/>
            <a:ext cx="2619375" cy="396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Fuselage diameter d</a:t>
            </a:r>
          </a:p>
        </p:txBody>
      </p:sp>
    </p:spTree>
    <p:custDataLst>
      <p:tags r:id="rId1"/>
    </p:custDataLst>
    <p:extLst>
      <p:ext uri="{BB962C8B-B14F-4D97-AF65-F5344CB8AC3E}">
        <p14:creationId xmlns:p14="http://schemas.microsoft.com/office/powerpoint/2010/main" val="249697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695400" y="92348"/>
            <a:ext cx="89135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200" dirty="0">
                <a:solidFill>
                  <a:schemeClr val="bg2"/>
                </a:solidFill>
                <a:latin typeface="Bookman Old Style" pitchFamily="18" charset="0"/>
              </a:rPr>
              <a:t>Effect of the finite wing on lift generation</a:t>
            </a:r>
            <a:endParaRPr lang="el-GR" sz="3200" dirty="0">
              <a:solidFill>
                <a:schemeClr val="bg2"/>
              </a:solidFill>
              <a:latin typeface="Bookman Old Style" pitchFamily="18" charset="0"/>
            </a:endParaRPr>
          </a:p>
        </p:txBody>
      </p:sp>
      <p:sp>
        <p:nvSpPr>
          <p:cNvPr id="32771" name="Text Box 3"/>
          <p:cNvSpPr txBox="1">
            <a:spLocks noChangeArrowheads="1"/>
          </p:cNvSpPr>
          <p:nvPr/>
        </p:nvSpPr>
        <p:spPr bwMode="auto">
          <a:xfrm>
            <a:off x="767408" y="936626"/>
            <a:ext cx="11161239"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defRPr/>
            </a:pPr>
            <a:r>
              <a:rPr lang="en-GB" sz="1800" dirty="0"/>
              <a:t>At the tip of the wing air from the lower side of the wing (at higher pressure) tends to escape to the upper wing surface, where the pressure is much lower.</a:t>
            </a:r>
          </a:p>
          <a:p>
            <a:pPr algn="l" eaLnBrk="1" fontAlgn="base" hangingPunct="1">
              <a:defRPr/>
            </a:pPr>
            <a:endParaRPr lang="en-GB" sz="1800" dirty="0"/>
          </a:p>
          <a:p>
            <a:pPr algn="l" eaLnBrk="1" fontAlgn="base" hangingPunct="1">
              <a:defRPr/>
            </a:pPr>
            <a:endParaRPr lang="en-GB" sz="1800" dirty="0"/>
          </a:p>
          <a:p>
            <a:pPr algn="l" eaLnBrk="1" fontAlgn="base" hangingPunct="1">
              <a:defRPr/>
            </a:pPr>
            <a:endParaRPr lang="en-GB" sz="1800" dirty="0"/>
          </a:p>
          <a:p>
            <a:pPr algn="l" eaLnBrk="1" fontAlgn="base" hangingPunct="1">
              <a:defRPr/>
            </a:pPr>
            <a:endParaRPr lang="en-GB" sz="1000" dirty="0"/>
          </a:p>
          <a:p>
            <a:pPr algn="l" eaLnBrk="1" fontAlgn="base" hangingPunct="1">
              <a:defRPr/>
            </a:pPr>
            <a:endParaRPr lang="en-GB" sz="1800" dirty="0"/>
          </a:p>
          <a:p>
            <a:pPr algn="l" eaLnBrk="1" fontAlgn="base" hangingPunct="1">
              <a:defRPr/>
            </a:pPr>
            <a:r>
              <a:rPr lang="en-GB" sz="1800" dirty="0"/>
              <a:t>This phenomena </a:t>
            </a:r>
            <a:r>
              <a:rPr lang="en-GB" sz="1800" u="sng" dirty="0"/>
              <a:t>locally</a:t>
            </a:r>
            <a:r>
              <a:rPr lang="en-GB" sz="1800" dirty="0"/>
              <a:t> decreases the lift.</a:t>
            </a:r>
          </a:p>
          <a:p>
            <a:pPr algn="l" eaLnBrk="1" fontAlgn="base" hangingPunct="1">
              <a:defRPr/>
            </a:pPr>
            <a:endParaRPr lang="en-GB" sz="1800" dirty="0"/>
          </a:p>
        </p:txBody>
      </p:sp>
      <p:pic>
        <p:nvPicPr>
          <p:cNvPr id="40964" name="Picture 4" descr="Creation of trailing vortices due to a difference in pressure above and below a lifting surface"/>
          <p:cNvPicPr>
            <a:picLocks noChangeAspect="1" noChangeArrowheads="1"/>
          </p:cNvPicPr>
          <p:nvPr/>
        </p:nvPicPr>
        <p:blipFill>
          <a:blip r:embed="rId3">
            <a:extLst>
              <a:ext uri="{28A0092B-C50C-407E-A947-70E740481C1C}">
                <a14:useLocalDpi xmlns:a14="http://schemas.microsoft.com/office/drawing/2010/main" val="0"/>
              </a:ext>
            </a:extLst>
          </a:blip>
          <a:srcRect b="76624"/>
          <a:stretch>
            <a:fillRect/>
          </a:stretch>
        </p:blipFill>
        <p:spPr bwMode="auto">
          <a:xfrm>
            <a:off x="2104151" y="1824832"/>
            <a:ext cx="3048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5"/>
          <p:cNvSpPr>
            <a:spLocks noChangeArrowheads="1"/>
          </p:cNvSpPr>
          <p:nvPr/>
        </p:nvSpPr>
        <p:spPr bwMode="auto">
          <a:xfrm>
            <a:off x="767409" y="3658342"/>
            <a:ext cx="447675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GB" sz="1800" dirty="0"/>
              <a:t>In addition, </a:t>
            </a:r>
            <a:r>
              <a:rPr lang="en-GB" sz="1800" b="1" dirty="0"/>
              <a:t>tip vortexes</a:t>
            </a:r>
            <a:r>
              <a:rPr lang="en-GB" sz="1800" dirty="0"/>
              <a:t> are generated, which propagate downstream and locally affect the airflow velocity. </a:t>
            </a:r>
          </a:p>
          <a:p>
            <a:pPr algn="l" fontAlgn="base"/>
            <a:endParaRPr lang="en-GB" sz="1800" dirty="0"/>
          </a:p>
          <a:p>
            <a:pPr algn="l" fontAlgn="base"/>
            <a:r>
              <a:rPr lang="en-GB" sz="1800" dirty="0"/>
              <a:t>A </a:t>
            </a:r>
            <a:r>
              <a:rPr lang="en-GB" sz="1800" b="1" dirty="0"/>
              <a:t>downwash</a:t>
            </a:r>
            <a:r>
              <a:rPr lang="en-GB" sz="1800" dirty="0"/>
              <a:t> velocity component </a:t>
            </a:r>
            <a:r>
              <a:rPr lang="en-GB" sz="1800" b="1" i="1" dirty="0" err="1"/>
              <a:t>w</a:t>
            </a:r>
            <a:r>
              <a:rPr lang="en-GB" sz="1800" b="1" baseline="-25000" dirty="0" err="1"/>
              <a:t>i</a:t>
            </a:r>
            <a:r>
              <a:rPr lang="en-GB" sz="1800" dirty="0"/>
              <a:t> is generated, which affects the aerodynamic flow around the wing.</a:t>
            </a:r>
          </a:p>
        </p:txBody>
      </p:sp>
      <p:grpSp>
        <p:nvGrpSpPr>
          <p:cNvPr id="2" name="Group 1"/>
          <p:cNvGrpSpPr>
            <a:grpSpLocks/>
          </p:cNvGrpSpPr>
          <p:nvPr/>
        </p:nvGrpSpPr>
        <p:grpSpPr bwMode="auto">
          <a:xfrm>
            <a:off x="7059488" y="1556792"/>
            <a:ext cx="3429000" cy="4392612"/>
            <a:chOff x="5292725" y="1700213"/>
            <a:chExt cx="3429000" cy="4392612"/>
          </a:xfrm>
        </p:grpSpPr>
        <p:pic>
          <p:nvPicPr>
            <p:cNvPr id="40967" name="Picture 6" descr="737px-Airplane_vortex_edit"/>
            <p:cNvPicPr>
              <a:picLocks noChangeAspect="1" noChangeArrowheads="1"/>
            </p:cNvPicPr>
            <p:nvPr/>
          </p:nvPicPr>
          <p:blipFill>
            <a:blip r:embed="rId4">
              <a:extLst>
                <a:ext uri="{28A0092B-C50C-407E-A947-70E740481C1C}">
                  <a14:useLocalDpi xmlns:a14="http://schemas.microsoft.com/office/drawing/2010/main" val="0"/>
                </a:ext>
              </a:extLst>
            </a:blip>
            <a:srcRect t="19943"/>
            <a:stretch>
              <a:fillRect/>
            </a:stretch>
          </p:blipFill>
          <p:spPr bwMode="auto">
            <a:xfrm>
              <a:off x="5292725" y="3860800"/>
              <a:ext cx="3429000" cy="2232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0968" name="Picture 7" descr="Creation of trailing vortices due to a difference in pressure above and below a lifting surface"/>
            <p:cNvPicPr>
              <a:picLocks noChangeAspect="1" noChangeArrowheads="1"/>
            </p:cNvPicPr>
            <p:nvPr/>
          </p:nvPicPr>
          <p:blipFill>
            <a:blip r:embed="rId3">
              <a:extLst>
                <a:ext uri="{28A0092B-C50C-407E-A947-70E740481C1C}">
                  <a14:useLocalDpi xmlns:a14="http://schemas.microsoft.com/office/drawing/2010/main" val="0"/>
                </a:ext>
              </a:extLst>
            </a:blip>
            <a:srcRect t="23376"/>
            <a:stretch>
              <a:fillRect/>
            </a:stretch>
          </p:blipFill>
          <p:spPr bwMode="auto">
            <a:xfrm>
              <a:off x="5867400" y="1700213"/>
              <a:ext cx="2514600"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9" name="Line 8"/>
            <p:cNvSpPr>
              <a:spLocks noChangeShapeType="1"/>
            </p:cNvSpPr>
            <p:nvPr/>
          </p:nvSpPr>
          <p:spPr bwMode="auto">
            <a:xfrm flipV="1">
              <a:off x="5292725" y="3284538"/>
              <a:ext cx="2303463"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40970" name="Line 9"/>
            <p:cNvSpPr>
              <a:spLocks noChangeShapeType="1"/>
            </p:cNvSpPr>
            <p:nvPr/>
          </p:nvSpPr>
          <p:spPr bwMode="auto">
            <a:xfrm flipH="1" flipV="1">
              <a:off x="8316913" y="3357563"/>
              <a:ext cx="35877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grpSp>
    </p:spTree>
    <p:extLst>
      <p:ext uri="{BB962C8B-B14F-4D97-AF65-F5344CB8AC3E}">
        <p14:creationId xmlns:p14="http://schemas.microsoft.com/office/powerpoint/2010/main" val="580472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27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907216" y="930037"/>
            <a:ext cx="874553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1800" dirty="0"/>
              <a:t>1.  The effective angle of attack is reduced by the downwash velocity component </a:t>
            </a:r>
            <a:r>
              <a:rPr lang="en-US" sz="1800" b="1" dirty="0" err="1"/>
              <a:t>w</a:t>
            </a:r>
            <a:r>
              <a:rPr lang="en-US" sz="1800" b="1" baseline="-25000" dirty="0" err="1"/>
              <a:t>i</a:t>
            </a:r>
            <a:r>
              <a:rPr lang="en-US" sz="1800" dirty="0"/>
              <a:t>, hence for the same geometric angle of attack </a:t>
            </a:r>
            <a:r>
              <a:rPr lang="en-US" sz="1800" b="1" dirty="0"/>
              <a:t>α</a:t>
            </a:r>
            <a:r>
              <a:rPr lang="en-US" sz="1800" dirty="0"/>
              <a:t>, the effective angle of attack is equal to </a:t>
            </a:r>
            <a:r>
              <a:rPr lang="en-US" sz="1800" b="1" dirty="0"/>
              <a:t>α</a:t>
            </a:r>
            <a:r>
              <a:rPr lang="en-US" sz="1800" b="1" baseline="-25000" dirty="0"/>
              <a:t>eff </a:t>
            </a:r>
            <a:r>
              <a:rPr lang="en-US" sz="1800" b="1" dirty="0"/>
              <a:t>= α – α</a:t>
            </a:r>
            <a:r>
              <a:rPr lang="en-US" sz="1800" b="1" baseline="-25000" dirty="0" err="1"/>
              <a:t>i</a:t>
            </a:r>
            <a:r>
              <a:rPr lang="en-US" sz="1800" dirty="0"/>
              <a:t>. Therefore, </a:t>
            </a:r>
            <a:r>
              <a:rPr lang="en-US" sz="1800" b="1" dirty="0"/>
              <a:t>less lift is generated</a:t>
            </a:r>
            <a:r>
              <a:rPr lang="en-US" sz="1800" dirty="0"/>
              <a:t>.</a:t>
            </a:r>
          </a:p>
        </p:txBody>
      </p:sp>
      <p:sp>
        <p:nvSpPr>
          <p:cNvPr id="41989" name="Rectangle 31"/>
          <p:cNvSpPr>
            <a:spLocks noChangeArrowheads="1"/>
          </p:cNvSpPr>
          <p:nvPr/>
        </p:nvSpPr>
        <p:spPr bwMode="auto">
          <a:xfrm>
            <a:off x="695400" y="88325"/>
            <a:ext cx="106234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GB" sz="3200" dirty="0">
                <a:solidFill>
                  <a:schemeClr val="bg2"/>
                </a:solidFill>
                <a:latin typeface="Bookman Old Style" pitchFamily="18" charset="0"/>
              </a:rPr>
              <a:t>The double effect of the wing tip vortexes generation</a:t>
            </a:r>
          </a:p>
        </p:txBody>
      </p:sp>
      <p:sp>
        <p:nvSpPr>
          <p:cNvPr id="4102" name="Text Box 32"/>
          <p:cNvSpPr txBox="1">
            <a:spLocks noChangeArrowheads="1"/>
          </p:cNvSpPr>
          <p:nvPr/>
        </p:nvSpPr>
        <p:spPr bwMode="auto">
          <a:xfrm>
            <a:off x="926423" y="2426494"/>
            <a:ext cx="5385601"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2.  The lift force (by definition the component of the aerodynamic forces resultant, orthogonal to the effective freestream) tilts backward by the induced angle </a:t>
            </a:r>
            <a:r>
              <a:rPr lang="el-GR" sz="1800" b="1" dirty="0"/>
              <a:t>α</a:t>
            </a:r>
            <a:r>
              <a:rPr lang="nl-NL" sz="1800" b="1" baseline="-25000" dirty="0"/>
              <a:t>i</a:t>
            </a:r>
            <a:r>
              <a:rPr lang="en-GB" sz="1800" dirty="0"/>
              <a:t>, hence a drag component is </a:t>
            </a:r>
            <a:r>
              <a:rPr lang="en-GB" sz="1800" b="1" dirty="0"/>
              <a:t>generated. This is </a:t>
            </a:r>
            <a:br>
              <a:rPr lang="en-GB" sz="1800" b="1" dirty="0"/>
            </a:br>
            <a:r>
              <a:rPr lang="en-GB" sz="1800" dirty="0"/>
              <a:t>the so called </a:t>
            </a:r>
            <a:r>
              <a:rPr lang="en-GB" sz="1800" b="1" dirty="0"/>
              <a:t>induced drag</a:t>
            </a:r>
            <a:r>
              <a:rPr lang="en-GB" sz="1800" dirty="0"/>
              <a:t> </a:t>
            </a:r>
            <a:br>
              <a:rPr lang="en-GB" sz="1800" dirty="0"/>
            </a:br>
            <a:r>
              <a:rPr lang="en-GB" sz="1800" dirty="0"/>
              <a:t>component </a:t>
            </a:r>
            <a:r>
              <a:rPr lang="en-GB" sz="1800" b="1" dirty="0"/>
              <a:t>D</a:t>
            </a:r>
            <a:r>
              <a:rPr lang="en-GB" sz="1800" b="1" baseline="-25000" dirty="0"/>
              <a:t>i</a:t>
            </a:r>
          </a:p>
        </p:txBody>
      </p:sp>
      <p:grpSp>
        <p:nvGrpSpPr>
          <p:cNvPr id="35" name="Group 34"/>
          <p:cNvGrpSpPr>
            <a:grpSpLocks/>
          </p:cNvGrpSpPr>
          <p:nvPr/>
        </p:nvGrpSpPr>
        <p:grpSpPr bwMode="auto">
          <a:xfrm>
            <a:off x="8814553" y="1916832"/>
            <a:ext cx="1676400" cy="3922713"/>
            <a:chOff x="6027738" y="2060575"/>
            <a:chExt cx="1676400" cy="3923506"/>
          </a:xfrm>
        </p:grpSpPr>
        <p:sp>
          <p:nvSpPr>
            <p:cNvPr id="36" name="Line 14"/>
            <p:cNvSpPr>
              <a:spLocks noChangeShapeType="1"/>
            </p:cNvSpPr>
            <p:nvPr/>
          </p:nvSpPr>
          <p:spPr bwMode="auto">
            <a:xfrm flipV="1">
              <a:off x="6818313" y="2139950"/>
              <a:ext cx="276225" cy="25463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37" name="Line 15"/>
            <p:cNvSpPr>
              <a:spLocks noChangeShapeType="1"/>
            </p:cNvSpPr>
            <p:nvPr/>
          </p:nvSpPr>
          <p:spPr bwMode="auto">
            <a:xfrm flipV="1">
              <a:off x="6818313" y="2197100"/>
              <a:ext cx="0" cy="2486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38" name="Line 16"/>
            <p:cNvSpPr>
              <a:spLocks noChangeShapeType="1"/>
            </p:cNvSpPr>
            <p:nvPr/>
          </p:nvSpPr>
          <p:spPr bwMode="auto">
            <a:xfrm flipV="1">
              <a:off x="6818313" y="2146300"/>
              <a:ext cx="307975" cy="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39" name="Arc 24"/>
            <p:cNvSpPr>
              <a:spLocks/>
            </p:cNvSpPr>
            <p:nvPr/>
          </p:nvSpPr>
          <p:spPr bwMode="auto">
            <a:xfrm rot="5609872" flipH="1" flipV="1">
              <a:off x="5164138" y="4171950"/>
              <a:ext cx="3197225" cy="369887"/>
            </a:xfrm>
            <a:custGeom>
              <a:avLst/>
              <a:gdLst>
                <a:gd name="T0" fmla="*/ 2147483647 w 21577"/>
                <a:gd name="T1" fmla="*/ 2147483647 h 2595"/>
                <a:gd name="T2" fmla="*/ 2147483647 w 21577"/>
                <a:gd name="T3" fmla="*/ 2147483647 h 2595"/>
                <a:gd name="T4" fmla="*/ 0 w 21577"/>
                <a:gd name="T5" fmla="*/ 0 h 2595"/>
                <a:gd name="T6" fmla="*/ 0 60000 65536"/>
                <a:gd name="T7" fmla="*/ 0 60000 65536"/>
                <a:gd name="T8" fmla="*/ 0 60000 65536"/>
                <a:gd name="T9" fmla="*/ 0 w 21577"/>
                <a:gd name="T10" fmla="*/ 0 h 2595"/>
                <a:gd name="T11" fmla="*/ 21577 w 21577"/>
                <a:gd name="T12" fmla="*/ 2595 h 2595"/>
              </a:gdLst>
              <a:ahLst/>
              <a:cxnLst>
                <a:cxn ang="T6">
                  <a:pos x="T0" y="T1"/>
                </a:cxn>
                <a:cxn ang="T7">
                  <a:pos x="T2" y="T3"/>
                </a:cxn>
                <a:cxn ang="T8">
                  <a:pos x="T4" y="T5"/>
                </a:cxn>
              </a:cxnLst>
              <a:rect l="T9" t="T10" r="T11" b="T12"/>
              <a:pathLst>
                <a:path w="21577" h="2595" fill="none" extrusionOk="0">
                  <a:moveTo>
                    <a:pt x="21577" y="987"/>
                  </a:moveTo>
                  <a:cubicBezTo>
                    <a:pt x="21552" y="1524"/>
                    <a:pt x="21508" y="2060"/>
                    <a:pt x="21443" y="2594"/>
                  </a:cubicBezTo>
                </a:path>
                <a:path w="21577" h="2595" stroke="0" extrusionOk="0">
                  <a:moveTo>
                    <a:pt x="21577" y="987"/>
                  </a:moveTo>
                  <a:cubicBezTo>
                    <a:pt x="21552" y="1524"/>
                    <a:pt x="21508" y="2060"/>
                    <a:pt x="21443" y="2594"/>
                  </a:cubicBezTo>
                  <a:lnTo>
                    <a:pt x="0" y="0"/>
                  </a:lnTo>
                  <a:lnTo>
                    <a:pt x="21577" y="987"/>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40" name="Arc 25"/>
            <p:cNvSpPr>
              <a:spLocks/>
            </p:cNvSpPr>
            <p:nvPr/>
          </p:nvSpPr>
          <p:spPr bwMode="auto">
            <a:xfrm rot="5609872" flipH="1" flipV="1">
              <a:off x="4884738" y="4078288"/>
              <a:ext cx="3200400" cy="503237"/>
            </a:xfrm>
            <a:custGeom>
              <a:avLst/>
              <a:gdLst>
                <a:gd name="T0" fmla="*/ 2147483647 w 21600"/>
                <a:gd name="T1" fmla="*/ 0 h 3529"/>
                <a:gd name="T2" fmla="*/ 2147483647 w 21600"/>
                <a:gd name="T3" fmla="*/ 2147483647 h 3529"/>
                <a:gd name="T4" fmla="*/ 0 w 21600"/>
                <a:gd name="T5" fmla="*/ 2147483647 h 3529"/>
                <a:gd name="T6" fmla="*/ 0 60000 65536"/>
                <a:gd name="T7" fmla="*/ 0 60000 65536"/>
                <a:gd name="T8" fmla="*/ 0 60000 65536"/>
                <a:gd name="T9" fmla="*/ 0 w 21600"/>
                <a:gd name="T10" fmla="*/ 0 h 3529"/>
                <a:gd name="T11" fmla="*/ 21600 w 21600"/>
                <a:gd name="T12" fmla="*/ 3529 h 3529"/>
              </a:gdLst>
              <a:ahLst/>
              <a:cxnLst>
                <a:cxn ang="T6">
                  <a:pos x="T0" y="T1"/>
                </a:cxn>
                <a:cxn ang="T7">
                  <a:pos x="T2" y="T3"/>
                </a:cxn>
                <a:cxn ang="T8">
                  <a:pos x="T4" y="T5"/>
                </a:cxn>
              </a:cxnLst>
              <a:rect l="T9" t="T10" r="T11" b="T12"/>
              <a:pathLst>
                <a:path w="21600" h="3529" fill="none" extrusionOk="0">
                  <a:moveTo>
                    <a:pt x="21472" y="0"/>
                  </a:moveTo>
                  <a:cubicBezTo>
                    <a:pt x="21557" y="777"/>
                    <a:pt x="21600" y="1559"/>
                    <a:pt x="21600" y="2342"/>
                  </a:cubicBezTo>
                  <a:cubicBezTo>
                    <a:pt x="21600" y="2737"/>
                    <a:pt x="21589" y="3133"/>
                    <a:pt x="21567" y="3529"/>
                  </a:cubicBezTo>
                </a:path>
                <a:path w="21600" h="3529" stroke="0" extrusionOk="0">
                  <a:moveTo>
                    <a:pt x="21472" y="0"/>
                  </a:moveTo>
                  <a:cubicBezTo>
                    <a:pt x="21557" y="777"/>
                    <a:pt x="21600" y="1559"/>
                    <a:pt x="21600" y="2342"/>
                  </a:cubicBezTo>
                  <a:cubicBezTo>
                    <a:pt x="21600" y="2737"/>
                    <a:pt x="21589" y="3133"/>
                    <a:pt x="21567" y="3529"/>
                  </a:cubicBezTo>
                  <a:lnTo>
                    <a:pt x="0" y="2342"/>
                  </a:lnTo>
                  <a:lnTo>
                    <a:pt x="21472" y="0"/>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41" name="Arc 26"/>
            <p:cNvSpPr>
              <a:spLocks/>
            </p:cNvSpPr>
            <p:nvPr/>
          </p:nvSpPr>
          <p:spPr bwMode="auto">
            <a:xfrm rot="5609872" flipH="1" flipV="1">
              <a:off x="5424488" y="3943350"/>
              <a:ext cx="3178175" cy="903287"/>
            </a:xfrm>
            <a:custGeom>
              <a:avLst/>
              <a:gdLst>
                <a:gd name="T0" fmla="*/ 2147483647 w 21452"/>
                <a:gd name="T1" fmla="*/ 2147483647 h 6337"/>
                <a:gd name="T2" fmla="*/ 2147483647 w 21452"/>
                <a:gd name="T3" fmla="*/ 2147483647 h 6337"/>
                <a:gd name="T4" fmla="*/ 0 w 21452"/>
                <a:gd name="T5" fmla="*/ 0 h 6337"/>
                <a:gd name="T6" fmla="*/ 0 60000 65536"/>
                <a:gd name="T7" fmla="*/ 0 60000 65536"/>
                <a:gd name="T8" fmla="*/ 0 60000 65536"/>
                <a:gd name="T9" fmla="*/ 0 w 21452"/>
                <a:gd name="T10" fmla="*/ 0 h 6337"/>
                <a:gd name="T11" fmla="*/ 21452 w 21452"/>
                <a:gd name="T12" fmla="*/ 6337 h 6337"/>
              </a:gdLst>
              <a:ahLst/>
              <a:cxnLst>
                <a:cxn ang="T6">
                  <a:pos x="T0" y="T1"/>
                </a:cxn>
                <a:cxn ang="T7">
                  <a:pos x="T2" y="T3"/>
                </a:cxn>
                <a:cxn ang="T8">
                  <a:pos x="T4" y="T5"/>
                </a:cxn>
              </a:cxnLst>
              <a:rect l="T9" t="T10" r="T11" b="T12"/>
              <a:pathLst>
                <a:path w="21452" h="6337" fill="none" extrusionOk="0">
                  <a:moveTo>
                    <a:pt x="21452" y="2521"/>
                  </a:moveTo>
                  <a:cubicBezTo>
                    <a:pt x="21300" y="3814"/>
                    <a:pt x="21031" y="5091"/>
                    <a:pt x="20649" y="6337"/>
                  </a:cubicBezTo>
                </a:path>
                <a:path w="21452" h="6337" stroke="0" extrusionOk="0">
                  <a:moveTo>
                    <a:pt x="21452" y="2521"/>
                  </a:moveTo>
                  <a:cubicBezTo>
                    <a:pt x="21300" y="3814"/>
                    <a:pt x="21031" y="5091"/>
                    <a:pt x="20649" y="6337"/>
                  </a:cubicBezTo>
                  <a:lnTo>
                    <a:pt x="0" y="0"/>
                  </a:lnTo>
                  <a:lnTo>
                    <a:pt x="21452" y="2521"/>
                  </a:lnTo>
                  <a:close/>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42" name="Text Box 27"/>
            <p:cNvSpPr txBox="1">
              <a:spLocks noChangeArrowheads="1"/>
            </p:cNvSpPr>
            <p:nvPr/>
          </p:nvSpPr>
          <p:spPr bwMode="auto">
            <a:xfrm>
              <a:off x="6027738" y="2492375"/>
              <a:ext cx="363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l-GR" sz="2000"/>
                <a:t>α</a:t>
              </a:r>
              <a:r>
                <a:rPr lang="en-US" sz="2000" baseline="-25000"/>
                <a:t>i</a:t>
              </a:r>
              <a:endParaRPr lang="el-GR" sz="2000" baseline="-25000"/>
            </a:p>
          </p:txBody>
        </p:sp>
        <p:sp>
          <p:nvSpPr>
            <p:cNvPr id="43" name="Text Box 28"/>
            <p:cNvSpPr txBox="1">
              <a:spLocks noChangeArrowheads="1"/>
            </p:cNvSpPr>
            <p:nvPr/>
          </p:nvSpPr>
          <p:spPr bwMode="auto">
            <a:xfrm>
              <a:off x="6356350" y="206057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2000">
                  <a:solidFill>
                    <a:srgbClr val="FF3300"/>
                  </a:solidFill>
                </a:rPr>
                <a:t>D</a:t>
              </a:r>
              <a:r>
                <a:rPr lang="en-US" sz="2000" baseline="-25000">
                  <a:solidFill>
                    <a:srgbClr val="FF3300"/>
                  </a:solidFill>
                </a:rPr>
                <a:t>i</a:t>
              </a:r>
            </a:p>
          </p:txBody>
        </p:sp>
        <p:sp>
          <p:nvSpPr>
            <p:cNvPr id="44" name="Text Box 29"/>
            <p:cNvSpPr txBox="1">
              <a:spLocks noChangeArrowheads="1"/>
            </p:cNvSpPr>
            <p:nvPr/>
          </p:nvSpPr>
          <p:spPr bwMode="auto">
            <a:xfrm>
              <a:off x="7094538" y="221297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2000"/>
                <a:t>L</a:t>
              </a:r>
              <a:endParaRPr lang="en-US" sz="2000" baseline="-25000"/>
            </a:p>
          </p:txBody>
        </p:sp>
        <p:sp>
          <p:nvSpPr>
            <p:cNvPr id="45" name="Line 12"/>
            <p:cNvSpPr>
              <a:spLocks noChangeShapeType="1"/>
            </p:cNvSpPr>
            <p:nvPr/>
          </p:nvSpPr>
          <p:spPr bwMode="auto">
            <a:xfrm flipV="1">
              <a:off x="6723063" y="4359275"/>
              <a:ext cx="142875" cy="1155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46" name="Rectangle 13"/>
            <p:cNvSpPr>
              <a:spLocks noChangeArrowheads="1"/>
            </p:cNvSpPr>
            <p:nvPr/>
          </p:nvSpPr>
          <p:spPr bwMode="auto">
            <a:xfrm rot="378300">
              <a:off x="6732588" y="5305425"/>
              <a:ext cx="228600" cy="2286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grpSp>
      <p:grpSp>
        <p:nvGrpSpPr>
          <p:cNvPr id="47" name="Group 46"/>
          <p:cNvGrpSpPr>
            <a:grpSpLocks/>
          </p:cNvGrpSpPr>
          <p:nvPr/>
        </p:nvGrpSpPr>
        <p:grpSpPr bwMode="auto">
          <a:xfrm>
            <a:off x="6223753" y="3834532"/>
            <a:ext cx="5815012" cy="2187575"/>
            <a:chOff x="3436938" y="3978275"/>
            <a:chExt cx="5815012" cy="2187575"/>
          </a:xfrm>
        </p:grpSpPr>
        <p:sp>
          <p:nvSpPr>
            <p:cNvPr id="48" name="Freeform 3"/>
            <p:cNvSpPr>
              <a:spLocks/>
            </p:cNvSpPr>
            <p:nvPr/>
          </p:nvSpPr>
          <p:spPr bwMode="auto">
            <a:xfrm rot="1046667">
              <a:off x="5951538" y="4740275"/>
              <a:ext cx="3300412" cy="569913"/>
            </a:xfrm>
            <a:custGeom>
              <a:avLst/>
              <a:gdLst>
                <a:gd name="T0" fmla="*/ 2147483647 w 2079"/>
                <a:gd name="T1" fmla="*/ 2147483647 h 420"/>
                <a:gd name="T2" fmla="*/ 2147483647 w 2079"/>
                <a:gd name="T3" fmla="*/ 2147483647 h 420"/>
                <a:gd name="T4" fmla="*/ 2147483647 w 2079"/>
                <a:gd name="T5" fmla="*/ 2147483647 h 420"/>
                <a:gd name="T6" fmla="*/ 2147483647 w 2079"/>
                <a:gd name="T7" fmla="*/ 2147483647 h 420"/>
                <a:gd name="T8" fmla="*/ 2147483647 w 2079"/>
                <a:gd name="T9" fmla="*/ 2147483647 h 420"/>
                <a:gd name="T10" fmla="*/ 2147483647 w 2079"/>
                <a:gd name="T11" fmla="*/ 2147483647 h 420"/>
                <a:gd name="T12" fmla="*/ 2147483647 w 2079"/>
                <a:gd name="T13" fmla="*/ 2147483647 h 420"/>
                <a:gd name="T14" fmla="*/ 2147483647 w 2079"/>
                <a:gd name="T15" fmla="*/ 2147483647 h 420"/>
                <a:gd name="T16" fmla="*/ 2147483647 w 2079"/>
                <a:gd name="T17" fmla="*/ 2147483647 h 420"/>
                <a:gd name="T18" fmla="*/ 2147483647 w 2079"/>
                <a:gd name="T19" fmla="*/ 2147483647 h 420"/>
                <a:gd name="T20" fmla="*/ 2147483647 w 2079"/>
                <a:gd name="T21" fmla="*/ 2147483647 h 420"/>
                <a:gd name="T22" fmla="*/ 2147483647 w 2079"/>
                <a:gd name="T23" fmla="*/ 2147483647 h 420"/>
                <a:gd name="T24" fmla="*/ 2147483647 w 2079"/>
                <a:gd name="T25" fmla="*/ 2147483647 h 4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79"/>
                <a:gd name="T40" fmla="*/ 0 h 420"/>
                <a:gd name="T41" fmla="*/ 2079 w 2079"/>
                <a:gd name="T42" fmla="*/ 420 h 4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79" h="420">
                  <a:moveTo>
                    <a:pt x="2079" y="420"/>
                  </a:moveTo>
                  <a:lnTo>
                    <a:pt x="1362" y="220"/>
                  </a:lnTo>
                  <a:lnTo>
                    <a:pt x="819" y="83"/>
                  </a:lnTo>
                  <a:cubicBezTo>
                    <a:pt x="657" y="49"/>
                    <a:pt x="495" y="31"/>
                    <a:pt x="392" y="18"/>
                  </a:cubicBezTo>
                  <a:cubicBezTo>
                    <a:pt x="289" y="4"/>
                    <a:pt x="257" y="1"/>
                    <a:pt x="200" y="1"/>
                  </a:cubicBezTo>
                  <a:cubicBezTo>
                    <a:pt x="144" y="0"/>
                    <a:pt x="85" y="1"/>
                    <a:pt x="52" y="15"/>
                  </a:cubicBezTo>
                  <a:cubicBezTo>
                    <a:pt x="19" y="29"/>
                    <a:pt x="6" y="62"/>
                    <a:pt x="3" y="85"/>
                  </a:cubicBezTo>
                  <a:cubicBezTo>
                    <a:pt x="0" y="108"/>
                    <a:pt x="2" y="126"/>
                    <a:pt x="32" y="151"/>
                  </a:cubicBezTo>
                  <a:cubicBezTo>
                    <a:pt x="62" y="176"/>
                    <a:pt x="98" y="205"/>
                    <a:pt x="183" y="235"/>
                  </a:cubicBezTo>
                  <a:cubicBezTo>
                    <a:pt x="267" y="265"/>
                    <a:pt x="414" y="305"/>
                    <a:pt x="538" y="331"/>
                  </a:cubicBezTo>
                  <a:cubicBezTo>
                    <a:pt x="663" y="357"/>
                    <a:pt x="788" y="377"/>
                    <a:pt x="930" y="391"/>
                  </a:cubicBezTo>
                  <a:cubicBezTo>
                    <a:pt x="1071" y="404"/>
                    <a:pt x="1196" y="407"/>
                    <a:pt x="1388" y="412"/>
                  </a:cubicBezTo>
                  <a:lnTo>
                    <a:pt x="2079" y="420"/>
                  </a:lnTo>
                </a:path>
              </a:pathLst>
            </a:custGeom>
            <a:noFill/>
            <a:ln w="285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
          <p:nvSpPr>
            <p:cNvPr id="49" name="Line 4"/>
            <p:cNvSpPr>
              <a:spLocks noChangeShapeType="1"/>
            </p:cNvSpPr>
            <p:nvPr/>
          </p:nvSpPr>
          <p:spPr bwMode="auto">
            <a:xfrm flipH="1">
              <a:off x="5141913" y="5788025"/>
              <a:ext cx="396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50" name="Line 5"/>
            <p:cNvSpPr>
              <a:spLocks noChangeShapeType="1"/>
            </p:cNvSpPr>
            <p:nvPr/>
          </p:nvSpPr>
          <p:spPr bwMode="auto">
            <a:xfrm flipH="1" flipV="1">
              <a:off x="5341938" y="3978275"/>
              <a:ext cx="3733800"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51" name="Line 6"/>
            <p:cNvSpPr>
              <a:spLocks noChangeShapeType="1"/>
            </p:cNvSpPr>
            <p:nvPr/>
          </p:nvSpPr>
          <p:spPr bwMode="auto">
            <a:xfrm flipH="1" flipV="1">
              <a:off x="5189538" y="5349875"/>
              <a:ext cx="3895725" cy="428625"/>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52" name="Line 7"/>
            <p:cNvSpPr>
              <a:spLocks noChangeShapeType="1"/>
            </p:cNvSpPr>
            <p:nvPr/>
          </p:nvSpPr>
          <p:spPr bwMode="auto">
            <a:xfrm>
              <a:off x="3894138" y="5807075"/>
              <a:ext cx="9144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53" name="Arc 8"/>
            <p:cNvSpPr>
              <a:spLocks/>
            </p:cNvSpPr>
            <p:nvPr/>
          </p:nvSpPr>
          <p:spPr bwMode="auto">
            <a:xfrm flipH="1" flipV="1">
              <a:off x="4960938" y="4022725"/>
              <a:ext cx="3201987" cy="1760538"/>
            </a:xfrm>
            <a:custGeom>
              <a:avLst/>
              <a:gdLst>
                <a:gd name="T0" fmla="*/ 2147483647 w 21600"/>
                <a:gd name="T1" fmla="*/ 0 h 12351"/>
                <a:gd name="T2" fmla="*/ 2147483647 w 21600"/>
                <a:gd name="T3" fmla="*/ 2147483647 h 12351"/>
                <a:gd name="T4" fmla="*/ 0 w 21600"/>
                <a:gd name="T5" fmla="*/ 2147483647 h 12351"/>
                <a:gd name="T6" fmla="*/ 0 60000 65536"/>
                <a:gd name="T7" fmla="*/ 0 60000 65536"/>
                <a:gd name="T8" fmla="*/ 0 60000 65536"/>
                <a:gd name="T9" fmla="*/ 0 w 21600"/>
                <a:gd name="T10" fmla="*/ 0 h 12351"/>
                <a:gd name="T11" fmla="*/ 21600 w 21600"/>
                <a:gd name="T12" fmla="*/ 12351 h 12351"/>
              </a:gdLst>
              <a:ahLst/>
              <a:cxnLst>
                <a:cxn ang="T6">
                  <a:pos x="T0" y="T1"/>
                </a:cxn>
                <a:cxn ang="T7">
                  <a:pos x="T2" y="T3"/>
                </a:cxn>
                <a:cxn ang="T8">
                  <a:pos x="T4" y="T5"/>
                </a:cxn>
              </a:cxnLst>
              <a:rect l="T9" t="T10" r="T11" b="T12"/>
              <a:pathLst>
                <a:path w="21600" h="12351" fill="none" extrusionOk="0">
                  <a:moveTo>
                    <a:pt x="21544" y="-1"/>
                  </a:moveTo>
                  <a:cubicBezTo>
                    <a:pt x="21581" y="516"/>
                    <a:pt x="21600" y="1034"/>
                    <a:pt x="21600" y="1552"/>
                  </a:cubicBezTo>
                  <a:cubicBezTo>
                    <a:pt x="21600" y="5343"/>
                    <a:pt x="20602" y="9067"/>
                    <a:pt x="18706" y="12350"/>
                  </a:cubicBezTo>
                </a:path>
                <a:path w="21600" h="12351" stroke="0" extrusionOk="0">
                  <a:moveTo>
                    <a:pt x="21544" y="-1"/>
                  </a:moveTo>
                  <a:cubicBezTo>
                    <a:pt x="21581" y="516"/>
                    <a:pt x="21600" y="1034"/>
                    <a:pt x="21600" y="1552"/>
                  </a:cubicBezTo>
                  <a:cubicBezTo>
                    <a:pt x="21600" y="5343"/>
                    <a:pt x="20602" y="9067"/>
                    <a:pt x="18706" y="12350"/>
                  </a:cubicBezTo>
                  <a:lnTo>
                    <a:pt x="0" y="1552"/>
                  </a:lnTo>
                  <a:lnTo>
                    <a:pt x="21544" y="-1"/>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54" name="Line 9"/>
            <p:cNvSpPr>
              <a:spLocks noChangeShapeType="1"/>
            </p:cNvSpPr>
            <p:nvPr/>
          </p:nvSpPr>
          <p:spPr bwMode="auto">
            <a:xfrm>
              <a:off x="3970338" y="5197475"/>
              <a:ext cx="914400" cy="152400"/>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55" name="Arc 10"/>
            <p:cNvSpPr>
              <a:spLocks/>
            </p:cNvSpPr>
            <p:nvPr/>
          </p:nvSpPr>
          <p:spPr bwMode="auto">
            <a:xfrm flipH="1" flipV="1">
              <a:off x="5341938" y="4206875"/>
              <a:ext cx="3171825" cy="1539875"/>
            </a:xfrm>
            <a:custGeom>
              <a:avLst/>
              <a:gdLst>
                <a:gd name="T0" fmla="*/ 2147483647 w 21398"/>
                <a:gd name="T1" fmla="*/ 2147483647 h 10799"/>
                <a:gd name="T2" fmla="*/ 2147483647 w 21398"/>
                <a:gd name="T3" fmla="*/ 2147483647 h 10799"/>
                <a:gd name="T4" fmla="*/ 0 w 21398"/>
                <a:gd name="T5" fmla="*/ 0 h 10799"/>
                <a:gd name="T6" fmla="*/ 0 60000 65536"/>
                <a:gd name="T7" fmla="*/ 0 60000 65536"/>
                <a:gd name="T8" fmla="*/ 0 60000 65536"/>
                <a:gd name="T9" fmla="*/ 0 w 21398"/>
                <a:gd name="T10" fmla="*/ 0 h 10799"/>
                <a:gd name="T11" fmla="*/ 21398 w 21398"/>
                <a:gd name="T12" fmla="*/ 10799 h 10799"/>
              </a:gdLst>
              <a:ahLst/>
              <a:cxnLst>
                <a:cxn ang="T6">
                  <a:pos x="T0" y="T1"/>
                </a:cxn>
                <a:cxn ang="T7">
                  <a:pos x="T2" y="T3"/>
                </a:cxn>
                <a:cxn ang="T8">
                  <a:pos x="T4" y="T5"/>
                </a:cxn>
              </a:cxnLst>
              <a:rect l="T9" t="T10" r="T11" b="T12"/>
              <a:pathLst>
                <a:path w="21398" h="10799" fill="none" extrusionOk="0">
                  <a:moveTo>
                    <a:pt x="21397" y="2947"/>
                  </a:moveTo>
                  <a:cubicBezTo>
                    <a:pt x="21016" y="5714"/>
                    <a:pt x="20102" y="8380"/>
                    <a:pt x="18706" y="10798"/>
                  </a:cubicBezTo>
                </a:path>
                <a:path w="21398" h="10799" stroke="0" extrusionOk="0">
                  <a:moveTo>
                    <a:pt x="21397" y="2947"/>
                  </a:moveTo>
                  <a:cubicBezTo>
                    <a:pt x="21016" y="5714"/>
                    <a:pt x="20102" y="8380"/>
                    <a:pt x="18706" y="10798"/>
                  </a:cubicBezTo>
                  <a:lnTo>
                    <a:pt x="0" y="0"/>
                  </a:lnTo>
                  <a:lnTo>
                    <a:pt x="21397" y="2947"/>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56" name="Arc 11"/>
            <p:cNvSpPr>
              <a:spLocks/>
            </p:cNvSpPr>
            <p:nvPr/>
          </p:nvSpPr>
          <p:spPr bwMode="auto">
            <a:xfrm flipH="1" flipV="1">
              <a:off x="5294313" y="5378450"/>
              <a:ext cx="3198812" cy="517525"/>
            </a:xfrm>
            <a:custGeom>
              <a:avLst/>
              <a:gdLst>
                <a:gd name="T0" fmla="*/ 2147483647 w 21584"/>
                <a:gd name="T1" fmla="*/ 2147483647 h 3631"/>
                <a:gd name="T2" fmla="*/ 2147483647 w 21584"/>
                <a:gd name="T3" fmla="*/ 2147483647 h 3631"/>
                <a:gd name="T4" fmla="*/ 0 w 21584"/>
                <a:gd name="T5" fmla="*/ 0 h 3631"/>
                <a:gd name="T6" fmla="*/ 0 60000 65536"/>
                <a:gd name="T7" fmla="*/ 0 60000 65536"/>
                <a:gd name="T8" fmla="*/ 0 60000 65536"/>
                <a:gd name="T9" fmla="*/ 0 w 21584"/>
                <a:gd name="T10" fmla="*/ 0 h 3631"/>
                <a:gd name="T11" fmla="*/ 21584 w 21584"/>
                <a:gd name="T12" fmla="*/ 3631 h 3631"/>
              </a:gdLst>
              <a:ahLst/>
              <a:cxnLst>
                <a:cxn ang="T6">
                  <a:pos x="T0" y="T1"/>
                </a:cxn>
                <a:cxn ang="T7">
                  <a:pos x="T2" y="T3"/>
                </a:cxn>
                <a:cxn ang="T8">
                  <a:pos x="T4" y="T5"/>
                </a:cxn>
              </a:cxnLst>
              <a:rect l="T9" t="T10" r="T11" b="T12"/>
              <a:pathLst>
                <a:path w="21584" h="3631" fill="none" extrusionOk="0">
                  <a:moveTo>
                    <a:pt x="21584" y="824"/>
                  </a:moveTo>
                  <a:cubicBezTo>
                    <a:pt x="21548" y="1765"/>
                    <a:pt x="21450" y="2702"/>
                    <a:pt x="21292" y="3630"/>
                  </a:cubicBezTo>
                </a:path>
                <a:path w="21584" h="3631" stroke="0" extrusionOk="0">
                  <a:moveTo>
                    <a:pt x="21584" y="824"/>
                  </a:moveTo>
                  <a:cubicBezTo>
                    <a:pt x="21548" y="1765"/>
                    <a:pt x="21450" y="2702"/>
                    <a:pt x="21292" y="3630"/>
                  </a:cubicBezTo>
                  <a:lnTo>
                    <a:pt x="0" y="0"/>
                  </a:lnTo>
                  <a:lnTo>
                    <a:pt x="21584" y="824"/>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57" name="Line 17"/>
            <p:cNvSpPr>
              <a:spLocks noChangeShapeType="1"/>
            </p:cNvSpPr>
            <p:nvPr/>
          </p:nvSpPr>
          <p:spPr bwMode="auto">
            <a:xfrm>
              <a:off x="3922713" y="5175250"/>
              <a:ext cx="0" cy="2286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58" name="Text Box 18"/>
            <p:cNvSpPr txBox="1">
              <a:spLocks noChangeArrowheads="1"/>
            </p:cNvSpPr>
            <p:nvPr/>
          </p:nvSpPr>
          <p:spPr bwMode="auto">
            <a:xfrm>
              <a:off x="4046538" y="5768975"/>
              <a:ext cx="568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2000"/>
                <a:t>V</a:t>
              </a:r>
              <a:r>
                <a:rPr lang="en-US" sz="2000" baseline="-25000"/>
                <a:t>∞</a:t>
              </a:r>
            </a:p>
          </p:txBody>
        </p:sp>
        <p:sp>
          <p:nvSpPr>
            <p:cNvPr id="59" name="Text Box 19"/>
            <p:cNvSpPr txBox="1">
              <a:spLocks noChangeArrowheads="1"/>
            </p:cNvSpPr>
            <p:nvPr/>
          </p:nvSpPr>
          <p:spPr bwMode="auto">
            <a:xfrm>
              <a:off x="3436938" y="503237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2000">
                  <a:solidFill>
                    <a:schemeClr val="accent2"/>
                  </a:solidFill>
                </a:rPr>
                <a:t>W</a:t>
              </a:r>
              <a:r>
                <a:rPr lang="en-US" sz="2000" baseline="-25000">
                  <a:solidFill>
                    <a:schemeClr val="accent2"/>
                  </a:solidFill>
                </a:rPr>
                <a:t>i</a:t>
              </a:r>
            </a:p>
          </p:txBody>
        </p:sp>
        <p:sp>
          <p:nvSpPr>
            <p:cNvPr id="60" name="Text Box 20"/>
            <p:cNvSpPr txBox="1">
              <a:spLocks noChangeArrowheads="1"/>
            </p:cNvSpPr>
            <p:nvPr/>
          </p:nvSpPr>
          <p:spPr bwMode="auto">
            <a:xfrm>
              <a:off x="4046538" y="4727575"/>
              <a:ext cx="7620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US" sz="2000">
                  <a:solidFill>
                    <a:srgbClr val="FF3300"/>
                  </a:solidFill>
                </a:rPr>
                <a:t>V</a:t>
              </a:r>
              <a:r>
                <a:rPr lang="en-US" sz="2000" baseline="-25000">
                  <a:solidFill>
                    <a:srgbClr val="FF3300"/>
                  </a:solidFill>
                </a:rPr>
                <a:t>eff</a:t>
              </a:r>
            </a:p>
            <a:p>
              <a:pPr algn="l" eaLnBrk="1" fontAlgn="base" hangingPunct="1"/>
              <a:endParaRPr lang="en-US" sz="2000" baseline="-25000">
                <a:solidFill>
                  <a:srgbClr val="FF3300"/>
                </a:solidFill>
              </a:endParaRPr>
            </a:p>
          </p:txBody>
        </p:sp>
        <p:sp>
          <p:nvSpPr>
            <p:cNvPr id="61" name="Text Box 21"/>
            <p:cNvSpPr txBox="1">
              <a:spLocks noChangeArrowheads="1"/>
            </p:cNvSpPr>
            <p:nvPr/>
          </p:nvSpPr>
          <p:spPr bwMode="auto">
            <a:xfrm>
              <a:off x="4792663" y="4200525"/>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l-GR" sz="2000"/>
                <a:t>α</a:t>
              </a:r>
            </a:p>
          </p:txBody>
        </p:sp>
        <p:sp>
          <p:nvSpPr>
            <p:cNvPr id="62" name="Text Box 22"/>
            <p:cNvSpPr txBox="1">
              <a:spLocks noChangeArrowheads="1"/>
            </p:cNvSpPr>
            <p:nvPr/>
          </p:nvSpPr>
          <p:spPr bwMode="auto">
            <a:xfrm>
              <a:off x="5341938" y="5387975"/>
              <a:ext cx="363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l-GR" sz="2000"/>
                <a:t>α</a:t>
              </a:r>
              <a:r>
                <a:rPr lang="en-US" sz="2000" baseline="-25000"/>
                <a:t>i</a:t>
              </a:r>
              <a:endParaRPr lang="el-GR" sz="2000" baseline="-25000"/>
            </a:p>
          </p:txBody>
        </p:sp>
        <p:sp>
          <p:nvSpPr>
            <p:cNvPr id="63" name="Text Box 23"/>
            <p:cNvSpPr txBox="1">
              <a:spLocks noChangeArrowheads="1"/>
            </p:cNvSpPr>
            <p:nvPr/>
          </p:nvSpPr>
          <p:spPr bwMode="auto">
            <a:xfrm>
              <a:off x="5494338" y="4625975"/>
              <a:ext cx="517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l-GR" sz="2000"/>
                <a:t>α</a:t>
              </a:r>
              <a:r>
                <a:rPr lang="en-US" sz="2000" baseline="-25000"/>
                <a:t>eff</a:t>
              </a:r>
              <a:endParaRPr lang="el-GR" sz="2000" baseline="-25000"/>
            </a:p>
          </p:txBody>
        </p:sp>
        <p:sp>
          <p:nvSpPr>
            <p:cNvPr id="64" name="Line 30"/>
            <p:cNvSpPr>
              <a:spLocks noChangeShapeType="1"/>
            </p:cNvSpPr>
            <p:nvPr/>
          </p:nvSpPr>
          <p:spPr bwMode="auto">
            <a:xfrm>
              <a:off x="3684588" y="5365750"/>
              <a:ext cx="1219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grpSp>
    </p:spTree>
    <p:extLst>
      <p:ext uri="{BB962C8B-B14F-4D97-AF65-F5344CB8AC3E}">
        <p14:creationId xmlns:p14="http://schemas.microsoft.com/office/powerpoint/2010/main" val="2690401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10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descr="Spitfi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216" y="3789040"/>
            <a:ext cx="3353162" cy="2232248"/>
          </a:xfrm>
          <a:prstGeom prst="rect">
            <a:avLst/>
          </a:prstGeom>
          <a:noFill/>
          <a:extLst>
            <a:ext uri="{909E8E84-426E-40DD-AFC4-6F175D3DCCD1}">
              <a14:hiddenFill xmlns:a14="http://schemas.microsoft.com/office/drawing/2010/main">
                <a:solidFill>
                  <a:srgbClr val="FFFFFF"/>
                </a:solidFill>
              </a14:hiddenFill>
            </a:ext>
          </a:extLst>
        </p:spPr>
      </p:pic>
      <p:sp>
        <p:nvSpPr>
          <p:cNvPr id="41989" name="Rectangle 31"/>
          <p:cNvSpPr>
            <a:spLocks noChangeArrowheads="1"/>
          </p:cNvSpPr>
          <p:nvPr/>
        </p:nvSpPr>
        <p:spPr bwMode="auto">
          <a:xfrm>
            <a:off x="767409" y="163513"/>
            <a:ext cx="92170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sz="3200" dirty="0">
                <a:solidFill>
                  <a:schemeClr val="bg2"/>
                </a:solidFill>
                <a:latin typeface="Bookman Old Style" pitchFamily="18" charset="0"/>
              </a:rPr>
              <a:t>An important result on the finite wing</a:t>
            </a:r>
          </a:p>
        </p:txBody>
      </p:sp>
      <p:sp>
        <p:nvSpPr>
          <p:cNvPr id="36" name="Text Box 3"/>
          <p:cNvSpPr txBox="1">
            <a:spLocks noChangeArrowheads="1"/>
          </p:cNvSpPr>
          <p:nvPr/>
        </p:nvSpPr>
        <p:spPr bwMode="auto">
          <a:xfrm>
            <a:off x="839416" y="908720"/>
            <a:ext cx="662473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defRPr/>
            </a:pPr>
            <a:r>
              <a:rPr lang="en-GB" dirty="0"/>
              <a:t>From the theory of finite wing aerodynamics (lifting line theory) a practical result should be  considered in the preliminary A/C design:</a:t>
            </a:r>
          </a:p>
          <a:p>
            <a:pPr algn="l" eaLnBrk="1" fontAlgn="base" hangingPunct="1">
              <a:defRPr/>
            </a:pPr>
            <a:endParaRPr lang="en-GB" dirty="0"/>
          </a:p>
          <a:p>
            <a:pPr algn="l" eaLnBrk="1" fontAlgn="base" hangingPunct="1">
              <a:defRPr/>
            </a:pPr>
            <a:r>
              <a:rPr lang="en-GB" i="1" dirty="0"/>
              <a:t>For a given total lift (and fixed wingspan) there is an optimal lift distribution over the wingspan that minimizes the induced drag: its “shape” must be </a:t>
            </a:r>
            <a:r>
              <a:rPr lang="en-GB" b="1" i="1" dirty="0"/>
              <a:t>elliptical</a:t>
            </a:r>
            <a:r>
              <a:rPr lang="en-GB" b="1" dirty="0"/>
              <a:t> </a:t>
            </a:r>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2701" y="908720"/>
            <a:ext cx="2433695" cy="1828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 Box 3"/>
          <p:cNvSpPr txBox="1">
            <a:spLocks noChangeArrowheads="1"/>
          </p:cNvSpPr>
          <p:nvPr/>
        </p:nvSpPr>
        <p:spPr bwMode="auto">
          <a:xfrm>
            <a:off x="983432" y="3068960"/>
            <a:ext cx="864096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defRPr/>
            </a:pPr>
            <a:r>
              <a:rPr lang="en-GB" dirty="0"/>
              <a:t>On the design point of view, this optimal condition can be obtained in different ways:</a:t>
            </a:r>
          </a:p>
          <a:p>
            <a:pPr algn="l" eaLnBrk="1" fontAlgn="base" hangingPunct="1">
              <a:defRPr/>
            </a:pPr>
            <a:endParaRPr lang="en-GB" dirty="0"/>
          </a:p>
          <a:p>
            <a:pPr algn="l" eaLnBrk="1" fontAlgn="base" hangingPunct="1">
              <a:defRPr/>
            </a:pPr>
            <a:endParaRPr lang="en-GB" dirty="0"/>
          </a:p>
          <a:p>
            <a:pPr algn="l" eaLnBrk="1" fontAlgn="base" hangingPunct="1">
              <a:defRPr/>
            </a:pPr>
            <a:endParaRPr lang="en-GB" b="1" dirty="0"/>
          </a:p>
          <a:p>
            <a:pPr marL="285750" indent="-285750" algn="l" eaLnBrk="1" fontAlgn="base" hangingPunct="1">
              <a:buFont typeface="Arial" panose="020B0604020202020204" pitchFamily="34" charset="0"/>
              <a:buChar char="•"/>
              <a:defRPr/>
            </a:pPr>
            <a:r>
              <a:rPr lang="en-GB" dirty="0"/>
              <a:t>Elliptical chord distribution</a:t>
            </a:r>
          </a:p>
          <a:p>
            <a:pPr marL="285750" indent="-285750" algn="l" eaLnBrk="1" fontAlgn="base" hangingPunct="1">
              <a:buFont typeface="Arial" panose="020B0604020202020204" pitchFamily="34" charset="0"/>
              <a:buChar char="•"/>
              <a:defRPr/>
            </a:pPr>
            <a:endParaRPr lang="en-GB" dirty="0"/>
          </a:p>
          <a:p>
            <a:pPr marL="285750" indent="-285750" algn="l" eaLnBrk="1" fontAlgn="base" hangingPunct="1">
              <a:buFont typeface="Arial" panose="020B0604020202020204" pitchFamily="34" charset="0"/>
              <a:buChar char="•"/>
              <a:defRPr/>
            </a:pPr>
            <a:endParaRPr lang="en-GB" dirty="0"/>
          </a:p>
          <a:p>
            <a:pPr marL="285750" indent="-285750" algn="l" eaLnBrk="1" fontAlgn="base" hangingPunct="1">
              <a:buFont typeface="Arial" panose="020B0604020202020204" pitchFamily="34" charset="0"/>
              <a:buChar char="•"/>
              <a:defRPr/>
            </a:pPr>
            <a:endParaRPr lang="en-GB" dirty="0"/>
          </a:p>
          <a:p>
            <a:pPr marL="285750" indent="-285750" algn="l" eaLnBrk="1" fontAlgn="base" hangingPunct="1">
              <a:buFont typeface="Arial" panose="020B0604020202020204" pitchFamily="34" charset="0"/>
              <a:buChar char="•"/>
              <a:defRPr/>
            </a:pPr>
            <a:endParaRPr lang="en-GB" dirty="0"/>
          </a:p>
          <a:p>
            <a:pPr marL="285750" indent="-285750" algn="l" eaLnBrk="1" fontAlgn="base" hangingPunct="1">
              <a:buFont typeface="Arial" panose="020B0604020202020204" pitchFamily="34" charset="0"/>
              <a:buChar char="•"/>
              <a:defRPr/>
            </a:pPr>
            <a:r>
              <a:rPr lang="en-GB" dirty="0"/>
              <a:t>Proper twist and taper ratio combination (see next slides) </a:t>
            </a:r>
          </a:p>
        </p:txBody>
      </p:sp>
    </p:spTree>
    <p:extLst>
      <p:ext uri="{BB962C8B-B14F-4D97-AF65-F5344CB8AC3E}">
        <p14:creationId xmlns:p14="http://schemas.microsoft.com/office/powerpoint/2010/main" val="21224673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31"/>
          <p:cNvSpPr>
            <a:spLocks noChangeArrowheads="1"/>
          </p:cNvSpPr>
          <p:nvPr/>
        </p:nvSpPr>
        <p:spPr bwMode="auto">
          <a:xfrm>
            <a:off x="704407" y="98922"/>
            <a:ext cx="113848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fontAlgn="base"/>
            <a:r>
              <a:rPr lang="en-GB" sz="3200" dirty="0">
                <a:solidFill>
                  <a:schemeClr val="bg2"/>
                </a:solidFill>
                <a:latin typeface="Bookman Old Style" pitchFamily="18" charset="0"/>
              </a:rPr>
              <a:t>Geometric parameters affecting the aerodynamic curves</a:t>
            </a:r>
          </a:p>
        </p:txBody>
      </p:sp>
      <p:sp>
        <p:nvSpPr>
          <p:cNvPr id="3" name="Content Placeholder 2"/>
          <p:cNvSpPr txBox="1">
            <a:spLocks/>
          </p:cNvSpPr>
          <p:nvPr/>
        </p:nvSpPr>
        <p:spPr>
          <a:xfrm>
            <a:off x="2495601" y="1268760"/>
            <a:ext cx="4462729" cy="3744416"/>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lnSpc>
                <a:spcPct val="300000"/>
              </a:lnSpc>
            </a:pPr>
            <a:r>
              <a:rPr lang="en-GB" sz="1600" dirty="0"/>
              <a:t>Aspect Ratio</a:t>
            </a:r>
          </a:p>
          <a:p>
            <a:pPr>
              <a:lnSpc>
                <a:spcPct val="300000"/>
              </a:lnSpc>
            </a:pPr>
            <a:r>
              <a:rPr lang="en-GB" sz="1600" dirty="0"/>
              <a:t>Taper Ratio</a:t>
            </a:r>
          </a:p>
          <a:p>
            <a:pPr>
              <a:lnSpc>
                <a:spcPct val="300000"/>
              </a:lnSpc>
            </a:pPr>
            <a:r>
              <a:rPr lang="en-GB" sz="1600" dirty="0" err="1"/>
              <a:t>Airfoil</a:t>
            </a:r>
            <a:r>
              <a:rPr lang="en-GB" sz="1600" dirty="0"/>
              <a:t> twist distribution</a:t>
            </a:r>
          </a:p>
          <a:p>
            <a:pPr>
              <a:lnSpc>
                <a:spcPct val="300000"/>
              </a:lnSpc>
            </a:pPr>
            <a:r>
              <a:rPr lang="en-GB" sz="1600" dirty="0"/>
              <a:t>Sweep Angle</a:t>
            </a:r>
          </a:p>
          <a:p>
            <a:pPr>
              <a:lnSpc>
                <a:spcPct val="300000"/>
              </a:lnSpc>
            </a:pPr>
            <a:r>
              <a:rPr lang="en-GB" sz="1600" dirty="0"/>
              <a:t>Wing incidence</a:t>
            </a:r>
          </a:p>
          <a:p>
            <a:pPr>
              <a:lnSpc>
                <a:spcPct val="300000"/>
              </a:lnSpc>
            </a:pPr>
            <a:endParaRPr lang="en-GB" sz="1600" dirty="0"/>
          </a:p>
          <a:p>
            <a:pPr>
              <a:lnSpc>
                <a:spcPct val="300000"/>
              </a:lnSpc>
            </a:pPr>
            <a:endParaRPr lang="en-GB" sz="1600" kern="0" dirty="0">
              <a:solidFill>
                <a:srgbClr val="FF0000"/>
              </a:solidFill>
              <a:latin typeface="Arial" charset="0"/>
            </a:endParaRPr>
          </a:p>
          <a:p>
            <a:pPr marL="0" indent="0" algn="ctr">
              <a:lnSpc>
                <a:spcPct val="300000"/>
              </a:lnSpc>
              <a:buNone/>
            </a:pPr>
            <a:endParaRPr lang="en-GB" sz="1600" kern="0" dirty="0">
              <a:solidFill>
                <a:srgbClr val="FF0000"/>
              </a:solidFill>
              <a:latin typeface="Arial" charset="0"/>
            </a:endParaRPr>
          </a:p>
          <a:p>
            <a:pPr marL="0" indent="0" algn="ctr">
              <a:lnSpc>
                <a:spcPct val="300000"/>
              </a:lnSpc>
              <a:buNone/>
            </a:pPr>
            <a:endParaRPr lang="en-GB" sz="1600" kern="0" dirty="0">
              <a:solidFill>
                <a:srgbClr val="FF0000"/>
              </a:solidFill>
              <a:latin typeface="Arial" charset="0"/>
            </a:endParaRPr>
          </a:p>
        </p:txBody>
      </p:sp>
      <p:sp>
        <p:nvSpPr>
          <p:cNvPr id="2" name="Right Brace 1"/>
          <p:cNvSpPr/>
          <p:nvPr/>
        </p:nvSpPr>
        <p:spPr bwMode="auto">
          <a:xfrm>
            <a:off x="5773075" y="1559796"/>
            <a:ext cx="216024" cy="18002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solidFill>
                <a:srgbClr val="C00000"/>
              </a:solidFill>
            </a:endParaRPr>
          </a:p>
        </p:txBody>
      </p:sp>
      <p:sp>
        <p:nvSpPr>
          <p:cNvPr id="5" name="Content Placeholder 2"/>
          <p:cNvSpPr txBox="1">
            <a:spLocks/>
          </p:cNvSpPr>
          <p:nvPr/>
        </p:nvSpPr>
        <p:spPr>
          <a:xfrm>
            <a:off x="6816080" y="2298175"/>
            <a:ext cx="2231364" cy="32344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lnSpc>
                <a:spcPct val="100000"/>
              </a:lnSpc>
              <a:buNone/>
            </a:pPr>
            <a:r>
              <a:rPr lang="en-GB" sz="1600" dirty="0">
                <a:solidFill>
                  <a:srgbClr val="C00000"/>
                </a:solidFill>
              </a:rPr>
              <a:t>Wing lift &amp; drag</a:t>
            </a:r>
            <a:endParaRPr lang="en-GB" sz="1600" kern="0" dirty="0">
              <a:solidFill>
                <a:srgbClr val="C00000"/>
              </a:solidFill>
              <a:latin typeface="Arial" charset="0"/>
            </a:endParaRPr>
          </a:p>
          <a:p>
            <a:pPr marL="0" indent="0" algn="ctr">
              <a:lnSpc>
                <a:spcPct val="100000"/>
              </a:lnSpc>
              <a:buNone/>
            </a:pPr>
            <a:endParaRPr lang="en-GB" sz="1600" kern="0" dirty="0">
              <a:solidFill>
                <a:srgbClr val="C00000"/>
              </a:solidFill>
              <a:latin typeface="Arial" charset="0"/>
            </a:endParaRPr>
          </a:p>
          <a:p>
            <a:pPr marL="0" indent="0" algn="ctr">
              <a:lnSpc>
                <a:spcPct val="100000"/>
              </a:lnSpc>
              <a:buNone/>
            </a:pPr>
            <a:endParaRPr lang="en-GB" sz="1600" kern="0" dirty="0">
              <a:solidFill>
                <a:srgbClr val="C00000"/>
              </a:solidFill>
              <a:latin typeface="Arial" charset="0"/>
            </a:endParaRPr>
          </a:p>
        </p:txBody>
      </p:sp>
      <p:sp>
        <p:nvSpPr>
          <p:cNvPr id="6" name="Content Placeholder 2"/>
          <p:cNvSpPr txBox="1">
            <a:spLocks/>
          </p:cNvSpPr>
          <p:nvPr/>
        </p:nvSpPr>
        <p:spPr>
          <a:xfrm>
            <a:off x="6816080" y="3044222"/>
            <a:ext cx="2231364" cy="32344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lnSpc>
                <a:spcPct val="100000"/>
              </a:lnSpc>
              <a:buNone/>
            </a:pPr>
            <a:r>
              <a:rPr lang="en-GB" sz="1600" kern="0" dirty="0">
                <a:solidFill>
                  <a:srgbClr val="C00000"/>
                </a:solidFill>
                <a:latin typeface="Arial" charset="0"/>
              </a:rPr>
              <a:t>Stall characteristics</a:t>
            </a:r>
          </a:p>
          <a:p>
            <a:pPr marL="0" indent="0">
              <a:lnSpc>
                <a:spcPct val="100000"/>
              </a:lnSpc>
              <a:buNone/>
            </a:pPr>
            <a:endParaRPr lang="en-GB" sz="1600" kern="0" dirty="0">
              <a:solidFill>
                <a:srgbClr val="C00000"/>
              </a:solidFill>
              <a:latin typeface="Arial" charset="0"/>
            </a:endParaRPr>
          </a:p>
        </p:txBody>
      </p:sp>
      <p:sp>
        <p:nvSpPr>
          <p:cNvPr id="7" name="Content Placeholder 2"/>
          <p:cNvSpPr txBox="1">
            <a:spLocks/>
          </p:cNvSpPr>
          <p:nvPr/>
        </p:nvSpPr>
        <p:spPr>
          <a:xfrm>
            <a:off x="6816080" y="3789040"/>
            <a:ext cx="2735420" cy="32344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lnSpc>
                <a:spcPct val="100000"/>
              </a:lnSpc>
              <a:buNone/>
            </a:pPr>
            <a:r>
              <a:rPr lang="en-GB" sz="1600" kern="0" dirty="0">
                <a:solidFill>
                  <a:srgbClr val="C00000"/>
                </a:solidFill>
                <a:latin typeface="Arial" charset="0"/>
              </a:rPr>
              <a:t>Critical Mach and drag rise </a:t>
            </a:r>
          </a:p>
          <a:p>
            <a:pPr marL="0" indent="0">
              <a:lnSpc>
                <a:spcPct val="100000"/>
              </a:lnSpc>
              <a:buNone/>
            </a:pPr>
            <a:endParaRPr lang="en-GB" sz="1600" kern="0" dirty="0">
              <a:solidFill>
                <a:srgbClr val="C00000"/>
              </a:solidFill>
              <a:latin typeface="Arial" charset="0"/>
            </a:endParaRPr>
          </a:p>
        </p:txBody>
      </p:sp>
      <p:sp>
        <p:nvSpPr>
          <p:cNvPr id="8" name="Content Placeholder 2"/>
          <p:cNvSpPr txBox="1">
            <a:spLocks/>
          </p:cNvSpPr>
          <p:nvPr/>
        </p:nvSpPr>
        <p:spPr>
          <a:xfrm>
            <a:off x="6816080" y="4509120"/>
            <a:ext cx="2951444" cy="323442"/>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lnSpc>
                <a:spcPct val="100000"/>
              </a:lnSpc>
              <a:buNone/>
            </a:pPr>
            <a:r>
              <a:rPr lang="en-GB" sz="1600" kern="0" dirty="0">
                <a:solidFill>
                  <a:srgbClr val="C00000"/>
                </a:solidFill>
                <a:latin typeface="Arial" charset="0"/>
              </a:rPr>
              <a:t>Aircraft (&amp; fuselage) incidence </a:t>
            </a:r>
          </a:p>
          <a:p>
            <a:pPr marL="0" indent="0">
              <a:lnSpc>
                <a:spcPct val="100000"/>
              </a:lnSpc>
              <a:buNone/>
            </a:pPr>
            <a:endParaRPr lang="en-GB" sz="1600" kern="0" dirty="0">
              <a:solidFill>
                <a:srgbClr val="C00000"/>
              </a:solidFill>
              <a:latin typeface="Arial" charset="0"/>
            </a:endParaRPr>
          </a:p>
        </p:txBody>
      </p:sp>
      <p:cxnSp>
        <p:nvCxnSpPr>
          <p:cNvPr id="9" name="Straight Arrow Connector 8"/>
          <p:cNvCxnSpPr/>
          <p:nvPr/>
        </p:nvCxnSpPr>
        <p:spPr bwMode="auto">
          <a:xfrm>
            <a:off x="6168008" y="2459896"/>
            <a:ext cx="50405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1" name="Straight Arrow Connector 10"/>
          <p:cNvCxnSpPr/>
          <p:nvPr/>
        </p:nvCxnSpPr>
        <p:spPr bwMode="auto">
          <a:xfrm>
            <a:off x="6144803" y="3212976"/>
            <a:ext cx="50405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a:off x="6168008" y="3933056"/>
            <a:ext cx="50405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3" name="Straight Arrow Connector 12"/>
          <p:cNvCxnSpPr/>
          <p:nvPr/>
        </p:nvCxnSpPr>
        <p:spPr bwMode="auto">
          <a:xfrm>
            <a:off x="6168008" y="4653136"/>
            <a:ext cx="50405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35161503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839416" y="1180344"/>
            <a:ext cx="4462729" cy="149966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The wing aspect ratio simultaneously affects:</a:t>
            </a:r>
          </a:p>
          <a:p>
            <a:pPr lvl="1"/>
            <a:r>
              <a:rPr lang="en-GB" sz="1400" dirty="0"/>
              <a:t>Wing induced drag </a:t>
            </a:r>
          </a:p>
          <a:p>
            <a:pPr lvl="1"/>
            <a:r>
              <a:rPr lang="en-GB" sz="1400" dirty="0"/>
              <a:t>Wing lift curve slope</a:t>
            </a:r>
          </a:p>
          <a:p>
            <a:pPr lvl="1"/>
            <a:r>
              <a:rPr lang="en-GB" sz="1400" dirty="0"/>
              <a:t>Wing stall angle</a:t>
            </a:r>
          </a:p>
          <a:p>
            <a:endParaRPr lang="en-GB" sz="1600" dirty="0"/>
          </a:p>
          <a:p>
            <a:endParaRPr lang="en-GB" sz="1600" dirty="0"/>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pic>
        <p:nvPicPr>
          <p:cNvPr id="15364" name="Picture 4"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2752684"/>
            <a:ext cx="6029696" cy="3018496"/>
          </a:xfrm>
          <a:prstGeom prst="rect">
            <a:avLst/>
          </a:prstGeom>
          <a:noFill/>
          <a:extLst>
            <a:ext uri="{909E8E84-426E-40DD-AFC4-6F175D3DCCD1}">
              <a14:hiddenFill xmlns:a14="http://schemas.microsoft.com/office/drawing/2010/main">
                <a:solidFill>
                  <a:srgbClr val="FFFFFF"/>
                </a:solidFill>
              </a14:hiddenFill>
            </a:ext>
          </a:extLst>
        </p:spPr>
      </p:pic>
      <p:pic>
        <p:nvPicPr>
          <p:cNvPr id="15365" name="Picture 5"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168" y="1268760"/>
            <a:ext cx="3964484" cy="4153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850903" y="5661249"/>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
        <p:nvSpPr>
          <p:cNvPr id="11" name="Rectangle 28"/>
          <p:cNvSpPr>
            <a:spLocks noChangeArrowheads="1"/>
          </p:cNvSpPr>
          <p:nvPr/>
        </p:nvSpPr>
        <p:spPr bwMode="auto">
          <a:xfrm>
            <a:off x="695400" y="154378"/>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Aspect Ratio</a:t>
            </a:r>
          </a:p>
        </p:txBody>
      </p:sp>
    </p:spTree>
    <p:extLst>
      <p:ext uri="{BB962C8B-B14F-4D97-AF65-F5344CB8AC3E}">
        <p14:creationId xmlns:p14="http://schemas.microsoft.com/office/powerpoint/2010/main" val="37064175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txBox="1">
            <a:spLocks/>
          </p:cNvSpPr>
          <p:nvPr/>
        </p:nvSpPr>
        <p:spPr>
          <a:xfrm>
            <a:off x="839416" y="1180344"/>
            <a:ext cx="4462729" cy="149966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The wing aspect ratio simultaneously affects:</a:t>
            </a:r>
          </a:p>
          <a:p>
            <a:pPr lvl="1"/>
            <a:r>
              <a:rPr lang="en-GB" sz="1400" dirty="0"/>
              <a:t>Wing induced drag </a:t>
            </a:r>
          </a:p>
          <a:p>
            <a:pPr lvl="1"/>
            <a:r>
              <a:rPr lang="en-GB" sz="1400" dirty="0"/>
              <a:t>Wing lift curve slope</a:t>
            </a:r>
          </a:p>
          <a:p>
            <a:pPr lvl="1"/>
            <a:r>
              <a:rPr lang="en-GB" sz="1400" dirty="0"/>
              <a:t>Wing stall angle</a:t>
            </a:r>
          </a:p>
          <a:p>
            <a:endParaRPr lang="en-GB" sz="1600" dirty="0"/>
          </a:p>
          <a:p>
            <a:endParaRPr lang="en-GB" sz="1600" dirty="0"/>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pic>
        <p:nvPicPr>
          <p:cNvPr id="15364" name="Picture 4"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978" y="3090950"/>
            <a:ext cx="4978876" cy="2492450"/>
          </a:xfrm>
          <a:prstGeom prst="rect">
            <a:avLst/>
          </a:prstGeom>
          <a:noFill/>
          <a:extLst>
            <a:ext uri="{909E8E84-426E-40DD-AFC4-6F175D3DCCD1}">
              <a14:hiddenFill xmlns:a14="http://schemas.microsoft.com/office/drawing/2010/main">
                <a:solidFill>
                  <a:srgbClr val="FFFFFF"/>
                </a:solidFill>
              </a14:hiddenFill>
            </a:ext>
          </a:extLst>
        </p:spPr>
      </p:pic>
      <p:pic>
        <p:nvPicPr>
          <p:cNvPr id="15365" name="Picture 5"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168" y="1268760"/>
            <a:ext cx="3964484" cy="4153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850903" y="5661249"/>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pic>
        <p:nvPicPr>
          <p:cNvPr id="15367" name="Picture 7" descr="D:\aelham\Desktop\Untitle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416" y="3068960"/>
            <a:ext cx="5168795" cy="25144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8"/>
          <p:cNvSpPr>
            <a:spLocks noChangeArrowheads="1"/>
          </p:cNvSpPr>
          <p:nvPr/>
        </p:nvSpPr>
        <p:spPr bwMode="auto">
          <a:xfrm>
            <a:off x="695400" y="154378"/>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Aspect Ratio</a:t>
            </a:r>
          </a:p>
        </p:txBody>
      </p:sp>
    </p:spTree>
    <p:extLst>
      <p:ext uri="{BB962C8B-B14F-4D97-AF65-F5344CB8AC3E}">
        <p14:creationId xmlns:p14="http://schemas.microsoft.com/office/powerpoint/2010/main" val="11741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3">
            <a:extLst>
              <a:ext uri="{28A0092B-C50C-407E-A947-70E740481C1C}">
                <a14:useLocalDpi xmlns:a14="http://schemas.microsoft.com/office/drawing/2010/main" val="0"/>
              </a:ext>
            </a:extLst>
          </a:blip>
          <a:srcRect l="3978" t="5873" r="3761" b="9084"/>
          <a:stretch>
            <a:fillRect/>
          </a:stretch>
        </p:blipFill>
        <p:spPr bwMode="auto">
          <a:xfrm rot="21540000">
            <a:off x="3388826" y="2229321"/>
            <a:ext cx="5562600"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1"/>
          <p:cNvGrpSpPr>
            <a:grpSpLocks/>
          </p:cNvGrpSpPr>
          <p:nvPr/>
        </p:nvGrpSpPr>
        <p:grpSpPr bwMode="auto">
          <a:xfrm>
            <a:off x="6170126" y="2496407"/>
            <a:ext cx="5830530" cy="2554545"/>
            <a:chOff x="1295007" y="2851057"/>
            <a:chExt cx="6894642" cy="2554179"/>
          </a:xfrm>
        </p:grpSpPr>
        <p:sp>
          <p:nvSpPr>
            <p:cNvPr id="45069" name="Oval 7"/>
            <p:cNvSpPr>
              <a:spLocks noChangeArrowheads="1"/>
            </p:cNvSpPr>
            <p:nvPr/>
          </p:nvSpPr>
          <p:spPr bwMode="auto">
            <a:xfrm>
              <a:off x="1295007" y="3320872"/>
              <a:ext cx="1995954" cy="1276809"/>
            </a:xfrm>
            <a:prstGeom prst="ellipse">
              <a:avLst/>
            </a:prstGeom>
            <a:noFill/>
            <a:ln w="28575" algn="ctr">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nl-NL"/>
            </a:p>
          </p:txBody>
        </p:sp>
        <p:sp>
          <p:nvSpPr>
            <p:cNvPr id="45070" name="Rectangle 9"/>
            <p:cNvSpPr>
              <a:spLocks noChangeArrowheads="1"/>
            </p:cNvSpPr>
            <p:nvPr/>
          </p:nvSpPr>
          <p:spPr bwMode="auto">
            <a:xfrm>
              <a:off x="5549901" y="2851057"/>
              <a:ext cx="2639748" cy="2554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285750" indent="-285750" algn="just" fontAlgn="base">
                <a:buFont typeface="Arial" panose="020B0604020202020204" pitchFamily="34" charset="0"/>
                <a:buChar char="•"/>
              </a:pPr>
              <a:r>
                <a:rPr lang="en-GB" dirty="0"/>
                <a:t>High stall </a:t>
              </a:r>
              <a:r>
                <a:rPr lang="en-GB" dirty="0" err="1"/>
                <a:t>AoAs</a:t>
              </a:r>
              <a:endParaRPr lang="en-GB" dirty="0"/>
            </a:p>
            <a:p>
              <a:pPr marL="285750" indent="-285750" algn="just" fontAlgn="base">
                <a:buFont typeface="Arial" panose="020B0604020202020204" pitchFamily="34" charset="0"/>
                <a:buChar char="•"/>
              </a:pPr>
              <a:r>
                <a:rPr lang="en-GB" dirty="0"/>
                <a:t>Low weight</a:t>
              </a:r>
            </a:p>
            <a:p>
              <a:pPr marL="285750" indent="-285750" algn="just" fontAlgn="base">
                <a:buFont typeface="Arial" panose="020B0604020202020204" pitchFamily="34" charset="0"/>
                <a:buChar char="•"/>
              </a:pPr>
              <a:r>
                <a:rPr lang="en-GB" dirty="0"/>
                <a:t>Good gust response (low load factors)</a:t>
              </a:r>
            </a:p>
            <a:p>
              <a:pPr marL="285750" indent="-285750" algn="just" fontAlgn="base">
                <a:buFont typeface="Arial" panose="020B0604020202020204" pitchFamily="34" charset="0"/>
                <a:buChar char="•"/>
              </a:pPr>
              <a:r>
                <a:rPr lang="en-GB" dirty="0"/>
                <a:t>Used in H and V tails</a:t>
              </a:r>
            </a:p>
            <a:p>
              <a:pPr marL="285750" indent="-285750" algn="just" fontAlgn="base">
                <a:buFont typeface="Arial" panose="020B0604020202020204" pitchFamily="34" charset="0"/>
                <a:buChar char="•"/>
              </a:pPr>
              <a:endParaRPr lang="en-GB" dirty="0"/>
            </a:p>
            <a:p>
              <a:pPr marL="285750" indent="-285750" algn="just" fontAlgn="base">
                <a:buFont typeface="Arial" panose="020B0604020202020204" pitchFamily="34" charset="0"/>
                <a:buChar char="•"/>
              </a:pPr>
              <a:endParaRPr lang="en-GB" dirty="0"/>
            </a:p>
            <a:p>
              <a:pPr marL="285750" indent="-285750" algn="just" fontAlgn="base">
                <a:buFont typeface="Arial" panose="020B0604020202020204" pitchFamily="34" charset="0"/>
                <a:buChar char="•"/>
              </a:pPr>
              <a:endParaRPr lang="en-GB" dirty="0"/>
            </a:p>
          </p:txBody>
        </p:sp>
      </p:grpSp>
      <p:sp>
        <p:nvSpPr>
          <p:cNvPr id="45061" name="Rectangle 3"/>
          <p:cNvSpPr>
            <a:spLocks noChangeArrowheads="1"/>
          </p:cNvSpPr>
          <p:nvPr/>
        </p:nvSpPr>
        <p:spPr bwMode="auto">
          <a:xfrm>
            <a:off x="810674" y="1082258"/>
            <a:ext cx="6418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sz="2400" i="1" dirty="0"/>
              <a:t>How designers exploit the effect of A on stall?</a:t>
            </a:r>
            <a:endParaRPr lang="nl-NL" sz="2400" i="1" dirty="0"/>
          </a:p>
        </p:txBody>
      </p:sp>
      <p:grpSp>
        <p:nvGrpSpPr>
          <p:cNvPr id="45063" name="Group 2"/>
          <p:cNvGrpSpPr>
            <a:grpSpLocks/>
          </p:cNvGrpSpPr>
          <p:nvPr/>
        </p:nvGrpSpPr>
        <p:grpSpPr bwMode="auto">
          <a:xfrm rot="21554351">
            <a:off x="621713" y="2270955"/>
            <a:ext cx="5731013" cy="1970054"/>
            <a:chOff x="1175461" y="2351177"/>
            <a:chExt cx="5731013" cy="1970277"/>
          </a:xfrm>
        </p:grpSpPr>
        <p:sp>
          <p:nvSpPr>
            <p:cNvPr id="45065" name="Oval 8"/>
            <p:cNvSpPr>
              <a:spLocks noChangeArrowheads="1"/>
            </p:cNvSpPr>
            <p:nvPr/>
          </p:nvSpPr>
          <p:spPr bwMode="auto">
            <a:xfrm>
              <a:off x="6090780" y="2351177"/>
              <a:ext cx="815694" cy="721520"/>
            </a:xfrm>
            <a:prstGeom prst="ellipse">
              <a:avLst/>
            </a:prstGeom>
            <a:noFill/>
            <a:ln w="28575" algn="ctr">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nl-NL"/>
            </a:p>
          </p:txBody>
        </p:sp>
        <p:sp>
          <p:nvSpPr>
            <p:cNvPr id="45066" name="Rectangle 10"/>
            <p:cNvSpPr>
              <a:spLocks noChangeArrowheads="1"/>
            </p:cNvSpPr>
            <p:nvPr/>
          </p:nvSpPr>
          <p:spPr bwMode="auto">
            <a:xfrm>
              <a:off x="1175461" y="2751616"/>
              <a:ext cx="2398712" cy="156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marL="285750" indent="-285750" algn="just" fontAlgn="base">
                <a:buFont typeface="Arial" panose="020B0604020202020204" pitchFamily="34" charset="0"/>
                <a:buChar char="•"/>
              </a:pPr>
              <a:r>
                <a:rPr lang="en-GB" dirty="0"/>
                <a:t>High </a:t>
              </a:r>
              <a:r>
                <a:rPr lang="en-GB" dirty="0" err="1"/>
                <a:t>Clmax</a:t>
              </a:r>
              <a:endParaRPr lang="en-GB" dirty="0"/>
            </a:p>
            <a:p>
              <a:pPr marL="285750" indent="-285750" algn="just" fontAlgn="base">
                <a:buFont typeface="Arial" panose="020B0604020202020204" pitchFamily="34" charset="0"/>
                <a:buChar char="•"/>
              </a:pPr>
              <a:r>
                <a:rPr lang="en-GB" dirty="0"/>
                <a:t>High </a:t>
              </a:r>
              <a:r>
                <a:rPr lang="en-GB" dirty="0" err="1"/>
                <a:t>Clalpha</a:t>
              </a:r>
              <a:endParaRPr lang="en-GB" dirty="0"/>
            </a:p>
            <a:p>
              <a:pPr marL="285750" indent="-285750" algn="just" fontAlgn="base">
                <a:buFont typeface="Arial" panose="020B0604020202020204" pitchFamily="34" charset="0"/>
                <a:buChar char="•"/>
              </a:pPr>
              <a:r>
                <a:rPr lang="en-GB" dirty="0"/>
                <a:t>Great gliding </a:t>
              </a:r>
            </a:p>
            <a:p>
              <a:pPr marL="285750" indent="-285750" algn="just" fontAlgn="base">
                <a:buFont typeface="Arial" panose="020B0604020202020204" pitchFamily="34" charset="0"/>
                <a:buChar char="•"/>
              </a:pPr>
              <a:r>
                <a:rPr lang="en-GB" dirty="0"/>
                <a:t>Main wing and canard</a:t>
              </a:r>
            </a:p>
            <a:p>
              <a:pPr algn="l" fontAlgn="base"/>
              <a:endParaRPr lang="en-GB" dirty="0"/>
            </a:p>
          </p:txBody>
        </p:sp>
        <p:sp>
          <p:nvSpPr>
            <p:cNvPr id="45067" name="AutoShape 12"/>
            <p:cNvSpPr>
              <a:spLocks noChangeArrowheads="1"/>
            </p:cNvSpPr>
            <p:nvPr/>
          </p:nvSpPr>
          <p:spPr bwMode="auto">
            <a:xfrm rot="15341291" flipH="1">
              <a:off x="4082521" y="1927710"/>
              <a:ext cx="308547" cy="2163682"/>
            </a:xfrm>
            <a:prstGeom prst="upArrow">
              <a:avLst>
                <a:gd name="adj1" fmla="val 45152"/>
                <a:gd name="adj2" fmla="val 5000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nl-NL"/>
            </a:p>
          </p:txBody>
        </p:sp>
      </p:grpSp>
      <p:sp>
        <p:nvSpPr>
          <p:cNvPr id="16" name="Rectangle 28"/>
          <p:cNvSpPr>
            <a:spLocks noChangeArrowheads="1"/>
          </p:cNvSpPr>
          <p:nvPr/>
        </p:nvSpPr>
        <p:spPr bwMode="auto">
          <a:xfrm>
            <a:off x="695400" y="89004"/>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Aspect Ratio</a:t>
            </a:r>
          </a:p>
        </p:txBody>
      </p:sp>
      <p:sp>
        <p:nvSpPr>
          <p:cNvPr id="17" name="AutoShape 12">
            <a:extLst>
              <a:ext uri="{FF2B5EF4-FFF2-40B4-BE49-F238E27FC236}">
                <a16:creationId xmlns:a16="http://schemas.microsoft.com/office/drawing/2014/main" id="{9DCBD5C2-C698-A243-8F6B-BDCA4DEEC3B1}"/>
              </a:ext>
            </a:extLst>
          </p:cNvPr>
          <p:cNvSpPr>
            <a:spLocks noChangeArrowheads="1"/>
          </p:cNvSpPr>
          <p:nvPr/>
        </p:nvSpPr>
        <p:spPr bwMode="auto">
          <a:xfrm rot="4858975" flipH="1">
            <a:off x="8709342" y="2444608"/>
            <a:ext cx="308512" cy="1920240"/>
          </a:xfrm>
          <a:prstGeom prst="upArrow">
            <a:avLst/>
          </a:prstGeom>
          <a:ln/>
        </p:spPr>
        <p:style>
          <a:lnRef idx="0">
            <a:schemeClr val="accent1"/>
          </a:lnRef>
          <a:fillRef idx="3">
            <a:schemeClr val="accent1"/>
          </a:fillRef>
          <a:effectRef idx="3">
            <a:schemeClr val="accent1"/>
          </a:effectRef>
          <a:fontRef idx="minor">
            <a:schemeClr val="lt1"/>
          </a:fontRef>
        </p:style>
        <p:txBody>
          <a:bodyPr wrap="square" anchor="ctr">
            <a:spAutoFit/>
          </a:bodyPr>
          <a:lstStyle/>
          <a:p>
            <a:endParaRPr lang="nl-NL"/>
          </a:p>
        </p:txBody>
      </p:sp>
    </p:spTree>
    <p:extLst>
      <p:ext uri="{BB962C8B-B14F-4D97-AF65-F5344CB8AC3E}">
        <p14:creationId xmlns:p14="http://schemas.microsoft.com/office/powerpoint/2010/main" val="1170230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3" descr="D:\aelham\Desktop\Untitled.png"/>
          <p:cNvPicPr>
            <a:picLocks noChangeAspect="1" noChangeArrowheads="1"/>
          </p:cNvPicPr>
          <p:nvPr/>
        </p:nvPicPr>
        <p:blipFill rotWithShape="1">
          <a:blip r:embed="rId3">
            <a:extLst>
              <a:ext uri="{28A0092B-C50C-407E-A947-70E740481C1C}">
                <a14:useLocalDpi xmlns:a14="http://schemas.microsoft.com/office/drawing/2010/main" val="0"/>
              </a:ext>
            </a:extLst>
          </a:blip>
          <a:srcRect t="712" b="-712"/>
          <a:stretch/>
        </p:blipFill>
        <p:spPr bwMode="auto">
          <a:xfrm>
            <a:off x="2423593" y="1700808"/>
            <a:ext cx="7614659" cy="422059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8"/>
          <p:cNvSpPr>
            <a:spLocks noChangeArrowheads="1"/>
          </p:cNvSpPr>
          <p:nvPr/>
        </p:nvSpPr>
        <p:spPr bwMode="auto">
          <a:xfrm>
            <a:off x="2198688" y="404664"/>
            <a:ext cx="856615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Impact of aspect ratio on the properties of the wing</a:t>
            </a:r>
          </a:p>
        </p:txBody>
      </p:sp>
    </p:spTree>
    <p:extLst>
      <p:ext uri="{BB962C8B-B14F-4D97-AF65-F5344CB8AC3E}">
        <p14:creationId xmlns:p14="http://schemas.microsoft.com/office/powerpoint/2010/main" val="15722104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8"/>
          <p:cNvSpPr>
            <a:spLocks noChangeArrowheads="1"/>
          </p:cNvSpPr>
          <p:nvPr/>
        </p:nvSpPr>
        <p:spPr bwMode="auto">
          <a:xfrm>
            <a:off x="767408" y="90489"/>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Taper Ratio</a:t>
            </a:r>
          </a:p>
        </p:txBody>
      </p:sp>
      <p:sp>
        <p:nvSpPr>
          <p:cNvPr id="3" name="Content Placeholder 2"/>
          <p:cNvSpPr txBox="1">
            <a:spLocks/>
          </p:cNvSpPr>
          <p:nvPr/>
        </p:nvSpPr>
        <p:spPr>
          <a:xfrm>
            <a:off x="839416" y="1052736"/>
            <a:ext cx="10801200" cy="3600401"/>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The taper ratio is the main design parameter to control the lift distribution along the wing span</a:t>
            </a:r>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US" sz="1050" dirty="0"/>
          </a:p>
          <a:p>
            <a:r>
              <a:rPr lang="en-US" sz="1600" dirty="0"/>
              <a:t>For an </a:t>
            </a:r>
            <a:r>
              <a:rPr lang="en-US" sz="1600" dirty="0" err="1"/>
              <a:t>unswept</a:t>
            </a:r>
            <a:r>
              <a:rPr lang="en-US" sz="1600" dirty="0"/>
              <a:t> wing at </a:t>
            </a:r>
            <a:r>
              <a:rPr lang="en-US" sz="1600" b="1" dirty="0"/>
              <a:t>λ = 0.4</a:t>
            </a:r>
            <a:r>
              <a:rPr lang="en-US" sz="1600" dirty="0"/>
              <a:t> the lift distribution is almost elliptical. The increase in lift induced drag is less than 1% higher than the value associated with the optimal elliptical distribution.....but the manufacturing of such trapezoidal wing is far easier!! </a:t>
            </a:r>
          </a:p>
          <a:p>
            <a:endParaRPr lang="en-GB" sz="1800" dirty="0"/>
          </a:p>
          <a:p>
            <a:endParaRPr lang="en-GB" sz="1800" dirty="0"/>
          </a:p>
          <a:p>
            <a:endParaRPr lang="en-GB" sz="1600" kern="0" dirty="0">
              <a:solidFill>
                <a:srgbClr val="FF0000"/>
              </a:solidFill>
              <a:latin typeface="Arial" charset="0"/>
            </a:endParaRPr>
          </a:p>
          <a:p>
            <a:pPr marL="0" indent="0" algn="ctr">
              <a:buNone/>
            </a:pPr>
            <a:endParaRPr lang="en-GB" sz="1400" kern="0" dirty="0">
              <a:solidFill>
                <a:srgbClr val="FF0000"/>
              </a:solidFill>
              <a:latin typeface="Arial" charset="0"/>
            </a:endParaRPr>
          </a:p>
          <a:p>
            <a:pPr marL="0" indent="0" algn="ctr">
              <a:buNone/>
            </a:pPr>
            <a:endParaRPr lang="en-GB" sz="1400" kern="0" dirty="0">
              <a:solidFill>
                <a:srgbClr val="FF0000"/>
              </a:solidFill>
              <a:latin typeface="Arial" charset="0"/>
            </a:endParaRPr>
          </a:p>
        </p:txBody>
      </p:sp>
      <p:pic>
        <p:nvPicPr>
          <p:cNvPr id="16386"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0392" y="1916832"/>
            <a:ext cx="6080894" cy="29129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256240" y="5834906"/>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Tree>
    <p:extLst>
      <p:ext uri="{BB962C8B-B14F-4D97-AF65-F5344CB8AC3E}">
        <p14:creationId xmlns:p14="http://schemas.microsoft.com/office/powerpoint/2010/main" val="2400153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8"/>
          <p:cNvSpPr>
            <a:spLocks noChangeArrowheads="1"/>
          </p:cNvSpPr>
          <p:nvPr/>
        </p:nvSpPr>
        <p:spPr bwMode="auto">
          <a:xfrm>
            <a:off x="767408" y="164543"/>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sweep angle</a:t>
            </a:r>
          </a:p>
        </p:txBody>
      </p:sp>
      <p:pic>
        <p:nvPicPr>
          <p:cNvPr id="17410"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834" y="1844824"/>
            <a:ext cx="7830994" cy="3096344"/>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a:xfrm>
            <a:off x="767408" y="1124746"/>
            <a:ext cx="10513168" cy="86409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Sweep angle is mainly used to increase the wing critical Mach number.</a:t>
            </a:r>
          </a:p>
          <a:p>
            <a:pPr marL="385763" lvl="1" indent="0">
              <a:buNone/>
            </a:pPr>
            <a:r>
              <a:rPr lang="en-GB" sz="2000" dirty="0" err="1"/>
              <a:t>M</a:t>
            </a:r>
            <a:r>
              <a:rPr lang="en-GB" sz="2000" baseline="-25000" dirty="0" err="1"/>
              <a:t>cr_swept</a:t>
            </a:r>
            <a:r>
              <a:rPr lang="en-GB" sz="2000" dirty="0"/>
              <a:t> = </a:t>
            </a:r>
            <a:r>
              <a:rPr lang="en-GB" sz="2000" dirty="0" err="1"/>
              <a:t>M</a:t>
            </a:r>
            <a:r>
              <a:rPr lang="en-GB" sz="2000" baseline="-25000" dirty="0" err="1"/>
              <a:t>cr_unswept</a:t>
            </a:r>
            <a:r>
              <a:rPr lang="en-GB" sz="2000" dirty="0"/>
              <a:t> </a:t>
            </a:r>
            <a:r>
              <a:rPr lang="en-GB" sz="2000" b="1" dirty="0"/>
              <a:t>cos </a:t>
            </a:r>
            <a:r>
              <a:rPr lang="el-GR" sz="2000" b="1" dirty="0"/>
              <a:t>Λ</a:t>
            </a:r>
            <a:endParaRPr lang="en-US" sz="20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600" dirty="0"/>
              <a:t>The maximum lift coefficient is reduced with an increase in wing sweep angle</a:t>
            </a:r>
          </a:p>
          <a:p>
            <a:r>
              <a:rPr lang="en-US" sz="1600" dirty="0"/>
              <a:t>The sweep has very important effect on structural </a:t>
            </a:r>
            <a:r>
              <a:rPr lang="nl-NL" sz="1600" dirty="0"/>
              <a:t>loads*. </a:t>
            </a:r>
            <a:r>
              <a:rPr lang="nl-NL" sz="1600" dirty="0" err="1"/>
              <a:t>Increasing</a:t>
            </a:r>
            <a:r>
              <a:rPr lang="nl-NL" sz="1600" dirty="0"/>
              <a:t> </a:t>
            </a:r>
            <a:r>
              <a:rPr lang="nl-NL" sz="1600" dirty="0" err="1"/>
              <a:t>the</a:t>
            </a:r>
            <a:r>
              <a:rPr lang="nl-NL" sz="1600" dirty="0"/>
              <a:t> </a:t>
            </a:r>
            <a:r>
              <a:rPr lang="nl-NL" sz="1600" dirty="0" err="1"/>
              <a:t>wing</a:t>
            </a:r>
            <a:r>
              <a:rPr lang="nl-NL" sz="1600" dirty="0"/>
              <a:t> </a:t>
            </a:r>
            <a:r>
              <a:rPr lang="nl-NL" sz="1600" dirty="0" err="1"/>
              <a:t>sweep</a:t>
            </a:r>
            <a:r>
              <a:rPr lang="nl-NL" sz="1600" dirty="0"/>
              <a:t> </a:t>
            </a:r>
            <a:r>
              <a:rPr lang="nl-NL" sz="1600" dirty="0" err="1"/>
              <a:t>angle</a:t>
            </a:r>
            <a:r>
              <a:rPr lang="nl-NL" sz="1600" dirty="0"/>
              <a:t> </a:t>
            </a:r>
            <a:r>
              <a:rPr lang="nl-NL" sz="1600" dirty="0" err="1"/>
              <a:t>increases</a:t>
            </a:r>
            <a:r>
              <a:rPr lang="nl-NL" sz="1600" dirty="0"/>
              <a:t> </a:t>
            </a:r>
            <a:r>
              <a:rPr lang="nl-NL" sz="1600" dirty="0" err="1"/>
              <a:t>the</a:t>
            </a:r>
            <a:r>
              <a:rPr lang="nl-NL" sz="1600" dirty="0"/>
              <a:t> </a:t>
            </a:r>
            <a:r>
              <a:rPr lang="nl-NL" sz="1600" dirty="0" err="1"/>
              <a:t>wing</a:t>
            </a:r>
            <a:r>
              <a:rPr lang="nl-NL" sz="1600" dirty="0"/>
              <a:t> </a:t>
            </a:r>
            <a:r>
              <a:rPr lang="nl-NL" sz="1600" dirty="0" err="1"/>
              <a:t>structural</a:t>
            </a:r>
            <a:r>
              <a:rPr lang="nl-NL" sz="1600" dirty="0"/>
              <a:t> </a:t>
            </a:r>
            <a:r>
              <a:rPr lang="nl-NL" sz="1600" dirty="0" err="1"/>
              <a:t>weight</a:t>
            </a:r>
            <a:r>
              <a:rPr lang="nl-NL" sz="1600" dirty="0"/>
              <a:t>.</a:t>
            </a:r>
            <a:endParaRPr lang="en-GB" sz="1600" dirty="0"/>
          </a:p>
          <a:p>
            <a:endParaRPr lang="en-GB" sz="1800" dirty="0"/>
          </a:p>
          <a:p>
            <a:endParaRPr lang="en-GB" sz="1600" kern="0" dirty="0">
              <a:solidFill>
                <a:srgbClr val="FF0000"/>
              </a:solidFill>
              <a:latin typeface="Arial" charset="0"/>
            </a:endParaRPr>
          </a:p>
          <a:p>
            <a:pPr marL="0" indent="0" algn="ctr">
              <a:buNone/>
            </a:pPr>
            <a:endParaRPr lang="en-GB" sz="1400" kern="0" dirty="0">
              <a:solidFill>
                <a:srgbClr val="FF0000"/>
              </a:solidFill>
              <a:latin typeface="Arial" charset="0"/>
            </a:endParaRPr>
          </a:p>
          <a:p>
            <a:pPr marL="0" indent="0" algn="ctr">
              <a:buNone/>
            </a:pPr>
            <a:endParaRPr lang="en-GB" sz="1400" kern="0" dirty="0">
              <a:solidFill>
                <a:srgbClr val="FF0000"/>
              </a:solidFill>
              <a:latin typeface="Arial" charset="0"/>
            </a:endParaRPr>
          </a:p>
        </p:txBody>
      </p:sp>
    </p:spTree>
    <p:extLst>
      <p:ext uri="{BB962C8B-B14F-4D97-AF65-F5344CB8AC3E}">
        <p14:creationId xmlns:p14="http://schemas.microsoft.com/office/powerpoint/2010/main" val="1360841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56240" y="5834906"/>
            <a:ext cx="2664296" cy="276999"/>
          </a:xfrm>
          <a:prstGeom prst="rect">
            <a:avLst/>
          </a:prstGeom>
          <a:noFill/>
        </p:spPr>
        <p:txBody>
          <a:bodyPr wrap="square" rtlCol="0">
            <a:spAutoFit/>
          </a:bodyPr>
          <a:lstStyle/>
          <a:p>
            <a:r>
              <a:rPr lang="en-GB" sz="1200" dirty="0"/>
              <a:t>Fig. source: Nicolai</a:t>
            </a:r>
            <a:endParaRPr lang="nl-NL" sz="1200" dirty="0"/>
          </a:p>
        </p:txBody>
      </p:sp>
      <p:pic>
        <p:nvPicPr>
          <p:cNvPr id="5" name="Picture 4"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40" y="1268760"/>
            <a:ext cx="6945015" cy="43924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8"/>
          <p:cNvSpPr>
            <a:spLocks noChangeArrowheads="1"/>
          </p:cNvSpPr>
          <p:nvPr/>
        </p:nvSpPr>
        <p:spPr bwMode="auto">
          <a:xfrm>
            <a:off x="767408" y="116632"/>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design - summary</a:t>
            </a:r>
          </a:p>
        </p:txBody>
      </p:sp>
    </p:spTree>
    <p:extLst>
      <p:ext uri="{BB962C8B-B14F-4D97-AF65-F5344CB8AC3E}">
        <p14:creationId xmlns:p14="http://schemas.microsoft.com/office/powerpoint/2010/main" val="24823711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8"/>
          <p:cNvSpPr>
            <a:spLocks noChangeArrowheads="1"/>
          </p:cNvSpPr>
          <p:nvPr/>
        </p:nvSpPr>
        <p:spPr bwMode="auto">
          <a:xfrm>
            <a:off x="767408" y="88068"/>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twist</a:t>
            </a:r>
          </a:p>
        </p:txBody>
      </p:sp>
      <p:sp>
        <p:nvSpPr>
          <p:cNvPr id="3" name="Content Placeholder 2"/>
          <p:cNvSpPr txBox="1">
            <a:spLocks/>
          </p:cNvSpPr>
          <p:nvPr/>
        </p:nvSpPr>
        <p:spPr>
          <a:xfrm>
            <a:off x="767408" y="1124746"/>
            <a:ext cx="10441160" cy="475252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dirty="0"/>
              <a:t>There are generally two reasons for using wing twist:</a:t>
            </a:r>
          </a:p>
          <a:p>
            <a:pPr lvl="1"/>
            <a:r>
              <a:rPr lang="en-US" sz="1400" dirty="0"/>
              <a:t>To prevent the wingtip region from stalling before </a:t>
            </a:r>
            <a:r>
              <a:rPr lang="nl-NL" sz="1400" dirty="0" err="1"/>
              <a:t>the</a:t>
            </a:r>
            <a:r>
              <a:rPr lang="nl-NL" sz="1400" dirty="0"/>
              <a:t> </a:t>
            </a:r>
            <a:r>
              <a:rPr lang="nl-NL" sz="1400" dirty="0" err="1"/>
              <a:t>wing</a:t>
            </a:r>
            <a:r>
              <a:rPr lang="nl-NL" sz="1400" dirty="0"/>
              <a:t> root</a:t>
            </a:r>
          </a:p>
          <a:p>
            <a:pPr lvl="1"/>
            <a:r>
              <a:rPr lang="en-US" sz="1400" dirty="0"/>
              <a:t>To modify the </a:t>
            </a:r>
            <a:r>
              <a:rPr lang="en-US" sz="1400" dirty="0" err="1"/>
              <a:t>spanwise</a:t>
            </a:r>
            <a:r>
              <a:rPr lang="en-US" sz="1400" dirty="0"/>
              <a:t> lift distribution to help </a:t>
            </a:r>
            <a:r>
              <a:rPr lang="nl-NL" sz="1400" dirty="0" err="1"/>
              <a:t>achieve</a:t>
            </a:r>
            <a:r>
              <a:rPr lang="nl-NL" sz="1400" dirty="0"/>
              <a:t> minimum </a:t>
            </a:r>
            <a:r>
              <a:rPr lang="nl-NL" sz="1400" dirty="0" err="1"/>
              <a:t>drag</a:t>
            </a:r>
            <a:r>
              <a:rPr lang="nl-NL" sz="1400" dirty="0"/>
              <a:t> at mission </a:t>
            </a:r>
            <a:r>
              <a:rPr lang="nl-NL" sz="1400" dirty="0" err="1"/>
              <a:t>condition</a:t>
            </a:r>
            <a:endParaRPr lang="nl-NL" sz="1400" dirty="0"/>
          </a:p>
          <a:p>
            <a:r>
              <a:rPr lang="en-GB" sz="1600" b="1" dirty="0"/>
              <a:t>Geometric twist: </a:t>
            </a:r>
            <a:r>
              <a:rPr lang="en-GB" sz="1600" dirty="0"/>
              <a:t>the angle measured between the </a:t>
            </a:r>
            <a:r>
              <a:rPr lang="en-GB" sz="1600" dirty="0" err="1"/>
              <a:t>airfoils’</a:t>
            </a:r>
            <a:r>
              <a:rPr lang="en-GB" sz="1600" dirty="0"/>
              <a:t> chords (typically between the root and tip </a:t>
            </a:r>
            <a:r>
              <a:rPr lang="en-GB" sz="1600" dirty="0" err="1"/>
              <a:t>airfoils</a:t>
            </a:r>
            <a:r>
              <a:rPr lang="en-GB" sz="1600" dirty="0"/>
              <a:t>)</a:t>
            </a:r>
          </a:p>
          <a:p>
            <a:r>
              <a:rPr lang="en-GB" sz="1600" b="1" dirty="0"/>
              <a:t>Aerodynamic twist: </a:t>
            </a:r>
            <a:r>
              <a:rPr lang="en-GB" sz="1600" dirty="0"/>
              <a:t>is defined as the angle between </a:t>
            </a:r>
            <a:r>
              <a:rPr lang="en-GB" sz="1600" b="1" dirty="0"/>
              <a:t>the zero-lift angle</a:t>
            </a:r>
            <a:r>
              <a:rPr lang="en-GB" sz="1600" dirty="0"/>
              <a:t> of an </a:t>
            </a:r>
            <a:r>
              <a:rPr lang="en-GB" sz="1600" dirty="0" err="1"/>
              <a:t>airfoil</a:t>
            </a:r>
            <a:r>
              <a:rPr lang="en-GB" sz="1600" dirty="0"/>
              <a:t> and another</a:t>
            </a:r>
            <a:endParaRPr lang="nl-NL" sz="1600" dirty="0"/>
          </a:p>
          <a:p>
            <a:endParaRPr lang="en-GB" dirty="0"/>
          </a:p>
          <a:p>
            <a:endParaRPr lang="en-GB" sz="1800" dirty="0"/>
          </a:p>
          <a:p>
            <a:endParaRPr lang="en-GB" sz="1600" kern="0" dirty="0">
              <a:solidFill>
                <a:srgbClr val="FF0000"/>
              </a:solidFill>
              <a:latin typeface="Arial" charset="0"/>
            </a:endParaRPr>
          </a:p>
          <a:p>
            <a:pPr marL="0" indent="0" algn="ctr">
              <a:buNone/>
            </a:pPr>
            <a:endParaRPr lang="en-GB" sz="1400" kern="0" dirty="0">
              <a:solidFill>
                <a:srgbClr val="FF0000"/>
              </a:solidFill>
              <a:latin typeface="Arial" charset="0"/>
            </a:endParaRPr>
          </a:p>
          <a:p>
            <a:pPr marL="0" indent="0" algn="ctr">
              <a:buNone/>
            </a:pPr>
            <a:endParaRPr lang="en-GB" sz="1400" kern="0" dirty="0">
              <a:solidFill>
                <a:srgbClr val="FF0000"/>
              </a:solidFill>
              <a:latin typeface="Arial" charset="0"/>
            </a:endParaRPr>
          </a:p>
        </p:txBody>
      </p:sp>
      <p:pic>
        <p:nvPicPr>
          <p:cNvPr id="18434"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849" y="3645025"/>
            <a:ext cx="5497041" cy="1753367"/>
          </a:xfrm>
          <a:prstGeom prst="rect">
            <a:avLst/>
          </a:prstGeom>
          <a:noFill/>
          <a:extLst>
            <a:ext uri="{909E8E84-426E-40DD-AFC4-6F175D3DCCD1}">
              <a14:hiddenFill xmlns:a14="http://schemas.microsoft.com/office/drawing/2010/main">
                <a:solidFill>
                  <a:srgbClr val="FFFFFF"/>
                </a:solidFill>
              </a14:hiddenFill>
            </a:ext>
          </a:extLst>
        </p:spPr>
      </p:pic>
      <p:pic>
        <p:nvPicPr>
          <p:cNvPr id="18435" name="Picture 3"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359" y="3645025"/>
            <a:ext cx="2319314" cy="214491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112224" y="5834906"/>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Tree>
    <p:extLst>
      <p:ext uri="{BB962C8B-B14F-4D97-AF65-F5344CB8AC3E}">
        <p14:creationId xmlns:p14="http://schemas.microsoft.com/office/powerpoint/2010/main" val="2197574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8"/>
          <p:cNvSpPr>
            <a:spLocks noChangeArrowheads="1"/>
          </p:cNvSpPr>
          <p:nvPr/>
        </p:nvSpPr>
        <p:spPr bwMode="auto">
          <a:xfrm>
            <a:off x="789808" y="86319"/>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stall</a:t>
            </a:r>
          </a:p>
        </p:txBody>
      </p:sp>
      <p:sp>
        <p:nvSpPr>
          <p:cNvPr id="5" name="Content Placeholder 2"/>
          <p:cNvSpPr txBox="1">
            <a:spLocks/>
          </p:cNvSpPr>
          <p:nvPr/>
        </p:nvSpPr>
        <p:spPr>
          <a:xfrm>
            <a:off x="789808" y="836712"/>
            <a:ext cx="9410648" cy="4872444"/>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eaLnBrk="1" hangingPunct="1"/>
            <a:r>
              <a:rPr lang="en-GB" sz="1600" b="1" dirty="0"/>
              <a:t>Design goal: </a:t>
            </a:r>
            <a:r>
              <a:rPr lang="en-GB" sz="1600" dirty="0"/>
              <a:t>for conventional aircraft configuration the stall pattern on the wing should always begin at the root and progress toward the tip as angle of attack increases</a:t>
            </a:r>
            <a:r>
              <a:rPr lang="en-GB" sz="1400" dirty="0"/>
              <a:t>. </a:t>
            </a:r>
          </a:p>
          <a:p>
            <a:pPr eaLnBrk="1" hangingPunct="1"/>
            <a:endParaRPr lang="en-GB" sz="1400" dirty="0"/>
          </a:p>
          <a:p>
            <a:pPr eaLnBrk="1" hangingPunct="1"/>
            <a:endParaRPr lang="en-GB" sz="1400" dirty="0"/>
          </a:p>
          <a:p>
            <a:pPr eaLnBrk="1" hangingPunct="1"/>
            <a:endParaRPr lang="en-GB" sz="1400" dirty="0"/>
          </a:p>
          <a:p>
            <a:endParaRPr lang="en-GB" sz="1600" dirty="0"/>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sp>
        <p:nvSpPr>
          <p:cNvPr id="6" name="TextBox 5"/>
          <p:cNvSpPr txBox="1"/>
          <p:nvPr/>
        </p:nvSpPr>
        <p:spPr>
          <a:xfrm>
            <a:off x="5303912" y="1772816"/>
            <a:ext cx="1368152" cy="400110"/>
          </a:xfrm>
          <a:prstGeom prst="rect">
            <a:avLst/>
          </a:prstGeom>
          <a:noFill/>
        </p:spPr>
        <p:txBody>
          <a:bodyPr wrap="square" rtlCol="0">
            <a:spAutoFit/>
          </a:bodyPr>
          <a:lstStyle/>
          <a:p>
            <a:r>
              <a:rPr lang="en-GB" sz="2000" dirty="0">
                <a:solidFill>
                  <a:srgbClr val="FF0000"/>
                </a:solidFill>
              </a:rPr>
              <a:t>Why?</a:t>
            </a:r>
            <a:endParaRPr lang="nl-NL" sz="2000" dirty="0">
              <a:solidFill>
                <a:srgbClr val="FF0000"/>
              </a:solidFill>
            </a:endParaRPr>
          </a:p>
        </p:txBody>
      </p:sp>
      <p:grpSp>
        <p:nvGrpSpPr>
          <p:cNvPr id="63" name="Group 62"/>
          <p:cNvGrpSpPr/>
          <p:nvPr/>
        </p:nvGrpSpPr>
        <p:grpSpPr>
          <a:xfrm>
            <a:off x="2275969" y="2276872"/>
            <a:ext cx="7424038" cy="3696964"/>
            <a:chOff x="0" y="914400"/>
            <a:chExt cx="9107180" cy="5788884"/>
          </a:xfrm>
        </p:grpSpPr>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l="45454" t="1639" r="1025" b="38245"/>
            <a:stretch>
              <a:fillRect/>
            </a:stretch>
          </p:blipFill>
          <p:spPr bwMode="auto">
            <a:xfrm>
              <a:off x="0" y="1066800"/>
              <a:ext cx="443547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5" name="Freeform 3"/>
            <p:cNvSpPr>
              <a:spLocks/>
            </p:cNvSpPr>
            <p:nvPr/>
          </p:nvSpPr>
          <p:spPr bwMode="auto">
            <a:xfrm>
              <a:off x="1100138" y="1066800"/>
              <a:ext cx="2009775" cy="2314575"/>
            </a:xfrm>
            <a:custGeom>
              <a:avLst/>
              <a:gdLst>
                <a:gd name="T0" fmla="*/ 2147483647 w 1266"/>
                <a:gd name="T1" fmla="*/ 0 h 1458"/>
                <a:gd name="T2" fmla="*/ 2147483647 w 1266"/>
                <a:gd name="T3" fmla="*/ 2147483647 h 1458"/>
                <a:gd name="T4" fmla="*/ 0 w 1266"/>
                <a:gd name="T5" fmla="*/ 2147483647 h 1458"/>
                <a:gd name="T6" fmla="*/ 2147483647 w 1266"/>
                <a:gd name="T7" fmla="*/ 0 h 1458"/>
                <a:gd name="T8" fmla="*/ 2147483647 w 1266"/>
                <a:gd name="T9" fmla="*/ 0 h 1458"/>
                <a:gd name="T10" fmla="*/ 0 60000 65536"/>
                <a:gd name="T11" fmla="*/ 0 60000 65536"/>
                <a:gd name="T12" fmla="*/ 0 60000 65536"/>
                <a:gd name="T13" fmla="*/ 0 60000 65536"/>
                <a:gd name="T14" fmla="*/ 0 60000 65536"/>
                <a:gd name="T15" fmla="*/ 0 w 1266"/>
                <a:gd name="T16" fmla="*/ 0 h 1458"/>
                <a:gd name="T17" fmla="*/ 1266 w 1266"/>
                <a:gd name="T18" fmla="*/ 1458 h 1458"/>
              </a:gdLst>
              <a:ahLst/>
              <a:cxnLst>
                <a:cxn ang="T10">
                  <a:pos x="T0" y="T1"/>
                </a:cxn>
                <a:cxn ang="T11">
                  <a:pos x="T2" y="T3"/>
                </a:cxn>
                <a:cxn ang="T12">
                  <a:pos x="T4" y="T5"/>
                </a:cxn>
                <a:cxn ang="T13">
                  <a:pos x="T6" y="T7"/>
                </a:cxn>
                <a:cxn ang="T14">
                  <a:pos x="T8" y="T9"/>
                </a:cxn>
              </a:cxnLst>
              <a:rect l="T15" t="T16" r="T17" b="T18"/>
              <a:pathLst>
                <a:path w="1266" h="1458">
                  <a:moveTo>
                    <a:pt x="1266" y="0"/>
                  </a:moveTo>
                  <a:lnTo>
                    <a:pt x="660" y="1452"/>
                  </a:lnTo>
                  <a:lnTo>
                    <a:pt x="0" y="1458"/>
                  </a:lnTo>
                  <a:lnTo>
                    <a:pt x="1101" y="0"/>
                  </a:lnTo>
                  <a:lnTo>
                    <a:pt x="1266" y="0"/>
                  </a:lnTo>
                  <a:close/>
                </a:path>
              </a:pathLst>
            </a:custGeom>
            <a:solidFill>
              <a:srgbClr val="FF3300"/>
            </a:solidFill>
            <a:ln w="9525" cap="flat" cmpd="sng">
              <a:solidFill>
                <a:schemeClr val="tx1"/>
              </a:solidFill>
              <a:prstDash val="solid"/>
              <a:round/>
              <a:headEnd/>
              <a:tailEnd/>
            </a:ln>
          </p:spPr>
          <p:txBody>
            <a:bodyPr wrap="none">
              <a:spAutoFit/>
            </a:bodyPr>
            <a:lstStyle/>
            <a:p>
              <a:endParaRPr lang="nl-NL"/>
            </a:p>
          </p:txBody>
        </p:sp>
        <p:sp>
          <p:nvSpPr>
            <p:cNvPr id="66" name="Line 4"/>
            <p:cNvSpPr>
              <a:spLocks noChangeShapeType="1"/>
            </p:cNvSpPr>
            <p:nvPr/>
          </p:nvSpPr>
          <p:spPr bwMode="auto">
            <a:xfrm>
              <a:off x="1752600" y="1066800"/>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67" name="Line 5"/>
            <p:cNvSpPr>
              <a:spLocks noChangeShapeType="1"/>
            </p:cNvSpPr>
            <p:nvPr/>
          </p:nvSpPr>
          <p:spPr bwMode="auto">
            <a:xfrm>
              <a:off x="2157413" y="3371850"/>
              <a:ext cx="276225" cy="4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68" name="Line 6"/>
            <p:cNvSpPr>
              <a:spLocks noChangeShapeType="1"/>
            </p:cNvSpPr>
            <p:nvPr/>
          </p:nvSpPr>
          <p:spPr bwMode="auto">
            <a:xfrm flipV="1">
              <a:off x="1647825" y="1062038"/>
              <a:ext cx="1323975" cy="23145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69" name="Line 7"/>
            <p:cNvSpPr>
              <a:spLocks noChangeShapeType="1"/>
            </p:cNvSpPr>
            <p:nvPr/>
          </p:nvSpPr>
          <p:spPr bwMode="auto">
            <a:xfrm>
              <a:off x="1752600" y="1066800"/>
              <a:ext cx="661988" cy="230981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70" name="Line 8"/>
            <p:cNvSpPr>
              <a:spLocks noChangeShapeType="1"/>
            </p:cNvSpPr>
            <p:nvPr/>
          </p:nvSpPr>
          <p:spPr bwMode="auto">
            <a:xfrm>
              <a:off x="1752600" y="2486025"/>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71" name="AutoShape 9"/>
            <p:cNvSpPr>
              <a:spLocks noChangeArrowheads="1"/>
            </p:cNvSpPr>
            <p:nvPr/>
          </p:nvSpPr>
          <p:spPr bwMode="auto">
            <a:xfrm>
              <a:off x="1924050" y="2443163"/>
              <a:ext cx="76200" cy="762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72" name="AutoShape 10"/>
            <p:cNvSpPr>
              <a:spLocks noChangeArrowheads="1"/>
            </p:cNvSpPr>
            <p:nvPr/>
          </p:nvSpPr>
          <p:spPr bwMode="auto">
            <a:xfrm>
              <a:off x="1612900" y="3295650"/>
              <a:ext cx="152400" cy="152400"/>
            </a:xfrm>
            <a:prstGeom prst="flowChartSummingJunction">
              <a:avLst/>
            </a:prstGeom>
            <a:solidFill>
              <a:schemeClr val="tx1"/>
            </a:solidFill>
            <a:ln w="9525">
              <a:solidFill>
                <a:schemeClr val="tx1"/>
              </a:solidFill>
              <a:round/>
              <a:headEnd/>
              <a:tailEnd/>
            </a:ln>
          </p:spPr>
          <p:txBody>
            <a:bodyPr anchor="ctr">
              <a:spAutoFit/>
            </a:bodyPr>
            <a:lstStyle/>
            <a:p>
              <a:endParaRPr lang="nl-NL"/>
            </a:p>
          </p:txBody>
        </p:sp>
        <p:sp>
          <p:nvSpPr>
            <p:cNvPr id="73" name="Rectangle 20"/>
            <p:cNvSpPr>
              <a:spLocks noChangeArrowheads="1"/>
            </p:cNvSpPr>
            <p:nvPr/>
          </p:nvSpPr>
          <p:spPr bwMode="auto">
            <a:xfrm>
              <a:off x="4495800" y="4267200"/>
              <a:ext cx="1066800" cy="10668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nl-NL"/>
            </a:p>
          </p:txBody>
        </p:sp>
        <p:sp>
          <p:nvSpPr>
            <p:cNvPr id="74" name="Rectangle 22"/>
            <p:cNvSpPr>
              <a:spLocks noChangeArrowheads="1"/>
            </p:cNvSpPr>
            <p:nvPr/>
          </p:nvSpPr>
          <p:spPr bwMode="auto">
            <a:xfrm>
              <a:off x="0" y="1828800"/>
              <a:ext cx="1219200" cy="8382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nl-NL"/>
            </a:p>
          </p:txBody>
        </p:sp>
        <p:sp>
          <p:nvSpPr>
            <p:cNvPr id="75" name="Line 24"/>
            <p:cNvSpPr>
              <a:spLocks noChangeShapeType="1"/>
            </p:cNvSpPr>
            <p:nvPr/>
          </p:nvSpPr>
          <p:spPr bwMode="auto">
            <a:xfrm>
              <a:off x="1676400" y="3352800"/>
              <a:ext cx="0" cy="2057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76" name="Line 25"/>
            <p:cNvSpPr>
              <a:spLocks noChangeShapeType="1"/>
            </p:cNvSpPr>
            <p:nvPr/>
          </p:nvSpPr>
          <p:spPr bwMode="auto">
            <a:xfrm>
              <a:off x="1963738" y="2438400"/>
              <a:ext cx="0" cy="2971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77" name="AutoShape 26"/>
            <p:cNvSpPr>
              <a:spLocks noChangeArrowheads="1"/>
            </p:cNvSpPr>
            <p:nvPr/>
          </p:nvSpPr>
          <p:spPr bwMode="auto">
            <a:xfrm>
              <a:off x="1576388" y="4914900"/>
              <a:ext cx="152400" cy="152400"/>
            </a:xfrm>
            <a:prstGeom prst="flowChartSummingJunction">
              <a:avLst/>
            </a:prstGeom>
            <a:solidFill>
              <a:schemeClr val="tx1"/>
            </a:solidFill>
            <a:ln w="9525">
              <a:solidFill>
                <a:schemeClr val="tx1"/>
              </a:solidFill>
              <a:round/>
              <a:headEnd/>
              <a:tailEnd/>
            </a:ln>
          </p:spPr>
          <p:txBody>
            <a:bodyPr anchor="ctr">
              <a:spAutoFit/>
            </a:bodyPr>
            <a:lstStyle/>
            <a:p>
              <a:endParaRPr lang="nl-NL"/>
            </a:p>
          </p:txBody>
        </p:sp>
        <p:sp>
          <p:nvSpPr>
            <p:cNvPr id="78" name="AutoShape 27"/>
            <p:cNvSpPr>
              <a:spLocks noChangeArrowheads="1"/>
            </p:cNvSpPr>
            <p:nvPr/>
          </p:nvSpPr>
          <p:spPr bwMode="auto">
            <a:xfrm>
              <a:off x="1881188" y="4914900"/>
              <a:ext cx="152400" cy="1524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79" name="Line 28"/>
            <p:cNvSpPr>
              <a:spLocks noChangeShapeType="1"/>
            </p:cNvSpPr>
            <p:nvPr/>
          </p:nvSpPr>
          <p:spPr bwMode="auto">
            <a:xfrm>
              <a:off x="3886200" y="3048000"/>
              <a:ext cx="0" cy="2362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80" name="AutoShape 29"/>
            <p:cNvSpPr>
              <a:spLocks noChangeArrowheads="1"/>
            </p:cNvSpPr>
            <p:nvPr/>
          </p:nvSpPr>
          <p:spPr bwMode="auto">
            <a:xfrm>
              <a:off x="3810000" y="4924425"/>
              <a:ext cx="152400" cy="1524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81" name="Line 30"/>
            <p:cNvSpPr>
              <a:spLocks noChangeShapeType="1"/>
            </p:cNvSpPr>
            <p:nvPr/>
          </p:nvSpPr>
          <p:spPr bwMode="auto">
            <a:xfrm>
              <a:off x="1676400" y="50292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82" name="Line 31"/>
            <p:cNvSpPr>
              <a:spLocks noChangeShapeType="1"/>
            </p:cNvSpPr>
            <p:nvPr/>
          </p:nvSpPr>
          <p:spPr bwMode="auto">
            <a:xfrm flipV="1">
              <a:off x="1957388" y="4000500"/>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83" name="Line 32"/>
            <p:cNvSpPr>
              <a:spLocks noChangeShapeType="1"/>
            </p:cNvSpPr>
            <p:nvPr/>
          </p:nvSpPr>
          <p:spPr bwMode="auto">
            <a:xfrm>
              <a:off x="3886200" y="5076825"/>
              <a:ext cx="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84" name="Line 33"/>
            <p:cNvSpPr>
              <a:spLocks noChangeShapeType="1"/>
            </p:cNvSpPr>
            <p:nvPr/>
          </p:nvSpPr>
          <p:spPr bwMode="auto">
            <a:xfrm>
              <a:off x="801688" y="4995863"/>
              <a:ext cx="403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nl-NL"/>
            </a:p>
          </p:txBody>
        </p:sp>
        <p:sp>
          <p:nvSpPr>
            <p:cNvPr id="85" name="Text Box 34"/>
            <p:cNvSpPr txBox="1">
              <a:spLocks noChangeArrowheads="1"/>
            </p:cNvSpPr>
            <p:nvPr/>
          </p:nvSpPr>
          <p:spPr bwMode="auto">
            <a:xfrm>
              <a:off x="1295400" y="5156199"/>
              <a:ext cx="452673"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W</a:t>
              </a:r>
            </a:p>
          </p:txBody>
        </p:sp>
        <p:sp>
          <p:nvSpPr>
            <p:cNvPr id="86" name="Text Box 35"/>
            <p:cNvSpPr txBox="1">
              <a:spLocks noChangeArrowheads="1"/>
            </p:cNvSpPr>
            <p:nvPr/>
          </p:nvSpPr>
          <p:spPr bwMode="auto">
            <a:xfrm>
              <a:off x="1981200" y="4317999"/>
              <a:ext cx="700442"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err="1"/>
                <a:t>L</a:t>
              </a:r>
              <a:r>
                <a:rPr lang="en-GB" baseline="-25000" dirty="0" err="1"/>
                <a:t>wing</a:t>
              </a:r>
              <a:endParaRPr lang="en-GB" baseline="-25000" dirty="0"/>
            </a:p>
          </p:txBody>
        </p:sp>
        <p:sp>
          <p:nvSpPr>
            <p:cNvPr id="87" name="Text Box 36"/>
            <p:cNvSpPr txBox="1">
              <a:spLocks noChangeArrowheads="1"/>
            </p:cNvSpPr>
            <p:nvPr/>
          </p:nvSpPr>
          <p:spPr bwMode="auto">
            <a:xfrm>
              <a:off x="3962400" y="5003800"/>
              <a:ext cx="572782"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err="1"/>
                <a:t>L</a:t>
              </a:r>
              <a:r>
                <a:rPr lang="en-GB" baseline="-25000" dirty="0" err="1"/>
                <a:t>tail</a:t>
              </a:r>
              <a:endParaRPr lang="en-GB" baseline="-25000" dirty="0"/>
            </a:p>
          </p:txBody>
        </p:sp>
        <p:sp>
          <p:nvSpPr>
            <p:cNvPr id="88" name="Text Box 49"/>
            <p:cNvSpPr txBox="1">
              <a:spLocks noChangeArrowheads="1"/>
            </p:cNvSpPr>
            <p:nvPr/>
          </p:nvSpPr>
          <p:spPr bwMode="auto">
            <a:xfrm>
              <a:off x="1331913" y="5805488"/>
              <a:ext cx="2009591" cy="528116"/>
            </a:xfrm>
            <a:prstGeom prst="rect">
              <a:avLst/>
            </a:prstGeom>
            <a:solidFill>
              <a:schemeClr val="bg1"/>
            </a:solidFill>
            <a:ln w="9525" algn="ctr">
              <a:solidFill>
                <a:schemeClr val="tx1"/>
              </a:solidFill>
              <a:miter lim="800000"/>
              <a:headEnd/>
              <a:tailEnd/>
            </a:ln>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dirty="0"/>
                <a:t>Balanced aircraft</a:t>
              </a:r>
            </a:p>
          </p:txBody>
        </p:sp>
        <p:sp>
          <p:nvSpPr>
            <p:cNvPr id="89" name="Text Box 50"/>
            <p:cNvSpPr txBox="1">
              <a:spLocks noChangeArrowheads="1"/>
            </p:cNvSpPr>
            <p:nvPr/>
          </p:nvSpPr>
          <p:spPr bwMode="auto">
            <a:xfrm>
              <a:off x="5435600" y="5805488"/>
              <a:ext cx="3305175" cy="897796"/>
            </a:xfrm>
            <a:prstGeom prst="rect">
              <a:avLst/>
            </a:prstGeom>
            <a:solidFill>
              <a:schemeClr val="bg1"/>
            </a:solidFill>
            <a:ln w="9525" algn="ctr">
              <a:solidFill>
                <a:schemeClr val="tx1"/>
              </a:solidFill>
              <a:miter lim="800000"/>
              <a:headEnd/>
              <a:tailEnd/>
            </a:ln>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dirty="0"/>
                <a:t>Aircraft pitches up (angle of attack grows further)</a:t>
              </a:r>
            </a:p>
          </p:txBody>
        </p:sp>
        <p:grpSp>
          <p:nvGrpSpPr>
            <p:cNvPr id="90" name="Group 89"/>
            <p:cNvGrpSpPr>
              <a:grpSpLocks/>
            </p:cNvGrpSpPr>
            <p:nvPr/>
          </p:nvGrpSpPr>
          <p:grpSpPr bwMode="auto">
            <a:xfrm>
              <a:off x="5373688" y="2701925"/>
              <a:ext cx="3733492" cy="3013075"/>
              <a:chOff x="5373688" y="2701925"/>
              <a:chExt cx="3733492" cy="3013075"/>
            </a:xfrm>
          </p:grpSpPr>
          <p:sp>
            <p:nvSpPr>
              <p:cNvPr id="105" name="Line 46"/>
              <p:cNvSpPr>
                <a:spLocks noChangeShapeType="1"/>
              </p:cNvSpPr>
              <p:nvPr/>
            </p:nvSpPr>
            <p:spPr bwMode="auto">
              <a:xfrm flipH="1">
                <a:off x="6354763" y="2701925"/>
                <a:ext cx="6350" cy="225901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106" name="Line 47"/>
              <p:cNvSpPr>
                <a:spLocks noChangeShapeType="1"/>
              </p:cNvSpPr>
              <p:nvPr/>
            </p:nvSpPr>
            <p:spPr bwMode="auto">
              <a:xfrm>
                <a:off x="6248400" y="3352800"/>
                <a:ext cx="0" cy="2057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grpSp>
            <p:nvGrpSpPr>
              <p:cNvPr id="107" name="Group 2"/>
              <p:cNvGrpSpPr>
                <a:grpSpLocks/>
              </p:cNvGrpSpPr>
              <p:nvPr/>
            </p:nvGrpSpPr>
            <p:grpSpPr bwMode="auto">
              <a:xfrm>
                <a:off x="5373688" y="4202113"/>
                <a:ext cx="3733492" cy="1512887"/>
                <a:chOff x="5373688" y="4202113"/>
                <a:chExt cx="3733492" cy="1512887"/>
              </a:xfrm>
            </p:grpSpPr>
            <p:sp>
              <p:nvSpPr>
                <p:cNvPr id="108" name="AutoShape 37"/>
                <p:cNvSpPr>
                  <a:spLocks noChangeArrowheads="1"/>
                </p:cNvSpPr>
                <p:nvPr/>
              </p:nvSpPr>
              <p:spPr bwMode="auto">
                <a:xfrm>
                  <a:off x="6148388" y="4838700"/>
                  <a:ext cx="152400" cy="152400"/>
                </a:xfrm>
                <a:prstGeom prst="flowChartSummingJunction">
                  <a:avLst/>
                </a:prstGeom>
                <a:solidFill>
                  <a:schemeClr val="tx1"/>
                </a:solidFill>
                <a:ln w="9525">
                  <a:solidFill>
                    <a:schemeClr val="tx1"/>
                  </a:solidFill>
                  <a:round/>
                  <a:headEnd/>
                  <a:tailEnd/>
                </a:ln>
              </p:spPr>
              <p:txBody>
                <a:bodyPr anchor="ctr">
                  <a:spAutoFit/>
                </a:bodyPr>
                <a:lstStyle/>
                <a:p>
                  <a:endParaRPr lang="nl-NL"/>
                </a:p>
              </p:txBody>
            </p:sp>
            <p:sp>
              <p:nvSpPr>
                <p:cNvPr id="109" name="AutoShape 38"/>
                <p:cNvSpPr>
                  <a:spLocks noChangeArrowheads="1"/>
                </p:cNvSpPr>
                <p:nvPr/>
              </p:nvSpPr>
              <p:spPr bwMode="auto">
                <a:xfrm>
                  <a:off x="6288088" y="4838700"/>
                  <a:ext cx="152400" cy="1524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110" name="AutoShape 39"/>
                <p:cNvSpPr>
                  <a:spLocks noChangeArrowheads="1"/>
                </p:cNvSpPr>
                <p:nvPr/>
              </p:nvSpPr>
              <p:spPr bwMode="auto">
                <a:xfrm>
                  <a:off x="8382000" y="4848225"/>
                  <a:ext cx="152400" cy="1524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111" name="Line 40"/>
                <p:cNvSpPr>
                  <a:spLocks noChangeShapeType="1"/>
                </p:cNvSpPr>
                <p:nvPr/>
              </p:nvSpPr>
              <p:spPr bwMode="auto">
                <a:xfrm>
                  <a:off x="6248400" y="49530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nl-NL"/>
                </a:p>
              </p:txBody>
            </p:sp>
            <p:sp>
              <p:nvSpPr>
                <p:cNvPr id="112" name="Line 41"/>
                <p:cNvSpPr>
                  <a:spLocks noChangeShapeType="1"/>
                </p:cNvSpPr>
                <p:nvPr/>
              </p:nvSpPr>
              <p:spPr bwMode="auto">
                <a:xfrm>
                  <a:off x="8458200" y="5000625"/>
                  <a:ext cx="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sp>
              <p:nvSpPr>
                <p:cNvPr id="113" name="Line 42"/>
                <p:cNvSpPr>
                  <a:spLocks noChangeShapeType="1"/>
                </p:cNvSpPr>
                <p:nvPr/>
              </p:nvSpPr>
              <p:spPr bwMode="auto">
                <a:xfrm flipV="1">
                  <a:off x="5373688" y="4910138"/>
                  <a:ext cx="3532187" cy="9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114" name="Text Box 43"/>
                <p:cNvSpPr txBox="1">
                  <a:spLocks noChangeArrowheads="1"/>
                </p:cNvSpPr>
                <p:nvPr/>
              </p:nvSpPr>
              <p:spPr bwMode="auto">
                <a:xfrm>
                  <a:off x="6324600" y="5156200"/>
                  <a:ext cx="452673"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a:t>W</a:t>
                  </a:r>
                </a:p>
              </p:txBody>
            </p:sp>
            <p:sp>
              <p:nvSpPr>
                <p:cNvPr id="115" name="Text Box 44"/>
                <p:cNvSpPr txBox="1">
                  <a:spLocks noChangeArrowheads="1"/>
                </p:cNvSpPr>
                <p:nvPr/>
              </p:nvSpPr>
              <p:spPr bwMode="auto">
                <a:xfrm>
                  <a:off x="6388101" y="4241799"/>
                  <a:ext cx="700442"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err="1"/>
                    <a:t>L</a:t>
                  </a:r>
                  <a:r>
                    <a:rPr lang="en-GB" baseline="-25000" dirty="0" err="1"/>
                    <a:t>wing</a:t>
                  </a:r>
                  <a:endParaRPr lang="en-GB" baseline="-25000" dirty="0"/>
                </a:p>
              </p:txBody>
            </p:sp>
            <p:sp>
              <p:nvSpPr>
                <p:cNvPr id="116" name="Text Box 45"/>
                <p:cNvSpPr txBox="1">
                  <a:spLocks noChangeArrowheads="1"/>
                </p:cNvSpPr>
                <p:nvPr/>
              </p:nvSpPr>
              <p:spPr bwMode="auto">
                <a:xfrm>
                  <a:off x="8534399" y="4927600"/>
                  <a:ext cx="572781" cy="53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dirty="0" err="1"/>
                    <a:t>L</a:t>
                  </a:r>
                  <a:r>
                    <a:rPr lang="en-GB" baseline="-25000" dirty="0" err="1"/>
                    <a:t>tail</a:t>
                  </a:r>
                  <a:endParaRPr lang="en-GB" baseline="-25000" dirty="0"/>
                </a:p>
              </p:txBody>
            </p:sp>
            <p:sp>
              <p:nvSpPr>
                <p:cNvPr id="117" name="Arc 51"/>
                <p:cNvSpPr>
                  <a:spLocks/>
                </p:cNvSpPr>
                <p:nvPr/>
              </p:nvSpPr>
              <p:spPr bwMode="auto">
                <a:xfrm flipH="1" flipV="1">
                  <a:off x="5637213" y="4343400"/>
                  <a:ext cx="620712" cy="1012825"/>
                </a:xfrm>
                <a:custGeom>
                  <a:avLst/>
                  <a:gdLst>
                    <a:gd name="T0" fmla="*/ 2147483647 w 21895"/>
                    <a:gd name="T1" fmla="*/ 0 h 38224"/>
                    <a:gd name="T2" fmla="*/ 0 w 21895"/>
                    <a:gd name="T3" fmla="*/ 2147483647 h 38224"/>
                    <a:gd name="T4" fmla="*/ 2147483647 w 21895"/>
                    <a:gd name="T5" fmla="*/ 2147483647 h 38224"/>
                    <a:gd name="T6" fmla="*/ 0 60000 65536"/>
                    <a:gd name="T7" fmla="*/ 0 60000 65536"/>
                    <a:gd name="T8" fmla="*/ 0 60000 65536"/>
                    <a:gd name="T9" fmla="*/ 0 w 21895"/>
                    <a:gd name="T10" fmla="*/ 0 h 38224"/>
                    <a:gd name="T11" fmla="*/ 21895 w 21895"/>
                    <a:gd name="T12" fmla="*/ 38224 h 38224"/>
                  </a:gdLst>
                  <a:ahLst/>
                  <a:cxnLst>
                    <a:cxn ang="T6">
                      <a:pos x="T0" y="T1"/>
                    </a:cxn>
                    <a:cxn ang="T7">
                      <a:pos x="T2" y="T3"/>
                    </a:cxn>
                    <a:cxn ang="T8">
                      <a:pos x="T4" y="T5"/>
                    </a:cxn>
                  </a:cxnLst>
                  <a:rect l="T9" t="T10" r="T11" b="T12"/>
                  <a:pathLst>
                    <a:path w="21895" h="38224" fill="none" extrusionOk="0">
                      <a:moveTo>
                        <a:pt x="14086" y="0"/>
                      </a:moveTo>
                      <a:cubicBezTo>
                        <a:pt x="19033" y="4103"/>
                        <a:pt x="21895" y="10197"/>
                        <a:pt x="21895" y="16624"/>
                      </a:cubicBezTo>
                      <a:cubicBezTo>
                        <a:pt x="21895" y="28553"/>
                        <a:pt x="12224" y="38224"/>
                        <a:pt x="295" y="38224"/>
                      </a:cubicBezTo>
                      <a:cubicBezTo>
                        <a:pt x="196" y="38224"/>
                        <a:pt x="98" y="38223"/>
                        <a:pt x="0" y="38221"/>
                      </a:cubicBezTo>
                    </a:path>
                    <a:path w="21895" h="38224" stroke="0" extrusionOk="0">
                      <a:moveTo>
                        <a:pt x="14086" y="0"/>
                      </a:moveTo>
                      <a:cubicBezTo>
                        <a:pt x="19033" y="4103"/>
                        <a:pt x="21895" y="10197"/>
                        <a:pt x="21895" y="16624"/>
                      </a:cubicBezTo>
                      <a:cubicBezTo>
                        <a:pt x="21895" y="28553"/>
                        <a:pt x="12224" y="38224"/>
                        <a:pt x="295" y="38224"/>
                      </a:cubicBezTo>
                      <a:cubicBezTo>
                        <a:pt x="196" y="38224"/>
                        <a:pt x="98" y="38223"/>
                        <a:pt x="0" y="38221"/>
                      </a:cubicBezTo>
                      <a:lnTo>
                        <a:pt x="295" y="16624"/>
                      </a:lnTo>
                      <a:lnTo>
                        <a:pt x="14086" y="0"/>
                      </a:lnTo>
                      <a:close/>
                    </a:path>
                  </a:pathLst>
                </a:custGeom>
                <a:noFill/>
                <a:ln w="2857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nl-NL"/>
                </a:p>
              </p:txBody>
            </p:sp>
            <p:sp>
              <p:nvSpPr>
                <p:cNvPr id="118" name="Line 52"/>
                <p:cNvSpPr>
                  <a:spLocks noChangeShapeType="1"/>
                </p:cNvSpPr>
                <p:nvPr/>
              </p:nvSpPr>
              <p:spPr bwMode="auto">
                <a:xfrm flipV="1">
                  <a:off x="6364288" y="4202113"/>
                  <a:ext cx="4762" cy="636587"/>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grpSp>
        </p:grpSp>
        <p:grpSp>
          <p:nvGrpSpPr>
            <p:cNvPr id="91" name="Group 90"/>
            <p:cNvGrpSpPr>
              <a:grpSpLocks/>
            </p:cNvGrpSpPr>
            <p:nvPr/>
          </p:nvGrpSpPr>
          <p:grpSpPr bwMode="auto">
            <a:xfrm>
              <a:off x="4495800" y="914400"/>
              <a:ext cx="4511675" cy="3019425"/>
              <a:chOff x="4495800" y="914400"/>
              <a:chExt cx="4511675" cy="3019425"/>
            </a:xfrm>
          </p:grpSpPr>
          <p:pic>
            <p:nvPicPr>
              <p:cNvPr id="92" name="Picture 11"/>
              <p:cNvPicPr>
                <a:picLocks noChangeAspect="1" noChangeArrowheads="1"/>
              </p:cNvPicPr>
              <p:nvPr/>
            </p:nvPicPr>
            <p:blipFill>
              <a:blip r:embed="rId3">
                <a:extLst>
                  <a:ext uri="{28A0092B-C50C-407E-A947-70E740481C1C}">
                    <a14:useLocalDpi xmlns:a14="http://schemas.microsoft.com/office/drawing/2010/main" val="0"/>
                  </a:ext>
                </a:extLst>
              </a:blip>
              <a:srcRect l="45454" t="1639" r="1025" b="38245"/>
              <a:stretch>
                <a:fillRect/>
              </a:stretch>
            </p:blipFill>
            <p:spPr bwMode="auto">
              <a:xfrm>
                <a:off x="4572000" y="1066800"/>
                <a:ext cx="443547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3" name="Freeform 12"/>
              <p:cNvSpPr>
                <a:spLocks/>
              </p:cNvSpPr>
              <p:nvPr/>
            </p:nvSpPr>
            <p:spPr bwMode="auto">
              <a:xfrm>
                <a:off x="5672138" y="1920875"/>
                <a:ext cx="1635125" cy="1460500"/>
              </a:xfrm>
              <a:custGeom>
                <a:avLst/>
                <a:gdLst>
                  <a:gd name="T0" fmla="*/ 2147483647 w 1030"/>
                  <a:gd name="T1" fmla="*/ 2147483647 h 920"/>
                  <a:gd name="T2" fmla="*/ 2147483647 w 1030"/>
                  <a:gd name="T3" fmla="*/ 2147483647 h 920"/>
                  <a:gd name="T4" fmla="*/ 0 w 1030"/>
                  <a:gd name="T5" fmla="*/ 2147483647 h 920"/>
                  <a:gd name="T6" fmla="*/ 2147483647 w 1030"/>
                  <a:gd name="T7" fmla="*/ 0 h 920"/>
                  <a:gd name="T8" fmla="*/ 2147483647 w 1030"/>
                  <a:gd name="T9" fmla="*/ 2147483647 h 920"/>
                  <a:gd name="T10" fmla="*/ 0 60000 65536"/>
                  <a:gd name="T11" fmla="*/ 0 60000 65536"/>
                  <a:gd name="T12" fmla="*/ 0 60000 65536"/>
                  <a:gd name="T13" fmla="*/ 0 60000 65536"/>
                  <a:gd name="T14" fmla="*/ 0 60000 65536"/>
                  <a:gd name="T15" fmla="*/ 0 w 1030"/>
                  <a:gd name="T16" fmla="*/ 0 h 920"/>
                  <a:gd name="T17" fmla="*/ 1030 w 1030"/>
                  <a:gd name="T18" fmla="*/ 920 h 920"/>
                </a:gdLst>
                <a:ahLst/>
                <a:cxnLst>
                  <a:cxn ang="T10">
                    <a:pos x="T0" y="T1"/>
                  </a:cxn>
                  <a:cxn ang="T11">
                    <a:pos x="T2" y="T3"/>
                  </a:cxn>
                  <a:cxn ang="T12">
                    <a:pos x="T4" y="T5"/>
                  </a:cxn>
                  <a:cxn ang="T13">
                    <a:pos x="T6" y="T7"/>
                  </a:cxn>
                  <a:cxn ang="T14">
                    <a:pos x="T8" y="T9"/>
                  </a:cxn>
                </a:cxnLst>
                <a:rect l="T15" t="T16" r="T17" b="T18"/>
                <a:pathLst>
                  <a:path w="1030" h="920">
                    <a:moveTo>
                      <a:pt x="1030" y="9"/>
                    </a:moveTo>
                    <a:lnTo>
                      <a:pt x="660" y="914"/>
                    </a:lnTo>
                    <a:lnTo>
                      <a:pt x="0" y="920"/>
                    </a:lnTo>
                    <a:lnTo>
                      <a:pt x="689" y="0"/>
                    </a:lnTo>
                    <a:lnTo>
                      <a:pt x="1030" y="9"/>
                    </a:lnTo>
                    <a:close/>
                  </a:path>
                </a:pathLst>
              </a:custGeom>
              <a:solidFill>
                <a:srgbClr val="FF3300"/>
              </a:solidFill>
              <a:ln w="9525" cap="flat" cmpd="sng">
                <a:solidFill>
                  <a:schemeClr val="tx1"/>
                </a:solidFill>
                <a:prstDash val="solid"/>
                <a:round/>
                <a:headEnd/>
                <a:tailEnd/>
              </a:ln>
            </p:spPr>
            <p:txBody>
              <a:bodyPr wrap="none">
                <a:spAutoFit/>
              </a:bodyPr>
              <a:lstStyle/>
              <a:p>
                <a:endParaRPr lang="nl-NL"/>
              </a:p>
            </p:txBody>
          </p:sp>
          <p:sp>
            <p:nvSpPr>
              <p:cNvPr id="94" name="Line 13"/>
              <p:cNvSpPr>
                <a:spLocks noChangeShapeType="1"/>
              </p:cNvSpPr>
              <p:nvPr/>
            </p:nvSpPr>
            <p:spPr bwMode="auto">
              <a:xfrm>
                <a:off x="5684838" y="1925638"/>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95" name="Freeform 14"/>
              <p:cNvSpPr>
                <a:spLocks/>
              </p:cNvSpPr>
              <p:nvPr/>
            </p:nvSpPr>
            <p:spPr bwMode="auto">
              <a:xfrm>
                <a:off x="6707188" y="3378200"/>
                <a:ext cx="555625" cy="4763"/>
              </a:xfrm>
              <a:custGeom>
                <a:avLst/>
                <a:gdLst>
                  <a:gd name="T0" fmla="*/ 0 w 350"/>
                  <a:gd name="T1" fmla="*/ 0 h 3"/>
                  <a:gd name="T2" fmla="*/ 2147483647 w 350"/>
                  <a:gd name="T3" fmla="*/ 2147483647 h 3"/>
                  <a:gd name="T4" fmla="*/ 0 60000 65536"/>
                  <a:gd name="T5" fmla="*/ 0 60000 65536"/>
                  <a:gd name="T6" fmla="*/ 0 w 350"/>
                  <a:gd name="T7" fmla="*/ 0 h 3"/>
                  <a:gd name="T8" fmla="*/ 350 w 350"/>
                  <a:gd name="T9" fmla="*/ 3 h 3"/>
                </a:gdLst>
                <a:ahLst/>
                <a:cxnLst>
                  <a:cxn ang="T4">
                    <a:pos x="T0" y="T1"/>
                  </a:cxn>
                  <a:cxn ang="T5">
                    <a:pos x="T2" y="T3"/>
                  </a:cxn>
                </a:cxnLst>
                <a:rect l="T6" t="T7" r="T8" b="T9"/>
                <a:pathLst>
                  <a:path w="350" h="3">
                    <a:moveTo>
                      <a:pt x="0" y="0"/>
                    </a:moveTo>
                    <a:lnTo>
                      <a:pt x="350" y="3"/>
                    </a:lnTo>
                  </a:path>
                </a:pathLst>
              </a:custGeom>
              <a:noFill/>
              <a:ln w="952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spAutoFit/>
              </a:bodyPr>
              <a:lstStyle/>
              <a:p>
                <a:endParaRPr lang="nl-NL"/>
              </a:p>
            </p:txBody>
          </p:sp>
          <p:sp>
            <p:nvSpPr>
              <p:cNvPr id="96" name="Line 15"/>
              <p:cNvSpPr>
                <a:spLocks noChangeShapeType="1"/>
              </p:cNvSpPr>
              <p:nvPr/>
            </p:nvSpPr>
            <p:spPr bwMode="auto">
              <a:xfrm flipV="1">
                <a:off x="6219825" y="1062038"/>
                <a:ext cx="1323975" cy="23145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97" name="Line 16"/>
              <p:cNvSpPr>
                <a:spLocks noChangeShapeType="1"/>
              </p:cNvSpPr>
              <p:nvPr/>
            </p:nvSpPr>
            <p:spPr bwMode="auto">
              <a:xfrm>
                <a:off x="5705475" y="1919288"/>
                <a:ext cx="1552575" cy="14509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98" name="Line 17"/>
              <p:cNvSpPr>
                <a:spLocks noChangeShapeType="1"/>
              </p:cNvSpPr>
              <p:nvPr/>
            </p:nvSpPr>
            <p:spPr bwMode="auto">
              <a:xfrm flipV="1">
                <a:off x="6169025" y="2727325"/>
                <a:ext cx="793750" cy="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nl-NL"/>
              </a:p>
            </p:txBody>
          </p:sp>
          <p:sp>
            <p:nvSpPr>
              <p:cNvPr id="99" name="AutoShape 18"/>
              <p:cNvSpPr>
                <a:spLocks noChangeArrowheads="1"/>
              </p:cNvSpPr>
              <p:nvPr/>
            </p:nvSpPr>
            <p:spPr bwMode="auto">
              <a:xfrm>
                <a:off x="6327775" y="2697163"/>
                <a:ext cx="76200" cy="76200"/>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100" name="AutoShape 19"/>
              <p:cNvSpPr>
                <a:spLocks noChangeArrowheads="1"/>
              </p:cNvSpPr>
              <p:nvPr/>
            </p:nvSpPr>
            <p:spPr bwMode="auto">
              <a:xfrm>
                <a:off x="6184900" y="3295650"/>
                <a:ext cx="152400" cy="152400"/>
              </a:xfrm>
              <a:prstGeom prst="flowChartSummingJunction">
                <a:avLst/>
              </a:prstGeom>
              <a:solidFill>
                <a:schemeClr val="tx1"/>
              </a:solidFill>
              <a:ln w="9525">
                <a:solidFill>
                  <a:schemeClr val="tx1"/>
                </a:solidFill>
                <a:round/>
                <a:headEnd/>
                <a:tailEnd/>
              </a:ln>
            </p:spPr>
            <p:txBody>
              <a:bodyPr anchor="ctr">
                <a:spAutoFit/>
              </a:bodyPr>
              <a:lstStyle/>
              <a:p>
                <a:endParaRPr lang="nl-NL"/>
              </a:p>
            </p:txBody>
          </p:sp>
          <p:sp>
            <p:nvSpPr>
              <p:cNvPr id="101" name="Rectangle 21"/>
              <p:cNvSpPr>
                <a:spLocks noChangeArrowheads="1"/>
              </p:cNvSpPr>
              <p:nvPr/>
            </p:nvSpPr>
            <p:spPr bwMode="auto">
              <a:xfrm>
                <a:off x="4495800" y="1828800"/>
                <a:ext cx="1219200" cy="8382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nl-NL"/>
              </a:p>
            </p:txBody>
          </p:sp>
          <p:sp>
            <p:nvSpPr>
              <p:cNvPr id="102" name="Text Box 48"/>
              <p:cNvSpPr txBox="1">
                <a:spLocks noChangeArrowheads="1"/>
              </p:cNvSpPr>
              <p:nvPr/>
            </p:nvSpPr>
            <p:spPr bwMode="auto">
              <a:xfrm>
                <a:off x="4724401" y="965199"/>
                <a:ext cx="1877877" cy="52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400" dirty="0"/>
                  <a:t>Wing tip stalled</a:t>
                </a:r>
              </a:p>
            </p:txBody>
          </p:sp>
          <p:sp>
            <p:nvSpPr>
              <p:cNvPr id="103" name="Oval 54"/>
              <p:cNvSpPr>
                <a:spLocks noChangeArrowheads="1"/>
              </p:cNvSpPr>
              <p:nvPr/>
            </p:nvSpPr>
            <p:spPr bwMode="auto">
              <a:xfrm>
                <a:off x="6705600" y="914400"/>
                <a:ext cx="1143000" cy="1066800"/>
              </a:xfrm>
              <a:prstGeom prst="ellipse">
                <a:avLst/>
              </a:prstGeom>
              <a:noFill/>
              <a:ln w="9525" algn="ctr">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nl-NL"/>
              </a:p>
            </p:txBody>
          </p:sp>
          <p:sp>
            <p:nvSpPr>
              <p:cNvPr id="104" name="Line 55"/>
              <p:cNvSpPr>
                <a:spLocks noChangeShapeType="1"/>
              </p:cNvSpPr>
              <p:nvPr/>
            </p:nvSpPr>
            <p:spPr bwMode="auto">
              <a:xfrm>
                <a:off x="6400800" y="1295400"/>
                <a:ext cx="533400" cy="1524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nl-NL"/>
              </a:p>
            </p:txBody>
          </p:sp>
        </p:grpSp>
      </p:grpSp>
    </p:spTree>
    <p:extLst>
      <p:ext uri="{BB962C8B-B14F-4D97-AF65-F5344CB8AC3E}">
        <p14:creationId xmlns:p14="http://schemas.microsoft.com/office/powerpoint/2010/main" val="225190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File:North American YF-100 (SN 52-5754) in flight 060905-F-1234S-053.jpg">
            <a:hlinkClick r:id="rId3"/>
          </p:cNvPr>
          <p:cNvPicPr>
            <a:picLocks noChangeAspect="1" noChangeArrowheads="1"/>
          </p:cNvPicPr>
          <p:nvPr/>
        </p:nvPicPr>
        <p:blipFill>
          <a:blip r:embed="rId4"/>
          <a:srcRect/>
          <a:stretch>
            <a:fillRect/>
          </a:stretch>
        </p:blipFill>
        <p:spPr bwMode="auto">
          <a:xfrm>
            <a:off x="2531195" y="1473200"/>
            <a:ext cx="3368675" cy="22320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9699" name="Text Box 48"/>
          <p:cNvSpPr txBox="1">
            <a:spLocks noChangeArrowheads="1"/>
          </p:cNvSpPr>
          <p:nvPr/>
        </p:nvSpPr>
        <p:spPr bwMode="auto">
          <a:xfrm>
            <a:off x="2519363" y="3883025"/>
            <a:ext cx="296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dirty="0"/>
              <a:t>F-100 Super Sabre</a:t>
            </a:r>
          </a:p>
        </p:txBody>
      </p:sp>
      <p:pic>
        <p:nvPicPr>
          <p:cNvPr id="82948" name="Picture 4" descr="http://cdn-www.airliners.net/aviation-photos/middle/1/5/0/1327051.jpg"/>
          <p:cNvPicPr>
            <a:picLocks noChangeAspect="1" noChangeArrowheads="1"/>
          </p:cNvPicPr>
          <p:nvPr/>
        </p:nvPicPr>
        <p:blipFill rotWithShape="1">
          <a:blip r:embed="rId5"/>
          <a:srcRect/>
          <a:stretch/>
        </p:blipFill>
        <p:spPr bwMode="auto">
          <a:xfrm>
            <a:off x="6600056" y="1469170"/>
            <a:ext cx="3635375" cy="21097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9702" name="Text Box 48"/>
          <p:cNvSpPr txBox="1">
            <a:spLocks noChangeArrowheads="1"/>
          </p:cNvSpPr>
          <p:nvPr/>
        </p:nvSpPr>
        <p:spPr bwMode="auto">
          <a:xfrm>
            <a:off x="6672064" y="3964720"/>
            <a:ext cx="296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a:t>F-101 Voodoo</a:t>
            </a:r>
          </a:p>
        </p:txBody>
      </p:sp>
      <p:sp>
        <p:nvSpPr>
          <p:cNvPr id="29703" name="Text Box 48"/>
          <p:cNvSpPr txBox="1">
            <a:spLocks noChangeArrowheads="1"/>
          </p:cNvSpPr>
          <p:nvPr/>
        </p:nvSpPr>
        <p:spPr bwMode="auto">
          <a:xfrm>
            <a:off x="2135189" y="4868863"/>
            <a:ext cx="80279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Many early swept wing aircraft were suffering of tip stall and pitch up problems. Designers learnt how to design pitch up free aircraft, or to take adequate countermeasures.</a:t>
            </a:r>
          </a:p>
        </p:txBody>
      </p:sp>
      <p:sp>
        <p:nvSpPr>
          <p:cNvPr id="8" name="Rectangle 28"/>
          <p:cNvSpPr>
            <a:spLocks noChangeArrowheads="1"/>
          </p:cNvSpPr>
          <p:nvPr/>
        </p:nvSpPr>
        <p:spPr bwMode="auto">
          <a:xfrm>
            <a:off x="695400" y="48287"/>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Pitch up</a:t>
            </a:r>
          </a:p>
        </p:txBody>
      </p:sp>
    </p:spTree>
    <p:extLst>
      <p:ext uri="{BB962C8B-B14F-4D97-AF65-F5344CB8AC3E}">
        <p14:creationId xmlns:p14="http://schemas.microsoft.com/office/powerpoint/2010/main" val="23741035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932" y="749890"/>
            <a:ext cx="5904655" cy="492528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8"/>
          <p:cNvSpPr>
            <a:spLocks noChangeArrowheads="1"/>
          </p:cNvSpPr>
          <p:nvPr/>
        </p:nvSpPr>
        <p:spPr bwMode="auto">
          <a:xfrm>
            <a:off x="767408" y="116632"/>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Stall progression pattern</a:t>
            </a:r>
          </a:p>
        </p:txBody>
      </p:sp>
      <p:sp>
        <p:nvSpPr>
          <p:cNvPr id="4" name="TextBox 3"/>
          <p:cNvSpPr txBox="1"/>
          <p:nvPr/>
        </p:nvSpPr>
        <p:spPr>
          <a:xfrm>
            <a:off x="8328248" y="5888306"/>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pic>
        <p:nvPicPr>
          <p:cNvPr id="5" name="Picture 2" descr="D:\aelham\Desktop\Untitled.png">
            <a:extLst>
              <a:ext uri="{FF2B5EF4-FFF2-40B4-BE49-F238E27FC236}">
                <a16:creationId xmlns:a16="http://schemas.microsoft.com/office/drawing/2014/main" id="{1C31D570-489B-E345-9004-DB9AB71CDD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855"/>
          <a:stretch/>
        </p:blipFill>
        <p:spPr bwMode="auto">
          <a:xfrm>
            <a:off x="6960096" y="837945"/>
            <a:ext cx="4534499" cy="4939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700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8"/>
          <p:cNvSpPr>
            <a:spLocks noChangeArrowheads="1"/>
          </p:cNvSpPr>
          <p:nvPr/>
        </p:nvSpPr>
        <p:spPr bwMode="auto">
          <a:xfrm>
            <a:off x="767408" y="117177"/>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planform design to avoid pitch up</a:t>
            </a:r>
          </a:p>
        </p:txBody>
      </p:sp>
      <p:sp>
        <p:nvSpPr>
          <p:cNvPr id="2" name="TextBox 1"/>
          <p:cNvSpPr txBox="1"/>
          <p:nvPr/>
        </p:nvSpPr>
        <p:spPr>
          <a:xfrm>
            <a:off x="1991544" y="5566468"/>
            <a:ext cx="3312368" cy="338554"/>
          </a:xfrm>
          <a:prstGeom prst="rect">
            <a:avLst/>
          </a:prstGeom>
          <a:noFill/>
        </p:spPr>
        <p:txBody>
          <a:bodyPr wrap="square" rtlCol="0">
            <a:spAutoFit/>
          </a:bodyPr>
          <a:lstStyle/>
          <a:p>
            <a:r>
              <a:rPr lang="en-GB" dirty="0"/>
              <a:t>To avoid pitch up:</a:t>
            </a:r>
            <a:endParaRPr lang="nl-NL" dirty="0"/>
          </a:p>
        </p:txBody>
      </p:sp>
      <p:graphicFrame>
        <p:nvGraphicFramePr>
          <p:cNvPr id="4" name="Object 3"/>
          <p:cNvGraphicFramePr>
            <a:graphicFrameLocks noChangeAspect="1"/>
          </p:cNvGraphicFramePr>
          <p:nvPr>
            <p:extLst>
              <p:ext uri="{D42A27DB-BD31-4B8C-83A1-F6EECF244321}">
                <p14:modId xmlns:p14="http://schemas.microsoft.com/office/powerpoint/2010/main" val="2154379133"/>
              </p:ext>
            </p:extLst>
          </p:nvPr>
        </p:nvGraphicFramePr>
        <p:xfrm>
          <a:off x="4959350" y="5516563"/>
          <a:ext cx="3136900" cy="455612"/>
        </p:xfrm>
        <a:graphic>
          <a:graphicData uri="http://schemas.openxmlformats.org/presentationml/2006/ole">
            <mc:AlternateContent xmlns:mc="http://schemas.openxmlformats.org/markup-compatibility/2006">
              <mc:Choice xmlns:v="urn:schemas-microsoft-com:vml" Requires="v">
                <p:oleObj name="Equation" r:id="rId2" imgW="1574640" imgH="228600" progId="Equation.DSMT4">
                  <p:embed/>
                </p:oleObj>
              </mc:Choice>
              <mc:Fallback>
                <p:oleObj name="Equation" r:id="rId2" imgW="1574640" imgH="228600" progId="Equation.DSMT4">
                  <p:embed/>
                  <p:pic>
                    <p:nvPicPr>
                      <p:cNvPr id="0" name=""/>
                      <p:cNvPicPr/>
                      <p:nvPr/>
                    </p:nvPicPr>
                    <p:blipFill>
                      <a:blip r:embed="rId3"/>
                      <a:stretch>
                        <a:fillRect/>
                      </a:stretch>
                    </p:blipFill>
                    <p:spPr>
                      <a:xfrm>
                        <a:off x="4959350" y="5516563"/>
                        <a:ext cx="3136900" cy="455612"/>
                      </a:xfrm>
                      <a:prstGeom prst="rect">
                        <a:avLst/>
                      </a:prstGeom>
                    </p:spPr>
                  </p:pic>
                </p:oleObj>
              </mc:Fallback>
            </mc:AlternateContent>
          </a:graphicData>
        </a:graphic>
      </p:graphicFrame>
      <p:sp>
        <p:nvSpPr>
          <p:cNvPr id="6" name="TextBox 5"/>
          <p:cNvSpPr txBox="1"/>
          <p:nvPr/>
        </p:nvSpPr>
        <p:spPr>
          <a:xfrm>
            <a:off x="8119790" y="5731251"/>
            <a:ext cx="2664296" cy="276999"/>
          </a:xfrm>
          <a:prstGeom prst="rect">
            <a:avLst/>
          </a:prstGeom>
          <a:noFill/>
        </p:spPr>
        <p:txBody>
          <a:bodyPr wrap="square" rtlCol="0">
            <a:spAutoFit/>
          </a:bodyPr>
          <a:lstStyle/>
          <a:p>
            <a:r>
              <a:rPr lang="en-GB" sz="1200" dirty="0"/>
              <a:t>Source: </a:t>
            </a:r>
            <a:r>
              <a:rPr lang="en-GB" sz="1200" dirty="0" err="1"/>
              <a:t>Gudmundsson</a:t>
            </a:r>
            <a:endParaRPr lang="nl-NL" sz="1200" dirty="0"/>
          </a:p>
        </p:txBody>
      </p:sp>
      <p:pic>
        <p:nvPicPr>
          <p:cNvPr id="2560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720" y="1916832"/>
            <a:ext cx="5478906" cy="3328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2"/>
          <p:cNvSpPr>
            <a:spLocks noChangeArrowheads="1"/>
          </p:cNvSpPr>
          <p:nvPr/>
        </p:nvSpPr>
        <p:spPr bwMode="auto">
          <a:xfrm>
            <a:off x="767408" y="1124744"/>
            <a:ext cx="111612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just" fontAlgn="base"/>
            <a:r>
              <a:rPr lang="en-GB" dirty="0"/>
              <a:t>The </a:t>
            </a:r>
            <a:r>
              <a:rPr lang="en-GB" b="1" dirty="0" err="1"/>
              <a:t>pitchup</a:t>
            </a:r>
            <a:r>
              <a:rPr lang="en-GB" b="1" dirty="0"/>
              <a:t> tendency</a:t>
            </a:r>
            <a:r>
              <a:rPr lang="en-GB" dirty="0"/>
              <a:t> of swept wing is such that </a:t>
            </a:r>
            <a:r>
              <a:rPr lang="en-GB" b="1" dirty="0">
                <a:solidFill>
                  <a:srgbClr val="FF3300"/>
                </a:solidFill>
              </a:rPr>
              <a:t>proper combinations of wing aspect ratio and sweep angle have to be chosen</a:t>
            </a:r>
            <a:r>
              <a:rPr lang="en-GB" dirty="0"/>
              <a:t> in order to guarantee stability at (and after) stall conditions.</a:t>
            </a:r>
          </a:p>
        </p:txBody>
      </p:sp>
    </p:spTree>
    <p:extLst>
      <p:ext uri="{BB962C8B-B14F-4D97-AF65-F5344CB8AC3E}">
        <p14:creationId xmlns:p14="http://schemas.microsoft.com/office/powerpoint/2010/main" val="1832311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8"/>
          <p:cNvSpPr>
            <a:spLocks noChangeArrowheads="1"/>
          </p:cNvSpPr>
          <p:nvPr/>
        </p:nvSpPr>
        <p:spPr bwMode="auto">
          <a:xfrm>
            <a:off x="767408" y="158310"/>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Wing incidence angle</a:t>
            </a:r>
          </a:p>
        </p:txBody>
      </p:sp>
      <p:sp>
        <p:nvSpPr>
          <p:cNvPr id="3" name="Content Placeholder 2"/>
          <p:cNvSpPr txBox="1">
            <a:spLocks/>
          </p:cNvSpPr>
          <p:nvPr/>
        </p:nvSpPr>
        <p:spPr>
          <a:xfrm>
            <a:off x="839416" y="1124746"/>
            <a:ext cx="4248472" cy="475252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eaLnBrk="1" hangingPunct="1"/>
            <a:r>
              <a:rPr lang="en-GB" sz="1600" dirty="0"/>
              <a:t>The wing incidence </a:t>
            </a:r>
            <a:r>
              <a:rPr lang="en-GB" sz="1600" b="1" dirty="0"/>
              <a:t>(</a:t>
            </a:r>
            <a:r>
              <a:rPr lang="en-GB" sz="1600" b="1" dirty="0" err="1"/>
              <a:t>i</a:t>
            </a:r>
            <a:r>
              <a:rPr lang="en-GB" sz="1600" b="1" baseline="-25000" dirty="0" err="1"/>
              <a:t>w</a:t>
            </a:r>
            <a:r>
              <a:rPr lang="en-GB" sz="1600" b="1" dirty="0"/>
              <a:t>)</a:t>
            </a:r>
            <a:r>
              <a:rPr lang="en-GB" sz="1600" b="1" baseline="-25000" dirty="0"/>
              <a:t> </a:t>
            </a:r>
            <a:r>
              <a:rPr lang="en-GB" sz="1600" dirty="0"/>
              <a:t>is the pitch angle of the wing </a:t>
            </a:r>
            <a:r>
              <a:rPr lang="en-GB" sz="1600" b="1" dirty="0"/>
              <a:t>with respect to the fuselage</a:t>
            </a:r>
            <a:r>
              <a:rPr lang="en-GB" sz="1600" dirty="0"/>
              <a:t>. Typically it is measured between the wing root chord* and a fuselage longitudinal reference plane (e.g. the fuselage floor). </a:t>
            </a:r>
          </a:p>
          <a:p>
            <a:pPr eaLnBrk="1" hangingPunct="1"/>
            <a:endParaRPr lang="en-GB" sz="1600" dirty="0"/>
          </a:p>
          <a:p>
            <a:r>
              <a:rPr lang="en-GB" sz="1600" b="1" dirty="0"/>
              <a:t>Angles of wing incidence in the order of 1-2 degrees are typical</a:t>
            </a:r>
            <a:endParaRPr lang="en-GB" sz="1600" dirty="0"/>
          </a:p>
          <a:p>
            <a:endParaRPr lang="en-GB" dirty="0"/>
          </a:p>
          <a:p>
            <a:endParaRPr lang="en-GB" sz="1800" dirty="0"/>
          </a:p>
          <a:p>
            <a:endParaRPr lang="en-GB" sz="1600" kern="0" dirty="0">
              <a:solidFill>
                <a:srgbClr val="FF0000"/>
              </a:solidFill>
              <a:latin typeface="Arial" charset="0"/>
            </a:endParaRPr>
          </a:p>
          <a:p>
            <a:pPr marL="0" indent="0" algn="ctr">
              <a:buNone/>
            </a:pPr>
            <a:endParaRPr lang="en-GB" sz="1400" kern="0" dirty="0">
              <a:solidFill>
                <a:srgbClr val="FF0000"/>
              </a:solidFill>
              <a:latin typeface="Arial" charset="0"/>
            </a:endParaRPr>
          </a:p>
          <a:p>
            <a:pPr marL="0" indent="0" algn="ctr">
              <a:buNone/>
            </a:pPr>
            <a:endParaRPr lang="en-GB" sz="1400" kern="0" dirty="0">
              <a:solidFill>
                <a:srgbClr val="FF0000"/>
              </a:solidFill>
              <a:latin typeface="Arial" charset="0"/>
            </a:endParaRPr>
          </a:p>
        </p:txBody>
      </p:sp>
      <p:pic>
        <p:nvPicPr>
          <p:cNvPr id="19458"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2032" y="815455"/>
            <a:ext cx="5716683" cy="3672407"/>
          </a:xfrm>
          <a:prstGeom prst="rect">
            <a:avLst/>
          </a:prstGeom>
          <a:noFill/>
          <a:extLst>
            <a:ext uri="{909E8E84-426E-40DD-AFC4-6F175D3DCCD1}">
              <a14:hiddenFill xmlns:a14="http://schemas.microsoft.com/office/drawing/2010/main">
                <a:solidFill>
                  <a:srgbClr val="FFFFFF"/>
                </a:solidFill>
              </a14:hiddenFill>
            </a:ext>
          </a:extLst>
        </p:spPr>
      </p:pic>
      <p:sp>
        <p:nvSpPr>
          <p:cNvPr id="4" name="Arc 3"/>
          <p:cNvSpPr/>
          <p:nvPr/>
        </p:nvSpPr>
        <p:spPr bwMode="auto">
          <a:xfrm rot="2025046" flipH="1" flipV="1">
            <a:off x="6322675" y="2462676"/>
            <a:ext cx="265085" cy="377966"/>
          </a:xfrm>
          <a:prstGeom prst="arc">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nl-NL" sz="2200"/>
          </a:p>
        </p:txBody>
      </p:sp>
      <p:sp>
        <p:nvSpPr>
          <p:cNvPr id="5" name="TextBox 4"/>
          <p:cNvSpPr txBox="1"/>
          <p:nvPr/>
        </p:nvSpPr>
        <p:spPr>
          <a:xfrm>
            <a:off x="6023992" y="2348881"/>
            <a:ext cx="432048" cy="307777"/>
          </a:xfrm>
          <a:prstGeom prst="rect">
            <a:avLst/>
          </a:prstGeom>
          <a:noFill/>
        </p:spPr>
        <p:txBody>
          <a:bodyPr wrap="square" rtlCol="0">
            <a:spAutoFit/>
          </a:bodyPr>
          <a:lstStyle/>
          <a:p>
            <a:r>
              <a:rPr lang="en-GB" sz="1400" dirty="0" err="1">
                <a:solidFill>
                  <a:srgbClr val="FF0000"/>
                </a:solidFill>
              </a:rPr>
              <a:t>i</a:t>
            </a:r>
            <a:r>
              <a:rPr lang="en-GB" sz="1400" baseline="-25000" dirty="0" err="1">
                <a:solidFill>
                  <a:srgbClr val="FF0000"/>
                </a:solidFill>
              </a:rPr>
              <a:t>w</a:t>
            </a:r>
            <a:endParaRPr lang="nl-NL" sz="1400" dirty="0">
              <a:solidFill>
                <a:srgbClr val="FF0000"/>
              </a:solidFill>
            </a:endParaRPr>
          </a:p>
        </p:txBody>
      </p:sp>
      <p:sp>
        <p:nvSpPr>
          <p:cNvPr id="9" name="TextBox 8"/>
          <p:cNvSpPr txBox="1"/>
          <p:nvPr/>
        </p:nvSpPr>
        <p:spPr>
          <a:xfrm>
            <a:off x="8112224" y="5834906"/>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Tree>
    <p:extLst>
      <p:ext uri="{BB962C8B-B14F-4D97-AF65-F5344CB8AC3E}">
        <p14:creationId xmlns:p14="http://schemas.microsoft.com/office/powerpoint/2010/main" val="30163496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260350" y="443180"/>
            <a:ext cx="68405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4000" dirty="0">
                <a:solidFill>
                  <a:schemeClr val="bg1"/>
                </a:solidFill>
                <a:latin typeface="Bookman Old Style" pitchFamily="18" charset="0"/>
              </a:rPr>
              <a:t>4: Airfoil/Planform design guidelines</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20614007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8"/>
          <p:cNvSpPr>
            <a:spLocks noChangeArrowheads="1"/>
          </p:cNvSpPr>
          <p:nvPr/>
        </p:nvSpPr>
        <p:spPr bwMode="auto">
          <a:xfrm>
            <a:off x="712709" y="106928"/>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Airfoil selection</a:t>
            </a:r>
          </a:p>
        </p:txBody>
      </p:sp>
      <p:sp>
        <p:nvSpPr>
          <p:cNvPr id="3" name="Content Placeholder 2"/>
          <p:cNvSpPr txBox="1">
            <a:spLocks/>
          </p:cNvSpPr>
          <p:nvPr/>
        </p:nvSpPr>
        <p:spPr>
          <a:xfrm>
            <a:off x="712709" y="736654"/>
            <a:ext cx="9703771" cy="475252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r>
              <a:rPr lang="en-GB" sz="1600" b="1" dirty="0"/>
              <a:t>The first step in </a:t>
            </a:r>
            <a:r>
              <a:rPr lang="en-GB" sz="1600" b="1" dirty="0" err="1"/>
              <a:t>airfoil</a:t>
            </a:r>
            <a:r>
              <a:rPr lang="en-GB" sz="1600" b="1" dirty="0"/>
              <a:t> selection is to determine the design lift coefficient of the </a:t>
            </a:r>
            <a:r>
              <a:rPr lang="en-GB" sz="1600" b="1" dirty="0" err="1"/>
              <a:t>airfoil</a:t>
            </a:r>
            <a:r>
              <a:rPr lang="en-GB" sz="1600" b="1" dirty="0"/>
              <a:t>.</a:t>
            </a:r>
          </a:p>
          <a:p>
            <a:pPr lvl="1"/>
            <a:r>
              <a:rPr lang="en-GB" dirty="0"/>
              <a:t>The design lift is the aircraft lift at the most fuel intensive segment of the aircraft mission, i.e. The flight condition at which the aircraft is supposed to fly most of the time</a:t>
            </a:r>
          </a:p>
          <a:p>
            <a:pPr lvl="1"/>
            <a:endParaRPr lang="en-GB" dirty="0"/>
          </a:p>
          <a:p>
            <a:pPr lvl="1"/>
            <a:endParaRPr lang="en-GB" dirty="0"/>
          </a:p>
          <a:p>
            <a:pPr lvl="1"/>
            <a:endParaRPr lang="en-GB" dirty="0"/>
          </a:p>
          <a:p>
            <a:pPr lvl="1"/>
            <a:endParaRPr lang="en-GB" dirty="0"/>
          </a:p>
          <a:p>
            <a:pPr lvl="1"/>
            <a:endParaRPr lang="en-GB" dirty="0"/>
          </a:p>
          <a:p>
            <a:pPr lvl="1"/>
            <a:endParaRPr lang="en-GB" sz="1400" dirty="0"/>
          </a:p>
          <a:p>
            <a:pPr lvl="1"/>
            <a:endParaRPr lang="en-GB" sz="1400" dirty="0"/>
          </a:p>
          <a:p>
            <a:pPr lvl="1"/>
            <a:endParaRPr lang="en-GB" sz="1400" dirty="0"/>
          </a:p>
          <a:p>
            <a:pPr lvl="1"/>
            <a:r>
              <a:rPr lang="en-GB" dirty="0"/>
              <a:t>Aircraft lift is equal to the aircraft weigh</a:t>
            </a:r>
          </a:p>
          <a:p>
            <a:pPr marL="0" indent="0">
              <a:buNone/>
            </a:pPr>
            <a:r>
              <a:rPr lang="en-GB" sz="2400" b="1" dirty="0"/>
              <a:t>	</a:t>
            </a:r>
            <a:r>
              <a:rPr lang="en-GB" sz="1600" b="1" dirty="0" err="1"/>
              <a:t>L</a:t>
            </a:r>
            <a:r>
              <a:rPr lang="en-GB" sz="1600" b="1" baseline="-25000" dirty="0" err="1"/>
              <a:t>tot</a:t>
            </a:r>
            <a:r>
              <a:rPr lang="en-GB" sz="1600" b="1" dirty="0"/>
              <a:t> = </a:t>
            </a:r>
            <a:r>
              <a:rPr lang="en-GB" sz="1600" b="1" dirty="0" err="1"/>
              <a:t>W</a:t>
            </a:r>
            <a:r>
              <a:rPr lang="en-GB" sz="1600" b="1" baseline="-25000" dirty="0" err="1"/>
              <a:t>@fuel-intensive-mission-leg</a:t>
            </a:r>
            <a:endParaRPr lang="en-GB" sz="1600" b="1" baseline="-25000" dirty="0"/>
          </a:p>
          <a:p>
            <a:pPr lvl="1"/>
            <a:r>
              <a:rPr lang="en-GB" dirty="0"/>
              <a:t>For conventional aircraft configuration we can </a:t>
            </a:r>
            <a:r>
              <a:rPr lang="en-GB" dirty="0" err="1"/>
              <a:t>ssume</a:t>
            </a:r>
            <a:r>
              <a:rPr lang="en-GB" dirty="0"/>
              <a:t>:</a:t>
            </a:r>
          </a:p>
          <a:p>
            <a:pPr marL="385763" lvl="1" indent="0" eaLnBrk="1" hangingPunct="1">
              <a:buNone/>
            </a:pPr>
            <a:r>
              <a:rPr lang="en-GB" b="1" dirty="0"/>
              <a:t>           </a:t>
            </a:r>
            <a:r>
              <a:rPr lang="en-GB" b="1" dirty="0" err="1"/>
              <a:t>L</a:t>
            </a:r>
            <a:r>
              <a:rPr lang="en-GB" b="1" baseline="-25000" dirty="0" err="1"/>
              <a:t>wing</a:t>
            </a:r>
            <a:r>
              <a:rPr lang="en-GB" b="1" dirty="0"/>
              <a:t> ≈1.1 </a:t>
            </a:r>
            <a:r>
              <a:rPr lang="en-GB" b="1" dirty="0" err="1"/>
              <a:t>L</a:t>
            </a:r>
            <a:r>
              <a:rPr lang="en-GB" b="1" baseline="-25000" dirty="0" err="1"/>
              <a:t>tot</a:t>
            </a:r>
            <a:r>
              <a:rPr lang="en-GB" b="1" baseline="-25000" dirty="0"/>
              <a:t>.</a:t>
            </a:r>
            <a:endParaRPr lang="en-GB" dirty="0"/>
          </a:p>
          <a:p>
            <a:pPr marL="385763" lvl="1" indent="0" eaLnBrk="1" hangingPunct="1">
              <a:buNone/>
            </a:pPr>
            <a:r>
              <a:rPr lang="en-GB" dirty="0"/>
              <a:t>where the extra 10% is to compensate for the negative lift contribution generated by the tail to trim the aircraft.</a:t>
            </a:r>
          </a:p>
          <a:p>
            <a:pPr lvl="1"/>
            <a:endParaRPr lang="en-GB" sz="1400" dirty="0"/>
          </a:p>
          <a:p>
            <a:endParaRPr lang="en-GB" sz="1600" dirty="0"/>
          </a:p>
          <a:p>
            <a:endParaRPr lang="en-GB" sz="1400" kern="0" dirty="0">
              <a:solidFill>
                <a:srgbClr val="FF0000"/>
              </a:solidFill>
              <a:latin typeface="Arial" charset="0"/>
            </a:endParaRPr>
          </a:p>
          <a:p>
            <a:pPr marL="0" indent="0" algn="ctr">
              <a:buNone/>
            </a:pPr>
            <a:endParaRPr lang="en-GB" sz="1200" kern="0" dirty="0">
              <a:solidFill>
                <a:srgbClr val="FF0000"/>
              </a:solidFill>
              <a:latin typeface="Arial" charset="0"/>
            </a:endParaRPr>
          </a:p>
          <a:p>
            <a:pPr marL="0" indent="0" algn="ctr">
              <a:buNone/>
            </a:pPr>
            <a:endParaRPr lang="en-GB" sz="1200" kern="0" dirty="0">
              <a:solidFill>
                <a:srgbClr val="FF0000"/>
              </a:solidFill>
              <a:latin typeface="Arial" charset="0"/>
            </a:endParaRPr>
          </a:p>
        </p:txBody>
      </p:sp>
      <p:grpSp>
        <p:nvGrpSpPr>
          <p:cNvPr id="5" name="Group 7"/>
          <p:cNvGrpSpPr>
            <a:grpSpLocks/>
          </p:cNvGrpSpPr>
          <p:nvPr/>
        </p:nvGrpSpPr>
        <p:grpSpPr bwMode="auto">
          <a:xfrm>
            <a:off x="7896200" y="2018391"/>
            <a:ext cx="3623222" cy="911908"/>
            <a:chOff x="729433" y="980729"/>
            <a:chExt cx="7946375" cy="1653664"/>
          </a:xfrm>
        </p:grpSpPr>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9433" y="980729"/>
              <a:ext cx="4922687" cy="1653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19776" y="1584335"/>
              <a:ext cx="1256032" cy="72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6" descr="http://www.airplane-pictures.net/images/uploaded-images/2007-4/14/384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39656" y="1195691"/>
              <a:ext cx="1080120" cy="77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2"/>
            <p:cNvSpPr>
              <a:spLocks noChangeArrowheads="1"/>
            </p:cNvSpPr>
            <p:nvPr/>
          </p:nvSpPr>
          <p:spPr bwMode="auto">
            <a:xfrm flipH="1">
              <a:off x="5652120" y="1584335"/>
              <a:ext cx="288032" cy="421739"/>
            </a:xfrm>
            <a:prstGeom prst="rightArrow">
              <a:avLst>
                <a:gd name="adj1" fmla="val 50000"/>
                <a:gd name="adj2" fmla="val 50000"/>
              </a:avLst>
            </a:prstGeom>
            <a:solidFill>
              <a:schemeClr val="accent1"/>
            </a:solidFill>
            <a:ln w="9525" algn="ctr">
              <a:solidFill>
                <a:schemeClr val="tx1"/>
              </a:solidFill>
              <a:round/>
              <a:headEnd/>
              <a:tailEnd/>
            </a:ln>
          </p:spPr>
          <p:txBody>
            <a:bodyPr/>
            <a:lstStyle/>
            <a:p>
              <a:pPr algn="r" fontAlgn="base"/>
              <a:endParaRPr lang="nl-NL" sz="2200"/>
            </a:p>
          </p:txBody>
        </p:sp>
      </p:grpSp>
      <p:grpSp>
        <p:nvGrpSpPr>
          <p:cNvPr id="10" name="Group 9"/>
          <p:cNvGrpSpPr>
            <a:grpSpLocks/>
          </p:cNvGrpSpPr>
          <p:nvPr/>
        </p:nvGrpSpPr>
        <p:grpSpPr bwMode="auto">
          <a:xfrm>
            <a:off x="4871864" y="3068960"/>
            <a:ext cx="2601550" cy="1046340"/>
            <a:chOff x="2483768" y="2369994"/>
            <a:chExt cx="6336704" cy="1897810"/>
          </a:xfrm>
        </p:grpSpPr>
        <p:pic>
          <p:nvPicPr>
            <p:cNvPr id="1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85956" y="2369994"/>
              <a:ext cx="4934516" cy="1897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83768" y="3068960"/>
              <a:ext cx="770703" cy="81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Right Arrow 4"/>
            <p:cNvSpPr>
              <a:spLocks noChangeArrowheads="1"/>
            </p:cNvSpPr>
            <p:nvPr/>
          </p:nvSpPr>
          <p:spPr bwMode="auto">
            <a:xfrm>
              <a:off x="3563888" y="3318899"/>
              <a:ext cx="322068" cy="398133"/>
            </a:xfrm>
            <a:prstGeom prst="rightArrow">
              <a:avLst>
                <a:gd name="adj1" fmla="val 50000"/>
                <a:gd name="adj2" fmla="val 50000"/>
              </a:avLst>
            </a:prstGeom>
            <a:solidFill>
              <a:schemeClr val="accent1"/>
            </a:solidFill>
            <a:ln w="9525" algn="ctr">
              <a:solidFill>
                <a:schemeClr val="tx1"/>
              </a:solidFill>
              <a:round/>
              <a:headEnd/>
              <a:tailEnd/>
            </a:ln>
          </p:spPr>
          <p:txBody>
            <a:bodyPr/>
            <a:lstStyle/>
            <a:p>
              <a:pPr algn="r" fontAlgn="base"/>
              <a:endParaRPr lang="nl-NL" sz="2200"/>
            </a:p>
          </p:txBody>
        </p:sp>
      </p:grpSp>
      <p:grpSp>
        <p:nvGrpSpPr>
          <p:cNvPr id="14" name="Group 13"/>
          <p:cNvGrpSpPr>
            <a:grpSpLocks/>
          </p:cNvGrpSpPr>
          <p:nvPr/>
        </p:nvGrpSpPr>
        <p:grpSpPr bwMode="auto">
          <a:xfrm>
            <a:off x="1271464" y="2018391"/>
            <a:ext cx="3020129" cy="1094526"/>
            <a:chOff x="-5677682" y="3538631"/>
            <a:chExt cx="7354937" cy="1985585"/>
          </a:xfrm>
        </p:grpSpPr>
        <p:pic>
          <p:nvPicPr>
            <p:cNvPr id="15"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77682" y="3538631"/>
              <a:ext cx="5176673" cy="1985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5" descr="005m"/>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9582" y="3980496"/>
              <a:ext cx="1946837" cy="116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ight Arrow 11"/>
            <p:cNvSpPr>
              <a:spLocks noChangeArrowheads="1"/>
            </p:cNvSpPr>
            <p:nvPr/>
          </p:nvSpPr>
          <p:spPr bwMode="auto">
            <a:xfrm flipH="1">
              <a:off x="-753270" y="4361231"/>
              <a:ext cx="288031" cy="421739"/>
            </a:xfrm>
            <a:prstGeom prst="rightArrow">
              <a:avLst>
                <a:gd name="adj1" fmla="val 50000"/>
                <a:gd name="adj2" fmla="val 50000"/>
              </a:avLst>
            </a:prstGeom>
            <a:solidFill>
              <a:schemeClr val="accent1"/>
            </a:solidFill>
            <a:ln w="9525" algn="ctr">
              <a:solidFill>
                <a:schemeClr val="tx1"/>
              </a:solidFill>
              <a:round/>
              <a:headEnd/>
              <a:tailEnd/>
            </a:ln>
          </p:spPr>
          <p:txBody>
            <a:bodyPr/>
            <a:lstStyle/>
            <a:p>
              <a:pPr algn="r" fontAlgn="base"/>
              <a:endParaRPr lang="nl-NL" sz="2200"/>
            </a:p>
          </p:txBody>
        </p:sp>
      </p:grpSp>
    </p:spTree>
    <p:extLst>
      <p:ext uri="{BB962C8B-B14F-4D97-AF65-F5344CB8AC3E}">
        <p14:creationId xmlns:p14="http://schemas.microsoft.com/office/powerpoint/2010/main" val="16082324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983432" y="912844"/>
            <a:ext cx="105851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The required wing lift coefficient can be calculated as follow:</a:t>
            </a:r>
          </a:p>
          <a:p>
            <a:pPr algn="l" eaLnBrk="1" fontAlgn="base" hangingPunct="1"/>
            <a:r>
              <a:rPr lang="en-GB" sz="1800" dirty="0"/>
              <a:t>		</a:t>
            </a:r>
          </a:p>
        </p:txBody>
      </p:sp>
      <p:graphicFrame>
        <p:nvGraphicFramePr>
          <p:cNvPr id="3" name="Object 4"/>
          <p:cNvGraphicFramePr>
            <a:graphicFrameLocks noChangeAspect="1"/>
          </p:cNvGraphicFramePr>
          <p:nvPr>
            <p:extLst>
              <p:ext uri="{D42A27DB-BD31-4B8C-83A1-F6EECF244321}">
                <p14:modId xmlns:p14="http://schemas.microsoft.com/office/powerpoint/2010/main" val="65138731"/>
              </p:ext>
            </p:extLst>
          </p:nvPr>
        </p:nvGraphicFramePr>
        <p:xfrm>
          <a:off x="1127448" y="1763686"/>
          <a:ext cx="1909762" cy="2347912"/>
        </p:xfrm>
        <a:graphic>
          <a:graphicData uri="http://schemas.openxmlformats.org/presentationml/2006/ole">
            <mc:AlternateContent xmlns:mc="http://schemas.openxmlformats.org/markup-compatibility/2006">
              <mc:Choice xmlns:v="urn:schemas-microsoft-com:vml" Requires="v">
                <p:oleObj name="Equation" r:id="rId3" imgW="1054100" imgH="1295400" progId="Equation.3">
                  <p:embed/>
                </p:oleObj>
              </mc:Choice>
              <mc:Fallback>
                <p:oleObj name="Equation" r:id="rId3" imgW="1054100" imgH="1295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448" y="1763686"/>
                        <a:ext cx="1909762" cy="234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28"/>
          <p:cNvSpPr>
            <a:spLocks noChangeArrowheads="1"/>
          </p:cNvSpPr>
          <p:nvPr/>
        </p:nvSpPr>
        <p:spPr bwMode="auto">
          <a:xfrm>
            <a:off x="767408" y="162340"/>
            <a:ext cx="108012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3300" dirty="0">
                <a:solidFill>
                  <a:schemeClr val="bg2"/>
                </a:solidFill>
                <a:latin typeface="Bookman Old Style" pitchFamily="18" charset="0"/>
              </a:rPr>
              <a:t>Design lift coefficient for a transport aircraft</a:t>
            </a:r>
          </a:p>
        </p:txBody>
      </p:sp>
      <p:graphicFrame>
        <p:nvGraphicFramePr>
          <p:cNvPr id="5" name="Object 4"/>
          <p:cNvGraphicFramePr>
            <a:graphicFrameLocks noChangeAspect="1"/>
          </p:cNvGraphicFramePr>
          <p:nvPr>
            <p:extLst>
              <p:ext uri="{D42A27DB-BD31-4B8C-83A1-F6EECF244321}">
                <p14:modId xmlns:p14="http://schemas.microsoft.com/office/powerpoint/2010/main" val="874197455"/>
              </p:ext>
            </p:extLst>
          </p:nvPr>
        </p:nvGraphicFramePr>
        <p:xfrm>
          <a:off x="3215680" y="4941168"/>
          <a:ext cx="5222875" cy="966787"/>
        </p:xfrm>
        <a:graphic>
          <a:graphicData uri="http://schemas.openxmlformats.org/presentationml/2006/ole">
            <mc:AlternateContent xmlns:mc="http://schemas.openxmlformats.org/markup-compatibility/2006">
              <mc:Choice xmlns:v="urn:schemas-microsoft-com:vml" Requires="v">
                <p:oleObj name="Equation" r:id="rId5" imgW="2882900" imgH="533400" progId="Equation.3">
                  <p:embed/>
                </p:oleObj>
              </mc:Choice>
              <mc:Fallback>
                <p:oleObj name="Equation" r:id="rId5" imgW="2882900" imgH="533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5680" y="4941168"/>
                        <a:ext cx="5222875"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p:cNvSpPr/>
          <p:nvPr/>
        </p:nvSpPr>
        <p:spPr>
          <a:xfrm>
            <a:off x="983431" y="4437112"/>
            <a:ext cx="8928993" cy="369332"/>
          </a:xfrm>
          <a:prstGeom prst="rect">
            <a:avLst/>
          </a:prstGeom>
        </p:spPr>
        <p:txBody>
          <a:bodyPr wrap="square">
            <a:spAutoFit/>
          </a:bodyPr>
          <a:lstStyle/>
          <a:p>
            <a:pPr algn="l"/>
            <a:r>
              <a:rPr lang="en-GB" sz="1800" dirty="0">
                <a:solidFill>
                  <a:srgbClr val="FF0000"/>
                </a:solidFill>
              </a:rPr>
              <a:t>Weight is changing during the mission: an average weight should be considered!</a:t>
            </a:r>
            <a:endParaRPr lang="en-US" sz="1800" dirty="0"/>
          </a:p>
        </p:txBody>
      </p:sp>
    </p:spTree>
    <p:extLst>
      <p:ext uri="{BB962C8B-B14F-4D97-AF65-F5344CB8AC3E}">
        <p14:creationId xmlns:p14="http://schemas.microsoft.com/office/powerpoint/2010/main" val="98244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ChangeAspect="1"/>
          </p:cNvGraphicFramePr>
          <p:nvPr>
            <p:extLst>
              <p:ext uri="{D42A27DB-BD31-4B8C-83A1-F6EECF244321}">
                <p14:modId xmlns:p14="http://schemas.microsoft.com/office/powerpoint/2010/main" val="777833576"/>
              </p:ext>
            </p:extLst>
          </p:nvPr>
        </p:nvGraphicFramePr>
        <p:xfrm>
          <a:off x="4475714" y="1988841"/>
          <a:ext cx="2856532" cy="551047"/>
        </p:xfrm>
        <a:graphic>
          <a:graphicData uri="http://schemas.openxmlformats.org/presentationml/2006/ole">
            <mc:AlternateContent xmlns:mc="http://schemas.openxmlformats.org/markup-compatibility/2006">
              <mc:Choice xmlns:v="urn:schemas-microsoft-com:vml" Requires="v">
                <p:oleObj name="Equation" r:id="rId2" imgW="1320227" imgH="253890" progId="Equation.DSMT4">
                  <p:embed/>
                </p:oleObj>
              </mc:Choice>
              <mc:Fallback>
                <p:oleObj name="Equation" r:id="rId2" imgW="1320227" imgH="25389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5714" y="1988841"/>
                        <a:ext cx="2856532" cy="551047"/>
                      </a:xfrm>
                      <a:prstGeom prst="rect">
                        <a:avLst/>
                      </a:prstGeom>
                      <a:noFill/>
                      <a:ln>
                        <a:noFill/>
                      </a:ln>
                      <a:effectLst/>
                    </p:spPr>
                  </p:pic>
                </p:oleObj>
              </mc:Fallback>
            </mc:AlternateContent>
          </a:graphicData>
        </a:graphic>
      </p:graphicFrame>
      <p:sp>
        <p:nvSpPr>
          <p:cNvPr id="3" name="Rectangle 8"/>
          <p:cNvSpPr>
            <a:spLocks noChangeArrowheads="1"/>
          </p:cNvSpPr>
          <p:nvPr/>
        </p:nvSpPr>
        <p:spPr bwMode="auto">
          <a:xfrm>
            <a:off x="2445030" y="2764959"/>
            <a:ext cx="11542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sz="2000" dirty="0"/>
              <a:t>Where </a:t>
            </a:r>
          </a:p>
        </p:txBody>
      </p:sp>
      <p:graphicFrame>
        <p:nvGraphicFramePr>
          <p:cNvPr id="4" name="Object 9"/>
          <p:cNvGraphicFramePr>
            <a:graphicFrameLocks noChangeAspect="1"/>
          </p:cNvGraphicFramePr>
          <p:nvPr>
            <p:extLst>
              <p:ext uri="{D42A27DB-BD31-4B8C-83A1-F6EECF244321}">
                <p14:modId xmlns:p14="http://schemas.microsoft.com/office/powerpoint/2010/main" val="326528112"/>
              </p:ext>
            </p:extLst>
          </p:nvPr>
        </p:nvGraphicFramePr>
        <p:xfrm>
          <a:off x="3791745" y="2504760"/>
          <a:ext cx="1758489" cy="852233"/>
        </p:xfrm>
        <a:graphic>
          <a:graphicData uri="http://schemas.openxmlformats.org/presentationml/2006/ole">
            <mc:AlternateContent xmlns:mc="http://schemas.openxmlformats.org/markup-compatibility/2006">
              <mc:Choice xmlns:v="urn:schemas-microsoft-com:vml" Requires="v">
                <p:oleObj name="Equation" r:id="rId4" imgW="812447" imgH="393529" progId="Equation.3">
                  <p:embed/>
                </p:oleObj>
              </mc:Choice>
              <mc:Fallback>
                <p:oleObj name="Equation" r:id="rId4" imgW="812447"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1745" y="2504760"/>
                        <a:ext cx="1758489" cy="852233"/>
                      </a:xfrm>
                      <a:prstGeom prst="rect">
                        <a:avLst/>
                      </a:prstGeom>
                      <a:noFill/>
                      <a:ln>
                        <a:noFill/>
                      </a:ln>
                      <a:effectLst/>
                    </p:spPr>
                  </p:pic>
                </p:oleObj>
              </mc:Fallback>
            </mc:AlternateContent>
          </a:graphicData>
        </a:graphic>
      </p:graphicFrame>
      <p:sp>
        <p:nvSpPr>
          <p:cNvPr id="5" name="Rectangle 10"/>
          <p:cNvSpPr>
            <a:spLocks noChangeArrowheads="1"/>
          </p:cNvSpPr>
          <p:nvPr/>
        </p:nvSpPr>
        <p:spPr bwMode="auto">
          <a:xfrm>
            <a:off x="6117100" y="2764959"/>
            <a:ext cx="7293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GB" sz="2000" dirty="0"/>
              <a:t>With  </a:t>
            </a:r>
          </a:p>
        </p:txBody>
      </p:sp>
      <p:graphicFrame>
        <p:nvGraphicFramePr>
          <p:cNvPr id="6" name="Object 11"/>
          <p:cNvGraphicFramePr>
            <a:graphicFrameLocks noChangeAspect="1"/>
          </p:cNvGraphicFramePr>
          <p:nvPr>
            <p:extLst>
              <p:ext uri="{D42A27DB-BD31-4B8C-83A1-F6EECF244321}">
                <p14:modId xmlns:p14="http://schemas.microsoft.com/office/powerpoint/2010/main" val="1777293869"/>
              </p:ext>
            </p:extLst>
          </p:nvPr>
        </p:nvGraphicFramePr>
        <p:xfrm>
          <a:off x="7176120" y="2707374"/>
          <a:ext cx="1978638" cy="549697"/>
        </p:xfrm>
        <a:graphic>
          <a:graphicData uri="http://schemas.openxmlformats.org/presentationml/2006/ole">
            <mc:AlternateContent xmlns:mc="http://schemas.openxmlformats.org/markup-compatibility/2006">
              <mc:Choice xmlns:v="urn:schemas-microsoft-com:vml" Requires="v">
                <p:oleObj name="Equation" r:id="rId6" imgW="914400" imgH="254000" progId="Equation.3">
                  <p:embed/>
                </p:oleObj>
              </mc:Choice>
              <mc:Fallback>
                <p:oleObj name="Equation" r:id="rId6" imgW="914400" imgH="254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6120" y="2707374"/>
                        <a:ext cx="1978638" cy="549697"/>
                      </a:xfrm>
                      <a:prstGeom prst="rect">
                        <a:avLst/>
                      </a:prstGeom>
                      <a:noFill/>
                      <a:ln>
                        <a:noFill/>
                      </a:ln>
                      <a:effectLst/>
                    </p:spPr>
                  </p:pic>
                </p:oleObj>
              </mc:Fallback>
            </mc:AlternateContent>
          </a:graphicData>
        </a:graphic>
      </p:graphicFrame>
      <p:sp>
        <p:nvSpPr>
          <p:cNvPr id="7" name="Rectangle 28"/>
          <p:cNvSpPr>
            <a:spLocks noChangeArrowheads="1"/>
          </p:cNvSpPr>
          <p:nvPr/>
        </p:nvSpPr>
        <p:spPr bwMode="auto">
          <a:xfrm>
            <a:off x="839416" y="77185"/>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Airfoil selection</a:t>
            </a:r>
          </a:p>
        </p:txBody>
      </p:sp>
      <p:sp>
        <p:nvSpPr>
          <p:cNvPr id="8" name="Text Box 3"/>
          <p:cNvSpPr txBox="1">
            <a:spLocks noChangeArrowheads="1"/>
          </p:cNvSpPr>
          <p:nvPr/>
        </p:nvSpPr>
        <p:spPr bwMode="auto">
          <a:xfrm>
            <a:off x="733976" y="1041410"/>
            <a:ext cx="1047459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1800" dirty="0"/>
              <a:t>The </a:t>
            </a:r>
            <a:r>
              <a:rPr lang="en-GB" sz="1800" dirty="0" err="1"/>
              <a:t>airfoil</a:t>
            </a:r>
            <a:r>
              <a:rPr lang="en-GB" sz="1800" dirty="0"/>
              <a:t> lift coefficient can be related to the wing lift coefficient as follows:</a:t>
            </a:r>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endParaRPr lang="en-GB" sz="1800" dirty="0"/>
          </a:p>
          <a:p>
            <a:pPr algn="l" eaLnBrk="1" fontAlgn="base" hangingPunct="1"/>
            <a:r>
              <a:rPr lang="en-GB" sz="1800" dirty="0"/>
              <a:t>The use of </a:t>
            </a:r>
            <a:r>
              <a:rPr lang="en-GB" sz="1800" b="1" dirty="0" err="1"/>
              <a:t>q</a:t>
            </a:r>
            <a:r>
              <a:rPr lang="en-GB" sz="1800" b="1" baseline="-25000" dirty="0" err="1"/>
              <a:t>eff</a:t>
            </a:r>
            <a:r>
              <a:rPr lang="en-GB" sz="1800" b="1" dirty="0"/>
              <a:t> is important to account for the effect of the </a:t>
            </a:r>
          </a:p>
          <a:p>
            <a:pPr algn="l" eaLnBrk="1" fontAlgn="base" hangingPunct="1"/>
            <a:r>
              <a:rPr lang="en-GB" sz="1800" b="1" dirty="0"/>
              <a:t>wing sweep</a:t>
            </a:r>
            <a:r>
              <a:rPr lang="en-GB" sz="1800" dirty="0"/>
              <a:t>. In fact, an </a:t>
            </a:r>
            <a:r>
              <a:rPr lang="en-GB" sz="1800" dirty="0" err="1"/>
              <a:t>airfoil</a:t>
            </a:r>
            <a:r>
              <a:rPr lang="en-GB" sz="1800" dirty="0"/>
              <a:t> operating at an angle with respect to the freestream, needs </a:t>
            </a:r>
            <a:r>
              <a:rPr lang="en-GB" sz="1800" b="1" dirty="0"/>
              <a:t>a higher C</a:t>
            </a:r>
            <a:r>
              <a:rPr lang="en-GB" sz="1800" b="1" baseline="-25000" dirty="0"/>
              <a:t>l</a:t>
            </a:r>
            <a:r>
              <a:rPr lang="en-GB" sz="1800" b="1" dirty="0"/>
              <a:t> value </a:t>
            </a:r>
            <a:r>
              <a:rPr lang="en-GB" sz="1800" dirty="0"/>
              <a:t>to match the required wing C</a:t>
            </a:r>
            <a:r>
              <a:rPr lang="en-GB" sz="1800" baseline="-25000" dirty="0"/>
              <a:t>L.</a:t>
            </a:r>
          </a:p>
          <a:p>
            <a:pPr algn="l" eaLnBrk="1" fontAlgn="base" hangingPunct="1"/>
            <a:r>
              <a:rPr lang="en-GB" sz="1800" dirty="0"/>
              <a:t> </a:t>
            </a:r>
          </a:p>
          <a:p>
            <a:pPr algn="l" eaLnBrk="1" fontAlgn="base" hangingPunct="1"/>
            <a:endParaRPr lang="en-GB" sz="1800" dirty="0"/>
          </a:p>
          <a:p>
            <a:pPr algn="l" eaLnBrk="1" fontAlgn="base" hangingPunct="1"/>
            <a:r>
              <a:rPr lang="en-GB" sz="1800" dirty="0"/>
              <a:t>	</a:t>
            </a:r>
          </a:p>
        </p:txBody>
      </p:sp>
    </p:spTree>
    <p:extLst>
      <p:ext uri="{BB962C8B-B14F-4D97-AF65-F5344CB8AC3E}">
        <p14:creationId xmlns:p14="http://schemas.microsoft.com/office/powerpoint/2010/main" val="30434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839416" y="1346200"/>
            <a:ext cx="9721080" cy="531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342900" indent="-342900" algn="l" fontAlgn="base">
              <a:buFont typeface="+mj-lt"/>
              <a:buAutoNum type="arabicPeriod"/>
              <a:defRPr/>
            </a:pPr>
            <a:r>
              <a:rPr lang="en-GB" dirty="0"/>
              <a:t>Assume a given thickness to chord ratio, due to other reason (i.e. structural strength).</a:t>
            </a:r>
          </a:p>
          <a:p>
            <a:pPr marL="342900" indent="-342900" algn="l" fontAlgn="base">
              <a:buFont typeface="+mj-lt"/>
              <a:buAutoNum type="arabicPeriod"/>
              <a:defRPr/>
            </a:pPr>
            <a:endParaRPr lang="en-GB" dirty="0"/>
          </a:p>
          <a:p>
            <a:pPr marL="342900" indent="-342900" algn="l" fontAlgn="base">
              <a:buFont typeface="+mj-lt"/>
              <a:buAutoNum type="arabicPeriod"/>
              <a:defRPr/>
            </a:pPr>
            <a:r>
              <a:rPr lang="en-GB" dirty="0"/>
              <a:t>Determine the </a:t>
            </a:r>
            <a:r>
              <a:rPr lang="en-GB" dirty="0" err="1"/>
              <a:t>airfoil</a:t>
            </a:r>
            <a:r>
              <a:rPr lang="en-GB" dirty="0"/>
              <a:t> design lift coefficient from the Aircraft Design Lift Coefficient</a:t>
            </a:r>
          </a:p>
          <a:p>
            <a:pPr marL="342900" indent="-342900" algn="l" fontAlgn="base">
              <a:buFont typeface="+mj-lt"/>
              <a:buAutoNum type="arabicPeriod"/>
              <a:defRPr/>
            </a:pPr>
            <a:endParaRPr lang="en-GB" dirty="0"/>
          </a:p>
          <a:p>
            <a:pPr marL="342900" indent="-342900" algn="l" fontAlgn="base">
              <a:buFont typeface="+mj-lt"/>
              <a:buAutoNum type="arabicPeriod"/>
              <a:defRPr/>
            </a:pPr>
            <a:r>
              <a:rPr lang="en-GB" dirty="0"/>
              <a:t>Select in literature a set of possible </a:t>
            </a:r>
            <a:r>
              <a:rPr lang="en-GB" dirty="0" err="1"/>
              <a:t>airfoils</a:t>
            </a:r>
            <a:r>
              <a:rPr lang="en-GB" dirty="0"/>
              <a:t> (3-5) that could match the requirements</a:t>
            </a:r>
          </a:p>
          <a:p>
            <a:pPr marL="342900" indent="-342900" algn="l" fontAlgn="base">
              <a:buFont typeface="+mj-lt"/>
              <a:buAutoNum type="arabicPeriod"/>
              <a:defRPr/>
            </a:pPr>
            <a:endParaRPr lang="en-GB" dirty="0"/>
          </a:p>
          <a:p>
            <a:pPr marL="342900" indent="-342900" algn="l" fontAlgn="base">
              <a:buFont typeface="+mj-lt"/>
              <a:buAutoNum type="arabicPeriod"/>
              <a:defRPr/>
            </a:pPr>
            <a:r>
              <a:rPr lang="en-GB" dirty="0"/>
              <a:t>For the given </a:t>
            </a:r>
            <a:r>
              <a:rPr lang="en-GB" dirty="0" err="1"/>
              <a:t>C</a:t>
            </a:r>
            <a:r>
              <a:rPr lang="en-GB" baseline="-25000" dirty="0" err="1"/>
              <a:t>ldes</a:t>
            </a:r>
            <a:r>
              <a:rPr lang="en-GB" dirty="0"/>
              <a:t> look for the </a:t>
            </a:r>
            <a:r>
              <a:rPr lang="en-GB" dirty="0" err="1"/>
              <a:t>airfoil</a:t>
            </a:r>
            <a:r>
              <a:rPr lang="en-GB" dirty="0"/>
              <a:t> with minimum drag at </a:t>
            </a:r>
            <a:r>
              <a:rPr lang="en-GB" dirty="0" err="1"/>
              <a:t>C</a:t>
            </a:r>
            <a:r>
              <a:rPr lang="en-GB" baseline="-25000" dirty="0" err="1"/>
              <a:t>ldes</a:t>
            </a:r>
            <a:r>
              <a:rPr lang="en-GB" dirty="0"/>
              <a:t> (and the widest possible drag bucket around </a:t>
            </a:r>
            <a:r>
              <a:rPr lang="en-GB" dirty="0" err="1"/>
              <a:t>C</a:t>
            </a:r>
            <a:r>
              <a:rPr lang="en-GB" baseline="-25000" dirty="0" err="1"/>
              <a:t>ldes</a:t>
            </a:r>
            <a:r>
              <a:rPr lang="en-GB" dirty="0"/>
              <a:t>).</a:t>
            </a:r>
            <a:endParaRPr lang="en-GB" baseline="-25000" dirty="0"/>
          </a:p>
          <a:p>
            <a:pPr marL="342900" indent="-342900" algn="l" fontAlgn="base">
              <a:buFont typeface="+mj-lt"/>
              <a:buAutoNum type="arabicPeriod"/>
              <a:defRPr/>
            </a:pPr>
            <a:endParaRPr lang="en-GB" baseline="-25000" dirty="0"/>
          </a:p>
          <a:p>
            <a:pPr marL="342900" indent="-342900" algn="l" fontAlgn="base">
              <a:buFont typeface="+mj-lt"/>
              <a:buAutoNum type="arabicPeriod"/>
              <a:defRPr/>
            </a:pPr>
            <a:endParaRPr lang="en-GB" baseline="-25000" dirty="0"/>
          </a:p>
          <a:p>
            <a:pPr marL="342900" indent="-342900" algn="l" fontAlgn="base">
              <a:buFont typeface="+mj-lt"/>
              <a:buAutoNum type="arabicPeriod"/>
              <a:defRPr/>
            </a:pPr>
            <a:endParaRPr lang="nl-NL" sz="1400" dirty="0"/>
          </a:p>
          <a:p>
            <a:pPr marL="342900" indent="-342900" algn="l" fontAlgn="base">
              <a:buFont typeface="+mj-lt"/>
              <a:buAutoNum type="arabicPeriod"/>
              <a:defRPr/>
            </a:pPr>
            <a:r>
              <a:rPr lang="en-US" dirty="0"/>
              <a:t>Look at other important off-design parameters:</a:t>
            </a:r>
          </a:p>
          <a:p>
            <a:pPr lvl="1" algn="l" fontAlgn="base">
              <a:defRPr/>
            </a:pPr>
            <a:endParaRPr lang="en-US" dirty="0"/>
          </a:p>
          <a:p>
            <a:pPr marL="800100" lvl="1" indent="-342900" algn="l" fontAlgn="base">
              <a:buFont typeface="Arial" panose="020B0604020202020204" pitchFamily="34" charset="0"/>
              <a:buChar char="•"/>
              <a:defRPr/>
            </a:pPr>
            <a:r>
              <a:rPr lang="en-US" dirty="0" err="1"/>
              <a:t>Clmax</a:t>
            </a:r>
            <a:r>
              <a:rPr lang="en-US" dirty="0"/>
              <a:t> and stall behavior</a:t>
            </a:r>
          </a:p>
          <a:p>
            <a:pPr marL="800100" lvl="1" indent="-342900" algn="l" fontAlgn="base">
              <a:buFont typeface="Arial" panose="020B0604020202020204" pitchFamily="34" charset="0"/>
              <a:buChar char="•"/>
              <a:defRPr/>
            </a:pPr>
            <a:r>
              <a:rPr lang="en-US" dirty="0"/>
              <a:t>Efficiency @ design condition </a:t>
            </a:r>
          </a:p>
          <a:p>
            <a:pPr marL="800100" lvl="1" indent="-342900" algn="l" fontAlgn="base">
              <a:buFont typeface="Arial" panose="020B0604020202020204" pitchFamily="34" charset="0"/>
              <a:buChar char="•"/>
              <a:defRPr/>
            </a:pPr>
            <a:r>
              <a:rPr lang="en-US" dirty="0"/>
              <a:t>Max Efficiency (and Cl @ Max Efficient</a:t>
            </a:r>
          </a:p>
          <a:p>
            <a:pPr marL="342900" indent="-342900" algn="l" fontAlgn="base">
              <a:buFont typeface="+mj-lt"/>
              <a:buAutoNum type="arabicPeriod"/>
              <a:defRPr/>
            </a:pPr>
            <a:endParaRPr lang="en-US" dirty="0"/>
          </a:p>
          <a:p>
            <a:pPr marL="342900" indent="-342900" algn="l" fontAlgn="base">
              <a:buFont typeface="+mj-lt"/>
              <a:buAutoNum type="arabicPeriod"/>
              <a:defRPr/>
            </a:pPr>
            <a:endParaRPr lang="en-US" dirty="0"/>
          </a:p>
          <a:p>
            <a:pPr marL="342900" indent="-342900" algn="l" fontAlgn="base">
              <a:buFont typeface="+mj-lt"/>
              <a:buAutoNum type="arabicPeriod"/>
              <a:defRPr/>
            </a:pPr>
            <a:r>
              <a:rPr lang="nl-NL" dirty="0" err="1"/>
              <a:t>Perform</a:t>
            </a:r>
            <a:r>
              <a:rPr lang="nl-NL" dirty="0"/>
              <a:t> a </a:t>
            </a:r>
            <a:r>
              <a:rPr lang="nl-NL" dirty="0" err="1"/>
              <a:t>trade</a:t>
            </a:r>
            <a:r>
              <a:rPr lang="nl-NL" dirty="0"/>
              <a:t> off analysis</a:t>
            </a:r>
            <a:endParaRPr lang="en-GB" dirty="0"/>
          </a:p>
          <a:p>
            <a:pPr marL="342900" indent="-342900" algn="l" fontAlgn="base">
              <a:buFont typeface="+mj-lt"/>
              <a:buAutoNum type="arabicPeriod"/>
              <a:defRPr/>
            </a:pPr>
            <a:endParaRPr lang="en-GB" dirty="0"/>
          </a:p>
          <a:p>
            <a:pPr algn="l" fontAlgn="base">
              <a:defRPr/>
            </a:pPr>
            <a:endParaRPr lang="en-GB" dirty="0"/>
          </a:p>
          <a:p>
            <a:pPr marL="342900" indent="-342900" algn="l" fontAlgn="base">
              <a:buFont typeface="+mj-lt"/>
              <a:buAutoNum type="arabicPeriod"/>
              <a:defRPr/>
            </a:pPr>
            <a:endParaRPr lang="en-GB" dirty="0"/>
          </a:p>
        </p:txBody>
      </p:sp>
      <p:sp>
        <p:nvSpPr>
          <p:cNvPr id="3" name="Rectangle 28"/>
          <p:cNvSpPr>
            <a:spLocks noChangeArrowheads="1"/>
          </p:cNvSpPr>
          <p:nvPr/>
        </p:nvSpPr>
        <p:spPr bwMode="auto">
          <a:xfrm>
            <a:off x="767408" y="116632"/>
            <a:ext cx="85661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300" dirty="0">
                <a:solidFill>
                  <a:schemeClr val="bg2"/>
                </a:solidFill>
                <a:latin typeface="Bookman Old Style" pitchFamily="18" charset="0"/>
              </a:rPr>
              <a:t>Airfoil selection – step by step</a:t>
            </a:r>
          </a:p>
        </p:txBody>
      </p:sp>
    </p:spTree>
    <p:extLst>
      <p:ext uri="{BB962C8B-B14F-4D97-AF65-F5344CB8AC3E}">
        <p14:creationId xmlns:p14="http://schemas.microsoft.com/office/powerpoint/2010/main" val="21032862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375221"/>
            <a:ext cx="6840760" cy="54431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112224" y="5834906"/>
            <a:ext cx="2664296" cy="276999"/>
          </a:xfrm>
          <a:prstGeom prst="rect">
            <a:avLst/>
          </a:prstGeom>
          <a:noFill/>
        </p:spPr>
        <p:txBody>
          <a:bodyPr wrap="square" rtlCol="0">
            <a:spAutoFit/>
          </a:bodyPr>
          <a:lstStyle/>
          <a:p>
            <a:r>
              <a:rPr lang="en-GB" sz="1200" dirty="0"/>
              <a:t>Fig. source: </a:t>
            </a:r>
            <a:r>
              <a:rPr lang="en-GB" sz="1200" dirty="0" err="1"/>
              <a:t>Gudmundsson</a:t>
            </a:r>
            <a:endParaRPr lang="nl-NL" sz="1200" dirty="0"/>
          </a:p>
        </p:txBody>
      </p:sp>
    </p:spTree>
    <p:extLst>
      <p:ext uri="{BB962C8B-B14F-4D97-AF65-F5344CB8AC3E}">
        <p14:creationId xmlns:p14="http://schemas.microsoft.com/office/powerpoint/2010/main" val="1925035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048660586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19288" y="1733550"/>
            <a:ext cx="35052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3"/>
          <p:cNvPicPr>
            <a:picLocks noChangeAspect="1" noChangeArrowheads="1"/>
          </p:cNvPicPr>
          <p:nvPr/>
        </p:nvPicPr>
        <p:blipFill>
          <a:blip r:embed="rId5">
            <a:extLst>
              <a:ext uri="{28A0092B-C50C-407E-A947-70E740481C1C}">
                <a14:useLocalDpi xmlns:a14="http://schemas.microsoft.com/office/drawing/2010/main" val="0"/>
              </a:ext>
            </a:extLst>
          </a:blip>
          <a:srcRect b="19424"/>
          <a:stretch>
            <a:fillRect/>
          </a:stretch>
        </p:blipFill>
        <p:spPr bwMode="auto">
          <a:xfrm>
            <a:off x="5729288" y="1809750"/>
            <a:ext cx="4419600"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3492" name="Rectangle 5"/>
          <p:cNvSpPr>
            <a:spLocks noChangeArrowheads="1"/>
          </p:cNvSpPr>
          <p:nvPr/>
        </p:nvSpPr>
        <p:spPr bwMode="auto">
          <a:xfrm>
            <a:off x="695400" y="73998"/>
            <a:ext cx="986566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2400" dirty="0">
                <a:solidFill>
                  <a:schemeClr val="bg2"/>
                </a:solidFill>
                <a:latin typeface="Bookman Old Style" pitchFamily="18" charset="0"/>
              </a:rPr>
              <a:t>Where to find information about airfoils characteristics E.g. lift and moment curves and drag </a:t>
            </a:r>
            <a:r>
              <a:rPr lang="en-US" sz="2400" dirty="0" err="1">
                <a:solidFill>
                  <a:schemeClr val="bg2"/>
                </a:solidFill>
                <a:latin typeface="Bookman Old Style" pitchFamily="18" charset="0"/>
              </a:rPr>
              <a:t>polars</a:t>
            </a:r>
            <a:endParaRPr lang="en-US" sz="2400" dirty="0">
              <a:solidFill>
                <a:schemeClr val="bg2"/>
              </a:solidFill>
              <a:latin typeface="Bookman Old Style" pitchFamily="18" charset="0"/>
            </a:endParaRPr>
          </a:p>
        </p:txBody>
      </p:sp>
      <p:sp>
        <p:nvSpPr>
          <p:cNvPr id="63493" name="Rectangle 6"/>
          <p:cNvSpPr>
            <a:spLocks noChangeArrowheads="1"/>
          </p:cNvSpPr>
          <p:nvPr/>
        </p:nvSpPr>
        <p:spPr bwMode="auto">
          <a:xfrm>
            <a:off x="2224088" y="5391151"/>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spcBef>
                <a:spcPct val="30000"/>
              </a:spcBef>
            </a:pPr>
            <a:r>
              <a:rPr lang="en-GB" sz="2000" b="1" i="1" dirty="0"/>
              <a:t>Theory of wing sections,</a:t>
            </a:r>
            <a:r>
              <a:rPr lang="en-GB" sz="2000" b="1" dirty="0"/>
              <a:t> by Abbott and von </a:t>
            </a:r>
            <a:r>
              <a:rPr lang="en-GB" sz="2000" b="1" dirty="0" err="1"/>
              <a:t>Doenhoff</a:t>
            </a:r>
            <a:r>
              <a:rPr lang="en-GB" sz="2000" b="1" dirty="0"/>
              <a:t> </a:t>
            </a:r>
            <a:r>
              <a:rPr lang="en-GB" sz="2000" dirty="0"/>
              <a:t>is one* of the best literature sources for standard </a:t>
            </a:r>
            <a:r>
              <a:rPr lang="en-GB" sz="2000" dirty="0" err="1"/>
              <a:t>airfoils</a:t>
            </a:r>
            <a:r>
              <a:rPr lang="en-GB" sz="2000" dirty="0"/>
              <a:t>.</a:t>
            </a:r>
            <a:endParaRPr lang="en-GB" sz="2000" b="1" dirty="0"/>
          </a:p>
        </p:txBody>
      </p:sp>
      <p:sp>
        <p:nvSpPr>
          <p:cNvPr id="63494" name="AutoShape 7"/>
          <p:cNvSpPr>
            <a:spLocks noChangeArrowheads="1"/>
          </p:cNvSpPr>
          <p:nvPr/>
        </p:nvSpPr>
        <p:spPr bwMode="auto">
          <a:xfrm rot="1423224">
            <a:off x="4433888" y="2373283"/>
            <a:ext cx="1676400" cy="400110"/>
          </a:xfrm>
          <a:prstGeom prst="curvedDownArrow">
            <a:avLst>
              <a:gd name="adj1" fmla="val 64390"/>
              <a:gd name="adj2" fmla="val 128780"/>
              <a:gd name="adj3" fmla="val 33333"/>
            </a:avLst>
          </a:prstGeom>
          <a:solidFill>
            <a:srgbClr val="FFFF00"/>
          </a:solidFill>
          <a:ln w="9525">
            <a:solidFill>
              <a:schemeClr val="tx1"/>
            </a:solidFill>
            <a:miter lim="800000"/>
            <a:headEnd/>
            <a:tailEnd/>
          </a:ln>
        </p:spPr>
        <p:txBody>
          <a:bodyPr anchor="ctr">
            <a:spAutoFit/>
          </a:bodyPr>
          <a:lstStyle/>
          <a:p>
            <a:pPr algn="l" fontAlgn="base"/>
            <a:endParaRPr lang="nl-NL" sz="2000"/>
          </a:p>
        </p:txBody>
      </p:sp>
    </p:spTree>
    <p:custDataLst>
      <p:tags r:id="rId1"/>
    </p:custDataLst>
    <p:extLst>
      <p:ext uri="{BB962C8B-B14F-4D97-AF65-F5344CB8AC3E}">
        <p14:creationId xmlns:p14="http://schemas.microsoft.com/office/powerpoint/2010/main" val="13921450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8" descr="dflogo_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888" y="2349500"/>
            <a:ext cx="24511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Text Box 9"/>
          <p:cNvSpPr txBox="1">
            <a:spLocks noChangeArrowheads="1"/>
          </p:cNvSpPr>
          <p:nvPr/>
        </p:nvSpPr>
        <p:spPr bwMode="auto">
          <a:xfrm>
            <a:off x="2063750" y="1123950"/>
            <a:ext cx="8610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r>
              <a:rPr lang="en-GB" sz="2000"/>
              <a:t>In case you do not have appropriate reference data describing the characteristics of your selected airfoils, you will need to calculate them by yourself</a:t>
            </a:r>
            <a:r>
              <a:rPr lang="en-GB" sz="2000" baseline="30000"/>
              <a:t>1</a:t>
            </a:r>
            <a:r>
              <a:rPr lang="en-GB" sz="2000"/>
              <a:t>. For this you can make use of some simple panel code.</a:t>
            </a:r>
          </a:p>
        </p:txBody>
      </p:sp>
      <p:pic>
        <p:nvPicPr>
          <p:cNvPr id="55301" name="Picture 12" descr="xfoil_logo"/>
          <p:cNvPicPr>
            <a:picLocks noChangeAspect="1" noChangeArrowheads="1"/>
          </p:cNvPicPr>
          <p:nvPr/>
        </p:nvPicPr>
        <p:blipFill>
          <a:blip r:embed="rId5"/>
          <a:srcRect/>
          <a:stretch>
            <a:fillRect/>
          </a:stretch>
        </p:blipFill>
        <p:spPr bwMode="auto">
          <a:xfrm>
            <a:off x="3616326" y="3846514"/>
            <a:ext cx="3446463" cy="11826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16"/>
          <p:cNvSpPr>
            <a:spLocks noChangeArrowheads="1"/>
          </p:cNvSpPr>
          <p:nvPr/>
        </p:nvSpPr>
        <p:spPr bwMode="auto">
          <a:xfrm>
            <a:off x="695400" y="162113"/>
            <a:ext cx="9934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r>
              <a:rPr lang="en-US" sz="2800" dirty="0">
                <a:solidFill>
                  <a:schemeClr val="bg2"/>
                </a:solidFill>
                <a:latin typeface="Bookman Old Style" pitchFamily="18" charset="0"/>
              </a:rPr>
              <a:t>How to compute yourself the characteristics of an airfoil</a:t>
            </a:r>
          </a:p>
        </p:txBody>
      </p:sp>
      <p:pic>
        <p:nvPicPr>
          <p:cNvPr id="55306" name="Picture 18" descr="logo_javafoil_1"/>
          <p:cNvPicPr>
            <a:picLocks noChangeAspect="1" noChangeArrowheads="1"/>
          </p:cNvPicPr>
          <p:nvPr/>
        </p:nvPicPr>
        <p:blipFill>
          <a:blip r:embed="rId6"/>
          <a:srcRect/>
          <a:stretch>
            <a:fillRect/>
          </a:stretch>
        </p:blipFill>
        <p:spPr bwMode="auto">
          <a:xfrm>
            <a:off x="2074863" y="2349500"/>
            <a:ext cx="2667000" cy="1143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Rectangle 1"/>
          <p:cNvSpPr>
            <a:spLocks noChangeArrowheads="1"/>
          </p:cNvSpPr>
          <p:nvPr/>
        </p:nvSpPr>
        <p:spPr bwMode="auto">
          <a:xfrm>
            <a:off x="2063750" y="5373689"/>
            <a:ext cx="81359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GB" dirty="0"/>
              <a:t>Instructions to download software and quick reference guides are provided in the fourth lecture of this course</a:t>
            </a:r>
            <a:endParaRPr lang="nl-NL" dirty="0"/>
          </a:p>
        </p:txBody>
      </p:sp>
    </p:spTree>
    <p:custDataLst>
      <p:tags r:id="rId1"/>
    </p:custDataLst>
    <p:extLst>
      <p:ext uri="{BB962C8B-B14F-4D97-AF65-F5344CB8AC3E}">
        <p14:creationId xmlns:p14="http://schemas.microsoft.com/office/powerpoint/2010/main" val="2603140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BULLETTYPE" val="3"/>
  <p:tag name="RESPCOUNTERSTYLE" val="-1"/>
  <p:tag name="INPUTSOURCE" val="1"/>
  <p:tag name="BACKUPMAINTENANCE" val="7"/>
  <p:tag name="ROTATIONINTERVAL" val="2"/>
  <p:tag name="RACERSMAXDISPLAYED" val="5"/>
  <p:tag name="TEAMSINLEADERBOARD" val="5"/>
  <p:tag name="BUBBLEVALUEFORMAT" val="0.0"/>
  <p:tag name="CUSTOMCELLFORECOLOR" val="-16777216"/>
  <p:tag name="CUSTOMCELLBACKCOLOR4" val="-8355712"/>
  <p:tag name="DISPLAYDEVICEID" val="True"/>
  <p:tag name="GRIDSIZE" val="{Width=800, Height=600}"/>
  <p:tag name="CHARTLABELS" val="1"/>
  <p:tag name="PARTLISTDEFAULT" val="1"/>
  <p:tag name="INCORRECTPOINTVALUE" val="0"/>
  <p:tag name="AUTOADJUSTPARTRANGE" val="True"/>
  <p:tag name="FIBNUMRESULTS" val="5"/>
  <p:tag name="PRRESPONSE2" val="9"/>
  <p:tag name="PRRESPONSE6" val="5"/>
  <p:tag name="PRRESPONSE10" val="1"/>
  <p:tag name="POWERPOINTVERSION" val="14.0"/>
  <p:tag name="CSVFORMAT" val="0"/>
  <p:tag name="RESPCOUNTERFORMAT" val="0"/>
  <p:tag name="ALLOWDUPLICATES" val="False"/>
  <p:tag name="REVIEWONLY" val="False"/>
  <p:tag name="RACEANIMATIONSPEED" val="3"/>
  <p:tag name="BUBBLENAMEVISIBLE" val="True"/>
  <p:tag name="CUSTOMGRIDBACKCOLOR" val="-2830136"/>
  <p:tag name="USESCHEMECOLORS" val="True"/>
  <p:tag name="GRIDROTATIONINTERVAL" val="2"/>
  <p:tag name="CHARTCOLORS" val="0"/>
  <p:tag name="INCLUDEPPT" val="True"/>
  <p:tag name="REALTIMEBACKUPPATH" val="(None)"/>
  <p:tag name="FIBDISPLAYRESULTS" val="True"/>
  <p:tag name="PRRESPONSE3" val="8"/>
  <p:tag name="PRRESPONSE8" val="3"/>
  <p:tag name="ANSWERNOWSTYLE" val="-1"/>
  <p:tag name="COUNTDOWNSECONDS" val="10"/>
  <p:tag name="AUTOADVANCE" val="False"/>
  <p:tag name="SKIPREMAININGRACESLIDES" val="True"/>
  <p:tag name="BUBBLEGROUPING" val="3"/>
  <p:tag name="CUSTOMCELLBACKCOLOR3" val="-268652"/>
  <p:tag name="AUTOSIZEGRID" val="True"/>
  <p:tag name="INCLUDENONRESPONDERS" val="False"/>
  <p:tag name="REALTIMEBACKUP" val="False"/>
  <p:tag name="FIBINCLUDEOTHER" val="True"/>
  <p:tag name="PRRESPONSE5" val="6"/>
  <p:tag name="ALWAYSOPENPOLL" val="False"/>
  <p:tag name="ANSWERNOWTEXT" val="Answer Now"/>
  <p:tag name="BACKUPSESSIONS" val="True"/>
  <p:tag name="RACEENDPOINTS" val="100"/>
  <p:tag name="DEFAULTNUMTEAMS" val="5"/>
  <p:tag name="DISPLAYDEVICENUMBER" val="True"/>
  <p:tag name="RESETCHARTS" val="True"/>
  <p:tag name="ZEROBASED" val="False"/>
  <p:tag name="PRRESPONSE1" val="10"/>
  <p:tag name="SHOWFLASHWARNING" val="True"/>
  <p:tag name="COUNTDOWNSTYLE" val="-1"/>
  <p:tag name="AUTOUPDATEALIASES" val="True"/>
  <p:tag name="BUBBLESIZEVISIBLE" val="True"/>
  <p:tag name="GRIDOPACITY" val="90"/>
  <p:tag name="ALLOWUSERFEEDBACK" val="True"/>
  <p:tag name="FIBDISPLAYKEYWORDS" val="True"/>
  <p:tag name="SHOWBARVISIBLE" val="True"/>
  <p:tag name="NUMRESPONSES" val="1"/>
  <p:tag name="MAXRESPONDERS" val="5"/>
  <p:tag name="GRIDPOSITION" val="1"/>
  <p:tag name="CHARTSCALE" val="True"/>
  <p:tag name="PRRESPONSE9" val="2"/>
  <p:tag name="CHARTVALUEFORMAT" val="0%"/>
  <p:tag name="CUSTOMCELLBACKCOLOR2" val="-13395457"/>
  <p:tag name="CORRECTPOINTVALUE" val="1"/>
  <p:tag name="USESECONDARYMONITOR" val="True"/>
  <p:tag name="PARTICIPANTSINLEADERBOARD" val="5"/>
  <p:tag name="MULTIRESPDIVISOR" val="1"/>
  <p:tag name="SAVECSVWITHSESSION" val="True"/>
  <p:tag name="DISPLAYNAME" val="True"/>
  <p:tag name="PRRESPONSE7" val="4"/>
  <p:tag name="POLLINGCYCLE" val="2"/>
  <p:tag name="STDCHART" val="1"/>
  <p:tag name="RESPTABLESTYLE" val="-1"/>
  <p:tag name="CUSTOMCELLBACKCOLOR1" val="-657956"/>
  <p:tag name="PRRESPONSE4" val="7"/>
  <p:tag name="ADVANCEDSETTINGSVIEW" val="False"/>
  <p:tag name="DELIMITERS" val="3.1"/>
  <p:tag name="INCLUDESESSION" val="True"/>
  <p:tag name="TPPRESENTATIONGUID" val="e080f827-f521-4185-9b72-af44b0a77c7a"/>
  <p:tag name="TPVERSION" val="7"/>
  <p:tag name="PPTVERSION" val="16"/>
  <p:tag name="TPOS" val="6"/>
  <p:tag name="TPFULLVERSION" val="9.0.3.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108BD9"/>
      </a:lt2>
      <a:accent1>
        <a:srgbClr val="ADC610"/>
      </a:accent1>
      <a:accent2>
        <a:srgbClr val="002B60"/>
      </a:accent2>
      <a:accent3>
        <a:srgbClr val="FFFFFF"/>
      </a:accent3>
      <a:accent4>
        <a:srgbClr val="000000"/>
      </a:accent4>
      <a:accent5>
        <a:srgbClr val="D3DFAA"/>
      </a:accent5>
      <a:accent6>
        <a:srgbClr val="002656"/>
      </a:accent6>
      <a:hlink>
        <a:srgbClr val="A10058"/>
      </a:hlink>
      <a:folHlink>
        <a:srgbClr val="66BCAA"/>
      </a:folHlink>
    </a:clrScheme>
    <a:fontScheme name="Default Design">
      <a:majorFont>
        <a:latin typeface="Bookman Old Style"/>
        <a:ea typeface=""/>
        <a:cs typeface=""/>
      </a:majorFont>
      <a:minorFont>
        <a:latin typeface="Tahom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AAC389-7000-F040-B15B-6DFCE0027D72}">
  <we:reference id="wa200004709" version="1.1.0.2" store="en-US" storeType="OMEX"/>
  <we:alternateReferences>
    <we:reference id="wa200004709" version="1.1.0.2" store="WA200004709"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56711</TotalTime>
  <Words>9486</Words>
  <Application>Microsoft Macintosh PowerPoint</Application>
  <PresentationFormat>Widescreen</PresentationFormat>
  <Paragraphs>791</Paragraphs>
  <Slides>74</Slides>
  <Notes>70</Notes>
  <HiddenSlides>14</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4" baseType="lpstr">
      <vt:lpstr>Arial</vt:lpstr>
      <vt:lpstr>Bookman Old Style</vt:lpstr>
      <vt:lpstr>Cambria Math</vt:lpstr>
      <vt:lpstr>Symbol</vt:lpstr>
      <vt:lpstr>Tahoma</vt:lpstr>
      <vt:lpstr>Times</vt:lpstr>
      <vt:lpstr>Times New Roman</vt:lpstr>
      <vt:lpstr>Wingdings</vt:lpstr>
      <vt:lpstr>Default Design</vt:lpstr>
      <vt:lpstr>Equation</vt:lpstr>
      <vt:lpstr>Aerospace Design and Systems Engineering Elements II  AE2111-II aircraft part</vt:lpstr>
      <vt:lpstr>PowerPoint Presentation</vt:lpstr>
      <vt:lpstr>PowerPoint Presentation</vt:lpstr>
      <vt:lpstr>PowerPoint Presentation</vt:lpstr>
      <vt:lpstr>PowerPoint Presentation</vt:lpstr>
      <vt:lpstr>PowerPoint Presentation</vt:lpstr>
      <vt:lpstr>PowerPoint Presentation</vt:lpstr>
      <vt:lpstr>Objective(s) of this lecture</vt:lpstr>
      <vt:lpstr>PowerPoint Presentation</vt:lpstr>
      <vt:lpstr>Wing airfoil and planform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 Delft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LR-AE1201</dc:title>
  <dc:subject>Aerospace Design and Systems Engineering I</dc:subject>
  <dc:creator>F.Oliviero@tudelft.nl</dc:creator>
  <cp:lastModifiedBy>Fabrizio Oliviero</cp:lastModifiedBy>
  <cp:revision>1410</cp:revision>
  <cp:lastPrinted>2011-10-03T07:28:45Z</cp:lastPrinted>
  <dcterms:created xsi:type="dcterms:W3CDTF">2003-02-14T12:59:34Z</dcterms:created>
  <dcterms:modified xsi:type="dcterms:W3CDTF">2024-09-05T12:10:02Z</dcterms:modified>
</cp:coreProperties>
</file>