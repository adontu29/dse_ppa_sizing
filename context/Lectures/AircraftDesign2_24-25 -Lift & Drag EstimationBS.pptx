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5.xml" ContentType="application/vnd.openxmlformats-officedocument.presentationml.notesSlide+xml"/>
  <Override PartName="/ppt/tags/tag123.xml" ContentType="application/vnd.openxmlformats-officedocument.presentationml.tags+xml"/>
  <Override PartName="/ppt/notesSlides/notesSlide6.xml" ContentType="application/vnd.openxmlformats-officedocument.presentationml.notesSlide+xml"/>
  <Override PartName="/ppt/tags/tag124.xml" ContentType="application/vnd.openxmlformats-officedocument.presentationml.tags+xml"/>
  <Override PartName="/ppt/notesSlides/notesSlide7.xml" ContentType="application/vnd.openxmlformats-officedocument.presentationml.notesSlide+xml"/>
  <Override PartName="/ppt/tags/tag125.xml" ContentType="application/vnd.openxmlformats-officedocument.presentationml.tags+xml"/>
  <Override PartName="/ppt/notesSlides/notesSlide8.xml" ContentType="application/vnd.openxmlformats-officedocument.presentationml.notesSlide+xml"/>
  <Override PartName="/ppt/tags/tag126.xml" ContentType="application/vnd.openxmlformats-officedocument.presentationml.tags+xml"/>
  <Override PartName="/ppt/notesSlides/notesSlide9.xml" ContentType="application/vnd.openxmlformats-officedocument.presentationml.notesSlide+xml"/>
  <Override PartName="/ppt/tags/tag127.xml" ContentType="application/vnd.openxmlformats-officedocument.presentationml.tags+xml"/>
  <Override PartName="/ppt/notesSlides/notesSlide10.xml" ContentType="application/vnd.openxmlformats-officedocument.presentationml.notesSlide+xml"/>
  <Override PartName="/ppt/tags/tag128.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29.xml" ContentType="application/vnd.openxmlformats-officedocument.presentationml.tags+xml"/>
  <Override PartName="/ppt/notesSlides/notesSlide13.xml" ContentType="application/vnd.openxmlformats-officedocument.presentationml.notesSlide+xml"/>
  <Override PartName="/ppt/tags/tag130.xml" ContentType="application/vnd.openxmlformats-officedocument.presentationml.tags+xml"/>
  <Override PartName="/ppt/notesSlides/notesSlide14.xml" ContentType="application/vnd.openxmlformats-officedocument.presentationml.notesSlide+xml"/>
  <Override PartName="/ppt/tags/tag131.xml" ContentType="application/vnd.openxmlformats-officedocument.presentationml.tags+xml"/>
  <Override PartName="/ppt/notesSlides/notesSlide15.xml" ContentType="application/vnd.openxmlformats-officedocument.presentationml.notesSlide+xml"/>
  <Override PartName="/ppt/tags/tag132.xml" ContentType="application/vnd.openxmlformats-officedocument.presentationml.tags+xml"/>
  <Override PartName="/ppt/notesSlides/notesSlide16.xml" ContentType="application/vnd.openxmlformats-officedocument.presentationml.notesSlide+xml"/>
  <Override PartName="/ppt/tags/tag13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34.xml" ContentType="application/vnd.openxmlformats-officedocument.presentationml.tags+xml"/>
  <Override PartName="/ppt/notesSlides/notesSlide19.xml" ContentType="application/vnd.openxmlformats-officedocument.presentationml.notesSlide+xml"/>
  <Override PartName="/ppt/tags/tag135.xml" ContentType="application/vnd.openxmlformats-officedocument.presentationml.tags+xml"/>
  <Override PartName="/ppt/notesSlides/notesSlide20.xml" ContentType="application/vnd.openxmlformats-officedocument.presentationml.notesSlide+xml"/>
  <Override PartName="/ppt/tags/tag136.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37.xml" ContentType="application/vnd.openxmlformats-officedocument.presentationml.tags+xml"/>
  <Override PartName="/ppt/notesSlides/notesSlide23.xml" ContentType="application/vnd.openxmlformats-officedocument.presentationml.notesSlide+xml"/>
  <Override PartName="/ppt/tags/tag138.xml" ContentType="application/vnd.openxmlformats-officedocument.presentationml.tags+xml"/>
  <Override PartName="/ppt/notesSlides/notesSlide24.xml" ContentType="application/vnd.openxmlformats-officedocument.presentationml.notesSlide+xml"/>
  <Override PartName="/ppt/tags/tag139.xml" ContentType="application/vnd.openxmlformats-officedocument.presentationml.tags+xml"/>
  <Override PartName="/ppt/notesSlides/notesSlide25.xml" ContentType="application/vnd.openxmlformats-officedocument.presentationml.notesSlide+xml"/>
  <Override PartName="/ppt/tags/tag140.xml" ContentType="application/vnd.openxmlformats-officedocument.presentationml.tags+xml"/>
  <Override PartName="/ppt/notesSlides/notesSlide26.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44.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45.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146.xml" ContentType="application/vnd.openxmlformats-officedocument.presentationml.tags+xml"/>
  <Override PartName="/ppt/notesSlides/notesSlide52.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3" r:id="rId1"/>
  </p:sldMasterIdLst>
  <p:notesMasterIdLst>
    <p:notesMasterId r:id="rId77"/>
  </p:notesMasterIdLst>
  <p:handoutMasterIdLst>
    <p:handoutMasterId r:id="rId78"/>
  </p:handoutMasterIdLst>
  <p:sldIdLst>
    <p:sldId id="792" r:id="rId2"/>
    <p:sldId id="861" r:id="rId3"/>
    <p:sldId id="862" r:id="rId4"/>
    <p:sldId id="916" r:id="rId5"/>
    <p:sldId id="935" r:id="rId6"/>
    <p:sldId id="937" r:id="rId7"/>
    <p:sldId id="257" r:id="rId8"/>
    <p:sldId id="794" r:id="rId9"/>
    <p:sldId id="900" r:id="rId10"/>
    <p:sldId id="901" r:id="rId11"/>
    <p:sldId id="902" r:id="rId12"/>
    <p:sldId id="798" r:id="rId13"/>
    <p:sldId id="799" r:id="rId14"/>
    <p:sldId id="800" r:id="rId15"/>
    <p:sldId id="801" r:id="rId16"/>
    <p:sldId id="802" r:id="rId17"/>
    <p:sldId id="803" r:id="rId18"/>
    <p:sldId id="805" r:id="rId19"/>
    <p:sldId id="804" r:id="rId20"/>
    <p:sldId id="806" r:id="rId21"/>
    <p:sldId id="807" r:id="rId22"/>
    <p:sldId id="808" r:id="rId23"/>
    <p:sldId id="809" r:id="rId24"/>
    <p:sldId id="810" r:id="rId25"/>
    <p:sldId id="811" r:id="rId26"/>
    <p:sldId id="812" r:id="rId27"/>
    <p:sldId id="813" r:id="rId28"/>
    <p:sldId id="814" r:id="rId29"/>
    <p:sldId id="863" r:id="rId30"/>
    <p:sldId id="923" r:id="rId31"/>
    <p:sldId id="865" r:id="rId32"/>
    <p:sldId id="866" r:id="rId33"/>
    <p:sldId id="867" r:id="rId34"/>
    <p:sldId id="868" r:id="rId35"/>
    <p:sldId id="869" r:id="rId36"/>
    <p:sldId id="870" r:id="rId37"/>
    <p:sldId id="924" r:id="rId38"/>
    <p:sldId id="871" r:id="rId39"/>
    <p:sldId id="872" r:id="rId40"/>
    <p:sldId id="873" r:id="rId41"/>
    <p:sldId id="874" r:id="rId42"/>
    <p:sldId id="875" r:id="rId43"/>
    <p:sldId id="905" r:id="rId44"/>
    <p:sldId id="876" r:id="rId45"/>
    <p:sldId id="877" r:id="rId46"/>
    <p:sldId id="878" r:id="rId47"/>
    <p:sldId id="879" r:id="rId48"/>
    <p:sldId id="880" r:id="rId49"/>
    <p:sldId id="903" r:id="rId50"/>
    <p:sldId id="881" r:id="rId51"/>
    <p:sldId id="882" r:id="rId52"/>
    <p:sldId id="883" r:id="rId53"/>
    <p:sldId id="884" r:id="rId54"/>
    <p:sldId id="890" r:id="rId55"/>
    <p:sldId id="891" r:id="rId56"/>
    <p:sldId id="885" r:id="rId57"/>
    <p:sldId id="886" r:id="rId58"/>
    <p:sldId id="887" r:id="rId59"/>
    <p:sldId id="888" r:id="rId60"/>
    <p:sldId id="889" r:id="rId61"/>
    <p:sldId id="892" r:id="rId62"/>
    <p:sldId id="893" r:id="rId63"/>
    <p:sldId id="894" r:id="rId64"/>
    <p:sldId id="895" r:id="rId65"/>
    <p:sldId id="896" r:id="rId66"/>
    <p:sldId id="897" r:id="rId67"/>
    <p:sldId id="898" r:id="rId68"/>
    <p:sldId id="899" r:id="rId69"/>
    <p:sldId id="915" r:id="rId70"/>
    <p:sldId id="941" r:id="rId71"/>
    <p:sldId id="942" r:id="rId72"/>
    <p:sldId id="944" r:id="rId73"/>
    <p:sldId id="933" r:id="rId74"/>
    <p:sldId id="930" r:id="rId75"/>
    <p:sldId id="929" r:id="rId76"/>
  </p:sldIdLst>
  <p:sldSz cx="12192000" cy="6858000"/>
  <p:notesSz cx="6794500" cy="9931400"/>
  <p:custDataLst>
    <p:tags r:id="rId79"/>
  </p:custDataLst>
  <p:defaultTextStyle>
    <a:defPPr>
      <a:defRPr lang="en-US"/>
    </a:defPPr>
    <a:lvl1pPr algn="ctr" rtl="0" fontAlgn="ctr">
      <a:spcBef>
        <a:spcPct val="0"/>
      </a:spcBef>
      <a:spcAft>
        <a:spcPct val="0"/>
      </a:spcAft>
      <a:defRPr sz="1600" kern="1200">
        <a:solidFill>
          <a:schemeClr val="tx1"/>
        </a:solidFill>
        <a:latin typeface="Tahoma" pitchFamily="34" charset="0"/>
        <a:ea typeface="+mn-ea"/>
        <a:cs typeface="+mn-cs"/>
      </a:defRPr>
    </a:lvl1pPr>
    <a:lvl2pPr marL="457200" algn="ctr" rtl="0" fontAlgn="ctr">
      <a:spcBef>
        <a:spcPct val="0"/>
      </a:spcBef>
      <a:spcAft>
        <a:spcPct val="0"/>
      </a:spcAft>
      <a:defRPr sz="1600" kern="1200">
        <a:solidFill>
          <a:schemeClr val="tx1"/>
        </a:solidFill>
        <a:latin typeface="Tahoma" pitchFamily="34" charset="0"/>
        <a:ea typeface="+mn-ea"/>
        <a:cs typeface="+mn-cs"/>
      </a:defRPr>
    </a:lvl2pPr>
    <a:lvl3pPr marL="914400" algn="ctr" rtl="0" fontAlgn="ctr">
      <a:spcBef>
        <a:spcPct val="0"/>
      </a:spcBef>
      <a:spcAft>
        <a:spcPct val="0"/>
      </a:spcAft>
      <a:defRPr sz="1600" kern="1200">
        <a:solidFill>
          <a:schemeClr val="tx1"/>
        </a:solidFill>
        <a:latin typeface="Tahoma" pitchFamily="34" charset="0"/>
        <a:ea typeface="+mn-ea"/>
        <a:cs typeface="+mn-cs"/>
      </a:defRPr>
    </a:lvl3pPr>
    <a:lvl4pPr marL="1371600" algn="ctr" rtl="0" fontAlgn="ctr">
      <a:spcBef>
        <a:spcPct val="0"/>
      </a:spcBef>
      <a:spcAft>
        <a:spcPct val="0"/>
      </a:spcAft>
      <a:defRPr sz="1600" kern="1200">
        <a:solidFill>
          <a:schemeClr val="tx1"/>
        </a:solidFill>
        <a:latin typeface="Tahoma" pitchFamily="34" charset="0"/>
        <a:ea typeface="+mn-ea"/>
        <a:cs typeface="+mn-cs"/>
      </a:defRPr>
    </a:lvl4pPr>
    <a:lvl5pPr marL="1828800" algn="ctr" rtl="0" fontAlgn="ctr">
      <a:spcBef>
        <a:spcPct val="0"/>
      </a:spcBef>
      <a:spcAft>
        <a:spcPct val="0"/>
      </a:spcAft>
      <a:defRPr sz="1600" kern="1200">
        <a:solidFill>
          <a:schemeClr val="tx1"/>
        </a:solidFill>
        <a:latin typeface="Tahoma" pitchFamily="34" charset="0"/>
        <a:ea typeface="+mn-ea"/>
        <a:cs typeface="+mn-cs"/>
      </a:defRPr>
    </a:lvl5pPr>
    <a:lvl6pPr marL="2286000" algn="l" defTabSz="914400" rtl="0" eaLnBrk="1" latinLnBrk="0" hangingPunct="1">
      <a:defRPr sz="1600" kern="1200">
        <a:solidFill>
          <a:schemeClr val="tx1"/>
        </a:solidFill>
        <a:latin typeface="Tahoma" pitchFamily="34" charset="0"/>
        <a:ea typeface="+mn-ea"/>
        <a:cs typeface="+mn-cs"/>
      </a:defRPr>
    </a:lvl6pPr>
    <a:lvl7pPr marL="2743200" algn="l" defTabSz="914400" rtl="0" eaLnBrk="1" latinLnBrk="0" hangingPunct="1">
      <a:defRPr sz="1600" kern="1200">
        <a:solidFill>
          <a:schemeClr val="tx1"/>
        </a:solidFill>
        <a:latin typeface="Tahoma" pitchFamily="34" charset="0"/>
        <a:ea typeface="+mn-ea"/>
        <a:cs typeface="+mn-cs"/>
      </a:defRPr>
    </a:lvl7pPr>
    <a:lvl8pPr marL="3200400" algn="l" defTabSz="914400" rtl="0" eaLnBrk="1" latinLnBrk="0" hangingPunct="1">
      <a:defRPr sz="1600" kern="1200">
        <a:solidFill>
          <a:schemeClr val="tx1"/>
        </a:solidFill>
        <a:latin typeface="Tahoma" pitchFamily="34" charset="0"/>
        <a:ea typeface="+mn-ea"/>
        <a:cs typeface="+mn-cs"/>
      </a:defRPr>
    </a:lvl8pPr>
    <a:lvl9pPr marL="3657600" algn="l" defTabSz="914400" rtl="0" eaLnBrk="1" latinLnBrk="0" hangingPunct="1">
      <a:defRPr sz="16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4069" userDrawn="1">
          <p15:clr>
            <a:srgbClr val="A4A3A4"/>
          </p15:clr>
        </p15:guide>
        <p15:guide id="2" pos="7040" userDrawn="1">
          <p15:clr>
            <a:srgbClr val="A4A3A4"/>
          </p15:clr>
        </p15:guide>
      </p15:sldGuideLst>
    </p:ext>
    <p:ext uri="{2D200454-40CA-4A62-9FC3-DE9A4176ACB9}">
      <p15:notesGuideLst xmlns:p15="http://schemas.microsoft.com/office/powerpoint/2012/main">
        <p15:guide id="1" orient="horz" pos="3128">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4F2D"/>
    <a:srgbClr val="FF0000"/>
    <a:srgbClr val="EAEAEA"/>
    <a:srgbClr val="996633"/>
    <a:srgbClr val="8ECBDF"/>
    <a:srgbClr val="8FB0D3"/>
    <a:srgbClr val="00A2BA"/>
    <a:srgbClr val="FFFF00"/>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74" autoAdjust="0"/>
    <p:restoredTop sz="94830" autoAdjust="0"/>
  </p:normalViewPr>
  <p:slideViewPr>
    <p:cSldViewPr>
      <p:cViewPr varScale="1">
        <p:scale>
          <a:sx n="110" d="100"/>
          <a:sy n="110" d="100"/>
        </p:scale>
        <p:origin x="208" y="416"/>
      </p:cViewPr>
      <p:guideLst>
        <p:guide orient="horz" pos="4069"/>
        <p:guide pos="704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50" d="100"/>
        <a:sy n="50" d="100"/>
      </p:scale>
      <p:origin x="0" y="1170"/>
    </p:cViewPr>
  </p:sorterViewPr>
  <p:notesViewPr>
    <p:cSldViewPr>
      <p:cViewPr>
        <p:scale>
          <a:sx n="33" d="100"/>
          <a:sy n="33" d="100"/>
        </p:scale>
        <p:origin x="-1818" y="-426"/>
      </p:cViewPr>
      <p:guideLst>
        <p:guide orient="horz" pos="3128"/>
        <p:guide pos="214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44813"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fontAlgn="base" hangingPunct="0">
              <a:defRPr sz="1200">
                <a:latin typeface="Times" pitchFamily="18" charset="0"/>
              </a:defRPr>
            </a:lvl1pPr>
          </a:lstStyle>
          <a:p>
            <a:pPr>
              <a:defRPr/>
            </a:pPr>
            <a:endParaRPr lang="nl-NL"/>
          </a:p>
        </p:txBody>
      </p:sp>
      <p:sp>
        <p:nvSpPr>
          <p:cNvPr id="31747" name="Rectangle 3"/>
          <p:cNvSpPr>
            <a:spLocks noGrp="1" noChangeArrowheads="1"/>
          </p:cNvSpPr>
          <p:nvPr>
            <p:ph type="dt" sz="quarter" idx="1"/>
          </p:nvPr>
        </p:nvSpPr>
        <p:spPr bwMode="auto">
          <a:xfrm>
            <a:off x="3849688" y="0"/>
            <a:ext cx="2944812"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fontAlgn="base" hangingPunct="0">
              <a:defRPr sz="1200">
                <a:latin typeface="Times" pitchFamily="18" charset="0"/>
              </a:defRPr>
            </a:lvl1pPr>
          </a:lstStyle>
          <a:p>
            <a:pPr>
              <a:defRPr/>
            </a:pPr>
            <a:endParaRPr lang="nl-NL"/>
          </a:p>
        </p:txBody>
      </p:sp>
      <p:sp>
        <p:nvSpPr>
          <p:cNvPr id="31748" name="Rectangle 4"/>
          <p:cNvSpPr>
            <a:spLocks noGrp="1" noChangeArrowheads="1"/>
          </p:cNvSpPr>
          <p:nvPr>
            <p:ph type="ftr" sz="quarter" idx="2"/>
          </p:nvPr>
        </p:nvSpPr>
        <p:spPr bwMode="auto">
          <a:xfrm>
            <a:off x="0" y="9434513"/>
            <a:ext cx="2944813"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fontAlgn="base" hangingPunct="0">
              <a:defRPr sz="1200">
                <a:latin typeface="Times" pitchFamily="18" charset="0"/>
              </a:defRPr>
            </a:lvl1pPr>
          </a:lstStyle>
          <a:p>
            <a:pPr>
              <a:defRPr/>
            </a:pPr>
            <a:endParaRPr lang="nl-NL"/>
          </a:p>
        </p:txBody>
      </p:sp>
      <p:sp>
        <p:nvSpPr>
          <p:cNvPr id="31749" name="Rectangle 5"/>
          <p:cNvSpPr>
            <a:spLocks noGrp="1" noChangeArrowheads="1"/>
          </p:cNvSpPr>
          <p:nvPr>
            <p:ph type="sldNum" sz="quarter" idx="3"/>
          </p:nvPr>
        </p:nvSpPr>
        <p:spPr bwMode="auto">
          <a:xfrm>
            <a:off x="3849688" y="9434513"/>
            <a:ext cx="2944812"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fontAlgn="base" hangingPunct="0">
              <a:defRPr sz="1200">
                <a:latin typeface="Times" pitchFamily="18" charset="0"/>
              </a:defRPr>
            </a:lvl1pPr>
          </a:lstStyle>
          <a:p>
            <a:pPr>
              <a:defRPr/>
            </a:pPr>
            <a:fld id="{4A682B52-4613-4C84-A86F-3C0039A3E760}" type="slidenum">
              <a:rPr lang="nl-NL"/>
              <a:pPr>
                <a:defRPr/>
              </a:pPr>
              <a:t>‹#›</a:t>
            </a:fld>
            <a:endParaRPr lang="nl-NL"/>
          </a:p>
        </p:txBody>
      </p:sp>
    </p:spTree>
    <p:extLst>
      <p:ext uri="{BB962C8B-B14F-4D97-AF65-F5344CB8AC3E}">
        <p14:creationId xmlns:p14="http://schemas.microsoft.com/office/powerpoint/2010/main" val="9382396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44813"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fontAlgn="base" hangingPunct="0">
              <a:defRPr sz="1200">
                <a:latin typeface="Times" pitchFamily="18" charset="0"/>
              </a:defRPr>
            </a:lvl1pPr>
          </a:lstStyle>
          <a:p>
            <a:pPr>
              <a:defRPr/>
            </a:pPr>
            <a:endParaRPr lang="en-US"/>
          </a:p>
        </p:txBody>
      </p:sp>
      <p:sp>
        <p:nvSpPr>
          <p:cNvPr id="16387" name="Rectangle 3"/>
          <p:cNvSpPr>
            <a:spLocks noGrp="1" noChangeArrowheads="1"/>
          </p:cNvSpPr>
          <p:nvPr>
            <p:ph type="dt" idx="1"/>
          </p:nvPr>
        </p:nvSpPr>
        <p:spPr bwMode="auto">
          <a:xfrm>
            <a:off x="3849688" y="0"/>
            <a:ext cx="2944812"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fontAlgn="base" hangingPunct="0">
              <a:defRPr sz="1200">
                <a:latin typeface="Times" pitchFamily="18" charset="0"/>
              </a:defRPr>
            </a:lvl1pPr>
          </a:lstStyle>
          <a:p>
            <a:pPr>
              <a:defRPr/>
            </a:pPr>
            <a:endParaRPr lang="en-US"/>
          </a:p>
        </p:txBody>
      </p:sp>
      <p:sp>
        <p:nvSpPr>
          <p:cNvPr id="67588" name="Rectangle 4"/>
          <p:cNvSpPr>
            <a:spLocks noGrp="1" noRot="1" noChangeAspect="1" noChangeArrowheads="1" noTextEdit="1"/>
          </p:cNvSpPr>
          <p:nvPr>
            <p:ph type="sldImg" idx="2"/>
          </p:nvPr>
        </p:nvSpPr>
        <p:spPr bwMode="auto">
          <a:xfrm>
            <a:off x="87313" y="746125"/>
            <a:ext cx="6619875" cy="3724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9" name="Rectangle 5"/>
          <p:cNvSpPr>
            <a:spLocks noGrp="1" noChangeArrowheads="1"/>
          </p:cNvSpPr>
          <p:nvPr>
            <p:ph type="body" sz="quarter" idx="3"/>
          </p:nvPr>
        </p:nvSpPr>
        <p:spPr bwMode="auto">
          <a:xfrm>
            <a:off x="904875" y="4718050"/>
            <a:ext cx="4984750"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p:cNvSpPr>
            <a:spLocks noGrp="1" noChangeArrowheads="1"/>
          </p:cNvSpPr>
          <p:nvPr>
            <p:ph type="ftr" sz="quarter" idx="4"/>
          </p:nvPr>
        </p:nvSpPr>
        <p:spPr bwMode="auto">
          <a:xfrm>
            <a:off x="0" y="9434513"/>
            <a:ext cx="2944813"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fontAlgn="base" hangingPunct="0">
              <a:defRPr sz="1200">
                <a:latin typeface="Times" pitchFamily="18" charset="0"/>
              </a:defRPr>
            </a:lvl1pPr>
          </a:lstStyle>
          <a:p>
            <a:pPr>
              <a:defRPr/>
            </a:pPr>
            <a:endParaRPr lang="en-US"/>
          </a:p>
        </p:txBody>
      </p:sp>
      <p:sp>
        <p:nvSpPr>
          <p:cNvPr id="16391" name="Rectangle 7"/>
          <p:cNvSpPr>
            <a:spLocks noGrp="1" noChangeArrowheads="1"/>
          </p:cNvSpPr>
          <p:nvPr>
            <p:ph type="sldNum" sz="quarter" idx="5"/>
          </p:nvPr>
        </p:nvSpPr>
        <p:spPr bwMode="auto">
          <a:xfrm>
            <a:off x="3849688" y="9434513"/>
            <a:ext cx="2944812"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fontAlgn="base" hangingPunct="0">
              <a:defRPr sz="1200">
                <a:latin typeface="Times" pitchFamily="18" charset="0"/>
              </a:defRPr>
            </a:lvl1pPr>
          </a:lstStyle>
          <a:p>
            <a:pPr>
              <a:defRPr/>
            </a:pPr>
            <a:fld id="{78A53ED0-F48F-4FDC-A254-6C678657B7AC}" type="slidenum">
              <a:rPr lang="en-US"/>
              <a:pPr>
                <a:defRPr/>
              </a:pPr>
              <a:t>‹#›</a:t>
            </a:fld>
            <a:endParaRPr lang="en-US"/>
          </a:p>
        </p:txBody>
      </p:sp>
    </p:spTree>
    <p:extLst>
      <p:ext uri="{BB962C8B-B14F-4D97-AF65-F5344CB8AC3E}">
        <p14:creationId xmlns:p14="http://schemas.microsoft.com/office/powerpoint/2010/main" val="25176869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23825" y="714375"/>
            <a:ext cx="6619875" cy="3724275"/>
          </a:xfrm>
          <a:ln/>
        </p:spPr>
      </p:sp>
      <p:sp>
        <p:nvSpPr>
          <p:cNvPr id="686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53" tIns="46077" rIns="92153" bIns="46077"/>
          <a:lstStyle/>
          <a:p>
            <a:endParaRPr lang="nl-NL" altLang="nl-N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E5B333B3-0979-4072-A06D-EC2B6B121191}" type="slidenum">
              <a:rPr lang="en-US" altLang="nl-NL">
                <a:latin typeface="Arial" charset="0"/>
              </a:rPr>
              <a:pPr algn="r" eaLnBrk="1" hangingPunct="1">
                <a:spcBef>
                  <a:spcPct val="0"/>
                </a:spcBef>
              </a:pPr>
              <a:t>2</a:t>
            </a:fld>
            <a:endParaRPr lang="en-US" altLang="nl-NL">
              <a:latin typeface="Arial" charset="0"/>
            </a:endParaRPr>
          </a:p>
        </p:txBody>
      </p:sp>
      <p:sp>
        <p:nvSpPr>
          <p:cNvPr id="69635" name="Rectangle 2"/>
          <p:cNvSpPr>
            <a:spLocks noGrp="1" noRot="1" noChangeAspect="1" noChangeArrowheads="1" noTextEdit="1"/>
          </p:cNvSpPr>
          <p:nvPr>
            <p:ph type="sldImg"/>
          </p:nvPr>
        </p:nvSpPr>
        <p:spPr>
          <a:xfrm>
            <a:off x="90488" y="746125"/>
            <a:ext cx="6616700" cy="3722688"/>
          </a:xfrm>
          <a:ln/>
        </p:spPr>
      </p:sp>
      <p:sp>
        <p:nvSpPr>
          <p:cNvPr id="69636"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endParaRPr lang="en-GB" altLang="nl-N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131EC7AE-BB46-40B9-ABB8-DC97A725097A}" type="slidenum">
              <a:rPr lang="en-US" altLang="nl-NL">
                <a:latin typeface="Arial" charset="0"/>
              </a:rPr>
              <a:pPr algn="r" eaLnBrk="1" hangingPunct="1">
                <a:spcBef>
                  <a:spcPct val="0"/>
                </a:spcBef>
              </a:pPr>
              <a:t>3</a:t>
            </a:fld>
            <a:endParaRPr lang="en-US" altLang="nl-NL">
              <a:latin typeface="Arial" charset="0"/>
            </a:endParaRPr>
          </a:p>
        </p:txBody>
      </p:sp>
      <p:sp>
        <p:nvSpPr>
          <p:cNvPr id="70659" name="Rectangle 2"/>
          <p:cNvSpPr>
            <a:spLocks noGrp="1" noRot="1" noChangeAspect="1" noChangeArrowheads="1" noTextEdit="1"/>
          </p:cNvSpPr>
          <p:nvPr>
            <p:ph type="sldImg"/>
          </p:nvPr>
        </p:nvSpPr>
        <p:spPr>
          <a:xfrm>
            <a:off x="90488" y="746125"/>
            <a:ext cx="6616700" cy="3722688"/>
          </a:xfrm>
          <a:ln/>
        </p:spPr>
      </p:sp>
      <p:sp>
        <p:nvSpPr>
          <p:cNvPr id="70660"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endParaRPr lang="en-GB" altLang="nl-NL"/>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noChangeArrowheads="1"/>
          </p:cNvSpPr>
          <p:nvPr/>
        </p:nvSpPr>
        <p:spPr bwMode="auto">
          <a:xfrm>
            <a:off x="3849688" y="9434513"/>
            <a:ext cx="294481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fontAlgn="base"/>
            <a:fld id="{CD99B843-8740-417E-B252-1EEE0848783F}" type="slidenum">
              <a:rPr lang="en-US" sz="1200">
                <a:latin typeface="Arial" charset="0"/>
              </a:rPr>
              <a:pPr algn="r" fontAlgn="base"/>
              <a:t>4</a:t>
            </a:fld>
            <a:endParaRPr lang="en-US" sz="1200">
              <a:latin typeface="Arial" charset="0"/>
            </a:endParaRPr>
          </a:p>
        </p:txBody>
      </p:sp>
      <p:sp>
        <p:nvSpPr>
          <p:cNvPr id="73731" name="Rectangle 2"/>
          <p:cNvSpPr>
            <a:spLocks noGrp="1" noRot="1" noChangeAspect="1" noChangeArrowheads="1" noTextEdit="1"/>
          </p:cNvSpPr>
          <p:nvPr>
            <p:ph type="sldImg"/>
          </p:nvPr>
        </p:nvSpPr>
        <p:spPr>
          <a:xfrm>
            <a:off x="87313" y="746125"/>
            <a:ext cx="6619875" cy="3724275"/>
          </a:xfrm>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a:latin typeface="Arial" charset="0"/>
            </a:endParaRPr>
          </a:p>
        </p:txBody>
      </p:sp>
    </p:spTree>
    <p:extLst>
      <p:ext uri="{BB962C8B-B14F-4D97-AF65-F5344CB8AC3E}">
        <p14:creationId xmlns:p14="http://schemas.microsoft.com/office/powerpoint/2010/main" val="768026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txBox="1">
            <a:spLocks noGrp="1" noChangeArrowheads="1"/>
          </p:cNvSpPr>
          <p:nvPr/>
        </p:nvSpPr>
        <p:spPr bwMode="auto">
          <a:xfrm>
            <a:off x="3849688" y="9434513"/>
            <a:ext cx="294481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890608E7-5AC5-4D84-A030-68D4E24C868B}" type="slidenum">
              <a:rPr lang="en-US" altLang="nl-NL">
                <a:latin typeface="Arial" charset="0"/>
              </a:rPr>
              <a:pPr algn="r">
                <a:spcBef>
                  <a:spcPct val="0"/>
                </a:spcBef>
              </a:pPr>
              <a:t>8</a:t>
            </a:fld>
            <a:endParaRPr lang="en-US" altLang="nl-NL">
              <a:latin typeface="Arial" charset="0"/>
            </a:endParaRPr>
          </a:p>
        </p:txBody>
      </p:sp>
      <p:sp>
        <p:nvSpPr>
          <p:cNvPr id="71683" name="Rectangle 2"/>
          <p:cNvSpPr>
            <a:spLocks noGrp="1" noRot="1" noChangeAspect="1" noChangeArrowheads="1" noTextEdit="1"/>
          </p:cNvSpPr>
          <p:nvPr>
            <p:ph type="sldImg"/>
          </p:nvPr>
        </p:nvSpPr>
        <p:spPr>
          <a:xfrm>
            <a:off x="87313" y="746125"/>
            <a:ext cx="6619875" cy="3724275"/>
          </a:xfrm>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nl-NL">
              <a:latin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0075129F-3172-4D6B-9C03-D7D3794448F7}" type="slidenum">
              <a:rPr lang="en-US" altLang="nl-NL">
                <a:latin typeface="Arial" charset="0"/>
              </a:rPr>
              <a:pPr algn="r" eaLnBrk="1" hangingPunct="1">
                <a:spcBef>
                  <a:spcPct val="0"/>
                </a:spcBef>
              </a:pPr>
              <a:t>9</a:t>
            </a:fld>
            <a:endParaRPr lang="en-US" altLang="nl-NL">
              <a:latin typeface="Arial" charset="0"/>
            </a:endParaRPr>
          </a:p>
        </p:txBody>
      </p:sp>
      <p:sp>
        <p:nvSpPr>
          <p:cNvPr id="72707" name="Rectangle 2"/>
          <p:cNvSpPr>
            <a:spLocks noGrp="1" noRot="1" noChangeAspect="1" noChangeArrowheads="1" noTextEdit="1"/>
          </p:cNvSpPr>
          <p:nvPr>
            <p:ph type="sldImg"/>
          </p:nvPr>
        </p:nvSpPr>
        <p:spPr>
          <a:xfrm>
            <a:off x="90488" y="746125"/>
            <a:ext cx="6616700" cy="3722688"/>
          </a:xfrm>
          <a:ln/>
        </p:spPr>
      </p:sp>
      <p:sp>
        <p:nvSpPr>
          <p:cNvPr id="72708"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US" altLang="nl-NL"/>
              <a:t>*Tipically 2</a:t>
            </a:r>
            <a:r>
              <a:rPr lang="en-US" altLang="nl-NL">
                <a:cs typeface="Arial" charset="0"/>
              </a:rPr>
              <a:t>π for incompressible flow!</a:t>
            </a:r>
          </a:p>
          <a:p>
            <a:pPr eaLnBrk="1" hangingPunct="1"/>
            <a:endParaRPr lang="en-US" altLang="nl-NL">
              <a:cs typeface="Arial" charset="0"/>
            </a:endParaRPr>
          </a:p>
          <a:p>
            <a:pPr eaLnBrk="1" hangingPunct="1"/>
            <a:r>
              <a:rPr lang="en-US" altLang="nl-NL">
                <a:cs typeface="Arial" charset="0"/>
              </a:rPr>
              <a:t>Why a rotation around Alpha zero lift? Because when the generated lift is zero, there are not tip vortices, hence now downwash, hence the wing behaves as its own airfoil.</a:t>
            </a:r>
          </a:p>
          <a:p>
            <a:pPr eaLnBrk="1" hangingPunct="1"/>
            <a:r>
              <a:rPr lang="en-US" altLang="nl-NL">
                <a:cs typeface="Arial" charset="0"/>
              </a:rPr>
              <a:t>Actually at transonic speed also the airfoil thickness has an influence on CLalpha (see next slide).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8C8CA66F-6350-4319-9661-49D15A8C911B}" type="slidenum">
              <a:rPr lang="en-US" altLang="nl-NL">
                <a:latin typeface="Arial" charset="0"/>
              </a:rPr>
              <a:pPr algn="r" eaLnBrk="1" hangingPunct="1">
                <a:spcBef>
                  <a:spcPct val="0"/>
                </a:spcBef>
              </a:pPr>
              <a:t>10</a:t>
            </a:fld>
            <a:endParaRPr lang="en-US" altLang="nl-NL">
              <a:latin typeface="Arial" charset="0"/>
            </a:endParaRPr>
          </a:p>
        </p:txBody>
      </p:sp>
      <p:sp>
        <p:nvSpPr>
          <p:cNvPr id="73731" name="Rectangle 2"/>
          <p:cNvSpPr>
            <a:spLocks noGrp="1" noRot="1" noChangeAspect="1" noChangeArrowheads="1" noTextEdit="1"/>
          </p:cNvSpPr>
          <p:nvPr>
            <p:ph type="sldImg"/>
          </p:nvPr>
        </p:nvSpPr>
        <p:spPr>
          <a:xfrm>
            <a:off x="90488" y="746125"/>
            <a:ext cx="6616700" cy="3722688"/>
          </a:xfrm>
          <a:ln/>
        </p:spPr>
      </p:sp>
      <p:sp>
        <p:nvSpPr>
          <p:cNvPr id="73732"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US" altLang="nl-NL" dirty="0"/>
              <a:t>Generally it is true that C</a:t>
            </a:r>
            <a:r>
              <a:rPr lang="en-US" altLang="nl-NL" baseline="-25000" dirty="0"/>
              <a:t>L</a:t>
            </a:r>
            <a:r>
              <a:rPr lang="el-GR" altLang="nl-NL" baseline="-25000" dirty="0">
                <a:cs typeface="Arial" charset="0"/>
              </a:rPr>
              <a:t>α</a:t>
            </a:r>
            <a:r>
              <a:rPr lang="en-US" altLang="nl-NL" dirty="0">
                <a:cs typeface="Arial" charset="0"/>
              </a:rPr>
              <a:t> of a wing built with a certain airfoil is lower than C</a:t>
            </a:r>
            <a:r>
              <a:rPr lang="en-US" altLang="nl-NL" baseline="-25000" dirty="0">
                <a:cs typeface="Arial" charset="0"/>
              </a:rPr>
              <a:t>l</a:t>
            </a:r>
            <a:r>
              <a:rPr lang="el-GR" altLang="nl-NL" baseline="-25000" dirty="0">
                <a:cs typeface="Arial" charset="0"/>
              </a:rPr>
              <a:t>α</a:t>
            </a:r>
            <a:r>
              <a:rPr lang="en-US" altLang="nl-NL" dirty="0">
                <a:cs typeface="Arial" charset="0"/>
              </a:rPr>
              <a:t> of the given airfoil working at the same angle of attack! That is </a:t>
            </a:r>
            <a:r>
              <a:rPr lang="en-US" altLang="nl-NL" b="1" dirty="0">
                <a:cs typeface="Arial" charset="0"/>
              </a:rPr>
              <a:t>always</a:t>
            </a:r>
            <a:r>
              <a:rPr lang="en-US" altLang="nl-NL" dirty="0">
                <a:cs typeface="Arial" charset="0"/>
              </a:rPr>
              <a:t> true for </a:t>
            </a:r>
            <a:r>
              <a:rPr lang="en-US" altLang="nl-NL" i="1" dirty="0">
                <a:cs typeface="Arial" charset="0"/>
              </a:rPr>
              <a:t>untwisted</a:t>
            </a:r>
            <a:r>
              <a:rPr lang="en-US" altLang="nl-NL" dirty="0">
                <a:cs typeface="Arial" charset="0"/>
              </a:rPr>
              <a:t> wings of </a:t>
            </a:r>
            <a:r>
              <a:rPr lang="en-US" altLang="nl-NL" i="1" dirty="0">
                <a:cs typeface="Arial" charset="0"/>
              </a:rPr>
              <a:t>finite length</a:t>
            </a:r>
            <a:r>
              <a:rPr lang="en-US" altLang="nl-NL" dirty="0">
                <a:cs typeface="Arial" charset="0"/>
              </a:rPr>
              <a:t>, when airfoil and wing are considered </a:t>
            </a:r>
            <a:r>
              <a:rPr lang="en-US" altLang="nl-NL" i="1" u="sng" dirty="0">
                <a:cs typeface="Arial" charset="0"/>
              </a:rPr>
              <a:t>working at the same Mach number</a:t>
            </a:r>
            <a:r>
              <a:rPr lang="en-US" altLang="nl-NL" dirty="0">
                <a:cs typeface="Arial" charset="0"/>
              </a:rPr>
              <a:t>!</a:t>
            </a:r>
          </a:p>
          <a:p>
            <a:pPr eaLnBrk="1" hangingPunct="1"/>
            <a:r>
              <a:rPr lang="en-US" altLang="nl-NL" dirty="0">
                <a:cs typeface="Arial" charset="0"/>
              </a:rPr>
              <a:t>Generally </a:t>
            </a:r>
            <a:r>
              <a:rPr lang="en-US" altLang="nl-NL" dirty="0"/>
              <a:t>C</a:t>
            </a:r>
            <a:r>
              <a:rPr lang="en-US" altLang="nl-NL" baseline="-25000" dirty="0"/>
              <a:t>L</a:t>
            </a:r>
            <a:r>
              <a:rPr lang="el-GR" altLang="nl-NL" baseline="-25000" dirty="0">
                <a:cs typeface="Arial" charset="0"/>
              </a:rPr>
              <a:t>α</a:t>
            </a:r>
            <a:r>
              <a:rPr lang="en-US" altLang="nl-NL" dirty="0">
                <a:cs typeface="Arial" charset="0"/>
              </a:rPr>
              <a:t> stay also below 2</a:t>
            </a:r>
            <a:r>
              <a:rPr lang="el-GR" altLang="nl-NL" dirty="0">
                <a:cs typeface="Arial" charset="0"/>
              </a:rPr>
              <a:t>π</a:t>
            </a:r>
            <a:r>
              <a:rPr lang="nl-NL" altLang="nl-NL" dirty="0">
                <a:cs typeface="Arial" charset="0"/>
              </a:rPr>
              <a:t>. </a:t>
            </a:r>
            <a:r>
              <a:rPr lang="nl-NL" altLang="nl-NL" dirty="0" err="1">
                <a:cs typeface="Arial" charset="0"/>
              </a:rPr>
              <a:t>However</a:t>
            </a:r>
            <a:r>
              <a:rPr lang="en-US" altLang="nl-NL" dirty="0">
                <a:cs typeface="Arial" charset="0"/>
              </a:rPr>
              <a:t>, in the specific case of </a:t>
            </a:r>
            <a:r>
              <a:rPr lang="en-US" altLang="nl-NL" u="sng" dirty="0" err="1">
                <a:cs typeface="Arial" charset="0"/>
              </a:rPr>
              <a:t>unswept</a:t>
            </a:r>
            <a:r>
              <a:rPr lang="en-US" altLang="nl-NL" dirty="0">
                <a:cs typeface="Arial" charset="0"/>
              </a:rPr>
              <a:t>, </a:t>
            </a:r>
            <a:r>
              <a:rPr lang="en-US" altLang="nl-NL" u="sng" dirty="0">
                <a:cs typeface="Arial" charset="0"/>
              </a:rPr>
              <a:t>high aspect ratio</a:t>
            </a:r>
            <a:r>
              <a:rPr lang="en-US" altLang="nl-NL" dirty="0">
                <a:cs typeface="Arial" charset="0"/>
              </a:rPr>
              <a:t> wings built with </a:t>
            </a:r>
            <a:r>
              <a:rPr lang="en-US" altLang="nl-NL" u="sng" dirty="0">
                <a:cs typeface="Arial" charset="0"/>
              </a:rPr>
              <a:t>thin airfoil</a:t>
            </a:r>
            <a:r>
              <a:rPr lang="en-US" altLang="nl-NL" dirty="0">
                <a:cs typeface="Arial" charset="0"/>
              </a:rPr>
              <a:t> and operating </a:t>
            </a:r>
            <a:r>
              <a:rPr lang="en-US" altLang="nl-NL" u="sng" dirty="0">
                <a:cs typeface="Arial" charset="0"/>
              </a:rPr>
              <a:t>at Mach number close to 1</a:t>
            </a:r>
            <a:r>
              <a:rPr lang="en-US" altLang="nl-NL" dirty="0">
                <a:cs typeface="Arial" charset="0"/>
              </a:rPr>
              <a:t>, it is possible that </a:t>
            </a:r>
            <a:r>
              <a:rPr lang="en-US" altLang="nl-NL" dirty="0"/>
              <a:t>C</a:t>
            </a:r>
            <a:r>
              <a:rPr lang="en-US" altLang="nl-NL" baseline="-25000" dirty="0"/>
              <a:t>L</a:t>
            </a:r>
            <a:r>
              <a:rPr lang="el-GR" altLang="nl-NL" baseline="-25000" dirty="0">
                <a:cs typeface="Arial" charset="0"/>
              </a:rPr>
              <a:t>α</a:t>
            </a:r>
            <a:r>
              <a:rPr lang="en-US" altLang="nl-NL" dirty="0">
                <a:cs typeface="Arial" charset="0"/>
              </a:rPr>
              <a:t> &gt; 2</a:t>
            </a:r>
            <a:r>
              <a:rPr lang="el-GR" altLang="nl-NL" dirty="0">
                <a:cs typeface="Arial" charset="0"/>
              </a:rPr>
              <a:t>π</a:t>
            </a:r>
            <a:r>
              <a:rPr lang="en-US" altLang="nl-NL" dirty="0">
                <a:cs typeface="Arial" charset="0"/>
              </a:rPr>
              <a:t> as shown in the plot above!</a:t>
            </a:r>
          </a:p>
          <a:p>
            <a:pPr eaLnBrk="1" hangingPunct="1"/>
            <a:endParaRPr lang="en-US" altLang="nl-NL" dirty="0">
              <a:cs typeface="Arial" charset="0"/>
            </a:endParaRPr>
          </a:p>
          <a:p>
            <a:pPr eaLnBrk="1" hangingPunct="1"/>
            <a:r>
              <a:rPr lang="en-US" altLang="nl-NL" dirty="0">
                <a:cs typeface="Arial" charset="0"/>
              </a:rPr>
              <a:t>ATT! The finite length wing curves above are just examples to show general trends. You will have to compute the </a:t>
            </a:r>
            <a:r>
              <a:rPr lang="en-US" altLang="nl-NL" dirty="0"/>
              <a:t>C</a:t>
            </a:r>
            <a:r>
              <a:rPr lang="en-US" altLang="nl-NL" baseline="-25000" dirty="0"/>
              <a:t>L</a:t>
            </a:r>
            <a:r>
              <a:rPr lang="el-GR" altLang="nl-NL" baseline="-25000" dirty="0">
                <a:cs typeface="Arial" charset="0"/>
              </a:rPr>
              <a:t>α</a:t>
            </a:r>
            <a:r>
              <a:rPr lang="en-US" altLang="nl-NL" dirty="0">
                <a:cs typeface="Arial" charset="0"/>
              </a:rPr>
              <a:t> for your wing!</a:t>
            </a:r>
            <a:endParaRPr lang="el-GR" altLang="nl-NL" dirty="0">
              <a:cs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D6CECE26-966F-4A51-ACA9-F1DB1306ABD1}" type="slidenum">
              <a:rPr lang="en-US" altLang="nl-NL">
                <a:latin typeface="Arial" charset="0"/>
              </a:rPr>
              <a:pPr algn="r" eaLnBrk="1" hangingPunct="1">
                <a:spcBef>
                  <a:spcPct val="0"/>
                </a:spcBef>
              </a:pPr>
              <a:t>11</a:t>
            </a:fld>
            <a:endParaRPr lang="en-US" altLang="nl-NL">
              <a:latin typeface="Arial" charset="0"/>
            </a:endParaRPr>
          </a:p>
        </p:txBody>
      </p:sp>
      <p:sp>
        <p:nvSpPr>
          <p:cNvPr id="74755" name="Rectangle 2"/>
          <p:cNvSpPr>
            <a:spLocks noGrp="1" noRot="1" noChangeAspect="1" noChangeArrowheads="1" noTextEdit="1"/>
          </p:cNvSpPr>
          <p:nvPr>
            <p:ph type="sldImg"/>
          </p:nvPr>
        </p:nvSpPr>
        <p:spPr>
          <a:xfrm>
            <a:off x="90488" y="501650"/>
            <a:ext cx="6616700" cy="3722688"/>
          </a:xfrm>
          <a:ln/>
        </p:spPr>
      </p:sp>
      <p:sp>
        <p:nvSpPr>
          <p:cNvPr id="74756" name="Rectangle 3"/>
          <p:cNvSpPr>
            <a:spLocks noGrp="1" noChangeArrowheads="1"/>
          </p:cNvSpPr>
          <p:nvPr>
            <p:ph type="body" idx="1"/>
          </p:nvPr>
        </p:nvSpPr>
        <p:spPr>
          <a:xfrm>
            <a:off x="679450" y="4605338"/>
            <a:ext cx="5435600" cy="46593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US" altLang="nl-NL"/>
              <a:t>Obviously, the equation above </a:t>
            </a:r>
            <a:r>
              <a:rPr lang="en-US" altLang="nl-NL" b="1"/>
              <a:t>can be used also in case of uncompressible flow </a:t>
            </a:r>
            <a:r>
              <a:rPr lang="en-US" altLang="nl-NL"/>
              <a:t>(</a:t>
            </a:r>
            <a:r>
              <a:rPr lang="en-US" altLang="nl-NL">
                <a:cs typeface="Arial" charset="0"/>
              </a:rPr>
              <a:t>β = 1). In this case the effect the sweep angle is still accounted by the term tan</a:t>
            </a:r>
            <a:r>
              <a:rPr lang="en-US" altLang="nl-NL" baseline="30000">
                <a:cs typeface="Arial" charset="0"/>
              </a:rPr>
              <a:t>2</a:t>
            </a:r>
            <a:r>
              <a:rPr lang="en-US" altLang="nl-NL">
                <a:cs typeface="Arial" charset="0"/>
              </a:rPr>
              <a:t>Λ</a:t>
            </a:r>
            <a:r>
              <a:rPr lang="en-US" altLang="nl-NL" baseline="-25000">
                <a:cs typeface="Arial" charset="0"/>
              </a:rPr>
              <a:t>0.5C.</a:t>
            </a:r>
          </a:p>
          <a:p>
            <a:pPr eaLnBrk="1" hangingPunct="1"/>
            <a:r>
              <a:rPr lang="en-US" altLang="nl-NL">
                <a:cs typeface="Arial" charset="0"/>
              </a:rPr>
              <a:t>In case of A = ∞ and β = 1, all the terms at the denominator become neglectable compared to A, hence the slope of the curve becomes the same as for the 2D case, i.e. 2π.</a:t>
            </a:r>
          </a:p>
          <a:p>
            <a:pPr eaLnBrk="1" hangingPunct="1"/>
            <a:endParaRPr lang="en-US" altLang="nl-NL">
              <a:cs typeface="Arial" charset="0"/>
            </a:endParaRPr>
          </a:p>
          <a:p>
            <a:pPr eaLnBrk="1" hangingPunct="1"/>
            <a:r>
              <a:rPr lang="en-US" altLang="nl-NL" b="1">
                <a:cs typeface="Arial" charset="0"/>
              </a:rPr>
              <a:t>N.B.</a:t>
            </a:r>
            <a:r>
              <a:rPr lang="en-US" altLang="nl-NL">
                <a:cs typeface="Arial" charset="0"/>
              </a:rPr>
              <a:t> </a:t>
            </a:r>
            <a:r>
              <a:rPr lang="en-US" altLang="nl-NL" b="1">
                <a:cs typeface="Arial" charset="0"/>
              </a:rPr>
              <a:t>In case you are using winglets you can increase A by 20%,</a:t>
            </a:r>
            <a:r>
              <a:rPr lang="en-US" altLang="nl-NL">
                <a:cs typeface="Arial" charset="0"/>
              </a:rPr>
              <a:t> which is quite a realistic figure, although the actual increase of the effective aspect ratio really depends on the good design and sizing of the winglet itself.</a:t>
            </a:r>
          </a:p>
          <a:p>
            <a:pPr eaLnBrk="1" hangingPunct="1"/>
            <a:endParaRPr lang="en-US" altLang="nl-NL">
              <a:cs typeface="Arial" charset="0"/>
            </a:endParaRPr>
          </a:p>
          <a:p>
            <a:pPr eaLnBrk="1" hangingPunct="1"/>
            <a:r>
              <a:rPr lang="en-US" altLang="nl-NL">
                <a:cs typeface="Arial" charset="0"/>
              </a:rPr>
              <a:t>Note how the slope of the wing lift-curve </a:t>
            </a:r>
            <a:r>
              <a:rPr lang="en-US" altLang="nl-NL" b="1">
                <a:cs typeface="Arial" charset="0"/>
              </a:rPr>
              <a:t>depends just slightly on the kind of airfoils used, via the term η</a:t>
            </a:r>
            <a:r>
              <a:rPr lang="en-US" altLang="nl-NL">
                <a:cs typeface="Arial" charset="0"/>
              </a:rPr>
              <a:t>. In the end, also the lift-curve slope of an airfoil is always very close to 2π, whatever the geometry of the airfoil. However, the type of selected airfoil strongly affects the maximum lift coefficient of the wing, as discussed later in this lecture.</a:t>
            </a:r>
          </a:p>
          <a:p>
            <a:pPr eaLnBrk="1" hangingPunct="1"/>
            <a:endParaRPr lang="en-US" altLang="nl-NL">
              <a:cs typeface="Arial" charset="0"/>
            </a:endParaRPr>
          </a:p>
          <a:p>
            <a:pPr eaLnBrk="1" hangingPunct="1"/>
            <a:r>
              <a:rPr lang="en-US" altLang="nl-NL">
                <a:cs typeface="Arial" charset="0"/>
              </a:rPr>
              <a:t>*Remember to indicate the units!!!! Divide the calculated curve slope value in 1/rad by 57.3 in order to have that in 1/deg.</a:t>
            </a:r>
          </a:p>
          <a:p>
            <a:pPr eaLnBrk="1" hangingPunct="1"/>
            <a:endParaRPr lang="en-US" altLang="nl-NL">
              <a:cs typeface="Arial" charset="0"/>
            </a:endParaRPr>
          </a:p>
          <a:p>
            <a:pPr eaLnBrk="1" hangingPunct="1"/>
            <a:r>
              <a:rPr lang="en-US" altLang="nl-NL">
                <a:cs typeface="Arial" charset="0"/>
              </a:rPr>
              <a:t>** </a:t>
            </a:r>
            <a:r>
              <a:rPr lang="en-US" altLang="nl-NL"/>
              <a:t>Unless you know the airfoil lift gradient </a:t>
            </a:r>
            <a:r>
              <a:rPr lang="en-US" altLang="nl-NL" u="sng"/>
              <a:t>as function of Mach</a:t>
            </a:r>
            <a:r>
              <a:rPr lang="en-US" altLang="nl-NL"/>
              <a:t> </a:t>
            </a:r>
            <a:r>
              <a:rPr lang="en-US" altLang="nl-NL" b="1" u="sng"/>
              <a:t>from experimental data </a:t>
            </a:r>
            <a:r>
              <a:rPr lang="en-US" altLang="nl-NL" u="sng"/>
              <a:t>(i.e., NOT from Javafoil, Xfoil, etc..)</a:t>
            </a:r>
            <a:r>
              <a:rPr lang="en-US" altLang="nl-NL"/>
              <a:t>, then use the value </a:t>
            </a:r>
            <a:r>
              <a:rPr lang="en-US" altLang="nl-NL" b="1"/>
              <a:t>0.95 </a:t>
            </a:r>
            <a:r>
              <a:rPr lang="en-US" altLang="nl-NL"/>
              <a:t>for a good approximation.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0ECEFCD9-0465-4DD5-8E65-BB9ADD2A10B5}" type="slidenum">
              <a:rPr lang="en-US" altLang="nl-NL">
                <a:latin typeface="Arial" charset="0"/>
              </a:rPr>
              <a:pPr algn="r" eaLnBrk="1" hangingPunct="1">
                <a:spcBef>
                  <a:spcPct val="0"/>
                </a:spcBef>
              </a:pPr>
              <a:t>12</a:t>
            </a:fld>
            <a:endParaRPr lang="en-US" altLang="nl-NL">
              <a:latin typeface="Arial" charset="0"/>
            </a:endParaRPr>
          </a:p>
        </p:txBody>
      </p:sp>
      <p:sp>
        <p:nvSpPr>
          <p:cNvPr id="75779" name="Rectangle 2"/>
          <p:cNvSpPr>
            <a:spLocks noGrp="1" noRot="1" noChangeAspect="1" noChangeArrowheads="1" noTextEdit="1"/>
          </p:cNvSpPr>
          <p:nvPr>
            <p:ph type="sldImg"/>
          </p:nvPr>
        </p:nvSpPr>
        <p:spPr>
          <a:xfrm>
            <a:off x="90488" y="746125"/>
            <a:ext cx="6616700" cy="3722688"/>
          </a:xfrm>
          <a:ln/>
        </p:spPr>
      </p:sp>
      <p:sp>
        <p:nvSpPr>
          <p:cNvPr id="75780"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GB" altLang="nl-NL" dirty="0"/>
              <a:t>Note how the simple use of the </a:t>
            </a:r>
            <a:r>
              <a:rPr lang="en-GB" altLang="nl-NL" dirty="0" err="1"/>
              <a:t>Prandtl-Glauert</a:t>
            </a:r>
            <a:r>
              <a:rPr lang="en-GB" altLang="nl-NL" dirty="0"/>
              <a:t> compressibility factor to correct the lift-curve slope for the wing would yield a large overestimation, mainly because it does not account for the effect of the wing aspect ratio.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A6E14C9F-2D75-4386-B266-B991A64FFB6A}" type="slidenum">
              <a:rPr lang="en-US" altLang="nl-NL">
                <a:latin typeface="Arial" charset="0"/>
              </a:rPr>
              <a:pPr algn="r" eaLnBrk="1" hangingPunct="1">
                <a:spcBef>
                  <a:spcPct val="0"/>
                </a:spcBef>
              </a:pPr>
              <a:t>13</a:t>
            </a:fld>
            <a:endParaRPr lang="en-US" altLang="nl-NL">
              <a:latin typeface="Arial" charset="0"/>
            </a:endParaRPr>
          </a:p>
        </p:txBody>
      </p:sp>
      <p:sp>
        <p:nvSpPr>
          <p:cNvPr id="77827" name="Rectangle 2"/>
          <p:cNvSpPr>
            <a:spLocks noGrp="1" noRot="1" noChangeAspect="1" noChangeArrowheads="1" noTextEdit="1"/>
          </p:cNvSpPr>
          <p:nvPr>
            <p:ph type="sldImg"/>
          </p:nvPr>
        </p:nvSpPr>
        <p:spPr>
          <a:xfrm>
            <a:off x="90488" y="746125"/>
            <a:ext cx="6616700" cy="3722688"/>
          </a:xfrm>
          <a:ln/>
        </p:spPr>
      </p:sp>
      <p:sp>
        <p:nvSpPr>
          <p:cNvPr id="77828"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l-GR" altLang="nl-NL" dirty="0">
                <a:cs typeface="Arial" charset="0"/>
              </a:rPr>
              <a:t>α</a:t>
            </a:r>
            <a:r>
              <a:rPr lang="nl-NL" altLang="nl-NL" baseline="-25000" dirty="0">
                <a:cs typeface="Arial" charset="0"/>
              </a:rPr>
              <a:t>0L</a:t>
            </a:r>
            <a:r>
              <a:rPr lang="en-GB" altLang="nl-NL" dirty="0"/>
              <a:t> depends on the camber of the </a:t>
            </a:r>
            <a:r>
              <a:rPr lang="en-GB" altLang="nl-NL" dirty="0" err="1"/>
              <a:t>airfoil</a:t>
            </a:r>
            <a:r>
              <a:rPr lang="en-GB" altLang="nl-NL" dirty="0"/>
              <a:t>! It does not change when you go to 3D (unless your wing is built up of different </a:t>
            </a:r>
            <a:r>
              <a:rPr lang="en-GB" altLang="nl-NL" dirty="0" err="1"/>
              <a:t>airfoils</a:t>
            </a:r>
            <a:r>
              <a:rPr lang="en-GB" altLang="nl-NL" dirty="0"/>
              <a:t> and/or is twisted and/or is mounted on the fuselage at an angle of incidence).</a:t>
            </a:r>
          </a:p>
          <a:p>
            <a:pPr eaLnBrk="1" hangingPunct="1"/>
            <a:r>
              <a:rPr lang="en-GB" altLang="nl-NL" dirty="0"/>
              <a:t>In case of a twisted wing, it is opportune to consider the zero lift angle of attack of the </a:t>
            </a:r>
            <a:r>
              <a:rPr lang="en-GB" altLang="nl-NL" dirty="0" err="1"/>
              <a:t>airfoil</a:t>
            </a:r>
            <a:r>
              <a:rPr lang="en-GB" altLang="nl-NL" dirty="0"/>
              <a:t> at the MAC.</a:t>
            </a:r>
          </a:p>
          <a:p>
            <a:pPr eaLnBrk="1" hangingPunct="1"/>
            <a:endParaRPr lang="en-GB" altLang="nl-NL"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A4792BD9-492C-4323-B464-F9AC8F053C9B}" type="slidenum">
              <a:rPr lang="en-US" altLang="nl-NL">
                <a:latin typeface="Arial" charset="0"/>
              </a:rPr>
              <a:pPr algn="r" eaLnBrk="1" hangingPunct="1">
                <a:spcBef>
                  <a:spcPct val="0"/>
                </a:spcBef>
              </a:pPr>
              <a:t>14</a:t>
            </a:fld>
            <a:endParaRPr lang="en-US" altLang="nl-NL">
              <a:latin typeface="Arial" charset="0"/>
            </a:endParaRPr>
          </a:p>
        </p:txBody>
      </p:sp>
      <p:sp>
        <p:nvSpPr>
          <p:cNvPr id="78851" name="Rectangle 2"/>
          <p:cNvSpPr>
            <a:spLocks noGrp="1" noRot="1" noChangeAspect="1" noChangeArrowheads="1" noTextEdit="1"/>
          </p:cNvSpPr>
          <p:nvPr>
            <p:ph type="sldImg"/>
          </p:nvPr>
        </p:nvSpPr>
        <p:spPr>
          <a:xfrm>
            <a:off x="90488" y="746125"/>
            <a:ext cx="6616700" cy="3722688"/>
          </a:xfrm>
          <a:ln/>
        </p:spPr>
      </p:sp>
      <p:sp>
        <p:nvSpPr>
          <p:cNvPr id="78852"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GB" altLang="nl-NL" dirty="0"/>
              <a:t>The lower the aspect ratio (i.e. the lower is C</a:t>
            </a:r>
            <a:r>
              <a:rPr lang="en-GB" altLang="nl-NL" baseline="-25000" dirty="0"/>
              <a:t>L</a:t>
            </a:r>
            <a:r>
              <a:rPr lang="el-GR" altLang="nl-NL" baseline="-25000" dirty="0">
                <a:cs typeface="Arial" charset="0"/>
              </a:rPr>
              <a:t>α</a:t>
            </a:r>
            <a:r>
              <a:rPr lang="en-GB" altLang="nl-NL" dirty="0"/>
              <a:t>) and the higher the </a:t>
            </a:r>
            <a:r>
              <a:rPr lang="en-GB" altLang="nl-NL" dirty="0" err="1"/>
              <a:t>C</a:t>
            </a:r>
            <a:r>
              <a:rPr lang="en-GB" altLang="nl-NL" baseline="-25000" dirty="0" err="1"/>
              <a:t>Ldes</a:t>
            </a:r>
            <a:r>
              <a:rPr lang="en-GB" altLang="nl-NL" dirty="0"/>
              <a:t> (e.g., because the aircraft has a high wing loading and/or must fly at low speed and high altitude) the higher is the angle of attack at which the aircraft has to be trimmed.</a:t>
            </a:r>
          </a:p>
          <a:p>
            <a:pPr eaLnBrk="1" hangingPunct="1"/>
            <a:r>
              <a:rPr lang="en-GB" altLang="nl-NL" dirty="0"/>
              <a:t>The use of cambered </a:t>
            </a:r>
            <a:r>
              <a:rPr lang="en-GB" altLang="nl-NL" dirty="0" err="1"/>
              <a:t>airfoils</a:t>
            </a:r>
            <a:r>
              <a:rPr lang="en-GB" altLang="nl-NL" dirty="0"/>
              <a:t> (negative value of </a:t>
            </a:r>
            <a:r>
              <a:rPr lang="el-GR" altLang="nl-NL" dirty="0">
                <a:cs typeface="Arial" charset="0"/>
              </a:rPr>
              <a:t>α</a:t>
            </a:r>
            <a:r>
              <a:rPr lang="nl-NL" altLang="nl-NL" baseline="-25000" dirty="0">
                <a:cs typeface="Arial" charset="0"/>
              </a:rPr>
              <a:t>0L</a:t>
            </a:r>
            <a:r>
              <a:rPr lang="nl-NL" altLang="nl-NL" dirty="0">
                <a:cs typeface="Arial" charset="0"/>
              </a:rPr>
              <a:t> ) </a:t>
            </a:r>
            <a:r>
              <a:rPr lang="en-GB" altLang="nl-NL" dirty="0"/>
              <a:t>allows lower trim angles!</a:t>
            </a:r>
          </a:p>
          <a:p>
            <a:pPr eaLnBrk="1" hangingPunct="1"/>
            <a:endParaRPr lang="en-GB" altLang="nl-NL" dirty="0"/>
          </a:p>
          <a:p>
            <a:pPr eaLnBrk="1" hangingPunct="1"/>
            <a:r>
              <a:rPr lang="en-GB" altLang="nl-NL" b="1" dirty="0"/>
              <a:t>POINTS OF ATTENTION:</a:t>
            </a:r>
          </a:p>
          <a:p>
            <a:pPr eaLnBrk="1" hangingPunct="1"/>
            <a:r>
              <a:rPr lang="en-US" altLang="nl-NL" b="1" dirty="0">
                <a:cs typeface="Arial" charset="0"/>
              </a:rPr>
              <a:t>It might happen that you enter in a sort of loop: </a:t>
            </a:r>
            <a:r>
              <a:rPr lang="en-US" altLang="nl-NL" dirty="0">
                <a:cs typeface="Arial" charset="0"/>
              </a:rPr>
              <a:t>you normally select a certain airfoil with a proper value of </a:t>
            </a:r>
            <a:r>
              <a:rPr lang="en-US" altLang="nl-NL" dirty="0" err="1">
                <a:cs typeface="Arial" charset="0"/>
              </a:rPr>
              <a:t>Cldes</a:t>
            </a:r>
            <a:r>
              <a:rPr lang="en-US" altLang="nl-NL" dirty="0">
                <a:cs typeface="Arial" charset="0"/>
              </a:rPr>
              <a:t>. You assume a certain angle of attack to evaluate </a:t>
            </a:r>
            <a:r>
              <a:rPr lang="en-US" altLang="nl-NL" dirty="0" err="1">
                <a:cs typeface="Arial" charset="0"/>
              </a:rPr>
              <a:t>Mcr</a:t>
            </a:r>
            <a:r>
              <a:rPr lang="en-US" altLang="nl-NL" dirty="0">
                <a:cs typeface="Arial" charset="0"/>
              </a:rPr>
              <a:t> on the selected airfoil. As result of the simulation you will find a (new) value of sweep necessary to avoid critical conditions. However, this sweep will lower the wing lift slope and demand a new higher value of angle of attack to run the airfoil simulation, plus a new (higher) value of </a:t>
            </a:r>
            <a:r>
              <a:rPr lang="en-US" altLang="nl-NL" dirty="0" err="1">
                <a:cs typeface="Arial" charset="0"/>
              </a:rPr>
              <a:t>Cldesign</a:t>
            </a:r>
            <a:r>
              <a:rPr lang="en-US" altLang="nl-NL" dirty="0">
                <a:cs typeface="Arial" charset="0"/>
              </a:rPr>
              <a:t>. This might have the consequence that a lower value of Mach critical is found, hence a larger sweep is required, etc…</a:t>
            </a:r>
          </a:p>
          <a:p>
            <a:pPr eaLnBrk="1" hangingPunct="1"/>
            <a:r>
              <a:rPr lang="en-US" altLang="nl-NL" dirty="0">
                <a:cs typeface="Arial" charset="0"/>
              </a:rPr>
              <a:t>How to get out of this loop? You will have to set a maximum acceptable value of sweep (in terms of structural feasibility of the wing) and you will use an airfoil that yields a proper Mach critical, although not operating at its </a:t>
            </a:r>
            <a:r>
              <a:rPr lang="en-US" altLang="nl-NL" dirty="0" err="1">
                <a:cs typeface="Arial" charset="0"/>
              </a:rPr>
              <a:t>Cldes</a:t>
            </a:r>
            <a:r>
              <a:rPr lang="en-US" altLang="nl-NL" dirty="0">
                <a:cs typeface="Arial" charset="0"/>
              </a:rPr>
              <a:t>. Hence you will have to accept the consequence of not using an airfoil at its design conditions, hence to pay a drag penalty, which will be anyhow lower than the penalty of exceeding Mach Drag Divergence!</a:t>
            </a:r>
          </a:p>
          <a:p>
            <a:pPr eaLnBrk="1" hangingPunct="1"/>
            <a:endParaRPr lang="nl-NL" altLang="nl-NL" b="1" dirty="0">
              <a:cs typeface="Arial" charset="0"/>
            </a:endParaRPr>
          </a:p>
          <a:p>
            <a:pPr eaLnBrk="1" hangingPunct="1"/>
            <a:r>
              <a:rPr lang="nl-NL" altLang="nl-NL" b="1" dirty="0">
                <a:cs typeface="Arial" charset="0"/>
              </a:rPr>
              <a:t>** </a:t>
            </a:r>
            <a:r>
              <a:rPr lang="nl-NL" altLang="nl-NL" b="1" dirty="0" err="1">
                <a:cs typeface="Arial" charset="0"/>
              </a:rPr>
              <a:t>when</a:t>
            </a:r>
            <a:r>
              <a:rPr lang="nl-NL" altLang="nl-NL" b="1" dirty="0">
                <a:cs typeface="Arial" charset="0"/>
              </a:rPr>
              <a:t> computing </a:t>
            </a:r>
            <a:r>
              <a:rPr lang="el-GR" altLang="nl-NL" b="1" dirty="0">
                <a:cs typeface="Arial" charset="0"/>
              </a:rPr>
              <a:t>α</a:t>
            </a:r>
            <a:r>
              <a:rPr lang="en-US" altLang="nl-NL" b="1" dirty="0">
                <a:cs typeface="Arial" charset="0"/>
              </a:rPr>
              <a:t> </a:t>
            </a:r>
            <a:r>
              <a:rPr lang="en-US" altLang="nl-NL" b="1" baseline="-25000" dirty="0">
                <a:cs typeface="Arial" charset="0"/>
              </a:rPr>
              <a:t>trim </a:t>
            </a:r>
            <a:r>
              <a:rPr lang="en-US" altLang="nl-NL" b="1" dirty="0">
                <a:cs typeface="Arial" charset="0"/>
              </a:rPr>
              <a:t>do not confuse </a:t>
            </a:r>
            <a:r>
              <a:rPr lang="en-US" altLang="nl-NL" b="1" dirty="0" err="1">
                <a:cs typeface="Arial" charset="0"/>
              </a:rPr>
              <a:t>CLdes</a:t>
            </a:r>
            <a:r>
              <a:rPr lang="en-US" altLang="nl-NL" b="1" dirty="0">
                <a:cs typeface="Arial" charset="0"/>
              </a:rPr>
              <a:t> with </a:t>
            </a:r>
            <a:r>
              <a:rPr lang="en-US" altLang="nl-NL" b="1" dirty="0" err="1">
                <a:cs typeface="Arial" charset="0"/>
              </a:rPr>
              <a:t>Cldes</a:t>
            </a:r>
            <a:r>
              <a:rPr lang="en-US" altLang="nl-NL" b="1" dirty="0">
                <a:cs typeface="Arial" charset="0"/>
              </a:rPr>
              <a:t>! Remember: in case of swept wings </a:t>
            </a:r>
            <a:r>
              <a:rPr lang="en-US" altLang="nl-NL" b="1" dirty="0" err="1">
                <a:cs typeface="Arial" charset="0"/>
              </a:rPr>
              <a:t>C</a:t>
            </a:r>
            <a:r>
              <a:rPr lang="en-US" altLang="nl-NL" b="1" baseline="-25000" dirty="0" err="1">
                <a:cs typeface="Arial" charset="0"/>
              </a:rPr>
              <a:t>ldes</a:t>
            </a:r>
            <a:r>
              <a:rPr lang="en-US" altLang="nl-NL" b="1" dirty="0">
                <a:cs typeface="Arial" charset="0"/>
              </a:rPr>
              <a:t> is higher than </a:t>
            </a:r>
            <a:r>
              <a:rPr lang="en-US" altLang="nl-NL" b="1" dirty="0" err="1">
                <a:cs typeface="Arial" charset="0"/>
              </a:rPr>
              <a:t>C</a:t>
            </a:r>
            <a:r>
              <a:rPr lang="en-US" altLang="nl-NL" b="1" baseline="-25000" dirty="0" err="1">
                <a:cs typeface="Arial" charset="0"/>
              </a:rPr>
              <a:t>Ldes</a:t>
            </a:r>
            <a:r>
              <a:rPr lang="en-US" altLang="nl-NL" b="1" dirty="0">
                <a:cs typeface="Arial" charset="0"/>
              </a:rPr>
              <a:t> by a factor cos</a:t>
            </a:r>
            <a:r>
              <a:rPr lang="el-GR" altLang="nl-NL" b="1" dirty="0">
                <a:cs typeface="Arial" charset="0"/>
              </a:rPr>
              <a:t>Λ</a:t>
            </a:r>
            <a:r>
              <a:rPr lang="en-US" altLang="nl-NL" b="1" baseline="30000" dirty="0">
                <a:cs typeface="Arial" charset="0"/>
              </a:rPr>
              <a:t>2 </a:t>
            </a:r>
            <a:endParaRPr lang="el-GR" altLang="nl-NL" b="1" baseline="30000" dirty="0">
              <a:cs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txBox="1">
            <a:spLocks noGrp="1" noChangeArrowheads="1"/>
          </p:cNvSpPr>
          <p:nvPr/>
        </p:nvSpPr>
        <p:spPr bwMode="auto">
          <a:xfrm>
            <a:off x="3849688" y="9434513"/>
            <a:ext cx="294481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F8F02DB0-76D4-498A-A14E-7F7C0C6ECD5B}" type="slidenum">
              <a:rPr lang="en-US" altLang="nl-NL">
                <a:latin typeface="Arial" charset="0"/>
              </a:rPr>
              <a:pPr algn="r">
                <a:spcBef>
                  <a:spcPct val="0"/>
                </a:spcBef>
              </a:pPr>
              <a:t>15</a:t>
            </a:fld>
            <a:endParaRPr lang="en-US" altLang="nl-NL">
              <a:latin typeface="Arial" charset="0"/>
            </a:endParaRPr>
          </a:p>
        </p:txBody>
      </p:sp>
      <p:sp>
        <p:nvSpPr>
          <p:cNvPr id="79875" name="Rectangle 2"/>
          <p:cNvSpPr>
            <a:spLocks noGrp="1" noRot="1" noChangeAspect="1" noChangeArrowheads="1" noTextEdit="1"/>
          </p:cNvSpPr>
          <p:nvPr>
            <p:ph type="sldImg"/>
          </p:nvPr>
        </p:nvSpPr>
        <p:spPr>
          <a:xfrm>
            <a:off x="87313" y="746125"/>
            <a:ext cx="6619875" cy="3724275"/>
          </a:xfrm>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nl-NL">
              <a:latin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89EF830C-9F59-4952-B534-E04141B41923}" type="slidenum">
              <a:rPr lang="en-US" altLang="nl-NL">
                <a:latin typeface="Arial" charset="0"/>
              </a:rPr>
              <a:pPr algn="r" eaLnBrk="1" hangingPunct="1">
                <a:spcBef>
                  <a:spcPct val="0"/>
                </a:spcBef>
              </a:pPr>
              <a:t>16</a:t>
            </a:fld>
            <a:endParaRPr lang="en-US" altLang="nl-NL">
              <a:latin typeface="Arial" charset="0"/>
            </a:endParaRPr>
          </a:p>
        </p:txBody>
      </p:sp>
      <p:sp>
        <p:nvSpPr>
          <p:cNvPr id="80899" name="Rectangle 2"/>
          <p:cNvSpPr>
            <a:spLocks noGrp="1" noRot="1" noChangeAspect="1" noChangeArrowheads="1" noTextEdit="1"/>
          </p:cNvSpPr>
          <p:nvPr>
            <p:ph type="sldImg"/>
          </p:nvPr>
        </p:nvSpPr>
        <p:spPr>
          <a:xfrm>
            <a:off x="90488" y="746125"/>
            <a:ext cx="6616700" cy="3722688"/>
          </a:xfrm>
          <a:ln/>
        </p:spPr>
      </p:sp>
      <p:sp>
        <p:nvSpPr>
          <p:cNvPr id="80900"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GB" altLang="nl-NL" b="1" dirty="0"/>
              <a:t>Some few reference values for the maximum lift coefficient of a wing:</a:t>
            </a:r>
          </a:p>
          <a:p>
            <a:pPr eaLnBrk="1" hangingPunct="1"/>
            <a:r>
              <a:rPr lang="en-GB" altLang="nl-NL" dirty="0"/>
              <a:t>Clean wings: 	</a:t>
            </a:r>
            <a:r>
              <a:rPr lang="en-GB" altLang="nl-NL" b="1" dirty="0"/>
              <a:t>1.2 – 1.5</a:t>
            </a:r>
          </a:p>
          <a:p>
            <a:pPr eaLnBrk="1" hangingPunct="1"/>
            <a:r>
              <a:rPr lang="en-GB" altLang="nl-NL" dirty="0"/>
              <a:t>Wings with flap in the inner part of the wing: </a:t>
            </a:r>
            <a:r>
              <a:rPr lang="en-GB" altLang="nl-NL" b="1" dirty="0"/>
              <a:t>1.6 – 2.0</a:t>
            </a:r>
          </a:p>
          <a:p>
            <a:pPr eaLnBrk="1" hangingPunct="1"/>
            <a:r>
              <a:rPr lang="en-GB" altLang="nl-NL" dirty="0"/>
              <a:t>Wings with regular flap and slats: ≈ </a:t>
            </a:r>
            <a:r>
              <a:rPr lang="en-GB" altLang="nl-NL" b="1" dirty="0"/>
              <a:t>2.4</a:t>
            </a:r>
          </a:p>
          <a:p>
            <a:pPr eaLnBrk="1" hangingPunct="1"/>
            <a:r>
              <a:rPr lang="en-GB" altLang="nl-NL" dirty="0"/>
              <a:t>STOL aircraft: ≈ </a:t>
            </a:r>
            <a:r>
              <a:rPr lang="en-GB" altLang="nl-NL" b="1" dirty="0"/>
              <a:t>3</a:t>
            </a:r>
          </a:p>
          <a:p>
            <a:pPr eaLnBrk="1" hangingPunct="1"/>
            <a:r>
              <a:rPr lang="en-GB" altLang="nl-NL" dirty="0"/>
              <a:t>Wings with large flaps immersed in </a:t>
            </a:r>
            <a:r>
              <a:rPr lang="en-GB" altLang="nl-NL" dirty="0" err="1"/>
              <a:t>propwash</a:t>
            </a:r>
            <a:r>
              <a:rPr lang="en-GB" altLang="nl-NL" dirty="0"/>
              <a:t> or </a:t>
            </a:r>
            <a:r>
              <a:rPr lang="en-GB" altLang="nl-NL" dirty="0" err="1"/>
              <a:t>jetwash</a:t>
            </a:r>
            <a:r>
              <a:rPr lang="en-GB" altLang="nl-NL" dirty="0"/>
              <a:t>: </a:t>
            </a:r>
            <a:r>
              <a:rPr lang="en-GB" altLang="nl-NL" b="1" dirty="0"/>
              <a:t>up to 5</a:t>
            </a:r>
          </a:p>
          <a:p>
            <a:pPr eaLnBrk="1" hangingPunct="1"/>
            <a:r>
              <a:rPr lang="en-GB" altLang="nl-NL" b="1" dirty="0"/>
              <a:t>* Remember that in Aerospace design Part I, you made assumptions on </a:t>
            </a:r>
            <a:r>
              <a:rPr lang="en-GB" altLang="nl-NL" b="1" dirty="0" err="1"/>
              <a:t>CLmax</a:t>
            </a:r>
            <a:r>
              <a:rPr lang="en-GB" altLang="nl-NL" b="1" dirty="0"/>
              <a:t> (both for clean and flapped wing) in order to determine a convenient combination of wing and thrust loading.</a:t>
            </a:r>
          </a:p>
          <a:p>
            <a:pPr eaLnBrk="1" hangingPunct="1"/>
            <a:r>
              <a:rPr lang="en-GB" altLang="nl-NL" b="1" dirty="0"/>
              <a:t>** In case of very sharp </a:t>
            </a:r>
            <a:r>
              <a:rPr lang="en-GB" altLang="nl-NL" b="1" dirty="0" err="1"/>
              <a:t>airfoil</a:t>
            </a:r>
            <a:r>
              <a:rPr lang="en-GB" altLang="nl-NL" b="1" dirty="0"/>
              <a:t> and large values of sweep angle, at low speed, </a:t>
            </a:r>
            <a:r>
              <a:rPr lang="en-GB" altLang="nl-NL" b="1" dirty="0" err="1"/>
              <a:t>C</a:t>
            </a:r>
            <a:r>
              <a:rPr lang="en-GB" altLang="nl-NL" b="1" baseline="-25000" dirty="0" err="1"/>
              <a:t>Lmax</a:t>
            </a:r>
            <a:r>
              <a:rPr lang="en-GB" altLang="nl-NL" b="1" dirty="0"/>
              <a:t> can actually exceed </a:t>
            </a:r>
            <a:r>
              <a:rPr lang="en-GB" altLang="nl-NL" b="1" dirty="0" err="1"/>
              <a:t>C</a:t>
            </a:r>
            <a:r>
              <a:rPr lang="en-GB" altLang="nl-NL" b="1" baseline="-25000" dirty="0" err="1"/>
              <a:t>lmax</a:t>
            </a:r>
            <a:r>
              <a:rPr lang="en-GB" altLang="nl-NL" b="1" dirty="0"/>
              <a:t>  (see later the effect of the </a:t>
            </a:r>
            <a:r>
              <a:rPr lang="en-GB" altLang="nl-NL" b="1" dirty="0" err="1"/>
              <a:t>airfoil</a:t>
            </a:r>
            <a:r>
              <a:rPr lang="en-GB" altLang="nl-NL" b="1" dirty="0"/>
              <a:t> sharpness parameter)</a:t>
            </a:r>
          </a:p>
          <a:p>
            <a:pPr eaLnBrk="1" hangingPunct="1"/>
            <a:endParaRPr lang="en-GB" altLang="nl-NL" dirty="0"/>
          </a:p>
          <a:p>
            <a:pPr eaLnBrk="1" hangingPunct="1"/>
            <a:endParaRPr lang="en-GB" altLang="nl-NL"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3F56C637-8BDD-491F-AD22-2FEF9B6D81D4}" type="slidenum">
              <a:rPr lang="en-US" altLang="nl-NL">
                <a:latin typeface="Arial" charset="0"/>
              </a:rPr>
              <a:pPr algn="r" eaLnBrk="1" hangingPunct="1">
                <a:spcBef>
                  <a:spcPct val="0"/>
                </a:spcBef>
              </a:pPr>
              <a:t>17</a:t>
            </a:fld>
            <a:endParaRPr lang="en-US" altLang="nl-NL">
              <a:latin typeface="Arial" charset="0"/>
            </a:endParaRPr>
          </a:p>
        </p:txBody>
      </p:sp>
      <p:sp>
        <p:nvSpPr>
          <p:cNvPr id="81923" name="Rectangle 2"/>
          <p:cNvSpPr>
            <a:spLocks noGrp="1" noRot="1" noChangeAspect="1" noChangeArrowheads="1" noTextEdit="1"/>
          </p:cNvSpPr>
          <p:nvPr>
            <p:ph type="sldImg"/>
          </p:nvPr>
        </p:nvSpPr>
        <p:spPr>
          <a:xfrm>
            <a:off x="90488" y="746125"/>
            <a:ext cx="6616700" cy="3722688"/>
          </a:xfrm>
          <a:ln/>
        </p:spPr>
      </p:sp>
      <p:sp>
        <p:nvSpPr>
          <p:cNvPr id="81924"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GB" altLang="nl-NL" b="1" dirty="0"/>
              <a:t>Some few reference values for the maximum lift coefficient of a wing:</a:t>
            </a:r>
          </a:p>
          <a:p>
            <a:pPr eaLnBrk="1" hangingPunct="1"/>
            <a:r>
              <a:rPr lang="en-GB" altLang="nl-NL" dirty="0"/>
              <a:t>Clean wings: 	</a:t>
            </a:r>
            <a:r>
              <a:rPr lang="en-GB" altLang="nl-NL" b="1" dirty="0"/>
              <a:t>1.2 – 1.5</a:t>
            </a:r>
          </a:p>
          <a:p>
            <a:pPr eaLnBrk="1" hangingPunct="1"/>
            <a:r>
              <a:rPr lang="en-GB" altLang="nl-NL" dirty="0"/>
              <a:t>Wings with flap in the inner part of the wing: </a:t>
            </a:r>
            <a:r>
              <a:rPr lang="en-GB" altLang="nl-NL" b="1" dirty="0"/>
              <a:t>1.6 – 2.0</a:t>
            </a:r>
          </a:p>
          <a:p>
            <a:pPr eaLnBrk="1" hangingPunct="1"/>
            <a:r>
              <a:rPr lang="en-GB" altLang="nl-NL" dirty="0"/>
              <a:t>Wings with regular flap and slats: ≈ </a:t>
            </a:r>
            <a:r>
              <a:rPr lang="en-GB" altLang="nl-NL" b="1" dirty="0"/>
              <a:t>2.4</a:t>
            </a:r>
          </a:p>
          <a:p>
            <a:pPr eaLnBrk="1" hangingPunct="1"/>
            <a:r>
              <a:rPr lang="en-GB" altLang="nl-NL" dirty="0"/>
              <a:t>STOL aircraft: ≈ </a:t>
            </a:r>
            <a:r>
              <a:rPr lang="en-GB" altLang="nl-NL" b="1" dirty="0"/>
              <a:t>3</a:t>
            </a:r>
          </a:p>
          <a:p>
            <a:pPr eaLnBrk="1" hangingPunct="1"/>
            <a:r>
              <a:rPr lang="en-GB" altLang="nl-NL" dirty="0"/>
              <a:t>Wings with large flaps immersed in propwash or </a:t>
            </a:r>
            <a:r>
              <a:rPr lang="en-GB" altLang="nl-NL" dirty="0" err="1"/>
              <a:t>jetwash</a:t>
            </a:r>
            <a:r>
              <a:rPr lang="en-GB" altLang="nl-NL" dirty="0"/>
              <a:t>: </a:t>
            </a:r>
            <a:r>
              <a:rPr lang="en-GB" altLang="nl-NL" b="1" dirty="0"/>
              <a:t>up to 5</a:t>
            </a:r>
          </a:p>
          <a:p>
            <a:pPr eaLnBrk="1" hangingPunct="1"/>
            <a:endParaRPr lang="en-GB" altLang="nl-NL" b="1" dirty="0"/>
          </a:p>
          <a:p>
            <a:pPr eaLnBrk="1" hangingPunct="1"/>
            <a:r>
              <a:rPr lang="en-GB" altLang="nl-NL" dirty="0"/>
              <a:t>*Often flight tests (not even wind tunnel tests!) are required for a proper evaluation!</a:t>
            </a:r>
            <a:endParaRPr lang="en-GB" altLang="nl-NL" b="1" dirty="0"/>
          </a:p>
          <a:p>
            <a:pPr eaLnBrk="1" hangingPunct="1"/>
            <a:r>
              <a:rPr lang="en-GB" altLang="nl-NL" dirty="0"/>
              <a:t>**with </a:t>
            </a:r>
            <a:r>
              <a:rPr lang="en-GB" altLang="nl-NL" dirty="0" err="1"/>
              <a:t>Clmax</a:t>
            </a:r>
            <a:r>
              <a:rPr lang="en-GB" altLang="nl-NL" dirty="0"/>
              <a:t> evaluated at the same Reynolds number as for the wing! </a:t>
            </a:r>
          </a:p>
          <a:p>
            <a:pPr eaLnBrk="1" hangingPunct="1"/>
            <a:r>
              <a:rPr lang="en-GB" altLang="nl-NL" dirty="0"/>
              <a:t>DO NOT USE THIS SIMPLIFICATION FOR YOUR ASSIGNMENT. YOU SHALL APPLY THE DATCOM METHOD!</a:t>
            </a:r>
          </a:p>
          <a:p>
            <a:pPr eaLnBrk="1" hangingPunct="1"/>
            <a:endParaRPr lang="en-GB" altLang="nl-NL"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2AADB5F0-C283-430F-BE9A-9D733B799BA9}" type="slidenum">
              <a:rPr lang="en-US" altLang="nl-NL">
                <a:latin typeface="Arial" charset="0"/>
              </a:rPr>
              <a:pPr algn="r" eaLnBrk="1" hangingPunct="1">
                <a:spcBef>
                  <a:spcPct val="0"/>
                </a:spcBef>
              </a:pPr>
              <a:t>18</a:t>
            </a:fld>
            <a:endParaRPr lang="en-US" altLang="nl-NL">
              <a:latin typeface="Arial" charset="0"/>
            </a:endParaRPr>
          </a:p>
        </p:txBody>
      </p:sp>
      <p:sp>
        <p:nvSpPr>
          <p:cNvPr id="83971" name="Rectangle 2"/>
          <p:cNvSpPr>
            <a:spLocks noGrp="1" noRot="1" noChangeAspect="1" noChangeArrowheads="1" noTextEdit="1"/>
          </p:cNvSpPr>
          <p:nvPr>
            <p:ph type="sldImg"/>
          </p:nvPr>
        </p:nvSpPr>
        <p:spPr>
          <a:xfrm>
            <a:off x="90488" y="746125"/>
            <a:ext cx="6616700" cy="3722688"/>
          </a:xfrm>
          <a:ln/>
        </p:spPr>
      </p:sp>
      <p:sp>
        <p:nvSpPr>
          <p:cNvPr id="83972"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GB" altLang="nl-NL" dirty="0"/>
              <a:t>*See also on </a:t>
            </a:r>
            <a:r>
              <a:rPr lang="nl-NL" altLang="nl-NL" dirty="0" err="1"/>
              <a:t>Corke</a:t>
            </a:r>
            <a:r>
              <a:rPr lang="nl-NL" altLang="nl-NL" dirty="0"/>
              <a:t> (</a:t>
            </a:r>
            <a:r>
              <a:rPr lang="nl-NL" altLang="nl-NL" dirty="0" err="1"/>
              <a:t>pag</a:t>
            </a:r>
            <a:r>
              <a:rPr lang="nl-NL" altLang="nl-NL" dirty="0"/>
              <a:t> 181-190) </a:t>
            </a:r>
            <a:r>
              <a:rPr lang="nl-NL" altLang="nl-NL" dirty="0" err="1"/>
              <a:t>and</a:t>
            </a:r>
            <a:r>
              <a:rPr lang="nl-NL" altLang="nl-NL" dirty="0"/>
              <a:t> </a:t>
            </a:r>
            <a:r>
              <a:rPr lang="nl-NL" altLang="nl-NL" dirty="0" err="1"/>
              <a:t>Raymer</a:t>
            </a:r>
            <a:r>
              <a:rPr lang="nl-NL" altLang="nl-NL" dirty="0"/>
              <a:t> (</a:t>
            </a:r>
            <a:r>
              <a:rPr lang="nl-NL" altLang="nl-NL" dirty="0" err="1"/>
              <a:t>pag</a:t>
            </a:r>
            <a:r>
              <a:rPr lang="nl-NL" altLang="nl-NL" dirty="0"/>
              <a:t> 328 – 333) </a:t>
            </a:r>
          </a:p>
          <a:p>
            <a:pPr eaLnBrk="1" hangingPunct="1"/>
            <a:r>
              <a:rPr lang="nl-NL" altLang="nl-NL" dirty="0"/>
              <a:t>** </a:t>
            </a:r>
            <a:r>
              <a:rPr lang="nl-NL" altLang="nl-NL" dirty="0" err="1"/>
              <a:t>Since</a:t>
            </a:r>
            <a:r>
              <a:rPr lang="nl-NL" altLang="nl-NL" dirty="0"/>
              <a:t> we are </a:t>
            </a:r>
            <a:r>
              <a:rPr lang="nl-NL" altLang="nl-NL" dirty="0" err="1"/>
              <a:t>mostly</a:t>
            </a:r>
            <a:r>
              <a:rPr lang="nl-NL" altLang="nl-NL" dirty="0"/>
              <a:t> </a:t>
            </a:r>
            <a:r>
              <a:rPr lang="nl-NL" altLang="nl-NL" dirty="0" err="1"/>
              <a:t>interested</a:t>
            </a:r>
            <a:r>
              <a:rPr lang="nl-NL" altLang="nl-NL" dirty="0"/>
              <a:t> </a:t>
            </a:r>
            <a:r>
              <a:rPr lang="nl-NL" altLang="nl-NL" dirty="0" err="1"/>
              <a:t>into</a:t>
            </a:r>
            <a:r>
              <a:rPr lang="nl-NL" altLang="nl-NL" dirty="0"/>
              <a:t> </a:t>
            </a:r>
            <a:r>
              <a:rPr lang="nl-NL" altLang="nl-NL" dirty="0" err="1"/>
              <a:t>the</a:t>
            </a:r>
            <a:r>
              <a:rPr lang="nl-NL" altLang="nl-NL" dirty="0"/>
              <a:t> maximum lift </a:t>
            </a:r>
            <a:r>
              <a:rPr lang="nl-NL" altLang="nl-NL" dirty="0" err="1"/>
              <a:t>capability</a:t>
            </a:r>
            <a:r>
              <a:rPr lang="nl-NL" altLang="nl-NL" dirty="0"/>
              <a:t> of </a:t>
            </a:r>
            <a:r>
              <a:rPr lang="nl-NL" altLang="nl-NL" dirty="0" err="1"/>
              <a:t>the</a:t>
            </a:r>
            <a:r>
              <a:rPr lang="nl-NL" altLang="nl-NL" dirty="0"/>
              <a:t> </a:t>
            </a:r>
            <a:r>
              <a:rPr lang="nl-NL" altLang="nl-NL" dirty="0" err="1"/>
              <a:t>aircraft</a:t>
            </a:r>
            <a:r>
              <a:rPr lang="nl-NL" altLang="nl-NL" dirty="0"/>
              <a:t> at low speed (approach), </a:t>
            </a:r>
            <a:r>
              <a:rPr lang="nl-NL" altLang="nl-NL" dirty="0" err="1"/>
              <a:t>the</a:t>
            </a:r>
            <a:r>
              <a:rPr lang="nl-NL" altLang="nl-NL" dirty="0"/>
              <a:t> </a:t>
            </a:r>
            <a:r>
              <a:rPr lang="nl-NL" altLang="nl-NL" dirty="0" err="1"/>
              <a:t>compressibility</a:t>
            </a:r>
            <a:r>
              <a:rPr lang="nl-NL" altLang="nl-NL" dirty="0"/>
              <a:t> </a:t>
            </a:r>
            <a:r>
              <a:rPr lang="nl-NL" altLang="nl-NL" dirty="0" err="1"/>
              <a:t>corrections</a:t>
            </a:r>
            <a:r>
              <a:rPr lang="nl-NL" altLang="nl-NL" dirty="0"/>
              <a:t> </a:t>
            </a:r>
            <a:r>
              <a:rPr lang="nl-NL" altLang="nl-NL" dirty="0" err="1"/>
              <a:t>presented</a:t>
            </a:r>
            <a:r>
              <a:rPr lang="nl-NL" altLang="nl-NL" dirty="0"/>
              <a:t> next </a:t>
            </a:r>
            <a:r>
              <a:rPr lang="nl-NL" altLang="nl-NL" dirty="0" err="1"/>
              <a:t>can</a:t>
            </a:r>
            <a:r>
              <a:rPr lang="nl-NL" altLang="nl-NL" dirty="0"/>
              <a:t> </a:t>
            </a:r>
            <a:r>
              <a:rPr lang="nl-NL" altLang="nl-NL" dirty="0" err="1"/>
              <a:t>be</a:t>
            </a:r>
            <a:r>
              <a:rPr lang="nl-NL" altLang="nl-NL" dirty="0"/>
              <a:t> </a:t>
            </a:r>
            <a:r>
              <a:rPr lang="nl-NL" altLang="nl-NL" dirty="0" err="1"/>
              <a:t>neglected</a:t>
            </a:r>
            <a:endParaRPr lang="nl-NL" altLang="nl-NL" dirty="0"/>
          </a:p>
          <a:p>
            <a:pPr eaLnBrk="1" hangingPunct="1"/>
            <a:endParaRPr lang="en-GB" altLang="nl-NL"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786D95FD-FD20-4691-91BE-A1CED668CBBF}" type="slidenum">
              <a:rPr lang="en-US" altLang="nl-NL">
                <a:latin typeface="Arial" charset="0"/>
              </a:rPr>
              <a:pPr algn="r" eaLnBrk="1" hangingPunct="1">
                <a:spcBef>
                  <a:spcPct val="0"/>
                </a:spcBef>
              </a:pPr>
              <a:t>19</a:t>
            </a:fld>
            <a:endParaRPr lang="en-US" altLang="nl-NL">
              <a:latin typeface="Arial" charset="0"/>
            </a:endParaRPr>
          </a:p>
        </p:txBody>
      </p:sp>
      <p:sp>
        <p:nvSpPr>
          <p:cNvPr id="82947" name="Rectangle 2"/>
          <p:cNvSpPr>
            <a:spLocks noGrp="1" noRot="1" noChangeAspect="1" noChangeArrowheads="1" noTextEdit="1"/>
          </p:cNvSpPr>
          <p:nvPr>
            <p:ph type="sldImg"/>
          </p:nvPr>
        </p:nvSpPr>
        <p:spPr>
          <a:xfrm>
            <a:off x="90488" y="746125"/>
            <a:ext cx="6616700" cy="3722688"/>
          </a:xfrm>
          <a:ln/>
        </p:spPr>
      </p:sp>
      <p:sp>
        <p:nvSpPr>
          <p:cNvPr id="82948"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GB" altLang="nl-NL" dirty="0"/>
              <a:t>*The smaller </a:t>
            </a:r>
            <a:r>
              <a:rPr lang="el-GR" altLang="nl-NL" dirty="0"/>
              <a:t>Δ</a:t>
            </a:r>
            <a:r>
              <a:rPr lang="nl-NL" altLang="nl-NL" dirty="0"/>
              <a:t>Y, </a:t>
            </a:r>
            <a:r>
              <a:rPr lang="nl-NL" altLang="nl-NL" dirty="0" err="1"/>
              <a:t>the</a:t>
            </a:r>
            <a:r>
              <a:rPr lang="nl-NL" altLang="nl-NL" dirty="0"/>
              <a:t> </a:t>
            </a:r>
            <a:r>
              <a:rPr lang="nl-NL" altLang="nl-NL" dirty="0" err="1"/>
              <a:t>sharper</a:t>
            </a:r>
            <a:r>
              <a:rPr lang="nl-NL" altLang="nl-NL" dirty="0"/>
              <a:t> </a:t>
            </a:r>
            <a:r>
              <a:rPr lang="nl-NL" altLang="nl-NL" dirty="0" err="1"/>
              <a:t>the</a:t>
            </a:r>
            <a:r>
              <a:rPr lang="nl-NL" altLang="nl-NL" dirty="0"/>
              <a:t> </a:t>
            </a:r>
            <a:r>
              <a:rPr lang="nl-NL" altLang="nl-NL" dirty="0" err="1"/>
              <a:t>airfoil</a:t>
            </a:r>
            <a:r>
              <a:rPr lang="nl-NL" altLang="nl-NL" dirty="0"/>
              <a:t> LE, </a:t>
            </a:r>
            <a:r>
              <a:rPr lang="nl-NL" altLang="nl-NL" dirty="0" err="1"/>
              <a:t>the</a:t>
            </a:r>
            <a:r>
              <a:rPr lang="nl-NL" altLang="nl-NL" dirty="0"/>
              <a:t> </a:t>
            </a:r>
            <a:r>
              <a:rPr lang="nl-NL" altLang="nl-NL" dirty="0" err="1"/>
              <a:t>higher</a:t>
            </a:r>
            <a:r>
              <a:rPr lang="nl-NL" altLang="nl-NL" dirty="0"/>
              <a:t> </a:t>
            </a:r>
            <a:r>
              <a:rPr lang="nl-NL" altLang="nl-NL" dirty="0" err="1"/>
              <a:t>C</a:t>
            </a:r>
            <a:r>
              <a:rPr lang="nl-NL" altLang="nl-NL" baseline="-25000" dirty="0" err="1"/>
              <a:t>Lmax</a:t>
            </a:r>
            <a:r>
              <a:rPr lang="nl-NL" altLang="nl-NL" dirty="0"/>
              <a:t>, but </a:t>
            </a:r>
            <a:r>
              <a:rPr lang="nl-NL" altLang="nl-NL" dirty="0" err="1"/>
              <a:t>only</a:t>
            </a:r>
            <a:r>
              <a:rPr lang="nl-NL" altLang="nl-NL" dirty="0"/>
              <a:t> </a:t>
            </a:r>
            <a:r>
              <a:rPr lang="nl-NL" altLang="nl-NL" dirty="0" err="1"/>
              <a:t>for</a:t>
            </a:r>
            <a:r>
              <a:rPr lang="nl-NL" altLang="nl-NL" dirty="0"/>
              <a:t> low aspect ratio </a:t>
            </a:r>
            <a:r>
              <a:rPr lang="nl-NL" altLang="nl-NL" dirty="0" err="1"/>
              <a:t>wings</a:t>
            </a:r>
            <a:r>
              <a:rPr lang="nl-NL" altLang="nl-NL" dirty="0"/>
              <a:t>, or </a:t>
            </a:r>
            <a:r>
              <a:rPr lang="nl-NL" altLang="nl-NL" dirty="0" err="1"/>
              <a:t>for</a:t>
            </a:r>
            <a:r>
              <a:rPr lang="nl-NL" altLang="nl-NL" dirty="0"/>
              <a:t> high aspect ratio </a:t>
            </a:r>
            <a:r>
              <a:rPr lang="nl-NL" altLang="nl-NL" dirty="0" err="1"/>
              <a:t>wings</a:t>
            </a:r>
            <a:r>
              <a:rPr lang="nl-NL" altLang="nl-NL" dirty="0"/>
              <a:t> </a:t>
            </a:r>
            <a:r>
              <a:rPr lang="nl-NL" altLang="nl-NL" dirty="0" err="1"/>
              <a:t>with</a:t>
            </a:r>
            <a:r>
              <a:rPr lang="nl-NL" altLang="nl-NL" dirty="0"/>
              <a:t> moderate </a:t>
            </a:r>
            <a:r>
              <a:rPr lang="nl-NL" altLang="nl-NL" dirty="0" err="1"/>
              <a:t>to</a:t>
            </a:r>
            <a:r>
              <a:rPr lang="nl-NL" altLang="nl-NL" dirty="0"/>
              <a:t> high </a:t>
            </a:r>
            <a:r>
              <a:rPr lang="nl-NL" altLang="nl-NL" dirty="0" err="1"/>
              <a:t>sweep</a:t>
            </a:r>
            <a:r>
              <a:rPr lang="nl-NL" altLang="nl-NL" dirty="0"/>
              <a:t>. </a:t>
            </a:r>
          </a:p>
          <a:p>
            <a:pPr eaLnBrk="1" hangingPunct="1"/>
            <a:r>
              <a:rPr lang="nl-NL" altLang="nl-NL" dirty="0" err="1"/>
              <a:t>Unswept</a:t>
            </a:r>
            <a:r>
              <a:rPr lang="nl-NL" altLang="nl-NL" dirty="0"/>
              <a:t> </a:t>
            </a:r>
            <a:r>
              <a:rPr lang="nl-NL" altLang="nl-NL" dirty="0" err="1"/>
              <a:t>wings</a:t>
            </a:r>
            <a:r>
              <a:rPr lang="nl-NL" altLang="nl-NL" dirty="0"/>
              <a:t> </a:t>
            </a:r>
            <a:r>
              <a:rPr lang="nl-NL" altLang="nl-NL" dirty="0" err="1"/>
              <a:t>with</a:t>
            </a:r>
            <a:r>
              <a:rPr lang="nl-NL" altLang="nl-NL" dirty="0"/>
              <a:t> high aspect ratio are </a:t>
            </a:r>
            <a:r>
              <a:rPr lang="nl-NL" altLang="nl-NL" dirty="0" err="1"/>
              <a:t>poorly</a:t>
            </a:r>
            <a:r>
              <a:rPr lang="nl-NL" altLang="nl-NL" dirty="0"/>
              <a:t> </a:t>
            </a:r>
            <a:r>
              <a:rPr lang="nl-NL" altLang="nl-NL" dirty="0" err="1"/>
              <a:t>affected</a:t>
            </a:r>
            <a:r>
              <a:rPr lang="nl-NL" altLang="nl-NL" dirty="0"/>
              <a:t> </a:t>
            </a:r>
            <a:r>
              <a:rPr lang="nl-NL" altLang="nl-NL" dirty="0" err="1"/>
              <a:t>by</a:t>
            </a:r>
            <a:r>
              <a:rPr lang="nl-NL" altLang="nl-NL" dirty="0"/>
              <a:t> </a:t>
            </a:r>
            <a:r>
              <a:rPr lang="nl-NL" altLang="nl-NL" dirty="0" err="1"/>
              <a:t>the</a:t>
            </a:r>
            <a:r>
              <a:rPr lang="nl-NL" altLang="nl-NL" dirty="0"/>
              <a:t> </a:t>
            </a:r>
            <a:r>
              <a:rPr lang="nl-NL" altLang="nl-NL" dirty="0" err="1"/>
              <a:t>sharpness</a:t>
            </a:r>
            <a:r>
              <a:rPr lang="nl-NL" altLang="nl-NL" dirty="0"/>
              <a:t> parameter. </a:t>
            </a:r>
          </a:p>
          <a:p>
            <a:pPr eaLnBrk="1" hangingPunct="1"/>
            <a:endParaRPr lang="nl-NL" altLang="nl-NL" dirty="0"/>
          </a:p>
          <a:p>
            <a:pPr eaLnBrk="1" hangingPunct="1"/>
            <a:r>
              <a:rPr lang="en-GB" altLang="nl-NL" dirty="0"/>
              <a:t>**One could think that the LE radius should be the right parameter to account for the </a:t>
            </a:r>
            <a:r>
              <a:rPr lang="en-GB" altLang="nl-NL" dirty="0" err="1"/>
              <a:t>airfoil</a:t>
            </a:r>
            <a:r>
              <a:rPr lang="en-GB" altLang="nl-NL" dirty="0"/>
              <a:t> sharpness, but </a:t>
            </a:r>
            <a:r>
              <a:rPr lang="el-GR" altLang="nl-NL" dirty="0"/>
              <a:t>Δ</a:t>
            </a:r>
            <a:r>
              <a:rPr lang="nl-NL" altLang="nl-NL" dirty="0"/>
              <a:t>Y</a:t>
            </a:r>
            <a:r>
              <a:rPr lang="en-GB" altLang="nl-NL" dirty="0"/>
              <a:t> is preferred because it accounts also for the </a:t>
            </a:r>
            <a:r>
              <a:rPr lang="en-GB" altLang="nl-NL" dirty="0" err="1"/>
              <a:t>airfoil</a:t>
            </a:r>
            <a:r>
              <a:rPr lang="en-GB" altLang="nl-NL" dirty="0"/>
              <a:t> camber. </a:t>
            </a:r>
          </a:p>
          <a:p>
            <a:pPr eaLnBrk="1" hangingPunct="1"/>
            <a:r>
              <a:rPr lang="en-GB" altLang="nl-NL" dirty="0"/>
              <a:t>Knowing the geometry of the </a:t>
            </a:r>
            <a:r>
              <a:rPr lang="en-GB" altLang="nl-NL" dirty="0" err="1"/>
              <a:t>airfoil</a:t>
            </a:r>
            <a:r>
              <a:rPr lang="en-GB" altLang="nl-NL" dirty="0"/>
              <a:t>, it is sufficient to measure the distance from the chord of the points located at 0.15% and 6%on the upper part of the </a:t>
            </a:r>
          </a:p>
          <a:p>
            <a:pPr eaLnBrk="1" hangingPunct="1"/>
            <a:endParaRPr lang="en-GB" altLang="nl-NL" dirty="0"/>
          </a:p>
          <a:p>
            <a:pPr eaLnBrk="1" hangingPunct="1"/>
            <a:endParaRPr lang="en-GB" altLang="nl-NL"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E6DF9621-F3C6-4DA6-89CE-D3D7055D17F4}" type="slidenum">
              <a:rPr lang="en-US" altLang="nl-NL">
                <a:latin typeface="Arial" charset="0"/>
              </a:rPr>
              <a:pPr algn="r" eaLnBrk="1" hangingPunct="1">
                <a:spcBef>
                  <a:spcPct val="0"/>
                </a:spcBef>
              </a:pPr>
              <a:t>20</a:t>
            </a:fld>
            <a:endParaRPr lang="en-US" altLang="nl-NL">
              <a:latin typeface="Arial" charset="0"/>
            </a:endParaRPr>
          </a:p>
        </p:txBody>
      </p:sp>
      <p:sp>
        <p:nvSpPr>
          <p:cNvPr id="84995" name="Rectangle 2"/>
          <p:cNvSpPr>
            <a:spLocks noGrp="1" noRot="1" noChangeAspect="1" noChangeArrowheads="1" noTextEdit="1"/>
          </p:cNvSpPr>
          <p:nvPr>
            <p:ph type="sldImg"/>
          </p:nvPr>
        </p:nvSpPr>
        <p:spPr>
          <a:xfrm>
            <a:off x="90488" y="746125"/>
            <a:ext cx="6616700" cy="3722688"/>
          </a:xfrm>
          <a:ln/>
        </p:spPr>
      </p:sp>
      <p:sp>
        <p:nvSpPr>
          <p:cNvPr id="84996"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GB" altLang="nl-NL" dirty="0"/>
              <a:t>In case of low aspect ratio wings, the 3d effects are so large that the characteristics of the </a:t>
            </a:r>
            <a:r>
              <a:rPr lang="en-GB" altLang="nl-NL" dirty="0" err="1"/>
              <a:t>airfoil</a:t>
            </a:r>
            <a:r>
              <a:rPr lang="en-GB" altLang="nl-NL" dirty="0"/>
              <a:t> have much less impact on the wing characteristics, than compared with the case of a high aspect ratio wing!</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xfrm>
            <a:off x="87313" y="746125"/>
            <a:ext cx="6619875" cy="3724275"/>
          </a:xfrm>
          <a:ln/>
        </p:spPr>
      </p:sp>
      <p:sp>
        <p:nvSpPr>
          <p:cNvPr id="86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nl-NL"/>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D9F21FF1-A8D5-4479-9323-50BF0C64848B}" type="slidenum">
              <a:rPr lang="en-US" altLang="nl-NL" smtClean="0"/>
              <a:pPr algn="r">
                <a:spcBef>
                  <a:spcPct val="0"/>
                </a:spcBef>
              </a:pPr>
              <a:t>21</a:t>
            </a:fld>
            <a:endParaRPr lang="en-US" altLang="nl-NL"/>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64DD8C65-427D-443F-B76E-993A60237D3E}" type="slidenum">
              <a:rPr lang="en-US" altLang="nl-NL">
                <a:latin typeface="Arial" charset="0"/>
              </a:rPr>
              <a:pPr algn="r" eaLnBrk="1" hangingPunct="1">
                <a:spcBef>
                  <a:spcPct val="0"/>
                </a:spcBef>
              </a:pPr>
              <a:t>22</a:t>
            </a:fld>
            <a:endParaRPr lang="en-US" altLang="nl-NL">
              <a:latin typeface="Arial" charset="0"/>
            </a:endParaRPr>
          </a:p>
        </p:txBody>
      </p:sp>
      <p:sp>
        <p:nvSpPr>
          <p:cNvPr id="87043" name="Rectangle 2"/>
          <p:cNvSpPr>
            <a:spLocks noGrp="1" noRot="1" noChangeAspect="1" noChangeArrowheads="1" noTextEdit="1"/>
          </p:cNvSpPr>
          <p:nvPr>
            <p:ph type="sldImg"/>
          </p:nvPr>
        </p:nvSpPr>
        <p:spPr>
          <a:xfrm>
            <a:off x="90488" y="746125"/>
            <a:ext cx="6616700" cy="3722688"/>
          </a:xfrm>
          <a:ln/>
        </p:spPr>
      </p:sp>
      <p:sp>
        <p:nvSpPr>
          <p:cNvPr id="87044"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GB" altLang="nl-NL" b="1"/>
              <a:t>*ATT!</a:t>
            </a:r>
            <a:r>
              <a:rPr lang="en-GB" altLang="nl-NL"/>
              <a:t> :When deriving the value of the airfoil C</a:t>
            </a:r>
            <a:r>
              <a:rPr lang="en-GB" altLang="nl-NL" baseline="-25000"/>
              <a:t>lmax</a:t>
            </a:r>
            <a:r>
              <a:rPr lang="en-GB" altLang="nl-NL"/>
              <a:t>, as required by the method above for computing C</a:t>
            </a:r>
            <a:r>
              <a:rPr lang="en-GB" altLang="nl-NL" baseline="-25000"/>
              <a:t>Lmax</a:t>
            </a:r>
            <a:r>
              <a:rPr lang="en-GB" altLang="nl-NL"/>
              <a:t> at take off and landing, </a:t>
            </a:r>
            <a:r>
              <a:rPr lang="en-GB" altLang="nl-NL" b="1"/>
              <a:t>make sure to use the specific Re for those conditions (i.e. take off and landing and NOT cruise!!!)</a:t>
            </a:r>
            <a:r>
              <a:rPr lang="en-GB" altLang="nl-NL"/>
              <a:t>. If you use the wrong Re (e.g. the one for cruise condition) you might overestimate C</a:t>
            </a:r>
            <a:r>
              <a:rPr lang="en-GB" altLang="nl-NL" baseline="-25000"/>
              <a:t>Lmax  </a:t>
            </a:r>
            <a:r>
              <a:rPr lang="en-GB" altLang="nl-NL"/>
              <a:t>and eventually undersize your high lift devices!! </a:t>
            </a:r>
          </a:p>
          <a:p>
            <a:pPr eaLnBrk="1" hangingPunct="1"/>
            <a:r>
              <a:rPr lang="en-GB" altLang="nl-NL"/>
              <a:t>Computing the value of C</a:t>
            </a:r>
            <a:r>
              <a:rPr lang="en-GB" altLang="nl-NL" baseline="-25000"/>
              <a:t>Lmax  </a:t>
            </a:r>
            <a:r>
              <a:rPr lang="en-GB" altLang="nl-NL"/>
              <a:t>at cruise conditions is generally not relevant for your class of aircraft. Can you explain why?</a:t>
            </a:r>
          </a:p>
          <a:p>
            <a:pPr eaLnBrk="1" hangingPunct="1"/>
            <a:endParaRPr lang="en-GB" altLang="nl-NL"/>
          </a:p>
          <a:p>
            <a:pPr eaLnBrk="1" hangingPunct="1"/>
            <a:r>
              <a:rPr lang="en-GB" altLang="nl-NL"/>
              <a:t>Note the large influence of the sharpness factor on the maximum lift coefficient of the wing. A sharp airfoil, together with a high sweep angle can yield a maximum lift coefficient even higher than the maximum lift coefficient of the airfoil! Up to 25 deg of sweep, however, C</a:t>
            </a:r>
            <a:r>
              <a:rPr lang="en-GB" altLang="nl-NL" baseline="-25000"/>
              <a:t>Lmax</a:t>
            </a:r>
            <a:r>
              <a:rPr lang="en-GB" altLang="nl-NL"/>
              <a:t> will never be larger than C</a:t>
            </a:r>
            <a:r>
              <a:rPr lang="en-GB" altLang="nl-NL" baseline="-25000"/>
              <a:t>lmax</a:t>
            </a:r>
            <a:r>
              <a:rPr lang="en-GB" altLang="nl-NL"/>
              <a:t>.</a:t>
            </a:r>
          </a:p>
          <a:p>
            <a:pPr eaLnBrk="1" hangingPunct="1"/>
            <a:r>
              <a:rPr lang="en-GB" altLang="nl-NL"/>
              <a:t>For wings with airfoils with a sharpness factor larger than 2, C</a:t>
            </a:r>
            <a:r>
              <a:rPr lang="en-GB" altLang="nl-NL" baseline="-25000"/>
              <a:t>Lmax</a:t>
            </a:r>
            <a:r>
              <a:rPr lang="en-GB" altLang="nl-NL"/>
              <a:t> is ALWAYS lower than C</a:t>
            </a:r>
            <a:r>
              <a:rPr lang="en-GB" altLang="nl-NL" baseline="-25000"/>
              <a:t>lmax</a:t>
            </a:r>
            <a:r>
              <a:rPr lang="en-GB" altLang="nl-NL"/>
              <a:t>. Very sharp airfoil and a minimum sweep angle of 25 deg are necessary to get C</a:t>
            </a:r>
            <a:r>
              <a:rPr lang="en-GB" altLang="nl-NL" baseline="-25000"/>
              <a:t>Lmax</a:t>
            </a:r>
            <a:r>
              <a:rPr lang="en-GB" altLang="nl-NL"/>
              <a:t> equal to C</a:t>
            </a:r>
            <a:r>
              <a:rPr lang="en-GB" altLang="nl-NL" baseline="-25000"/>
              <a:t>lmax</a:t>
            </a:r>
            <a:r>
              <a:rPr lang="en-GB" altLang="nl-NL"/>
              <a:t>.</a:t>
            </a:r>
          </a:p>
          <a:p>
            <a:pPr eaLnBrk="1" hangingPunct="1"/>
            <a:endParaRPr lang="en-GB" altLang="nl-NL"/>
          </a:p>
          <a:p>
            <a:pPr eaLnBrk="1" hangingPunct="1"/>
            <a:r>
              <a:rPr lang="en-GB" altLang="nl-NL"/>
              <a:t>When you select an airfoil for your wing, you should be aware of the consequences on the wing maximum lift coefficient!</a:t>
            </a:r>
          </a:p>
          <a:p>
            <a:pPr eaLnBrk="1" hangingPunct="1"/>
            <a:endParaRPr lang="en-GB" altLang="nl-NL"/>
          </a:p>
          <a:p>
            <a:pPr eaLnBrk="1" hangingPunct="1"/>
            <a:endParaRPr lang="en-GB" altLang="nl-NL"/>
          </a:p>
          <a:p>
            <a:pPr eaLnBrk="1" hangingPunct="1"/>
            <a:endParaRPr lang="en-GB" altLang="nl-NL"/>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4838C842-1D2C-4E1C-A7A7-43B0E6025373}" type="slidenum">
              <a:rPr lang="en-US" altLang="nl-NL">
                <a:latin typeface="Arial" charset="0"/>
              </a:rPr>
              <a:pPr algn="r" eaLnBrk="1" hangingPunct="1">
                <a:spcBef>
                  <a:spcPct val="0"/>
                </a:spcBef>
              </a:pPr>
              <a:t>23</a:t>
            </a:fld>
            <a:endParaRPr lang="en-US" altLang="nl-NL">
              <a:latin typeface="Arial" charset="0"/>
            </a:endParaRPr>
          </a:p>
        </p:txBody>
      </p:sp>
      <p:sp>
        <p:nvSpPr>
          <p:cNvPr id="88067" name="Rectangle 2"/>
          <p:cNvSpPr>
            <a:spLocks noGrp="1" noRot="1" noChangeAspect="1" noChangeArrowheads="1" noTextEdit="1"/>
          </p:cNvSpPr>
          <p:nvPr>
            <p:ph type="sldImg"/>
          </p:nvPr>
        </p:nvSpPr>
        <p:spPr>
          <a:xfrm>
            <a:off x="90488" y="746125"/>
            <a:ext cx="6616700" cy="3722688"/>
          </a:xfrm>
          <a:ln/>
        </p:spPr>
      </p:sp>
      <p:sp>
        <p:nvSpPr>
          <p:cNvPr id="88068"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GB" altLang="nl-NL"/>
              <a:t>Note that the maximum Mach number in these figures is equal to 0.6! It is </a:t>
            </a:r>
            <a:r>
              <a:rPr lang="en-GB" altLang="nl-NL" b="1" u="sng"/>
              <a:t>extremely rare</a:t>
            </a:r>
            <a:r>
              <a:rPr lang="en-GB" altLang="nl-NL"/>
              <a:t> that you need to know the maximum lift capability of your aircraft at higher speed than that! In approach and take off condition (M about 0.2) you can see that the contribution of this term is actually negligible. So, do not waste time using the graphs above!</a:t>
            </a:r>
          </a:p>
          <a:p>
            <a:pPr eaLnBrk="1" hangingPunct="1"/>
            <a:endParaRPr lang="en-GB" altLang="nl-NL" b="1"/>
          </a:p>
          <a:p>
            <a:pPr eaLnBrk="1" hangingPunct="1"/>
            <a:r>
              <a:rPr lang="en-GB" altLang="nl-NL" b="1"/>
              <a:t>Besides, an airliner will never flight M=0.6 (or higher) at its maximum lift coefficient…the</a:t>
            </a:r>
            <a:r>
              <a:rPr lang="en-GB" altLang="nl-NL"/>
              <a:t> </a:t>
            </a:r>
            <a:r>
              <a:rPr lang="en-GB" altLang="nl-NL" b="1"/>
              <a:t>aerodynamic loads would tear the wings apart!!!</a:t>
            </a:r>
          </a:p>
          <a:p>
            <a:pPr eaLnBrk="1" hangingPunct="1"/>
            <a:r>
              <a:rPr lang="en-GB" altLang="nl-NL" b="1"/>
              <a:t>On the other side this can be of interest for aerobatic and air superiority combat aircraft, as well as for aircraft, which needs to cruise in condition very close to CLmax (e.g. operation at very high altitude). In this case it is interesting to include this  contribution. It conservatively be assumed that at Mach higher than 0.6, CLmax is not varying.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54C53C34-5197-417C-9D55-4871266278BB}" type="slidenum">
              <a:rPr lang="en-US" altLang="nl-NL">
                <a:latin typeface="Arial" charset="0"/>
              </a:rPr>
              <a:pPr algn="r" eaLnBrk="1" hangingPunct="1">
                <a:spcBef>
                  <a:spcPct val="0"/>
                </a:spcBef>
              </a:pPr>
              <a:t>24</a:t>
            </a:fld>
            <a:endParaRPr lang="en-US" altLang="nl-NL">
              <a:latin typeface="Arial" charset="0"/>
            </a:endParaRPr>
          </a:p>
        </p:txBody>
      </p:sp>
      <p:sp>
        <p:nvSpPr>
          <p:cNvPr id="89091" name="Rectangle 2"/>
          <p:cNvSpPr>
            <a:spLocks noGrp="1" noRot="1" noChangeAspect="1" noChangeArrowheads="1" noTextEdit="1"/>
          </p:cNvSpPr>
          <p:nvPr>
            <p:ph type="sldImg"/>
          </p:nvPr>
        </p:nvSpPr>
        <p:spPr>
          <a:xfrm>
            <a:off x="90488" y="746125"/>
            <a:ext cx="6616700" cy="3722688"/>
          </a:xfrm>
          <a:ln/>
        </p:spPr>
      </p:sp>
      <p:sp>
        <p:nvSpPr>
          <p:cNvPr id="83972" name="Rectangle 3"/>
          <p:cNvSpPr>
            <a:spLocks noGrp="1" noChangeArrowheads="1"/>
          </p:cNvSpPr>
          <p:nvPr>
            <p:ph type="body" idx="1"/>
          </p:nvPr>
        </p:nvSpPr>
        <p:spPr>
          <a:xfrm>
            <a:off x="679450" y="4718050"/>
            <a:ext cx="5435600" cy="4468813"/>
          </a:xfr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marL="171450" indent="-171450" eaLnBrk="1" hangingPunct="1">
              <a:buFont typeface="Arial" pitchFamily="34" charset="0"/>
              <a:buChar char="•"/>
              <a:defRPr/>
            </a:pPr>
            <a:r>
              <a:rPr lang="en-GB" dirty="0"/>
              <a:t>When computing the wing characteristics at low speed (e.g., at take off and landing) </a:t>
            </a:r>
            <a:r>
              <a:rPr lang="en-GB" b="1" dirty="0"/>
              <a:t>you cannot use the wing  lift gradient computed at cruise Mach number</a:t>
            </a:r>
            <a:r>
              <a:rPr lang="en-GB" dirty="0"/>
              <a:t>!!!</a:t>
            </a:r>
          </a:p>
          <a:p>
            <a:pPr marL="171450" indent="-171450" eaLnBrk="1" hangingPunct="1">
              <a:buFont typeface="Arial" pitchFamily="34" charset="0"/>
              <a:buChar char="•"/>
              <a:defRPr/>
            </a:pPr>
            <a:endParaRPr lang="en-GB" dirty="0"/>
          </a:p>
          <a:p>
            <a:pPr eaLnBrk="1" hangingPunct="1">
              <a:defRPr/>
            </a:pPr>
            <a:r>
              <a:rPr lang="en-GB" b="1" dirty="0"/>
              <a:t>** The last term </a:t>
            </a:r>
            <a:r>
              <a:rPr lang="en-GB" b="1" dirty="0" err="1"/>
              <a:t>Delta_alpha_Clmax</a:t>
            </a:r>
            <a:r>
              <a:rPr lang="en-GB" b="1" dirty="0"/>
              <a:t> helps drawing the curved part of the lift curve. It tells how larger is the stall angle, with respect to the angle at which the extended linear part of the lift curve would reach CLmax. </a:t>
            </a:r>
          </a:p>
          <a:p>
            <a:pPr eaLnBrk="1" hangingPunct="1">
              <a:defRPr/>
            </a:pPr>
            <a:r>
              <a:rPr lang="en-GB" dirty="0"/>
              <a:t>Indeed, this terms gives you information about the way the wing reaches stall conditions. </a:t>
            </a:r>
          </a:p>
          <a:p>
            <a:pPr eaLnBrk="1" hangingPunct="1">
              <a:defRPr/>
            </a:pPr>
            <a:r>
              <a:rPr lang="en-GB" dirty="0"/>
              <a:t>Note how the stall is reached abruptly in case of unswept wings with intermediate sharpness factors (delta-Y equal to 2). Can you remember about the stall behaviour of thin, intermediate and thick airfoils discussed in the first lecture?</a:t>
            </a:r>
          </a:p>
          <a:p>
            <a:pPr eaLnBrk="1" hangingPunct="1">
              <a:defRPr/>
            </a:pPr>
            <a:r>
              <a:rPr lang="en-GB" dirty="0"/>
              <a:t>Note also, how the maximum lift is achieved at high angle of attack in case of high swept wings mounting very sharp airfoil.</a:t>
            </a:r>
          </a:p>
          <a:p>
            <a:pPr eaLnBrk="1" hangingPunct="1">
              <a:defRPr/>
            </a:pPr>
            <a:endParaRPr lang="en-GB" dirty="0"/>
          </a:p>
          <a:p>
            <a:pPr eaLnBrk="1" hangingPunct="1">
              <a:defRPr/>
            </a:pPr>
            <a:r>
              <a:rPr lang="en-GB" b="1" dirty="0"/>
              <a:t>*** note how cambered airfoils have lower stall angles, because of the negative value of </a:t>
            </a:r>
            <a:r>
              <a:rPr lang="en-GB" b="1" dirty="0" err="1"/>
              <a:t>alpha_zero_lift</a:t>
            </a:r>
            <a:r>
              <a:rPr lang="en-GB" b="1" dirty="0"/>
              <a:t>!</a:t>
            </a:r>
            <a:r>
              <a:rPr lang="en-GB" dirty="0"/>
              <a:t> The plot above is relative to an untwisted wing. In case of applied twist, you should take the zero lift angle of attack of the airfoil at the mean aerodynamic chord.</a:t>
            </a:r>
            <a:endParaRPr lang="en-GB" b="1"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xfrm>
            <a:off x="87313" y="746125"/>
            <a:ext cx="6619875" cy="3724275"/>
          </a:xfrm>
          <a:ln/>
        </p:spPr>
      </p:sp>
      <p:sp>
        <p:nvSpPr>
          <p:cNvPr id="901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nl-NL" dirty="0"/>
          </a:p>
        </p:txBody>
      </p:sp>
      <p:sp>
        <p:nvSpPr>
          <p:cNvPr id="901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2BF1D02E-4857-4972-8EA5-F6D39D72A301}" type="slidenum">
              <a:rPr lang="en-US" altLang="nl-NL" smtClean="0"/>
              <a:pPr algn="r">
                <a:spcBef>
                  <a:spcPct val="0"/>
                </a:spcBef>
              </a:pPr>
              <a:t>25</a:t>
            </a:fld>
            <a:endParaRPr lang="en-US" altLang="nl-NL"/>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A4A03D1C-F92A-4DEA-89A5-4EF6DF5D67A1}" type="slidenum">
              <a:rPr lang="en-US" altLang="nl-NL">
                <a:latin typeface="Arial" charset="0"/>
              </a:rPr>
              <a:pPr algn="r" eaLnBrk="1" hangingPunct="1">
                <a:spcBef>
                  <a:spcPct val="0"/>
                </a:spcBef>
              </a:pPr>
              <a:t>26</a:t>
            </a:fld>
            <a:endParaRPr lang="en-US" altLang="nl-NL">
              <a:latin typeface="Arial" charset="0"/>
            </a:endParaRPr>
          </a:p>
        </p:txBody>
      </p:sp>
      <p:sp>
        <p:nvSpPr>
          <p:cNvPr id="91139" name="Rectangle 2"/>
          <p:cNvSpPr>
            <a:spLocks noGrp="1" noRot="1" noChangeAspect="1" noChangeArrowheads="1" noTextEdit="1"/>
          </p:cNvSpPr>
          <p:nvPr>
            <p:ph type="sldImg"/>
          </p:nvPr>
        </p:nvSpPr>
        <p:spPr>
          <a:xfrm>
            <a:off x="90488" y="746125"/>
            <a:ext cx="6616700" cy="3722688"/>
          </a:xfrm>
          <a:ln/>
        </p:spPr>
      </p:sp>
      <p:sp>
        <p:nvSpPr>
          <p:cNvPr id="91140"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GB" altLang="nl-NL"/>
              <a:t>*Use the right value of M (and </a:t>
            </a:r>
            <a:r>
              <a:rPr lang="el-GR" altLang="nl-NL">
                <a:cs typeface="Arial" charset="0"/>
              </a:rPr>
              <a:t>β</a:t>
            </a:r>
            <a:r>
              <a:rPr lang="nl-NL" altLang="nl-NL">
                <a:cs typeface="Arial" charset="0"/>
              </a:rPr>
              <a:t>)! Do not use the cruise value when you are computing the low speed lift curve of your aircraft (e.g., at take off and landing!)</a:t>
            </a:r>
            <a:endParaRPr lang="el-GR" altLang="nl-NL">
              <a:cs typeface="Arial" charset="0"/>
            </a:endParaRPr>
          </a:p>
          <a:p>
            <a:pPr eaLnBrk="1" hangingPunct="1"/>
            <a:endParaRPr lang="en-GB" altLang="nl-NL"/>
          </a:p>
          <a:p>
            <a:pPr eaLnBrk="1" hangingPunct="1"/>
            <a:r>
              <a:rPr lang="en-GB" altLang="nl-NL"/>
              <a:t>Fig 12.12 corresponds to fig 9.12 Corke</a:t>
            </a:r>
          </a:p>
          <a:p>
            <a:pPr eaLnBrk="1" hangingPunct="1"/>
            <a:r>
              <a:rPr lang="en-GB" altLang="nl-NL"/>
              <a:t>Taper ratio/C1 curve corresponds to fig 9.8 Corke</a:t>
            </a:r>
          </a:p>
          <a:p>
            <a:pPr eaLnBrk="1" hangingPunct="1"/>
            <a:endParaRPr lang="en-GB" altLang="nl-NL"/>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882CDFC1-F8AE-4153-8927-97AF4DBEB068}" type="slidenum">
              <a:rPr lang="en-US" altLang="nl-NL">
                <a:latin typeface="Arial" charset="0"/>
              </a:rPr>
              <a:pPr algn="r" eaLnBrk="1" hangingPunct="1">
                <a:spcBef>
                  <a:spcPct val="0"/>
                </a:spcBef>
              </a:pPr>
              <a:t>27</a:t>
            </a:fld>
            <a:endParaRPr lang="en-US" altLang="nl-NL">
              <a:latin typeface="Arial" charset="0"/>
            </a:endParaRPr>
          </a:p>
        </p:txBody>
      </p:sp>
      <p:sp>
        <p:nvSpPr>
          <p:cNvPr id="92163" name="Rectangle 2"/>
          <p:cNvSpPr>
            <a:spLocks noGrp="1" noRot="1" noChangeAspect="1" noChangeArrowheads="1" noTextEdit="1"/>
          </p:cNvSpPr>
          <p:nvPr>
            <p:ph type="sldImg"/>
          </p:nvPr>
        </p:nvSpPr>
        <p:spPr>
          <a:xfrm>
            <a:off x="90488" y="746125"/>
            <a:ext cx="6616700" cy="3722688"/>
          </a:xfrm>
          <a:ln/>
        </p:spPr>
      </p:sp>
      <p:sp>
        <p:nvSpPr>
          <p:cNvPr id="92164"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GB" altLang="nl-NL"/>
              <a:t>*Use the right value of M (and </a:t>
            </a:r>
            <a:r>
              <a:rPr lang="el-GR" altLang="nl-NL">
                <a:cs typeface="Arial" charset="0"/>
              </a:rPr>
              <a:t>β</a:t>
            </a:r>
            <a:r>
              <a:rPr lang="nl-NL" altLang="nl-NL">
                <a:cs typeface="Arial" charset="0"/>
              </a:rPr>
              <a:t>)! Do not use the cruise value when you are computing the low speed lift curve of your aircraft (e.g., at take off and landing!). The curves give appropriate result until Mach = 0.6. Beyond that value you can conservatively assume CLmax to remain constant</a:t>
            </a:r>
            <a:endParaRPr lang="el-GR" altLang="nl-NL">
              <a:cs typeface="Arial" charset="0"/>
            </a:endParaRPr>
          </a:p>
          <a:p>
            <a:pPr eaLnBrk="1" hangingPunct="1"/>
            <a:endParaRPr lang="en-GB" altLang="nl-NL"/>
          </a:p>
          <a:p>
            <a:pPr eaLnBrk="1" hangingPunct="1"/>
            <a:r>
              <a:rPr lang="en-GB" altLang="nl-NL"/>
              <a:t>Fig 12.12 corresponds to fig 9.12 Corke</a:t>
            </a:r>
          </a:p>
          <a:p>
            <a:pPr eaLnBrk="1" hangingPunct="1"/>
            <a:r>
              <a:rPr lang="en-GB" altLang="nl-NL"/>
              <a:t>Taper ratio/C2 curve  “  to fig 9.14 Corke</a:t>
            </a:r>
          </a:p>
          <a:p>
            <a:pPr eaLnBrk="1" hangingPunct="1"/>
            <a:endParaRPr lang="en-GB" altLang="nl-NL"/>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txBox="1">
            <a:spLocks noGrp="1" noChangeArrowheads="1"/>
          </p:cNvSpPr>
          <p:nvPr/>
        </p:nvSpPr>
        <p:spPr bwMode="auto">
          <a:xfrm>
            <a:off x="3848100" y="9432925"/>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nchor="b"/>
          <a:lstStyle>
            <a:lvl1pPr algn="l" defTabSz="920750" eaLnBrk="0" fontAlgn="base" hangingPunct="0">
              <a:spcBef>
                <a:spcPct val="30000"/>
              </a:spcBef>
              <a:defRPr sz="1200">
                <a:solidFill>
                  <a:schemeClr val="tx1"/>
                </a:solidFill>
                <a:latin typeface="Times" pitchFamily="18" charset="0"/>
              </a:defRPr>
            </a:lvl1pPr>
            <a:lvl2pPr marL="742950" indent="-285750" algn="l" defTabSz="920750" eaLnBrk="0" fontAlgn="base" hangingPunct="0">
              <a:spcBef>
                <a:spcPct val="30000"/>
              </a:spcBef>
              <a:defRPr sz="1200">
                <a:solidFill>
                  <a:schemeClr val="tx1"/>
                </a:solidFill>
                <a:latin typeface="Times" pitchFamily="18" charset="0"/>
              </a:defRPr>
            </a:lvl2pPr>
            <a:lvl3pPr marL="1143000" indent="-228600" algn="l" defTabSz="920750" eaLnBrk="0" fontAlgn="base" hangingPunct="0">
              <a:spcBef>
                <a:spcPct val="30000"/>
              </a:spcBef>
              <a:defRPr sz="1200">
                <a:solidFill>
                  <a:schemeClr val="tx1"/>
                </a:solidFill>
                <a:latin typeface="Times" pitchFamily="18" charset="0"/>
              </a:defRPr>
            </a:lvl3pPr>
            <a:lvl4pPr marL="1600200" indent="-228600" algn="l" defTabSz="920750" eaLnBrk="0" fontAlgn="base" hangingPunct="0">
              <a:spcBef>
                <a:spcPct val="30000"/>
              </a:spcBef>
              <a:defRPr sz="1200">
                <a:solidFill>
                  <a:schemeClr val="tx1"/>
                </a:solidFill>
                <a:latin typeface="Times" pitchFamily="18" charset="0"/>
              </a:defRPr>
            </a:lvl4pPr>
            <a:lvl5pPr marL="2057400" indent="-228600" algn="l" defTabSz="920750" eaLnBrk="0" fontAlgn="base" hangingPunct="0">
              <a:spcBef>
                <a:spcPct val="30000"/>
              </a:spcBef>
              <a:defRPr sz="1200">
                <a:solidFill>
                  <a:schemeClr val="tx1"/>
                </a:solidFill>
                <a:latin typeface="Times" pitchFamily="18" charset="0"/>
              </a:defRPr>
            </a:lvl5pPr>
            <a:lvl6pPr marL="2514600" indent="-228600" defTabSz="920750" eaLnBrk="0" fontAlgn="base" hangingPunct="0">
              <a:spcBef>
                <a:spcPct val="30000"/>
              </a:spcBef>
              <a:spcAft>
                <a:spcPct val="0"/>
              </a:spcAft>
              <a:defRPr sz="1200">
                <a:solidFill>
                  <a:schemeClr val="tx1"/>
                </a:solidFill>
                <a:latin typeface="Times" pitchFamily="18" charset="0"/>
              </a:defRPr>
            </a:lvl6pPr>
            <a:lvl7pPr marL="2971800" indent="-228600" defTabSz="920750" eaLnBrk="0" fontAlgn="base" hangingPunct="0">
              <a:spcBef>
                <a:spcPct val="30000"/>
              </a:spcBef>
              <a:spcAft>
                <a:spcPct val="0"/>
              </a:spcAft>
              <a:defRPr sz="1200">
                <a:solidFill>
                  <a:schemeClr val="tx1"/>
                </a:solidFill>
                <a:latin typeface="Times" pitchFamily="18" charset="0"/>
              </a:defRPr>
            </a:lvl7pPr>
            <a:lvl8pPr marL="3429000" indent="-228600" defTabSz="920750" eaLnBrk="0" fontAlgn="base" hangingPunct="0">
              <a:spcBef>
                <a:spcPct val="30000"/>
              </a:spcBef>
              <a:spcAft>
                <a:spcPct val="0"/>
              </a:spcAft>
              <a:defRPr sz="1200">
                <a:solidFill>
                  <a:schemeClr val="tx1"/>
                </a:solidFill>
                <a:latin typeface="Times" pitchFamily="18" charset="0"/>
              </a:defRPr>
            </a:lvl8pPr>
            <a:lvl9pPr marL="3886200" indent="-228600" defTabSz="920750" eaLnBrk="0" fontAlgn="base" hangingPunct="0">
              <a:spcBef>
                <a:spcPct val="30000"/>
              </a:spcBef>
              <a:spcAft>
                <a:spcPct val="0"/>
              </a:spcAft>
              <a:defRPr sz="1200">
                <a:solidFill>
                  <a:schemeClr val="tx1"/>
                </a:solidFill>
                <a:latin typeface="Times" pitchFamily="18" charset="0"/>
              </a:defRPr>
            </a:lvl9pPr>
          </a:lstStyle>
          <a:p>
            <a:pPr algn="r" eaLnBrk="1" hangingPunct="1">
              <a:spcBef>
                <a:spcPct val="0"/>
              </a:spcBef>
            </a:pPr>
            <a:fld id="{A2AB64F7-24C4-4DB9-A622-C548F7451C04}" type="slidenum">
              <a:rPr lang="en-US" altLang="nl-NL">
                <a:latin typeface="Arial" charset="0"/>
              </a:rPr>
              <a:pPr algn="r" eaLnBrk="1" hangingPunct="1">
                <a:spcBef>
                  <a:spcPct val="0"/>
                </a:spcBef>
              </a:pPr>
              <a:t>28</a:t>
            </a:fld>
            <a:endParaRPr lang="en-US" altLang="nl-NL">
              <a:latin typeface="Arial" charset="0"/>
            </a:endParaRPr>
          </a:p>
        </p:txBody>
      </p:sp>
      <p:sp>
        <p:nvSpPr>
          <p:cNvPr id="93187" name="Rectangle 2"/>
          <p:cNvSpPr>
            <a:spLocks noGrp="1" noRot="1" noChangeAspect="1" noChangeArrowheads="1" noTextEdit="1"/>
          </p:cNvSpPr>
          <p:nvPr>
            <p:ph type="sldImg"/>
          </p:nvPr>
        </p:nvSpPr>
        <p:spPr>
          <a:xfrm>
            <a:off x="90488" y="746125"/>
            <a:ext cx="6616700" cy="3722688"/>
          </a:xfrm>
          <a:ln/>
        </p:spPr>
      </p:sp>
      <p:sp>
        <p:nvSpPr>
          <p:cNvPr id="93188"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44" tIns="46072" rIns="92144" bIns="46072"/>
          <a:lstStyle/>
          <a:p>
            <a:pPr eaLnBrk="1" hangingPunct="1"/>
            <a:r>
              <a:rPr lang="en-GB" altLang="nl-NL"/>
              <a:t>Note how delta-alphacLmax depends on Mach number only if the value in the abscissae is larger than 4!</a:t>
            </a:r>
          </a:p>
          <a:p>
            <a:pPr eaLnBrk="1" hangingPunct="1"/>
            <a:r>
              <a:rPr lang="en-GB" altLang="nl-NL"/>
              <a:t>Fig12.14 corresponds to fig 9.15 Corke</a:t>
            </a:r>
          </a:p>
          <a:p>
            <a:pPr eaLnBrk="1" hangingPunct="1"/>
            <a:r>
              <a:rPr lang="en-GB" altLang="nl-NL"/>
              <a:t>Fig 12.15      “            to fig 9.16 Corke</a:t>
            </a:r>
          </a:p>
          <a:p>
            <a:pPr eaLnBrk="1" hangingPunct="1"/>
            <a:r>
              <a:rPr lang="en-GB" altLang="nl-NL"/>
              <a:t>Taper ratio curve/ C2  “      to fig 9.14 Corke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txBox="1">
            <a:spLocks noGrp="1" noChangeArrowheads="1"/>
          </p:cNvSpPr>
          <p:nvPr/>
        </p:nvSpPr>
        <p:spPr bwMode="auto">
          <a:xfrm>
            <a:off x="3849688" y="9434513"/>
            <a:ext cx="294481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8958895F-B3A7-4FB9-AB1E-E7664CED058F}" type="slidenum">
              <a:rPr lang="en-US" altLang="en-US">
                <a:latin typeface="Arial" charset="0"/>
              </a:rPr>
              <a:pPr algn="r">
                <a:spcBef>
                  <a:spcPct val="0"/>
                </a:spcBef>
              </a:pPr>
              <a:t>29</a:t>
            </a:fld>
            <a:endParaRPr lang="en-US" altLang="en-US">
              <a:latin typeface="Arial" charset="0"/>
            </a:endParaRPr>
          </a:p>
        </p:txBody>
      </p:sp>
      <p:sp>
        <p:nvSpPr>
          <p:cNvPr id="94211" name="Rectangle 2"/>
          <p:cNvSpPr>
            <a:spLocks noGrp="1" noRot="1" noChangeAspect="1" noChangeArrowheads="1" noTextEdit="1"/>
          </p:cNvSpPr>
          <p:nvPr>
            <p:ph type="sldImg"/>
          </p:nvPr>
        </p:nvSpPr>
        <p:spPr>
          <a:xfrm>
            <a:off x="87313" y="746125"/>
            <a:ext cx="6619875" cy="3724275"/>
          </a:xfrm>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xfrm>
            <a:off x="87313" y="746125"/>
            <a:ext cx="6619875" cy="3724275"/>
          </a:xfrm>
          <a:ln/>
        </p:spPr>
      </p:sp>
      <p:sp>
        <p:nvSpPr>
          <p:cNvPr id="962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a:t>Due to Bernoulli’s equation the total pressure (the sum of the static and dynamic pressure) is constant along a subsonic streamline. If the local air velocity goes up (increase in dynamic pressure)  the static pressure decreases. Similarly if the local air velocity goes down the static pressure increases.</a:t>
            </a:r>
          </a:p>
          <a:p>
            <a:endParaRPr lang="en-GB" altLang="en-US" dirty="0"/>
          </a:p>
          <a:p>
            <a:r>
              <a:rPr lang="en-GB" altLang="en-US" dirty="0"/>
              <a:t>No slip condition: As the aircraft moves forward, the air molecules slide over its skin. The molecules closest to the skin act as if they are stuck to the aircraft skin, moving with the aircraft.</a:t>
            </a:r>
          </a:p>
          <a:p>
            <a:endParaRPr lang="en-GB" altLang="en-US" dirty="0"/>
          </a:p>
          <a:p>
            <a:r>
              <a:rPr lang="en-GB" altLang="en-US" dirty="0"/>
              <a:t>If the air molecules inside the boundary layer slide over each other in an orderly fashion, the boundary layer is said to be “laminar”. If the molecules shear in a disorderly fashion, the boundary layer is “turbulent”.</a:t>
            </a:r>
          </a:p>
          <a:p>
            <a:endParaRPr lang="en-GB" altLang="en-US" dirty="0"/>
          </a:p>
          <a:p>
            <a:r>
              <a:rPr lang="en-GB" altLang="en-US" dirty="0"/>
              <a:t>For low Reynolds numbers (less than half million for smooth surfaces) the BL is usually laminar. For higher Reynolds number (above half million for smooth surfaces) the boundary layer is turbulent. If the surface is rough the BL can be turbulent for even lower Reynolds number than half a million.</a:t>
            </a:r>
            <a:endParaRPr lang="nl-NL" altLang="en-US" dirty="0"/>
          </a:p>
        </p:txBody>
      </p:sp>
      <p:sp>
        <p:nvSpPr>
          <p:cNvPr id="962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6FC68314-14C7-4B86-AD7D-8BDAEE7E82BD}" type="slidenum">
              <a:rPr lang="en-US" altLang="en-US" smtClean="0"/>
              <a:pPr algn="r">
                <a:spcBef>
                  <a:spcPct val="0"/>
                </a:spcBef>
              </a:pPr>
              <a:t>31</a:t>
            </a:fld>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xfrm>
            <a:off x="87313" y="746125"/>
            <a:ext cx="6619875" cy="3724275"/>
          </a:xfrm>
          <a:ln/>
        </p:spPr>
      </p:sp>
      <p:sp>
        <p:nvSpPr>
          <p:cNvPr id="972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
        <p:nvSpPr>
          <p:cNvPr id="972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775841C6-0C61-453A-A08A-DFD896DBC52A}" type="slidenum">
              <a:rPr lang="en-US" altLang="en-US" smtClean="0"/>
              <a:pPr algn="r">
                <a:spcBef>
                  <a:spcPct val="0"/>
                </a:spcBef>
              </a:pPr>
              <a:t>32</a:t>
            </a:fld>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xfrm>
            <a:off x="87313" y="746125"/>
            <a:ext cx="6619875" cy="3724275"/>
          </a:xfrm>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The presence of rivet-heads, uneven plate joints, insects, ice, and even rain can destabilize the flow and start transition.</a:t>
            </a:r>
            <a:endParaRPr lang="nl-NL" altLang="en-US"/>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2F870FE1-37F9-4EA7-85D2-6A3A98D7CCAD}" type="slidenum">
              <a:rPr lang="en-US" altLang="en-US" smtClean="0"/>
              <a:pPr algn="r">
                <a:spcBef>
                  <a:spcPct val="0"/>
                </a:spcBef>
              </a:pPr>
              <a:t>33</a:t>
            </a:fld>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a:xfrm>
            <a:off x="87313" y="746125"/>
            <a:ext cx="6619875" cy="3724275"/>
          </a:xfrm>
          <a:ln/>
        </p:spPr>
      </p:sp>
      <p:sp>
        <p:nvSpPr>
          <p:cNvPr id="993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993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32C80FB9-3E30-4F3F-BB5B-3A2BE79BC155}" type="slidenum">
              <a:rPr lang="en-US" altLang="en-US" smtClean="0"/>
              <a:pPr algn="r">
                <a:spcBef>
                  <a:spcPct val="0"/>
                </a:spcBef>
              </a:pPr>
              <a:t>35</a:t>
            </a:fld>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xfrm>
            <a:off x="87313" y="746125"/>
            <a:ext cx="6619875" cy="3724275"/>
          </a:xfrm>
          <a:ln/>
        </p:spPr>
      </p:sp>
      <p:sp>
        <p:nvSpPr>
          <p:cNvPr id="1003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1003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3CB3B54D-BFBA-4B68-9A07-A08608694265}" type="slidenum">
              <a:rPr lang="en-US" altLang="en-US" smtClean="0"/>
              <a:pPr algn="r">
                <a:spcBef>
                  <a:spcPct val="0"/>
                </a:spcBef>
              </a:pPr>
              <a:t>38</a:t>
            </a:fld>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313" y="746125"/>
            <a:ext cx="6619875" cy="372427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78A53ED0-F48F-4FDC-A254-6C678657B7AC}" type="slidenum">
              <a:rPr lang="en-US" smtClean="0"/>
              <a:pPr>
                <a:defRPr/>
              </a:pPr>
              <a:t>39</a:t>
            </a:fld>
            <a:endParaRPr lang="en-US"/>
          </a:p>
        </p:txBody>
      </p:sp>
    </p:spTree>
    <p:extLst>
      <p:ext uri="{BB962C8B-B14F-4D97-AF65-F5344CB8AC3E}">
        <p14:creationId xmlns:p14="http://schemas.microsoft.com/office/powerpoint/2010/main" val="37357480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txBox="1">
            <a:spLocks noGrp="1" noChangeArrowheads="1"/>
          </p:cNvSpPr>
          <p:nvPr/>
        </p:nvSpPr>
        <p:spPr bwMode="auto">
          <a:xfrm>
            <a:off x="3849688" y="9434513"/>
            <a:ext cx="294481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A1298B5F-1D52-429A-91F4-2B4F10F0A70C}" type="slidenum">
              <a:rPr lang="en-US" altLang="en-US">
                <a:latin typeface="Arial" charset="0"/>
              </a:rPr>
              <a:pPr algn="r">
                <a:spcBef>
                  <a:spcPct val="0"/>
                </a:spcBef>
              </a:pPr>
              <a:t>41</a:t>
            </a:fld>
            <a:endParaRPr lang="en-US" altLang="en-US">
              <a:latin typeface="Arial" charset="0"/>
            </a:endParaRPr>
          </a:p>
        </p:txBody>
      </p:sp>
      <p:sp>
        <p:nvSpPr>
          <p:cNvPr id="101379" name="Rectangle 2"/>
          <p:cNvSpPr>
            <a:spLocks noGrp="1" noRot="1" noChangeAspect="1" noChangeArrowheads="1" noTextEdit="1"/>
          </p:cNvSpPr>
          <p:nvPr>
            <p:ph type="sldImg"/>
          </p:nvPr>
        </p:nvSpPr>
        <p:spPr>
          <a:xfrm>
            <a:off x="87313" y="746125"/>
            <a:ext cx="6619875" cy="3724275"/>
          </a:xfrm>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xfrm>
            <a:off x="87313" y="746125"/>
            <a:ext cx="6619875" cy="3724275"/>
          </a:xfrm>
          <a:ln/>
        </p:spPr>
      </p:sp>
      <p:sp>
        <p:nvSpPr>
          <p:cNvPr id="1024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Clean aircraft configuration means the flaps and landing gears are retracted.</a:t>
            </a:r>
            <a:endParaRPr lang="nl-NL" altLang="en-US"/>
          </a:p>
        </p:txBody>
      </p:sp>
      <p:sp>
        <p:nvSpPr>
          <p:cNvPr id="102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75B3BC27-77BF-4702-A903-19B4E926D08B}" type="slidenum">
              <a:rPr lang="en-US" altLang="en-US" smtClean="0"/>
              <a:pPr algn="r">
                <a:spcBef>
                  <a:spcPct val="0"/>
                </a:spcBef>
              </a:pPr>
              <a:t>42</a:t>
            </a:fld>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xfrm>
            <a:off x="87313" y="746125"/>
            <a:ext cx="6619875" cy="3724275"/>
          </a:xfrm>
          <a:ln/>
        </p:spPr>
      </p:sp>
      <p:sp>
        <p:nvSpPr>
          <p:cNvPr id="1024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Clean aircraft configuration means the flaps and landing gears are retracted.</a:t>
            </a:r>
            <a:endParaRPr lang="nl-NL" altLang="en-US"/>
          </a:p>
        </p:txBody>
      </p:sp>
      <p:sp>
        <p:nvSpPr>
          <p:cNvPr id="102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75B3BC27-77BF-4702-A903-19B4E926D08B}" type="slidenum">
              <a:rPr lang="en-US" altLang="en-US" smtClean="0"/>
              <a:pPr algn="r">
                <a:spcBef>
                  <a:spcPct val="0"/>
                </a:spcBef>
              </a:pPr>
              <a:t>43</a:t>
            </a:fld>
            <a:endParaRPr lang="en-US" altLang="en-US"/>
          </a:p>
        </p:txBody>
      </p:sp>
    </p:spTree>
    <p:extLst>
      <p:ext uri="{BB962C8B-B14F-4D97-AF65-F5344CB8AC3E}">
        <p14:creationId xmlns:p14="http://schemas.microsoft.com/office/powerpoint/2010/main" val="23136897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xfrm>
            <a:off x="87313" y="746125"/>
            <a:ext cx="6619875" cy="3724275"/>
          </a:xfrm>
          <a:ln/>
        </p:spPr>
      </p:sp>
      <p:sp>
        <p:nvSpPr>
          <p:cNvPr id="1034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1034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60EC725D-9900-4A0D-BB27-85BBF7790301}" type="slidenum">
              <a:rPr lang="en-US" altLang="en-US" smtClean="0"/>
              <a:pPr algn="r">
                <a:spcBef>
                  <a:spcPct val="0"/>
                </a:spcBef>
              </a:pPr>
              <a:t>45</a:t>
            </a:fld>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xfrm>
            <a:off x="87313" y="746125"/>
            <a:ext cx="6619875" cy="3724275"/>
          </a:xfrm>
          <a:ln/>
        </p:spPr>
      </p:sp>
      <p:sp>
        <p:nvSpPr>
          <p:cNvPr id="1044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1044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C2C5D348-D8D1-4108-8D72-1A0EDC383E6F}" type="slidenum">
              <a:rPr lang="en-US" altLang="en-US" smtClean="0"/>
              <a:pPr algn="r">
                <a:spcBef>
                  <a:spcPct val="0"/>
                </a:spcBef>
              </a:pPr>
              <a:t>46</a:t>
            </a:fld>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xfrm>
            <a:off x="87313" y="746125"/>
            <a:ext cx="6619875" cy="3724275"/>
          </a:xfrm>
          <a:ln/>
        </p:spPr>
      </p:sp>
      <p:sp>
        <p:nvSpPr>
          <p:cNvPr id="1054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Subscription “exp” mean exposed wing/tail area</a:t>
            </a:r>
            <a:endParaRPr lang="nl-NL" altLang="en-US"/>
          </a:p>
        </p:txBody>
      </p:sp>
      <p:sp>
        <p:nvSpPr>
          <p:cNvPr id="1054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9177C1A6-2AD8-407D-91CD-A3280BF2660D}" type="slidenum">
              <a:rPr lang="en-US" altLang="en-US" smtClean="0"/>
              <a:pPr algn="r">
                <a:spcBef>
                  <a:spcPct val="0"/>
                </a:spcBef>
              </a:pPr>
              <a:t>47</a:t>
            </a:fld>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xfrm>
            <a:off x="87313" y="746125"/>
            <a:ext cx="6619875" cy="3724275"/>
          </a:xfrm>
          <a:ln/>
        </p:spPr>
      </p:sp>
      <p:sp>
        <p:nvSpPr>
          <p:cNvPr id="1064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The miscellaneous drag is </a:t>
            </a:r>
            <a:r>
              <a:rPr lang="en-US" altLang="en-US"/>
              <a:t>drag attributed to miscellaneous sources, such as antennas, fuel caps, air flow through</a:t>
            </a:r>
          </a:p>
          <a:p>
            <a:r>
              <a:rPr lang="en-US" altLang="en-US"/>
              <a:t>small gaps (such as those between control surfaces and the lifting surface to which they are mounted), as well </a:t>
            </a:r>
            <a:r>
              <a:rPr lang="nl-NL" altLang="en-US"/>
              <a:t>as control system components (bellcranks, hinges, etc.), </a:t>
            </a:r>
            <a:r>
              <a:rPr lang="en-US" altLang="en-US"/>
              <a:t>inlets, outlets, antennas, and so on.</a:t>
            </a:r>
            <a:endParaRPr lang="nl-NL" altLang="en-US"/>
          </a:p>
        </p:txBody>
      </p:sp>
      <p:sp>
        <p:nvSpPr>
          <p:cNvPr id="1065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5BEF4E30-2E76-4DA3-B2F2-2E7E40D9B6F7}" type="slidenum">
              <a:rPr lang="en-US" altLang="en-US" smtClean="0"/>
              <a:pPr algn="r">
                <a:spcBef>
                  <a:spcPct val="0"/>
                </a:spcBef>
              </a:pPr>
              <a:t>48</a:t>
            </a:fld>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xfrm>
            <a:off x="87313" y="746125"/>
            <a:ext cx="6619875" cy="3724275"/>
          </a:xfrm>
          <a:ln/>
        </p:spPr>
      </p:sp>
      <p:sp>
        <p:nvSpPr>
          <p:cNvPr id="1075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
        <p:nvSpPr>
          <p:cNvPr id="1075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4AB8EB81-719B-4F1B-A22C-DF4F763A3EB4}" type="slidenum">
              <a:rPr lang="en-US" altLang="en-US" smtClean="0"/>
              <a:pPr algn="r">
                <a:spcBef>
                  <a:spcPct val="0"/>
                </a:spcBef>
              </a:pPr>
              <a:t>49</a:t>
            </a:fld>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xfrm>
            <a:off x="87313" y="746125"/>
            <a:ext cx="6619875" cy="3724275"/>
          </a:xfrm>
          <a:ln/>
        </p:spPr>
      </p:sp>
      <p:sp>
        <p:nvSpPr>
          <p:cNvPr id="1085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
        <p:nvSpPr>
          <p:cNvPr id="1085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F90B153C-FCD9-441F-8B71-6EE461ED57E0}" type="slidenum">
              <a:rPr lang="en-US" altLang="en-US" smtClean="0"/>
              <a:pPr algn="r">
                <a:spcBef>
                  <a:spcPct val="0"/>
                </a:spcBef>
              </a:pPr>
              <a:t>50</a:t>
            </a:fld>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a:xfrm>
            <a:off x="87313" y="746125"/>
            <a:ext cx="6619875" cy="3724275"/>
          </a:xfrm>
          <a:ln/>
        </p:spPr>
      </p:sp>
      <p:sp>
        <p:nvSpPr>
          <p:cNvPr id="1095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(x/c)m is the position of the maximum thickness. (t/c) is the average thickness to chord ratio and Lambda_m is the sweep angle at the position of the maximum thickness.</a:t>
            </a:r>
          </a:p>
          <a:p>
            <a:endParaRPr lang="en-GB" altLang="en-US"/>
          </a:p>
          <a:p>
            <a:r>
              <a:rPr lang="en-GB" altLang="en-US"/>
              <a:t>l is the length and d is diameter. Amax is the maximum frontal area.</a:t>
            </a:r>
            <a:endParaRPr lang="nl-NL" altLang="en-US"/>
          </a:p>
        </p:txBody>
      </p:sp>
      <p:sp>
        <p:nvSpPr>
          <p:cNvPr id="1095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3F565BBC-A389-411A-937D-0F2C72937352}" type="slidenum">
              <a:rPr lang="en-US" altLang="en-US" smtClean="0"/>
              <a:pPr algn="r">
                <a:spcBef>
                  <a:spcPct val="0"/>
                </a:spcBef>
              </a:pPr>
              <a:t>52</a:t>
            </a:fld>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a:xfrm>
            <a:off x="87313" y="746125"/>
            <a:ext cx="6619875" cy="3724275"/>
          </a:xfrm>
          <a:ln/>
        </p:spPr>
      </p:sp>
      <p:sp>
        <p:nvSpPr>
          <p:cNvPr id="1105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The airflow around a body such as a fuselage is accelerated to a speed higher than the freestream speed. The air is literally going faster, so it has higher dynamic pressure. This increases drag for any component immersed in that flow.</a:t>
            </a:r>
            <a:endParaRPr lang="nl-NL" altLang="en-US"/>
          </a:p>
        </p:txBody>
      </p:sp>
      <p:sp>
        <p:nvSpPr>
          <p:cNvPr id="1105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E702BD32-3321-4DB8-AF35-E641066D774F}" type="slidenum">
              <a:rPr lang="en-US" altLang="en-US" smtClean="0"/>
              <a:pPr algn="r">
                <a:spcBef>
                  <a:spcPct val="0"/>
                </a:spcBef>
              </a:pPr>
              <a:t>53</a:t>
            </a:fld>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a:xfrm>
            <a:off x="87313" y="746125"/>
            <a:ext cx="6619875" cy="3724275"/>
          </a:xfrm>
          <a:ln/>
        </p:spPr>
      </p:sp>
      <p:sp>
        <p:nvSpPr>
          <p:cNvPr id="1116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a:t>MDD is called Mach of Drag Rise and it is defined as the value of Mach in which the drag increment is equal to 20 counts</a:t>
            </a:r>
          </a:p>
        </p:txBody>
      </p:sp>
      <p:sp>
        <p:nvSpPr>
          <p:cNvPr id="1116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fld id="{9B864E16-E78F-46A9-876B-C35847F8D05F}" type="slidenum">
              <a:rPr lang="en-US" altLang="en-US" sz="1200" smtClean="0">
                <a:latin typeface="Times" pitchFamily="18" charset="0"/>
              </a:rPr>
              <a:pPr/>
              <a:t>54</a:t>
            </a:fld>
            <a:endParaRPr lang="en-US" altLang="en-US" sz="1200">
              <a:latin typeface="Times"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78A53ED0-F48F-4FDC-A254-6C678657B7AC}" type="slidenum">
              <a:rPr lang="en-US" smtClean="0"/>
              <a:pPr>
                <a:defRPr/>
              </a:pPr>
              <a:t>56</a:t>
            </a:fld>
            <a:endParaRPr lang="en-US"/>
          </a:p>
        </p:txBody>
      </p:sp>
    </p:spTree>
    <p:extLst>
      <p:ext uri="{BB962C8B-B14F-4D97-AF65-F5344CB8AC3E}">
        <p14:creationId xmlns:p14="http://schemas.microsoft.com/office/powerpoint/2010/main" val="38524261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xfrm>
            <a:off x="87313" y="746125"/>
            <a:ext cx="6619875" cy="3724275"/>
          </a:xfrm>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dirty="0"/>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518D1568-49C0-40DA-8EB9-F3BC75337C9C}" type="slidenum">
              <a:rPr lang="en-US" altLang="en-US" smtClean="0"/>
              <a:pPr algn="r">
                <a:spcBef>
                  <a:spcPct val="0"/>
                </a:spcBef>
              </a:pPr>
              <a:t>59</a:t>
            </a:fld>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txBox="1">
            <a:spLocks noGrp="1" noChangeArrowheads="1"/>
          </p:cNvSpPr>
          <p:nvPr/>
        </p:nvSpPr>
        <p:spPr bwMode="auto">
          <a:xfrm>
            <a:off x="3849688" y="9434513"/>
            <a:ext cx="294481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FA42B8C2-F747-4E9C-8071-455EC172594D}" type="slidenum">
              <a:rPr lang="en-US" altLang="en-US">
                <a:latin typeface="Arial" charset="0"/>
              </a:rPr>
              <a:pPr algn="r">
                <a:spcBef>
                  <a:spcPct val="0"/>
                </a:spcBef>
              </a:pPr>
              <a:t>61</a:t>
            </a:fld>
            <a:endParaRPr lang="en-US" altLang="en-US">
              <a:latin typeface="Arial" charset="0"/>
            </a:endParaRPr>
          </a:p>
        </p:txBody>
      </p:sp>
      <p:sp>
        <p:nvSpPr>
          <p:cNvPr id="113667" name="Rectangle 2"/>
          <p:cNvSpPr>
            <a:spLocks noGrp="1" noRot="1" noChangeAspect="1" noChangeArrowheads="1" noTextEdit="1"/>
          </p:cNvSpPr>
          <p:nvPr>
            <p:ph type="sldImg"/>
          </p:nvPr>
        </p:nvSpPr>
        <p:spPr>
          <a:xfrm>
            <a:off x="87313" y="746125"/>
            <a:ext cx="6619875" cy="3724275"/>
          </a:xfrm>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a:xfrm>
            <a:off x="87313" y="746125"/>
            <a:ext cx="6619875" cy="3724275"/>
          </a:xfrm>
          <a:ln/>
        </p:spPr>
      </p:sp>
      <p:sp>
        <p:nvSpPr>
          <p:cNvPr id="1146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1146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4C60AA82-32E8-4DCA-BFDB-B2329879BF95}" type="slidenum">
              <a:rPr lang="en-US" altLang="en-US" smtClean="0"/>
              <a:pPr algn="r">
                <a:spcBef>
                  <a:spcPct val="0"/>
                </a:spcBef>
              </a:pPr>
              <a:t>65</a:t>
            </a:fld>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xfrm>
            <a:off x="87313" y="746125"/>
            <a:ext cx="6619875" cy="3724275"/>
          </a:xfrm>
          <a:ln/>
        </p:spPr>
      </p:sp>
      <p:sp>
        <p:nvSpPr>
          <p:cNvPr id="1157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1157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06B682AF-B574-4E7F-8C99-2D770721F864}" type="slidenum">
              <a:rPr lang="en-US" altLang="en-US" smtClean="0"/>
              <a:pPr algn="r">
                <a:spcBef>
                  <a:spcPct val="0"/>
                </a:spcBef>
              </a:pPr>
              <a:t>66</a:t>
            </a:fld>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a:xfrm>
            <a:off x="87313" y="746125"/>
            <a:ext cx="6619875" cy="3724275"/>
          </a:xfrm>
          <a:ln/>
        </p:spPr>
      </p:sp>
      <p:sp>
        <p:nvSpPr>
          <p:cNvPr id="1167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1167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BD0A3B5C-D2FF-48D1-A477-53F25E0697B8}" type="slidenum">
              <a:rPr lang="en-US" altLang="en-US" smtClean="0"/>
              <a:pPr algn="r">
                <a:spcBef>
                  <a:spcPct val="0"/>
                </a:spcBef>
              </a:pPr>
              <a:t>68</a:t>
            </a:fld>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a:xfrm>
            <a:off x="87313" y="746125"/>
            <a:ext cx="6619875" cy="3724275"/>
          </a:xfrm>
          <a:ln/>
        </p:spPr>
      </p:sp>
      <p:sp>
        <p:nvSpPr>
          <p:cNvPr id="1167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1167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BD0A3B5C-D2FF-48D1-A477-53F25E0697B8}" type="slidenum">
              <a:rPr lang="en-US" altLang="en-US" smtClean="0"/>
              <a:pPr algn="r">
                <a:spcBef>
                  <a:spcPct val="0"/>
                </a:spcBef>
              </a:pPr>
              <a:t>69</a:t>
            </a:fld>
            <a:endParaRPr lang="en-US" altLang="en-US"/>
          </a:p>
        </p:txBody>
      </p:sp>
    </p:spTree>
    <p:extLst>
      <p:ext uri="{BB962C8B-B14F-4D97-AF65-F5344CB8AC3E}">
        <p14:creationId xmlns:p14="http://schemas.microsoft.com/office/powerpoint/2010/main" val="29540993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txBox="1">
            <a:spLocks noGrp="1" noChangeArrowheads="1"/>
          </p:cNvSpPr>
          <p:nvPr/>
        </p:nvSpPr>
        <p:spPr bwMode="auto">
          <a:xfrm>
            <a:off x="3849688" y="9434513"/>
            <a:ext cx="294481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eaLnBrk="0" fontAlgn="base" hangingPunct="0">
              <a:spcBef>
                <a:spcPct val="30000"/>
              </a:spcBef>
              <a:defRPr sz="1200">
                <a:solidFill>
                  <a:schemeClr val="tx1"/>
                </a:solidFill>
                <a:latin typeface="Times" pitchFamily="18" charset="0"/>
              </a:defRPr>
            </a:lvl1pPr>
            <a:lvl2pPr marL="742950" indent="-285750" algn="l" eaLnBrk="0" fontAlgn="base" hangingPunct="0">
              <a:spcBef>
                <a:spcPct val="30000"/>
              </a:spcBef>
              <a:defRPr sz="1200">
                <a:solidFill>
                  <a:schemeClr val="tx1"/>
                </a:solidFill>
                <a:latin typeface="Times" pitchFamily="18" charset="0"/>
              </a:defRPr>
            </a:lvl2pPr>
            <a:lvl3pPr marL="1143000" indent="-228600" algn="l" eaLnBrk="0" fontAlgn="base" hangingPunct="0">
              <a:spcBef>
                <a:spcPct val="30000"/>
              </a:spcBef>
              <a:defRPr sz="1200">
                <a:solidFill>
                  <a:schemeClr val="tx1"/>
                </a:solidFill>
                <a:latin typeface="Times" pitchFamily="18" charset="0"/>
              </a:defRPr>
            </a:lvl3pPr>
            <a:lvl4pPr marL="1600200" indent="-228600" algn="l" eaLnBrk="0" fontAlgn="base" hangingPunct="0">
              <a:spcBef>
                <a:spcPct val="30000"/>
              </a:spcBef>
              <a:defRPr sz="1200">
                <a:solidFill>
                  <a:schemeClr val="tx1"/>
                </a:solidFill>
                <a:latin typeface="Times" pitchFamily="18" charset="0"/>
              </a:defRPr>
            </a:lvl4pPr>
            <a:lvl5pPr marL="2057400" indent="-228600" algn="l" eaLnBrk="0" fontAlgn="base" hangingPunct="0">
              <a:spcBef>
                <a:spcPct val="30000"/>
              </a:spcBef>
              <a:defRPr sz="1200">
                <a:solidFill>
                  <a:schemeClr val="tx1"/>
                </a:solidFill>
                <a:latin typeface="Times" pitchFamily="18" charset="0"/>
              </a:defRPr>
            </a:lvl5pPr>
            <a:lvl6pPr marL="2514600" indent="-228600" eaLnBrk="0" fontAlgn="base" hangingPunct="0">
              <a:spcBef>
                <a:spcPct val="30000"/>
              </a:spcBef>
              <a:spcAft>
                <a:spcPct val="0"/>
              </a:spcAft>
              <a:defRPr sz="1200">
                <a:solidFill>
                  <a:schemeClr val="tx1"/>
                </a:solidFill>
                <a:latin typeface="Times" pitchFamily="18" charset="0"/>
              </a:defRPr>
            </a:lvl6pPr>
            <a:lvl7pPr marL="2971800" indent="-228600" eaLnBrk="0" fontAlgn="base" hangingPunct="0">
              <a:spcBef>
                <a:spcPct val="30000"/>
              </a:spcBef>
              <a:spcAft>
                <a:spcPct val="0"/>
              </a:spcAft>
              <a:defRPr sz="1200">
                <a:solidFill>
                  <a:schemeClr val="tx1"/>
                </a:solidFill>
                <a:latin typeface="Times" pitchFamily="18" charset="0"/>
              </a:defRPr>
            </a:lvl7pPr>
            <a:lvl8pPr marL="3429000" indent="-228600" eaLnBrk="0" fontAlgn="base" hangingPunct="0">
              <a:spcBef>
                <a:spcPct val="30000"/>
              </a:spcBef>
              <a:spcAft>
                <a:spcPct val="0"/>
              </a:spcAft>
              <a:defRPr sz="1200">
                <a:solidFill>
                  <a:schemeClr val="tx1"/>
                </a:solidFill>
                <a:latin typeface="Times" pitchFamily="18" charset="0"/>
              </a:defRPr>
            </a:lvl8pPr>
            <a:lvl9pPr marL="3886200" indent="-228600" eaLnBrk="0" fontAlgn="base" hangingPunct="0">
              <a:spcBef>
                <a:spcPct val="30000"/>
              </a:spcBef>
              <a:spcAft>
                <a:spcPct val="0"/>
              </a:spcAft>
              <a:defRPr sz="1200">
                <a:solidFill>
                  <a:schemeClr val="tx1"/>
                </a:solidFill>
                <a:latin typeface="Times" pitchFamily="18" charset="0"/>
              </a:defRPr>
            </a:lvl9pPr>
          </a:lstStyle>
          <a:p>
            <a:pPr algn="r">
              <a:spcBef>
                <a:spcPct val="0"/>
              </a:spcBef>
            </a:pPr>
            <a:fld id="{8958895F-B3A7-4FB9-AB1E-E7664CED058F}" type="slidenum">
              <a:rPr lang="en-US" altLang="en-US">
                <a:latin typeface="Arial" charset="0"/>
              </a:rPr>
              <a:pPr algn="r">
                <a:spcBef>
                  <a:spcPct val="0"/>
                </a:spcBef>
              </a:pPr>
              <a:t>70</a:t>
            </a:fld>
            <a:endParaRPr lang="en-US" altLang="en-US">
              <a:latin typeface="Arial" charset="0"/>
            </a:endParaRPr>
          </a:p>
        </p:txBody>
      </p:sp>
      <p:sp>
        <p:nvSpPr>
          <p:cNvPr id="94211" name="Rectangle 2"/>
          <p:cNvSpPr>
            <a:spLocks noGrp="1" noRot="1" noChangeAspect="1" noChangeArrowheads="1" noTextEdit="1"/>
          </p:cNvSpPr>
          <p:nvPr>
            <p:ph type="sldImg"/>
          </p:nvPr>
        </p:nvSpPr>
        <p:spPr>
          <a:xfrm>
            <a:off x="87313" y="746125"/>
            <a:ext cx="6619875" cy="3724275"/>
          </a:xfrm>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charset="0"/>
            </a:endParaRPr>
          </a:p>
        </p:txBody>
      </p:sp>
    </p:spTree>
    <p:extLst>
      <p:ext uri="{BB962C8B-B14F-4D97-AF65-F5344CB8AC3E}">
        <p14:creationId xmlns:p14="http://schemas.microsoft.com/office/powerpoint/2010/main" val="34160265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txBox="1">
            <a:spLocks noGrp="1" noChangeArrowheads="1"/>
          </p:cNvSpPr>
          <p:nvPr/>
        </p:nvSpPr>
        <p:spPr bwMode="auto">
          <a:xfrm>
            <a:off x="3848100" y="9434513"/>
            <a:ext cx="29448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nchor="b"/>
          <a:lstStyle>
            <a:lvl1pPr defTabSz="915988" eaLnBrk="0" hangingPunct="0">
              <a:defRPr sz="1600">
                <a:solidFill>
                  <a:schemeClr val="tx1"/>
                </a:solidFill>
                <a:latin typeface="Tahoma" pitchFamily="34" charset="0"/>
              </a:defRPr>
            </a:lvl1pPr>
            <a:lvl2pPr marL="742950" indent="-285750" defTabSz="915988" eaLnBrk="0" hangingPunct="0">
              <a:defRPr sz="1600">
                <a:solidFill>
                  <a:schemeClr val="tx1"/>
                </a:solidFill>
                <a:latin typeface="Tahoma" pitchFamily="34" charset="0"/>
              </a:defRPr>
            </a:lvl2pPr>
            <a:lvl3pPr marL="1143000" indent="-228600" defTabSz="915988" eaLnBrk="0" hangingPunct="0">
              <a:defRPr sz="1600">
                <a:solidFill>
                  <a:schemeClr val="tx1"/>
                </a:solidFill>
                <a:latin typeface="Tahoma" pitchFamily="34" charset="0"/>
              </a:defRPr>
            </a:lvl3pPr>
            <a:lvl4pPr marL="1600200" indent="-228600" defTabSz="915988" eaLnBrk="0" hangingPunct="0">
              <a:defRPr sz="1600">
                <a:solidFill>
                  <a:schemeClr val="tx1"/>
                </a:solidFill>
                <a:latin typeface="Tahoma" pitchFamily="34" charset="0"/>
              </a:defRPr>
            </a:lvl4pPr>
            <a:lvl5pPr marL="2057400" indent="-228600" defTabSz="915988" eaLnBrk="0" hangingPunct="0">
              <a:defRPr sz="1600">
                <a:solidFill>
                  <a:schemeClr val="tx1"/>
                </a:solidFill>
                <a:latin typeface="Tahoma" pitchFamily="34" charset="0"/>
              </a:defRPr>
            </a:lvl5pPr>
            <a:lvl6pPr marL="2514600" indent="-228600" algn="ctr" defTabSz="915988" eaLnBrk="0" fontAlgn="ctr" hangingPunct="0">
              <a:spcBef>
                <a:spcPct val="0"/>
              </a:spcBef>
              <a:spcAft>
                <a:spcPct val="0"/>
              </a:spcAft>
              <a:defRPr sz="1600">
                <a:solidFill>
                  <a:schemeClr val="tx1"/>
                </a:solidFill>
                <a:latin typeface="Tahoma" pitchFamily="34" charset="0"/>
              </a:defRPr>
            </a:lvl6pPr>
            <a:lvl7pPr marL="2971800" indent="-228600" algn="ctr" defTabSz="915988" eaLnBrk="0" fontAlgn="ctr" hangingPunct="0">
              <a:spcBef>
                <a:spcPct val="0"/>
              </a:spcBef>
              <a:spcAft>
                <a:spcPct val="0"/>
              </a:spcAft>
              <a:defRPr sz="1600">
                <a:solidFill>
                  <a:schemeClr val="tx1"/>
                </a:solidFill>
                <a:latin typeface="Tahoma" pitchFamily="34" charset="0"/>
              </a:defRPr>
            </a:lvl7pPr>
            <a:lvl8pPr marL="3429000" indent="-228600" algn="ctr" defTabSz="915988" eaLnBrk="0" fontAlgn="ctr" hangingPunct="0">
              <a:spcBef>
                <a:spcPct val="0"/>
              </a:spcBef>
              <a:spcAft>
                <a:spcPct val="0"/>
              </a:spcAft>
              <a:defRPr sz="1600">
                <a:solidFill>
                  <a:schemeClr val="tx1"/>
                </a:solidFill>
                <a:latin typeface="Tahoma" pitchFamily="34" charset="0"/>
              </a:defRPr>
            </a:lvl8pPr>
            <a:lvl9pPr marL="3886200" indent="-228600" algn="ctr" defTabSz="915988" eaLnBrk="0" fontAlgn="ctr" hangingPunct="0">
              <a:spcBef>
                <a:spcPct val="0"/>
              </a:spcBef>
              <a:spcAft>
                <a:spcPct val="0"/>
              </a:spcAft>
              <a:defRPr sz="1600">
                <a:solidFill>
                  <a:schemeClr val="tx1"/>
                </a:solidFill>
                <a:latin typeface="Tahoma" pitchFamily="34" charset="0"/>
              </a:defRPr>
            </a:lvl9pPr>
          </a:lstStyle>
          <a:p>
            <a:pPr algn="r" eaLnBrk="1" fontAlgn="base" hangingPunct="1"/>
            <a:fld id="{BF3E2104-F595-4DF1-9C12-03FC8A0575A0}" type="slidenum">
              <a:rPr lang="en-US" sz="1200">
                <a:latin typeface="Arial" charset="0"/>
              </a:rPr>
              <a:pPr algn="r" eaLnBrk="1" fontAlgn="base" hangingPunct="1"/>
              <a:t>74</a:t>
            </a:fld>
            <a:endParaRPr lang="en-US" sz="1200">
              <a:latin typeface="Arial" charset="0"/>
            </a:endParaRPr>
          </a:p>
        </p:txBody>
      </p:sp>
      <p:sp>
        <p:nvSpPr>
          <p:cNvPr id="92163" name="Rectangle 2"/>
          <p:cNvSpPr>
            <a:spLocks noGrp="1" noRot="1" noChangeAspect="1" noChangeArrowheads="1" noTextEdit="1"/>
          </p:cNvSpPr>
          <p:nvPr>
            <p:ph type="sldImg"/>
          </p:nvPr>
        </p:nvSpPr>
        <p:spPr>
          <a:xfrm>
            <a:off x="88900" y="746125"/>
            <a:ext cx="6619875" cy="3724275"/>
          </a:xfrm>
          <a:ln/>
        </p:spPr>
      </p:sp>
      <p:sp>
        <p:nvSpPr>
          <p:cNvPr id="92164" name="Rectangle 3"/>
          <p:cNvSpPr>
            <a:spLocks noGrp="1" noChangeArrowheads="1"/>
          </p:cNvSpPr>
          <p:nvPr>
            <p:ph type="body" idx="1"/>
          </p:nvPr>
        </p:nvSpPr>
        <p:spPr>
          <a:xfrm>
            <a:off x="679450" y="4718050"/>
            <a:ext cx="543560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77" tIns="45789" rIns="91577" bIns="45789"/>
          <a:lstStyle/>
          <a:p>
            <a:pPr eaLnBrk="1" hangingPunct="1"/>
            <a:endParaRPr lang="en-GB" dirty="0"/>
          </a:p>
        </p:txBody>
      </p:sp>
    </p:spTree>
    <p:extLst>
      <p:ext uri="{BB962C8B-B14F-4D97-AF65-F5344CB8AC3E}">
        <p14:creationId xmlns:p14="http://schemas.microsoft.com/office/powerpoint/2010/main" val="68897187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jpeg"/><Relationship Id="rId7"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8.png"/><Relationship Id="rId4" Type="http://schemas.openxmlformats.org/officeDocument/2006/relationships/hyperlink" Target="http://en.wikipedia.org/wiki/File:Apollo_CSM_lunar_orbit.jpg" TargetMode="External"/><Relationship Id="rId9" Type="http://schemas.openxmlformats.org/officeDocument/2006/relationships/image" Target="../media/image7.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spTree>
      <p:nvGrpSpPr>
        <p:cNvPr id="1" name=""/>
        <p:cNvGrpSpPr/>
        <p:nvPr/>
      </p:nvGrpSpPr>
      <p:grpSpPr>
        <a:xfrm>
          <a:off x="0" y="0"/>
          <a:ext cx="0" cy="0"/>
          <a:chOff x="0" y="0"/>
          <a:chExt cx="0" cy="0"/>
        </a:xfrm>
      </p:grpSpPr>
      <p:sp>
        <p:nvSpPr>
          <p:cNvPr id="4" name="Rectangle 13"/>
          <p:cNvSpPr>
            <a:spLocks noChangeArrowheads="1"/>
          </p:cNvSpPr>
          <p:nvPr userDrawn="1"/>
        </p:nvSpPr>
        <p:spPr bwMode="auto">
          <a:xfrm>
            <a:off x="0" y="6134100"/>
            <a:ext cx="12192000" cy="7239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defRPr/>
            </a:pPr>
            <a:endParaRPr lang="nl-NL" altLang="nl-NL" sz="2200"/>
          </a:p>
        </p:txBody>
      </p:sp>
      <p:sp>
        <p:nvSpPr>
          <p:cNvPr id="5" name="Rectangle 23"/>
          <p:cNvSpPr>
            <a:spLocks noChangeArrowheads="1"/>
          </p:cNvSpPr>
          <p:nvPr userDrawn="1"/>
        </p:nvSpPr>
        <p:spPr bwMode="auto">
          <a:xfrm>
            <a:off x="-1" y="2057400"/>
            <a:ext cx="11146367" cy="1981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defRPr/>
            </a:pPr>
            <a:endParaRPr lang="nl-NL" altLang="nl-NL" sz="2200"/>
          </a:p>
        </p:txBody>
      </p:sp>
      <p:sp>
        <p:nvSpPr>
          <p:cNvPr id="6" name="Rectangle 20"/>
          <p:cNvSpPr>
            <a:spLocks noChangeArrowheads="1"/>
          </p:cNvSpPr>
          <p:nvPr userDrawn="1"/>
        </p:nvSpPr>
        <p:spPr bwMode="auto">
          <a:xfrm>
            <a:off x="0" y="0"/>
            <a:ext cx="626533" cy="20574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defRPr/>
            </a:pPr>
            <a:endParaRPr lang="nl-NL" altLang="nl-NL" sz="2200"/>
          </a:p>
        </p:txBody>
      </p:sp>
      <p:sp>
        <p:nvSpPr>
          <p:cNvPr id="7" name="Rectangle 21"/>
          <p:cNvSpPr>
            <a:spLocks noChangeArrowheads="1"/>
          </p:cNvSpPr>
          <p:nvPr userDrawn="1"/>
        </p:nvSpPr>
        <p:spPr bwMode="auto">
          <a:xfrm>
            <a:off x="0" y="6584950"/>
            <a:ext cx="12192000" cy="2730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defRPr/>
            </a:pPr>
            <a:endParaRPr lang="nl-NL" altLang="nl-NL" sz="2200"/>
          </a:p>
        </p:txBody>
      </p:sp>
      <p:sp>
        <p:nvSpPr>
          <p:cNvPr id="8" name="Line 22"/>
          <p:cNvSpPr>
            <a:spLocks noChangeShapeType="1"/>
          </p:cNvSpPr>
          <p:nvPr userDrawn="1"/>
        </p:nvSpPr>
        <p:spPr bwMode="auto">
          <a:xfrm>
            <a:off x="0" y="6781800"/>
            <a:ext cx="12192000"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GB" sz="1600"/>
          </a:p>
        </p:txBody>
      </p:sp>
      <p:sp>
        <p:nvSpPr>
          <p:cNvPr id="9" name="Line 24"/>
          <p:cNvSpPr>
            <a:spLocks noChangeShapeType="1"/>
          </p:cNvSpPr>
          <p:nvPr userDrawn="1"/>
        </p:nvSpPr>
        <p:spPr bwMode="auto">
          <a:xfrm>
            <a:off x="0" y="6134100"/>
            <a:ext cx="12192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sz="1600"/>
          </a:p>
        </p:txBody>
      </p:sp>
      <p:pic>
        <p:nvPicPr>
          <p:cNvPr id="10" name="Picture 29" descr="TU_Delft_2.png                                                 00095E43Smidswater Server              C1CD65DB:"/>
          <p:cNvPicPr>
            <a:picLocks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62002" y="6184900"/>
            <a:ext cx="1013518"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30"/>
          <p:cNvSpPr txBox="1">
            <a:spLocks noChangeArrowheads="1"/>
          </p:cNvSpPr>
          <p:nvPr userDrawn="1"/>
        </p:nvSpPr>
        <p:spPr bwMode="auto">
          <a:xfrm>
            <a:off x="1998133" y="6572251"/>
            <a:ext cx="39624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spcBef>
                <a:spcPct val="50000"/>
              </a:spcBef>
              <a:defRPr/>
            </a:pPr>
            <a:r>
              <a:rPr lang="nl-NL" sz="800">
                <a:solidFill>
                  <a:schemeClr val="bg1"/>
                </a:solidFill>
              </a:rPr>
              <a:t>Challenge the future</a:t>
            </a:r>
            <a:endParaRPr lang="nl-NL" sz="2200"/>
          </a:p>
        </p:txBody>
      </p:sp>
      <p:sp>
        <p:nvSpPr>
          <p:cNvPr id="12" name="Text Box 31"/>
          <p:cNvSpPr txBox="1">
            <a:spLocks noChangeArrowheads="1"/>
          </p:cNvSpPr>
          <p:nvPr userDrawn="1"/>
        </p:nvSpPr>
        <p:spPr bwMode="auto">
          <a:xfrm>
            <a:off x="1998133" y="6218094"/>
            <a:ext cx="1505579" cy="383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l" eaLnBrk="1" fontAlgn="base" hangingPunct="1">
              <a:lnSpc>
                <a:spcPct val="90000"/>
              </a:lnSpc>
              <a:defRPr/>
            </a:pPr>
            <a:r>
              <a:rPr lang="nl-NL" sz="700" dirty="0"/>
              <a:t>Delft</a:t>
            </a:r>
          </a:p>
          <a:p>
            <a:pPr algn="l" eaLnBrk="1" fontAlgn="base" hangingPunct="1">
              <a:lnSpc>
                <a:spcPct val="90000"/>
              </a:lnSpc>
              <a:defRPr/>
            </a:pPr>
            <a:r>
              <a:rPr lang="nl-NL" sz="700" dirty="0"/>
              <a:t>University of</a:t>
            </a:r>
          </a:p>
          <a:p>
            <a:pPr algn="l" eaLnBrk="1" fontAlgn="base" hangingPunct="1">
              <a:lnSpc>
                <a:spcPct val="90000"/>
              </a:lnSpc>
              <a:defRPr/>
            </a:pPr>
            <a:r>
              <a:rPr lang="nl-NL" sz="700" dirty="0"/>
              <a:t>Technology</a:t>
            </a:r>
            <a:endParaRPr lang="nl-NL" sz="2800" dirty="0"/>
          </a:p>
        </p:txBody>
      </p:sp>
      <p:pic>
        <p:nvPicPr>
          <p:cNvPr id="13" name="Picture 32" descr="005m"/>
          <p:cNvPicPr>
            <a:picLocks noChangeAspect="1" noChangeArrowheads="1"/>
          </p:cNvPicPr>
          <p:nvPr userDrawn="1"/>
        </p:nvPicPr>
        <p:blipFill>
          <a:blip r:embed="rId3">
            <a:extLst>
              <a:ext uri="{28A0092B-C50C-407E-A947-70E740481C1C}">
                <a14:useLocalDpi xmlns:a14="http://schemas.microsoft.com/office/drawing/2010/main" val="0"/>
              </a:ext>
            </a:extLst>
          </a:blip>
          <a:srcRect l="48528"/>
          <a:stretch>
            <a:fillRect/>
          </a:stretch>
        </p:blipFill>
        <p:spPr bwMode="auto">
          <a:xfrm>
            <a:off x="1" y="4411663"/>
            <a:ext cx="12573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5" descr="305px-Apollo_CSM_lunar_orbit">
            <a:hlinkClick r:id="rId4" tooltip="Apollo CSM lunar orbit.jpg"/>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166284" y="4445000"/>
            <a:ext cx="192193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7" descr="Mars Express artist's impression"/>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52784" y="4659313"/>
            <a:ext cx="140546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3"/>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3071285" y="4516438"/>
            <a:ext cx="213571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7" name="Picture 15" descr="http://farm3.static.flickr.com/2554/4188993316_2b9ebdae17.jpg"/>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5192184" y="4598988"/>
            <a:ext cx="227541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25" descr="http://go2inbox.files.wordpress.com/2009/11/airbus.jpg"/>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8858251" y="4714875"/>
            <a:ext cx="228811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6"/>
          <p:cNvPicPr>
            <a:picLocks noChangeAspect="1" noChangeArrowheads="1"/>
          </p:cNvPicPr>
          <p:nvPr userDrawn="1"/>
        </p:nvPicPr>
        <p:blipFill>
          <a:blip r:embed="rId10">
            <a:extLst>
              <a:ext uri="{28A0092B-C50C-407E-A947-70E740481C1C}">
                <a14:useLocalDpi xmlns:a14="http://schemas.microsoft.com/office/drawing/2010/main" val="0"/>
              </a:ext>
            </a:extLst>
          </a:blip>
          <a:srcRect r="26147"/>
          <a:stretch>
            <a:fillRect/>
          </a:stretch>
        </p:blipFill>
        <p:spPr bwMode="auto">
          <a:xfrm>
            <a:off x="11135784" y="4760913"/>
            <a:ext cx="105621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Freeform 19"/>
          <p:cNvSpPr/>
          <p:nvPr userDrawn="1"/>
        </p:nvSpPr>
        <p:spPr bwMode="auto">
          <a:xfrm>
            <a:off x="0" y="4286250"/>
            <a:ext cx="12192000" cy="571500"/>
          </a:xfrm>
          <a:custGeom>
            <a:avLst/>
            <a:gdLst>
              <a:gd name="connsiteX0" fmla="*/ 0 w 9194800"/>
              <a:gd name="connsiteY0" fmla="*/ 0 h 546100"/>
              <a:gd name="connsiteX1" fmla="*/ 9194800 w 9194800"/>
              <a:gd name="connsiteY1" fmla="*/ 0 h 546100"/>
              <a:gd name="connsiteX2" fmla="*/ 9182100 w 9194800"/>
              <a:gd name="connsiteY2" fmla="*/ 546100 h 546100"/>
              <a:gd name="connsiteX3" fmla="*/ 12700 w 9194800"/>
              <a:gd name="connsiteY3" fmla="*/ 127000 h 546100"/>
              <a:gd name="connsiteX4" fmla="*/ 0 w 9194800"/>
              <a:gd name="connsiteY4" fmla="*/ 0 h 546100"/>
              <a:gd name="connsiteX0" fmla="*/ 12700 w 9182100"/>
              <a:gd name="connsiteY0" fmla="*/ 0 h 561968"/>
              <a:gd name="connsiteX1" fmla="*/ 9182100 w 9182100"/>
              <a:gd name="connsiteY1" fmla="*/ 15868 h 561968"/>
              <a:gd name="connsiteX2" fmla="*/ 9169400 w 9182100"/>
              <a:gd name="connsiteY2" fmla="*/ 561968 h 561968"/>
              <a:gd name="connsiteX3" fmla="*/ 0 w 9182100"/>
              <a:gd name="connsiteY3" fmla="*/ 142868 h 561968"/>
              <a:gd name="connsiteX4" fmla="*/ 12700 w 9182100"/>
              <a:gd name="connsiteY4" fmla="*/ 0 h 561968"/>
              <a:gd name="connsiteX0" fmla="*/ 0 w 9169400"/>
              <a:gd name="connsiteY0" fmla="*/ 0 h 561968"/>
              <a:gd name="connsiteX1" fmla="*/ 9169400 w 9169400"/>
              <a:gd name="connsiteY1" fmla="*/ 15868 h 561968"/>
              <a:gd name="connsiteX2" fmla="*/ 9156700 w 9169400"/>
              <a:gd name="connsiteY2" fmla="*/ 561968 h 561968"/>
              <a:gd name="connsiteX3" fmla="*/ 0 w 9169400"/>
              <a:gd name="connsiteY3" fmla="*/ 142876 h 561968"/>
              <a:gd name="connsiteX4" fmla="*/ 0 w 9169400"/>
              <a:gd name="connsiteY4" fmla="*/ 0 h 561968"/>
              <a:gd name="connsiteX0" fmla="*/ 0 w 9156700"/>
              <a:gd name="connsiteY0" fmla="*/ 0 h 561968"/>
              <a:gd name="connsiteX1" fmla="*/ 9144000 w 9156700"/>
              <a:gd name="connsiteY1" fmla="*/ 0 h 561968"/>
              <a:gd name="connsiteX2" fmla="*/ 9156700 w 9156700"/>
              <a:gd name="connsiteY2" fmla="*/ 561968 h 561968"/>
              <a:gd name="connsiteX3" fmla="*/ 0 w 9156700"/>
              <a:gd name="connsiteY3" fmla="*/ 142876 h 561968"/>
              <a:gd name="connsiteX4" fmla="*/ 0 w 9156700"/>
              <a:gd name="connsiteY4" fmla="*/ 0 h 561968"/>
              <a:gd name="connsiteX0" fmla="*/ 0 w 9144000"/>
              <a:gd name="connsiteY0" fmla="*/ 0 h 571504"/>
              <a:gd name="connsiteX1" fmla="*/ 9144000 w 9144000"/>
              <a:gd name="connsiteY1" fmla="*/ 0 h 571504"/>
              <a:gd name="connsiteX2" fmla="*/ 9144000 w 9144000"/>
              <a:gd name="connsiteY2" fmla="*/ 571504 h 571504"/>
              <a:gd name="connsiteX3" fmla="*/ 0 w 9144000"/>
              <a:gd name="connsiteY3" fmla="*/ 142876 h 571504"/>
              <a:gd name="connsiteX4" fmla="*/ 0 w 9144000"/>
              <a:gd name="connsiteY4" fmla="*/ 0 h 571504"/>
              <a:gd name="connsiteX0" fmla="*/ 0 w 9144000"/>
              <a:gd name="connsiteY0" fmla="*/ 0 h 571504"/>
              <a:gd name="connsiteX1" fmla="*/ 9144000 w 9144000"/>
              <a:gd name="connsiteY1" fmla="*/ 214314 h 571504"/>
              <a:gd name="connsiteX2" fmla="*/ 9144000 w 9144000"/>
              <a:gd name="connsiteY2" fmla="*/ 571504 h 571504"/>
              <a:gd name="connsiteX3" fmla="*/ 0 w 9144000"/>
              <a:gd name="connsiteY3" fmla="*/ 142876 h 571504"/>
              <a:gd name="connsiteX4" fmla="*/ 0 w 9144000"/>
              <a:gd name="connsiteY4" fmla="*/ 0 h 571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571504">
                <a:moveTo>
                  <a:pt x="0" y="0"/>
                </a:moveTo>
                <a:lnTo>
                  <a:pt x="9144000" y="214314"/>
                </a:lnTo>
                <a:lnTo>
                  <a:pt x="9144000" y="571504"/>
                </a:lnTo>
                <a:lnTo>
                  <a:pt x="0" y="142876"/>
                </a:lnTo>
                <a:lnTo>
                  <a:pt x="0" y="0"/>
                </a:lnTo>
                <a:close/>
              </a:path>
            </a:pathLst>
          </a:custGeom>
          <a:solidFill>
            <a:schemeClr val="bg1">
              <a:lumMod val="65000"/>
            </a:schemeClr>
          </a:solidFill>
          <a:ln w="9525" cap="flat" cmpd="sng" algn="ctr">
            <a:noFill/>
            <a:prstDash val="solid"/>
            <a:round/>
            <a:headEnd type="none" w="med" len="med"/>
            <a:tailEnd type="none" w="med" len="med"/>
          </a:ln>
          <a:effectLst/>
        </p:spPr>
        <p:txBody>
          <a:bodyPr/>
          <a:lstStyle/>
          <a:p>
            <a:pPr algn="r" fontAlgn="base">
              <a:defRPr/>
            </a:pPr>
            <a:endParaRPr lang="nl-NL" sz="2200"/>
          </a:p>
        </p:txBody>
      </p:sp>
      <p:sp>
        <p:nvSpPr>
          <p:cNvPr id="21" name="Freeform 20"/>
          <p:cNvSpPr/>
          <p:nvPr userDrawn="1"/>
        </p:nvSpPr>
        <p:spPr bwMode="auto">
          <a:xfrm flipH="1" flipV="1">
            <a:off x="0" y="5429250"/>
            <a:ext cx="12192000" cy="571500"/>
          </a:xfrm>
          <a:custGeom>
            <a:avLst/>
            <a:gdLst>
              <a:gd name="connsiteX0" fmla="*/ 0 w 9194800"/>
              <a:gd name="connsiteY0" fmla="*/ 0 h 546100"/>
              <a:gd name="connsiteX1" fmla="*/ 9194800 w 9194800"/>
              <a:gd name="connsiteY1" fmla="*/ 0 h 546100"/>
              <a:gd name="connsiteX2" fmla="*/ 9182100 w 9194800"/>
              <a:gd name="connsiteY2" fmla="*/ 546100 h 546100"/>
              <a:gd name="connsiteX3" fmla="*/ 12700 w 9194800"/>
              <a:gd name="connsiteY3" fmla="*/ 127000 h 546100"/>
              <a:gd name="connsiteX4" fmla="*/ 0 w 9194800"/>
              <a:gd name="connsiteY4" fmla="*/ 0 h 546100"/>
              <a:gd name="connsiteX0" fmla="*/ 12700 w 9182100"/>
              <a:gd name="connsiteY0" fmla="*/ 0 h 561968"/>
              <a:gd name="connsiteX1" fmla="*/ 9182100 w 9182100"/>
              <a:gd name="connsiteY1" fmla="*/ 15868 h 561968"/>
              <a:gd name="connsiteX2" fmla="*/ 9169400 w 9182100"/>
              <a:gd name="connsiteY2" fmla="*/ 561968 h 561968"/>
              <a:gd name="connsiteX3" fmla="*/ 0 w 9182100"/>
              <a:gd name="connsiteY3" fmla="*/ 142868 h 561968"/>
              <a:gd name="connsiteX4" fmla="*/ 12700 w 9182100"/>
              <a:gd name="connsiteY4" fmla="*/ 0 h 561968"/>
              <a:gd name="connsiteX0" fmla="*/ 0 w 9169400"/>
              <a:gd name="connsiteY0" fmla="*/ 0 h 561968"/>
              <a:gd name="connsiteX1" fmla="*/ 9169400 w 9169400"/>
              <a:gd name="connsiteY1" fmla="*/ 15868 h 561968"/>
              <a:gd name="connsiteX2" fmla="*/ 9156700 w 9169400"/>
              <a:gd name="connsiteY2" fmla="*/ 561968 h 561968"/>
              <a:gd name="connsiteX3" fmla="*/ 0 w 9169400"/>
              <a:gd name="connsiteY3" fmla="*/ 142876 h 561968"/>
              <a:gd name="connsiteX4" fmla="*/ 0 w 9169400"/>
              <a:gd name="connsiteY4" fmla="*/ 0 h 561968"/>
              <a:gd name="connsiteX0" fmla="*/ 0 w 9156700"/>
              <a:gd name="connsiteY0" fmla="*/ 0 h 561968"/>
              <a:gd name="connsiteX1" fmla="*/ 9144000 w 9156700"/>
              <a:gd name="connsiteY1" fmla="*/ 0 h 561968"/>
              <a:gd name="connsiteX2" fmla="*/ 9156700 w 9156700"/>
              <a:gd name="connsiteY2" fmla="*/ 561968 h 561968"/>
              <a:gd name="connsiteX3" fmla="*/ 0 w 9156700"/>
              <a:gd name="connsiteY3" fmla="*/ 142876 h 561968"/>
              <a:gd name="connsiteX4" fmla="*/ 0 w 9156700"/>
              <a:gd name="connsiteY4" fmla="*/ 0 h 561968"/>
              <a:gd name="connsiteX0" fmla="*/ 0 w 9144000"/>
              <a:gd name="connsiteY0" fmla="*/ 0 h 571504"/>
              <a:gd name="connsiteX1" fmla="*/ 9144000 w 9144000"/>
              <a:gd name="connsiteY1" fmla="*/ 0 h 571504"/>
              <a:gd name="connsiteX2" fmla="*/ 9144000 w 9144000"/>
              <a:gd name="connsiteY2" fmla="*/ 571504 h 571504"/>
              <a:gd name="connsiteX3" fmla="*/ 0 w 9144000"/>
              <a:gd name="connsiteY3" fmla="*/ 142876 h 571504"/>
              <a:gd name="connsiteX4" fmla="*/ 0 w 9144000"/>
              <a:gd name="connsiteY4" fmla="*/ 0 h 571504"/>
              <a:gd name="connsiteX0" fmla="*/ 0 w 9144000"/>
              <a:gd name="connsiteY0" fmla="*/ 0 h 571504"/>
              <a:gd name="connsiteX1" fmla="*/ 9144000 w 9144000"/>
              <a:gd name="connsiteY1" fmla="*/ 285752 h 571504"/>
              <a:gd name="connsiteX2" fmla="*/ 9144000 w 9144000"/>
              <a:gd name="connsiteY2" fmla="*/ 571504 h 571504"/>
              <a:gd name="connsiteX3" fmla="*/ 0 w 9144000"/>
              <a:gd name="connsiteY3" fmla="*/ 142876 h 571504"/>
              <a:gd name="connsiteX4" fmla="*/ 0 w 9144000"/>
              <a:gd name="connsiteY4" fmla="*/ 0 h 571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571504">
                <a:moveTo>
                  <a:pt x="0" y="0"/>
                </a:moveTo>
                <a:lnTo>
                  <a:pt x="9144000" y="285752"/>
                </a:lnTo>
                <a:lnTo>
                  <a:pt x="9144000" y="571504"/>
                </a:lnTo>
                <a:lnTo>
                  <a:pt x="0" y="142876"/>
                </a:lnTo>
                <a:lnTo>
                  <a:pt x="0" y="0"/>
                </a:lnTo>
                <a:close/>
              </a:path>
            </a:pathLst>
          </a:custGeom>
          <a:solidFill>
            <a:schemeClr val="bg1">
              <a:lumMod val="65000"/>
            </a:schemeClr>
          </a:solidFill>
          <a:ln w="9525" cap="flat" cmpd="sng" algn="ctr">
            <a:noFill/>
            <a:prstDash val="solid"/>
            <a:round/>
            <a:headEnd type="none" w="med" len="med"/>
            <a:tailEnd type="none" w="med" len="med"/>
          </a:ln>
          <a:effectLst/>
        </p:spPr>
        <p:txBody>
          <a:bodyPr/>
          <a:lstStyle/>
          <a:p>
            <a:pPr algn="r" fontAlgn="base">
              <a:defRPr/>
            </a:pPr>
            <a:endParaRPr lang="nl-NL" sz="2200"/>
          </a:p>
        </p:txBody>
      </p:sp>
      <p:sp>
        <p:nvSpPr>
          <p:cNvPr id="271372" name="Rectangle 12"/>
          <p:cNvSpPr>
            <a:spLocks noGrp="1" noChangeArrowheads="1"/>
          </p:cNvSpPr>
          <p:nvPr>
            <p:ph type="ctrTitle"/>
          </p:nvPr>
        </p:nvSpPr>
        <p:spPr>
          <a:xfrm>
            <a:off x="914401" y="2286000"/>
            <a:ext cx="9241367" cy="457200"/>
          </a:xfrm>
        </p:spPr>
        <p:txBody>
          <a:bodyPr anchor="t"/>
          <a:lstStyle>
            <a:lvl1pPr marL="0" indent="0">
              <a:lnSpc>
                <a:spcPct val="80000"/>
              </a:lnSpc>
              <a:defRPr>
                <a:solidFill>
                  <a:schemeClr val="bg1"/>
                </a:solidFill>
              </a:defRPr>
            </a:lvl1pPr>
          </a:lstStyle>
          <a:p>
            <a:r>
              <a:rPr lang="nl-NL"/>
              <a:t>Click to edit Master title style</a:t>
            </a:r>
          </a:p>
        </p:txBody>
      </p:sp>
      <p:sp>
        <p:nvSpPr>
          <p:cNvPr id="271393" name="Rectangle 33"/>
          <p:cNvSpPr>
            <a:spLocks noGrp="1" noChangeArrowheads="1"/>
          </p:cNvSpPr>
          <p:nvPr>
            <p:ph type="subTitle" sz="quarter" idx="1"/>
          </p:nvPr>
        </p:nvSpPr>
        <p:spPr>
          <a:xfrm>
            <a:off x="914401" y="2743200"/>
            <a:ext cx="9241367" cy="381000"/>
          </a:xfrm>
        </p:spPr>
        <p:txBody>
          <a:bodyPr/>
          <a:lstStyle>
            <a:lvl1pPr marL="0" indent="0">
              <a:buFontTx/>
              <a:buNone/>
              <a:defRPr sz="2400">
                <a:solidFill>
                  <a:schemeClr val="bg2"/>
                </a:solidFill>
                <a:latin typeface="Bookman Old Style" pitchFamily="18" charset="0"/>
              </a:defRPr>
            </a:lvl1pPr>
          </a:lstStyle>
          <a:p>
            <a:r>
              <a:rPr lang="en-US"/>
              <a:t>Click to edit Master subtitle style</a:t>
            </a:r>
          </a:p>
        </p:txBody>
      </p:sp>
    </p:spTree>
    <p:extLst>
      <p:ext uri="{BB962C8B-B14F-4D97-AF65-F5344CB8AC3E}">
        <p14:creationId xmlns:p14="http://schemas.microsoft.com/office/powerpoint/2010/main" val="14711119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idx="1"/>
          </p:nvPr>
        </p:nvSpPr>
        <p:spPr>
          <a:xfrm>
            <a:off x="1263798" y="1124744"/>
            <a:ext cx="10198100" cy="4289425"/>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1913365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963084" y="4406901"/>
            <a:ext cx="10363200" cy="1362075"/>
          </a:xfrm>
        </p:spPr>
        <p:txBody>
          <a:bodyPr anchor="t"/>
          <a:lstStyle>
            <a:lvl1pPr algn="l">
              <a:defRPr sz="4000" b="1" cap="all"/>
            </a:lvl1pPr>
          </a:lstStyle>
          <a:p>
            <a:r>
              <a:rPr lang="nl-NL"/>
              <a:t>Klik om de stijl te bewerken</a:t>
            </a:r>
          </a:p>
        </p:txBody>
      </p:sp>
      <p:sp>
        <p:nvSpPr>
          <p:cNvPr id="3" name="Tijdelijke aanduiding voor tekst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nl-NL"/>
              <a:t>Klik om de modelstijlen te bewerken</a:t>
            </a:r>
          </a:p>
        </p:txBody>
      </p:sp>
    </p:spTree>
    <p:extLst>
      <p:ext uri="{BB962C8B-B14F-4D97-AF65-F5344CB8AC3E}">
        <p14:creationId xmlns:p14="http://schemas.microsoft.com/office/powerpoint/2010/main" val="3114097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sz="half" idx="1"/>
          </p:nvPr>
        </p:nvSpPr>
        <p:spPr>
          <a:xfrm>
            <a:off x="1234018" y="2286000"/>
            <a:ext cx="4997449" cy="3048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p:nvPr>
        </p:nvSpPr>
        <p:spPr>
          <a:xfrm>
            <a:off x="6434667" y="2286000"/>
            <a:ext cx="4997451" cy="3048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1292279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609600" y="274638"/>
            <a:ext cx="10972800" cy="1143000"/>
          </a:xfrm>
        </p:spPr>
        <p:txBody>
          <a:bodyPr/>
          <a:lstStyle>
            <a:lvl1pPr>
              <a:defRPr/>
            </a:lvl1pPr>
          </a:lstStyle>
          <a:p>
            <a:r>
              <a:rPr lang="nl-NL"/>
              <a:t>Klik om de stijl te bewerken</a:t>
            </a:r>
          </a:p>
        </p:txBody>
      </p:sp>
      <p:sp>
        <p:nvSpPr>
          <p:cNvPr id="3" name="Tijdelijke aanduiding voor tekst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4" name="Tijdelijke aanduiding voor inhoud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6" name="Tijdelijke aanduiding voor inhoud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828268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Tree>
    <p:extLst>
      <p:ext uri="{BB962C8B-B14F-4D97-AF65-F5344CB8AC3E}">
        <p14:creationId xmlns:p14="http://schemas.microsoft.com/office/powerpoint/2010/main" val="650921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7550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609601" y="273050"/>
            <a:ext cx="4011084" cy="1162050"/>
          </a:xfrm>
        </p:spPr>
        <p:txBody>
          <a:bodyPr/>
          <a:lstStyle>
            <a:lvl1pPr algn="l">
              <a:defRPr sz="2000" b="1"/>
            </a:lvl1pPr>
          </a:lstStyle>
          <a:p>
            <a:r>
              <a:rPr lang="nl-NL"/>
              <a:t>Klik om de stijl te bewerken</a:t>
            </a:r>
          </a:p>
        </p:txBody>
      </p:sp>
      <p:sp>
        <p:nvSpPr>
          <p:cNvPr id="3" name="Tijdelijke aanduiding voor inhoud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modelstijlen te bewerken</a:t>
            </a:r>
          </a:p>
        </p:txBody>
      </p:sp>
    </p:spTree>
    <p:extLst>
      <p:ext uri="{BB962C8B-B14F-4D97-AF65-F5344CB8AC3E}">
        <p14:creationId xmlns:p14="http://schemas.microsoft.com/office/powerpoint/2010/main" val="844541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2389717" y="4800600"/>
            <a:ext cx="7315200" cy="566738"/>
          </a:xfrm>
        </p:spPr>
        <p:txBody>
          <a:bodyPr/>
          <a:lstStyle>
            <a:lvl1pPr algn="l">
              <a:defRPr sz="2000" b="1"/>
            </a:lvl1pPr>
          </a:lstStyle>
          <a:p>
            <a:r>
              <a:rPr lang="nl-NL"/>
              <a:t>Klik om de stijl te bewerken</a:t>
            </a:r>
          </a:p>
        </p:txBody>
      </p:sp>
      <p:sp>
        <p:nvSpPr>
          <p:cNvPr id="3" name="Tijdelijke aanduiding voor afbeelding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NL" noProof="0"/>
          </a:p>
        </p:txBody>
      </p:sp>
      <p:sp>
        <p:nvSpPr>
          <p:cNvPr id="4" name="Tijdelijke aanduiding voor tekst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modelstijlen te bewerken</a:t>
            </a:r>
          </a:p>
        </p:txBody>
      </p:sp>
    </p:spTree>
    <p:extLst>
      <p:ext uri="{BB962C8B-B14F-4D97-AF65-F5344CB8AC3E}">
        <p14:creationId xmlns:p14="http://schemas.microsoft.com/office/powerpoint/2010/main" val="693278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verticale tekst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3630396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883651" y="457200"/>
            <a:ext cx="2552700" cy="4876800"/>
          </a:xfrm>
        </p:spPr>
        <p:txBody>
          <a:bodyPr vert="eaVert"/>
          <a:lstStyle/>
          <a:p>
            <a:r>
              <a:rPr lang="nl-NL"/>
              <a:t>Klik om de stijl te bewerken</a:t>
            </a:r>
          </a:p>
        </p:txBody>
      </p:sp>
      <p:sp>
        <p:nvSpPr>
          <p:cNvPr id="3" name="Tijdelijke aanduiding voor verticale tekst 2"/>
          <p:cNvSpPr>
            <a:spLocks noGrp="1"/>
          </p:cNvSpPr>
          <p:nvPr>
            <p:ph type="body" orient="vert" idx="1"/>
          </p:nvPr>
        </p:nvSpPr>
        <p:spPr>
          <a:xfrm>
            <a:off x="1223434" y="457200"/>
            <a:ext cx="7457017" cy="4876800"/>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361119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Titel en grafiek">
    <p:spTree>
      <p:nvGrpSpPr>
        <p:cNvPr id="1" name=""/>
        <p:cNvGrpSpPr/>
        <p:nvPr/>
      </p:nvGrpSpPr>
      <p:grpSpPr>
        <a:xfrm>
          <a:off x="0" y="0"/>
          <a:ext cx="0" cy="0"/>
          <a:chOff x="0" y="0"/>
          <a:chExt cx="0" cy="0"/>
        </a:xfrm>
      </p:grpSpPr>
      <p:sp>
        <p:nvSpPr>
          <p:cNvPr id="2" name="Titel 1"/>
          <p:cNvSpPr>
            <a:spLocks noGrp="1"/>
          </p:cNvSpPr>
          <p:nvPr>
            <p:ph type="title"/>
          </p:nvPr>
        </p:nvSpPr>
        <p:spPr>
          <a:xfrm>
            <a:off x="1223434" y="457200"/>
            <a:ext cx="10212917" cy="1066800"/>
          </a:xfrm>
        </p:spPr>
        <p:txBody>
          <a:bodyPr/>
          <a:lstStyle/>
          <a:p>
            <a:r>
              <a:rPr lang="nl-NL"/>
              <a:t>Klik om de stijl te bewerken</a:t>
            </a:r>
          </a:p>
        </p:txBody>
      </p:sp>
      <p:sp>
        <p:nvSpPr>
          <p:cNvPr id="3" name="Tijdelijke aanduiding voor grafiek 2"/>
          <p:cNvSpPr>
            <a:spLocks noGrp="1"/>
          </p:cNvSpPr>
          <p:nvPr>
            <p:ph type="chart" idx="1"/>
          </p:nvPr>
        </p:nvSpPr>
        <p:spPr>
          <a:xfrm>
            <a:off x="1234018" y="2286000"/>
            <a:ext cx="10198100" cy="3048000"/>
          </a:xfrm>
        </p:spPr>
        <p:txBody>
          <a:bodyPr/>
          <a:lstStyle/>
          <a:p>
            <a:pPr lvl="0"/>
            <a:endParaRPr lang="nl-NL" noProof="0"/>
          </a:p>
        </p:txBody>
      </p:sp>
    </p:spTree>
    <p:extLst>
      <p:ext uri="{BB962C8B-B14F-4D97-AF65-F5344CB8AC3E}">
        <p14:creationId xmlns:p14="http://schemas.microsoft.com/office/powerpoint/2010/main" val="163488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223434" y="76200"/>
            <a:ext cx="10212917" cy="760413"/>
          </a:xfrm>
        </p:spPr>
        <p:txBody>
          <a:bodyPr/>
          <a:lstStyle/>
          <a:p>
            <a:r>
              <a:rPr lang="en-US"/>
              <a:t>Click to edit Master title style</a:t>
            </a:r>
            <a:endParaRPr lang="nl-NL"/>
          </a:p>
        </p:txBody>
      </p:sp>
      <p:sp>
        <p:nvSpPr>
          <p:cNvPr id="3" name="ClipArt Placeholder 2"/>
          <p:cNvSpPr>
            <a:spLocks noGrp="1"/>
          </p:cNvSpPr>
          <p:nvPr>
            <p:ph type="clipArt" sz="half" idx="1"/>
          </p:nvPr>
        </p:nvSpPr>
        <p:spPr>
          <a:xfrm>
            <a:off x="1234018" y="1196976"/>
            <a:ext cx="4997449" cy="4289425"/>
          </a:xfrm>
        </p:spPr>
        <p:txBody>
          <a:bodyPr/>
          <a:lstStyle/>
          <a:p>
            <a:pPr lvl="0"/>
            <a:endParaRPr lang="nl-NL" noProof="0"/>
          </a:p>
        </p:txBody>
      </p:sp>
      <p:sp>
        <p:nvSpPr>
          <p:cNvPr id="4" name="Text Placeholder 3"/>
          <p:cNvSpPr>
            <a:spLocks noGrp="1"/>
          </p:cNvSpPr>
          <p:nvPr>
            <p:ph type="body" sz="half" idx="2"/>
          </p:nvPr>
        </p:nvSpPr>
        <p:spPr>
          <a:xfrm>
            <a:off x="6434667" y="1196976"/>
            <a:ext cx="4997451" cy="4289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5008252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23434" y="76200"/>
            <a:ext cx="10212917" cy="760413"/>
          </a:xfrm>
        </p:spPr>
        <p:txBody>
          <a:bodyPr/>
          <a:lstStyle/>
          <a:p>
            <a:r>
              <a:rPr lang="en-US"/>
              <a:t>Click to edit Master title style</a:t>
            </a:r>
            <a:endParaRPr lang="nl-NL"/>
          </a:p>
        </p:txBody>
      </p:sp>
      <p:sp>
        <p:nvSpPr>
          <p:cNvPr id="3" name="Text Placeholder 2"/>
          <p:cNvSpPr>
            <a:spLocks noGrp="1"/>
          </p:cNvSpPr>
          <p:nvPr>
            <p:ph type="body" sz="half" idx="1"/>
          </p:nvPr>
        </p:nvSpPr>
        <p:spPr>
          <a:xfrm>
            <a:off x="1234018" y="1196976"/>
            <a:ext cx="4997449" cy="4289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p:cNvSpPr>
            <a:spLocks noGrp="1"/>
          </p:cNvSpPr>
          <p:nvPr>
            <p:ph sz="half" idx="2"/>
          </p:nvPr>
        </p:nvSpPr>
        <p:spPr>
          <a:xfrm>
            <a:off x="6434667" y="1196976"/>
            <a:ext cx="4997451" cy="4289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850377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223434" y="76200"/>
            <a:ext cx="10212917" cy="760413"/>
          </a:xfrm>
        </p:spPr>
        <p:txBody>
          <a:bodyPr/>
          <a:lstStyle/>
          <a:p>
            <a:r>
              <a:rPr lang="en-US"/>
              <a:t>Click to edit Master title style</a:t>
            </a:r>
            <a:endParaRPr lang="nl-NL"/>
          </a:p>
        </p:txBody>
      </p:sp>
      <p:sp>
        <p:nvSpPr>
          <p:cNvPr id="3" name="Content Placeholder 2"/>
          <p:cNvSpPr>
            <a:spLocks noGrp="1"/>
          </p:cNvSpPr>
          <p:nvPr>
            <p:ph sz="half" idx="1"/>
          </p:nvPr>
        </p:nvSpPr>
        <p:spPr>
          <a:xfrm>
            <a:off x="1234018" y="1196976"/>
            <a:ext cx="4997449" cy="4289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p:cNvSpPr>
            <a:spLocks noGrp="1"/>
          </p:cNvSpPr>
          <p:nvPr>
            <p:ph sz="quarter" idx="2"/>
          </p:nvPr>
        </p:nvSpPr>
        <p:spPr>
          <a:xfrm>
            <a:off x="6434667" y="1196976"/>
            <a:ext cx="4997451" cy="20685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Content Placeholder 4"/>
          <p:cNvSpPr>
            <a:spLocks noGrp="1"/>
          </p:cNvSpPr>
          <p:nvPr>
            <p:ph sz="quarter" idx="3"/>
          </p:nvPr>
        </p:nvSpPr>
        <p:spPr>
          <a:xfrm>
            <a:off x="6434667" y="3417888"/>
            <a:ext cx="4997451" cy="2068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36652036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2"/>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755789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evox double dec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37C4F-B92E-1E2D-D640-6453A375F4B5}"/>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872EE1D6-E875-BC73-C0F1-ACBBEB438BBD}"/>
              </a:ext>
            </a:extLst>
          </p:cNvPr>
          <p:cNvSpPr>
            <a:spLocks noGrp="1"/>
          </p:cNvSpPr>
          <p:nvPr>
            <p:ph type="dt" sz="half" idx="10"/>
          </p:nvPr>
        </p:nvSpPr>
        <p:spPr/>
        <p:txBody>
          <a:bodyPr/>
          <a:lstStyle/>
          <a:p>
            <a:fld id="{1663657D-8E22-4681-BD7E-16E8F6F56673}" type="datetimeFigureOut">
              <a:rPr lang="en-FI" smtClean="0"/>
              <a:t>9/9/24</a:t>
            </a:fld>
            <a:endParaRPr lang="en-FI"/>
          </a:p>
        </p:txBody>
      </p:sp>
      <p:sp>
        <p:nvSpPr>
          <p:cNvPr id="4" name="Footer Placeholder 3">
            <a:extLst>
              <a:ext uri="{FF2B5EF4-FFF2-40B4-BE49-F238E27FC236}">
                <a16:creationId xmlns:a16="http://schemas.microsoft.com/office/drawing/2014/main" id="{E904571B-68EF-9D7B-0A35-F71996C84128}"/>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1BE06B6A-CB89-EBFF-94F3-3663DAF52C98}"/>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46DA7FF6-8C19-BA4D-02FE-C99E3C5CBD78}"/>
              </a:ext>
            </a:extLst>
          </p:cNvPr>
          <p:cNvSpPr>
            <a:spLocks noGrp="1"/>
          </p:cNvSpPr>
          <p:nvPr>
            <p:ph sz="quarter" idx="13"/>
          </p:nvPr>
        </p:nvSpPr>
        <p:spPr>
          <a:xfrm>
            <a:off x="838200" y="1838325"/>
            <a:ext cx="5156200" cy="4398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9" name="Content Placeholder 8">
            <a:extLst>
              <a:ext uri="{FF2B5EF4-FFF2-40B4-BE49-F238E27FC236}">
                <a16:creationId xmlns:a16="http://schemas.microsoft.com/office/drawing/2014/main" id="{9A01FD0F-07FA-89FA-36B2-E925D1119362}"/>
              </a:ext>
            </a:extLst>
          </p:cNvPr>
          <p:cNvSpPr>
            <a:spLocks noGrp="1"/>
          </p:cNvSpPr>
          <p:nvPr>
            <p:ph sz="quarter" idx="14"/>
          </p:nvPr>
        </p:nvSpPr>
        <p:spPr>
          <a:xfrm>
            <a:off x="6197600" y="1828800"/>
            <a:ext cx="5156200" cy="4398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19742459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9/9/24</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838200" y="1798320"/>
            <a:ext cx="105156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3609795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3"/>
          <p:cNvSpPr>
            <a:spLocks noChangeArrowheads="1"/>
          </p:cNvSpPr>
          <p:nvPr userDrawn="1"/>
        </p:nvSpPr>
        <p:spPr bwMode="auto">
          <a:xfrm>
            <a:off x="0" y="6132514"/>
            <a:ext cx="12192000" cy="7254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defRPr/>
            </a:pPr>
            <a:endParaRPr lang="nl-NL" altLang="nl-NL" sz="2200"/>
          </a:p>
        </p:txBody>
      </p:sp>
      <p:sp>
        <p:nvSpPr>
          <p:cNvPr id="1027" name="Rectangle 10"/>
          <p:cNvSpPr>
            <a:spLocks noGrp="1" noChangeArrowheads="1"/>
          </p:cNvSpPr>
          <p:nvPr>
            <p:ph type="title"/>
          </p:nvPr>
        </p:nvSpPr>
        <p:spPr bwMode="auto">
          <a:xfrm>
            <a:off x="1223434" y="76200"/>
            <a:ext cx="10212917"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p>
            <a:pPr lvl="0"/>
            <a:r>
              <a:rPr lang="en-US" altLang="nl-NL"/>
              <a:t>Click to edit Master title style</a:t>
            </a:r>
          </a:p>
        </p:txBody>
      </p:sp>
      <p:sp>
        <p:nvSpPr>
          <p:cNvPr id="1028" name="Rectangle 11"/>
          <p:cNvSpPr>
            <a:spLocks noGrp="1" noChangeArrowheads="1"/>
          </p:cNvSpPr>
          <p:nvPr>
            <p:ph type="body" idx="1"/>
          </p:nvPr>
        </p:nvSpPr>
        <p:spPr bwMode="auto">
          <a:xfrm>
            <a:off x="1234018" y="1196976"/>
            <a:ext cx="10198100" cy="428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nl-NL"/>
              <a:t>Click to edit Master text styles</a:t>
            </a:r>
          </a:p>
          <a:p>
            <a:pPr lvl="1"/>
            <a:r>
              <a:rPr lang="en-US" altLang="nl-NL"/>
              <a:t>Second level</a:t>
            </a:r>
          </a:p>
          <a:p>
            <a:pPr lvl="2"/>
            <a:r>
              <a:rPr lang="en-US" altLang="nl-NL"/>
              <a:t>Third level</a:t>
            </a:r>
          </a:p>
          <a:p>
            <a:pPr lvl="3"/>
            <a:r>
              <a:rPr lang="en-US" altLang="nl-NL"/>
              <a:t>Fourth level</a:t>
            </a:r>
          </a:p>
          <a:p>
            <a:pPr lvl="4"/>
            <a:r>
              <a:rPr lang="en-US" altLang="nl-NL"/>
              <a:t>Fifth level</a:t>
            </a:r>
          </a:p>
        </p:txBody>
      </p:sp>
      <p:sp>
        <p:nvSpPr>
          <p:cNvPr id="1029" name="Rectangle 17"/>
          <p:cNvSpPr>
            <a:spLocks noChangeArrowheads="1"/>
          </p:cNvSpPr>
          <p:nvPr/>
        </p:nvSpPr>
        <p:spPr bwMode="auto">
          <a:xfrm>
            <a:off x="10187517" y="6297613"/>
            <a:ext cx="71966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defRPr/>
            </a:pPr>
            <a:fld id="{574E0B5D-B364-49D4-B8E7-45781520304B}" type="slidenum">
              <a:rPr lang="nl-NL" altLang="nl-NL" sz="1300" smtClean="0"/>
              <a:pPr algn="r" eaLnBrk="1" fontAlgn="base" hangingPunct="1">
                <a:defRPr/>
              </a:pPr>
              <a:t>‹#›</a:t>
            </a:fld>
            <a:endParaRPr lang="nl-NL" altLang="nl-NL" sz="1300"/>
          </a:p>
        </p:txBody>
      </p:sp>
      <p:sp>
        <p:nvSpPr>
          <p:cNvPr id="1030" name="Rectangle 19"/>
          <p:cNvSpPr>
            <a:spLocks noChangeArrowheads="1"/>
          </p:cNvSpPr>
          <p:nvPr userDrawn="1"/>
        </p:nvSpPr>
        <p:spPr bwMode="auto">
          <a:xfrm>
            <a:off x="0" y="6584950"/>
            <a:ext cx="12192000" cy="2730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defRPr/>
            </a:pPr>
            <a:endParaRPr lang="nl-NL" altLang="nl-NL" sz="2200"/>
          </a:p>
        </p:txBody>
      </p:sp>
      <p:sp>
        <p:nvSpPr>
          <p:cNvPr id="1031" name="Line 20"/>
          <p:cNvSpPr>
            <a:spLocks noChangeShapeType="1"/>
          </p:cNvSpPr>
          <p:nvPr userDrawn="1"/>
        </p:nvSpPr>
        <p:spPr bwMode="auto">
          <a:xfrm>
            <a:off x="0" y="6781800"/>
            <a:ext cx="12192000"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GB" sz="1600"/>
          </a:p>
        </p:txBody>
      </p:sp>
      <p:pic>
        <p:nvPicPr>
          <p:cNvPr id="1032" name="Picture 21" descr="TU_Delft_2.png                                                 00095E43Smidswater Server              C1CD65DB:"/>
          <p:cNvPicPr>
            <a:picLocks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725101" y="6167437"/>
            <a:ext cx="1157535" cy="400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Line 22"/>
          <p:cNvSpPr>
            <a:spLocks noChangeShapeType="1"/>
          </p:cNvSpPr>
          <p:nvPr userDrawn="1"/>
        </p:nvSpPr>
        <p:spPr bwMode="auto">
          <a:xfrm>
            <a:off x="0" y="6134100"/>
            <a:ext cx="12192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GB" sz="1600"/>
          </a:p>
        </p:txBody>
      </p:sp>
      <p:sp>
        <p:nvSpPr>
          <p:cNvPr id="1034" name="Text Box 23"/>
          <p:cNvSpPr txBox="1">
            <a:spLocks noChangeArrowheads="1"/>
          </p:cNvSpPr>
          <p:nvPr userDrawn="1"/>
        </p:nvSpPr>
        <p:spPr bwMode="auto">
          <a:xfrm>
            <a:off x="3524251" y="6275389"/>
            <a:ext cx="644736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spcBef>
                <a:spcPct val="50000"/>
              </a:spcBef>
              <a:defRPr/>
            </a:pPr>
            <a:r>
              <a:rPr lang="en-US" sz="1200" dirty="0">
                <a:solidFill>
                  <a:schemeClr val="bg2"/>
                </a:solidFill>
              </a:rPr>
              <a:t>AE2111-II Aerospace Design and Systems Engineering Elements 2</a:t>
            </a:r>
          </a:p>
        </p:txBody>
      </p:sp>
      <p:sp>
        <p:nvSpPr>
          <p:cNvPr id="1035" name="Rectangle 28"/>
          <p:cNvSpPr>
            <a:spLocks noChangeArrowheads="1"/>
          </p:cNvSpPr>
          <p:nvPr userDrawn="1"/>
        </p:nvSpPr>
        <p:spPr bwMode="auto">
          <a:xfrm>
            <a:off x="0" y="0"/>
            <a:ext cx="626533" cy="20574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defRPr/>
            </a:pPr>
            <a:endParaRPr lang="nl-NL" altLang="nl-NL" sz="2200"/>
          </a:p>
        </p:txBody>
      </p:sp>
    </p:spTree>
  </p:cSld>
  <p:clrMap bg1="lt1" tx1="dk1" bg2="lt2" tx2="dk2" accent1="accent1" accent2="accent2" accent3="accent3" accent4="accent4" accent5="accent5" accent6="accent6" hlink="hlink" folHlink="folHlink"/>
  <p:sldLayoutIdLst>
    <p:sldLayoutId id="2147484288" r:id="rId1"/>
    <p:sldLayoutId id="2147484274" r:id="rId2"/>
    <p:sldLayoutId id="2147484275" r:id="rId3"/>
    <p:sldLayoutId id="2147484276" r:id="rId4"/>
    <p:sldLayoutId id="2147484277" r:id="rId5"/>
    <p:sldLayoutId id="2147484278" r:id="rId6"/>
    <p:sldLayoutId id="2147484279" r:id="rId7"/>
    <p:sldLayoutId id="2147484280" r:id="rId8"/>
    <p:sldLayoutId id="2147484281" r:id="rId9"/>
    <p:sldLayoutId id="2147484282" r:id="rId10"/>
    <p:sldLayoutId id="2147484283" r:id="rId11"/>
    <p:sldLayoutId id="2147484284" r:id="rId12"/>
    <p:sldLayoutId id="2147484285" r:id="rId13"/>
    <p:sldLayoutId id="2147484286" r:id="rId14"/>
    <p:sldLayoutId id="2147484287" r:id="rId15"/>
    <p:sldLayoutId id="2147484289" r:id="rId16"/>
    <p:sldLayoutId id="2147484290" r:id="rId17"/>
    <p:sldLayoutId id="2147484291" r:id="rId18"/>
  </p:sldLayoutIdLst>
  <p:hf hdr="0" ftr="0" dt="0"/>
  <p:txStyles>
    <p:title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p:titleStyle>
    <p:body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13" Type="http://schemas.openxmlformats.org/officeDocument/2006/relationships/tags" Target="../tags/tag16.xml"/><Relationship Id="rId18" Type="http://schemas.openxmlformats.org/officeDocument/2006/relationships/tags" Target="../tags/tag21.xml"/><Relationship Id="rId26" Type="http://schemas.openxmlformats.org/officeDocument/2006/relationships/tags" Target="../tags/tag29.xml"/><Relationship Id="rId3" Type="http://schemas.openxmlformats.org/officeDocument/2006/relationships/tags" Target="../tags/tag6.xml"/><Relationship Id="rId21" Type="http://schemas.openxmlformats.org/officeDocument/2006/relationships/tags" Target="../tags/tag24.xml"/><Relationship Id="rId34" Type="http://schemas.openxmlformats.org/officeDocument/2006/relationships/image" Target="../media/image12.png"/><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tags" Target="../tags/tag20.xml"/><Relationship Id="rId25" Type="http://schemas.openxmlformats.org/officeDocument/2006/relationships/tags" Target="../tags/tag28.xml"/><Relationship Id="rId33" Type="http://schemas.openxmlformats.org/officeDocument/2006/relationships/slideLayout" Target="../slideLayouts/slideLayout17.xml"/><Relationship Id="rId2" Type="http://schemas.openxmlformats.org/officeDocument/2006/relationships/tags" Target="../tags/tag5.xml"/><Relationship Id="rId16" Type="http://schemas.openxmlformats.org/officeDocument/2006/relationships/tags" Target="../tags/tag19.xml"/><Relationship Id="rId20" Type="http://schemas.openxmlformats.org/officeDocument/2006/relationships/tags" Target="../tags/tag23.xml"/><Relationship Id="rId29" Type="http://schemas.openxmlformats.org/officeDocument/2006/relationships/tags" Target="../tags/tag32.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24" Type="http://schemas.openxmlformats.org/officeDocument/2006/relationships/tags" Target="../tags/tag27.xml"/><Relationship Id="rId32" Type="http://schemas.openxmlformats.org/officeDocument/2006/relationships/tags" Target="../tags/tag35.xml"/><Relationship Id="rId5" Type="http://schemas.openxmlformats.org/officeDocument/2006/relationships/tags" Target="../tags/tag8.xml"/><Relationship Id="rId15" Type="http://schemas.openxmlformats.org/officeDocument/2006/relationships/tags" Target="../tags/tag18.xml"/><Relationship Id="rId23" Type="http://schemas.openxmlformats.org/officeDocument/2006/relationships/tags" Target="../tags/tag26.xml"/><Relationship Id="rId28" Type="http://schemas.openxmlformats.org/officeDocument/2006/relationships/tags" Target="../tags/tag31.xml"/><Relationship Id="rId10" Type="http://schemas.openxmlformats.org/officeDocument/2006/relationships/tags" Target="../tags/tag13.xml"/><Relationship Id="rId19" Type="http://schemas.openxmlformats.org/officeDocument/2006/relationships/tags" Target="../tags/tag22.xml"/><Relationship Id="rId31" Type="http://schemas.openxmlformats.org/officeDocument/2006/relationships/tags" Target="../tags/tag34.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 Id="rId22" Type="http://schemas.openxmlformats.org/officeDocument/2006/relationships/tags" Target="../tags/tag25.xml"/><Relationship Id="rId27" Type="http://schemas.openxmlformats.org/officeDocument/2006/relationships/tags" Target="../tags/tag30.xml"/><Relationship Id="rId30" Type="http://schemas.openxmlformats.org/officeDocument/2006/relationships/tags" Target="../tags/tag33.xml"/><Relationship Id="rId8" Type="http://schemas.openxmlformats.org/officeDocument/2006/relationships/tags" Target="../tags/tag11.xml"/></Relationships>
</file>

<file path=ppt/slides/_rels/slide6.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tags" Target="../tags/tag48.xml"/><Relationship Id="rId18" Type="http://schemas.openxmlformats.org/officeDocument/2006/relationships/tags" Target="../tags/tag53.xml"/><Relationship Id="rId26" Type="http://schemas.openxmlformats.org/officeDocument/2006/relationships/tags" Target="../tags/tag61.xml"/><Relationship Id="rId3" Type="http://schemas.openxmlformats.org/officeDocument/2006/relationships/tags" Target="../tags/tag38.xml"/><Relationship Id="rId21" Type="http://schemas.openxmlformats.org/officeDocument/2006/relationships/tags" Target="../tags/tag56.xml"/><Relationship Id="rId7" Type="http://schemas.openxmlformats.org/officeDocument/2006/relationships/tags" Target="../tags/tag42.xml"/><Relationship Id="rId12" Type="http://schemas.openxmlformats.org/officeDocument/2006/relationships/tags" Target="../tags/tag47.xml"/><Relationship Id="rId17" Type="http://schemas.openxmlformats.org/officeDocument/2006/relationships/tags" Target="../tags/tag52.xml"/><Relationship Id="rId25" Type="http://schemas.openxmlformats.org/officeDocument/2006/relationships/tags" Target="../tags/tag60.xml"/><Relationship Id="rId2" Type="http://schemas.openxmlformats.org/officeDocument/2006/relationships/tags" Target="../tags/tag37.xml"/><Relationship Id="rId16" Type="http://schemas.openxmlformats.org/officeDocument/2006/relationships/tags" Target="../tags/tag51.xml"/><Relationship Id="rId20" Type="http://schemas.openxmlformats.org/officeDocument/2006/relationships/tags" Target="../tags/tag55.xml"/><Relationship Id="rId29" Type="http://schemas.openxmlformats.org/officeDocument/2006/relationships/slideLayout" Target="../slideLayouts/slideLayout1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24" Type="http://schemas.openxmlformats.org/officeDocument/2006/relationships/tags" Target="../tags/tag59.xml"/><Relationship Id="rId5" Type="http://schemas.openxmlformats.org/officeDocument/2006/relationships/tags" Target="../tags/tag40.xml"/><Relationship Id="rId15" Type="http://schemas.openxmlformats.org/officeDocument/2006/relationships/tags" Target="../tags/tag50.xml"/><Relationship Id="rId23" Type="http://schemas.openxmlformats.org/officeDocument/2006/relationships/tags" Target="../tags/tag58.xml"/><Relationship Id="rId28" Type="http://schemas.openxmlformats.org/officeDocument/2006/relationships/tags" Target="../tags/tag63.xml"/><Relationship Id="rId10" Type="http://schemas.openxmlformats.org/officeDocument/2006/relationships/tags" Target="../tags/tag45.xml"/><Relationship Id="rId19" Type="http://schemas.openxmlformats.org/officeDocument/2006/relationships/tags" Target="../tags/tag54.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tags" Target="../tags/tag49.xml"/><Relationship Id="rId22" Type="http://schemas.openxmlformats.org/officeDocument/2006/relationships/tags" Target="../tags/tag57.xml"/><Relationship Id="rId27" Type="http://schemas.openxmlformats.org/officeDocument/2006/relationships/tags" Target="../tags/tag62.xml"/><Relationship Id="rId30" Type="http://schemas.openxmlformats.org/officeDocument/2006/relationships/image" Target="../media/image13.png"/></Relationships>
</file>

<file path=ppt/slides/_rels/slide7.xml.rels><?xml version="1.0" encoding="UTF-8" standalone="yes"?>
<Relationships xmlns="http://schemas.openxmlformats.org/package/2006/relationships"><Relationship Id="rId13" Type="http://schemas.openxmlformats.org/officeDocument/2006/relationships/tags" Target="../tags/tag76.xml"/><Relationship Id="rId18" Type="http://schemas.openxmlformats.org/officeDocument/2006/relationships/tags" Target="../tags/tag81.xml"/><Relationship Id="rId26" Type="http://schemas.openxmlformats.org/officeDocument/2006/relationships/tags" Target="../tags/tag89.xml"/><Relationship Id="rId39" Type="http://schemas.openxmlformats.org/officeDocument/2006/relationships/tags" Target="../tags/tag102.xml"/><Relationship Id="rId21" Type="http://schemas.openxmlformats.org/officeDocument/2006/relationships/tags" Target="../tags/tag84.xml"/><Relationship Id="rId34" Type="http://schemas.openxmlformats.org/officeDocument/2006/relationships/tags" Target="../tags/tag97.xml"/><Relationship Id="rId42" Type="http://schemas.openxmlformats.org/officeDocument/2006/relationships/tags" Target="../tags/tag105.xml"/><Relationship Id="rId47" Type="http://schemas.openxmlformats.org/officeDocument/2006/relationships/tags" Target="../tags/tag110.xml"/><Relationship Id="rId50" Type="http://schemas.openxmlformats.org/officeDocument/2006/relationships/tags" Target="../tags/tag113.xml"/><Relationship Id="rId55" Type="http://schemas.openxmlformats.org/officeDocument/2006/relationships/tags" Target="../tags/tag118.xml"/><Relationship Id="rId7" Type="http://schemas.openxmlformats.org/officeDocument/2006/relationships/tags" Target="../tags/tag70.xml"/><Relationship Id="rId2" Type="http://schemas.openxmlformats.org/officeDocument/2006/relationships/tags" Target="../tags/tag65.xml"/><Relationship Id="rId16" Type="http://schemas.openxmlformats.org/officeDocument/2006/relationships/tags" Target="../tags/tag79.xml"/><Relationship Id="rId29" Type="http://schemas.openxmlformats.org/officeDocument/2006/relationships/tags" Target="../tags/tag92.xml"/><Relationship Id="rId11" Type="http://schemas.openxmlformats.org/officeDocument/2006/relationships/tags" Target="../tags/tag74.xml"/><Relationship Id="rId24" Type="http://schemas.openxmlformats.org/officeDocument/2006/relationships/tags" Target="../tags/tag87.xml"/><Relationship Id="rId32" Type="http://schemas.openxmlformats.org/officeDocument/2006/relationships/tags" Target="../tags/tag95.xml"/><Relationship Id="rId37" Type="http://schemas.openxmlformats.org/officeDocument/2006/relationships/tags" Target="../tags/tag100.xml"/><Relationship Id="rId40" Type="http://schemas.openxmlformats.org/officeDocument/2006/relationships/tags" Target="../tags/tag103.xml"/><Relationship Id="rId45" Type="http://schemas.openxmlformats.org/officeDocument/2006/relationships/tags" Target="../tags/tag108.xml"/><Relationship Id="rId53" Type="http://schemas.openxmlformats.org/officeDocument/2006/relationships/tags" Target="../tags/tag116.xml"/><Relationship Id="rId58" Type="http://schemas.openxmlformats.org/officeDocument/2006/relationships/tags" Target="../tags/tag121.xml"/><Relationship Id="rId5" Type="http://schemas.openxmlformats.org/officeDocument/2006/relationships/tags" Target="../tags/tag68.xml"/><Relationship Id="rId61" Type="http://schemas.openxmlformats.org/officeDocument/2006/relationships/image" Target="../media/image14.png"/><Relationship Id="rId19" Type="http://schemas.openxmlformats.org/officeDocument/2006/relationships/tags" Target="../tags/tag82.xml"/><Relationship Id="rId14" Type="http://schemas.openxmlformats.org/officeDocument/2006/relationships/tags" Target="../tags/tag77.xml"/><Relationship Id="rId22" Type="http://schemas.openxmlformats.org/officeDocument/2006/relationships/tags" Target="../tags/tag85.xml"/><Relationship Id="rId27" Type="http://schemas.openxmlformats.org/officeDocument/2006/relationships/tags" Target="../tags/tag90.xml"/><Relationship Id="rId30" Type="http://schemas.openxmlformats.org/officeDocument/2006/relationships/tags" Target="../tags/tag93.xml"/><Relationship Id="rId35" Type="http://schemas.openxmlformats.org/officeDocument/2006/relationships/tags" Target="../tags/tag98.xml"/><Relationship Id="rId43" Type="http://schemas.openxmlformats.org/officeDocument/2006/relationships/tags" Target="../tags/tag106.xml"/><Relationship Id="rId48" Type="http://schemas.openxmlformats.org/officeDocument/2006/relationships/tags" Target="../tags/tag111.xml"/><Relationship Id="rId56" Type="http://schemas.openxmlformats.org/officeDocument/2006/relationships/tags" Target="../tags/tag119.xml"/><Relationship Id="rId8" Type="http://schemas.openxmlformats.org/officeDocument/2006/relationships/tags" Target="../tags/tag71.xml"/><Relationship Id="rId51" Type="http://schemas.openxmlformats.org/officeDocument/2006/relationships/tags" Target="../tags/tag114.xml"/><Relationship Id="rId3" Type="http://schemas.openxmlformats.org/officeDocument/2006/relationships/tags" Target="../tags/tag66.xml"/><Relationship Id="rId12" Type="http://schemas.openxmlformats.org/officeDocument/2006/relationships/tags" Target="../tags/tag75.xml"/><Relationship Id="rId17" Type="http://schemas.openxmlformats.org/officeDocument/2006/relationships/tags" Target="../tags/tag80.xml"/><Relationship Id="rId25" Type="http://schemas.openxmlformats.org/officeDocument/2006/relationships/tags" Target="../tags/tag88.xml"/><Relationship Id="rId33" Type="http://schemas.openxmlformats.org/officeDocument/2006/relationships/tags" Target="../tags/tag96.xml"/><Relationship Id="rId38" Type="http://schemas.openxmlformats.org/officeDocument/2006/relationships/tags" Target="../tags/tag101.xml"/><Relationship Id="rId46" Type="http://schemas.openxmlformats.org/officeDocument/2006/relationships/tags" Target="../tags/tag109.xml"/><Relationship Id="rId59" Type="http://schemas.openxmlformats.org/officeDocument/2006/relationships/tags" Target="../tags/tag122.xml"/><Relationship Id="rId20" Type="http://schemas.openxmlformats.org/officeDocument/2006/relationships/tags" Target="../tags/tag83.xml"/><Relationship Id="rId41" Type="http://schemas.openxmlformats.org/officeDocument/2006/relationships/tags" Target="../tags/tag104.xml"/><Relationship Id="rId54" Type="http://schemas.openxmlformats.org/officeDocument/2006/relationships/tags" Target="../tags/tag117.xml"/><Relationship Id="rId1" Type="http://schemas.openxmlformats.org/officeDocument/2006/relationships/tags" Target="../tags/tag64.xml"/><Relationship Id="rId6" Type="http://schemas.openxmlformats.org/officeDocument/2006/relationships/tags" Target="../tags/tag69.xml"/><Relationship Id="rId15" Type="http://schemas.openxmlformats.org/officeDocument/2006/relationships/tags" Target="../tags/tag78.xml"/><Relationship Id="rId23" Type="http://schemas.openxmlformats.org/officeDocument/2006/relationships/tags" Target="../tags/tag86.xml"/><Relationship Id="rId28" Type="http://schemas.openxmlformats.org/officeDocument/2006/relationships/tags" Target="../tags/tag91.xml"/><Relationship Id="rId36" Type="http://schemas.openxmlformats.org/officeDocument/2006/relationships/tags" Target="../tags/tag99.xml"/><Relationship Id="rId49" Type="http://schemas.openxmlformats.org/officeDocument/2006/relationships/tags" Target="../tags/tag112.xml"/><Relationship Id="rId57" Type="http://schemas.openxmlformats.org/officeDocument/2006/relationships/tags" Target="../tags/tag120.xml"/><Relationship Id="rId10" Type="http://schemas.openxmlformats.org/officeDocument/2006/relationships/tags" Target="../tags/tag73.xml"/><Relationship Id="rId31" Type="http://schemas.openxmlformats.org/officeDocument/2006/relationships/tags" Target="../tags/tag94.xml"/><Relationship Id="rId44" Type="http://schemas.openxmlformats.org/officeDocument/2006/relationships/tags" Target="../tags/tag107.xml"/><Relationship Id="rId52" Type="http://schemas.openxmlformats.org/officeDocument/2006/relationships/tags" Target="../tags/tag115.xml"/><Relationship Id="rId60" Type="http://schemas.openxmlformats.org/officeDocument/2006/relationships/slideLayout" Target="../slideLayouts/slideLayout17.xml"/><Relationship Id="rId4" Type="http://schemas.openxmlformats.org/officeDocument/2006/relationships/tags" Target="../tags/tag67.xml"/><Relationship Id="rId9" Type="http://schemas.openxmlformats.org/officeDocument/2006/relationships/tags" Target="../tags/tag7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6.wmf"/><Relationship Id="rId5" Type="http://schemas.openxmlformats.org/officeDocument/2006/relationships/oleObject" Target="../embeddings/oleObject2.bin"/><Relationship Id="rId4" Type="http://schemas.openxmlformats.org/officeDocument/2006/relationships/image" Target="../media/image15.w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123.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7.xml"/><Relationship Id="rId7" Type="http://schemas.openxmlformats.org/officeDocument/2006/relationships/image" Target="../media/image20.wmf"/><Relationship Id="rId2" Type="http://schemas.openxmlformats.org/officeDocument/2006/relationships/slideLayout" Target="../slideLayouts/slideLayout7.xml"/><Relationship Id="rId1" Type="http://schemas.openxmlformats.org/officeDocument/2006/relationships/tags" Target="../tags/tag124.xml"/><Relationship Id="rId6" Type="http://schemas.openxmlformats.org/officeDocument/2006/relationships/oleObject" Target="../embeddings/oleObject3.bin"/><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1.wmf"/></Relationships>
</file>

<file path=ppt/slides/_rels/slide11.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notesSlide" Target="../notesSlides/notesSlide8.xml"/><Relationship Id="rId7" Type="http://schemas.openxmlformats.org/officeDocument/2006/relationships/image" Target="../media/image23.wmf"/><Relationship Id="rId12" Type="http://schemas.openxmlformats.org/officeDocument/2006/relationships/image" Target="../media/image26.wmf"/><Relationship Id="rId2" Type="http://schemas.openxmlformats.org/officeDocument/2006/relationships/slideLayout" Target="../slideLayouts/slideLayout7.xml"/><Relationship Id="rId1" Type="http://schemas.openxmlformats.org/officeDocument/2006/relationships/tags" Target="../tags/tag125.xml"/><Relationship Id="rId6" Type="http://schemas.openxmlformats.org/officeDocument/2006/relationships/oleObject" Target="../embeddings/oleObject6.bin"/><Relationship Id="rId11" Type="http://schemas.openxmlformats.org/officeDocument/2006/relationships/oleObject" Target="../embeddings/oleObject8.bin"/><Relationship Id="rId5" Type="http://schemas.openxmlformats.org/officeDocument/2006/relationships/image" Target="../media/image22.wmf"/><Relationship Id="rId10" Type="http://schemas.openxmlformats.org/officeDocument/2006/relationships/image" Target="../media/image25.wmf"/><Relationship Id="rId4" Type="http://schemas.openxmlformats.org/officeDocument/2006/relationships/oleObject" Target="../embeddings/oleObject5.bin"/><Relationship Id="rId9" Type="http://schemas.openxmlformats.org/officeDocument/2006/relationships/oleObject" Target="../embeddings/oleObject7.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126.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32.wmf"/><Relationship Id="rId18" Type="http://schemas.openxmlformats.org/officeDocument/2006/relationships/oleObject" Target="../embeddings/oleObject16.bin"/><Relationship Id="rId26" Type="http://schemas.openxmlformats.org/officeDocument/2006/relationships/oleObject" Target="../embeddings/oleObject20.bin"/><Relationship Id="rId3" Type="http://schemas.openxmlformats.org/officeDocument/2006/relationships/notesSlide" Target="../notesSlides/notesSlide10.xml"/><Relationship Id="rId21" Type="http://schemas.openxmlformats.org/officeDocument/2006/relationships/image" Target="../media/image36.wmf"/><Relationship Id="rId7" Type="http://schemas.openxmlformats.org/officeDocument/2006/relationships/image" Target="../media/image29.wmf"/><Relationship Id="rId12" Type="http://schemas.openxmlformats.org/officeDocument/2006/relationships/oleObject" Target="../embeddings/oleObject13.bin"/><Relationship Id="rId17" Type="http://schemas.openxmlformats.org/officeDocument/2006/relationships/image" Target="../media/image34.wmf"/><Relationship Id="rId25" Type="http://schemas.openxmlformats.org/officeDocument/2006/relationships/image" Target="../media/image16.wmf"/><Relationship Id="rId2" Type="http://schemas.openxmlformats.org/officeDocument/2006/relationships/slideLayout" Target="../slideLayouts/slideLayout7.xml"/><Relationship Id="rId16" Type="http://schemas.openxmlformats.org/officeDocument/2006/relationships/oleObject" Target="../embeddings/oleObject15.bin"/><Relationship Id="rId20" Type="http://schemas.openxmlformats.org/officeDocument/2006/relationships/oleObject" Target="../embeddings/oleObject17.bin"/><Relationship Id="rId29" Type="http://schemas.openxmlformats.org/officeDocument/2006/relationships/image" Target="../media/image39.wmf"/><Relationship Id="rId1" Type="http://schemas.openxmlformats.org/officeDocument/2006/relationships/tags" Target="../tags/tag127.xml"/><Relationship Id="rId6" Type="http://schemas.openxmlformats.org/officeDocument/2006/relationships/oleObject" Target="../embeddings/oleObject10.bin"/><Relationship Id="rId11" Type="http://schemas.openxmlformats.org/officeDocument/2006/relationships/image" Target="../media/image31.wmf"/><Relationship Id="rId24" Type="http://schemas.openxmlformats.org/officeDocument/2006/relationships/oleObject" Target="../embeddings/oleObject19.bin"/><Relationship Id="rId5" Type="http://schemas.openxmlformats.org/officeDocument/2006/relationships/image" Target="../media/image28.wmf"/><Relationship Id="rId15" Type="http://schemas.openxmlformats.org/officeDocument/2006/relationships/image" Target="../media/image33.wmf"/><Relationship Id="rId23" Type="http://schemas.openxmlformats.org/officeDocument/2006/relationships/image" Target="../media/image37.wmf"/><Relationship Id="rId28" Type="http://schemas.openxmlformats.org/officeDocument/2006/relationships/oleObject" Target="../embeddings/oleObject21.bin"/><Relationship Id="rId10" Type="http://schemas.openxmlformats.org/officeDocument/2006/relationships/oleObject" Target="../embeddings/oleObject12.bin"/><Relationship Id="rId19" Type="http://schemas.openxmlformats.org/officeDocument/2006/relationships/image" Target="../media/image35.wmf"/><Relationship Id="rId4" Type="http://schemas.openxmlformats.org/officeDocument/2006/relationships/oleObject" Target="../embeddings/oleObject9.bin"/><Relationship Id="rId9" Type="http://schemas.openxmlformats.org/officeDocument/2006/relationships/image" Target="../media/image30.wmf"/><Relationship Id="rId14" Type="http://schemas.openxmlformats.org/officeDocument/2006/relationships/oleObject" Target="../embeddings/oleObject14.bin"/><Relationship Id="rId22" Type="http://schemas.openxmlformats.org/officeDocument/2006/relationships/oleObject" Target="../embeddings/oleObject18.bin"/><Relationship Id="rId27" Type="http://schemas.openxmlformats.org/officeDocument/2006/relationships/image" Target="../media/image38.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oleObject" Target="../embeddings/oleObject26.bin"/><Relationship Id="rId18" Type="http://schemas.openxmlformats.org/officeDocument/2006/relationships/image" Target="../media/image45.wmf"/><Relationship Id="rId3" Type="http://schemas.openxmlformats.org/officeDocument/2006/relationships/notesSlide" Target="../notesSlides/notesSlide11.xml"/><Relationship Id="rId21" Type="http://schemas.openxmlformats.org/officeDocument/2006/relationships/oleObject" Target="../embeddings/oleObject30.bin"/><Relationship Id="rId7" Type="http://schemas.openxmlformats.org/officeDocument/2006/relationships/image" Target="../media/image41.wmf"/><Relationship Id="rId12" Type="http://schemas.openxmlformats.org/officeDocument/2006/relationships/image" Target="../media/image15.wmf"/><Relationship Id="rId17" Type="http://schemas.openxmlformats.org/officeDocument/2006/relationships/oleObject" Target="../embeddings/oleObject28.bin"/><Relationship Id="rId2" Type="http://schemas.openxmlformats.org/officeDocument/2006/relationships/slideLayout" Target="../slideLayouts/slideLayout7.xml"/><Relationship Id="rId16" Type="http://schemas.openxmlformats.org/officeDocument/2006/relationships/image" Target="../media/image16.wmf"/><Relationship Id="rId20" Type="http://schemas.openxmlformats.org/officeDocument/2006/relationships/image" Target="../media/image46.wmf"/><Relationship Id="rId1" Type="http://schemas.openxmlformats.org/officeDocument/2006/relationships/tags" Target="../tags/tag128.xml"/><Relationship Id="rId6" Type="http://schemas.openxmlformats.org/officeDocument/2006/relationships/oleObject" Target="../embeddings/oleObject23.bin"/><Relationship Id="rId11" Type="http://schemas.openxmlformats.org/officeDocument/2006/relationships/oleObject" Target="../embeddings/oleObject25.bin"/><Relationship Id="rId24" Type="http://schemas.openxmlformats.org/officeDocument/2006/relationships/image" Target="../media/image34.wmf"/><Relationship Id="rId5" Type="http://schemas.openxmlformats.org/officeDocument/2006/relationships/image" Target="../media/image40.wmf"/><Relationship Id="rId15" Type="http://schemas.openxmlformats.org/officeDocument/2006/relationships/oleObject" Target="../embeddings/oleObject27.bin"/><Relationship Id="rId23" Type="http://schemas.openxmlformats.org/officeDocument/2006/relationships/oleObject" Target="../embeddings/oleObject31.bin"/><Relationship Id="rId10" Type="http://schemas.openxmlformats.org/officeDocument/2006/relationships/image" Target="../media/image43.jpeg"/><Relationship Id="rId19" Type="http://schemas.openxmlformats.org/officeDocument/2006/relationships/oleObject" Target="../embeddings/oleObject29.bin"/><Relationship Id="rId4" Type="http://schemas.openxmlformats.org/officeDocument/2006/relationships/oleObject" Target="../embeddings/oleObject22.bin"/><Relationship Id="rId9" Type="http://schemas.openxmlformats.org/officeDocument/2006/relationships/image" Target="../media/image42.wmf"/><Relationship Id="rId14" Type="http://schemas.openxmlformats.org/officeDocument/2006/relationships/image" Target="../media/image44.wmf"/><Relationship Id="rId22" Type="http://schemas.openxmlformats.org/officeDocument/2006/relationships/image" Target="../media/image47.wmf"/></Relationships>
</file>

<file path=ppt/slides/_rels/slide15.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5.wmf"/><Relationship Id="rId5" Type="http://schemas.openxmlformats.org/officeDocument/2006/relationships/oleObject" Target="../embeddings/oleObject33.bin"/><Relationship Id="rId4" Type="http://schemas.openxmlformats.org/officeDocument/2006/relationships/image" Target="../media/image15.w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29.xml"/><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130.xml"/><Relationship Id="rId5" Type="http://schemas.openxmlformats.org/officeDocument/2006/relationships/image" Target="../media/image50.wmf"/><Relationship Id="rId4" Type="http://schemas.openxmlformats.org/officeDocument/2006/relationships/oleObject" Target="../embeddings/oleObject35.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notesSlide" Target="../notesSlides/notesSlide15.xml"/><Relationship Id="rId7" Type="http://schemas.openxmlformats.org/officeDocument/2006/relationships/image" Target="../media/image45.wmf"/><Relationship Id="rId2" Type="http://schemas.openxmlformats.org/officeDocument/2006/relationships/slideLayout" Target="../slideLayouts/slideLayout7.xml"/><Relationship Id="rId1" Type="http://schemas.openxmlformats.org/officeDocument/2006/relationships/tags" Target="../tags/tag131.xml"/><Relationship Id="rId6" Type="http://schemas.openxmlformats.org/officeDocument/2006/relationships/oleObject" Target="../embeddings/oleObject37.bin"/><Relationship Id="rId11" Type="http://schemas.openxmlformats.org/officeDocument/2006/relationships/image" Target="../media/image48.wmf"/><Relationship Id="rId5" Type="http://schemas.openxmlformats.org/officeDocument/2006/relationships/image" Target="../media/image15.w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34.w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132.xml"/><Relationship Id="rId5" Type="http://schemas.openxmlformats.org/officeDocument/2006/relationships/image" Target="../media/image52.png"/><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133.xml"/><Relationship Id="rId6" Type="http://schemas.openxmlformats.org/officeDocument/2006/relationships/image" Target="../media/image54.wmf"/><Relationship Id="rId5" Type="http://schemas.openxmlformats.org/officeDocument/2006/relationships/oleObject" Target="../embeddings/oleObject40.bin"/><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59.jpeg"/><Relationship Id="rId3" Type="http://schemas.openxmlformats.org/officeDocument/2006/relationships/notesSlide" Target="../notesSlides/notesSlide19.xml"/><Relationship Id="rId7" Type="http://schemas.openxmlformats.org/officeDocument/2006/relationships/image" Target="../media/image58.jpeg"/><Relationship Id="rId2" Type="http://schemas.openxmlformats.org/officeDocument/2006/relationships/slideLayout" Target="../slideLayouts/slideLayout7.xml"/><Relationship Id="rId1" Type="http://schemas.openxmlformats.org/officeDocument/2006/relationships/tags" Target="../tags/tag134.xml"/><Relationship Id="rId6" Type="http://schemas.openxmlformats.org/officeDocument/2006/relationships/image" Target="../media/image57.png"/><Relationship Id="rId5" Type="http://schemas.openxmlformats.org/officeDocument/2006/relationships/image" Target="../media/image56.wmf"/><Relationship Id="rId4" Type="http://schemas.openxmlformats.org/officeDocument/2006/relationships/oleObject" Target="../embeddings/oleObject41.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135.xml"/><Relationship Id="rId5" Type="http://schemas.openxmlformats.org/officeDocument/2006/relationships/image" Target="../media/image61.png"/><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64.jpeg"/><Relationship Id="rId2" Type="http://schemas.openxmlformats.org/officeDocument/2006/relationships/slideLayout" Target="../slideLayouts/slideLayout7.xml"/><Relationship Id="rId1" Type="http://schemas.openxmlformats.org/officeDocument/2006/relationships/tags" Target="../tags/tag136.xml"/><Relationship Id="rId6" Type="http://schemas.openxmlformats.org/officeDocument/2006/relationships/image" Target="../media/image63.wmf"/><Relationship Id="rId5" Type="http://schemas.openxmlformats.org/officeDocument/2006/relationships/oleObject" Target="../embeddings/oleObject42.bin"/><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64.jpeg"/><Relationship Id="rId3" Type="http://schemas.openxmlformats.org/officeDocument/2006/relationships/notesSlide" Target="../notesSlides/notesSlide23.xml"/><Relationship Id="rId7" Type="http://schemas.openxmlformats.org/officeDocument/2006/relationships/image" Target="../media/image67.wmf"/><Relationship Id="rId2" Type="http://schemas.openxmlformats.org/officeDocument/2006/relationships/slideLayout" Target="../slideLayouts/slideLayout7.xml"/><Relationship Id="rId1" Type="http://schemas.openxmlformats.org/officeDocument/2006/relationships/tags" Target="../tags/tag137.xml"/><Relationship Id="rId6" Type="http://schemas.openxmlformats.org/officeDocument/2006/relationships/oleObject" Target="../embeddings/oleObject43.bin"/><Relationship Id="rId5" Type="http://schemas.openxmlformats.org/officeDocument/2006/relationships/image" Target="../media/image53.png"/><Relationship Id="rId4" Type="http://schemas.openxmlformats.org/officeDocument/2006/relationships/image" Target="../media/image66.png"/></Relationships>
</file>

<file path=ppt/slides/_rels/slide27.xml.rels><?xml version="1.0" encoding="UTF-8" standalone="yes"?>
<Relationships xmlns="http://schemas.openxmlformats.org/package/2006/relationships"><Relationship Id="rId8" Type="http://schemas.openxmlformats.org/officeDocument/2006/relationships/image" Target="../media/image64.jpeg"/><Relationship Id="rId3" Type="http://schemas.openxmlformats.org/officeDocument/2006/relationships/notesSlide" Target="../notesSlides/notesSlide24.xml"/><Relationship Id="rId7" Type="http://schemas.openxmlformats.org/officeDocument/2006/relationships/image" Target="../media/image53.png"/><Relationship Id="rId2" Type="http://schemas.openxmlformats.org/officeDocument/2006/relationships/slideLayout" Target="../slideLayouts/slideLayout7.xml"/><Relationship Id="rId1" Type="http://schemas.openxmlformats.org/officeDocument/2006/relationships/tags" Target="../tags/tag138.xml"/><Relationship Id="rId6" Type="http://schemas.openxmlformats.org/officeDocument/2006/relationships/image" Target="../media/image69.png"/><Relationship Id="rId5" Type="http://schemas.openxmlformats.org/officeDocument/2006/relationships/image" Target="../media/image68.wmf"/><Relationship Id="rId4" Type="http://schemas.openxmlformats.org/officeDocument/2006/relationships/oleObject" Target="../embeddings/oleObject44.bin"/></Relationships>
</file>

<file path=ppt/slides/_rels/slide28.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notesSlide" Target="../notesSlides/notesSlide25.xml"/><Relationship Id="rId7" Type="http://schemas.openxmlformats.org/officeDocument/2006/relationships/image" Target="../media/image72.png"/><Relationship Id="rId2" Type="http://schemas.openxmlformats.org/officeDocument/2006/relationships/slideLayout" Target="../slideLayouts/slideLayout7.xml"/><Relationship Id="rId1" Type="http://schemas.openxmlformats.org/officeDocument/2006/relationships/tags" Target="../tags/tag139.xml"/><Relationship Id="rId6" Type="http://schemas.openxmlformats.org/officeDocument/2006/relationships/image" Target="../media/image71.png"/><Relationship Id="rId5" Type="http://schemas.openxmlformats.org/officeDocument/2006/relationships/image" Target="../media/image70.wmf"/><Relationship Id="rId4" Type="http://schemas.openxmlformats.org/officeDocument/2006/relationships/oleObject" Target="../embeddings/oleObject45.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ags" Target="../tags/tag140.xml"/></Relationships>
</file>

<file path=ppt/slides/_rels/slide30.xml.rels><?xml version="1.0" encoding="UTF-8" standalone="yes"?>
<Relationships xmlns="http://schemas.openxmlformats.org/package/2006/relationships"><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 Id="rId5" Type="http://schemas.openxmlformats.org/officeDocument/2006/relationships/image" Target="../media/image73.jpeg"/><Relationship Id="rId4"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3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Layout" Target="../slideLayouts/slideLayout16.xml"/><Relationship Id="rId4" Type="http://schemas.openxmlformats.org/officeDocument/2006/relationships/image" Target="../media/image82.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3.png"/><Relationship Id="rId7" Type="http://schemas.openxmlformats.org/officeDocument/2006/relationships/image" Target="../media/image85.wmf"/><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oleObject" Target="../embeddings/oleObject47.bin"/><Relationship Id="rId5" Type="http://schemas.openxmlformats.org/officeDocument/2006/relationships/image" Target="../media/image84.wmf"/><Relationship Id="rId4" Type="http://schemas.openxmlformats.org/officeDocument/2006/relationships/oleObject" Target="../embeddings/oleObject46.bin"/></Relationships>
</file>

<file path=ppt/slides/_rels/slide40.xml.rels><?xml version="1.0" encoding="UTF-8" standalone="yes"?>
<Relationships xmlns="http://schemas.openxmlformats.org/package/2006/relationships"><Relationship Id="rId3" Type="http://schemas.openxmlformats.org/officeDocument/2006/relationships/image" Target="../media/image84.wmf"/><Relationship Id="rId7" Type="http://schemas.openxmlformats.org/officeDocument/2006/relationships/image" Target="../media/image88.wmf"/><Relationship Id="rId2" Type="http://schemas.openxmlformats.org/officeDocument/2006/relationships/oleObject" Target="../embeddings/oleObject48.bin"/><Relationship Id="rId1" Type="http://schemas.openxmlformats.org/officeDocument/2006/relationships/slideLayout" Target="../slideLayouts/slideLayout7.xml"/><Relationship Id="rId6" Type="http://schemas.openxmlformats.org/officeDocument/2006/relationships/oleObject" Target="../embeddings/oleObject50.bin"/><Relationship Id="rId5" Type="http://schemas.openxmlformats.org/officeDocument/2006/relationships/image" Target="../media/image87.wmf"/><Relationship Id="rId4" Type="http://schemas.openxmlformats.org/officeDocument/2006/relationships/oleObject" Target="../embeddings/oleObject49.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ags" Target="../tags/tag14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89.wmf"/></Relationships>
</file>

<file path=ppt/slides/_rels/slide4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840.png"/><Relationship Id="rId4" Type="http://schemas.openxmlformats.org/officeDocument/2006/relationships/image" Target="../media/image91.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860.png"/><Relationship Id="rId4" Type="http://schemas.openxmlformats.org/officeDocument/2006/relationships/image" Target="../media/image92.wmf"/></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56.bin"/><Relationship Id="rId3" Type="http://schemas.openxmlformats.org/officeDocument/2006/relationships/oleObject" Target="../embeddings/oleObject54.bin"/><Relationship Id="rId7" Type="http://schemas.openxmlformats.org/officeDocument/2006/relationships/image" Target="../media/image95.pn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94.wmf"/><Relationship Id="rId11" Type="http://schemas.openxmlformats.org/officeDocument/2006/relationships/image" Target="../media/image97.wmf"/><Relationship Id="rId5" Type="http://schemas.openxmlformats.org/officeDocument/2006/relationships/oleObject" Target="../embeddings/oleObject55.bin"/><Relationship Id="rId10" Type="http://schemas.openxmlformats.org/officeDocument/2006/relationships/oleObject" Target="../embeddings/oleObject57.bin"/><Relationship Id="rId4" Type="http://schemas.openxmlformats.org/officeDocument/2006/relationships/image" Target="../media/image93.wmf"/><Relationship Id="rId9" Type="http://schemas.openxmlformats.org/officeDocument/2006/relationships/image" Target="../media/image96.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98.wmf"/></Relationships>
</file>

<file path=ppt/slides/_rels/slide4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wmf"/><Relationship Id="rId4" Type="http://schemas.openxmlformats.org/officeDocument/2006/relationships/oleObject" Target="../embeddings/oleObject59.bin"/></Relationships>
</file>

<file path=ppt/slides/_rels/slide5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image" Target="../media/image99.wmf"/><Relationship Id="rId4" Type="http://schemas.openxmlformats.org/officeDocument/2006/relationships/oleObject" Target="../embeddings/oleObject59.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63.bin"/><Relationship Id="rId3" Type="http://schemas.openxmlformats.org/officeDocument/2006/relationships/image" Target="../media/image102.wmf"/><Relationship Id="rId7" Type="http://schemas.openxmlformats.org/officeDocument/2006/relationships/image" Target="../media/image104.wmf"/><Relationship Id="rId2" Type="http://schemas.openxmlformats.org/officeDocument/2006/relationships/oleObject" Target="../embeddings/oleObject60.bin"/><Relationship Id="rId1" Type="http://schemas.openxmlformats.org/officeDocument/2006/relationships/slideLayout" Target="../slideLayouts/slideLayout7.xml"/><Relationship Id="rId6" Type="http://schemas.openxmlformats.org/officeDocument/2006/relationships/oleObject" Target="../embeddings/oleObject62.bin"/><Relationship Id="rId11" Type="http://schemas.openxmlformats.org/officeDocument/2006/relationships/image" Target="../media/image99.wmf"/><Relationship Id="rId5" Type="http://schemas.openxmlformats.org/officeDocument/2006/relationships/image" Target="../media/image103.wmf"/><Relationship Id="rId10" Type="http://schemas.openxmlformats.org/officeDocument/2006/relationships/oleObject" Target="../embeddings/oleObject59.bin"/><Relationship Id="rId4" Type="http://schemas.openxmlformats.org/officeDocument/2006/relationships/oleObject" Target="../embeddings/oleObject61.bin"/><Relationship Id="rId9" Type="http://schemas.openxmlformats.org/officeDocument/2006/relationships/image" Target="../media/image105.wmf"/></Relationships>
</file>

<file path=ppt/slides/_rels/slide52.xml.rels><?xml version="1.0" encoding="UTF-8" standalone="yes"?>
<Relationships xmlns="http://schemas.openxmlformats.org/package/2006/relationships"><Relationship Id="rId8" Type="http://schemas.openxmlformats.org/officeDocument/2006/relationships/image" Target="../media/image108.wmf"/><Relationship Id="rId3" Type="http://schemas.openxmlformats.org/officeDocument/2006/relationships/oleObject" Target="../embeddings/oleObject64.bin"/><Relationship Id="rId7" Type="http://schemas.openxmlformats.org/officeDocument/2006/relationships/oleObject" Target="../embeddings/oleObject66.bin"/><Relationship Id="rId12" Type="http://schemas.openxmlformats.org/officeDocument/2006/relationships/image" Target="../media/image99.wmf"/><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107.wmf"/><Relationship Id="rId11" Type="http://schemas.openxmlformats.org/officeDocument/2006/relationships/oleObject" Target="../embeddings/oleObject59.bin"/><Relationship Id="rId5" Type="http://schemas.openxmlformats.org/officeDocument/2006/relationships/oleObject" Target="../embeddings/oleObject65.bin"/><Relationship Id="rId10" Type="http://schemas.openxmlformats.org/officeDocument/2006/relationships/image" Target="../media/image109.wmf"/><Relationship Id="rId4" Type="http://schemas.openxmlformats.org/officeDocument/2006/relationships/image" Target="../media/image106.wmf"/><Relationship Id="rId9" Type="http://schemas.openxmlformats.org/officeDocument/2006/relationships/oleObject" Target="../embeddings/oleObject67.bin"/></Relationships>
</file>

<file path=ppt/slides/_rels/slide5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43.xml"/><Relationship Id="rId1" Type="http://schemas.openxmlformats.org/officeDocument/2006/relationships/slideLayout" Target="../slideLayouts/slideLayout7.xml"/><Relationship Id="rId5" Type="http://schemas.openxmlformats.org/officeDocument/2006/relationships/image" Target="../media/image99.wmf"/><Relationship Id="rId4" Type="http://schemas.openxmlformats.org/officeDocument/2006/relationships/oleObject" Target="../embeddings/oleObject59.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image" Target="../media/image111.png"/><Relationship Id="rId7" Type="http://schemas.openxmlformats.org/officeDocument/2006/relationships/image" Target="../media/image113.wmf"/><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oleObject" Target="../embeddings/oleObject69.bin"/><Relationship Id="rId11" Type="http://schemas.openxmlformats.org/officeDocument/2006/relationships/image" Target="../media/image99.wmf"/><Relationship Id="rId5" Type="http://schemas.openxmlformats.org/officeDocument/2006/relationships/image" Target="../media/image112.wmf"/><Relationship Id="rId10" Type="http://schemas.openxmlformats.org/officeDocument/2006/relationships/oleObject" Target="../embeddings/oleObject59.bin"/><Relationship Id="rId4" Type="http://schemas.openxmlformats.org/officeDocument/2006/relationships/oleObject" Target="../embeddings/oleObject68.bin"/><Relationship Id="rId9" Type="http://schemas.openxmlformats.org/officeDocument/2006/relationships/image" Target="../media/image114.wmf"/></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74.bin"/><Relationship Id="rId13" Type="http://schemas.openxmlformats.org/officeDocument/2006/relationships/image" Target="../media/image120.wmf"/><Relationship Id="rId3" Type="http://schemas.openxmlformats.org/officeDocument/2006/relationships/image" Target="../media/image115.wmf"/><Relationship Id="rId7" Type="http://schemas.openxmlformats.org/officeDocument/2006/relationships/image" Target="../media/image117.wmf"/><Relationship Id="rId12" Type="http://schemas.openxmlformats.org/officeDocument/2006/relationships/oleObject" Target="../embeddings/oleObject76.bin"/><Relationship Id="rId2" Type="http://schemas.openxmlformats.org/officeDocument/2006/relationships/oleObject" Target="../embeddings/oleObject71.bin"/><Relationship Id="rId1" Type="http://schemas.openxmlformats.org/officeDocument/2006/relationships/slideLayout" Target="../slideLayouts/slideLayout7.xml"/><Relationship Id="rId6" Type="http://schemas.openxmlformats.org/officeDocument/2006/relationships/oleObject" Target="../embeddings/oleObject73.bin"/><Relationship Id="rId11" Type="http://schemas.openxmlformats.org/officeDocument/2006/relationships/image" Target="../media/image119.wmf"/><Relationship Id="rId5" Type="http://schemas.openxmlformats.org/officeDocument/2006/relationships/image" Target="../media/image116.wmf"/><Relationship Id="rId15" Type="http://schemas.openxmlformats.org/officeDocument/2006/relationships/image" Target="../media/image99.wmf"/><Relationship Id="rId10" Type="http://schemas.openxmlformats.org/officeDocument/2006/relationships/oleObject" Target="../embeddings/oleObject75.bin"/><Relationship Id="rId4" Type="http://schemas.openxmlformats.org/officeDocument/2006/relationships/oleObject" Target="../embeddings/oleObject72.bin"/><Relationship Id="rId9" Type="http://schemas.openxmlformats.org/officeDocument/2006/relationships/image" Target="../media/image118.wmf"/><Relationship Id="rId14" Type="http://schemas.openxmlformats.org/officeDocument/2006/relationships/oleObject" Target="../embeddings/oleObject59.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59.bin"/><Relationship Id="rId3" Type="http://schemas.openxmlformats.org/officeDocument/2006/relationships/image" Target="../media/image121.png"/><Relationship Id="rId7" Type="http://schemas.openxmlformats.org/officeDocument/2006/relationships/image" Target="../media/image123.wmf"/><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oleObject" Target="../embeddings/oleObject78.bin"/><Relationship Id="rId5" Type="http://schemas.openxmlformats.org/officeDocument/2006/relationships/image" Target="../media/image122.wmf"/><Relationship Id="rId4" Type="http://schemas.openxmlformats.org/officeDocument/2006/relationships/oleObject" Target="../embeddings/oleObject77.bin"/><Relationship Id="rId9" Type="http://schemas.openxmlformats.org/officeDocument/2006/relationships/image" Target="../media/image99.wmf"/></Relationships>
</file>

<file path=ppt/slides/_rels/slide57.xml.rels><?xml version="1.0" encoding="UTF-8" standalone="yes"?>
<Relationships xmlns="http://schemas.openxmlformats.org/package/2006/relationships"><Relationship Id="rId3" Type="http://schemas.openxmlformats.org/officeDocument/2006/relationships/image" Target="../media/image125.png"/><Relationship Id="rId7" Type="http://schemas.openxmlformats.org/officeDocument/2006/relationships/image" Target="../media/image127.wmf"/><Relationship Id="rId2" Type="http://schemas.openxmlformats.org/officeDocument/2006/relationships/image" Target="../media/image124.png"/><Relationship Id="rId1" Type="http://schemas.openxmlformats.org/officeDocument/2006/relationships/slideLayout" Target="../slideLayouts/slideLayout7.xml"/><Relationship Id="rId6" Type="http://schemas.openxmlformats.org/officeDocument/2006/relationships/oleObject" Target="../embeddings/oleObject80.bin"/><Relationship Id="rId5" Type="http://schemas.openxmlformats.org/officeDocument/2006/relationships/image" Target="../media/image126.wmf"/><Relationship Id="rId4" Type="http://schemas.openxmlformats.org/officeDocument/2006/relationships/oleObject" Target="../embeddings/oleObject79.bin"/></Relationships>
</file>

<file path=ppt/slides/_rels/slide58.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81.bin"/><Relationship Id="rId7" Type="http://schemas.openxmlformats.org/officeDocument/2006/relationships/image" Target="../media/image99.wmf"/><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oleObject" Target="../embeddings/oleObject59.bin"/><Relationship Id="rId5" Type="http://schemas.openxmlformats.org/officeDocument/2006/relationships/image" Target="../media/image130.png"/><Relationship Id="rId4" Type="http://schemas.openxmlformats.org/officeDocument/2006/relationships/image" Target="../media/image129.w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image" Target="../media/image131.png"/><Relationship Id="rId1" Type="http://schemas.openxmlformats.org/officeDocument/2006/relationships/slideLayout" Target="../slideLayouts/slideLayout7.xml"/><Relationship Id="rId4" Type="http://schemas.openxmlformats.org/officeDocument/2006/relationships/image" Target="../media/image99.wmf"/></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tags" Target="../tags/tag145.xml"/></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image" Target="../media/image135.wmf"/><Relationship Id="rId3" Type="http://schemas.openxmlformats.org/officeDocument/2006/relationships/image" Target="../media/image84.wmf"/><Relationship Id="rId7" Type="http://schemas.openxmlformats.org/officeDocument/2006/relationships/image" Target="../media/image132.wmf"/><Relationship Id="rId12" Type="http://schemas.openxmlformats.org/officeDocument/2006/relationships/oleObject" Target="../embeddings/oleObject87.bin"/><Relationship Id="rId17" Type="http://schemas.openxmlformats.org/officeDocument/2006/relationships/image" Target="../media/image138.wmf"/><Relationship Id="rId2" Type="http://schemas.openxmlformats.org/officeDocument/2006/relationships/oleObject" Target="../embeddings/oleObject82.bin"/><Relationship Id="rId16" Type="http://schemas.openxmlformats.org/officeDocument/2006/relationships/oleObject" Target="../embeddings/oleObject88.bin"/><Relationship Id="rId1" Type="http://schemas.openxmlformats.org/officeDocument/2006/relationships/slideLayout" Target="../slideLayouts/slideLayout7.xml"/><Relationship Id="rId6" Type="http://schemas.openxmlformats.org/officeDocument/2006/relationships/oleObject" Target="../embeddings/oleObject84.bin"/><Relationship Id="rId11" Type="http://schemas.openxmlformats.org/officeDocument/2006/relationships/image" Target="../media/image134.wmf"/><Relationship Id="rId5" Type="http://schemas.openxmlformats.org/officeDocument/2006/relationships/image" Target="../media/image87.wmf"/><Relationship Id="rId15" Type="http://schemas.openxmlformats.org/officeDocument/2006/relationships/image" Target="../media/image137.jpeg"/><Relationship Id="rId10" Type="http://schemas.openxmlformats.org/officeDocument/2006/relationships/oleObject" Target="../embeddings/oleObject86.bin"/><Relationship Id="rId4" Type="http://schemas.openxmlformats.org/officeDocument/2006/relationships/oleObject" Target="../embeddings/oleObject83.bin"/><Relationship Id="rId9" Type="http://schemas.openxmlformats.org/officeDocument/2006/relationships/image" Target="../media/image133.wmf"/><Relationship Id="rId14" Type="http://schemas.openxmlformats.org/officeDocument/2006/relationships/image" Target="../media/image136.jpeg"/></Relationships>
</file>

<file path=ppt/slides/_rels/slide63.xml.rels><?xml version="1.0" encoding="UTF-8" standalone="yes"?>
<Relationships xmlns="http://schemas.openxmlformats.org/package/2006/relationships"><Relationship Id="rId8" Type="http://schemas.openxmlformats.org/officeDocument/2006/relationships/image" Target="../media/image142.wmf"/><Relationship Id="rId3" Type="http://schemas.openxmlformats.org/officeDocument/2006/relationships/oleObject" Target="../embeddings/oleObject89.bin"/><Relationship Id="rId7" Type="http://schemas.openxmlformats.org/officeDocument/2006/relationships/oleObject" Target="../embeddings/oleObject91.bin"/><Relationship Id="rId2" Type="http://schemas.openxmlformats.org/officeDocument/2006/relationships/image" Target="../media/image139.png"/><Relationship Id="rId1" Type="http://schemas.openxmlformats.org/officeDocument/2006/relationships/slideLayout" Target="../slideLayouts/slideLayout7.xml"/><Relationship Id="rId6" Type="http://schemas.openxmlformats.org/officeDocument/2006/relationships/image" Target="../media/image141.wmf"/><Relationship Id="rId5" Type="http://schemas.openxmlformats.org/officeDocument/2006/relationships/oleObject" Target="../embeddings/oleObject90.bin"/><Relationship Id="rId4" Type="http://schemas.openxmlformats.org/officeDocument/2006/relationships/image" Target="../media/image140.wmf"/></Relationships>
</file>

<file path=ppt/slides/_rels/slide64.xml.rels><?xml version="1.0" encoding="UTF-8" standalone="yes"?>
<Relationships xmlns="http://schemas.openxmlformats.org/package/2006/relationships"><Relationship Id="rId3" Type="http://schemas.openxmlformats.org/officeDocument/2006/relationships/image" Target="../media/image143.wmf"/><Relationship Id="rId7" Type="http://schemas.openxmlformats.org/officeDocument/2006/relationships/image" Target="../media/image145.wmf"/><Relationship Id="rId2" Type="http://schemas.openxmlformats.org/officeDocument/2006/relationships/oleObject" Target="../embeddings/oleObject92.bin"/><Relationship Id="rId1" Type="http://schemas.openxmlformats.org/officeDocument/2006/relationships/slideLayout" Target="../slideLayouts/slideLayout7.xml"/><Relationship Id="rId6" Type="http://schemas.openxmlformats.org/officeDocument/2006/relationships/oleObject" Target="../embeddings/oleObject94.bin"/><Relationship Id="rId5" Type="http://schemas.openxmlformats.org/officeDocument/2006/relationships/image" Target="../media/image144.wmf"/><Relationship Id="rId4" Type="http://schemas.openxmlformats.org/officeDocument/2006/relationships/oleObject" Target="../embeddings/oleObject93.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96.bin"/><Relationship Id="rId3" Type="http://schemas.openxmlformats.org/officeDocument/2006/relationships/image" Target="../media/image146.png"/><Relationship Id="rId7" Type="http://schemas.openxmlformats.org/officeDocument/2006/relationships/image" Target="../media/image149.wmf"/><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oleObject" Target="../embeddings/oleObject95.bin"/><Relationship Id="rId11" Type="http://schemas.openxmlformats.org/officeDocument/2006/relationships/image" Target="../media/image151.wmf"/><Relationship Id="rId5" Type="http://schemas.openxmlformats.org/officeDocument/2006/relationships/image" Target="../media/image148.png"/><Relationship Id="rId10" Type="http://schemas.openxmlformats.org/officeDocument/2006/relationships/oleObject" Target="../embeddings/oleObject97.bin"/><Relationship Id="rId4" Type="http://schemas.openxmlformats.org/officeDocument/2006/relationships/image" Target="../media/image147.png"/><Relationship Id="rId9" Type="http://schemas.openxmlformats.org/officeDocument/2006/relationships/image" Target="../media/image150.wmf"/></Relationships>
</file>

<file path=ppt/slides/_rels/slide66.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99.bin"/><Relationship Id="rId3" Type="http://schemas.openxmlformats.org/officeDocument/2006/relationships/oleObject" Target="../embeddings/oleObject98.bin"/><Relationship Id="rId7" Type="http://schemas.openxmlformats.org/officeDocument/2006/relationships/image" Target="../media/image157.jpeg"/><Relationship Id="rId2" Type="http://schemas.openxmlformats.org/officeDocument/2006/relationships/image" Target="../media/image153.png"/><Relationship Id="rId1" Type="http://schemas.openxmlformats.org/officeDocument/2006/relationships/slideLayout" Target="../slideLayouts/slideLayout7.xml"/><Relationship Id="rId6" Type="http://schemas.openxmlformats.org/officeDocument/2006/relationships/image" Target="../media/image156.png"/><Relationship Id="rId5" Type="http://schemas.openxmlformats.org/officeDocument/2006/relationships/image" Target="../media/image155.jpeg"/><Relationship Id="rId4" Type="http://schemas.openxmlformats.org/officeDocument/2006/relationships/image" Target="../media/image154.wmf"/><Relationship Id="rId9" Type="http://schemas.openxmlformats.org/officeDocument/2006/relationships/image" Target="../media/image158.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00.bin"/><Relationship Id="rId7" Type="http://schemas.openxmlformats.org/officeDocument/2006/relationships/image" Target="../media/image161.png"/><Relationship Id="rId2" Type="http://schemas.openxmlformats.org/officeDocument/2006/relationships/notesSlide" Target="../notesSlides/notesSlide50.xml"/><Relationship Id="rId1" Type="http://schemas.openxmlformats.org/officeDocument/2006/relationships/slideLayout" Target="../slideLayouts/slideLayout7.xml"/><Relationship Id="rId6" Type="http://schemas.openxmlformats.org/officeDocument/2006/relationships/image" Target="../media/image160.wmf"/><Relationship Id="rId5" Type="http://schemas.openxmlformats.org/officeDocument/2006/relationships/oleObject" Target="../embeddings/oleObject101.bin"/><Relationship Id="rId4" Type="http://schemas.openxmlformats.org/officeDocument/2006/relationships/image" Target="../media/image159.wmf"/></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7.xml"/><Relationship Id="rId1" Type="http://schemas.openxmlformats.org/officeDocument/2006/relationships/tags" Target="../tags/tag146.xml"/></Relationships>
</file>

<file path=ppt/slides/_rels/slide71.xml.rels><?xml version="1.0" encoding="UTF-8" standalone="yes"?>
<Relationships xmlns="http://schemas.openxmlformats.org/package/2006/relationships"><Relationship Id="rId13" Type="http://schemas.openxmlformats.org/officeDocument/2006/relationships/tags" Target="../tags/tag159.xml"/><Relationship Id="rId18" Type="http://schemas.openxmlformats.org/officeDocument/2006/relationships/tags" Target="../tags/tag164.xml"/><Relationship Id="rId26" Type="http://schemas.openxmlformats.org/officeDocument/2006/relationships/tags" Target="../tags/tag172.xml"/><Relationship Id="rId21" Type="http://schemas.openxmlformats.org/officeDocument/2006/relationships/tags" Target="../tags/tag167.xml"/><Relationship Id="rId34" Type="http://schemas.openxmlformats.org/officeDocument/2006/relationships/tags" Target="../tags/tag180.xml"/><Relationship Id="rId7" Type="http://schemas.openxmlformats.org/officeDocument/2006/relationships/tags" Target="../tags/tag153.xml"/><Relationship Id="rId12" Type="http://schemas.openxmlformats.org/officeDocument/2006/relationships/tags" Target="../tags/tag158.xml"/><Relationship Id="rId17" Type="http://schemas.openxmlformats.org/officeDocument/2006/relationships/tags" Target="../tags/tag163.xml"/><Relationship Id="rId25" Type="http://schemas.openxmlformats.org/officeDocument/2006/relationships/tags" Target="../tags/tag171.xml"/><Relationship Id="rId33" Type="http://schemas.openxmlformats.org/officeDocument/2006/relationships/tags" Target="../tags/tag179.xml"/><Relationship Id="rId38" Type="http://schemas.openxmlformats.org/officeDocument/2006/relationships/image" Target="../media/image162.png"/><Relationship Id="rId2" Type="http://schemas.openxmlformats.org/officeDocument/2006/relationships/tags" Target="../tags/tag148.xml"/><Relationship Id="rId16" Type="http://schemas.openxmlformats.org/officeDocument/2006/relationships/tags" Target="../tags/tag162.xml"/><Relationship Id="rId20" Type="http://schemas.openxmlformats.org/officeDocument/2006/relationships/tags" Target="../tags/tag166.xml"/><Relationship Id="rId29" Type="http://schemas.openxmlformats.org/officeDocument/2006/relationships/tags" Target="../tags/tag175.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tags" Target="../tags/tag157.xml"/><Relationship Id="rId24" Type="http://schemas.openxmlformats.org/officeDocument/2006/relationships/tags" Target="../tags/tag170.xml"/><Relationship Id="rId32" Type="http://schemas.openxmlformats.org/officeDocument/2006/relationships/tags" Target="../tags/tag178.xml"/><Relationship Id="rId37" Type="http://schemas.openxmlformats.org/officeDocument/2006/relationships/slideLayout" Target="../slideLayouts/slideLayout17.xml"/><Relationship Id="rId5" Type="http://schemas.openxmlformats.org/officeDocument/2006/relationships/tags" Target="../tags/tag151.xml"/><Relationship Id="rId15" Type="http://schemas.openxmlformats.org/officeDocument/2006/relationships/tags" Target="../tags/tag161.xml"/><Relationship Id="rId23" Type="http://schemas.openxmlformats.org/officeDocument/2006/relationships/tags" Target="../tags/tag169.xml"/><Relationship Id="rId28" Type="http://schemas.openxmlformats.org/officeDocument/2006/relationships/tags" Target="../tags/tag174.xml"/><Relationship Id="rId36" Type="http://schemas.openxmlformats.org/officeDocument/2006/relationships/tags" Target="../tags/tag182.xml"/><Relationship Id="rId10" Type="http://schemas.openxmlformats.org/officeDocument/2006/relationships/tags" Target="../tags/tag156.xml"/><Relationship Id="rId19" Type="http://schemas.openxmlformats.org/officeDocument/2006/relationships/tags" Target="../tags/tag165.xml"/><Relationship Id="rId31" Type="http://schemas.openxmlformats.org/officeDocument/2006/relationships/tags" Target="../tags/tag177.xml"/><Relationship Id="rId4" Type="http://schemas.openxmlformats.org/officeDocument/2006/relationships/tags" Target="../tags/tag150.xml"/><Relationship Id="rId9" Type="http://schemas.openxmlformats.org/officeDocument/2006/relationships/tags" Target="../tags/tag155.xml"/><Relationship Id="rId14" Type="http://schemas.openxmlformats.org/officeDocument/2006/relationships/tags" Target="../tags/tag160.xml"/><Relationship Id="rId22" Type="http://schemas.openxmlformats.org/officeDocument/2006/relationships/tags" Target="../tags/tag168.xml"/><Relationship Id="rId27" Type="http://schemas.openxmlformats.org/officeDocument/2006/relationships/tags" Target="../tags/tag173.xml"/><Relationship Id="rId30" Type="http://schemas.openxmlformats.org/officeDocument/2006/relationships/tags" Target="../tags/tag176.xml"/><Relationship Id="rId35" Type="http://schemas.openxmlformats.org/officeDocument/2006/relationships/tags" Target="../tags/tag181.xml"/><Relationship Id="rId8" Type="http://schemas.openxmlformats.org/officeDocument/2006/relationships/tags" Target="../tags/tag154.xml"/><Relationship Id="rId3" Type="http://schemas.openxmlformats.org/officeDocument/2006/relationships/tags" Target="../tags/tag149.xml"/></Relationships>
</file>

<file path=ppt/slides/_rels/slide72.xml.rels><?xml version="1.0" encoding="UTF-8" standalone="yes"?>
<Relationships xmlns="http://schemas.openxmlformats.org/package/2006/relationships"><Relationship Id="rId8" Type="http://schemas.openxmlformats.org/officeDocument/2006/relationships/tags" Target="../tags/tag190.xml"/><Relationship Id="rId13" Type="http://schemas.openxmlformats.org/officeDocument/2006/relationships/tags" Target="../tags/tag195.xml"/><Relationship Id="rId18" Type="http://schemas.openxmlformats.org/officeDocument/2006/relationships/tags" Target="../tags/tag200.xml"/><Relationship Id="rId26" Type="http://schemas.openxmlformats.org/officeDocument/2006/relationships/tags" Target="../tags/tag208.xml"/><Relationship Id="rId3" Type="http://schemas.openxmlformats.org/officeDocument/2006/relationships/tags" Target="../tags/tag185.xml"/><Relationship Id="rId21" Type="http://schemas.openxmlformats.org/officeDocument/2006/relationships/tags" Target="../tags/tag203.xml"/><Relationship Id="rId7" Type="http://schemas.openxmlformats.org/officeDocument/2006/relationships/tags" Target="../tags/tag189.xml"/><Relationship Id="rId12" Type="http://schemas.openxmlformats.org/officeDocument/2006/relationships/tags" Target="../tags/tag194.xml"/><Relationship Id="rId17" Type="http://schemas.openxmlformats.org/officeDocument/2006/relationships/tags" Target="../tags/tag199.xml"/><Relationship Id="rId25" Type="http://schemas.openxmlformats.org/officeDocument/2006/relationships/tags" Target="../tags/tag207.xml"/><Relationship Id="rId2" Type="http://schemas.openxmlformats.org/officeDocument/2006/relationships/tags" Target="../tags/tag184.xml"/><Relationship Id="rId16" Type="http://schemas.openxmlformats.org/officeDocument/2006/relationships/tags" Target="../tags/tag198.xml"/><Relationship Id="rId20" Type="http://schemas.openxmlformats.org/officeDocument/2006/relationships/tags" Target="../tags/tag202.xml"/><Relationship Id="rId29" Type="http://schemas.openxmlformats.org/officeDocument/2006/relationships/slideLayout" Target="../slideLayouts/slideLayout17.xml"/><Relationship Id="rId1" Type="http://schemas.openxmlformats.org/officeDocument/2006/relationships/tags" Target="../tags/tag183.xml"/><Relationship Id="rId6" Type="http://schemas.openxmlformats.org/officeDocument/2006/relationships/tags" Target="../tags/tag188.xml"/><Relationship Id="rId11" Type="http://schemas.openxmlformats.org/officeDocument/2006/relationships/tags" Target="../tags/tag193.xml"/><Relationship Id="rId24" Type="http://schemas.openxmlformats.org/officeDocument/2006/relationships/tags" Target="../tags/tag206.xml"/><Relationship Id="rId5" Type="http://schemas.openxmlformats.org/officeDocument/2006/relationships/tags" Target="../tags/tag187.xml"/><Relationship Id="rId15" Type="http://schemas.openxmlformats.org/officeDocument/2006/relationships/tags" Target="../tags/tag197.xml"/><Relationship Id="rId23" Type="http://schemas.openxmlformats.org/officeDocument/2006/relationships/tags" Target="../tags/tag205.xml"/><Relationship Id="rId28" Type="http://schemas.openxmlformats.org/officeDocument/2006/relationships/tags" Target="../tags/tag210.xml"/><Relationship Id="rId10" Type="http://schemas.openxmlformats.org/officeDocument/2006/relationships/tags" Target="../tags/tag192.xml"/><Relationship Id="rId19" Type="http://schemas.openxmlformats.org/officeDocument/2006/relationships/tags" Target="../tags/tag201.xml"/><Relationship Id="rId4" Type="http://schemas.openxmlformats.org/officeDocument/2006/relationships/tags" Target="../tags/tag186.xml"/><Relationship Id="rId9" Type="http://schemas.openxmlformats.org/officeDocument/2006/relationships/tags" Target="../tags/tag191.xml"/><Relationship Id="rId14" Type="http://schemas.openxmlformats.org/officeDocument/2006/relationships/tags" Target="../tags/tag196.xml"/><Relationship Id="rId22" Type="http://schemas.openxmlformats.org/officeDocument/2006/relationships/tags" Target="../tags/tag204.xml"/><Relationship Id="rId27" Type="http://schemas.openxmlformats.org/officeDocument/2006/relationships/tags" Target="../tags/tag209.xml"/><Relationship Id="rId30" Type="http://schemas.openxmlformats.org/officeDocument/2006/relationships/image" Target="../media/image163.png"/></Relationships>
</file>

<file path=ppt/slides/_rels/slide73.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7.xml"/><Relationship Id="rId1" Type="http://schemas.openxmlformats.org/officeDocument/2006/relationships/tags" Target="../tags/tag2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idx="4294967295"/>
          </p:nvPr>
        </p:nvSpPr>
        <p:spPr>
          <a:xfrm>
            <a:off x="2238376" y="428626"/>
            <a:ext cx="7529513" cy="1368425"/>
          </a:xfrm>
        </p:spPr>
        <p:txBody>
          <a:bodyPr/>
          <a:lstStyle/>
          <a:p>
            <a:pPr marL="0" indent="0"/>
            <a:r>
              <a:rPr lang="en-US" altLang="nl-NL" sz="2800" b="1">
                <a:solidFill>
                  <a:schemeClr val="bg2"/>
                </a:solidFill>
              </a:rPr>
              <a:t>Aerospace Design and</a:t>
            </a:r>
            <a:br>
              <a:rPr lang="en-US" altLang="nl-NL" sz="2800" b="1">
                <a:solidFill>
                  <a:schemeClr val="bg2"/>
                </a:solidFill>
              </a:rPr>
            </a:br>
            <a:r>
              <a:rPr lang="en-US" altLang="nl-NL" sz="2800" b="1">
                <a:solidFill>
                  <a:schemeClr val="bg2"/>
                </a:solidFill>
              </a:rPr>
              <a:t>Systems Engineering Elements II  </a:t>
            </a:r>
            <a:r>
              <a:rPr lang="en-US" altLang="nl-NL" sz="2400" b="1">
                <a:solidFill>
                  <a:schemeClr val="bg2"/>
                </a:solidFill>
              </a:rPr>
              <a:t>AE2111-II aircraft part</a:t>
            </a:r>
          </a:p>
        </p:txBody>
      </p:sp>
      <p:sp>
        <p:nvSpPr>
          <p:cNvPr id="3075" name="Rectangle 3"/>
          <p:cNvSpPr>
            <a:spLocks noGrp="1" noChangeArrowheads="1"/>
          </p:cNvSpPr>
          <p:nvPr>
            <p:ph type="subTitle" idx="4294967295"/>
          </p:nvPr>
        </p:nvSpPr>
        <p:spPr>
          <a:xfrm>
            <a:off x="32621" y="2751931"/>
            <a:ext cx="3208338" cy="1785937"/>
          </a:xfrm>
        </p:spPr>
        <p:txBody>
          <a:bodyPr/>
          <a:lstStyle/>
          <a:p>
            <a:pPr marL="0" indent="0">
              <a:buNone/>
            </a:pPr>
            <a:r>
              <a:rPr lang="en-US" altLang="nl-NL" sz="1800" b="1" dirty="0">
                <a:solidFill>
                  <a:schemeClr val="bg1"/>
                </a:solidFill>
              </a:rPr>
              <a:t>Dr. F. Oliviero</a:t>
            </a:r>
          </a:p>
          <a:p>
            <a:pPr marL="0" indent="0">
              <a:buNone/>
            </a:pPr>
            <a:r>
              <a:rPr lang="en-US" altLang="nl-NL" sz="1800" dirty="0">
                <a:solidFill>
                  <a:schemeClr val="bg1"/>
                </a:solidFill>
              </a:rPr>
              <a:t>		</a:t>
            </a:r>
          </a:p>
          <a:p>
            <a:pPr marL="0" indent="0">
              <a:buNone/>
            </a:pPr>
            <a:r>
              <a:rPr lang="en-US" altLang="nl-NL" sz="1600" dirty="0">
                <a:solidFill>
                  <a:schemeClr val="bg1"/>
                </a:solidFill>
              </a:rPr>
              <a:t>Flight Performance &amp; Propulsion Group (FPP)</a:t>
            </a:r>
          </a:p>
          <a:p>
            <a:pPr marL="0" indent="0">
              <a:buNone/>
            </a:pPr>
            <a:r>
              <a:rPr lang="en-US" altLang="nl-NL" sz="1800" dirty="0">
                <a:solidFill>
                  <a:schemeClr val="bg1"/>
                </a:solidFill>
              </a:rPr>
              <a:t>		</a:t>
            </a:r>
          </a:p>
        </p:txBody>
      </p:sp>
      <p:sp>
        <p:nvSpPr>
          <p:cNvPr id="3076" name="Rectangle 3"/>
          <p:cNvSpPr>
            <a:spLocks noGrp="1" noChangeArrowheads="1"/>
          </p:cNvSpPr>
          <p:nvPr>
            <p:ph type="subTitle" idx="4294967295"/>
          </p:nvPr>
        </p:nvSpPr>
        <p:spPr>
          <a:xfrm>
            <a:off x="3647728" y="2024286"/>
            <a:ext cx="7488831" cy="1617662"/>
          </a:xfrm>
        </p:spPr>
        <p:txBody>
          <a:bodyPr/>
          <a:lstStyle/>
          <a:p>
            <a:pPr marL="0" indent="0" algn="ctr">
              <a:lnSpc>
                <a:spcPct val="100000"/>
              </a:lnSpc>
              <a:buNone/>
            </a:pPr>
            <a:endParaRPr lang="en-US" altLang="nl-NL" i="1" dirty="0">
              <a:solidFill>
                <a:schemeClr val="bg1"/>
              </a:solidFill>
            </a:endParaRPr>
          </a:p>
          <a:p>
            <a:pPr marL="0" indent="0" algn="ctr">
              <a:lnSpc>
                <a:spcPct val="100000"/>
              </a:lnSpc>
              <a:buNone/>
            </a:pPr>
            <a:r>
              <a:rPr lang="en-US" altLang="nl-NL" sz="3200" dirty="0">
                <a:solidFill>
                  <a:schemeClr val="bg1"/>
                </a:solidFill>
              </a:rPr>
              <a:t>Aircraft aerodynamic analysis – Estimation of Lift &amp; Drag</a:t>
            </a:r>
            <a:endParaRPr lang="en-US" altLang="nl-NL" dirty="0">
              <a:solidFill>
                <a:schemeClr val="bg1"/>
              </a:solidFill>
            </a:endParaRPr>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839416" y="192148"/>
            <a:ext cx="69246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dirty="0">
                <a:solidFill>
                  <a:schemeClr val="bg2"/>
                </a:solidFill>
                <a:latin typeface="Bookman Old Style" pitchFamily="18" charset="0"/>
              </a:rPr>
              <a:t>Contents of the lecture</a:t>
            </a:r>
          </a:p>
        </p:txBody>
      </p:sp>
      <p:sp>
        <p:nvSpPr>
          <p:cNvPr id="4099" name="Rectangle 2"/>
          <p:cNvSpPr>
            <a:spLocks noChangeArrowheads="1"/>
          </p:cNvSpPr>
          <p:nvPr/>
        </p:nvSpPr>
        <p:spPr bwMode="auto">
          <a:xfrm>
            <a:off x="6672262" y="1268413"/>
            <a:ext cx="511236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just" eaLnBrk="1" fontAlgn="ctr" hangingPunct="1">
              <a:lnSpc>
                <a:spcPct val="100000"/>
              </a:lnSpc>
              <a:buClrTx/>
              <a:buFontTx/>
              <a:buNone/>
            </a:pPr>
            <a:r>
              <a:rPr lang="en-US" altLang="en-US" sz="1800" dirty="0"/>
              <a:t>Today we are focusing our attention on the two most important forces acting on the plane during flight:</a:t>
            </a:r>
          </a:p>
        </p:txBody>
      </p:sp>
      <p:pic>
        <p:nvPicPr>
          <p:cNvPr id="4100" name="Picture 13" descr="D:\TUDelft\Lecturership\AE2111-II\Useful Pics\N2 Chart AC desig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314" y="1970089"/>
            <a:ext cx="6048375" cy="414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1" name="Rectangle 14"/>
          <p:cNvSpPr>
            <a:spLocks noChangeArrowheads="1"/>
          </p:cNvSpPr>
          <p:nvPr/>
        </p:nvSpPr>
        <p:spPr bwMode="auto">
          <a:xfrm>
            <a:off x="2927350" y="4441826"/>
            <a:ext cx="2406650" cy="206375"/>
          </a:xfrm>
          <a:prstGeom prst="rect">
            <a:avLst/>
          </a:prstGeom>
          <a:solidFill>
            <a:srgbClr val="FF0000">
              <a:alpha val="41960"/>
            </a:srgbClr>
          </a:solidFill>
          <a:ln w="9525" algn="ctr">
            <a:solidFill>
              <a:schemeClr val="tx1"/>
            </a:solidFill>
            <a:round/>
            <a:headEnd/>
            <a:tailEnd/>
          </a:ln>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en-GB" altLang="en-US" sz="2200"/>
          </a:p>
        </p:txBody>
      </p:sp>
      <p:sp>
        <p:nvSpPr>
          <p:cNvPr id="4102" name="Left Brace 16"/>
          <p:cNvSpPr>
            <a:spLocks/>
          </p:cNvSpPr>
          <p:nvPr/>
        </p:nvSpPr>
        <p:spPr bwMode="auto">
          <a:xfrm>
            <a:off x="6383338" y="1196976"/>
            <a:ext cx="360362" cy="2447925"/>
          </a:xfrm>
          <a:prstGeom prst="leftBrace">
            <a:avLst>
              <a:gd name="adj1" fmla="val 48494"/>
              <a:gd name="adj2" fmla="val 48671"/>
            </a:avLst>
          </a:prstGeom>
          <a:noFill/>
          <a:ln w="158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en-GB" altLang="en-US" sz="2200"/>
          </a:p>
        </p:txBody>
      </p:sp>
      <p:cxnSp>
        <p:nvCxnSpPr>
          <p:cNvPr id="4103" name="Elbow Connector 17"/>
          <p:cNvCxnSpPr>
            <a:cxnSpLocks noChangeShapeType="1"/>
            <a:stCxn id="4101" idx="3"/>
            <a:endCxn id="4102" idx="1"/>
          </p:cNvCxnSpPr>
          <p:nvPr/>
        </p:nvCxnSpPr>
        <p:spPr bwMode="auto">
          <a:xfrm flipV="1">
            <a:off x="5334000" y="2387601"/>
            <a:ext cx="1049338" cy="2157413"/>
          </a:xfrm>
          <a:prstGeom prst="bentConnector3">
            <a:avLst>
              <a:gd name="adj1" fmla="val 50000"/>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104" name="Rectangle 22"/>
          <p:cNvSpPr>
            <a:spLocks noChangeArrowheads="1"/>
          </p:cNvSpPr>
          <p:nvPr/>
        </p:nvSpPr>
        <p:spPr bwMode="auto">
          <a:xfrm>
            <a:off x="6743701" y="2852739"/>
            <a:ext cx="417683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just" eaLnBrk="1" fontAlgn="ctr" hangingPunct="1">
              <a:lnSpc>
                <a:spcPct val="100000"/>
              </a:lnSpc>
              <a:buClrTx/>
              <a:buFontTx/>
              <a:buNone/>
            </a:pPr>
            <a:r>
              <a:rPr lang="en-US" altLang="en-US" b="1" dirty="0"/>
              <a:t>How to calculate the </a:t>
            </a:r>
            <a:r>
              <a:rPr lang="en-US" altLang="en-US" b="1" u="sng" dirty="0"/>
              <a:t>Lift </a:t>
            </a:r>
            <a:r>
              <a:rPr lang="en-US" altLang="en-US" b="1" dirty="0"/>
              <a:t>and the </a:t>
            </a:r>
            <a:r>
              <a:rPr lang="en-US" altLang="en-US" b="1" u="sng" dirty="0"/>
              <a:t>Drag</a:t>
            </a:r>
            <a:r>
              <a:rPr lang="en-US" altLang="en-US" b="1"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ChangeArrowheads="1"/>
          </p:cNvSpPr>
          <p:nvPr/>
        </p:nvSpPr>
        <p:spPr bwMode="auto">
          <a:xfrm>
            <a:off x="623392" y="234959"/>
            <a:ext cx="69246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dirty="0">
                <a:solidFill>
                  <a:schemeClr val="bg2"/>
                </a:solidFill>
                <a:latin typeface="Bookman Old Style" pitchFamily="18" charset="0"/>
              </a:rPr>
              <a:t>Content of the lecture</a:t>
            </a:r>
          </a:p>
        </p:txBody>
      </p:sp>
      <p:sp>
        <p:nvSpPr>
          <p:cNvPr id="4101" name="Rectangle 1"/>
          <p:cNvSpPr>
            <a:spLocks noChangeArrowheads="1"/>
          </p:cNvSpPr>
          <p:nvPr/>
        </p:nvSpPr>
        <p:spPr bwMode="auto">
          <a:xfrm>
            <a:off x="689213" y="1115510"/>
            <a:ext cx="52197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fontAlgn="ctr" hangingPunct="1">
              <a:lnSpc>
                <a:spcPct val="100000"/>
              </a:lnSpc>
              <a:buClrTx/>
              <a:buFontTx/>
              <a:buNone/>
            </a:pPr>
            <a:r>
              <a:rPr lang="en-US" altLang="nl-NL" sz="1800" dirty="0"/>
              <a:t>Generation of the C</a:t>
            </a:r>
            <a:r>
              <a:rPr lang="en-US" altLang="nl-NL" sz="1800" baseline="-25000" dirty="0"/>
              <a:t>L</a:t>
            </a:r>
            <a:r>
              <a:rPr lang="en-US" altLang="nl-NL" sz="1800" dirty="0"/>
              <a:t>-α curve for the </a:t>
            </a:r>
            <a:r>
              <a:rPr lang="en-US" altLang="nl-NL" sz="1800" b="1" dirty="0"/>
              <a:t>clean wing</a:t>
            </a:r>
          </a:p>
          <a:p>
            <a:pPr lvl="1" eaLnBrk="1" fontAlgn="ctr" hangingPunct="1">
              <a:lnSpc>
                <a:spcPct val="100000"/>
              </a:lnSpc>
              <a:spcBef>
                <a:spcPts val="1200"/>
              </a:spcBef>
              <a:spcAft>
                <a:spcPts val="1200"/>
              </a:spcAft>
              <a:buClrTx/>
              <a:buFontTx/>
              <a:buChar char="•"/>
            </a:pPr>
            <a:r>
              <a:rPr lang="en-US" altLang="nl-NL" dirty="0"/>
              <a:t> Effect of sweep, aspect ratio and compressibility on CLα</a:t>
            </a:r>
          </a:p>
          <a:p>
            <a:pPr lvl="1" eaLnBrk="1" fontAlgn="ctr" hangingPunct="1">
              <a:lnSpc>
                <a:spcPct val="100000"/>
              </a:lnSpc>
              <a:spcAft>
                <a:spcPts val="1200"/>
              </a:spcAft>
              <a:buClrTx/>
              <a:buFontTx/>
              <a:buChar char="•"/>
            </a:pPr>
            <a:r>
              <a:rPr lang="en-US" altLang="nl-NL" dirty="0"/>
              <a:t> DATCOM method for CLα estimation</a:t>
            </a:r>
          </a:p>
          <a:p>
            <a:pPr lvl="1" eaLnBrk="1" fontAlgn="ctr" hangingPunct="1">
              <a:lnSpc>
                <a:spcPct val="100000"/>
              </a:lnSpc>
              <a:spcAft>
                <a:spcPts val="1200"/>
              </a:spcAft>
              <a:buClrTx/>
              <a:buFontTx/>
              <a:buChar char="•"/>
            </a:pPr>
            <a:r>
              <a:rPr lang="en-US" altLang="nl-NL" dirty="0"/>
              <a:t> DATCOM method for </a:t>
            </a:r>
            <a:r>
              <a:rPr lang="en-US" altLang="nl-NL" dirty="0" err="1"/>
              <a:t>CLmax</a:t>
            </a:r>
            <a:r>
              <a:rPr lang="en-US" altLang="nl-NL" dirty="0"/>
              <a:t> and α</a:t>
            </a:r>
            <a:r>
              <a:rPr lang="en-US" altLang="nl-NL" baseline="-25000" dirty="0"/>
              <a:t>stall</a:t>
            </a:r>
            <a:r>
              <a:rPr lang="en-US" altLang="nl-NL" dirty="0"/>
              <a:t> estimation (for High and LOW aspect ratio wings)</a:t>
            </a:r>
          </a:p>
        </p:txBody>
      </p:sp>
      <p:grpSp>
        <p:nvGrpSpPr>
          <p:cNvPr id="2" name="Group 1"/>
          <p:cNvGrpSpPr>
            <a:grpSpLocks/>
          </p:cNvGrpSpPr>
          <p:nvPr/>
        </p:nvGrpSpPr>
        <p:grpSpPr bwMode="auto">
          <a:xfrm>
            <a:off x="6672064" y="527346"/>
            <a:ext cx="3238500" cy="2989262"/>
            <a:chOff x="5795090" y="484832"/>
            <a:chExt cx="3238419" cy="2989121"/>
          </a:xfrm>
        </p:grpSpPr>
        <p:pic>
          <p:nvPicPr>
            <p:cNvPr id="5127" name="Picture 2"/>
            <p:cNvPicPr>
              <a:picLocks noChangeAspect="1" noChangeArrowheads="1"/>
            </p:cNvPicPr>
            <p:nvPr/>
          </p:nvPicPr>
          <p:blipFill>
            <a:blip r:embed="rId3">
              <a:extLst>
                <a:ext uri="{28A0092B-C50C-407E-A947-70E740481C1C}">
                  <a14:useLocalDpi xmlns:a14="http://schemas.microsoft.com/office/drawing/2010/main" val="0"/>
                </a:ext>
              </a:extLst>
            </a:blip>
            <a:srcRect r="26186" b="6662"/>
            <a:stretch>
              <a:fillRect/>
            </a:stretch>
          </p:blipFill>
          <p:spPr bwMode="auto">
            <a:xfrm>
              <a:off x="5795090" y="484832"/>
              <a:ext cx="3238419" cy="29891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5128" name="Rectangle 2"/>
            <p:cNvSpPr>
              <a:spLocks noChangeArrowheads="1"/>
            </p:cNvSpPr>
            <p:nvPr/>
          </p:nvSpPr>
          <p:spPr bwMode="auto">
            <a:xfrm>
              <a:off x="6924188" y="3140968"/>
              <a:ext cx="166988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200"/>
                <a:t>Fig. source: Anderson</a:t>
              </a:r>
              <a:endParaRPr lang="nl-NL" altLang="en-US" sz="1200"/>
            </a:p>
          </p:txBody>
        </p:sp>
      </p:grpSp>
      <p:pic>
        <p:nvPicPr>
          <p:cNvPr id="14745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9901" y="3677119"/>
            <a:ext cx="3492500" cy="2474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9" name="Rectangle 1"/>
          <p:cNvSpPr>
            <a:spLocks noChangeArrowheads="1"/>
          </p:cNvSpPr>
          <p:nvPr/>
        </p:nvSpPr>
        <p:spPr bwMode="auto">
          <a:xfrm>
            <a:off x="767408" y="3897313"/>
            <a:ext cx="5219700"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fontAlgn="ctr" hangingPunct="1">
              <a:lnSpc>
                <a:spcPct val="100000"/>
              </a:lnSpc>
              <a:buClrTx/>
              <a:buFontTx/>
              <a:buNone/>
            </a:pPr>
            <a:r>
              <a:rPr lang="en-US" altLang="nl-NL" sz="1800" dirty="0"/>
              <a:t>Estimation of the </a:t>
            </a:r>
            <a:r>
              <a:rPr lang="en-US" altLang="nl-NL" sz="1800" b="1" dirty="0"/>
              <a:t>polar drag</a:t>
            </a:r>
          </a:p>
          <a:p>
            <a:pPr lvl="1" eaLnBrk="1" fontAlgn="ctr" hangingPunct="1">
              <a:lnSpc>
                <a:spcPct val="100000"/>
              </a:lnSpc>
              <a:spcBef>
                <a:spcPts val="1200"/>
              </a:spcBef>
              <a:spcAft>
                <a:spcPts val="1200"/>
              </a:spcAft>
              <a:buClrTx/>
              <a:buFontTx/>
              <a:buChar char="•"/>
            </a:pPr>
            <a:r>
              <a:rPr lang="en-US" altLang="nl-NL" dirty="0"/>
              <a:t> Classification of the drag components</a:t>
            </a:r>
          </a:p>
          <a:p>
            <a:pPr lvl="1" eaLnBrk="1" fontAlgn="ctr" hangingPunct="1">
              <a:lnSpc>
                <a:spcPct val="100000"/>
              </a:lnSpc>
              <a:spcAft>
                <a:spcPts val="1200"/>
              </a:spcAft>
              <a:buClrTx/>
              <a:buFontTx/>
              <a:buChar char="•"/>
            </a:pPr>
            <a:r>
              <a:rPr lang="en-US" altLang="nl-NL" dirty="0"/>
              <a:t> Estimation of the parasite drag</a:t>
            </a:r>
          </a:p>
          <a:p>
            <a:pPr lvl="1" eaLnBrk="1" fontAlgn="ctr" hangingPunct="1">
              <a:lnSpc>
                <a:spcPct val="100000"/>
              </a:lnSpc>
              <a:spcAft>
                <a:spcPts val="1200"/>
              </a:spcAft>
              <a:buClrTx/>
              <a:buFontTx/>
              <a:buChar char="•"/>
            </a:pPr>
            <a:r>
              <a:rPr lang="en-US" altLang="nl-NL" dirty="0"/>
              <a:t> Estimation of the miscellaneous drag</a:t>
            </a:r>
          </a:p>
          <a:p>
            <a:pPr lvl="1" eaLnBrk="1" fontAlgn="ctr" hangingPunct="1">
              <a:lnSpc>
                <a:spcPct val="100000"/>
              </a:lnSpc>
              <a:spcAft>
                <a:spcPts val="1200"/>
              </a:spcAft>
              <a:buClrTx/>
              <a:buFontTx/>
              <a:buChar char="•"/>
            </a:pPr>
            <a:r>
              <a:rPr lang="en-US" altLang="nl-NL" dirty="0"/>
              <a:t> Estimation of the induced drag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0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74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1"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ChangeArrowheads="1"/>
          </p:cNvSpPr>
          <p:nvPr/>
        </p:nvSpPr>
        <p:spPr bwMode="auto">
          <a:xfrm>
            <a:off x="0" y="1"/>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algn="r" fontAlgn="base"/>
            <a:endParaRPr lang="nl-NL" sz="2200"/>
          </a:p>
        </p:txBody>
      </p:sp>
      <p:sp>
        <p:nvSpPr>
          <p:cNvPr id="5123" name="Rectangle 4"/>
          <p:cNvSpPr>
            <a:spLocks noChangeArrowheads="1"/>
          </p:cNvSpPr>
          <p:nvPr/>
        </p:nvSpPr>
        <p:spPr bwMode="auto">
          <a:xfrm>
            <a:off x="260350" y="443180"/>
            <a:ext cx="68405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4000">
                <a:solidFill>
                  <a:schemeClr val="bg1"/>
                </a:solidFill>
                <a:latin typeface="Bookman Old Style" pitchFamily="18" charset="0"/>
              </a:rPr>
              <a:t>0: </a:t>
            </a:r>
            <a:r>
              <a:rPr lang="en-US" sz="4000" dirty="0">
                <a:solidFill>
                  <a:schemeClr val="bg1"/>
                </a:solidFill>
                <a:latin typeface="Bookman Old Style" pitchFamily="18" charset="0"/>
              </a:rPr>
              <a:t>Additional questions</a:t>
            </a:r>
          </a:p>
        </p:txBody>
      </p:sp>
      <p:sp>
        <p:nvSpPr>
          <p:cNvPr id="5126" name="AutoShape 6"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5862638" y="-8953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p>
        </p:txBody>
      </p:sp>
      <p:sp>
        <p:nvSpPr>
          <p:cNvPr id="5127" name="AutoShape 8"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6015038" y="-7429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p>
        </p:txBody>
      </p:sp>
    </p:spTree>
    <p:custDataLst>
      <p:tags r:id="rId1"/>
    </p:custDataLst>
    <p:extLst>
      <p:ext uri="{BB962C8B-B14F-4D97-AF65-F5344CB8AC3E}">
        <p14:creationId xmlns:p14="http://schemas.microsoft.com/office/powerpoint/2010/main" val="3093245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88386-9E8E-FA5E-59EA-13B6ED0E71FE}"/>
              </a:ext>
            </a:extLst>
          </p:cNvPr>
          <p:cNvSpPr>
            <a:spLocks noGrp="1"/>
          </p:cNvSpPr>
          <p:nvPr>
            <p:ph type="title"/>
            <p:custDataLst>
              <p:tags r:id="rId2"/>
            </p:custDataLst>
          </p:nvPr>
        </p:nvSpPr>
        <p:spPr>
          <a:xfrm>
            <a:off x="1153560" y="254794"/>
            <a:ext cx="10212917" cy="760413"/>
          </a:xfrm>
        </p:spPr>
        <p:txBody>
          <a:bodyPr/>
          <a:lstStyle/>
          <a:p>
            <a:r>
              <a:rPr lang="en-FI"/>
              <a:t>What is the value of the stall AoA for this airfoil?</a:t>
            </a:r>
          </a:p>
        </p:txBody>
      </p:sp>
      <p:sp>
        <p:nvSpPr>
          <p:cNvPr id="3" name="Content Placeholder 2">
            <a:extLst>
              <a:ext uri="{FF2B5EF4-FFF2-40B4-BE49-F238E27FC236}">
                <a16:creationId xmlns:a16="http://schemas.microsoft.com/office/drawing/2014/main" id="{1898C2F1-63E3-CA0A-B211-2BD7F19B519C}"/>
              </a:ext>
            </a:extLst>
          </p:cNvPr>
          <p:cNvSpPr>
            <a:spLocks noGrp="1"/>
          </p:cNvSpPr>
          <p:nvPr>
            <p:ph sz="quarter" idx="13"/>
            <p:custDataLst>
              <p:tags r:id="rId3"/>
            </p:custDataLst>
          </p:nvPr>
        </p:nvSpPr>
        <p:spPr/>
        <p:txBody>
          <a:bodyPr/>
          <a:lstStyle/>
          <a:p>
            <a:pPr marL="0" indent="0">
              <a:buNone/>
            </a:pPr>
            <a:r>
              <a:rPr lang="en-FI"/>
              <a:t> </a:t>
            </a:r>
            <a:endParaRPr lang="en-FI" dirty="0"/>
          </a:p>
        </p:txBody>
      </p:sp>
      <p:sp>
        <p:nvSpPr>
          <p:cNvPr id="4" name="Content Placeholder 3">
            <a:extLst>
              <a:ext uri="{FF2B5EF4-FFF2-40B4-BE49-F238E27FC236}">
                <a16:creationId xmlns:a16="http://schemas.microsoft.com/office/drawing/2014/main" id="{A6116703-7E4F-08C0-A881-34ECD0347D90}"/>
              </a:ext>
            </a:extLst>
          </p:cNvPr>
          <p:cNvSpPr>
            <a:spLocks noGrp="1"/>
          </p:cNvSpPr>
          <p:nvPr>
            <p:ph sz="quarter" idx="14"/>
            <p:custDataLst>
              <p:tags r:id="rId4"/>
            </p:custDataLst>
          </p:nvPr>
        </p:nvSpPr>
        <p:spPr/>
        <p:txBody>
          <a:bodyPr/>
          <a:lstStyle/>
          <a:p>
            <a:pPr marL="0" indent="0">
              <a:buNone/>
            </a:pPr>
            <a:r>
              <a:rPr lang="en-FI"/>
              <a:t> </a:t>
            </a:r>
            <a:endParaRPr lang="en-FI" dirty="0"/>
          </a:p>
        </p:txBody>
      </p:sp>
      <p:pic>
        <p:nvPicPr>
          <p:cNvPr id="5" name="Picture 4">
            <a:extLst>
              <a:ext uri="{FF2B5EF4-FFF2-40B4-BE49-F238E27FC236}">
                <a16:creationId xmlns:a16="http://schemas.microsoft.com/office/drawing/2014/main" id="{86EE2DFD-B796-70E2-6FA3-6771C15E3150}"/>
              </a:ext>
            </a:extLst>
          </p:cNvPr>
          <p:cNvPicPr>
            <a:picLocks/>
          </p:cNvPicPr>
          <p:nvPr>
            <p:custDataLst>
              <p:tags r:id="rId5"/>
            </p:custDataLst>
          </p:nvPr>
        </p:nvPicPr>
        <p:blipFill>
          <a:blip r:embed="rId34"/>
          <a:stretch>
            <a:fillRect/>
          </a:stretch>
        </p:blipFill>
        <p:spPr>
          <a:xfrm>
            <a:off x="6426200" y="1828800"/>
            <a:ext cx="4686300" cy="4394200"/>
          </a:xfrm>
          <a:prstGeom prst="rect">
            <a:avLst/>
          </a:prstGeom>
        </p:spPr>
      </p:pic>
      <p:sp>
        <p:nvSpPr>
          <p:cNvPr id="6" name="Rounded Rectangle 5">
            <a:extLst>
              <a:ext uri="{FF2B5EF4-FFF2-40B4-BE49-F238E27FC236}">
                <a16:creationId xmlns:a16="http://schemas.microsoft.com/office/drawing/2014/main" id="{3177ABD8-836B-F244-B696-D2196BD5E22E}"/>
              </a:ext>
            </a:extLst>
          </p:cNvPr>
          <p:cNvSpPr/>
          <p:nvPr>
            <p:custDataLst>
              <p:tags r:id="rId6"/>
            </p:custDataLst>
          </p:nvPr>
        </p:nvSpPr>
        <p:spPr bwMode="auto">
          <a:xfrm>
            <a:off x="63500" y="63500"/>
            <a:ext cx="2032000" cy="3810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ahoma" pitchFamily="34" charset="0"/>
              </a:rPr>
              <a:t>102/119</a:t>
            </a:r>
          </a:p>
        </p:txBody>
      </p:sp>
      <p:sp>
        <p:nvSpPr>
          <p:cNvPr id="7" name="Rounded Rectangle 6">
            <a:extLst>
              <a:ext uri="{FF2B5EF4-FFF2-40B4-BE49-F238E27FC236}">
                <a16:creationId xmlns:a16="http://schemas.microsoft.com/office/drawing/2014/main" id="{13C25689-BD94-6549-88D0-C9AFC999D899}"/>
              </a:ext>
            </a:extLst>
          </p:cNvPr>
          <p:cNvSpPr/>
          <p:nvPr>
            <p:custDataLst>
              <p:tags r:id="rId7"/>
            </p:custDataLst>
          </p:nvPr>
        </p:nvSpPr>
        <p:spPr bwMode="auto">
          <a:xfrm>
            <a:off x="10096500" y="63500"/>
            <a:ext cx="2032000" cy="3810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ahoma" pitchFamily="34" charset="0"/>
              </a:rPr>
              <a:t>Question slide</a:t>
            </a:r>
          </a:p>
        </p:txBody>
      </p:sp>
      <p:sp>
        <p:nvSpPr>
          <p:cNvPr id="8" name="Snip Same Side Corner Rectangle 7">
            <a:extLst>
              <a:ext uri="{FF2B5EF4-FFF2-40B4-BE49-F238E27FC236}">
                <a16:creationId xmlns:a16="http://schemas.microsoft.com/office/drawing/2014/main" id="{0E8DEA05-E73E-8C42-A710-3C71776B7DFF}"/>
              </a:ext>
            </a:extLst>
          </p:cNvPr>
          <p:cNvSpPr/>
          <p:nvPr>
            <p:custDataLst>
              <p:tags r:id="rId8"/>
            </p:custDataLst>
          </p:nvPr>
        </p:nvSpPr>
        <p:spPr bwMode="auto">
          <a:xfrm>
            <a:off x="165100" y="254000"/>
            <a:ext cx="177800" cy="127000"/>
          </a:xfrm>
          <a:prstGeom prst="snip2SameRect">
            <a:avLst/>
          </a:prstGeom>
          <a:solidFill>
            <a:srgbClr val="FFFFFF"/>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9" name="Oval 8">
            <a:extLst>
              <a:ext uri="{FF2B5EF4-FFF2-40B4-BE49-F238E27FC236}">
                <a16:creationId xmlns:a16="http://schemas.microsoft.com/office/drawing/2014/main" id="{ECA7B830-49AE-6D49-84E1-C60789C6E8FA}"/>
              </a:ext>
            </a:extLst>
          </p:cNvPr>
          <p:cNvSpPr/>
          <p:nvPr>
            <p:custDataLst>
              <p:tags r:id="rId9"/>
            </p:custDataLst>
          </p:nvPr>
        </p:nvSpPr>
        <p:spPr bwMode="auto">
          <a:xfrm>
            <a:off x="190500" y="127000"/>
            <a:ext cx="127000" cy="127000"/>
          </a:xfrm>
          <a:prstGeom prst="ellipse">
            <a:avLst/>
          </a:prstGeom>
          <a:solidFill>
            <a:srgbClr val="FFFFFF"/>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10" name="Oval 9">
            <a:extLst>
              <a:ext uri="{FF2B5EF4-FFF2-40B4-BE49-F238E27FC236}">
                <a16:creationId xmlns:a16="http://schemas.microsoft.com/office/drawing/2014/main" id="{0E7288AE-1BEC-BC47-B9A2-36075F806B34}"/>
              </a:ext>
            </a:extLst>
          </p:cNvPr>
          <p:cNvSpPr/>
          <p:nvPr>
            <p:custDataLst>
              <p:tags r:id="rId10"/>
            </p:custDataLst>
          </p:nvPr>
        </p:nvSpPr>
        <p:spPr bwMode="auto">
          <a:xfrm>
            <a:off x="11341100" y="6007100"/>
            <a:ext cx="762000" cy="762000"/>
          </a:xfrm>
          <a:prstGeom prst="ellipse">
            <a:avLst/>
          </a:prstGeom>
          <a:solidFill>
            <a:srgbClr val="ADC610">
              <a:alpha val="0"/>
              <a:alpha val="0"/>
            </a:srgbClr>
          </a:solidFill>
          <a:ln w="9525" cap="flat" cmpd="sng" algn="ctr">
            <a:solidFill>
              <a:srgbClr val="000000">
                <a:alpha val="0"/>
                <a:alpha val="0"/>
              </a:srgbClr>
            </a:solidFill>
            <a:prstDash val="solid"/>
            <a:round/>
            <a:headEnd type="none" w="med" len="med"/>
            <a:tailEnd type="none" w="med" len="med"/>
          </a:ln>
          <a:effectLst/>
        </p:spPr>
        <p:txBody>
          <a:bodyPr vertOverflow="clip" horzOverflow="clip" vert="horz" wrap="square" lIns="0" tIns="45720" rIns="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11" name="TextBox 10">
            <a:extLst>
              <a:ext uri="{FF2B5EF4-FFF2-40B4-BE49-F238E27FC236}">
                <a16:creationId xmlns:a16="http://schemas.microsoft.com/office/drawing/2014/main" id="{C3F1B506-79B6-6B43-B7C4-95F1843922B9}"/>
              </a:ext>
            </a:extLst>
          </p:cNvPr>
          <p:cNvSpPr txBox="1"/>
          <p:nvPr>
            <p:custDataLst>
              <p:tags r:id="rId11"/>
            </p:custDataLst>
          </p:nvPr>
        </p:nvSpPr>
        <p:spPr>
          <a:xfrm>
            <a:off x="3429000" y="88900"/>
            <a:ext cx="2413000" cy="381000"/>
          </a:xfrm>
          <a:prstGeom prst="rect">
            <a:avLst/>
          </a:prstGeom>
          <a:noFill/>
        </p:spPr>
        <p:txBody>
          <a:bodyPr vertOverflow="overflow" vert="horz" wrap="square" rtlCol="0" anchor="t">
            <a:spAutoFit/>
          </a:bodyPr>
          <a:lstStyle/>
          <a:p>
            <a:pPr algn="l"/>
            <a:r>
              <a:rPr lang="en-US"/>
              <a:t>Join at: </a:t>
            </a:r>
            <a:r>
              <a:rPr lang="en-US" b="1"/>
              <a:t>vevox.app</a:t>
            </a:r>
            <a:endParaRPr lang="en-US"/>
          </a:p>
        </p:txBody>
      </p:sp>
      <p:sp>
        <p:nvSpPr>
          <p:cNvPr id="12" name="TextBox 11">
            <a:extLst>
              <a:ext uri="{FF2B5EF4-FFF2-40B4-BE49-F238E27FC236}">
                <a16:creationId xmlns:a16="http://schemas.microsoft.com/office/drawing/2014/main" id="{8886B8A7-A558-1447-A60C-59A97052C47E}"/>
              </a:ext>
            </a:extLst>
          </p:cNvPr>
          <p:cNvSpPr txBox="1"/>
          <p:nvPr>
            <p:custDataLst>
              <p:tags r:id="rId12"/>
            </p:custDataLst>
          </p:nvPr>
        </p:nvSpPr>
        <p:spPr>
          <a:xfrm>
            <a:off x="6350000" y="101600"/>
            <a:ext cx="2413000" cy="381000"/>
          </a:xfrm>
          <a:prstGeom prst="rect">
            <a:avLst/>
          </a:prstGeom>
          <a:noFill/>
        </p:spPr>
        <p:txBody>
          <a:bodyPr vertOverflow="overflow" vert="horz" wrap="square" rtlCol="0" anchor="t">
            <a:spAutoFit/>
          </a:bodyPr>
          <a:lstStyle/>
          <a:p>
            <a:pPr algn="l"/>
            <a:r>
              <a:rPr lang="en-US"/>
              <a:t>ID: </a:t>
            </a:r>
            <a:r>
              <a:rPr lang="en-US" b="1"/>
              <a:t>165-949-420</a:t>
            </a:r>
            <a:endParaRPr lang="en-US"/>
          </a:p>
        </p:txBody>
      </p:sp>
      <p:sp>
        <p:nvSpPr>
          <p:cNvPr id="13" name="TextBox 12">
            <a:extLst>
              <a:ext uri="{FF2B5EF4-FFF2-40B4-BE49-F238E27FC236}">
                <a16:creationId xmlns:a16="http://schemas.microsoft.com/office/drawing/2014/main" id="{074673AD-C988-4448-8BAC-D862AD6A151B}"/>
              </a:ext>
            </a:extLst>
          </p:cNvPr>
          <p:cNvSpPr txBox="1"/>
          <p:nvPr>
            <p:custDataLst>
              <p:tags r:id="rId13"/>
            </p:custDataLst>
          </p:nvPr>
        </p:nvSpPr>
        <p:spPr>
          <a:xfrm>
            <a:off x="838200" y="1828800"/>
            <a:ext cx="5156200" cy="317500"/>
          </a:xfrm>
          <a:prstGeom prst="rect">
            <a:avLst/>
          </a:prstGeom>
          <a:noFill/>
        </p:spPr>
        <p:txBody>
          <a:bodyPr vertOverflow="overflow" vert="horz" wrap="square" tIns="0" bIns="0" rtlCol="0" anchor="t">
            <a:spAutoFit/>
          </a:bodyPr>
          <a:lstStyle/>
          <a:p>
            <a:pPr algn="l"/>
            <a:r>
              <a:rPr lang="en-US"/>
              <a:t>- 15 [deg]</a:t>
            </a:r>
          </a:p>
        </p:txBody>
      </p:sp>
      <p:sp>
        <p:nvSpPr>
          <p:cNvPr id="14" name="TextBox 13">
            <a:extLst>
              <a:ext uri="{FF2B5EF4-FFF2-40B4-BE49-F238E27FC236}">
                <a16:creationId xmlns:a16="http://schemas.microsoft.com/office/drawing/2014/main" id="{130C5B68-9B1A-E746-B722-FCB890607505}"/>
              </a:ext>
            </a:extLst>
          </p:cNvPr>
          <p:cNvSpPr txBox="1"/>
          <p:nvPr>
            <p:custDataLst>
              <p:tags r:id="rId14"/>
            </p:custDataLst>
          </p:nvPr>
        </p:nvSpPr>
        <p:spPr>
          <a:xfrm>
            <a:off x="4978400" y="1993900"/>
            <a:ext cx="1016000" cy="635000"/>
          </a:xfrm>
          <a:prstGeom prst="rect">
            <a:avLst/>
          </a:prstGeom>
          <a:noFill/>
        </p:spPr>
        <p:txBody>
          <a:bodyPr vertOverflow="overflow" vert="horz" wrap="square" rtlCol="0" anchor="ctr" anchorCtr="0">
            <a:spAutoFit/>
          </a:bodyPr>
          <a:lstStyle/>
          <a:p>
            <a:pPr algn="r"/>
            <a:r>
              <a:rPr lang="en-US"/>
              <a:t>0%</a:t>
            </a:r>
          </a:p>
        </p:txBody>
      </p:sp>
      <p:sp>
        <p:nvSpPr>
          <p:cNvPr id="15" name="Rounded Rectangle 14">
            <a:extLst>
              <a:ext uri="{FF2B5EF4-FFF2-40B4-BE49-F238E27FC236}">
                <a16:creationId xmlns:a16="http://schemas.microsoft.com/office/drawing/2014/main" id="{7F0F1A51-0271-374F-B162-4FB6B5AD93D6}"/>
              </a:ext>
            </a:extLst>
          </p:cNvPr>
          <p:cNvSpPr/>
          <p:nvPr>
            <p:custDataLst>
              <p:tags r:id="rId15"/>
            </p:custDataLst>
          </p:nvPr>
        </p:nvSpPr>
        <p:spPr bwMode="auto">
          <a:xfrm>
            <a:off x="838200" y="214630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16" name="Rounded Rectangle 15">
            <a:extLst>
              <a:ext uri="{FF2B5EF4-FFF2-40B4-BE49-F238E27FC236}">
                <a16:creationId xmlns:a16="http://schemas.microsoft.com/office/drawing/2014/main" id="{92F66052-5971-324A-A39B-95FE0510DEC1}"/>
              </a:ext>
            </a:extLst>
          </p:cNvPr>
          <p:cNvSpPr/>
          <p:nvPr>
            <p:custDataLst>
              <p:tags r:id="rId16"/>
            </p:custDataLst>
          </p:nvPr>
        </p:nvSpPr>
        <p:spPr bwMode="auto">
          <a:xfrm>
            <a:off x="838200" y="214630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17" name="TextBox 16">
            <a:extLst>
              <a:ext uri="{FF2B5EF4-FFF2-40B4-BE49-F238E27FC236}">
                <a16:creationId xmlns:a16="http://schemas.microsoft.com/office/drawing/2014/main" id="{7EE08320-E7A9-3E4B-BCE5-1AC4D57B1227}"/>
              </a:ext>
            </a:extLst>
          </p:cNvPr>
          <p:cNvSpPr txBox="1"/>
          <p:nvPr>
            <p:custDataLst>
              <p:tags r:id="rId17"/>
            </p:custDataLst>
          </p:nvPr>
        </p:nvSpPr>
        <p:spPr>
          <a:xfrm>
            <a:off x="838200" y="2463800"/>
            <a:ext cx="5156200" cy="317500"/>
          </a:xfrm>
          <a:prstGeom prst="rect">
            <a:avLst/>
          </a:prstGeom>
          <a:noFill/>
        </p:spPr>
        <p:txBody>
          <a:bodyPr vertOverflow="overflow" vert="horz" wrap="square" tIns="0" bIns="0" rtlCol="0" anchor="t">
            <a:spAutoFit/>
          </a:bodyPr>
          <a:lstStyle/>
          <a:p>
            <a:pPr algn="l"/>
            <a:r>
              <a:rPr lang="en-US"/>
              <a:t>10 [deg]</a:t>
            </a:r>
          </a:p>
        </p:txBody>
      </p:sp>
      <p:sp>
        <p:nvSpPr>
          <p:cNvPr id="18" name="TextBox 17">
            <a:extLst>
              <a:ext uri="{FF2B5EF4-FFF2-40B4-BE49-F238E27FC236}">
                <a16:creationId xmlns:a16="http://schemas.microsoft.com/office/drawing/2014/main" id="{F820B075-A757-A14F-9206-1815F2981B28}"/>
              </a:ext>
            </a:extLst>
          </p:cNvPr>
          <p:cNvSpPr txBox="1"/>
          <p:nvPr>
            <p:custDataLst>
              <p:tags r:id="rId18"/>
            </p:custDataLst>
          </p:nvPr>
        </p:nvSpPr>
        <p:spPr>
          <a:xfrm>
            <a:off x="4978400" y="2628900"/>
            <a:ext cx="1016000" cy="635000"/>
          </a:xfrm>
          <a:prstGeom prst="rect">
            <a:avLst/>
          </a:prstGeom>
          <a:noFill/>
        </p:spPr>
        <p:txBody>
          <a:bodyPr vertOverflow="overflow" vert="horz" wrap="square" rtlCol="0" anchor="ctr" anchorCtr="0">
            <a:spAutoFit/>
          </a:bodyPr>
          <a:lstStyle/>
          <a:p>
            <a:pPr algn="r"/>
            <a:r>
              <a:rPr lang="en-US"/>
              <a:t>0%</a:t>
            </a:r>
          </a:p>
        </p:txBody>
      </p:sp>
      <p:sp>
        <p:nvSpPr>
          <p:cNvPr id="19" name="Rounded Rectangle 18">
            <a:extLst>
              <a:ext uri="{FF2B5EF4-FFF2-40B4-BE49-F238E27FC236}">
                <a16:creationId xmlns:a16="http://schemas.microsoft.com/office/drawing/2014/main" id="{161951A9-FCCC-774F-BC6B-9C2248BFD5AF}"/>
              </a:ext>
            </a:extLst>
          </p:cNvPr>
          <p:cNvSpPr/>
          <p:nvPr>
            <p:custDataLst>
              <p:tags r:id="rId19"/>
            </p:custDataLst>
          </p:nvPr>
        </p:nvSpPr>
        <p:spPr bwMode="auto">
          <a:xfrm>
            <a:off x="838200" y="278130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20" name="Rounded Rectangle 19">
            <a:extLst>
              <a:ext uri="{FF2B5EF4-FFF2-40B4-BE49-F238E27FC236}">
                <a16:creationId xmlns:a16="http://schemas.microsoft.com/office/drawing/2014/main" id="{25DEA00B-61DE-484E-811C-988E91961ABE}"/>
              </a:ext>
            </a:extLst>
          </p:cNvPr>
          <p:cNvSpPr/>
          <p:nvPr>
            <p:custDataLst>
              <p:tags r:id="rId20"/>
            </p:custDataLst>
          </p:nvPr>
        </p:nvSpPr>
        <p:spPr bwMode="auto">
          <a:xfrm>
            <a:off x="838200" y="278130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21" name="TextBox 20">
            <a:extLst>
              <a:ext uri="{FF2B5EF4-FFF2-40B4-BE49-F238E27FC236}">
                <a16:creationId xmlns:a16="http://schemas.microsoft.com/office/drawing/2014/main" id="{DE1D8CF1-A6F2-154A-8602-23715EEC0487}"/>
              </a:ext>
            </a:extLst>
          </p:cNvPr>
          <p:cNvSpPr txBox="1"/>
          <p:nvPr>
            <p:custDataLst>
              <p:tags r:id="rId21"/>
            </p:custDataLst>
          </p:nvPr>
        </p:nvSpPr>
        <p:spPr>
          <a:xfrm>
            <a:off x="838200" y="3098800"/>
            <a:ext cx="5156200" cy="317500"/>
          </a:xfrm>
          <a:prstGeom prst="rect">
            <a:avLst/>
          </a:prstGeom>
          <a:noFill/>
        </p:spPr>
        <p:txBody>
          <a:bodyPr vertOverflow="overflow" vert="horz" wrap="square" tIns="0" bIns="0" rtlCol="0" anchor="t">
            <a:spAutoFit/>
          </a:bodyPr>
          <a:lstStyle/>
          <a:p>
            <a:pPr algn="l"/>
            <a:r>
              <a:rPr lang="en-US"/>
              <a:t>15 [deg]</a:t>
            </a:r>
          </a:p>
        </p:txBody>
      </p:sp>
      <p:sp>
        <p:nvSpPr>
          <p:cNvPr id="22" name="TextBox 21">
            <a:extLst>
              <a:ext uri="{FF2B5EF4-FFF2-40B4-BE49-F238E27FC236}">
                <a16:creationId xmlns:a16="http://schemas.microsoft.com/office/drawing/2014/main" id="{928992F6-F3FE-B24E-BDFD-2178DEBD96A7}"/>
              </a:ext>
            </a:extLst>
          </p:cNvPr>
          <p:cNvSpPr txBox="1"/>
          <p:nvPr>
            <p:custDataLst>
              <p:tags r:id="rId22"/>
            </p:custDataLst>
          </p:nvPr>
        </p:nvSpPr>
        <p:spPr>
          <a:xfrm>
            <a:off x="4978400" y="3263900"/>
            <a:ext cx="1016000" cy="635000"/>
          </a:xfrm>
          <a:prstGeom prst="rect">
            <a:avLst/>
          </a:prstGeom>
          <a:noFill/>
        </p:spPr>
        <p:txBody>
          <a:bodyPr vertOverflow="overflow" vert="horz" wrap="square" rtlCol="0" anchor="ctr" anchorCtr="0">
            <a:spAutoFit/>
          </a:bodyPr>
          <a:lstStyle/>
          <a:p>
            <a:pPr algn="r"/>
            <a:r>
              <a:rPr lang="en-US"/>
              <a:t>0%</a:t>
            </a:r>
          </a:p>
        </p:txBody>
      </p:sp>
      <p:sp>
        <p:nvSpPr>
          <p:cNvPr id="23" name="Rounded Rectangle 22">
            <a:extLst>
              <a:ext uri="{FF2B5EF4-FFF2-40B4-BE49-F238E27FC236}">
                <a16:creationId xmlns:a16="http://schemas.microsoft.com/office/drawing/2014/main" id="{6C4DFAFA-CF6F-D04F-9B5E-A276E4DBCF57}"/>
              </a:ext>
            </a:extLst>
          </p:cNvPr>
          <p:cNvSpPr/>
          <p:nvPr>
            <p:custDataLst>
              <p:tags r:id="rId23"/>
            </p:custDataLst>
          </p:nvPr>
        </p:nvSpPr>
        <p:spPr bwMode="auto">
          <a:xfrm>
            <a:off x="838200" y="341630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24" name="Rounded Rectangle 23">
            <a:extLst>
              <a:ext uri="{FF2B5EF4-FFF2-40B4-BE49-F238E27FC236}">
                <a16:creationId xmlns:a16="http://schemas.microsoft.com/office/drawing/2014/main" id="{605EA446-F75A-0541-8BBA-5FBF679191BD}"/>
              </a:ext>
            </a:extLst>
          </p:cNvPr>
          <p:cNvSpPr/>
          <p:nvPr>
            <p:custDataLst>
              <p:tags r:id="rId24"/>
            </p:custDataLst>
          </p:nvPr>
        </p:nvSpPr>
        <p:spPr bwMode="auto">
          <a:xfrm>
            <a:off x="838200" y="341630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25" name="TextBox 24">
            <a:extLst>
              <a:ext uri="{FF2B5EF4-FFF2-40B4-BE49-F238E27FC236}">
                <a16:creationId xmlns:a16="http://schemas.microsoft.com/office/drawing/2014/main" id="{9C6CC146-CE73-4941-B858-7467A5F444F4}"/>
              </a:ext>
            </a:extLst>
          </p:cNvPr>
          <p:cNvSpPr txBox="1"/>
          <p:nvPr>
            <p:custDataLst>
              <p:tags r:id="rId25"/>
            </p:custDataLst>
          </p:nvPr>
        </p:nvSpPr>
        <p:spPr>
          <a:xfrm>
            <a:off x="838200" y="3733800"/>
            <a:ext cx="5156200" cy="317500"/>
          </a:xfrm>
          <a:prstGeom prst="rect">
            <a:avLst/>
          </a:prstGeom>
          <a:noFill/>
        </p:spPr>
        <p:txBody>
          <a:bodyPr vertOverflow="overflow" vert="horz" wrap="square" tIns="0" bIns="0" rtlCol="0" anchor="t">
            <a:spAutoFit/>
          </a:bodyPr>
          <a:lstStyle/>
          <a:p>
            <a:pPr algn="l"/>
            <a:r>
              <a:rPr lang="en-US"/>
              <a:t>20 [deg]</a:t>
            </a:r>
          </a:p>
        </p:txBody>
      </p:sp>
      <p:sp>
        <p:nvSpPr>
          <p:cNvPr id="26" name="TextBox 25">
            <a:extLst>
              <a:ext uri="{FF2B5EF4-FFF2-40B4-BE49-F238E27FC236}">
                <a16:creationId xmlns:a16="http://schemas.microsoft.com/office/drawing/2014/main" id="{82B831FE-6A5F-1F4E-B587-F9E7D1A832A8}"/>
              </a:ext>
            </a:extLst>
          </p:cNvPr>
          <p:cNvSpPr txBox="1"/>
          <p:nvPr>
            <p:custDataLst>
              <p:tags r:id="rId26"/>
            </p:custDataLst>
          </p:nvPr>
        </p:nvSpPr>
        <p:spPr>
          <a:xfrm>
            <a:off x="4978400" y="3898900"/>
            <a:ext cx="1016000" cy="635000"/>
          </a:xfrm>
          <a:prstGeom prst="rect">
            <a:avLst/>
          </a:prstGeom>
          <a:noFill/>
        </p:spPr>
        <p:txBody>
          <a:bodyPr vertOverflow="overflow" vert="horz" wrap="square" rtlCol="0" anchor="ctr" anchorCtr="0">
            <a:spAutoFit/>
          </a:bodyPr>
          <a:lstStyle/>
          <a:p>
            <a:pPr algn="r"/>
            <a:r>
              <a:rPr lang="en-US"/>
              <a:t>0%</a:t>
            </a:r>
          </a:p>
        </p:txBody>
      </p:sp>
      <p:sp>
        <p:nvSpPr>
          <p:cNvPr id="27" name="Rounded Rectangle 26">
            <a:extLst>
              <a:ext uri="{FF2B5EF4-FFF2-40B4-BE49-F238E27FC236}">
                <a16:creationId xmlns:a16="http://schemas.microsoft.com/office/drawing/2014/main" id="{1DB324B4-9487-664E-938C-DEABB4EBCBAC}"/>
              </a:ext>
            </a:extLst>
          </p:cNvPr>
          <p:cNvSpPr/>
          <p:nvPr>
            <p:custDataLst>
              <p:tags r:id="rId27"/>
            </p:custDataLst>
          </p:nvPr>
        </p:nvSpPr>
        <p:spPr bwMode="auto">
          <a:xfrm>
            <a:off x="838200" y="405130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28" name="Rounded Rectangle 27">
            <a:extLst>
              <a:ext uri="{FF2B5EF4-FFF2-40B4-BE49-F238E27FC236}">
                <a16:creationId xmlns:a16="http://schemas.microsoft.com/office/drawing/2014/main" id="{3091C62C-C9AE-A84F-A489-22A7C67165AB}"/>
              </a:ext>
            </a:extLst>
          </p:cNvPr>
          <p:cNvSpPr/>
          <p:nvPr>
            <p:custDataLst>
              <p:tags r:id="rId28"/>
            </p:custDataLst>
          </p:nvPr>
        </p:nvSpPr>
        <p:spPr bwMode="auto">
          <a:xfrm>
            <a:off x="838200" y="405130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29" name="TextBox 28">
            <a:extLst>
              <a:ext uri="{FF2B5EF4-FFF2-40B4-BE49-F238E27FC236}">
                <a16:creationId xmlns:a16="http://schemas.microsoft.com/office/drawing/2014/main" id="{04707F5C-DCBD-ED43-865B-EF0F23237923}"/>
              </a:ext>
            </a:extLst>
          </p:cNvPr>
          <p:cNvSpPr txBox="1"/>
          <p:nvPr>
            <p:custDataLst>
              <p:tags r:id="rId29"/>
            </p:custDataLst>
          </p:nvPr>
        </p:nvSpPr>
        <p:spPr>
          <a:xfrm>
            <a:off x="838200" y="4368800"/>
            <a:ext cx="5156200" cy="317500"/>
          </a:xfrm>
          <a:prstGeom prst="rect">
            <a:avLst/>
          </a:prstGeom>
          <a:noFill/>
        </p:spPr>
        <p:txBody>
          <a:bodyPr vertOverflow="overflow" vert="horz" wrap="square" tIns="0" bIns="0" rtlCol="0" anchor="t">
            <a:spAutoFit/>
          </a:bodyPr>
          <a:lstStyle/>
          <a:p>
            <a:pPr algn="l"/>
            <a:r>
              <a:rPr lang="en-US"/>
              <a:t>None of the listed value</a:t>
            </a:r>
          </a:p>
        </p:txBody>
      </p:sp>
      <p:sp>
        <p:nvSpPr>
          <p:cNvPr id="30" name="TextBox 29">
            <a:extLst>
              <a:ext uri="{FF2B5EF4-FFF2-40B4-BE49-F238E27FC236}">
                <a16:creationId xmlns:a16="http://schemas.microsoft.com/office/drawing/2014/main" id="{239FC8D3-499A-6144-BFDA-A6C0FDA5D747}"/>
              </a:ext>
            </a:extLst>
          </p:cNvPr>
          <p:cNvSpPr txBox="1"/>
          <p:nvPr>
            <p:custDataLst>
              <p:tags r:id="rId30"/>
            </p:custDataLst>
          </p:nvPr>
        </p:nvSpPr>
        <p:spPr>
          <a:xfrm>
            <a:off x="4978400" y="4533900"/>
            <a:ext cx="1016000" cy="635000"/>
          </a:xfrm>
          <a:prstGeom prst="rect">
            <a:avLst/>
          </a:prstGeom>
          <a:noFill/>
        </p:spPr>
        <p:txBody>
          <a:bodyPr vertOverflow="overflow" vert="horz" wrap="square" rtlCol="0" anchor="ctr" anchorCtr="0">
            <a:spAutoFit/>
          </a:bodyPr>
          <a:lstStyle/>
          <a:p>
            <a:pPr algn="r"/>
            <a:r>
              <a:rPr lang="en-US"/>
              <a:t>0%</a:t>
            </a:r>
          </a:p>
        </p:txBody>
      </p:sp>
      <p:sp>
        <p:nvSpPr>
          <p:cNvPr id="31" name="Rounded Rectangle 30">
            <a:extLst>
              <a:ext uri="{FF2B5EF4-FFF2-40B4-BE49-F238E27FC236}">
                <a16:creationId xmlns:a16="http://schemas.microsoft.com/office/drawing/2014/main" id="{3B207D12-6E5E-F847-8BE3-F798C19F717F}"/>
              </a:ext>
            </a:extLst>
          </p:cNvPr>
          <p:cNvSpPr/>
          <p:nvPr>
            <p:custDataLst>
              <p:tags r:id="rId31"/>
            </p:custDataLst>
          </p:nvPr>
        </p:nvSpPr>
        <p:spPr bwMode="auto">
          <a:xfrm>
            <a:off x="838200" y="468630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32" name="Rounded Rectangle 31">
            <a:extLst>
              <a:ext uri="{FF2B5EF4-FFF2-40B4-BE49-F238E27FC236}">
                <a16:creationId xmlns:a16="http://schemas.microsoft.com/office/drawing/2014/main" id="{7B8618BC-CDC5-C347-9F23-1B716BB363C8}"/>
              </a:ext>
            </a:extLst>
          </p:cNvPr>
          <p:cNvSpPr/>
          <p:nvPr>
            <p:custDataLst>
              <p:tags r:id="rId32"/>
            </p:custDataLst>
          </p:nvPr>
        </p:nvSpPr>
        <p:spPr bwMode="auto">
          <a:xfrm>
            <a:off x="838200" y="468630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Tree>
    <p:custDataLst>
      <p:tags r:id="rId1"/>
    </p:custDataLst>
    <p:extLst>
      <p:ext uri="{BB962C8B-B14F-4D97-AF65-F5344CB8AC3E}">
        <p14:creationId xmlns:p14="http://schemas.microsoft.com/office/powerpoint/2010/main" val="1167190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88386-9E8E-FA5E-59EA-13B6ED0E71FE}"/>
              </a:ext>
            </a:extLst>
          </p:cNvPr>
          <p:cNvSpPr>
            <a:spLocks noGrp="1"/>
          </p:cNvSpPr>
          <p:nvPr>
            <p:ph type="title"/>
            <p:custDataLst>
              <p:tags r:id="rId2"/>
            </p:custDataLst>
          </p:nvPr>
        </p:nvSpPr>
        <p:spPr/>
        <p:txBody>
          <a:bodyPr/>
          <a:lstStyle/>
          <a:p>
            <a:r>
              <a:rPr lang="en-FI"/>
              <a:t>What airfoil can be represented by those graphs?</a:t>
            </a:r>
          </a:p>
        </p:txBody>
      </p:sp>
      <p:sp>
        <p:nvSpPr>
          <p:cNvPr id="3" name="Content Placeholder 2">
            <a:extLst>
              <a:ext uri="{FF2B5EF4-FFF2-40B4-BE49-F238E27FC236}">
                <a16:creationId xmlns:a16="http://schemas.microsoft.com/office/drawing/2014/main" id="{1898C2F1-63E3-CA0A-B211-2BD7F19B519C}"/>
              </a:ext>
            </a:extLst>
          </p:cNvPr>
          <p:cNvSpPr>
            <a:spLocks noGrp="1"/>
          </p:cNvSpPr>
          <p:nvPr>
            <p:ph sz="quarter" idx="13"/>
            <p:custDataLst>
              <p:tags r:id="rId3"/>
            </p:custDataLst>
          </p:nvPr>
        </p:nvSpPr>
        <p:spPr/>
        <p:txBody>
          <a:bodyPr/>
          <a:lstStyle/>
          <a:p>
            <a:pPr marL="0" indent="0">
              <a:buNone/>
            </a:pPr>
            <a:r>
              <a:rPr lang="en-FI"/>
              <a:t> </a:t>
            </a:r>
            <a:endParaRPr lang="en-FI" dirty="0"/>
          </a:p>
        </p:txBody>
      </p:sp>
      <p:sp>
        <p:nvSpPr>
          <p:cNvPr id="4" name="Content Placeholder 3">
            <a:extLst>
              <a:ext uri="{FF2B5EF4-FFF2-40B4-BE49-F238E27FC236}">
                <a16:creationId xmlns:a16="http://schemas.microsoft.com/office/drawing/2014/main" id="{A6116703-7E4F-08C0-A881-34ECD0347D90}"/>
              </a:ext>
            </a:extLst>
          </p:cNvPr>
          <p:cNvSpPr>
            <a:spLocks noGrp="1"/>
          </p:cNvSpPr>
          <p:nvPr>
            <p:ph sz="quarter" idx="14"/>
            <p:custDataLst>
              <p:tags r:id="rId4"/>
            </p:custDataLst>
          </p:nvPr>
        </p:nvSpPr>
        <p:spPr/>
        <p:txBody>
          <a:bodyPr/>
          <a:lstStyle/>
          <a:p>
            <a:pPr marL="0" indent="0">
              <a:buNone/>
            </a:pPr>
            <a:r>
              <a:rPr lang="en-FI"/>
              <a:t> </a:t>
            </a:r>
            <a:endParaRPr lang="en-FI" dirty="0"/>
          </a:p>
        </p:txBody>
      </p:sp>
      <p:pic>
        <p:nvPicPr>
          <p:cNvPr id="5" name="Picture 4">
            <a:extLst>
              <a:ext uri="{FF2B5EF4-FFF2-40B4-BE49-F238E27FC236}">
                <a16:creationId xmlns:a16="http://schemas.microsoft.com/office/drawing/2014/main" id="{39C359B9-9F04-7CD8-580D-D22D0E13EB0D}"/>
              </a:ext>
            </a:extLst>
          </p:cNvPr>
          <p:cNvPicPr>
            <a:picLocks/>
          </p:cNvPicPr>
          <p:nvPr>
            <p:custDataLst>
              <p:tags r:id="rId5"/>
            </p:custDataLst>
          </p:nvPr>
        </p:nvPicPr>
        <p:blipFill>
          <a:blip r:embed="rId30"/>
          <a:stretch>
            <a:fillRect/>
          </a:stretch>
        </p:blipFill>
        <p:spPr>
          <a:xfrm>
            <a:off x="6197600" y="1993900"/>
            <a:ext cx="5930900" cy="3568700"/>
          </a:xfrm>
          <a:prstGeom prst="rect">
            <a:avLst/>
          </a:prstGeom>
        </p:spPr>
      </p:pic>
      <p:sp>
        <p:nvSpPr>
          <p:cNvPr id="6" name="Rounded Rectangle 5">
            <a:extLst>
              <a:ext uri="{FF2B5EF4-FFF2-40B4-BE49-F238E27FC236}">
                <a16:creationId xmlns:a16="http://schemas.microsoft.com/office/drawing/2014/main" id="{4D9DEBA6-CCCC-D747-B729-4CD2D5F390B3}"/>
              </a:ext>
            </a:extLst>
          </p:cNvPr>
          <p:cNvSpPr/>
          <p:nvPr>
            <p:custDataLst>
              <p:tags r:id="rId6"/>
            </p:custDataLst>
          </p:nvPr>
        </p:nvSpPr>
        <p:spPr bwMode="auto">
          <a:xfrm>
            <a:off x="63500" y="63500"/>
            <a:ext cx="2032000" cy="3810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ahoma" pitchFamily="34" charset="0"/>
              </a:rPr>
              <a:t>72/122</a:t>
            </a:r>
          </a:p>
        </p:txBody>
      </p:sp>
      <p:sp>
        <p:nvSpPr>
          <p:cNvPr id="7" name="Rounded Rectangle 6">
            <a:extLst>
              <a:ext uri="{FF2B5EF4-FFF2-40B4-BE49-F238E27FC236}">
                <a16:creationId xmlns:a16="http://schemas.microsoft.com/office/drawing/2014/main" id="{31A6D78C-C7D8-0F43-A3AC-54E2C53897D9}"/>
              </a:ext>
            </a:extLst>
          </p:cNvPr>
          <p:cNvSpPr/>
          <p:nvPr>
            <p:custDataLst>
              <p:tags r:id="rId7"/>
            </p:custDataLst>
          </p:nvPr>
        </p:nvSpPr>
        <p:spPr bwMode="auto">
          <a:xfrm>
            <a:off x="10096500" y="63500"/>
            <a:ext cx="2032000" cy="3810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ahoma" pitchFamily="34" charset="0"/>
              </a:rPr>
              <a:t>Question slide</a:t>
            </a:r>
          </a:p>
        </p:txBody>
      </p:sp>
      <p:sp>
        <p:nvSpPr>
          <p:cNvPr id="8" name="Snip Same Side Corner Rectangle 7">
            <a:extLst>
              <a:ext uri="{FF2B5EF4-FFF2-40B4-BE49-F238E27FC236}">
                <a16:creationId xmlns:a16="http://schemas.microsoft.com/office/drawing/2014/main" id="{409F6386-FE3A-F944-AD49-4181CDA6A59C}"/>
              </a:ext>
            </a:extLst>
          </p:cNvPr>
          <p:cNvSpPr/>
          <p:nvPr>
            <p:custDataLst>
              <p:tags r:id="rId8"/>
            </p:custDataLst>
          </p:nvPr>
        </p:nvSpPr>
        <p:spPr bwMode="auto">
          <a:xfrm>
            <a:off x="165100" y="254000"/>
            <a:ext cx="177800" cy="127000"/>
          </a:xfrm>
          <a:prstGeom prst="snip2SameRect">
            <a:avLst/>
          </a:prstGeom>
          <a:solidFill>
            <a:srgbClr val="FFFFFF"/>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9" name="Oval 8">
            <a:extLst>
              <a:ext uri="{FF2B5EF4-FFF2-40B4-BE49-F238E27FC236}">
                <a16:creationId xmlns:a16="http://schemas.microsoft.com/office/drawing/2014/main" id="{7E5A36E3-D04B-B94B-B2EC-11A5354BE584}"/>
              </a:ext>
            </a:extLst>
          </p:cNvPr>
          <p:cNvSpPr/>
          <p:nvPr>
            <p:custDataLst>
              <p:tags r:id="rId9"/>
            </p:custDataLst>
          </p:nvPr>
        </p:nvSpPr>
        <p:spPr bwMode="auto">
          <a:xfrm>
            <a:off x="190500" y="127000"/>
            <a:ext cx="127000" cy="127000"/>
          </a:xfrm>
          <a:prstGeom prst="ellipse">
            <a:avLst/>
          </a:prstGeom>
          <a:solidFill>
            <a:srgbClr val="FFFFFF"/>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10" name="Oval 9">
            <a:extLst>
              <a:ext uri="{FF2B5EF4-FFF2-40B4-BE49-F238E27FC236}">
                <a16:creationId xmlns:a16="http://schemas.microsoft.com/office/drawing/2014/main" id="{AAD3D4FB-A680-6C44-909B-570206DD3F9A}"/>
              </a:ext>
            </a:extLst>
          </p:cNvPr>
          <p:cNvSpPr/>
          <p:nvPr>
            <p:custDataLst>
              <p:tags r:id="rId10"/>
            </p:custDataLst>
          </p:nvPr>
        </p:nvSpPr>
        <p:spPr bwMode="auto">
          <a:xfrm>
            <a:off x="11341100" y="6007100"/>
            <a:ext cx="762000" cy="762000"/>
          </a:xfrm>
          <a:prstGeom prst="ellipse">
            <a:avLst/>
          </a:prstGeom>
          <a:solidFill>
            <a:srgbClr val="ADC610">
              <a:alpha val="0"/>
              <a:alpha val="0"/>
            </a:srgbClr>
          </a:solidFill>
          <a:ln w="9525" cap="flat" cmpd="sng" algn="ctr">
            <a:solidFill>
              <a:srgbClr val="000000">
                <a:alpha val="0"/>
                <a:alpha val="0"/>
              </a:srgbClr>
            </a:solidFill>
            <a:prstDash val="solid"/>
            <a:round/>
            <a:headEnd type="none" w="med" len="med"/>
            <a:tailEnd type="none" w="med" len="med"/>
          </a:ln>
          <a:effectLst/>
        </p:spPr>
        <p:txBody>
          <a:bodyPr vertOverflow="clip" horzOverflow="clip" vert="horz" wrap="square" lIns="0" tIns="45720" rIns="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11" name="TextBox 10">
            <a:extLst>
              <a:ext uri="{FF2B5EF4-FFF2-40B4-BE49-F238E27FC236}">
                <a16:creationId xmlns:a16="http://schemas.microsoft.com/office/drawing/2014/main" id="{16E94985-0D60-7340-8B16-35CFF6A7248E}"/>
              </a:ext>
            </a:extLst>
          </p:cNvPr>
          <p:cNvSpPr txBox="1"/>
          <p:nvPr>
            <p:custDataLst>
              <p:tags r:id="rId11"/>
            </p:custDataLst>
          </p:nvPr>
        </p:nvSpPr>
        <p:spPr>
          <a:xfrm>
            <a:off x="3429000" y="88900"/>
            <a:ext cx="2413000" cy="381000"/>
          </a:xfrm>
          <a:prstGeom prst="rect">
            <a:avLst/>
          </a:prstGeom>
          <a:noFill/>
        </p:spPr>
        <p:txBody>
          <a:bodyPr vertOverflow="overflow" vert="horz" wrap="square" rtlCol="0" anchor="t">
            <a:spAutoFit/>
          </a:bodyPr>
          <a:lstStyle/>
          <a:p>
            <a:pPr algn="l"/>
            <a:r>
              <a:rPr lang="en-US"/>
              <a:t>Join at: </a:t>
            </a:r>
            <a:r>
              <a:rPr lang="en-US" b="1"/>
              <a:t>vevox.app</a:t>
            </a:r>
            <a:endParaRPr lang="en-US"/>
          </a:p>
        </p:txBody>
      </p:sp>
      <p:sp>
        <p:nvSpPr>
          <p:cNvPr id="12" name="TextBox 11">
            <a:extLst>
              <a:ext uri="{FF2B5EF4-FFF2-40B4-BE49-F238E27FC236}">
                <a16:creationId xmlns:a16="http://schemas.microsoft.com/office/drawing/2014/main" id="{270EA5A3-8798-AA4F-A13F-674CF68F45A4}"/>
              </a:ext>
            </a:extLst>
          </p:cNvPr>
          <p:cNvSpPr txBox="1"/>
          <p:nvPr>
            <p:custDataLst>
              <p:tags r:id="rId12"/>
            </p:custDataLst>
          </p:nvPr>
        </p:nvSpPr>
        <p:spPr>
          <a:xfrm>
            <a:off x="6350000" y="101600"/>
            <a:ext cx="2413000" cy="381000"/>
          </a:xfrm>
          <a:prstGeom prst="rect">
            <a:avLst/>
          </a:prstGeom>
          <a:noFill/>
        </p:spPr>
        <p:txBody>
          <a:bodyPr vertOverflow="overflow" vert="horz" wrap="square" rtlCol="0" anchor="t">
            <a:spAutoFit/>
          </a:bodyPr>
          <a:lstStyle/>
          <a:p>
            <a:pPr algn="l"/>
            <a:r>
              <a:rPr lang="en-US"/>
              <a:t>ID: </a:t>
            </a:r>
            <a:r>
              <a:rPr lang="en-US" b="1"/>
              <a:t>165-949-420</a:t>
            </a:r>
            <a:endParaRPr lang="en-US"/>
          </a:p>
        </p:txBody>
      </p:sp>
      <p:sp>
        <p:nvSpPr>
          <p:cNvPr id="13" name="TextBox 12">
            <a:extLst>
              <a:ext uri="{FF2B5EF4-FFF2-40B4-BE49-F238E27FC236}">
                <a16:creationId xmlns:a16="http://schemas.microsoft.com/office/drawing/2014/main" id="{64B531DE-759D-014E-8AB8-2BB94E706511}"/>
              </a:ext>
            </a:extLst>
          </p:cNvPr>
          <p:cNvSpPr txBox="1"/>
          <p:nvPr>
            <p:custDataLst>
              <p:tags r:id="rId13"/>
            </p:custDataLst>
          </p:nvPr>
        </p:nvSpPr>
        <p:spPr>
          <a:xfrm>
            <a:off x="838200" y="1828800"/>
            <a:ext cx="5156200" cy="317500"/>
          </a:xfrm>
          <a:prstGeom prst="rect">
            <a:avLst/>
          </a:prstGeom>
          <a:noFill/>
        </p:spPr>
        <p:txBody>
          <a:bodyPr vertOverflow="overflow" vert="horz" wrap="square" tIns="0" bIns="0" rtlCol="0" anchor="t">
            <a:spAutoFit/>
          </a:bodyPr>
          <a:lstStyle/>
          <a:p>
            <a:pPr algn="l"/>
            <a:r>
              <a:rPr lang="en-US"/>
              <a:t>NACA 20012</a:t>
            </a:r>
          </a:p>
        </p:txBody>
      </p:sp>
      <p:sp>
        <p:nvSpPr>
          <p:cNvPr id="14" name="TextBox 13">
            <a:extLst>
              <a:ext uri="{FF2B5EF4-FFF2-40B4-BE49-F238E27FC236}">
                <a16:creationId xmlns:a16="http://schemas.microsoft.com/office/drawing/2014/main" id="{DACB232E-B4C0-214F-B466-53D2340089DF}"/>
              </a:ext>
            </a:extLst>
          </p:cNvPr>
          <p:cNvSpPr txBox="1"/>
          <p:nvPr>
            <p:custDataLst>
              <p:tags r:id="rId14"/>
            </p:custDataLst>
          </p:nvPr>
        </p:nvSpPr>
        <p:spPr>
          <a:xfrm>
            <a:off x="4978400" y="1993900"/>
            <a:ext cx="1016000" cy="635000"/>
          </a:xfrm>
          <a:prstGeom prst="rect">
            <a:avLst/>
          </a:prstGeom>
          <a:noFill/>
        </p:spPr>
        <p:txBody>
          <a:bodyPr vertOverflow="overflow" vert="horz" wrap="square" rtlCol="0" anchor="ctr" anchorCtr="0">
            <a:spAutoFit/>
          </a:bodyPr>
          <a:lstStyle/>
          <a:p>
            <a:pPr algn="r"/>
            <a:r>
              <a:rPr lang="en-US"/>
              <a:t>0%</a:t>
            </a:r>
          </a:p>
        </p:txBody>
      </p:sp>
      <p:sp>
        <p:nvSpPr>
          <p:cNvPr id="15" name="Rounded Rectangle 14">
            <a:extLst>
              <a:ext uri="{FF2B5EF4-FFF2-40B4-BE49-F238E27FC236}">
                <a16:creationId xmlns:a16="http://schemas.microsoft.com/office/drawing/2014/main" id="{1710D5C7-5F57-9749-BE13-3BBB225E9A88}"/>
              </a:ext>
            </a:extLst>
          </p:cNvPr>
          <p:cNvSpPr/>
          <p:nvPr>
            <p:custDataLst>
              <p:tags r:id="rId15"/>
            </p:custDataLst>
          </p:nvPr>
        </p:nvSpPr>
        <p:spPr bwMode="auto">
          <a:xfrm>
            <a:off x="838200" y="214630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16" name="Rounded Rectangle 15">
            <a:extLst>
              <a:ext uri="{FF2B5EF4-FFF2-40B4-BE49-F238E27FC236}">
                <a16:creationId xmlns:a16="http://schemas.microsoft.com/office/drawing/2014/main" id="{0A683DE3-839E-4240-9D5F-7F1E6D8C827E}"/>
              </a:ext>
            </a:extLst>
          </p:cNvPr>
          <p:cNvSpPr/>
          <p:nvPr>
            <p:custDataLst>
              <p:tags r:id="rId16"/>
            </p:custDataLst>
          </p:nvPr>
        </p:nvSpPr>
        <p:spPr bwMode="auto">
          <a:xfrm>
            <a:off x="838200" y="214630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17" name="TextBox 16">
            <a:extLst>
              <a:ext uri="{FF2B5EF4-FFF2-40B4-BE49-F238E27FC236}">
                <a16:creationId xmlns:a16="http://schemas.microsoft.com/office/drawing/2014/main" id="{BFF18ECA-D0CD-7A4A-9B57-4F4D917AE5CA}"/>
              </a:ext>
            </a:extLst>
          </p:cNvPr>
          <p:cNvSpPr txBox="1"/>
          <p:nvPr>
            <p:custDataLst>
              <p:tags r:id="rId17"/>
            </p:custDataLst>
          </p:nvPr>
        </p:nvSpPr>
        <p:spPr>
          <a:xfrm>
            <a:off x="838200" y="2463800"/>
            <a:ext cx="5156200" cy="317500"/>
          </a:xfrm>
          <a:prstGeom prst="rect">
            <a:avLst/>
          </a:prstGeom>
          <a:noFill/>
        </p:spPr>
        <p:txBody>
          <a:bodyPr vertOverflow="overflow" vert="horz" wrap="square" tIns="0" bIns="0" rtlCol="0" anchor="t">
            <a:spAutoFit/>
          </a:bodyPr>
          <a:lstStyle/>
          <a:p>
            <a:pPr algn="l"/>
            <a:r>
              <a:rPr lang="en-US"/>
              <a:t>NACA 64(1)012</a:t>
            </a:r>
          </a:p>
        </p:txBody>
      </p:sp>
      <p:sp>
        <p:nvSpPr>
          <p:cNvPr id="18" name="TextBox 17">
            <a:extLst>
              <a:ext uri="{FF2B5EF4-FFF2-40B4-BE49-F238E27FC236}">
                <a16:creationId xmlns:a16="http://schemas.microsoft.com/office/drawing/2014/main" id="{57F2B3D1-BEBA-DE4D-9EF0-FD373928667B}"/>
              </a:ext>
            </a:extLst>
          </p:cNvPr>
          <p:cNvSpPr txBox="1"/>
          <p:nvPr>
            <p:custDataLst>
              <p:tags r:id="rId18"/>
            </p:custDataLst>
          </p:nvPr>
        </p:nvSpPr>
        <p:spPr>
          <a:xfrm>
            <a:off x="4978400" y="2628900"/>
            <a:ext cx="1016000" cy="635000"/>
          </a:xfrm>
          <a:prstGeom prst="rect">
            <a:avLst/>
          </a:prstGeom>
          <a:noFill/>
        </p:spPr>
        <p:txBody>
          <a:bodyPr vertOverflow="overflow" vert="horz" wrap="square" rtlCol="0" anchor="ctr" anchorCtr="0">
            <a:spAutoFit/>
          </a:bodyPr>
          <a:lstStyle/>
          <a:p>
            <a:pPr algn="r"/>
            <a:r>
              <a:rPr lang="en-US"/>
              <a:t>0%</a:t>
            </a:r>
          </a:p>
        </p:txBody>
      </p:sp>
      <p:sp>
        <p:nvSpPr>
          <p:cNvPr id="19" name="Rounded Rectangle 18">
            <a:extLst>
              <a:ext uri="{FF2B5EF4-FFF2-40B4-BE49-F238E27FC236}">
                <a16:creationId xmlns:a16="http://schemas.microsoft.com/office/drawing/2014/main" id="{C636E641-C5BF-EA4B-8B4A-2D6E01616E09}"/>
              </a:ext>
            </a:extLst>
          </p:cNvPr>
          <p:cNvSpPr/>
          <p:nvPr>
            <p:custDataLst>
              <p:tags r:id="rId19"/>
            </p:custDataLst>
          </p:nvPr>
        </p:nvSpPr>
        <p:spPr bwMode="auto">
          <a:xfrm>
            <a:off x="838200" y="278130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20" name="Rounded Rectangle 19">
            <a:extLst>
              <a:ext uri="{FF2B5EF4-FFF2-40B4-BE49-F238E27FC236}">
                <a16:creationId xmlns:a16="http://schemas.microsoft.com/office/drawing/2014/main" id="{901CF375-33A1-7C41-8697-74D8473CD086}"/>
              </a:ext>
            </a:extLst>
          </p:cNvPr>
          <p:cNvSpPr/>
          <p:nvPr>
            <p:custDataLst>
              <p:tags r:id="rId20"/>
            </p:custDataLst>
          </p:nvPr>
        </p:nvSpPr>
        <p:spPr bwMode="auto">
          <a:xfrm>
            <a:off x="838200" y="278130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21" name="TextBox 20">
            <a:extLst>
              <a:ext uri="{FF2B5EF4-FFF2-40B4-BE49-F238E27FC236}">
                <a16:creationId xmlns:a16="http://schemas.microsoft.com/office/drawing/2014/main" id="{EED5CC07-EF33-2A45-854C-BE9AEEF2F679}"/>
              </a:ext>
            </a:extLst>
          </p:cNvPr>
          <p:cNvSpPr txBox="1"/>
          <p:nvPr>
            <p:custDataLst>
              <p:tags r:id="rId21"/>
            </p:custDataLst>
          </p:nvPr>
        </p:nvSpPr>
        <p:spPr>
          <a:xfrm>
            <a:off x="838200" y="3098800"/>
            <a:ext cx="5156200" cy="317500"/>
          </a:xfrm>
          <a:prstGeom prst="rect">
            <a:avLst/>
          </a:prstGeom>
          <a:noFill/>
        </p:spPr>
        <p:txBody>
          <a:bodyPr vertOverflow="overflow" vert="horz" wrap="square" tIns="0" bIns="0" rtlCol="0" anchor="t">
            <a:spAutoFit/>
          </a:bodyPr>
          <a:lstStyle/>
          <a:p>
            <a:pPr algn="l"/>
            <a:r>
              <a:rPr lang="en-US"/>
              <a:t>NACA 64(3)212</a:t>
            </a:r>
          </a:p>
        </p:txBody>
      </p:sp>
      <p:sp>
        <p:nvSpPr>
          <p:cNvPr id="22" name="TextBox 21">
            <a:extLst>
              <a:ext uri="{FF2B5EF4-FFF2-40B4-BE49-F238E27FC236}">
                <a16:creationId xmlns:a16="http://schemas.microsoft.com/office/drawing/2014/main" id="{78C3689D-9FBC-DC47-8946-F779EED851D3}"/>
              </a:ext>
            </a:extLst>
          </p:cNvPr>
          <p:cNvSpPr txBox="1"/>
          <p:nvPr>
            <p:custDataLst>
              <p:tags r:id="rId22"/>
            </p:custDataLst>
          </p:nvPr>
        </p:nvSpPr>
        <p:spPr>
          <a:xfrm>
            <a:off x="4978400" y="3263900"/>
            <a:ext cx="1016000" cy="635000"/>
          </a:xfrm>
          <a:prstGeom prst="rect">
            <a:avLst/>
          </a:prstGeom>
          <a:noFill/>
        </p:spPr>
        <p:txBody>
          <a:bodyPr vertOverflow="overflow" vert="horz" wrap="square" rtlCol="0" anchor="ctr" anchorCtr="0">
            <a:spAutoFit/>
          </a:bodyPr>
          <a:lstStyle/>
          <a:p>
            <a:pPr algn="r"/>
            <a:r>
              <a:rPr lang="en-US"/>
              <a:t>0%</a:t>
            </a:r>
          </a:p>
        </p:txBody>
      </p:sp>
      <p:sp>
        <p:nvSpPr>
          <p:cNvPr id="23" name="Rounded Rectangle 22">
            <a:extLst>
              <a:ext uri="{FF2B5EF4-FFF2-40B4-BE49-F238E27FC236}">
                <a16:creationId xmlns:a16="http://schemas.microsoft.com/office/drawing/2014/main" id="{6AD3969C-AE97-7E43-8F0E-6DFEEBCE4912}"/>
              </a:ext>
            </a:extLst>
          </p:cNvPr>
          <p:cNvSpPr/>
          <p:nvPr>
            <p:custDataLst>
              <p:tags r:id="rId23"/>
            </p:custDataLst>
          </p:nvPr>
        </p:nvSpPr>
        <p:spPr bwMode="auto">
          <a:xfrm>
            <a:off x="838200" y="341630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24" name="Rounded Rectangle 23">
            <a:extLst>
              <a:ext uri="{FF2B5EF4-FFF2-40B4-BE49-F238E27FC236}">
                <a16:creationId xmlns:a16="http://schemas.microsoft.com/office/drawing/2014/main" id="{EBB08888-4349-EE4E-AB40-743F0D36A7BA}"/>
              </a:ext>
            </a:extLst>
          </p:cNvPr>
          <p:cNvSpPr/>
          <p:nvPr>
            <p:custDataLst>
              <p:tags r:id="rId24"/>
            </p:custDataLst>
          </p:nvPr>
        </p:nvSpPr>
        <p:spPr bwMode="auto">
          <a:xfrm>
            <a:off x="838200" y="341630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25" name="TextBox 24">
            <a:extLst>
              <a:ext uri="{FF2B5EF4-FFF2-40B4-BE49-F238E27FC236}">
                <a16:creationId xmlns:a16="http://schemas.microsoft.com/office/drawing/2014/main" id="{C393CECA-2B06-8E4B-B4E7-675463BCA7A2}"/>
              </a:ext>
            </a:extLst>
          </p:cNvPr>
          <p:cNvSpPr txBox="1"/>
          <p:nvPr>
            <p:custDataLst>
              <p:tags r:id="rId25"/>
            </p:custDataLst>
          </p:nvPr>
        </p:nvSpPr>
        <p:spPr>
          <a:xfrm>
            <a:off x="838200" y="3733800"/>
            <a:ext cx="5156200" cy="317500"/>
          </a:xfrm>
          <a:prstGeom prst="rect">
            <a:avLst/>
          </a:prstGeom>
          <a:noFill/>
        </p:spPr>
        <p:txBody>
          <a:bodyPr vertOverflow="overflow" vert="horz" wrap="square" tIns="0" bIns="0" rtlCol="0" anchor="t">
            <a:spAutoFit/>
          </a:bodyPr>
          <a:lstStyle/>
          <a:p>
            <a:pPr algn="l"/>
            <a:r>
              <a:rPr lang="en-US"/>
              <a:t>NACA 23212</a:t>
            </a:r>
          </a:p>
        </p:txBody>
      </p:sp>
      <p:sp>
        <p:nvSpPr>
          <p:cNvPr id="26" name="TextBox 25">
            <a:extLst>
              <a:ext uri="{FF2B5EF4-FFF2-40B4-BE49-F238E27FC236}">
                <a16:creationId xmlns:a16="http://schemas.microsoft.com/office/drawing/2014/main" id="{1780D8CD-92D8-D94D-BFA0-B603A925050C}"/>
              </a:ext>
            </a:extLst>
          </p:cNvPr>
          <p:cNvSpPr txBox="1"/>
          <p:nvPr>
            <p:custDataLst>
              <p:tags r:id="rId26"/>
            </p:custDataLst>
          </p:nvPr>
        </p:nvSpPr>
        <p:spPr>
          <a:xfrm>
            <a:off x="4978400" y="3898900"/>
            <a:ext cx="1016000" cy="635000"/>
          </a:xfrm>
          <a:prstGeom prst="rect">
            <a:avLst/>
          </a:prstGeom>
          <a:noFill/>
        </p:spPr>
        <p:txBody>
          <a:bodyPr vertOverflow="overflow" vert="horz" wrap="square" rtlCol="0" anchor="ctr" anchorCtr="0">
            <a:spAutoFit/>
          </a:bodyPr>
          <a:lstStyle/>
          <a:p>
            <a:pPr algn="r"/>
            <a:r>
              <a:rPr lang="en-US"/>
              <a:t>0%</a:t>
            </a:r>
          </a:p>
        </p:txBody>
      </p:sp>
      <p:sp>
        <p:nvSpPr>
          <p:cNvPr id="27" name="Rounded Rectangle 26">
            <a:extLst>
              <a:ext uri="{FF2B5EF4-FFF2-40B4-BE49-F238E27FC236}">
                <a16:creationId xmlns:a16="http://schemas.microsoft.com/office/drawing/2014/main" id="{3DD80FC0-7B1A-8144-9E10-5B5A57CB4ED9}"/>
              </a:ext>
            </a:extLst>
          </p:cNvPr>
          <p:cNvSpPr/>
          <p:nvPr>
            <p:custDataLst>
              <p:tags r:id="rId27"/>
            </p:custDataLst>
          </p:nvPr>
        </p:nvSpPr>
        <p:spPr bwMode="auto">
          <a:xfrm>
            <a:off x="838200" y="405130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28" name="Rounded Rectangle 27">
            <a:extLst>
              <a:ext uri="{FF2B5EF4-FFF2-40B4-BE49-F238E27FC236}">
                <a16:creationId xmlns:a16="http://schemas.microsoft.com/office/drawing/2014/main" id="{CA723707-E5B3-4C48-91D1-1F6033DC5B26}"/>
              </a:ext>
            </a:extLst>
          </p:cNvPr>
          <p:cNvSpPr/>
          <p:nvPr>
            <p:custDataLst>
              <p:tags r:id="rId28"/>
            </p:custDataLst>
          </p:nvPr>
        </p:nvSpPr>
        <p:spPr bwMode="auto">
          <a:xfrm>
            <a:off x="838200" y="405130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Tree>
    <p:custDataLst>
      <p:tags r:id="rId1"/>
    </p:custDataLst>
    <p:extLst>
      <p:ext uri="{BB962C8B-B14F-4D97-AF65-F5344CB8AC3E}">
        <p14:creationId xmlns:p14="http://schemas.microsoft.com/office/powerpoint/2010/main" val="3234333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88386-9E8E-FA5E-59EA-13B6ED0E71FE}"/>
              </a:ext>
            </a:extLst>
          </p:cNvPr>
          <p:cNvSpPr>
            <a:spLocks noGrp="1"/>
          </p:cNvSpPr>
          <p:nvPr>
            <p:ph type="title"/>
            <p:custDataLst>
              <p:tags r:id="rId2"/>
            </p:custDataLst>
          </p:nvPr>
        </p:nvSpPr>
        <p:spPr>
          <a:xfrm>
            <a:off x="875241" y="665956"/>
            <a:ext cx="10212917" cy="760413"/>
          </a:xfrm>
        </p:spPr>
        <p:txBody>
          <a:bodyPr/>
          <a:lstStyle/>
          <a:p>
            <a:r>
              <a:rPr lang="en-FI" sz="2800"/>
              <a:t>What is the span wise position (in m) of the Mean Aerodynamic Chord of the wing reported in figure?</a:t>
            </a:r>
          </a:p>
        </p:txBody>
      </p:sp>
      <p:sp>
        <p:nvSpPr>
          <p:cNvPr id="3" name="Content Placeholder 2">
            <a:extLst>
              <a:ext uri="{FF2B5EF4-FFF2-40B4-BE49-F238E27FC236}">
                <a16:creationId xmlns:a16="http://schemas.microsoft.com/office/drawing/2014/main" id="{1898C2F1-63E3-CA0A-B211-2BD7F19B519C}"/>
              </a:ext>
            </a:extLst>
          </p:cNvPr>
          <p:cNvSpPr>
            <a:spLocks noGrp="1"/>
          </p:cNvSpPr>
          <p:nvPr>
            <p:ph sz="quarter" idx="13"/>
            <p:custDataLst>
              <p:tags r:id="rId3"/>
            </p:custDataLst>
          </p:nvPr>
        </p:nvSpPr>
        <p:spPr/>
        <p:txBody>
          <a:bodyPr/>
          <a:lstStyle/>
          <a:p>
            <a:pPr marL="0" indent="0">
              <a:buNone/>
            </a:pPr>
            <a:r>
              <a:rPr lang="en-FI"/>
              <a:t> </a:t>
            </a:r>
            <a:endParaRPr lang="en-FI" dirty="0"/>
          </a:p>
        </p:txBody>
      </p:sp>
      <p:sp>
        <p:nvSpPr>
          <p:cNvPr id="4" name="Content Placeholder 3">
            <a:extLst>
              <a:ext uri="{FF2B5EF4-FFF2-40B4-BE49-F238E27FC236}">
                <a16:creationId xmlns:a16="http://schemas.microsoft.com/office/drawing/2014/main" id="{A6116703-7E4F-08C0-A881-34ECD0347D90}"/>
              </a:ext>
            </a:extLst>
          </p:cNvPr>
          <p:cNvSpPr>
            <a:spLocks noGrp="1"/>
          </p:cNvSpPr>
          <p:nvPr>
            <p:ph sz="quarter" idx="14"/>
            <p:custDataLst>
              <p:tags r:id="rId4"/>
            </p:custDataLst>
          </p:nvPr>
        </p:nvSpPr>
        <p:spPr/>
        <p:txBody>
          <a:bodyPr/>
          <a:lstStyle/>
          <a:p>
            <a:pPr marL="0" indent="0">
              <a:buNone/>
            </a:pPr>
            <a:r>
              <a:rPr lang="en-FI"/>
              <a:t> </a:t>
            </a:r>
            <a:endParaRPr lang="en-FI" dirty="0"/>
          </a:p>
        </p:txBody>
      </p:sp>
      <p:pic>
        <p:nvPicPr>
          <p:cNvPr id="5" name="Picture 4">
            <a:extLst>
              <a:ext uri="{FF2B5EF4-FFF2-40B4-BE49-F238E27FC236}">
                <a16:creationId xmlns:a16="http://schemas.microsoft.com/office/drawing/2014/main" id="{F4889132-16F5-D246-6EE3-0794F0CA5E1B}"/>
              </a:ext>
            </a:extLst>
          </p:cNvPr>
          <p:cNvPicPr>
            <a:picLocks/>
          </p:cNvPicPr>
          <p:nvPr>
            <p:custDataLst>
              <p:tags r:id="rId5"/>
            </p:custDataLst>
          </p:nvPr>
        </p:nvPicPr>
        <p:blipFill>
          <a:blip r:embed="rId61"/>
          <a:stretch>
            <a:fillRect/>
          </a:stretch>
        </p:blipFill>
        <p:spPr>
          <a:xfrm>
            <a:off x="6197600" y="1981200"/>
            <a:ext cx="5156200" cy="4064000"/>
          </a:xfrm>
          <a:prstGeom prst="rect">
            <a:avLst/>
          </a:prstGeom>
        </p:spPr>
      </p:pic>
      <p:sp>
        <p:nvSpPr>
          <p:cNvPr id="6" name="Rounded Rectangle 5">
            <a:extLst>
              <a:ext uri="{FF2B5EF4-FFF2-40B4-BE49-F238E27FC236}">
                <a16:creationId xmlns:a16="http://schemas.microsoft.com/office/drawing/2014/main" id="{C64CDD14-FE65-7547-835B-27273FF9B33C}"/>
              </a:ext>
            </a:extLst>
          </p:cNvPr>
          <p:cNvSpPr/>
          <p:nvPr>
            <p:custDataLst>
              <p:tags r:id="rId6"/>
            </p:custDataLst>
          </p:nvPr>
        </p:nvSpPr>
        <p:spPr bwMode="auto">
          <a:xfrm>
            <a:off x="63500" y="63500"/>
            <a:ext cx="2032000" cy="3810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ahoma" pitchFamily="34" charset="0"/>
              </a:rPr>
              <a:t>48/117</a:t>
            </a:r>
          </a:p>
        </p:txBody>
      </p:sp>
      <p:sp>
        <p:nvSpPr>
          <p:cNvPr id="7" name="Rounded Rectangle 6">
            <a:extLst>
              <a:ext uri="{FF2B5EF4-FFF2-40B4-BE49-F238E27FC236}">
                <a16:creationId xmlns:a16="http://schemas.microsoft.com/office/drawing/2014/main" id="{0D25CF60-935B-B849-903E-A81D430C678A}"/>
              </a:ext>
            </a:extLst>
          </p:cNvPr>
          <p:cNvSpPr/>
          <p:nvPr>
            <p:custDataLst>
              <p:tags r:id="rId7"/>
            </p:custDataLst>
          </p:nvPr>
        </p:nvSpPr>
        <p:spPr bwMode="auto">
          <a:xfrm>
            <a:off x="10096500" y="63500"/>
            <a:ext cx="2032000" cy="3810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ahoma" pitchFamily="34" charset="0"/>
              </a:rPr>
              <a:t>Question slide</a:t>
            </a:r>
          </a:p>
        </p:txBody>
      </p:sp>
      <p:sp>
        <p:nvSpPr>
          <p:cNvPr id="8" name="Snip Same Side Corner Rectangle 7">
            <a:extLst>
              <a:ext uri="{FF2B5EF4-FFF2-40B4-BE49-F238E27FC236}">
                <a16:creationId xmlns:a16="http://schemas.microsoft.com/office/drawing/2014/main" id="{B3445FB6-1C8A-1242-AB59-E93A0A404D2A}"/>
              </a:ext>
            </a:extLst>
          </p:cNvPr>
          <p:cNvSpPr/>
          <p:nvPr>
            <p:custDataLst>
              <p:tags r:id="rId8"/>
            </p:custDataLst>
          </p:nvPr>
        </p:nvSpPr>
        <p:spPr bwMode="auto">
          <a:xfrm>
            <a:off x="165100" y="254000"/>
            <a:ext cx="177800" cy="127000"/>
          </a:xfrm>
          <a:prstGeom prst="snip2SameRect">
            <a:avLst/>
          </a:prstGeom>
          <a:solidFill>
            <a:srgbClr val="FFFFFF"/>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9" name="Oval 8">
            <a:extLst>
              <a:ext uri="{FF2B5EF4-FFF2-40B4-BE49-F238E27FC236}">
                <a16:creationId xmlns:a16="http://schemas.microsoft.com/office/drawing/2014/main" id="{D9B8FAF5-1FB4-7D49-BE7C-C09A4F4BD80A}"/>
              </a:ext>
            </a:extLst>
          </p:cNvPr>
          <p:cNvSpPr/>
          <p:nvPr>
            <p:custDataLst>
              <p:tags r:id="rId9"/>
            </p:custDataLst>
          </p:nvPr>
        </p:nvSpPr>
        <p:spPr bwMode="auto">
          <a:xfrm>
            <a:off x="190500" y="127000"/>
            <a:ext cx="127000" cy="127000"/>
          </a:xfrm>
          <a:prstGeom prst="ellipse">
            <a:avLst/>
          </a:prstGeom>
          <a:solidFill>
            <a:srgbClr val="FFFFFF"/>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10" name="Oval 9">
            <a:extLst>
              <a:ext uri="{FF2B5EF4-FFF2-40B4-BE49-F238E27FC236}">
                <a16:creationId xmlns:a16="http://schemas.microsoft.com/office/drawing/2014/main" id="{9000231B-1E5F-AC4B-8703-E6A1F573FC97}"/>
              </a:ext>
            </a:extLst>
          </p:cNvPr>
          <p:cNvSpPr/>
          <p:nvPr>
            <p:custDataLst>
              <p:tags r:id="rId10"/>
            </p:custDataLst>
          </p:nvPr>
        </p:nvSpPr>
        <p:spPr bwMode="auto">
          <a:xfrm>
            <a:off x="11341100" y="6007100"/>
            <a:ext cx="762000" cy="762000"/>
          </a:xfrm>
          <a:prstGeom prst="ellipse">
            <a:avLst/>
          </a:prstGeom>
          <a:solidFill>
            <a:srgbClr val="ADC610">
              <a:alpha val="0"/>
              <a:alpha val="0"/>
            </a:srgbClr>
          </a:solidFill>
          <a:ln w="9525" cap="flat" cmpd="sng" algn="ctr">
            <a:solidFill>
              <a:srgbClr val="000000">
                <a:alpha val="0"/>
                <a:alpha val="0"/>
              </a:srgbClr>
            </a:solidFill>
            <a:prstDash val="solid"/>
            <a:round/>
            <a:headEnd type="none" w="med" len="med"/>
            <a:tailEnd type="none" w="med" len="med"/>
          </a:ln>
          <a:effectLst/>
        </p:spPr>
        <p:txBody>
          <a:bodyPr vertOverflow="clip" horzOverflow="clip" vert="horz" wrap="square" lIns="0" tIns="45720" rIns="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11" name="TextBox 10">
            <a:extLst>
              <a:ext uri="{FF2B5EF4-FFF2-40B4-BE49-F238E27FC236}">
                <a16:creationId xmlns:a16="http://schemas.microsoft.com/office/drawing/2014/main" id="{C2AE319E-0370-5E42-A5B9-C8A6FA87A740}"/>
              </a:ext>
            </a:extLst>
          </p:cNvPr>
          <p:cNvSpPr txBox="1"/>
          <p:nvPr>
            <p:custDataLst>
              <p:tags r:id="rId11"/>
            </p:custDataLst>
          </p:nvPr>
        </p:nvSpPr>
        <p:spPr>
          <a:xfrm>
            <a:off x="3429000" y="88900"/>
            <a:ext cx="2413000" cy="381000"/>
          </a:xfrm>
          <a:prstGeom prst="rect">
            <a:avLst/>
          </a:prstGeom>
          <a:noFill/>
        </p:spPr>
        <p:txBody>
          <a:bodyPr vertOverflow="overflow" vert="horz" wrap="square" rtlCol="0" anchor="t">
            <a:spAutoFit/>
          </a:bodyPr>
          <a:lstStyle/>
          <a:p>
            <a:pPr algn="l"/>
            <a:r>
              <a:rPr lang="en-US"/>
              <a:t>Join at: </a:t>
            </a:r>
            <a:r>
              <a:rPr lang="en-US" b="1"/>
              <a:t>vevox.app</a:t>
            </a:r>
            <a:endParaRPr lang="en-US"/>
          </a:p>
        </p:txBody>
      </p:sp>
      <p:sp>
        <p:nvSpPr>
          <p:cNvPr id="12" name="TextBox 11">
            <a:extLst>
              <a:ext uri="{FF2B5EF4-FFF2-40B4-BE49-F238E27FC236}">
                <a16:creationId xmlns:a16="http://schemas.microsoft.com/office/drawing/2014/main" id="{8C0ECC27-360E-B544-938F-D7157C4BA19E}"/>
              </a:ext>
            </a:extLst>
          </p:cNvPr>
          <p:cNvSpPr txBox="1"/>
          <p:nvPr>
            <p:custDataLst>
              <p:tags r:id="rId12"/>
            </p:custDataLst>
          </p:nvPr>
        </p:nvSpPr>
        <p:spPr>
          <a:xfrm>
            <a:off x="6350000" y="101600"/>
            <a:ext cx="2413000" cy="381000"/>
          </a:xfrm>
          <a:prstGeom prst="rect">
            <a:avLst/>
          </a:prstGeom>
          <a:noFill/>
        </p:spPr>
        <p:txBody>
          <a:bodyPr vertOverflow="overflow" vert="horz" wrap="square" rtlCol="0" anchor="t">
            <a:spAutoFit/>
          </a:bodyPr>
          <a:lstStyle/>
          <a:p>
            <a:pPr algn="l"/>
            <a:r>
              <a:rPr lang="en-US"/>
              <a:t>ID: </a:t>
            </a:r>
            <a:r>
              <a:rPr lang="en-US" b="1"/>
              <a:t>165-949-420</a:t>
            </a:r>
            <a:endParaRPr lang="en-US"/>
          </a:p>
        </p:txBody>
      </p:sp>
      <p:cxnSp>
        <p:nvCxnSpPr>
          <p:cNvPr id="13" name="Straight Arrow Connector 12">
            <a:extLst>
              <a:ext uri="{FF2B5EF4-FFF2-40B4-BE49-F238E27FC236}">
                <a16:creationId xmlns:a16="http://schemas.microsoft.com/office/drawing/2014/main" id="{4281C92C-D6BE-934E-B535-516A06114A6E}"/>
              </a:ext>
            </a:extLst>
          </p:cNvPr>
          <p:cNvCxnSpPr/>
          <p:nvPr>
            <p:custDataLst>
              <p:tags r:id="rId13"/>
            </p:custDataLst>
          </p:nvPr>
        </p:nvCxnSpPr>
        <p:spPr bwMode="auto">
          <a:xfrm>
            <a:off x="1003300" y="5727700"/>
            <a:ext cx="0" cy="63500"/>
          </a:xfrm>
          <a:prstGeom prst="straightConnector1">
            <a:avLst/>
          </a:prstGeom>
          <a:solidFill>
            <a:schemeClr val="accent1"/>
          </a:solidFill>
          <a:ln w="25400" cap="flat" cmpd="sng" algn="ctr">
            <a:solidFill>
              <a:srgbClr val="808080"/>
            </a:solidFill>
            <a:prstDash val="solid"/>
            <a:round/>
            <a:headEnd type="none" w="med" len="med"/>
            <a:tailEnd type="none" w="med" len="med"/>
          </a:ln>
          <a:effectLst/>
        </p:spPr>
      </p:cxnSp>
      <p:sp>
        <p:nvSpPr>
          <p:cNvPr id="14" name="TextBox 13">
            <a:extLst>
              <a:ext uri="{FF2B5EF4-FFF2-40B4-BE49-F238E27FC236}">
                <a16:creationId xmlns:a16="http://schemas.microsoft.com/office/drawing/2014/main" id="{0E0AC0E8-7F8B-9042-84AC-E20DDB49337A}"/>
              </a:ext>
            </a:extLst>
          </p:cNvPr>
          <p:cNvSpPr txBox="1"/>
          <p:nvPr>
            <p:custDataLst>
              <p:tags r:id="rId14"/>
            </p:custDataLst>
          </p:nvPr>
        </p:nvSpPr>
        <p:spPr>
          <a:xfrm>
            <a:off x="368300" y="5727700"/>
            <a:ext cx="1270000" cy="317500"/>
          </a:xfrm>
          <a:prstGeom prst="rect">
            <a:avLst/>
          </a:prstGeom>
          <a:noFill/>
        </p:spPr>
        <p:txBody>
          <a:bodyPr vertOverflow="overflow" vert="horz" wrap="square" rtlCol="0" anchor="ctr" anchorCtr="1">
            <a:spAutoFit/>
          </a:bodyPr>
          <a:lstStyle/>
          <a:p>
            <a:pPr algn="l"/>
            <a:r>
              <a:rPr lang="en-US"/>
              <a:t>2</a:t>
            </a:r>
          </a:p>
        </p:txBody>
      </p:sp>
      <p:sp>
        <p:nvSpPr>
          <p:cNvPr id="15" name="Rectangle 14">
            <a:extLst>
              <a:ext uri="{FF2B5EF4-FFF2-40B4-BE49-F238E27FC236}">
                <a16:creationId xmlns:a16="http://schemas.microsoft.com/office/drawing/2014/main" id="{8DB180B7-F913-C641-AC75-825B9848AB67}"/>
              </a:ext>
            </a:extLst>
          </p:cNvPr>
          <p:cNvSpPr/>
          <p:nvPr>
            <p:custDataLst>
              <p:tags r:id="rId15"/>
            </p:custDataLst>
          </p:nvPr>
        </p:nvSpPr>
        <p:spPr bwMode="auto">
          <a:xfrm>
            <a:off x="838200" y="2209800"/>
            <a:ext cx="342900" cy="3505200"/>
          </a:xfrm>
          <a:prstGeom prst="rect">
            <a:avLst/>
          </a:prstGeom>
          <a:solidFill>
            <a:srgbClr val="ADC610">
              <a:alpha val="0"/>
            </a:srgbClr>
          </a:solidFill>
          <a:ln w="12700" cap="flat" cmpd="sng" algn="ctr">
            <a:solidFill>
              <a:srgbClr val="808080">
                <a:alpha val="0"/>
                <a:alpha val="0"/>
                <a:alpha val="100000"/>
              </a:srgbClr>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16" name="Rectangle 15">
            <a:extLst>
              <a:ext uri="{FF2B5EF4-FFF2-40B4-BE49-F238E27FC236}">
                <a16:creationId xmlns:a16="http://schemas.microsoft.com/office/drawing/2014/main" id="{2FC38923-8E57-1346-81C9-BE28F500CE98}"/>
              </a:ext>
            </a:extLst>
          </p:cNvPr>
          <p:cNvSpPr/>
          <p:nvPr>
            <p:custDataLst>
              <p:tags r:id="rId16"/>
            </p:custDataLst>
          </p:nvPr>
        </p:nvSpPr>
        <p:spPr bwMode="auto">
          <a:xfrm>
            <a:off x="838200" y="5715000"/>
            <a:ext cx="342900" cy="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17" name="Rectangle 16">
            <a:extLst>
              <a:ext uri="{FF2B5EF4-FFF2-40B4-BE49-F238E27FC236}">
                <a16:creationId xmlns:a16="http://schemas.microsoft.com/office/drawing/2014/main" id="{4BCB698F-9A6D-5649-A040-3AAA1AC6BB68}"/>
              </a:ext>
            </a:extLst>
          </p:cNvPr>
          <p:cNvSpPr/>
          <p:nvPr>
            <p:custDataLst>
              <p:tags r:id="rId17"/>
            </p:custDataLst>
          </p:nvPr>
        </p:nvSpPr>
        <p:spPr bwMode="auto">
          <a:xfrm>
            <a:off x="1181100" y="2209800"/>
            <a:ext cx="342900" cy="3505200"/>
          </a:xfrm>
          <a:prstGeom prst="rect">
            <a:avLst/>
          </a:prstGeom>
          <a:solidFill>
            <a:srgbClr val="ADC610">
              <a:alpha val="0"/>
            </a:srgbClr>
          </a:solidFill>
          <a:ln w="12700" cap="flat" cmpd="sng" algn="ctr">
            <a:solidFill>
              <a:srgbClr val="808080">
                <a:alpha val="0"/>
                <a:alpha val="0"/>
                <a:alpha val="100000"/>
              </a:srgbClr>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18" name="Rectangle 17">
            <a:extLst>
              <a:ext uri="{FF2B5EF4-FFF2-40B4-BE49-F238E27FC236}">
                <a16:creationId xmlns:a16="http://schemas.microsoft.com/office/drawing/2014/main" id="{D874BCA3-765D-B845-B09F-84E58D1B0EEE}"/>
              </a:ext>
            </a:extLst>
          </p:cNvPr>
          <p:cNvSpPr/>
          <p:nvPr>
            <p:custDataLst>
              <p:tags r:id="rId18"/>
            </p:custDataLst>
          </p:nvPr>
        </p:nvSpPr>
        <p:spPr bwMode="auto">
          <a:xfrm>
            <a:off x="1181100" y="5715000"/>
            <a:ext cx="342900" cy="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cxnSp>
        <p:nvCxnSpPr>
          <p:cNvPr id="19" name="Straight Arrow Connector 18">
            <a:extLst>
              <a:ext uri="{FF2B5EF4-FFF2-40B4-BE49-F238E27FC236}">
                <a16:creationId xmlns:a16="http://schemas.microsoft.com/office/drawing/2014/main" id="{643028CE-F774-F14D-B0D5-93E547FE783B}"/>
              </a:ext>
            </a:extLst>
          </p:cNvPr>
          <p:cNvCxnSpPr/>
          <p:nvPr>
            <p:custDataLst>
              <p:tags r:id="rId19"/>
            </p:custDataLst>
          </p:nvPr>
        </p:nvCxnSpPr>
        <p:spPr bwMode="auto">
          <a:xfrm>
            <a:off x="1689100" y="5727700"/>
            <a:ext cx="0" cy="63500"/>
          </a:xfrm>
          <a:prstGeom prst="straightConnector1">
            <a:avLst/>
          </a:prstGeom>
          <a:solidFill>
            <a:schemeClr val="accent1"/>
          </a:solidFill>
          <a:ln w="25400" cap="flat" cmpd="sng" algn="ctr">
            <a:solidFill>
              <a:srgbClr val="808080"/>
            </a:solidFill>
            <a:prstDash val="solid"/>
            <a:round/>
            <a:headEnd type="none" w="med" len="med"/>
            <a:tailEnd type="none" w="med" len="med"/>
          </a:ln>
          <a:effectLst/>
        </p:spPr>
      </p:cxnSp>
      <p:sp>
        <p:nvSpPr>
          <p:cNvPr id="20" name="TextBox 19">
            <a:extLst>
              <a:ext uri="{FF2B5EF4-FFF2-40B4-BE49-F238E27FC236}">
                <a16:creationId xmlns:a16="http://schemas.microsoft.com/office/drawing/2014/main" id="{D709C448-A3A4-E14D-A567-9E405A20BEE5}"/>
              </a:ext>
            </a:extLst>
          </p:cNvPr>
          <p:cNvSpPr txBox="1"/>
          <p:nvPr>
            <p:custDataLst>
              <p:tags r:id="rId20"/>
            </p:custDataLst>
          </p:nvPr>
        </p:nvSpPr>
        <p:spPr>
          <a:xfrm>
            <a:off x="1054100" y="5727700"/>
            <a:ext cx="1270000" cy="317500"/>
          </a:xfrm>
          <a:prstGeom prst="rect">
            <a:avLst/>
          </a:prstGeom>
          <a:noFill/>
        </p:spPr>
        <p:txBody>
          <a:bodyPr vertOverflow="overflow" vert="horz" wrap="square" rtlCol="0" anchor="ctr" anchorCtr="1">
            <a:spAutoFit/>
          </a:bodyPr>
          <a:lstStyle/>
          <a:p>
            <a:pPr algn="l"/>
            <a:r>
              <a:rPr lang="en-US"/>
              <a:t>4</a:t>
            </a:r>
          </a:p>
        </p:txBody>
      </p:sp>
      <p:sp>
        <p:nvSpPr>
          <p:cNvPr id="21" name="Rectangle 20">
            <a:extLst>
              <a:ext uri="{FF2B5EF4-FFF2-40B4-BE49-F238E27FC236}">
                <a16:creationId xmlns:a16="http://schemas.microsoft.com/office/drawing/2014/main" id="{7E9A0325-EAE3-F249-B3EA-2DDEE675CA5E}"/>
              </a:ext>
            </a:extLst>
          </p:cNvPr>
          <p:cNvSpPr/>
          <p:nvPr>
            <p:custDataLst>
              <p:tags r:id="rId21"/>
            </p:custDataLst>
          </p:nvPr>
        </p:nvSpPr>
        <p:spPr bwMode="auto">
          <a:xfrm>
            <a:off x="1524000" y="2209800"/>
            <a:ext cx="342900" cy="3505200"/>
          </a:xfrm>
          <a:prstGeom prst="rect">
            <a:avLst/>
          </a:prstGeom>
          <a:solidFill>
            <a:srgbClr val="ADC610">
              <a:alpha val="0"/>
            </a:srgbClr>
          </a:solidFill>
          <a:ln w="12700" cap="flat" cmpd="sng" algn="ctr">
            <a:solidFill>
              <a:srgbClr val="808080">
                <a:alpha val="0"/>
                <a:alpha val="0"/>
                <a:alpha val="100000"/>
              </a:srgbClr>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22" name="Rectangle 21">
            <a:extLst>
              <a:ext uri="{FF2B5EF4-FFF2-40B4-BE49-F238E27FC236}">
                <a16:creationId xmlns:a16="http://schemas.microsoft.com/office/drawing/2014/main" id="{0AD52BF8-6DDC-A042-9947-9F8696A3B80F}"/>
              </a:ext>
            </a:extLst>
          </p:cNvPr>
          <p:cNvSpPr/>
          <p:nvPr>
            <p:custDataLst>
              <p:tags r:id="rId22"/>
            </p:custDataLst>
          </p:nvPr>
        </p:nvSpPr>
        <p:spPr bwMode="auto">
          <a:xfrm>
            <a:off x="1524000" y="5715000"/>
            <a:ext cx="342900" cy="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23" name="Rectangle 22">
            <a:extLst>
              <a:ext uri="{FF2B5EF4-FFF2-40B4-BE49-F238E27FC236}">
                <a16:creationId xmlns:a16="http://schemas.microsoft.com/office/drawing/2014/main" id="{D3797F6E-C95B-6841-A073-2397461598AF}"/>
              </a:ext>
            </a:extLst>
          </p:cNvPr>
          <p:cNvSpPr/>
          <p:nvPr>
            <p:custDataLst>
              <p:tags r:id="rId23"/>
            </p:custDataLst>
          </p:nvPr>
        </p:nvSpPr>
        <p:spPr bwMode="auto">
          <a:xfrm>
            <a:off x="1866900" y="2209800"/>
            <a:ext cx="342900" cy="3505200"/>
          </a:xfrm>
          <a:prstGeom prst="rect">
            <a:avLst/>
          </a:prstGeom>
          <a:solidFill>
            <a:srgbClr val="ADC610">
              <a:alpha val="0"/>
            </a:srgbClr>
          </a:solidFill>
          <a:ln w="12700" cap="flat" cmpd="sng" algn="ctr">
            <a:solidFill>
              <a:srgbClr val="808080">
                <a:alpha val="0"/>
                <a:alpha val="0"/>
                <a:alpha val="100000"/>
              </a:srgbClr>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24" name="Rectangle 23">
            <a:extLst>
              <a:ext uri="{FF2B5EF4-FFF2-40B4-BE49-F238E27FC236}">
                <a16:creationId xmlns:a16="http://schemas.microsoft.com/office/drawing/2014/main" id="{5B855115-9D2A-FA44-BFF6-255E2449CBAC}"/>
              </a:ext>
            </a:extLst>
          </p:cNvPr>
          <p:cNvSpPr/>
          <p:nvPr>
            <p:custDataLst>
              <p:tags r:id="rId24"/>
            </p:custDataLst>
          </p:nvPr>
        </p:nvSpPr>
        <p:spPr bwMode="auto">
          <a:xfrm>
            <a:off x="1866900" y="5715000"/>
            <a:ext cx="342900" cy="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cxnSp>
        <p:nvCxnSpPr>
          <p:cNvPr id="25" name="Straight Arrow Connector 24">
            <a:extLst>
              <a:ext uri="{FF2B5EF4-FFF2-40B4-BE49-F238E27FC236}">
                <a16:creationId xmlns:a16="http://schemas.microsoft.com/office/drawing/2014/main" id="{00D7B939-292D-C54A-A6EB-4AC09F80F8F5}"/>
              </a:ext>
            </a:extLst>
          </p:cNvPr>
          <p:cNvCxnSpPr/>
          <p:nvPr>
            <p:custDataLst>
              <p:tags r:id="rId25"/>
            </p:custDataLst>
          </p:nvPr>
        </p:nvCxnSpPr>
        <p:spPr bwMode="auto">
          <a:xfrm>
            <a:off x="2374900" y="5727700"/>
            <a:ext cx="0" cy="63500"/>
          </a:xfrm>
          <a:prstGeom prst="straightConnector1">
            <a:avLst/>
          </a:prstGeom>
          <a:solidFill>
            <a:schemeClr val="accent1"/>
          </a:solidFill>
          <a:ln w="25400" cap="flat" cmpd="sng" algn="ctr">
            <a:solidFill>
              <a:srgbClr val="808080"/>
            </a:solidFill>
            <a:prstDash val="solid"/>
            <a:round/>
            <a:headEnd type="none" w="med" len="med"/>
            <a:tailEnd type="none" w="med" len="med"/>
          </a:ln>
          <a:effectLst/>
        </p:spPr>
      </p:cxnSp>
      <p:sp>
        <p:nvSpPr>
          <p:cNvPr id="26" name="TextBox 25">
            <a:extLst>
              <a:ext uri="{FF2B5EF4-FFF2-40B4-BE49-F238E27FC236}">
                <a16:creationId xmlns:a16="http://schemas.microsoft.com/office/drawing/2014/main" id="{DE6FFEA9-3485-7140-B0F1-B1E2634D01C8}"/>
              </a:ext>
            </a:extLst>
          </p:cNvPr>
          <p:cNvSpPr txBox="1"/>
          <p:nvPr>
            <p:custDataLst>
              <p:tags r:id="rId26"/>
            </p:custDataLst>
          </p:nvPr>
        </p:nvSpPr>
        <p:spPr>
          <a:xfrm>
            <a:off x="1739900" y="5727700"/>
            <a:ext cx="1270000" cy="317500"/>
          </a:xfrm>
          <a:prstGeom prst="rect">
            <a:avLst/>
          </a:prstGeom>
          <a:noFill/>
        </p:spPr>
        <p:txBody>
          <a:bodyPr vertOverflow="overflow" vert="horz" wrap="square" rtlCol="0" anchor="ctr" anchorCtr="1">
            <a:spAutoFit/>
          </a:bodyPr>
          <a:lstStyle/>
          <a:p>
            <a:pPr algn="l"/>
            <a:r>
              <a:rPr lang="en-US"/>
              <a:t>6</a:t>
            </a:r>
          </a:p>
        </p:txBody>
      </p:sp>
      <p:sp>
        <p:nvSpPr>
          <p:cNvPr id="27" name="Rectangle 26">
            <a:extLst>
              <a:ext uri="{FF2B5EF4-FFF2-40B4-BE49-F238E27FC236}">
                <a16:creationId xmlns:a16="http://schemas.microsoft.com/office/drawing/2014/main" id="{8D2A5769-FE4A-E843-8924-A64ECF93C023}"/>
              </a:ext>
            </a:extLst>
          </p:cNvPr>
          <p:cNvSpPr/>
          <p:nvPr>
            <p:custDataLst>
              <p:tags r:id="rId27"/>
            </p:custDataLst>
          </p:nvPr>
        </p:nvSpPr>
        <p:spPr bwMode="auto">
          <a:xfrm>
            <a:off x="2209800" y="2209800"/>
            <a:ext cx="342900" cy="3505200"/>
          </a:xfrm>
          <a:prstGeom prst="rect">
            <a:avLst/>
          </a:prstGeom>
          <a:solidFill>
            <a:srgbClr val="ADC610">
              <a:alpha val="0"/>
            </a:srgbClr>
          </a:solidFill>
          <a:ln w="12700" cap="flat" cmpd="sng" algn="ctr">
            <a:solidFill>
              <a:srgbClr val="808080">
                <a:alpha val="0"/>
                <a:alpha val="0"/>
                <a:alpha val="100000"/>
              </a:srgbClr>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28" name="Rectangle 27">
            <a:extLst>
              <a:ext uri="{FF2B5EF4-FFF2-40B4-BE49-F238E27FC236}">
                <a16:creationId xmlns:a16="http://schemas.microsoft.com/office/drawing/2014/main" id="{D1B55176-9F0D-1D4D-B42C-3C5A90E12742}"/>
              </a:ext>
            </a:extLst>
          </p:cNvPr>
          <p:cNvSpPr/>
          <p:nvPr>
            <p:custDataLst>
              <p:tags r:id="rId28"/>
            </p:custDataLst>
          </p:nvPr>
        </p:nvSpPr>
        <p:spPr bwMode="auto">
          <a:xfrm>
            <a:off x="2209800" y="5715000"/>
            <a:ext cx="342900" cy="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29" name="Rectangle 28">
            <a:extLst>
              <a:ext uri="{FF2B5EF4-FFF2-40B4-BE49-F238E27FC236}">
                <a16:creationId xmlns:a16="http://schemas.microsoft.com/office/drawing/2014/main" id="{F30F3A97-F7BA-E94A-95D0-F61EF25F534A}"/>
              </a:ext>
            </a:extLst>
          </p:cNvPr>
          <p:cNvSpPr/>
          <p:nvPr>
            <p:custDataLst>
              <p:tags r:id="rId29"/>
            </p:custDataLst>
          </p:nvPr>
        </p:nvSpPr>
        <p:spPr bwMode="auto">
          <a:xfrm>
            <a:off x="2552700" y="2209800"/>
            <a:ext cx="342900" cy="3505200"/>
          </a:xfrm>
          <a:prstGeom prst="rect">
            <a:avLst/>
          </a:prstGeom>
          <a:solidFill>
            <a:srgbClr val="ADC610">
              <a:alpha val="0"/>
            </a:srgbClr>
          </a:solidFill>
          <a:ln w="12700" cap="flat" cmpd="sng" algn="ctr">
            <a:solidFill>
              <a:srgbClr val="808080">
                <a:alpha val="0"/>
                <a:alpha val="0"/>
                <a:alpha val="100000"/>
              </a:srgbClr>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30" name="Rectangle 29">
            <a:extLst>
              <a:ext uri="{FF2B5EF4-FFF2-40B4-BE49-F238E27FC236}">
                <a16:creationId xmlns:a16="http://schemas.microsoft.com/office/drawing/2014/main" id="{882D9B26-0F83-F646-9E29-6FA067DB8AE5}"/>
              </a:ext>
            </a:extLst>
          </p:cNvPr>
          <p:cNvSpPr/>
          <p:nvPr>
            <p:custDataLst>
              <p:tags r:id="rId30"/>
            </p:custDataLst>
          </p:nvPr>
        </p:nvSpPr>
        <p:spPr bwMode="auto">
          <a:xfrm>
            <a:off x="2552700" y="5715000"/>
            <a:ext cx="342900" cy="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cxnSp>
        <p:nvCxnSpPr>
          <p:cNvPr id="31" name="Straight Arrow Connector 30">
            <a:extLst>
              <a:ext uri="{FF2B5EF4-FFF2-40B4-BE49-F238E27FC236}">
                <a16:creationId xmlns:a16="http://schemas.microsoft.com/office/drawing/2014/main" id="{826D1623-A274-1D44-BC89-C3EAF093ABAB}"/>
              </a:ext>
            </a:extLst>
          </p:cNvPr>
          <p:cNvCxnSpPr/>
          <p:nvPr>
            <p:custDataLst>
              <p:tags r:id="rId31"/>
            </p:custDataLst>
          </p:nvPr>
        </p:nvCxnSpPr>
        <p:spPr bwMode="auto">
          <a:xfrm>
            <a:off x="3060700" y="5727700"/>
            <a:ext cx="0" cy="63500"/>
          </a:xfrm>
          <a:prstGeom prst="straightConnector1">
            <a:avLst/>
          </a:prstGeom>
          <a:solidFill>
            <a:schemeClr val="accent1"/>
          </a:solidFill>
          <a:ln w="25400" cap="flat" cmpd="sng" algn="ctr">
            <a:solidFill>
              <a:srgbClr val="808080"/>
            </a:solidFill>
            <a:prstDash val="solid"/>
            <a:round/>
            <a:headEnd type="none" w="med" len="med"/>
            <a:tailEnd type="none" w="med" len="med"/>
          </a:ln>
          <a:effectLst/>
        </p:spPr>
      </p:cxnSp>
      <p:sp>
        <p:nvSpPr>
          <p:cNvPr id="32" name="TextBox 31">
            <a:extLst>
              <a:ext uri="{FF2B5EF4-FFF2-40B4-BE49-F238E27FC236}">
                <a16:creationId xmlns:a16="http://schemas.microsoft.com/office/drawing/2014/main" id="{9C93CEB2-68A8-5049-B139-0AB94A7D1AED}"/>
              </a:ext>
            </a:extLst>
          </p:cNvPr>
          <p:cNvSpPr txBox="1"/>
          <p:nvPr>
            <p:custDataLst>
              <p:tags r:id="rId32"/>
            </p:custDataLst>
          </p:nvPr>
        </p:nvSpPr>
        <p:spPr>
          <a:xfrm>
            <a:off x="2425700" y="5727700"/>
            <a:ext cx="1270000" cy="317500"/>
          </a:xfrm>
          <a:prstGeom prst="rect">
            <a:avLst/>
          </a:prstGeom>
          <a:noFill/>
        </p:spPr>
        <p:txBody>
          <a:bodyPr vertOverflow="overflow" vert="horz" wrap="square" rtlCol="0" anchor="ctr" anchorCtr="1">
            <a:spAutoFit/>
          </a:bodyPr>
          <a:lstStyle/>
          <a:p>
            <a:pPr algn="l"/>
            <a:r>
              <a:rPr lang="en-US"/>
              <a:t>8</a:t>
            </a:r>
          </a:p>
        </p:txBody>
      </p:sp>
      <p:sp>
        <p:nvSpPr>
          <p:cNvPr id="33" name="Rectangle 32">
            <a:extLst>
              <a:ext uri="{FF2B5EF4-FFF2-40B4-BE49-F238E27FC236}">
                <a16:creationId xmlns:a16="http://schemas.microsoft.com/office/drawing/2014/main" id="{E18B873B-B6BE-424F-8181-880C627D6670}"/>
              </a:ext>
            </a:extLst>
          </p:cNvPr>
          <p:cNvSpPr/>
          <p:nvPr>
            <p:custDataLst>
              <p:tags r:id="rId33"/>
            </p:custDataLst>
          </p:nvPr>
        </p:nvSpPr>
        <p:spPr bwMode="auto">
          <a:xfrm>
            <a:off x="2895600" y="2209800"/>
            <a:ext cx="342900" cy="3505200"/>
          </a:xfrm>
          <a:prstGeom prst="rect">
            <a:avLst/>
          </a:prstGeom>
          <a:solidFill>
            <a:srgbClr val="ADC610">
              <a:alpha val="0"/>
            </a:srgbClr>
          </a:solidFill>
          <a:ln w="12700" cap="flat" cmpd="sng" algn="ctr">
            <a:solidFill>
              <a:srgbClr val="808080">
                <a:alpha val="0"/>
                <a:alpha val="0"/>
                <a:alpha val="100000"/>
              </a:srgbClr>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34" name="Rectangle 33">
            <a:extLst>
              <a:ext uri="{FF2B5EF4-FFF2-40B4-BE49-F238E27FC236}">
                <a16:creationId xmlns:a16="http://schemas.microsoft.com/office/drawing/2014/main" id="{483FB190-915E-5147-9F96-50B55B80DC73}"/>
              </a:ext>
            </a:extLst>
          </p:cNvPr>
          <p:cNvSpPr/>
          <p:nvPr>
            <p:custDataLst>
              <p:tags r:id="rId34"/>
            </p:custDataLst>
          </p:nvPr>
        </p:nvSpPr>
        <p:spPr bwMode="auto">
          <a:xfrm>
            <a:off x="2895600" y="5715000"/>
            <a:ext cx="342900" cy="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35" name="Rectangle 34">
            <a:extLst>
              <a:ext uri="{FF2B5EF4-FFF2-40B4-BE49-F238E27FC236}">
                <a16:creationId xmlns:a16="http://schemas.microsoft.com/office/drawing/2014/main" id="{459BF8B1-CC76-A14E-B93A-A6D6B8F85415}"/>
              </a:ext>
            </a:extLst>
          </p:cNvPr>
          <p:cNvSpPr/>
          <p:nvPr>
            <p:custDataLst>
              <p:tags r:id="rId35"/>
            </p:custDataLst>
          </p:nvPr>
        </p:nvSpPr>
        <p:spPr bwMode="auto">
          <a:xfrm>
            <a:off x="3238500" y="2209800"/>
            <a:ext cx="342900" cy="3505200"/>
          </a:xfrm>
          <a:prstGeom prst="rect">
            <a:avLst/>
          </a:prstGeom>
          <a:solidFill>
            <a:srgbClr val="ADC610">
              <a:alpha val="0"/>
            </a:srgbClr>
          </a:solidFill>
          <a:ln w="12700" cap="flat" cmpd="sng" algn="ctr">
            <a:solidFill>
              <a:srgbClr val="808080">
                <a:alpha val="0"/>
                <a:alpha val="0"/>
                <a:alpha val="100000"/>
              </a:srgbClr>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36" name="Rectangle 35">
            <a:extLst>
              <a:ext uri="{FF2B5EF4-FFF2-40B4-BE49-F238E27FC236}">
                <a16:creationId xmlns:a16="http://schemas.microsoft.com/office/drawing/2014/main" id="{6FF67F65-1C9D-694F-AD0E-770E918AF2AC}"/>
              </a:ext>
            </a:extLst>
          </p:cNvPr>
          <p:cNvSpPr/>
          <p:nvPr>
            <p:custDataLst>
              <p:tags r:id="rId36"/>
            </p:custDataLst>
          </p:nvPr>
        </p:nvSpPr>
        <p:spPr bwMode="auto">
          <a:xfrm>
            <a:off x="3238500" y="5715000"/>
            <a:ext cx="342900" cy="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cxnSp>
        <p:nvCxnSpPr>
          <p:cNvPr id="37" name="Straight Arrow Connector 36">
            <a:extLst>
              <a:ext uri="{FF2B5EF4-FFF2-40B4-BE49-F238E27FC236}">
                <a16:creationId xmlns:a16="http://schemas.microsoft.com/office/drawing/2014/main" id="{A0C90E2F-762B-544A-9A29-C4ADEAB3FD38}"/>
              </a:ext>
            </a:extLst>
          </p:cNvPr>
          <p:cNvCxnSpPr/>
          <p:nvPr>
            <p:custDataLst>
              <p:tags r:id="rId37"/>
            </p:custDataLst>
          </p:nvPr>
        </p:nvCxnSpPr>
        <p:spPr bwMode="auto">
          <a:xfrm>
            <a:off x="3759200" y="5727700"/>
            <a:ext cx="0" cy="63500"/>
          </a:xfrm>
          <a:prstGeom prst="straightConnector1">
            <a:avLst/>
          </a:prstGeom>
          <a:solidFill>
            <a:schemeClr val="accent1"/>
          </a:solidFill>
          <a:ln w="25400" cap="flat" cmpd="sng" algn="ctr">
            <a:solidFill>
              <a:srgbClr val="808080"/>
            </a:solidFill>
            <a:prstDash val="solid"/>
            <a:round/>
            <a:headEnd type="none" w="med" len="med"/>
            <a:tailEnd type="none" w="med" len="med"/>
          </a:ln>
          <a:effectLst/>
        </p:spPr>
      </p:cxnSp>
      <p:sp>
        <p:nvSpPr>
          <p:cNvPr id="38" name="TextBox 37">
            <a:extLst>
              <a:ext uri="{FF2B5EF4-FFF2-40B4-BE49-F238E27FC236}">
                <a16:creationId xmlns:a16="http://schemas.microsoft.com/office/drawing/2014/main" id="{C479D1C8-F617-E34F-A379-31183C2E3698}"/>
              </a:ext>
            </a:extLst>
          </p:cNvPr>
          <p:cNvSpPr txBox="1"/>
          <p:nvPr>
            <p:custDataLst>
              <p:tags r:id="rId38"/>
            </p:custDataLst>
          </p:nvPr>
        </p:nvSpPr>
        <p:spPr>
          <a:xfrm>
            <a:off x="3124200" y="5727700"/>
            <a:ext cx="1270000" cy="317500"/>
          </a:xfrm>
          <a:prstGeom prst="rect">
            <a:avLst/>
          </a:prstGeom>
          <a:noFill/>
        </p:spPr>
        <p:txBody>
          <a:bodyPr vertOverflow="overflow" vert="horz" wrap="square" rtlCol="0" anchor="ctr" anchorCtr="1">
            <a:spAutoFit/>
          </a:bodyPr>
          <a:lstStyle/>
          <a:p>
            <a:pPr algn="l"/>
            <a:r>
              <a:rPr lang="en-US"/>
              <a:t>10</a:t>
            </a:r>
          </a:p>
        </p:txBody>
      </p:sp>
      <p:sp>
        <p:nvSpPr>
          <p:cNvPr id="39" name="Rectangle 38">
            <a:extLst>
              <a:ext uri="{FF2B5EF4-FFF2-40B4-BE49-F238E27FC236}">
                <a16:creationId xmlns:a16="http://schemas.microsoft.com/office/drawing/2014/main" id="{365CEBDC-21FA-9F49-A2B0-D44D59081D21}"/>
              </a:ext>
            </a:extLst>
          </p:cNvPr>
          <p:cNvSpPr/>
          <p:nvPr>
            <p:custDataLst>
              <p:tags r:id="rId39"/>
            </p:custDataLst>
          </p:nvPr>
        </p:nvSpPr>
        <p:spPr bwMode="auto">
          <a:xfrm>
            <a:off x="3581400" y="2209800"/>
            <a:ext cx="342900" cy="3505200"/>
          </a:xfrm>
          <a:prstGeom prst="rect">
            <a:avLst/>
          </a:prstGeom>
          <a:solidFill>
            <a:srgbClr val="ADC610">
              <a:alpha val="0"/>
            </a:srgbClr>
          </a:solidFill>
          <a:ln w="12700" cap="flat" cmpd="sng" algn="ctr">
            <a:solidFill>
              <a:srgbClr val="808080">
                <a:alpha val="0"/>
                <a:alpha val="0"/>
                <a:alpha val="100000"/>
              </a:srgbClr>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40" name="Rectangle 39">
            <a:extLst>
              <a:ext uri="{FF2B5EF4-FFF2-40B4-BE49-F238E27FC236}">
                <a16:creationId xmlns:a16="http://schemas.microsoft.com/office/drawing/2014/main" id="{BB5449A3-BF92-854E-B951-8737AFEBC867}"/>
              </a:ext>
            </a:extLst>
          </p:cNvPr>
          <p:cNvSpPr/>
          <p:nvPr>
            <p:custDataLst>
              <p:tags r:id="rId40"/>
            </p:custDataLst>
          </p:nvPr>
        </p:nvSpPr>
        <p:spPr bwMode="auto">
          <a:xfrm>
            <a:off x="3581400" y="5715000"/>
            <a:ext cx="342900" cy="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41" name="Rectangle 40">
            <a:extLst>
              <a:ext uri="{FF2B5EF4-FFF2-40B4-BE49-F238E27FC236}">
                <a16:creationId xmlns:a16="http://schemas.microsoft.com/office/drawing/2014/main" id="{06557F56-8C70-9443-8E94-FD088ED3DC13}"/>
              </a:ext>
            </a:extLst>
          </p:cNvPr>
          <p:cNvSpPr/>
          <p:nvPr>
            <p:custDataLst>
              <p:tags r:id="rId41"/>
            </p:custDataLst>
          </p:nvPr>
        </p:nvSpPr>
        <p:spPr bwMode="auto">
          <a:xfrm>
            <a:off x="3924300" y="2209800"/>
            <a:ext cx="342900" cy="3505200"/>
          </a:xfrm>
          <a:prstGeom prst="rect">
            <a:avLst/>
          </a:prstGeom>
          <a:solidFill>
            <a:srgbClr val="ADC610">
              <a:alpha val="0"/>
            </a:srgbClr>
          </a:solidFill>
          <a:ln w="12700" cap="flat" cmpd="sng" algn="ctr">
            <a:solidFill>
              <a:srgbClr val="808080">
                <a:alpha val="0"/>
                <a:alpha val="0"/>
                <a:alpha val="100000"/>
              </a:srgbClr>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42" name="Rectangle 41">
            <a:extLst>
              <a:ext uri="{FF2B5EF4-FFF2-40B4-BE49-F238E27FC236}">
                <a16:creationId xmlns:a16="http://schemas.microsoft.com/office/drawing/2014/main" id="{6844001A-3EF1-074F-BC1F-6440DC026F35}"/>
              </a:ext>
            </a:extLst>
          </p:cNvPr>
          <p:cNvSpPr/>
          <p:nvPr>
            <p:custDataLst>
              <p:tags r:id="rId42"/>
            </p:custDataLst>
          </p:nvPr>
        </p:nvSpPr>
        <p:spPr bwMode="auto">
          <a:xfrm>
            <a:off x="3924300" y="5715000"/>
            <a:ext cx="342900" cy="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cxnSp>
        <p:nvCxnSpPr>
          <p:cNvPr id="43" name="Straight Arrow Connector 42">
            <a:extLst>
              <a:ext uri="{FF2B5EF4-FFF2-40B4-BE49-F238E27FC236}">
                <a16:creationId xmlns:a16="http://schemas.microsoft.com/office/drawing/2014/main" id="{6F47F50F-54CA-B347-9AE3-A1E27DB990B5}"/>
              </a:ext>
            </a:extLst>
          </p:cNvPr>
          <p:cNvCxnSpPr/>
          <p:nvPr>
            <p:custDataLst>
              <p:tags r:id="rId43"/>
            </p:custDataLst>
          </p:nvPr>
        </p:nvCxnSpPr>
        <p:spPr bwMode="auto">
          <a:xfrm>
            <a:off x="4445000" y="5727700"/>
            <a:ext cx="0" cy="63500"/>
          </a:xfrm>
          <a:prstGeom prst="straightConnector1">
            <a:avLst/>
          </a:prstGeom>
          <a:solidFill>
            <a:schemeClr val="accent1"/>
          </a:solidFill>
          <a:ln w="25400" cap="flat" cmpd="sng" algn="ctr">
            <a:solidFill>
              <a:srgbClr val="808080"/>
            </a:solidFill>
            <a:prstDash val="solid"/>
            <a:round/>
            <a:headEnd type="none" w="med" len="med"/>
            <a:tailEnd type="none" w="med" len="med"/>
          </a:ln>
          <a:effectLst/>
        </p:spPr>
      </p:cxnSp>
      <p:sp>
        <p:nvSpPr>
          <p:cNvPr id="44" name="TextBox 43">
            <a:extLst>
              <a:ext uri="{FF2B5EF4-FFF2-40B4-BE49-F238E27FC236}">
                <a16:creationId xmlns:a16="http://schemas.microsoft.com/office/drawing/2014/main" id="{82A1D98E-E63C-FE4D-BB7B-C51E6ABCF5E6}"/>
              </a:ext>
            </a:extLst>
          </p:cNvPr>
          <p:cNvSpPr txBox="1"/>
          <p:nvPr>
            <p:custDataLst>
              <p:tags r:id="rId44"/>
            </p:custDataLst>
          </p:nvPr>
        </p:nvSpPr>
        <p:spPr>
          <a:xfrm>
            <a:off x="3810000" y="5727700"/>
            <a:ext cx="1270000" cy="317500"/>
          </a:xfrm>
          <a:prstGeom prst="rect">
            <a:avLst/>
          </a:prstGeom>
          <a:noFill/>
        </p:spPr>
        <p:txBody>
          <a:bodyPr vertOverflow="overflow" vert="horz" wrap="square" rtlCol="0" anchor="ctr" anchorCtr="1">
            <a:spAutoFit/>
          </a:bodyPr>
          <a:lstStyle/>
          <a:p>
            <a:pPr algn="l"/>
            <a:r>
              <a:rPr lang="en-US"/>
              <a:t>12</a:t>
            </a:r>
          </a:p>
        </p:txBody>
      </p:sp>
      <p:sp>
        <p:nvSpPr>
          <p:cNvPr id="45" name="Rectangle 44">
            <a:extLst>
              <a:ext uri="{FF2B5EF4-FFF2-40B4-BE49-F238E27FC236}">
                <a16:creationId xmlns:a16="http://schemas.microsoft.com/office/drawing/2014/main" id="{A6B321BB-873B-9944-8511-BBAF2A9644E2}"/>
              </a:ext>
            </a:extLst>
          </p:cNvPr>
          <p:cNvSpPr/>
          <p:nvPr>
            <p:custDataLst>
              <p:tags r:id="rId45"/>
            </p:custDataLst>
          </p:nvPr>
        </p:nvSpPr>
        <p:spPr bwMode="auto">
          <a:xfrm>
            <a:off x="4267200" y="2209800"/>
            <a:ext cx="342900" cy="3505200"/>
          </a:xfrm>
          <a:prstGeom prst="rect">
            <a:avLst/>
          </a:prstGeom>
          <a:solidFill>
            <a:srgbClr val="ADC610">
              <a:alpha val="0"/>
            </a:srgbClr>
          </a:solidFill>
          <a:ln w="12700" cap="flat" cmpd="sng" algn="ctr">
            <a:solidFill>
              <a:srgbClr val="808080">
                <a:alpha val="0"/>
                <a:alpha val="0"/>
                <a:alpha val="100000"/>
              </a:srgbClr>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46" name="Rectangle 45">
            <a:extLst>
              <a:ext uri="{FF2B5EF4-FFF2-40B4-BE49-F238E27FC236}">
                <a16:creationId xmlns:a16="http://schemas.microsoft.com/office/drawing/2014/main" id="{4E2F5D9C-2A36-E643-8A96-1B78B2727AE5}"/>
              </a:ext>
            </a:extLst>
          </p:cNvPr>
          <p:cNvSpPr/>
          <p:nvPr>
            <p:custDataLst>
              <p:tags r:id="rId46"/>
            </p:custDataLst>
          </p:nvPr>
        </p:nvSpPr>
        <p:spPr bwMode="auto">
          <a:xfrm>
            <a:off x="4267200" y="5715000"/>
            <a:ext cx="342900" cy="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47" name="Rectangle 46">
            <a:extLst>
              <a:ext uri="{FF2B5EF4-FFF2-40B4-BE49-F238E27FC236}">
                <a16:creationId xmlns:a16="http://schemas.microsoft.com/office/drawing/2014/main" id="{5D34CF7A-C2DE-6A47-A588-51E44E93367D}"/>
              </a:ext>
            </a:extLst>
          </p:cNvPr>
          <p:cNvSpPr/>
          <p:nvPr>
            <p:custDataLst>
              <p:tags r:id="rId47"/>
            </p:custDataLst>
          </p:nvPr>
        </p:nvSpPr>
        <p:spPr bwMode="auto">
          <a:xfrm>
            <a:off x="4610100" y="2209800"/>
            <a:ext cx="342900" cy="3505200"/>
          </a:xfrm>
          <a:prstGeom prst="rect">
            <a:avLst/>
          </a:prstGeom>
          <a:solidFill>
            <a:srgbClr val="ADC610">
              <a:alpha val="0"/>
            </a:srgbClr>
          </a:solidFill>
          <a:ln w="12700" cap="flat" cmpd="sng" algn="ctr">
            <a:solidFill>
              <a:srgbClr val="808080">
                <a:alpha val="0"/>
                <a:alpha val="0"/>
                <a:alpha val="100000"/>
              </a:srgbClr>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48" name="Rectangle 47">
            <a:extLst>
              <a:ext uri="{FF2B5EF4-FFF2-40B4-BE49-F238E27FC236}">
                <a16:creationId xmlns:a16="http://schemas.microsoft.com/office/drawing/2014/main" id="{099E93E0-7BD6-7346-9A13-028DD3292F0E}"/>
              </a:ext>
            </a:extLst>
          </p:cNvPr>
          <p:cNvSpPr/>
          <p:nvPr>
            <p:custDataLst>
              <p:tags r:id="rId48"/>
            </p:custDataLst>
          </p:nvPr>
        </p:nvSpPr>
        <p:spPr bwMode="auto">
          <a:xfrm>
            <a:off x="4610100" y="5715000"/>
            <a:ext cx="342900" cy="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cxnSp>
        <p:nvCxnSpPr>
          <p:cNvPr id="49" name="Straight Arrow Connector 48">
            <a:extLst>
              <a:ext uri="{FF2B5EF4-FFF2-40B4-BE49-F238E27FC236}">
                <a16:creationId xmlns:a16="http://schemas.microsoft.com/office/drawing/2014/main" id="{D25153CC-88EE-0247-8CCB-CA12BFD359B8}"/>
              </a:ext>
            </a:extLst>
          </p:cNvPr>
          <p:cNvCxnSpPr/>
          <p:nvPr>
            <p:custDataLst>
              <p:tags r:id="rId49"/>
            </p:custDataLst>
          </p:nvPr>
        </p:nvCxnSpPr>
        <p:spPr bwMode="auto">
          <a:xfrm>
            <a:off x="5130800" y="5727700"/>
            <a:ext cx="0" cy="63500"/>
          </a:xfrm>
          <a:prstGeom prst="straightConnector1">
            <a:avLst/>
          </a:prstGeom>
          <a:solidFill>
            <a:schemeClr val="accent1"/>
          </a:solidFill>
          <a:ln w="25400" cap="flat" cmpd="sng" algn="ctr">
            <a:solidFill>
              <a:srgbClr val="808080"/>
            </a:solidFill>
            <a:prstDash val="solid"/>
            <a:round/>
            <a:headEnd type="none" w="med" len="med"/>
            <a:tailEnd type="none" w="med" len="med"/>
          </a:ln>
          <a:effectLst/>
        </p:spPr>
      </p:cxnSp>
      <p:sp>
        <p:nvSpPr>
          <p:cNvPr id="50" name="TextBox 49">
            <a:extLst>
              <a:ext uri="{FF2B5EF4-FFF2-40B4-BE49-F238E27FC236}">
                <a16:creationId xmlns:a16="http://schemas.microsoft.com/office/drawing/2014/main" id="{7F0E8796-17F2-064B-ACD5-FEF83A7BD4AD}"/>
              </a:ext>
            </a:extLst>
          </p:cNvPr>
          <p:cNvSpPr txBox="1"/>
          <p:nvPr>
            <p:custDataLst>
              <p:tags r:id="rId50"/>
            </p:custDataLst>
          </p:nvPr>
        </p:nvSpPr>
        <p:spPr>
          <a:xfrm>
            <a:off x="4495800" y="5727700"/>
            <a:ext cx="1270000" cy="317500"/>
          </a:xfrm>
          <a:prstGeom prst="rect">
            <a:avLst/>
          </a:prstGeom>
          <a:noFill/>
        </p:spPr>
        <p:txBody>
          <a:bodyPr vertOverflow="overflow" vert="horz" wrap="square" rtlCol="0" anchor="ctr" anchorCtr="1">
            <a:spAutoFit/>
          </a:bodyPr>
          <a:lstStyle/>
          <a:p>
            <a:pPr algn="l"/>
            <a:r>
              <a:rPr lang="en-US"/>
              <a:t>14</a:t>
            </a:r>
          </a:p>
        </p:txBody>
      </p:sp>
      <p:sp>
        <p:nvSpPr>
          <p:cNvPr id="51" name="Rectangle 50">
            <a:extLst>
              <a:ext uri="{FF2B5EF4-FFF2-40B4-BE49-F238E27FC236}">
                <a16:creationId xmlns:a16="http://schemas.microsoft.com/office/drawing/2014/main" id="{5C5684C7-6100-5B42-B2BA-180B1206A0B8}"/>
              </a:ext>
            </a:extLst>
          </p:cNvPr>
          <p:cNvSpPr/>
          <p:nvPr>
            <p:custDataLst>
              <p:tags r:id="rId51"/>
            </p:custDataLst>
          </p:nvPr>
        </p:nvSpPr>
        <p:spPr bwMode="auto">
          <a:xfrm>
            <a:off x="4953000" y="2209800"/>
            <a:ext cx="342900" cy="3505200"/>
          </a:xfrm>
          <a:prstGeom prst="rect">
            <a:avLst/>
          </a:prstGeom>
          <a:solidFill>
            <a:srgbClr val="ADC610">
              <a:alpha val="0"/>
            </a:srgbClr>
          </a:solidFill>
          <a:ln w="12700" cap="flat" cmpd="sng" algn="ctr">
            <a:solidFill>
              <a:srgbClr val="808080">
                <a:alpha val="0"/>
                <a:alpha val="0"/>
                <a:alpha val="100000"/>
              </a:srgbClr>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52" name="Rectangle 51">
            <a:extLst>
              <a:ext uri="{FF2B5EF4-FFF2-40B4-BE49-F238E27FC236}">
                <a16:creationId xmlns:a16="http://schemas.microsoft.com/office/drawing/2014/main" id="{114E8BED-E838-4747-A55E-6ED94F503220}"/>
              </a:ext>
            </a:extLst>
          </p:cNvPr>
          <p:cNvSpPr/>
          <p:nvPr>
            <p:custDataLst>
              <p:tags r:id="rId52"/>
            </p:custDataLst>
          </p:nvPr>
        </p:nvSpPr>
        <p:spPr bwMode="auto">
          <a:xfrm>
            <a:off x="4953000" y="5715000"/>
            <a:ext cx="342900" cy="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53" name="Rectangle 52">
            <a:extLst>
              <a:ext uri="{FF2B5EF4-FFF2-40B4-BE49-F238E27FC236}">
                <a16:creationId xmlns:a16="http://schemas.microsoft.com/office/drawing/2014/main" id="{F5749B8C-5906-E949-A004-6287E2C7692D}"/>
              </a:ext>
            </a:extLst>
          </p:cNvPr>
          <p:cNvSpPr/>
          <p:nvPr>
            <p:custDataLst>
              <p:tags r:id="rId53"/>
            </p:custDataLst>
          </p:nvPr>
        </p:nvSpPr>
        <p:spPr bwMode="auto">
          <a:xfrm>
            <a:off x="5295900" y="2209800"/>
            <a:ext cx="342900" cy="3505200"/>
          </a:xfrm>
          <a:prstGeom prst="rect">
            <a:avLst/>
          </a:prstGeom>
          <a:solidFill>
            <a:srgbClr val="ADC610">
              <a:alpha val="0"/>
            </a:srgbClr>
          </a:solidFill>
          <a:ln w="12700" cap="flat" cmpd="sng" algn="ctr">
            <a:solidFill>
              <a:srgbClr val="808080">
                <a:alpha val="0"/>
                <a:alpha val="0"/>
                <a:alpha val="100000"/>
              </a:srgbClr>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54" name="Rectangle 53">
            <a:extLst>
              <a:ext uri="{FF2B5EF4-FFF2-40B4-BE49-F238E27FC236}">
                <a16:creationId xmlns:a16="http://schemas.microsoft.com/office/drawing/2014/main" id="{C6450E6E-0847-454C-8D5D-BFF4EF17277A}"/>
              </a:ext>
            </a:extLst>
          </p:cNvPr>
          <p:cNvSpPr/>
          <p:nvPr>
            <p:custDataLst>
              <p:tags r:id="rId54"/>
            </p:custDataLst>
          </p:nvPr>
        </p:nvSpPr>
        <p:spPr bwMode="auto">
          <a:xfrm>
            <a:off x="5295900" y="5715000"/>
            <a:ext cx="342900" cy="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cxnSp>
        <p:nvCxnSpPr>
          <p:cNvPr id="55" name="Straight Arrow Connector 54">
            <a:extLst>
              <a:ext uri="{FF2B5EF4-FFF2-40B4-BE49-F238E27FC236}">
                <a16:creationId xmlns:a16="http://schemas.microsoft.com/office/drawing/2014/main" id="{B5E5A6FF-D988-F94B-B59B-8BE51ED6C6E8}"/>
              </a:ext>
            </a:extLst>
          </p:cNvPr>
          <p:cNvCxnSpPr/>
          <p:nvPr>
            <p:custDataLst>
              <p:tags r:id="rId55"/>
            </p:custDataLst>
          </p:nvPr>
        </p:nvCxnSpPr>
        <p:spPr bwMode="auto">
          <a:xfrm>
            <a:off x="5816600" y="5727700"/>
            <a:ext cx="0" cy="63500"/>
          </a:xfrm>
          <a:prstGeom prst="straightConnector1">
            <a:avLst/>
          </a:prstGeom>
          <a:solidFill>
            <a:schemeClr val="accent1"/>
          </a:solidFill>
          <a:ln w="25400" cap="flat" cmpd="sng" algn="ctr">
            <a:solidFill>
              <a:srgbClr val="808080"/>
            </a:solidFill>
            <a:prstDash val="solid"/>
            <a:round/>
            <a:headEnd type="none" w="med" len="med"/>
            <a:tailEnd type="none" w="med" len="med"/>
          </a:ln>
          <a:effectLst/>
        </p:spPr>
      </p:cxnSp>
      <p:sp>
        <p:nvSpPr>
          <p:cNvPr id="56" name="TextBox 55">
            <a:extLst>
              <a:ext uri="{FF2B5EF4-FFF2-40B4-BE49-F238E27FC236}">
                <a16:creationId xmlns:a16="http://schemas.microsoft.com/office/drawing/2014/main" id="{D3A0C723-8A33-424C-8D76-0EBB8BBDC72A}"/>
              </a:ext>
            </a:extLst>
          </p:cNvPr>
          <p:cNvSpPr txBox="1"/>
          <p:nvPr>
            <p:custDataLst>
              <p:tags r:id="rId56"/>
            </p:custDataLst>
          </p:nvPr>
        </p:nvSpPr>
        <p:spPr>
          <a:xfrm>
            <a:off x="5181600" y="5727700"/>
            <a:ext cx="1270000" cy="317500"/>
          </a:xfrm>
          <a:prstGeom prst="rect">
            <a:avLst/>
          </a:prstGeom>
          <a:noFill/>
        </p:spPr>
        <p:txBody>
          <a:bodyPr vertOverflow="overflow" vert="horz" wrap="square" rtlCol="0" anchor="ctr" anchorCtr="1">
            <a:spAutoFit/>
          </a:bodyPr>
          <a:lstStyle/>
          <a:p>
            <a:pPr algn="l"/>
            <a:r>
              <a:rPr lang="en-US"/>
              <a:t>16</a:t>
            </a:r>
          </a:p>
        </p:txBody>
      </p:sp>
      <p:sp>
        <p:nvSpPr>
          <p:cNvPr id="57" name="Rectangle 56">
            <a:extLst>
              <a:ext uri="{FF2B5EF4-FFF2-40B4-BE49-F238E27FC236}">
                <a16:creationId xmlns:a16="http://schemas.microsoft.com/office/drawing/2014/main" id="{A332268B-6F36-F84B-91C3-035D8C6F43B1}"/>
              </a:ext>
            </a:extLst>
          </p:cNvPr>
          <p:cNvSpPr/>
          <p:nvPr>
            <p:custDataLst>
              <p:tags r:id="rId57"/>
            </p:custDataLst>
          </p:nvPr>
        </p:nvSpPr>
        <p:spPr bwMode="auto">
          <a:xfrm>
            <a:off x="5638800" y="2209800"/>
            <a:ext cx="342900" cy="3505200"/>
          </a:xfrm>
          <a:prstGeom prst="rect">
            <a:avLst/>
          </a:prstGeom>
          <a:solidFill>
            <a:srgbClr val="ADC610">
              <a:alpha val="0"/>
            </a:srgbClr>
          </a:solidFill>
          <a:ln w="12700" cap="flat" cmpd="sng" algn="ctr">
            <a:solidFill>
              <a:srgbClr val="808080">
                <a:alpha val="0"/>
                <a:alpha val="0"/>
                <a:alpha val="100000"/>
              </a:srgbClr>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58" name="Rectangle 57">
            <a:extLst>
              <a:ext uri="{FF2B5EF4-FFF2-40B4-BE49-F238E27FC236}">
                <a16:creationId xmlns:a16="http://schemas.microsoft.com/office/drawing/2014/main" id="{4909F9C4-9EFC-6C4A-B7FB-35314ABF8939}"/>
              </a:ext>
            </a:extLst>
          </p:cNvPr>
          <p:cNvSpPr/>
          <p:nvPr>
            <p:custDataLst>
              <p:tags r:id="rId58"/>
            </p:custDataLst>
          </p:nvPr>
        </p:nvSpPr>
        <p:spPr bwMode="auto">
          <a:xfrm>
            <a:off x="5638800" y="5715000"/>
            <a:ext cx="342900" cy="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0" tIns="45720" rIns="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59" name="TextBox 58">
            <a:extLst>
              <a:ext uri="{FF2B5EF4-FFF2-40B4-BE49-F238E27FC236}">
                <a16:creationId xmlns:a16="http://schemas.microsoft.com/office/drawing/2014/main" id="{CEEDE27E-A101-0C42-B7BF-A5C6E214DB7A}"/>
              </a:ext>
            </a:extLst>
          </p:cNvPr>
          <p:cNvSpPr txBox="1"/>
          <p:nvPr>
            <p:custDataLst>
              <p:tags r:id="rId59"/>
            </p:custDataLst>
          </p:nvPr>
        </p:nvSpPr>
        <p:spPr>
          <a:xfrm>
            <a:off x="838200" y="5981700"/>
            <a:ext cx="5156200" cy="317500"/>
          </a:xfrm>
          <a:prstGeom prst="rect">
            <a:avLst/>
          </a:prstGeom>
          <a:noFill/>
        </p:spPr>
        <p:txBody>
          <a:bodyPr vertOverflow="overflow" vert="horz" wrap="square" rtlCol="0" anchor="ctr" anchorCtr="1">
            <a:spAutoFit/>
          </a:bodyPr>
          <a:lstStyle/>
          <a:p>
            <a:pPr algn="l"/>
            <a:r>
              <a:rPr lang="en-US"/>
              <a:t>Mean:</a:t>
            </a:r>
          </a:p>
        </p:txBody>
      </p:sp>
    </p:spTree>
    <p:custDataLst>
      <p:tags r:id="rId1"/>
    </p:custDataLst>
    <p:extLst>
      <p:ext uri="{BB962C8B-B14F-4D97-AF65-F5344CB8AC3E}">
        <p14:creationId xmlns:p14="http://schemas.microsoft.com/office/powerpoint/2010/main" val="1496449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ChangeArrowheads="1"/>
          </p:cNvSpPr>
          <p:nvPr/>
        </p:nvSpPr>
        <p:spPr bwMode="auto">
          <a:xfrm>
            <a:off x="1568" y="-31148"/>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nl-NL" sz="2200"/>
          </a:p>
        </p:txBody>
      </p:sp>
      <p:sp>
        <p:nvSpPr>
          <p:cNvPr id="6147" name="Rectangle 4"/>
          <p:cNvSpPr>
            <a:spLocks noChangeArrowheads="1"/>
          </p:cNvSpPr>
          <p:nvPr/>
        </p:nvSpPr>
        <p:spPr bwMode="auto">
          <a:xfrm>
            <a:off x="263352" y="692696"/>
            <a:ext cx="80645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3600" b="1" dirty="0">
                <a:solidFill>
                  <a:schemeClr val="bg1"/>
                </a:solidFill>
                <a:latin typeface="Bookman Old Style" pitchFamily="18" charset="0"/>
              </a:rPr>
              <a:t>Lift curve of the clean wing</a:t>
            </a:r>
            <a:endParaRPr lang="en-US" altLang="nl-NL" sz="3600" b="1" dirty="0">
              <a:solidFill>
                <a:schemeClr val="bg1"/>
              </a:solidFill>
              <a:latin typeface="Bookman Old Style" pitchFamily="18" charset="0"/>
            </a:endParaRPr>
          </a:p>
          <a:p>
            <a:pPr eaLnBrk="1" hangingPunct="1">
              <a:lnSpc>
                <a:spcPct val="100000"/>
              </a:lnSpc>
              <a:buClrTx/>
              <a:buFontTx/>
              <a:buNone/>
            </a:pPr>
            <a:endParaRPr lang="en-US" altLang="nl-NL" sz="3600" b="1" dirty="0">
              <a:solidFill>
                <a:schemeClr val="bg1"/>
              </a:solidFill>
              <a:latin typeface="Bookman Old Style" pitchFamily="18" charset="0"/>
            </a:endParaRPr>
          </a:p>
          <a:p>
            <a:pPr eaLnBrk="1" hangingPunct="1">
              <a:lnSpc>
                <a:spcPct val="100000"/>
              </a:lnSpc>
              <a:buClrTx/>
              <a:buFontTx/>
              <a:buNone/>
            </a:pPr>
            <a:r>
              <a:rPr lang="en-US" altLang="nl-NL" sz="3600" b="1" dirty="0">
                <a:solidFill>
                  <a:schemeClr val="bg1"/>
                </a:solidFill>
                <a:latin typeface="Bookman Old Style" pitchFamily="18" charset="0"/>
              </a:rPr>
              <a:t>1.1	C</a:t>
            </a:r>
            <a:r>
              <a:rPr lang="en-US" altLang="nl-NL" sz="3200" b="1" dirty="0">
                <a:solidFill>
                  <a:schemeClr val="bg1"/>
                </a:solidFill>
                <a:latin typeface="Bookman Old Style" pitchFamily="18" charset="0"/>
              </a:rPr>
              <a:t>L</a:t>
            </a:r>
            <a:r>
              <a:rPr lang="el-GR" altLang="nl-NL" sz="3600" b="1" dirty="0">
                <a:solidFill>
                  <a:schemeClr val="bg1"/>
                </a:solidFill>
                <a:latin typeface="Bookman Old Style" pitchFamily="18" charset="0"/>
              </a:rPr>
              <a:t>α</a:t>
            </a:r>
            <a:r>
              <a:rPr lang="en-US" altLang="nl-NL" sz="3600" b="1" dirty="0">
                <a:solidFill>
                  <a:schemeClr val="bg1"/>
                </a:solidFill>
                <a:latin typeface="Bookman Old Style" pitchFamily="18" charset="0"/>
              </a:rPr>
              <a:t> </a:t>
            </a:r>
          </a:p>
        </p:txBody>
      </p:sp>
      <p:sp>
        <p:nvSpPr>
          <p:cNvPr id="6148" name="Line 5"/>
          <p:cNvSpPr>
            <a:spLocks noChangeShapeType="1"/>
          </p:cNvSpPr>
          <p:nvPr/>
        </p:nvSpPr>
        <p:spPr bwMode="auto">
          <a:xfrm flipV="1">
            <a:off x="5395914" y="2309813"/>
            <a:ext cx="3175" cy="29083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6149" name="Line 6"/>
          <p:cNvSpPr>
            <a:spLocks noChangeShapeType="1"/>
          </p:cNvSpPr>
          <p:nvPr/>
        </p:nvSpPr>
        <p:spPr bwMode="auto">
          <a:xfrm rot="5400000" flipV="1">
            <a:off x="6011863" y="3346450"/>
            <a:ext cx="0" cy="334645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6150" name="Line 7"/>
          <p:cNvSpPr>
            <a:spLocks noChangeShapeType="1"/>
          </p:cNvSpPr>
          <p:nvPr/>
        </p:nvSpPr>
        <p:spPr bwMode="auto">
          <a:xfrm flipV="1">
            <a:off x="4791076" y="3148013"/>
            <a:ext cx="1522413" cy="18716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GB"/>
          </a:p>
        </p:txBody>
      </p:sp>
      <p:graphicFrame>
        <p:nvGraphicFramePr>
          <p:cNvPr id="6151" name="Object 8"/>
          <p:cNvGraphicFramePr>
            <a:graphicFrameLocks noChangeAspect="1"/>
          </p:cNvGraphicFramePr>
          <p:nvPr/>
        </p:nvGraphicFramePr>
        <p:xfrm>
          <a:off x="4941889" y="2081214"/>
          <a:ext cx="376237" cy="395287"/>
        </p:xfrm>
        <a:graphic>
          <a:graphicData uri="http://schemas.openxmlformats.org/presentationml/2006/ole">
            <mc:AlternateContent xmlns:mc="http://schemas.openxmlformats.org/markup-compatibility/2006">
              <mc:Choice xmlns:v="urn:schemas-microsoft-com:vml" Requires="v">
                <p:oleObj name="Equation" r:id="rId3" imgW="203024" imgH="215713" progId="Equation.3">
                  <p:embed/>
                </p:oleObj>
              </mc:Choice>
              <mc:Fallback>
                <p:oleObj name="Equation" r:id="rId3" imgW="203024" imgH="215713"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1889" y="2081214"/>
                        <a:ext cx="376237" cy="395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2" name="Text Box 11"/>
          <p:cNvSpPr txBox="1">
            <a:spLocks noChangeArrowheads="1"/>
          </p:cNvSpPr>
          <p:nvPr/>
        </p:nvSpPr>
        <p:spPr bwMode="auto">
          <a:xfrm>
            <a:off x="7456489" y="5053014"/>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l-GR" altLang="nl-NL"/>
              <a:t>α</a:t>
            </a:r>
          </a:p>
        </p:txBody>
      </p:sp>
      <p:sp>
        <p:nvSpPr>
          <p:cNvPr id="6153" name="Freeform 20"/>
          <p:cNvSpPr>
            <a:spLocks/>
          </p:cNvSpPr>
          <p:nvPr/>
        </p:nvSpPr>
        <p:spPr bwMode="auto">
          <a:xfrm>
            <a:off x="6313489" y="2919413"/>
            <a:ext cx="519401" cy="228600"/>
          </a:xfrm>
          <a:custGeom>
            <a:avLst/>
            <a:gdLst>
              <a:gd name="T0" fmla="*/ 0 w 634"/>
              <a:gd name="T1" fmla="*/ 2147483647 h 192"/>
              <a:gd name="T2" fmla="*/ 2147483647 w 634"/>
              <a:gd name="T3" fmla="*/ 2147483647 h 192"/>
              <a:gd name="T4" fmla="*/ 2147483647 w 634"/>
              <a:gd name="T5" fmla="*/ 0 h 192"/>
              <a:gd name="T6" fmla="*/ 2147483647 w 634"/>
              <a:gd name="T7" fmla="*/ 2147483647 h 192"/>
              <a:gd name="T8" fmla="*/ 2147483647 w 634"/>
              <a:gd name="T9" fmla="*/ 2147483647 h 192"/>
              <a:gd name="T10" fmla="*/ 0 60000 65536"/>
              <a:gd name="T11" fmla="*/ 0 60000 65536"/>
              <a:gd name="T12" fmla="*/ 0 60000 65536"/>
              <a:gd name="T13" fmla="*/ 0 60000 65536"/>
              <a:gd name="T14" fmla="*/ 0 60000 65536"/>
              <a:gd name="T15" fmla="*/ 0 w 634"/>
              <a:gd name="T16" fmla="*/ 0 h 192"/>
              <a:gd name="T17" fmla="*/ 634 w 634"/>
              <a:gd name="T18" fmla="*/ 192 h 192"/>
            </a:gdLst>
            <a:ahLst/>
            <a:cxnLst>
              <a:cxn ang="T10">
                <a:pos x="T0" y="T1"/>
              </a:cxn>
              <a:cxn ang="T11">
                <a:pos x="T2" y="T3"/>
              </a:cxn>
              <a:cxn ang="T12">
                <a:pos x="T4" y="T5"/>
              </a:cxn>
              <a:cxn ang="T13">
                <a:pos x="T6" y="T7"/>
              </a:cxn>
              <a:cxn ang="T14">
                <a:pos x="T8" y="T9"/>
              </a:cxn>
            </a:cxnLst>
            <a:rect l="T15" t="T16" r="T17" b="T18"/>
            <a:pathLst>
              <a:path w="634" h="192">
                <a:moveTo>
                  <a:pt x="0" y="192"/>
                </a:moveTo>
                <a:cubicBezTo>
                  <a:pt x="28" y="170"/>
                  <a:pt x="105" y="90"/>
                  <a:pt x="168" y="58"/>
                </a:cubicBezTo>
                <a:cubicBezTo>
                  <a:pt x="231" y="26"/>
                  <a:pt x="314" y="0"/>
                  <a:pt x="379" y="0"/>
                </a:cubicBezTo>
                <a:cubicBezTo>
                  <a:pt x="444" y="0"/>
                  <a:pt x="515" y="33"/>
                  <a:pt x="557" y="58"/>
                </a:cubicBezTo>
                <a:cubicBezTo>
                  <a:pt x="599" y="83"/>
                  <a:pt x="618" y="130"/>
                  <a:pt x="634" y="149"/>
                </a:cubicBezTo>
              </a:path>
            </a:pathLst>
          </a:custGeom>
          <a:noFill/>
          <a:ln w="127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square">
            <a:spAutoFit/>
          </a:bodyPr>
          <a:lstStyle/>
          <a:p>
            <a:endParaRPr lang="en-GB"/>
          </a:p>
        </p:txBody>
      </p:sp>
      <p:sp>
        <p:nvSpPr>
          <p:cNvPr id="6154" name="Line 21"/>
          <p:cNvSpPr>
            <a:spLocks noChangeShapeType="1"/>
          </p:cNvSpPr>
          <p:nvPr/>
        </p:nvSpPr>
        <p:spPr bwMode="auto">
          <a:xfrm>
            <a:off x="5537200" y="4149725"/>
            <a:ext cx="806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6155" name="Arc 22"/>
          <p:cNvSpPr>
            <a:spLocks/>
          </p:cNvSpPr>
          <p:nvPr/>
        </p:nvSpPr>
        <p:spPr bwMode="auto">
          <a:xfrm>
            <a:off x="5483226" y="3820111"/>
            <a:ext cx="454025" cy="338554"/>
          </a:xfrm>
          <a:custGeom>
            <a:avLst/>
            <a:gdLst>
              <a:gd name="T0" fmla="*/ 2147483647 w 21599"/>
              <a:gd name="T1" fmla="*/ 0 h 15293"/>
              <a:gd name="T2" fmla="*/ 2147483647 w 21599"/>
              <a:gd name="T3" fmla="*/ 2147483647 h 15293"/>
              <a:gd name="T4" fmla="*/ 0 w 21599"/>
              <a:gd name="T5" fmla="*/ 2147483647 h 15293"/>
              <a:gd name="T6" fmla="*/ 0 60000 65536"/>
              <a:gd name="T7" fmla="*/ 0 60000 65536"/>
              <a:gd name="T8" fmla="*/ 0 60000 65536"/>
              <a:gd name="T9" fmla="*/ 0 w 21599"/>
              <a:gd name="T10" fmla="*/ 0 h 15293"/>
              <a:gd name="T11" fmla="*/ 21599 w 21599"/>
              <a:gd name="T12" fmla="*/ 15293 h 15293"/>
            </a:gdLst>
            <a:ahLst/>
            <a:cxnLst>
              <a:cxn ang="T6">
                <a:pos x="T0" y="T1"/>
              </a:cxn>
              <a:cxn ang="T7">
                <a:pos x="T2" y="T3"/>
              </a:cxn>
              <a:cxn ang="T8">
                <a:pos x="T4" y="T5"/>
              </a:cxn>
            </a:cxnLst>
            <a:rect l="T9" t="T10" r="T11" b="T12"/>
            <a:pathLst>
              <a:path w="21599" h="15293" fill="none" extrusionOk="0">
                <a:moveTo>
                  <a:pt x="15253" y="0"/>
                </a:moveTo>
                <a:cubicBezTo>
                  <a:pt x="19280" y="4015"/>
                  <a:pt x="21560" y="9457"/>
                  <a:pt x="21599" y="15143"/>
                </a:cubicBezTo>
              </a:path>
              <a:path w="21599" h="15293" stroke="0" extrusionOk="0">
                <a:moveTo>
                  <a:pt x="15253" y="0"/>
                </a:moveTo>
                <a:cubicBezTo>
                  <a:pt x="19280" y="4015"/>
                  <a:pt x="21560" y="9457"/>
                  <a:pt x="21599" y="15143"/>
                </a:cubicBezTo>
                <a:lnTo>
                  <a:pt x="0" y="15293"/>
                </a:lnTo>
                <a:lnTo>
                  <a:pt x="15253"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GB"/>
          </a:p>
        </p:txBody>
      </p:sp>
      <p:graphicFrame>
        <p:nvGraphicFramePr>
          <p:cNvPr id="6156" name="Object 1"/>
          <p:cNvGraphicFramePr>
            <a:graphicFrameLocks noChangeAspect="1"/>
          </p:cNvGraphicFramePr>
          <p:nvPr/>
        </p:nvGraphicFramePr>
        <p:xfrm>
          <a:off x="6119814" y="3568700"/>
          <a:ext cx="452437" cy="420688"/>
        </p:xfrm>
        <a:graphic>
          <a:graphicData uri="http://schemas.openxmlformats.org/presentationml/2006/ole">
            <mc:AlternateContent xmlns:mc="http://schemas.openxmlformats.org/markup-compatibility/2006">
              <mc:Choice xmlns:v="urn:schemas-microsoft-com:vml" Requires="v">
                <p:oleObj name="Equation" r:id="rId5" imgW="253890" imgH="241195" progId="Equation.DSMT4">
                  <p:embed/>
                </p:oleObj>
              </mc:Choice>
              <mc:Fallback>
                <p:oleObj name="Equation" r:id="rId5" imgW="253890" imgH="241195"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9814" y="3568700"/>
                        <a:ext cx="452437" cy="420688"/>
                      </a:xfrm>
                      <a:prstGeom prst="rect">
                        <a:avLst/>
                      </a:prstGeom>
                      <a:solidFill>
                        <a:srgbClr val="FFFF00"/>
                      </a:solidFill>
                      <a:ln w="9525">
                        <a:solidFill>
                          <a:schemeClr val="tx1"/>
                        </a:solidFill>
                        <a:miter lim="800000"/>
                        <a:headEnd/>
                        <a:tailEnd/>
                      </a:ln>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767408" y="151900"/>
            <a:ext cx="774442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dirty="0">
                <a:solidFill>
                  <a:schemeClr val="bg2"/>
                </a:solidFill>
                <a:latin typeface="Bookman Old Style" pitchFamily="18" charset="0"/>
              </a:rPr>
              <a:t>Evaluation of the wing lift curve slope</a:t>
            </a:r>
            <a:endParaRPr lang="el-GR" altLang="nl-NL" sz="3200" dirty="0">
              <a:solidFill>
                <a:schemeClr val="bg2"/>
              </a:solidFill>
              <a:latin typeface="Bookman Old Style" pitchFamily="18" charset="0"/>
            </a:endParaRPr>
          </a:p>
        </p:txBody>
      </p:sp>
      <p:sp>
        <p:nvSpPr>
          <p:cNvPr id="1031" name="Text Box 4"/>
          <p:cNvSpPr txBox="1">
            <a:spLocks noChangeArrowheads="1"/>
          </p:cNvSpPr>
          <p:nvPr/>
        </p:nvSpPr>
        <p:spPr bwMode="auto">
          <a:xfrm>
            <a:off x="767408" y="736675"/>
            <a:ext cx="11017224" cy="1369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en-US" sz="1600" dirty="0"/>
              <a:t>The effect of a finite wing span on the 2D lift coefficient C</a:t>
            </a:r>
            <a:r>
              <a:rPr lang="en-US" altLang="en-US" sz="1600" baseline="-25000" dirty="0"/>
              <a:t>l</a:t>
            </a:r>
            <a:r>
              <a:rPr lang="en-US" altLang="en-US" sz="1600" dirty="0"/>
              <a:t> * is to </a:t>
            </a:r>
            <a:r>
              <a:rPr lang="en-US" altLang="en-US" sz="1600" b="1" dirty="0"/>
              <a:t>reduce the slope</a:t>
            </a:r>
            <a:r>
              <a:rPr lang="en-US" altLang="en-US" sz="1600" dirty="0"/>
              <a:t> of the lift curve. </a:t>
            </a:r>
          </a:p>
          <a:p>
            <a:pPr eaLnBrk="1" hangingPunct="1">
              <a:lnSpc>
                <a:spcPct val="100000"/>
              </a:lnSpc>
              <a:buClrTx/>
              <a:buFontTx/>
              <a:buNone/>
            </a:pPr>
            <a:endParaRPr lang="en-US" altLang="en-US" sz="900" dirty="0"/>
          </a:p>
          <a:p>
            <a:pPr eaLnBrk="1" hangingPunct="1">
              <a:lnSpc>
                <a:spcPct val="100000"/>
              </a:lnSpc>
              <a:buClrTx/>
              <a:buFontTx/>
              <a:buNone/>
            </a:pPr>
            <a:r>
              <a:rPr lang="en-US" altLang="en-US" sz="1600" dirty="0"/>
              <a:t>The downwash velocity component </a:t>
            </a:r>
            <a:r>
              <a:rPr lang="en-US" altLang="en-US" sz="1600" i="1" dirty="0" err="1"/>
              <a:t>w</a:t>
            </a:r>
            <a:r>
              <a:rPr lang="en-US" altLang="en-US" sz="1600" i="1" baseline="-25000" dirty="0" err="1"/>
              <a:t>i</a:t>
            </a:r>
            <a:r>
              <a:rPr lang="en-US" altLang="en-US" sz="1600" dirty="0"/>
              <a:t> induced by the tip vortices reduces the </a:t>
            </a:r>
            <a:r>
              <a:rPr lang="en-US" altLang="en-US" sz="1600" b="1" dirty="0"/>
              <a:t>effective</a:t>
            </a:r>
            <a:r>
              <a:rPr lang="en-US" altLang="en-US" sz="1600" dirty="0"/>
              <a:t> wing angle of attack, hence it reduces the amount of generated lift at a given angle of attack.</a:t>
            </a:r>
          </a:p>
          <a:p>
            <a:pPr eaLnBrk="1" hangingPunct="1">
              <a:lnSpc>
                <a:spcPct val="100000"/>
              </a:lnSpc>
              <a:buClrTx/>
              <a:buFontTx/>
              <a:buNone/>
            </a:pPr>
            <a:endParaRPr lang="en-US" altLang="en-US" sz="1000" dirty="0"/>
          </a:p>
          <a:p>
            <a:pPr eaLnBrk="1" hangingPunct="1">
              <a:lnSpc>
                <a:spcPct val="100000"/>
              </a:lnSpc>
              <a:buClrTx/>
              <a:buFontTx/>
              <a:buNone/>
            </a:pPr>
            <a:r>
              <a:rPr lang="en-US" altLang="en-US" sz="1600" dirty="0">
                <a:sym typeface="Wingdings" pitchFamily="2" charset="2"/>
              </a:rPr>
              <a:t> t</a:t>
            </a:r>
            <a:r>
              <a:rPr lang="en-US" altLang="en-US" sz="1600" dirty="0"/>
              <a:t>he lift-curve </a:t>
            </a:r>
            <a:r>
              <a:rPr lang="en-US" altLang="en-US" sz="1600" b="1" dirty="0"/>
              <a:t>rotates clockwise</a:t>
            </a:r>
            <a:r>
              <a:rPr lang="en-US" altLang="en-US" sz="1600" baseline="-25000" dirty="0"/>
              <a:t>. </a:t>
            </a:r>
          </a:p>
        </p:txBody>
      </p:sp>
      <p:sp>
        <p:nvSpPr>
          <p:cNvPr id="1033" name="Text Box 15"/>
          <p:cNvSpPr txBox="1">
            <a:spLocks noChangeArrowheads="1"/>
          </p:cNvSpPr>
          <p:nvPr/>
        </p:nvSpPr>
        <p:spPr bwMode="auto">
          <a:xfrm>
            <a:off x="6276020" y="3134163"/>
            <a:ext cx="5119688" cy="241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800" b="1" dirty="0"/>
              <a:t>Question: </a:t>
            </a:r>
            <a:r>
              <a:rPr lang="en-GB" altLang="nl-NL" sz="1800" i="1" dirty="0"/>
              <a:t>How much does C</a:t>
            </a:r>
            <a:r>
              <a:rPr lang="en-GB" altLang="nl-NL" sz="1800" i="1" baseline="-25000" dirty="0"/>
              <a:t>Lα</a:t>
            </a:r>
            <a:r>
              <a:rPr lang="en-GB" altLang="nl-NL" sz="1800" i="1" dirty="0"/>
              <a:t> differ from C</a:t>
            </a:r>
            <a:r>
              <a:rPr lang="en-GB" altLang="nl-NL" sz="1800" i="1" baseline="-25000" dirty="0"/>
              <a:t>lα</a:t>
            </a:r>
            <a:r>
              <a:rPr lang="en-GB" altLang="nl-NL" sz="1800" i="1" dirty="0"/>
              <a:t>?</a:t>
            </a:r>
          </a:p>
          <a:p>
            <a:pPr eaLnBrk="1" hangingPunct="1">
              <a:lnSpc>
                <a:spcPct val="100000"/>
              </a:lnSpc>
              <a:buClrTx/>
              <a:buFontTx/>
              <a:buNone/>
            </a:pPr>
            <a:endParaRPr lang="en-GB" altLang="nl-NL" b="1" dirty="0"/>
          </a:p>
          <a:p>
            <a:pPr eaLnBrk="1" hangingPunct="1">
              <a:lnSpc>
                <a:spcPct val="100000"/>
              </a:lnSpc>
              <a:buClrTx/>
              <a:buFontTx/>
              <a:buNone/>
            </a:pPr>
            <a:r>
              <a:rPr lang="en-GB" altLang="nl-NL" sz="1800" dirty="0"/>
              <a:t>It depends on 3 main factors:</a:t>
            </a:r>
            <a:br>
              <a:rPr lang="en-GB" altLang="nl-NL" dirty="0"/>
            </a:br>
            <a:endParaRPr lang="en-GB" altLang="nl-NL" sz="1400" dirty="0"/>
          </a:p>
          <a:p>
            <a:pPr eaLnBrk="1" hangingPunct="1">
              <a:lnSpc>
                <a:spcPct val="150000"/>
              </a:lnSpc>
              <a:buClrTx/>
              <a:buFontTx/>
              <a:buAutoNum type="arabicPeriod"/>
            </a:pPr>
            <a:r>
              <a:rPr lang="en-GB" altLang="nl-NL" sz="1800" b="1" dirty="0"/>
              <a:t>Aspect ratio (A) </a:t>
            </a:r>
          </a:p>
          <a:p>
            <a:pPr eaLnBrk="1" hangingPunct="1">
              <a:lnSpc>
                <a:spcPct val="150000"/>
              </a:lnSpc>
              <a:buClrTx/>
              <a:buFontTx/>
              <a:buAutoNum type="arabicPeriod"/>
            </a:pPr>
            <a:r>
              <a:rPr lang="en-GB" altLang="nl-NL" sz="1800" b="1" dirty="0"/>
              <a:t>Compressibility effect (M)</a:t>
            </a:r>
          </a:p>
          <a:p>
            <a:pPr eaLnBrk="1" hangingPunct="1">
              <a:lnSpc>
                <a:spcPct val="150000"/>
              </a:lnSpc>
              <a:buClrTx/>
              <a:buFontTx/>
              <a:buAutoNum type="arabicPeriod"/>
            </a:pPr>
            <a:r>
              <a:rPr lang="en-GB" altLang="nl-NL" sz="1800" b="1" dirty="0"/>
              <a:t>Sweep angle (Λ)</a:t>
            </a:r>
          </a:p>
        </p:txBody>
      </p:sp>
      <p:pic>
        <p:nvPicPr>
          <p:cNvPr id="2" name="Picture 1"/>
          <p:cNvPicPr>
            <a:picLocks noChangeAspect="1"/>
          </p:cNvPicPr>
          <p:nvPr/>
        </p:nvPicPr>
        <p:blipFill>
          <a:blip r:embed="rId4"/>
          <a:stretch>
            <a:fillRect/>
          </a:stretch>
        </p:blipFill>
        <p:spPr>
          <a:xfrm>
            <a:off x="623392" y="2492896"/>
            <a:ext cx="4396860" cy="369871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31">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33">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3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3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3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3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48026" y="946150"/>
            <a:ext cx="5699125" cy="529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8210" name="Picture 18"/>
          <p:cNvPicPr preferRelativeResize="0">
            <a:picLocks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432175" y="1196976"/>
            <a:ext cx="5308600" cy="496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8196" name="Rectangle 2"/>
          <p:cNvSpPr>
            <a:spLocks noChangeArrowheads="1"/>
          </p:cNvSpPr>
          <p:nvPr/>
        </p:nvSpPr>
        <p:spPr bwMode="auto">
          <a:xfrm>
            <a:off x="695400" y="115888"/>
            <a:ext cx="1130525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2800" dirty="0">
                <a:solidFill>
                  <a:schemeClr val="bg2"/>
                </a:solidFill>
                <a:latin typeface="Bookman Old Style" pitchFamily="18" charset="0"/>
              </a:rPr>
              <a:t>Effects of aspect ratio, compressibility, airfoil thickness and sweep angle on C</a:t>
            </a:r>
            <a:r>
              <a:rPr lang="en-US" altLang="nl-NL" sz="2800" baseline="-25000" dirty="0">
                <a:solidFill>
                  <a:schemeClr val="bg2"/>
                </a:solidFill>
                <a:latin typeface="Bookman Old Style" pitchFamily="18" charset="0"/>
              </a:rPr>
              <a:t>L</a:t>
            </a:r>
            <a:r>
              <a:rPr lang="el-GR" altLang="nl-NL" sz="2800" baseline="-25000" dirty="0">
                <a:solidFill>
                  <a:schemeClr val="bg2"/>
                </a:solidFill>
                <a:latin typeface="Bookman Old Style" pitchFamily="18" charset="0"/>
              </a:rPr>
              <a:t>α</a:t>
            </a:r>
          </a:p>
        </p:txBody>
      </p:sp>
      <p:sp>
        <p:nvSpPr>
          <p:cNvPr id="8197" name="Text Box 4"/>
          <p:cNvSpPr txBox="1">
            <a:spLocks noChangeArrowheads="1"/>
          </p:cNvSpPr>
          <p:nvPr/>
        </p:nvSpPr>
        <p:spPr bwMode="auto">
          <a:xfrm>
            <a:off x="9186864" y="5805488"/>
            <a:ext cx="13731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400"/>
              <a:t>Source Raymer</a:t>
            </a:r>
          </a:p>
        </p:txBody>
      </p:sp>
      <p:sp>
        <p:nvSpPr>
          <p:cNvPr id="2" name="Text Box 6"/>
          <p:cNvSpPr txBox="1">
            <a:spLocks noChangeArrowheads="1"/>
          </p:cNvSpPr>
          <p:nvPr/>
        </p:nvSpPr>
        <p:spPr bwMode="auto">
          <a:xfrm>
            <a:off x="7959726" y="2584451"/>
            <a:ext cx="9874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400" b="1">
                <a:solidFill>
                  <a:srgbClr val="FF0000"/>
                </a:solidFill>
              </a:rPr>
              <a:t>t/c ≤5%</a:t>
            </a:r>
          </a:p>
        </p:txBody>
      </p:sp>
      <p:sp>
        <p:nvSpPr>
          <p:cNvPr id="8198" name="Line 7"/>
          <p:cNvSpPr>
            <a:spLocks noChangeShapeType="1"/>
          </p:cNvSpPr>
          <p:nvPr/>
        </p:nvSpPr>
        <p:spPr bwMode="auto">
          <a:xfrm flipV="1">
            <a:off x="7581900" y="2898775"/>
            <a:ext cx="554038" cy="381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8200" name="Line 12"/>
          <p:cNvSpPr>
            <a:spLocks noChangeShapeType="1"/>
          </p:cNvSpPr>
          <p:nvPr/>
        </p:nvSpPr>
        <p:spPr bwMode="auto">
          <a:xfrm flipV="1">
            <a:off x="3162300" y="3470275"/>
            <a:ext cx="846138"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graphicFrame>
        <p:nvGraphicFramePr>
          <p:cNvPr id="4" name="Object 13"/>
          <p:cNvGraphicFramePr>
            <a:graphicFrameLocks noChangeAspect="1"/>
          </p:cNvGraphicFramePr>
          <p:nvPr/>
        </p:nvGraphicFramePr>
        <p:xfrm>
          <a:off x="2139951" y="4851401"/>
          <a:ext cx="517525" cy="442913"/>
        </p:xfrm>
        <a:graphic>
          <a:graphicData uri="http://schemas.openxmlformats.org/presentationml/2006/ole">
            <mc:AlternateContent xmlns:mc="http://schemas.openxmlformats.org/markup-compatibility/2006">
              <mc:Choice xmlns:v="urn:schemas-microsoft-com:vml" Requires="v">
                <p:oleObj name="Equation" r:id="rId6" imgW="266584" imgH="228501" progId="Equation.3">
                  <p:embed/>
                </p:oleObj>
              </mc:Choice>
              <mc:Fallback>
                <p:oleObj name="Equation" r:id="rId6" imgW="266584" imgH="228501" progId="Equation.3">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9951" y="4851401"/>
                        <a:ext cx="517525"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01" name="Line 14"/>
          <p:cNvSpPr>
            <a:spLocks noChangeShapeType="1"/>
          </p:cNvSpPr>
          <p:nvPr/>
        </p:nvSpPr>
        <p:spPr bwMode="auto">
          <a:xfrm flipV="1">
            <a:off x="2560638" y="4156075"/>
            <a:ext cx="13716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8202" name="Line 15"/>
          <p:cNvSpPr>
            <a:spLocks noChangeShapeType="1"/>
          </p:cNvSpPr>
          <p:nvPr/>
        </p:nvSpPr>
        <p:spPr bwMode="auto">
          <a:xfrm flipV="1">
            <a:off x="2636838" y="4460875"/>
            <a:ext cx="13716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8203" name="Line 16"/>
          <p:cNvSpPr>
            <a:spLocks noChangeShapeType="1"/>
          </p:cNvSpPr>
          <p:nvPr/>
        </p:nvSpPr>
        <p:spPr bwMode="auto">
          <a:xfrm flipV="1">
            <a:off x="2636838" y="4765675"/>
            <a:ext cx="13716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8204" name="Line 17"/>
          <p:cNvSpPr>
            <a:spLocks noChangeShapeType="1"/>
          </p:cNvSpPr>
          <p:nvPr/>
        </p:nvSpPr>
        <p:spPr bwMode="auto">
          <a:xfrm flipV="1">
            <a:off x="8648700" y="3584575"/>
            <a:ext cx="266700" cy="381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8205" name="Text Box 18"/>
          <p:cNvSpPr txBox="1">
            <a:spLocks noChangeArrowheads="1"/>
          </p:cNvSpPr>
          <p:nvPr/>
        </p:nvSpPr>
        <p:spPr bwMode="auto">
          <a:xfrm>
            <a:off x="8958263" y="3441701"/>
            <a:ext cx="7286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400" b="1">
                <a:solidFill>
                  <a:srgbClr val="FF0000"/>
                </a:solidFill>
              </a:rPr>
              <a:t>A &gt; 4 </a:t>
            </a:r>
          </a:p>
        </p:txBody>
      </p:sp>
      <p:graphicFrame>
        <p:nvGraphicFramePr>
          <p:cNvPr id="8207" name="Object 19"/>
          <p:cNvGraphicFramePr>
            <a:graphicFrameLocks noChangeAspect="1"/>
          </p:cNvGraphicFramePr>
          <p:nvPr/>
        </p:nvGraphicFramePr>
        <p:xfrm>
          <a:off x="1916113" y="3851275"/>
          <a:ext cx="1123950" cy="439738"/>
        </p:xfrm>
        <a:graphic>
          <a:graphicData uri="http://schemas.openxmlformats.org/presentationml/2006/ole">
            <mc:AlternateContent xmlns:mc="http://schemas.openxmlformats.org/markup-compatibility/2006">
              <mc:Choice xmlns:v="urn:schemas-microsoft-com:vml" Requires="v">
                <p:oleObj name="Equation" r:id="rId8" imgW="583947" imgH="228501" progId="Equation.3">
                  <p:embed/>
                </p:oleObj>
              </mc:Choice>
              <mc:Fallback>
                <p:oleObj name="Equation" r:id="rId8" imgW="583947" imgH="228501" progId="Equation.3">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16113" y="3851275"/>
                        <a:ext cx="1123950" cy="43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Line 21"/>
          <p:cNvSpPr>
            <a:spLocks noChangeShapeType="1"/>
          </p:cNvSpPr>
          <p:nvPr/>
        </p:nvSpPr>
        <p:spPr bwMode="auto">
          <a:xfrm>
            <a:off x="3695700" y="3470275"/>
            <a:ext cx="2209800" cy="0"/>
          </a:xfrm>
          <a:prstGeom prst="line">
            <a:avLst/>
          </a:prstGeom>
          <a:noFill/>
          <a:ln w="19050">
            <a:solidFill>
              <a:srgbClr val="FF3300"/>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3" name="TextBox 2"/>
          <p:cNvSpPr txBox="1"/>
          <p:nvPr/>
        </p:nvSpPr>
        <p:spPr>
          <a:xfrm rot="5117498">
            <a:off x="3882232" y="3744119"/>
            <a:ext cx="1003300" cy="671513"/>
          </a:xfrm>
          <a:prstGeom prst="rightArrow">
            <a:avLst>
              <a:gd name="adj1" fmla="val 50000"/>
              <a:gd name="adj2" fmla="val 41395"/>
            </a:avLst>
          </a:prstGeom>
          <a:solidFill>
            <a:schemeClr val="accent1">
              <a:lumMod val="60000"/>
              <a:lumOff val="40000"/>
            </a:schemeClr>
          </a:solidFill>
          <a:ln>
            <a:solidFill>
              <a:schemeClr val="tx1"/>
            </a:solidFill>
          </a:ln>
        </p:spPr>
        <p:txBody>
          <a:bodyPr>
            <a:spAutoFit/>
          </a:bodyPr>
          <a:lstStyle/>
          <a:p>
            <a:pPr>
              <a:defRPr/>
            </a:pPr>
            <a:r>
              <a:rPr lang="en-GB" dirty="0"/>
              <a:t>Sweep</a:t>
            </a:r>
          </a:p>
        </p:txBody>
      </p:sp>
      <p:sp>
        <p:nvSpPr>
          <p:cNvPr id="19" name="TextBox 18"/>
          <p:cNvSpPr txBox="1"/>
          <p:nvPr/>
        </p:nvSpPr>
        <p:spPr>
          <a:xfrm rot="4643764" flipH="1" flipV="1">
            <a:off x="4702271" y="4037089"/>
            <a:ext cx="924059" cy="672525"/>
          </a:xfrm>
          <a:prstGeom prst="rightArrow">
            <a:avLst>
              <a:gd name="adj1" fmla="val 50000"/>
              <a:gd name="adj2" fmla="val 41395"/>
            </a:avLst>
          </a:prstGeom>
          <a:solidFill>
            <a:schemeClr val="accent1">
              <a:lumMod val="60000"/>
              <a:lumOff val="40000"/>
            </a:schemeClr>
          </a:solidFill>
          <a:ln>
            <a:solidFill>
              <a:schemeClr val="tx1"/>
            </a:solidFill>
          </a:ln>
        </p:spPr>
        <p:txBody>
          <a:bodyPr wrap="square">
            <a:spAutoFit/>
          </a:bodyPr>
          <a:lstStyle/>
          <a:p>
            <a:pPr>
              <a:defRPr/>
            </a:pPr>
            <a:r>
              <a:rPr lang="en-GB" dirty="0"/>
              <a:t>A</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xit" presetSubtype="0" fill="hold" nodeType="clickEffect">
                                  <p:stCondLst>
                                    <p:cond delay="0"/>
                                  </p:stCondLst>
                                  <p:childTnLst>
                                    <p:animEffect transition="out" filter="fade">
                                      <p:cBhvr>
                                        <p:cTn id="6" dur="500"/>
                                        <p:tgtEl>
                                          <p:spTgt spid="8210"/>
                                        </p:tgtEl>
                                      </p:cBhvr>
                                    </p:animEffect>
                                    <p:set>
                                      <p:cBhvr>
                                        <p:cTn id="7" dur="1" fill="hold">
                                          <p:stCondLst>
                                            <p:cond delay="499"/>
                                          </p:stCondLst>
                                        </p:cTn>
                                        <p:tgtEl>
                                          <p:spTgt spid="8210"/>
                                        </p:tgtEl>
                                        <p:attrNameLst>
                                          <p:attrName>style.visibility</p:attrName>
                                        </p:attrNameLst>
                                      </p:cBhvr>
                                      <p:to>
                                        <p:strVal val="hidden"/>
                                      </p:to>
                                    </p:set>
                                  </p:childTnLst>
                                </p:cTn>
                              </p:par>
                              <p:par>
                                <p:cTn id="8" presetID="1" presetClass="entr" presetSubtype="0" fill="hold" nodeType="withEffect">
                                  <p:stCondLst>
                                    <p:cond delay="0"/>
                                  </p:stCondLst>
                                  <p:childTnLst>
                                    <p:set>
                                      <p:cBhvr>
                                        <p:cTn id="9" dur="1" fill="hold">
                                          <p:stCondLst>
                                            <p:cond delay="0"/>
                                          </p:stCondLst>
                                        </p:cTn>
                                        <p:tgtEl>
                                          <p:spTgt spid="8195"/>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8203"/>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820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8202"/>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819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820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820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198" grpId="0" animBg="1"/>
      <p:bldP spid="8201" grpId="0" animBg="1"/>
      <p:bldP spid="8202" grpId="0" animBg="1"/>
      <p:bldP spid="8203" grpId="0" animBg="1"/>
      <p:bldP spid="8204" grpId="0" animBg="1"/>
      <p:bldP spid="8205" grpId="0"/>
      <p:bldP spid="5" grpId="0" animBg="1"/>
      <p:bldP spid="3" grpId="0" animBg="1"/>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a:grpSpLocks/>
          </p:cNvGrpSpPr>
          <p:nvPr/>
        </p:nvGrpSpPr>
        <p:grpSpPr bwMode="auto">
          <a:xfrm>
            <a:off x="1954213" y="2309813"/>
            <a:ext cx="5080000" cy="3351212"/>
            <a:chOff x="131763" y="2695665"/>
            <a:chExt cx="5079174" cy="3351132"/>
          </a:xfrm>
        </p:grpSpPr>
        <p:sp>
          <p:nvSpPr>
            <p:cNvPr id="9243" name="Oval 18"/>
            <p:cNvSpPr>
              <a:spLocks noChangeArrowheads="1"/>
            </p:cNvSpPr>
            <p:nvPr/>
          </p:nvSpPr>
          <p:spPr bwMode="auto">
            <a:xfrm>
              <a:off x="3492500" y="2695665"/>
              <a:ext cx="304800" cy="476071"/>
            </a:xfrm>
            <a:prstGeom prst="ellipse">
              <a:avLst/>
            </a:prstGeom>
            <a:noFill/>
            <a:ln w="19050"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sz="1600"/>
            </a:p>
          </p:txBody>
        </p:sp>
        <p:sp>
          <p:nvSpPr>
            <p:cNvPr id="9244" name="Oval 19"/>
            <p:cNvSpPr>
              <a:spLocks noChangeArrowheads="1"/>
            </p:cNvSpPr>
            <p:nvPr/>
          </p:nvSpPr>
          <p:spPr bwMode="auto">
            <a:xfrm>
              <a:off x="4849491" y="3099305"/>
              <a:ext cx="361446" cy="476071"/>
            </a:xfrm>
            <a:prstGeom prst="ellipse">
              <a:avLst/>
            </a:prstGeom>
            <a:noFill/>
            <a:ln w="19050"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sz="1600"/>
            </a:p>
          </p:txBody>
        </p:sp>
        <p:grpSp>
          <p:nvGrpSpPr>
            <p:cNvPr id="9245" name="Group 26"/>
            <p:cNvGrpSpPr>
              <a:grpSpLocks/>
            </p:cNvGrpSpPr>
            <p:nvPr/>
          </p:nvGrpSpPr>
          <p:grpSpPr bwMode="auto">
            <a:xfrm>
              <a:off x="131763" y="5708659"/>
              <a:ext cx="2566988" cy="338138"/>
              <a:chOff x="249" y="3596"/>
              <a:chExt cx="1617" cy="213"/>
            </a:xfrm>
          </p:grpSpPr>
          <p:sp>
            <p:nvSpPr>
              <p:cNvPr id="9246" name="Oval 24"/>
              <p:cNvSpPr>
                <a:spLocks noChangeArrowheads="1"/>
              </p:cNvSpPr>
              <p:nvPr/>
            </p:nvSpPr>
            <p:spPr bwMode="auto">
              <a:xfrm>
                <a:off x="249" y="3649"/>
                <a:ext cx="144" cy="144"/>
              </a:xfrm>
              <a:prstGeom prst="ellipse">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sz="1600"/>
              </a:p>
            </p:txBody>
          </p:sp>
          <p:sp>
            <p:nvSpPr>
              <p:cNvPr id="9247" name="Text Box 29"/>
              <p:cNvSpPr txBox="1">
                <a:spLocks noChangeArrowheads="1"/>
              </p:cNvSpPr>
              <p:nvPr/>
            </p:nvSpPr>
            <p:spPr bwMode="auto">
              <a:xfrm>
                <a:off x="424" y="3596"/>
                <a:ext cx="1442" cy="213"/>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a:t>Compressibility contrib.</a:t>
                </a:r>
              </a:p>
            </p:txBody>
          </p:sp>
        </p:grpSp>
      </p:grpSp>
      <p:graphicFrame>
        <p:nvGraphicFramePr>
          <p:cNvPr id="9219" name="Object 3"/>
          <p:cNvGraphicFramePr>
            <a:graphicFrameLocks noChangeAspect="1"/>
          </p:cNvGraphicFramePr>
          <p:nvPr/>
        </p:nvGraphicFramePr>
        <p:xfrm>
          <a:off x="2211388" y="1884364"/>
          <a:ext cx="5613400" cy="1343025"/>
        </p:xfrm>
        <a:graphic>
          <a:graphicData uri="http://schemas.openxmlformats.org/presentationml/2006/ole">
            <mc:AlternateContent xmlns:mc="http://schemas.openxmlformats.org/markup-compatibility/2006">
              <mc:Choice xmlns:v="urn:schemas-microsoft-com:vml" Requires="v">
                <p:oleObj name="Equation" r:id="rId4" imgW="2806560" imgH="672840" progId="Equation.DSMT4">
                  <p:embed/>
                </p:oleObj>
              </mc:Choice>
              <mc:Fallback>
                <p:oleObj name="Equation" r:id="rId4" imgW="2806560" imgH="67284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1388" y="1884364"/>
                        <a:ext cx="5613400" cy="13430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0" name="Rectangle 2"/>
          <p:cNvSpPr>
            <a:spLocks noChangeArrowheads="1"/>
          </p:cNvSpPr>
          <p:nvPr/>
        </p:nvSpPr>
        <p:spPr bwMode="auto">
          <a:xfrm>
            <a:off x="767408" y="115888"/>
            <a:ext cx="904553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dirty="0">
                <a:solidFill>
                  <a:schemeClr val="bg2"/>
                </a:solidFill>
                <a:latin typeface="Bookman Old Style" pitchFamily="18" charset="0"/>
              </a:rPr>
              <a:t>Evaluation of the wing lift curve slope</a:t>
            </a:r>
            <a:endParaRPr lang="el-GR" altLang="nl-NL" sz="3200" dirty="0">
              <a:solidFill>
                <a:schemeClr val="bg2"/>
              </a:solidFill>
              <a:latin typeface="Bookman Old Style" pitchFamily="18" charset="0"/>
            </a:endParaRPr>
          </a:p>
        </p:txBody>
      </p:sp>
      <p:sp>
        <p:nvSpPr>
          <p:cNvPr id="9221" name="Rectangle 6"/>
          <p:cNvSpPr>
            <a:spLocks noChangeArrowheads="1"/>
          </p:cNvSpPr>
          <p:nvPr/>
        </p:nvSpPr>
        <p:spPr bwMode="auto">
          <a:xfrm>
            <a:off x="839416" y="836613"/>
            <a:ext cx="1094521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1600" dirty="0"/>
              <a:t>The following </a:t>
            </a:r>
            <a:r>
              <a:rPr lang="en-US" altLang="nl-NL" sz="1600" b="1" u="sng" dirty="0"/>
              <a:t>SEMI-EMPIRIC</a:t>
            </a:r>
            <a:r>
              <a:rPr lang="en-US" altLang="nl-NL" sz="1600" dirty="0"/>
              <a:t> equation (based on </a:t>
            </a:r>
            <a:r>
              <a:rPr lang="en-US" altLang="nl-NL" sz="1600" b="1" dirty="0"/>
              <a:t>DATCOM method</a:t>
            </a:r>
            <a:r>
              <a:rPr lang="en-US" altLang="nl-NL" sz="1600" dirty="0"/>
              <a:t>) accounts for the </a:t>
            </a:r>
            <a:r>
              <a:rPr lang="en-US" altLang="nl-NL" sz="1600" b="1" dirty="0"/>
              <a:t>effect of A, M and Λ</a:t>
            </a:r>
            <a:endParaRPr lang="en-US" altLang="nl-NL" sz="1600" dirty="0"/>
          </a:p>
        </p:txBody>
      </p:sp>
      <p:graphicFrame>
        <p:nvGraphicFramePr>
          <p:cNvPr id="9222" name="Object 7"/>
          <p:cNvGraphicFramePr>
            <a:graphicFrameLocks noChangeAspect="1"/>
          </p:cNvGraphicFramePr>
          <p:nvPr/>
        </p:nvGraphicFramePr>
        <p:xfrm>
          <a:off x="2068513" y="3355975"/>
          <a:ext cx="1644650" cy="547688"/>
        </p:xfrm>
        <a:graphic>
          <a:graphicData uri="http://schemas.openxmlformats.org/presentationml/2006/ole">
            <mc:AlternateContent xmlns:mc="http://schemas.openxmlformats.org/markup-compatibility/2006">
              <mc:Choice xmlns:v="urn:schemas-microsoft-com:vml" Requires="v">
                <p:oleObj name="Equation" r:id="rId6" imgW="838200" imgH="279400" progId="Equation.3">
                  <p:embed/>
                </p:oleObj>
              </mc:Choice>
              <mc:Fallback>
                <p:oleObj name="Equation" r:id="rId6" imgW="838200" imgH="2794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68513" y="3355975"/>
                        <a:ext cx="1644650"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3" name="Rectangle 9"/>
          <p:cNvSpPr>
            <a:spLocks noChangeArrowheads="1"/>
          </p:cNvSpPr>
          <p:nvPr/>
        </p:nvSpPr>
        <p:spPr bwMode="auto">
          <a:xfrm>
            <a:off x="3741738" y="4076700"/>
            <a:ext cx="451485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10000"/>
              </a:lnSpc>
              <a:buClrTx/>
              <a:buFontTx/>
              <a:buNone/>
            </a:pPr>
            <a:r>
              <a:rPr lang="en-GB" altLang="nl-NL" sz="1600"/>
              <a:t> : Sweep angle measured at half chord length</a:t>
            </a:r>
          </a:p>
        </p:txBody>
      </p:sp>
      <p:sp>
        <p:nvSpPr>
          <p:cNvPr id="3079" name="Text Box 10"/>
          <p:cNvSpPr txBox="1">
            <a:spLocks noChangeArrowheads="1"/>
          </p:cNvSpPr>
          <p:nvPr/>
        </p:nvSpPr>
        <p:spPr bwMode="auto">
          <a:xfrm>
            <a:off x="8478838" y="2084389"/>
            <a:ext cx="19494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a:sym typeface="Wingdings" pitchFamily="2" charset="2"/>
              </a:rPr>
              <a:t> </a:t>
            </a:r>
            <a:r>
              <a:rPr lang="en-GB" altLang="nl-NL" sz="1600" b="1">
                <a:sym typeface="Wingdings" pitchFamily="2" charset="2"/>
              </a:rPr>
              <a:t>Units [1/Rad]</a:t>
            </a:r>
            <a:r>
              <a:rPr lang="en-GB" altLang="nl-NL" sz="1600">
                <a:sym typeface="Wingdings" pitchFamily="2" charset="2"/>
              </a:rPr>
              <a:t> </a:t>
            </a:r>
            <a:endParaRPr lang="en-GB" altLang="nl-NL" sz="1600"/>
          </a:p>
        </p:txBody>
      </p:sp>
      <p:pic>
        <p:nvPicPr>
          <p:cNvPr id="3080" name="Picture 16" descr="warning"/>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131454">
            <a:off x="9240838" y="2455863"/>
            <a:ext cx="76200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1" name="Text Box 17"/>
          <p:cNvSpPr txBox="1">
            <a:spLocks noChangeArrowheads="1"/>
          </p:cNvSpPr>
          <p:nvPr/>
        </p:nvSpPr>
        <p:spPr bwMode="auto">
          <a:xfrm>
            <a:off x="9739313" y="2424114"/>
            <a:ext cx="323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a:t>*</a:t>
            </a:r>
          </a:p>
        </p:txBody>
      </p:sp>
      <p:grpSp>
        <p:nvGrpSpPr>
          <p:cNvPr id="4" name="Group 3"/>
          <p:cNvGrpSpPr>
            <a:grpSpLocks/>
          </p:cNvGrpSpPr>
          <p:nvPr/>
        </p:nvGrpSpPr>
        <p:grpSpPr bwMode="auto">
          <a:xfrm>
            <a:off x="4954589" y="1846263"/>
            <a:ext cx="5526087" cy="3810000"/>
            <a:chOff x="3132138" y="2219591"/>
            <a:chExt cx="5527676" cy="3809744"/>
          </a:xfrm>
        </p:grpSpPr>
        <p:sp>
          <p:nvSpPr>
            <p:cNvPr id="9238" name="Oval 21"/>
            <p:cNvSpPr>
              <a:spLocks noChangeArrowheads="1"/>
            </p:cNvSpPr>
            <p:nvPr/>
          </p:nvSpPr>
          <p:spPr bwMode="auto">
            <a:xfrm>
              <a:off x="3985763" y="2219591"/>
              <a:ext cx="284145" cy="474454"/>
            </a:xfrm>
            <a:prstGeom prst="ellipse">
              <a:avLst/>
            </a:prstGeom>
            <a:noFill/>
            <a:ln w="28575" algn="ctr">
              <a:solidFill>
                <a:schemeClr val="accent2"/>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sz="1600"/>
            </a:p>
          </p:txBody>
        </p:sp>
        <p:sp>
          <p:nvSpPr>
            <p:cNvPr id="9239" name="Oval 22"/>
            <p:cNvSpPr>
              <a:spLocks noChangeArrowheads="1"/>
            </p:cNvSpPr>
            <p:nvPr/>
          </p:nvSpPr>
          <p:spPr bwMode="auto">
            <a:xfrm>
              <a:off x="3132138" y="2695664"/>
              <a:ext cx="381000" cy="476071"/>
            </a:xfrm>
            <a:prstGeom prst="ellipse">
              <a:avLst/>
            </a:prstGeom>
            <a:noFill/>
            <a:ln w="28575" algn="ctr">
              <a:solidFill>
                <a:schemeClr val="accent2"/>
              </a:solidFill>
              <a:prstDash val="sysDot"/>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sz="1600"/>
            </a:p>
          </p:txBody>
        </p:sp>
        <p:grpSp>
          <p:nvGrpSpPr>
            <p:cNvPr id="9240" name="Group 28"/>
            <p:cNvGrpSpPr>
              <a:grpSpLocks/>
            </p:cNvGrpSpPr>
            <p:nvPr/>
          </p:nvGrpSpPr>
          <p:grpSpPr bwMode="auto">
            <a:xfrm>
              <a:off x="6300789" y="5691197"/>
              <a:ext cx="2359025" cy="338138"/>
              <a:chOff x="4126" y="3585"/>
              <a:chExt cx="1486" cy="213"/>
            </a:xfrm>
          </p:grpSpPr>
          <p:sp>
            <p:nvSpPr>
              <p:cNvPr id="9241" name="Oval 26"/>
              <p:cNvSpPr>
                <a:spLocks noChangeArrowheads="1"/>
              </p:cNvSpPr>
              <p:nvPr/>
            </p:nvSpPr>
            <p:spPr bwMode="auto">
              <a:xfrm>
                <a:off x="4126" y="3649"/>
                <a:ext cx="144" cy="144"/>
              </a:xfrm>
              <a:prstGeom prst="ellipse">
                <a:avLst/>
              </a:prstGeom>
              <a:noFill/>
              <a:ln w="38100" algn="ctr">
                <a:solidFill>
                  <a:schemeClr val="accent2"/>
                </a:solidFill>
                <a:prstDash val="sysDot"/>
                <a:round/>
                <a:headEnd/>
                <a:tailEnd/>
              </a:ln>
              <a:extLst>
                <a:ext uri="{909E8E84-426E-40DD-AFC4-6F175D3DCCD1}">
                  <a14:hiddenFill xmlns:a14="http://schemas.microsoft.com/office/drawing/2010/main">
                    <a:solidFill>
                      <a:srgbClr val="FFFFFF"/>
                    </a:solidFill>
                  </a14:hiddenFill>
                </a:ext>
              </a:extLst>
            </p:spPr>
            <p:txBody>
              <a:bodyPr anchor="ct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sz="1600"/>
              </a:p>
            </p:txBody>
          </p:sp>
          <p:sp>
            <p:nvSpPr>
              <p:cNvPr id="9242" name="Text Box 27"/>
              <p:cNvSpPr txBox="1">
                <a:spLocks noChangeArrowheads="1"/>
              </p:cNvSpPr>
              <p:nvPr/>
            </p:nvSpPr>
            <p:spPr bwMode="auto">
              <a:xfrm>
                <a:off x="4351" y="3585"/>
                <a:ext cx="126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a:t>Aspect ratio contrib.</a:t>
                </a:r>
              </a:p>
            </p:txBody>
          </p:sp>
        </p:grpSp>
      </p:grpSp>
      <p:grpSp>
        <p:nvGrpSpPr>
          <p:cNvPr id="3" name="Group 2"/>
          <p:cNvGrpSpPr>
            <a:grpSpLocks/>
          </p:cNvGrpSpPr>
          <p:nvPr/>
        </p:nvGrpSpPr>
        <p:grpSpPr bwMode="auto">
          <a:xfrm>
            <a:off x="5135564" y="2271713"/>
            <a:ext cx="2420937" cy="3389312"/>
            <a:chOff x="3313114" y="2657564"/>
            <a:chExt cx="2422525" cy="3389233"/>
          </a:xfrm>
        </p:grpSpPr>
        <p:sp>
          <p:nvSpPr>
            <p:cNvPr id="9234" name="Oval 20"/>
            <p:cNvSpPr>
              <a:spLocks noChangeArrowheads="1"/>
            </p:cNvSpPr>
            <p:nvPr/>
          </p:nvSpPr>
          <p:spPr bwMode="auto">
            <a:xfrm>
              <a:off x="4859338" y="2657564"/>
              <a:ext cx="838200" cy="476071"/>
            </a:xfrm>
            <a:prstGeom prst="ellipse">
              <a:avLst/>
            </a:prstGeom>
            <a:noFill/>
            <a:ln w="28575" algn="ctr">
              <a:solidFill>
                <a:srgbClr val="00FF00"/>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sz="1600"/>
            </a:p>
          </p:txBody>
        </p:sp>
        <p:grpSp>
          <p:nvGrpSpPr>
            <p:cNvPr id="9235" name="Group 27"/>
            <p:cNvGrpSpPr>
              <a:grpSpLocks/>
            </p:cNvGrpSpPr>
            <p:nvPr/>
          </p:nvGrpSpPr>
          <p:grpSpPr bwMode="auto">
            <a:xfrm>
              <a:off x="3313114" y="5708659"/>
              <a:ext cx="2422525" cy="338138"/>
              <a:chOff x="2224" y="3596"/>
              <a:chExt cx="1526" cy="213"/>
            </a:xfrm>
          </p:grpSpPr>
          <p:sp>
            <p:nvSpPr>
              <p:cNvPr id="9236" name="Oval 25"/>
              <p:cNvSpPr>
                <a:spLocks noChangeArrowheads="1"/>
              </p:cNvSpPr>
              <p:nvPr/>
            </p:nvSpPr>
            <p:spPr bwMode="auto">
              <a:xfrm>
                <a:off x="2224" y="3649"/>
                <a:ext cx="144" cy="144"/>
              </a:xfrm>
              <a:prstGeom prst="ellipse">
                <a:avLst/>
              </a:prstGeom>
              <a:noFill/>
              <a:ln w="28575" algn="ctr">
                <a:solidFill>
                  <a:srgbClr val="33CC33"/>
                </a:solidFill>
                <a:prstDash val="dash"/>
                <a:round/>
                <a:headEnd/>
                <a:tailEnd/>
              </a:ln>
              <a:extLst>
                <a:ext uri="{909E8E84-426E-40DD-AFC4-6F175D3DCCD1}">
                  <a14:hiddenFill xmlns:a14="http://schemas.microsoft.com/office/drawing/2010/main">
                    <a:solidFill>
                      <a:srgbClr val="FFFFFF"/>
                    </a:solidFill>
                  </a14:hiddenFill>
                </a:ext>
              </a:extLst>
            </p:spPr>
            <p:txBody>
              <a:bodyPr anchor="ct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sz="1600"/>
              </a:p>
            </p:txBody>
          </p:sp>
          <p:sp>
            <p:nvSpPr>
              <p:cNvPr id="9237" name="Text Box 28"/>
              <p:cNvSpPr txBox="1">
                <a:spLocks noChangeArrowheads="1"/>
              </p:cNvSpPr>
              <p:nvPr/>
            </p:nvSpPr>
            <p:spPr bwMode="auto">
              <a:xfrm>
                <a:off x="2440" y="3596"/>
                <a:ext cx="1310" cy="213"/>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a:t>Sweep angle contrib.</a:t>
                </a:r>
              </a:p>
            </p:txBody>
          </p:sp>
        </p:grpSp>
      </p:grpSp>
      <p:sp>
        <p:nvSpPr>
          <p:cNvPr id="9229" name="Rectangle 40"/>
          <p:cNvSpPr>
            <a:spLocks noChangeArrowheads="1"/>
          </p:cNvSpPr>
          <p:nvPr/>
        </p:nvSpPr>
        <p:spPr bwMode="auto">
          <a:xfrm>
            <a:off x="3781425" y="3460750"/>
            <a:ext cx="4620496" cy="363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10000"/>
              </a:lnSpc>
              <a:buClrTx/>
              <a:buFontTx/>
              <a:buNone/>
            </a:pPr>
            <a:r>
              <a:rPr lang="en-GB" altLang="nl-NL" sz="1600" dirty="0"/>
              <a:t>: </a:t>
            </a:r>
            <a:r>
              <a:rPr lang="en-GB" altLang="nl-NL" sz="1600" dirty="0" err="1"/>
              <a:t>Prandtl-Glauert</a:t>
            </a:r>
            <a:r>
              <a:rPr lang="en-GB" altLang="nl-NL" sz="1600" dirty="0"/>
              <a:t> compressibility correction factor</a:t>
            </a:r>
          </a:p>
        </p:txBody>
      </p:sp>
      <p:sp>
        <p:nvSpPr>
          <p:cNvPr id="9230" name="Rectangle 43"/>
          <p:cNvSpPr>
            <a:spLocks noChangeArrowheads="1"/>
          </p:cNvSpPr>
          <p:nvPr/>
        </p:nvSpPr>
        <p:spPr bwMode="auto">
          <a:xfrm>
            <a:off x="3741738" y="4675189"/>
            <a:ext cx="26146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a:t> : Airfoil efficiency factor**</a:t>
            </a:r>
          </a:p>
        </p:txBody>
      </p:sp>
      <p:graphicFrame>
        <p:nvGraphicFramePr>
          <p:cNvPr id="9231" name="Object 5"/>
          <p:cNvGraphicFramePr>
            <a:graphicFrameLocks noChangeAspect="1"/>
          </p:cNvGraphicFramePr>
          <p:nvPr/>
        </p:nvGraphicFramePr>
        <p:xfrm>
          <a:off x="2105026" y="4056063"/>
          <a:ext cx="671513" cy="449262"/>
        </p:xfrm>
        <a:graphic>
          <a:graphicData uri="http://schemas.openxmlformats.org/presentationml/2006/ole">
            <mc:AlternateContent xmlns:mc="http://schemas.openxmlformats.org/markup-compatibility/2006">
              <mc:Choice xmlns:v="urn:schemas-microsoft-com:vml" Requires="v">
                <p:oleObj name="Equation" r:id="rId9" imgW="342751" imgH="228501" progId="Equation.DSMT4">
                  <p:embed/>
                </p:oleObj>
              </mc:Choice>
              <mc:Fallback>
                <p:oleObj name="Equation" r:id="rId9" imgW="342751" imgH="228501"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05026" y="4056063"/>
                        <a:ext cx="671513"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32" name="Object 6"/>
          <p:cNvGraphicFramePr>
            <a:graphicFrameLocks noChangeAspect="1"/>
          </p:cNvGraphicFramePr>
          <p:nvPr/>
        </p:nvGraphicFramePr>
        <p:xfrm>
          <a:off x="2151063" y="4749800"/>
          <a:ext cx="882650" cy="330200"/>
        </p:xfrm>
        <a:graphic>
          <a:graphicData uri="http://schemas.openxmlformats.org/presentationml/2006/ole">
            <mc:AlternateContent xmlns:mc="http://schemas.openxmlformats.org/markup-compatibility/2006">
              <mc:Choice xmlns:v="urn:schemas-microsoft-com:vml" Requires="v">
                <p:oleObj name="Equation" r:id="rId11" imgW="545626" imgH="203024" progId="Equation.DSMT4">
                  <p:embed/>
                </p:oleObj>
              </mc:Choice>
              <mc:Fallback>
                <p:oleObj name="Equation" r:id="rId11" imgW="545626" imgH="203024"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51063" y="4749800"/>
                        <a:ext cx="88265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 name="Oval 18"/>
          <p:cNvSpPr>
            <a:spLocks noChangeArrowheads="1"/>
          </p:cNvSpPr>
          <p:nvPr/>
        </p:nvSpPr>
        <p:spPr bwMode="auto">
          <a:xfrm>
            <a:off x="5451476" y="1846263"/>
            <a:ext cx="498475" cy="476250"/>
          </a:xfrm>
          <a:prstGeom prst="ellipse">
            <a:avLst/>
          </a:prstGeom>
          <a:noFill/>
          <a:ln w="19050" algn="ctr">
            <a:solidFill>
              <a:srgbClr val="00B05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sz="16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7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8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9" grpId="0"/>
      <p:bldP spid="3081" grpId="0"/>
      <p:bldP spid="3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8"/>
          <p:cNvSpPr>
            <a:spLocks noChangeArrowheads="1"/>
          </p:cNvSpPr>
          <p:nvPr/>
        </p:nvSpPr>
        <p:spPr bwMode="auto">
          <a:xfrm>
            <a:off x="767408" y="212725"/>
            <a:ext cx="911220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dirty="0">
                <a:solidFill>
                  <a:schemeClr val="bg2"/>
                </a:solidFill>
                <a:latin typeface="Bookman Old Style" pitchFamily="18" charset="0"/>
              </a:rPr>
              <a:t>Evaluation of the wing lift curve slope</a:t>
            </a:r>
            <a:endParaRPr lang="el-GR" altLang="nl-NL" sz="3200" dirty="0">
              <a:solidFill>
                <a:schemeClr val="bg2"/>
              </a:solidFill>
              <a:latin typeface="Bookman Old Style" pitchFamily="18" charset="0"/>
            </a:endParaRPr>
          </a:p>
        </p:txBody>
      </p:sp>
      <p:sp>
        <p:nvSpPr>
          <p:cNvPr id="22532" name="Rectangle 9"/>
          <p:cNvSpPr>
            <a:spLocks noChangeArrowheads="1"/>
          </p:cNvSpPr>
          <p:nvPr/>
        </p:nvSpPr>
        <p:spPr bwMode="auto">
          <a:xfrm>
            <a:off x="268962" y="4888694"/>
            <a:ext cx="1173169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1600" dirty="0"/>
              <a:t>The DATCOM method is </a:t>
            </a:r>
            <a:r>
              <a:rPr lang="en-US" altLang="nl-NL" sz="1600" b="1" dirty="0"/>
              <a:t>very accurate </a:t>
            </a:r>
            <a:r>
              <a:rPr lang="en-US" altLang="nl-NL" sz="1600" dirty="0"/>
              <a:t>until very high Mach numbers (above divergence). Errors in the order of 2-4% occur for </a:t>
            </a:r>
            <a:r>
              <a:rPr lang="en-US" altLang="nl-NL" sz="1600" dirty="0" err="1"/>
              <a:t>unswept</a:t>
            </a:r>
            <a:r>
              <a:rPr lang="en-US" altLang="nl-NL" sz="1600" dirty="0"/>
              <a:t> or moderately swept wings (&lt;20 deg).</a:t>
            </a:r>
            <a:endParaRPr lang="en-GB" altLang="nl-NL" sz="1600" dirty="0"/>
          </a:p>
        </p:txBody>
      </p:sp>
      <p:grpSp>
        <p:nvGrpSpPr>
          <p:cNvPr id="3" name="Group 2"/>
          <p:cNvGrpSpPr>
            <a:grpSpLocks/>
          </p:cNvGrpSpPr>
          <p:nvPr/>
        </p:nvGrpSpPr>
        <p:grpSpPr bwMode="auto">
          <a:xfrm>
            <a:off x="3343276" y="1395223"/>
            <a:ext cx="5440362" cy="3582987"/>
            <a:chOff x="1219200" y="1512755"/>
            <a:chExt cx="5441032" cy="3583119"/>
          </a:xfrm>
        </p:grpSpPr>
        <p:pic>
          <p:nvPicPr>
            <p:cNvPr id="1024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512755"/>
              <a:ext cx="5441032" cy="3583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247" name="Text Box 10"/>
            <p:cNvSpPr txBox="1">
              <a:spLocks noChangeArrowheads="1"/>
            </p:cNvSpPr>
            <p:nvPr/>
          </p:nvSpPr>
          <p:spPr bwMode="auto">
            <a:xfrm rot="-1028177">
              <a:off x="2493963" y="2868613"/>
              <a:ext cx="1384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b="1" dirty="0">
                  <a:solidFill>
                    <a:srgbClr val="00A4DE"/>
                  </a:solidFill>
                </a:rPr>
                <a:t>EXAMPLE</a:t>
              </a:r>
            </a:p>
          </p:txBody>
        </p:sp>
      </p:grpSp>
      <p:sp>
        <p:nvSpPr>
          <p:cNvPr id="10245" name="Rectangle 1"/>
          <p:cNvSpPr>
            <a:spLocks noChangeArrowheads="1"/>
          </p:cNvSpPr>
          <p:nvPr/>
        </p:nvSpPr>
        <p:spPr bwMode="auto">
          <a:xfrm>
            <a:off x="2711451" y="908050"/>
            <a:ext cx="6704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i="1"/>
              <a:t>How accurate is the DATCOM method for CL</a:t>
            </a:r>
            <a:r>
              <a:rPr lang="el-GR" altLang="nl-NL" i="1"/>
              <a:t>α</a:t>
            </a:r>
            <a:r>
              <a:rPr lang="en-US" altLang="nl-NL" i="1"/>
              <a:t> estimation</a:t>
            </a:r>
            <a:r>
              <a:rPr lang="en-GB" altLang="nl-NL" i="1"/>
              <a:t>?</a:t>
            </a:r>
          </a:p>
        </p:txBody>
      </p:sp>
      <p:sp>
        <p:nvSpPr>
          <p:cNvPr id="2" name="Rectangle 9">
            <a:extLst>
              <a:ext uri="{FF2B5EF4-FFF2-40B4-BE49-F238E27FC236}">
                <a16:creationId xmlns:a16="http://schemas.microsoft.com/office/drawing/2014/main" id="{A650920E-B990-5279-2F66-AF2728686CF3}"/>
              </a:ext>
            </a:extLst>
          </p:cNvPr>
          <p:cNvSpPr>
            <a:spLocks noChangeArrowheads="1"/>
          </p:cNvSpPr>
          <p:nvPr/>
        </p:nvSpPr>
        <p:spPr bwMode="auto">
          <a:xfrm>
            <a:off x="230153" y="5661248"/>
            <a:ext cx="1173169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1600" dirty="0"/>
              <a:t>When using semi-empiric methods, one should always check the validity of the models.</a:t>
            </a:r>
            <a:endParaRPr lang="en-GB" altLang="nl-NL" sz="1600" dirty="0"/>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767408" y="188640"/>
            <a:ext cx="1094521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a:solidFill>
                  <a:schemeClr val="bg2"/>
                </a:solidFill>
                <a:latin typeface="Bookman Old Style" pitchFamily="18" charset="0"/>
              </a:rPr>
              <a:t>Characterization of the </a:t>
            </a:r>
            <a:r>
              <a:rPr lang="en-US" altLang="nl-NL" sz="3200" u="sng">
                <a:solidFill>
                  <a:schemeClr val="bg2"/>
                </a:solidFill>
                <a:latin typeface="Bookman Old Style" pitchFamily="18" charset="0"/>
              </a:rPr>
              <a:t>linear part</a:t>
            </a:r>
            <a:r>
              <a:rPr lang="en-US" altLang="nl-NL" sz="3200">
                <a:solidFill>
                  <a:schemeClr val="bg2"/>
                </a:solidFill>
                <a:latin typeface="Bookman Old Style" pitchFamily="18" charset="0"/>
              </a:rPr>
              <a:t> of the C</a:t>
            </a:r>
            <a:r>
              <a:rPr lang="en-US" altLang="nl-NL" sz="3200" baseline="-25000">
                <a:solidFill>
                  <a:schemeClr val="bg2"/>
                </a:solidFill>
                <a:latin typeface="Bookman Old Style" pitchFamily="18" charset="0"/>
              </a:rPr>
              <a:t>L</a:t>
            </a:r>
            <a:r>
              <a:rPr lang="en-US" altLang="nl-NL" sz="3200">
                <a:solidFill>
                  <a:schemeClr val="bg2"/>
                </a:solidFill>
                <a:latin typeface="Bookman Old Style" pitchFamily="18" charset="0"/>
              </a:rPr>
              <a:t>- </a:t>
            </a:r>
            <a:r>
              <a:rPr lang="el-GR" altLang="nl-NL" sz="3200">
                <a:solidFill>
                  <a:schemeClr val="bg2"/>
                </a:solidFill>
                <a:latin typeface="Bookman Old Style" pitchFamily="18" charset="0"/>
              </a:rPr>
              <a:t>α</a:t>
            </a:r>
            <a:r>
              <a:rPr lang="nl-NL" altLang="nl-NL" sz="3200">
                <a:solidFill>
                  <a:schemeClr val="bg2"/>
                </a:solidFill>
                <a:latin typeface="Bookman Old Style" pitchFamily="18" charset="0"/>
              </a:rPr>
              <a:t> curve</a:t>
            </a:r>
            <a:endParaRPr lang="el-GR" altLang="nl-NL" sz="3200">
              <a:solidFill>
                <a:schemeClr val="bg2"/>
              </a:solidFill>
              <a:latin typeface="Bookman Old Style" pitchFamily="18" charset="0"/>
            </a:endParaRPr>
          </a:p>
        </p:txBody>
      </p:sp>
      <p:graphicFrame>
        <p:nvGraphicFramePr>
          <p:cNvPr id="12291" name="Object 15"/>
          <p:cNvGraphicFramePr>
            <a:graphicFrameLocks noChangeAspect="1"/>
          </p:cNvGraphicFramePr>
          <p:nvPr>
            <p:extLst>
              <p:ext uri="{D42A27DB-BD31-4B8C-83A1-F6EECF244321}">
                <p14:modId xmlns:p14="http://schemas.microsoft.com/office/powerpoint/2010/main" val="1638076336"/>
              </p:ext>
            </p:extLst>
          </p:nvPr>
        </p:nvGraphicFramePr>
        <p:xfrm>
          <a:off x="2045917" y="4143722"/>
          <a:ext cx="503237" cy="442912"/>
        </p:xfrm>
        <a:graphic>
          <a:graphicData uri="http://schemas.openxmlformats.org/presentationml/2006/ole">
            <mc:AlternateContent xmlns:mc="http://schemas.openxmlformats.org/markup-compatibility/2006">
              <mc:Choice xmlns:v="urn:schemas-microsoft-com:vml" Requires="v">
                <p:oleObj name="Equation" r:id="rId4" imgW="253890" imgH="228501" progId="Equation.3">
                  <p:embed/>
                </p:oleObj>
              </mc:Choice>
              <mc:Fallback>
                <p:oleObj name="Equation" r:id="rId4" imgW="253890" imgH="228501" progId="Equation.3">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5917" y="4143722"/>
                        <a:ext cx="503237"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2" name="Object 16"/>
          <p:cNvGraphicFramePr>
            <a:graphicFrameLocks noChangeAspect="1"/>
          </p:cNvGraphicFramePr>
          <p:nvPr>
            <p:extLst>
              <p:ext uri="{D42A27DB-BD31-4B8C-83A1-F6EECF244321}">
                <p14:modId xmlns:p14="http://schemas.microsoft.com/office/powerpoint/2010/main" val="3411473661"/>
              </p:ext>
            </p:extLst>
          </p:nvPr>
        </p:nvGraphicFramePr>
        <p:xfrm>
          <a:off x="7789662" y="1323752"/>
          <a:ext cx="2514600" cy="495300"/>
        </p:xfrm>
        <a:graphic>
          <a:graphicData uri="http://schemas.openxmlformats.org/presentationml/2006/ole">
            <mc:AlternateContent xmlns:mc="http://schemas.openxmlformats.org/markup-compatibility/2006">
              <mc:Choice xmlns:v="urn:schemas-microsoft-com:vml" Requires="v">
                <p:oleObj name="Equation" r:id="rId6" imgW="1155700" imgH="228600" progId="Equation.3">
                  <p:embed/>
                </p:oleObj>
              </mc:Choice>
              <mc:Fallback>
                <p:oleObj name="Equation" r:id="rId6" imgW="1155700" imgH="228600" progId="Equation.3">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89662" y="1323752"/>
                        <a:ext cx="25146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6" name="Object 17"/>
          <p:cNvGraphicFramePr>
            <a:graphicFrameLocks noChangeAspect="1"/>
          </p:cNvGraphicFramePr>
          <p:nvPr>
            <p:extLst>
              <p:ext uri="{D42A27DB-BD31-4B8C-83A1-F6EECF244321}">
                <p14:modId xmlns:p14="http://schemas.microsoft.com/office/powerpoint/2010/main" val="745044011"/>
              </p:ext>
            </p:extLst>
          </p:nvPr>
        </p:nvGraphicFramePr>
        <p:xfrm>
          <a:off x="7789662" y="2033364"/>
          <a:ext cx="2514600" cy="490538"/>
        </p:xfrm>
        <a:graphic>
          <a:graphicData uri="http://schemas.openxmlformats.org/presentationml/2006/ole">
            <mc:AlternateContent xmlns:mc="http://schemas.openxmlformats.org/markup-compatibility/2006">
              <mc:Choice xmlns:v="urn:schemas-microsoft-com:vml" Requires="v">
                <p:oleObj name="Equation" r:id="rId8" imgW="1168400" imgH="228600" progId="Equation.3">
                  <p:embed/>
                </p:oleObj>
              </mc:Choice>
              <mc:Fallback>
                <p:oleObj name="Equation" r:id="rId8" imgW="1168400" imgH="228600" progId="Equation.3">
                  <p:embed/>
                  <p:pic>
                    <p:nvPicPr>
                      <p:cNvPr id="0"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89662" y="2033364"/>
                        <a:ext cx="2514600" cy="490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140" name="Group 34"/>
          <p:cNvGrpSpPr>
            <a:grpSpLocks/>
          </p:cNvGrpSpPr>
          <p:nvPr/>
        </p:nvGrpSpPr>
        <p:grpSpPr bwMode="auto">
          <a:xfrm>
            <a:off x="7789663" y="2738214"/>
            <a:ext cx="3370263" cy="520700"/>
            <a:chOff x="3312" y="1819"/>
            <a:chExt cx="2123" cy="328"/>
          </a:xfrm>
        </p:grpSpPr>
        <p:graphicFrame>
          <p:nvGraphicFramePr>
            <p:cNvPr id="12320" name="Object 18"/>
            <p:cNvGraphicFramePr>
              <a:graphicFrameLocks noChangeAspect="1"/>
            </p:cNvGraphicFramePr>
            <p:nvPr/>
          </p:nvGraphicFramePr>
          <p:xfrm>
            <a:off x="4704" y="1819"/>
            <a:ext cx="731" cy="328"/>
          </p:xfrm>
          <a:graphic>
            <a:graphicData uri="http://schemas.openxmlformats.org/presentationml/2006/ole">
              <mc:AlternateContent xmlns:mc="http://schemas.openxmlformats.org/markup-compatibility/2006">
                <mc:Choice xmlns:v="urn:schemas-microsoft-com:vml" Requires="v">
                  <p:oleObj name="Equation" r:id="rId10" imgW="508000" imgH="228600" progId="Equation.3">
                    <p:embed/>
                  </p:oleObj>
                </mc:Choice>
                <mc:Fallback>
                  <p:oleObj name="Equation" r:id="rId10" imgW="508000" imgH="228600" progId="Equation.3">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04" y="1819"/>
                          <a:ext cx="731"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21" name="Text Box 19"/>
            <p:cNvSpPr txBox="1">
              <a:spLocks noChangeArrowheads="1"/>
            </p:cNvSpPr>
            <p:nvPr/>
          </p:nvSpPr>
          <p:spPr bwMode="auto">
            <a:xfrm>
              <a:off x="3312" y="1867"/>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a:t>for</a:t>
              </a:r>
            </a:p>
          </p:txBody>
        </p:sp>
        <p:graphicFrame>
          <p:nvGraphicFramePr>
            <p:cNvPr id="12322" name="Object 20"/>
            <p:cNvGraphicFramePr>
              <a:graphicFrameLocks noChangeAspect="1"/>
            </p:cNvGraphicFramePr>
            <p:nvPr/>
          </p:nvGraphicFramePr>
          <p:xfrm>
            <a:off x="3600" y="1821"/>
            <a:ext cx="627" cy="303"/>
          </p:xfrm>
          <a:graphic>
            <a:graphicData uri="http://schemas.openxmlformats.org/presentationml/2006/ole">
              <mc:AlternateContent xmlns:mc="http://schemas.openxmlformats.org/markup-compatibility/2006">
                <mc:Choice xmlns:v="urn:schemas-microsoft-com:vml" Requires="v">
                  <p:oleObj name="Equation" r:id="rId12" imgW="444114" imgH="215713" progId="Equation.3">
                    <p:embed/>
                  </p:oleObj>
                </mc:Choice>
                <mc:Fallback>
                  <p:oleObj name="Equation" r:id="rId12" imgW="444114" imgH="215713" progId="Equation.3">
                    <p:embed/>
                    <p:pic>
                      <p:nvPicPr>
                        <p:cNvPr id="0"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00" y="1821"/>
                          <a:ext cx="627" cy="3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23" name="Line 21"/>
            <p:cNvSpPr>
              <a:spLocks noChangeShapeType="1"/>
            </p:cNvSpPr>
            <p:nvPr/>
          </p:nvSpPr>
          <p:spPr bwMode="auto">
            <a:xfrm>
              <a:off x="4320" y="1963"/>
              <a:ext cx="2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GB"/>
            </a:p>
          </p:txBody>
        </p:sp>
      </p:grpSp>
      <p:sp>
        <p:nvSpPr>
          <p:cNvPr id="5141" name="Line 22"/>
          <p:cNvSpPr>
            <a:spLocks noChangeShapeType="1"/>
          </p:cNvSpPr>
          <p:nvPr/>
        </p:nvSpPr>
        <p:spPr bwMode="auto">
          <a:xfrm flipH="1" flipV="1">
            <a:off x="2571379" y="4564410"/>
            <a:ext cx="269875" cy="7143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graphicFrame>
        <p:nvGraphicFramePr>
          <p:cNvPr id="5127" name="Object 23"/>
          <p:cNvGraphicFramePr>
            <a:graphicFrameLocks noChangeAspect="1"/>
          </p:cNvGraphicFramePr>
          <p:nvPr>
            <p:extLst>
              <p:ext uri="{D42A27DB-BD31-4B8C-83A1-F6EECF244321}">
                <p14:modId xmlns:p14="http://schemas.microsoft.com/office/powerpoint/2010/main" val="3913585012"/>
              </p:ext>
            </p:extLst>
          </p:nvPr>
        </p:nvGraphicFramePr>
        <p:xfrm>
          <a:off x="7789662" y="3473228"/>
          <a:ext cx="2332038" cy="504825"/>
        </p:xfrm>
        <a:graphic>
          <a:graphicData uri="http://schemas.openxmlformats.org/presentationml/2006/ole">
            <mc:AlternateContent xmlns:mc="http://schemas.openxmlformats.org/markup-compatibility/2006">
              <mc:Choice xmlns:v="urn:schemas-microsoft-com:vml" Requires="v">
                <p:oleObj name="Equation" r:id="rId14" imgW="1054100" imgH="228600" progId="Equation.3">
                  <p:embed/>
                </p:oleObj>
              </mc:Choice>
              <mc:Fallback>
                <p:oleObj name="Equation" r:id="rId14" imgW="1054100" imgH="228600" progId="Equation.3">
                  <p:embed/>
                  <p:pic>
                    <p:nvPicPr>
                      <p:cNvPr id="0" name="Object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789662" y="3473228"/>
                        <a:ext cx="2332038"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42" name="Text Box 25"/>
          <p:cNvSpPr txBox="1">
            <a:spLocks noChangeArrowheads="1"/>
          </p:cNvSpPr>
          <p:nvPr/>
        </p:nvSpPr>
        <p:spPr bwMode="auto">
          <a:xfrm>
            <a:off x="2045916" y="5293072"/>
            <a:ext cx="3402012" cy="584200"/>
          </a:xfrm>
          <a:prstGeom prst="rect">
            <a:avLst/>
          </a:prstGeom>
          <a:solidFill>
            <a:srgbClr val="FFFF00"/>
          </a:solidFill>
          <a:ln w="9525" algn="ctr">
            <a:solidFill>
              <a:schemeClr val="tx1"/>
            </a:solidFill>
            <a:miter lim="800000"/>
            <a:headEnd/>
            <a:tailEnd/>
          </a:ln>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a:t>This is just a characteristic of the airfoil</a:t>
            </a:r>
          </a:p>
        </p:txBody>
      </p:sp>
      <p:graphicFrame>
        <p:nvGraphicFramePr>
          <p:cNvPr id="12298" name="Object 27"/>
          <p:cNvGraphicFramePr>
            <a:graphicFrameLocks noChangeAspect="1"/>
          </p:cNvGraphicFramePr>
          <p:nvPr>
            <p:extLst>
              <p:ext uri="{D42A27DB-BD31-4B8C-83A1-F6EECF244321}">
                <p14:modId xmlns:p14="http://schemas.microsoft.com/office/powerpoint/2010/main" val="784392711"/>
              </p:ext>
            </p:extLst>
          </p:nvPr>
        </p:nvGraphicFramePr>
        <p:xfrm>
          <a:off x="1847478" y="2475259"/>
          <a:ext cx="681038" cy="419100"/>
        </p:xfrm>
        <a:graphic>
          <a:graphicData uri="http://schemas.openxmlformats.org/presentationml/2006/ole">
            <mc:AlternateContent xmlns:mc="http://schemas.openxmlformats.org/markup-compatibility/2006">
              <mc:Choice xmlns:v="urn:schemas-microsoft-com:vml" Requires="v">
                <p:oleObj name="Equation" r:id="rId16" imgW="368300" imgH="228600" progId="Equation.3">
                  <p:embed/>
                </p:oleObj>
              </mc:Choice>
              <mc:Fallback>
                <p:oleObj name="Equation" r:id="rId16" imgW="368300" imgH="228600" progId="Equation.3">
                  <p:embed/>
                  <p:pic>
                    <p:nvPicPr>
                      <p:cNvPr id="0" name="Object 2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47478" y="2475259"/>
                        <a:ext cx="681038"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9" name="Line 28"/>
          <p:cNvSpPr>
            <a:spLocks noChangeShapeType="1"/>
          </p:cNvSpPr>
          <p:nvPr/>
        </p:nvSpPr>
        <p:spPr bwMode="auto">
          <a:xfrm>
            <a:off x="2228478" y="2932459"/>
            <a:ext cx="827088" cy="623888"/>
          </a:xfrm>
          <a:prstGeom prst="line">
            <a:avLst/>
          </a:prstGeom>
          <a:noFill/>
          <a:ln w="9525">
            <a:solidFill>
              <a:schemeClr val="tx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cxnSp>
        <p:nvCxnSpPr>
          <p:cNvPr id="5144" name="AutoShape 32"/>
          <p:cNvCxnSpPr>
            <a:cxnSpLocks noChangeShapeType="1"/>
          </p:cNvCxnSpPr>
          <p:nvPr/>
        </p:nvCxnSpPr>
        <p:spPr bwMode="auto">
          <a:xfrm flipH="1">
            <a:off x="10394751" y="3043014"/>
            <a:ext cx="885825" cy="769938"/>
          </a:xfrm>
          <a:prstGeom prst="bentConnector3">
            <a:avLst>
              <a:gd name="adj1" fmla="val -25625"/>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graphicFrame>
        <p:nvGraphicFramePr>
          <p:cNvPr id="5129" name="Object 33"/>
          <p:cNvGraphicFramePr>
            <a:graphicFrameLocks noChangeAspect="1"/>
          </p:cNvGraphicFramePr>
          <p:nvPr>
            <p:extLst>
              <p:ext uri="{D42A27DB-BD31-4B8C-83A1-F6EECF244321}">
                <p14:modId xmlns:p14="http://schemas.microsoft.com/office/powerpoint/2010/main" val="64110429"/>
              </p:ext>
            </p:extLst>
          </p:nvPr>
        </p:nvGraphicFramePr>
        <p:xfrm>
          <a:off x="7824587" y="4654327"/>
          <a:ext cx="2736850" cy="495300"/>
        </p:xfrm>
        <a:graphic>
          <a:graphicData uri="http://schemas.openxmlformats.org/presentationml/2006/ole">
            <mc:AlternateContent xmlns:mc="http://schemas.openxmlformats.org/markup-compatibility/2006">
              <mc:Choice xmlns:v="urn:schemas-microsoft-com:vml" Requires="v">
                <p:oleObj name="Equation" r:id="rId18" imgW="1257300" imgH="228600" progId="Equation.3">
                  <p:embed/>
                </p:oleObj>
              </mc:Choice>
              <mc:Fallback>
                <p:oleObj name="Equation" r:id="rId18" imgW="1257300" imgH="228600" progId="Equation.3">
                  <p:embed/>
                  <p:pic>
                    <p:nvPicPr>
                      <p:cNvPr id="0" name="Object 3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824587" y="4654327"/>
                        <a:ext cx="27368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48" name="AutoShape 39"/>
          <p:cNvSpPr>
            <a:spLocks noChangeArrowheads="1"/>
          </p:cNvSpPr>
          <p:nvPr/>
        </p:nvSpPr>
        <p:spPr bwMode="auto">
          <a:xfrm>
            <a:off x="8904087" y="4028972"/>
            <a:ext cx="366960" cy="504587"/>
          </a:xfrm>
          <a:prstGeom prst="downArrow">
            <a:avLst>
              <a:gd name="adj1" fmla="val 50000"/>
              <a:gd name="adj2" fmla="val 58197"/>
            </a:avLst>
          </a:prstGeom>
          <a:solidFill>
            <a:srgbClr val="FFFF00"/>
          </a:solidFill>
          <a:ln w="9525" algn="ctr">
            <a:solidFill>
              <a:schemeClr val="tx1"/>
            </a:solidFill>
            <a:miter lim="800000"/>
            <a:headEnd/>
            <a:tailEnd/>
          </a:ln>
        </p:spPr>
        <p:txBody>
          <a:bodyPr wrap="none"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5151" name="Oval 33"/>
          <p:cNvSpPr>
            <a:spLocks noChangeArrowheads="1"/>
          </p:cNvSpPr>
          <p:nvPr/>
        </p:nvSpPr>
        <p:spPr bwMode="auto">
          <a:xfrm>
            <a:off x="1891929" y="3977035"/>
            <a:ext cx="792163" cy="720725"/>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nl-NL" sz="2200"/>
          </a:p>
        </p:txBody>
      </p:sp>
      <p:graphicFrame>
        <p:nvGraphicFramePr>
          <p:cNvPr id="2" name="Object 1"/>
          <p:cNvGraphicFramePr>
            <a:graphicFrameLocks noChangeAspect="1"/>
          </p:cNvGraphicFramePr>
          <p:nvPr>
            <p:extLst>
              <p:ext uri="{D42A27DB-BD31-4B8C-83A1-F6EECF244321}">
                <p14:modId xmlns:p14="http://schemas.microsoft.com/office/powerpoint/2010/main" val="4172770650"/>
              </p:ext>
            </p:extLst>
          </p:nvPr>
        </p:nvGraphicFramePr>
        <p:xfrm>
          <a:off x="7929363" y="5309964"/>
          <a:ext cx="2487613" cy="495300"/>
        </p:xfrm>
        <a:graphic>
          <a:graphicData uri="http://schemas.openxmlformats.org/presentationml/2006/ole">
            <mc:AlternateContent xmlns:mc="http://schemas.openxmlformats.org/markup-compatibility/2006">
              <mc:Choice xmlns:v="urn:schemas-microsoft-com:vml" Requires="v">
                <p:oleObj name="Equation" r:id="rId20" imgW="1143000" imgH="228600" progId="Equation.DSMT4">
                  <p:embed/>
                </p:oleObj>
              </mc:Choice>
              <mc:Fallback>
                <p:oleObj name="Equation" r:id="rId20" imgW="1143000" imgH="228600" progId="Equation.DSMT4">
                  <p:embed/>
                  <p:pic>
                    <p:nvPicPr>
                      <p:cNvPr id="0" name="Object 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929363" y="5309964"/>
                        <a:ext cx="2487613" cy="4953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2305" name="Group 3"/>
          <p:cNvGrpSpPr>
            <a:grpSpLocks/>
          </p:cNvGrpSpPr>
          <p:nvPr/>
        </p:nvGrpSpPr>
        <p:grpSpPr bwMode="auto">
          <a:xfrm>
            <a:off x="1853828" y="1179859"/>
            <a:ext cx="3594100" cy="3267076"/>
            <a:chOff x="990600" y="1557337"/>
            <a:chExt cx="3162568" cy="2923074"/>
          </a:xfrm>
        </p:grpSpPr>
        <p:sp>
          <p:nvSpPr>
            <p:cNvPr id="12306" name="Line 3"/>
            <p:cNvSpPr>
              <a:spLocks noChangeShapeType="1"/>
            </p:cNvSpPr>
            <p:nvPr/>
          </p:nvSpPr>
          <p:spPr bwMode="auto">
            <a:xfrm flipV="1">
              <a:off x="2047875" y="1727200"/>
              <a:ext cx="0" cy="26797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12307" name="Line 4"/>
            <p:cNvSpPr>
              <a:spLocks noChangeShapeType="1"/>
            </p:cNvSpPr>
            <p:nvPr/>
          </p:nvSpPr>
          <p:spPr bwMode="auto">
            <a:xfrm rot="5400000" flipV="1">
              <a:off x="2565400" y="2633663"/>
              <a:ext cx="0" cy="31496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graphicFrame>
          <p:nvGraphicFramePr>
            <p:cNvPr id="12308" name="Object 6"/>
            <p:cNvGraphicFramePr>
              <a:graphicFrameLocks noChangeAspect="1"/>
            </p:cNvGraphicFramePr>
            <p:nvPr/>
          </p:nvGraphicFramePr>
          <p:xfrm>
            <a:off x="1636713" y="1738313"/>
            <a:ext cx="377825" cy="395287"/>
          </p:xfrm>
          <a:graphic>
            <a:graphicData uri="http://schemas.openxmlformats.org/presentationml/2006/ole">
              <mc:AlternateContent xmlns:mc="http://schemas.openxmlformats.org/markup-compatibility/2006">
                <mc:Choice xmlns:v="urn:schemas-microsoft-com:vml" Requires="v">
                  <p:oleObj name="Equation" r:id="rId22" imgW="203024" imgH="215713" progId="Equation.3">
                    <p:embed/>
                  </p:oleObj>
                </mc:Choice>
                <mc:Fallback>
                  <p:oleObj name="Equation" r:id="rId22" imgW="203024" imgH="215713" progId="Equation.3">
                    <p:embed/>
                    <p:pic>
                      <p:nvPicPr>
                        <p:cNvPr id="0" name="Object 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636713" y="1738313"/>
                          <a:ext cx="377825" cy="395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09" name="Line 11"/>
            <p:cNvSpPr>
              <a:spLocks noChangeShapeType="1"/>
            </p:cNvSpPr>
            <p:nvPr/>
          </p:nvSpPr>
          <p:spPr bwMode="auto">
            <a:xfrm flipV="1">
              <a:off x="1443038" y="2413000"/>
              <a:ext cx="1976437" cy="17954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12310" name="Line 12"/>
            <p:cNvSpPr>
              <a:spLocks noChangeShapeType="1"/>
            </p:cNvSpPr>
            <p:nvPr/>
          </p:nvSpPr>
          <p:spPr bwMode="auto">
            <a:xfrm>
              <a:off x="2235200" y="3327400"/>
              <a:ext cx="806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12311" name="Arc 13"/>
            <p:cNvSpPr>
              <a:spLocks/>
            </p:cNvSpPr>
            <p:nvPr/>
          </p:nvSpPr>
          <p:spPr bwMode="auto">
            <a:xfrm>
              <a:off x="2540000" y="3000528"/>
              <a:ext cx="454025" cy="302906"/>
            </a:xfrm>
            <a:custGeom>
              <a:avLst/>
              <a:gdLst>
                <a:gd name="T0" fmla="*/ 2147483647 w 21599"/>
                <a:gd name="T1" fmla="*/ 0 h 18002"/>
                <a:gd name="T2" fmla="*/ 2147483647 w 21599"/>
                <a:gd name="T3" fmla="*/ 2147483647 h 18002"/>
                <a:gd name="T4" fmla="*/ 0 w 21599"/>
                <a:gd name="T5" fmla="*/ 2147483647 h 18002"/>
                <a:gd name="T6" fmla="*/ 0 60000 65536"/>
                <a:gd name="T7" fmla="*/ 0 60000 65536"/>
                <a:gd name="T8" fmla="*/ 0 60000 65536"/>
                <a:gd name="T9" fmla="*/ 0 w 21599"/>
                <a:gd name="T10" fmla="*/ 0 h 18002"/>
                <a:gd name="T11" fmla="*/ 21599 w 21599"/>
                <a:gd name="T12" fmla="*/ 18002 h 18002"/>
              </a:gdLst>
              <a:ahLst/>
              <a:cxnLst>
                <a:cxn ang="T6">
                  <a:pos x="T0" y="T1"/>
                </a:cxn>
                <a:cxn ang="T7">
                  <a:pos x="T2" y="T3"/>
                </a:cxn>
                <a:cxn ang="T8">
                  <a:pos x="T4" y="T5"/>
                </a:cxn>
              </a:cxnLst>
              <a:rect l="T9" t="T10" r="T11" b="T12"/>
              <a:pathLst>
                <a:path w="21599" h="18002" fill="none" extrusionOk="0">
                  <a:moveTo>
                    <a:pt x="11936" y="-1"/>
                  </a:moveTo>
                  <a:cubicBezTo>
                    <a:pt x="17927" y="3972"/>
                    <a:pt x="21549" y="10664"/>
                    <a:pt x="21599" y="17852"/>
                  </a:cubicBezTo>
                </a:path>
                <a:path w="21599" h="18002" stroke="0" extrusionOk="0">
                  <a:moveTo>
                    <a:pt x="11936" y="-1"/>
                  </a:moveTo>
                  <a:cubicBezTo>
                    <a:pt x="17927" y="3972"/>
                    <a:pt x="21549" y="10664"/>
                    <a:pt x="21599" y="17852"/>
                  </a:cubicBezTo>
                  <a:lnTo>
                    <a:pt x="0" y="18002"/>
                  </a:lnTo>
                  <a:lnTo>
                    <a:pt x="11936" y="-1"/>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GB"/>
            </a:p>
          </p:txBody>
        </p:sp>
        <p:graphicFrame>
          <p:nvGraphicFramePr>
            <p:cNvPr id="12312" name="Object 14"/>
            <p:cNvGraphicFramePr>
              <a:graphicFrameLocks noChangeAspect="1"/>
            </p:cNvGraphicFramePr>
            <p:nvPr>
              <p:extLst>
                <p:ext uri="{D42A27DB-BD31-4B8C-83A1-F6EECF244321}">
                  <p14:modId xmlns:p14="http://schemas.microsoft.com/office/powerpoint/2010/main" val="4020525539"/>
                </p:ext>
              </p:extLst>
            </p:nvPr>
          </p:nvGraphicFramePr>
          <p:xfrm>
            <a:off x="3301826" y="2766817"/>
            <a:ext cx="609600" cy="566738"/>
          </p:xfrm>
          <a:graphic>
            <a:graphicData uri="http://schemas.openxmlformats.org/presentationml/2006/ole">
              <mc:AlternateContent xmlns:mc="http://schemas.openxmlformats.org/markup-compatibility/2006">
                <mc:Choice xmlns:v="urn:schemas-microsoft-com:vml" Requires="v">
                  <p:oleObj name="Equation" r:id="rId24" imgW="253890" imgH="241195" progId="Equation.3">
                    <p:embed/>
                  </p:oleObj>
                </mc:Choice>
                <mc:Fallback>
                  <p:oleObj name="Equation" r:id="rId24" imgW="253890" imgH="241195" progId="Equation.3">
                    <p:embed/>
                    <p:pic>
                      <p:nvPicPr>
                        <p:cNvPr id="0" name="Object 1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301826" y="2766817"/>
                          <a:ext cx="609600" cy="566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13" name="Line 34"/>
            <p:cNvSpPr>
              <a:spLocks noChangeShapeType="1"/>
            </p:cNvSpPr>
            <p:nvPr/>
          </p:nvSpPr>
          <p:spPr bwMode="auto">
            <a:xfrm flipV="1">
              <a:off x="1458913" y="1704975"/>
              <a:ext cx="1609725" cy="25019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12314" name="Line 35"/>
            <p:cNvSpPr>
              <a:spLocks noChangeShapeType="1"/>
            </p:cNvSpPr>
            <p:nvPr/>
          </p:nvSpPr>
          <p:spPr bwMode="auto">
            <a:xfrm>
              <a:off x="2581275" y="2260600"/>
              <a:ext cx="806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12315" name="Arc 36"/>
            <p:cNvSpPr>
              <a:spLocks/>
            </p:cNvSpPr>
            <p:nvPr/>
          </p:nvSpPr>
          <p:spPr bwMode="auto">
            <a:xfrm>
              <a:off x="2657475" y="1989291"/>
              <a:ext cx="454025" cy="302906"/>
            </a:xfrm>
            <a:custGeom>
              <a:avLst/>
              <a:gdLst>
                <a:gd name="T0" fmla="*/ 2147483647 w 21599"/>
                <a:gd name="T1" fmla="*/ 0 h 18002"/>
                <a:gd name="T2" fmla="*/ 2147483647 w 21599"/>
                <a:gd name="T3" fmla="*/ 2147483647 h 18002"/>
                <a:gd name="T4" fmla="*/ 0 w 21599"/>
                <a:gd name="T5" fmla="*/ 2147483647 h 18002"/>
                <a:gd name="T6" fmla="*/ 0 60000 65536"/>
                <a:gd name="T7" fmla="*/ 0 60000 65536"/>
                <a:gd name="T8" fmla="*/ 0 60000 65536"/>
                <a:gd name="T9" fmla="*/ 0 w 21599"/>
                <a:gd name="T10" fmla="*/ 0 h 18002"/>
                <a:gd name="T11" fmla="*/ 21599 w 21599"/>
                <a:gd name="T12" fmla="*/ 18002 h 18002"/>
              </a:gdLst>
              <a:ahLst/>
              <a:cxnLst>
                <a:cxn ang="T6">
                  <a:pos x="T0" y="T1"/>
                </a:cxn>
                <a:cxn ang="T7">
                  <a:pos x="T2" y="T3"/>
                </a:cxn>
                <a:cxn ang="T8">
                  <a:pos x="T4" y="T5"/>
                </a:cxn>
              </a:cxnLst>
              <a:rect l="T9" t="T10" r="T11" b="T12"/>
              <a:pathLst>
                <a:path w="21599" h="18002" fill="none" extrusionOk="0">
                  <a:moveTo>
                    <a:pt x="11936" y="-1"/>
                  </a:moveTo>
                  <a:cubicBezTo>
                    <a:pt x="17927" y="3972"/>
                    <a:pt x="21549" y="10664"/>
                    <a:pt x="21599" y="17852"/>
                  </a:cubicBezTo>
                </a:path>
                <a:path w="21599" h="18002" stroke="0" extrusionOk="0">
                  <a:moveTo>
                    <a:pt x="11936" y="-1"/>
                  </a:moveTo>
                  <a:cubicBezTo>
                    <a:pt x="17927" y="3972"/>
                    <a:pt x="21549" y="10664"/>
                    <a:pt x="21599" y="17852"/>
                  </a:cubicBezTo>
                  <a:lnTo>
                    <a:pt x="0" y="18002"/>
                  </a:lnTo>
                  <a:lnTo>
                    <a:pt x="11936" y="-1"/>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GB"/>
            </a:p>
          </p:txBody>
        </p:sp>
        <p:graphicFrame>
          <p:nvGraphicFramePr>
            <p:cNvPr id="12316" name="Object 37"/>
            <p:cNvGraphicFramePr>
              <a:graphicFrameLocks noChangeAspect="1"/>
            </p:cNvGraphicFramePr>
            <p:nvPr>
              <p:extLst>
                <p:ext uri="{D42A27DB-BD31-4B8C-83A1-F6EECF244321}">
                  <p14:modId xmlns:p14="http://schemas.microsoft.com/office/powerpoint/2010/main" val="1721448560"/>
                </p:ext>
              </p:extLst>
            </p:nvPr>
          </p:nvGraphicFramePr>
          <p:xfrm>
            <a:off x="3040599" y="1755169"/>
            <a:ext cx="551005" cy="520911"/>
          </p:xfrm>
          <a:graphic>
            <a:graphicData uri="http://schemas.openxmlformats.org/presentationml/2006/ole">
              <mc:AlternateContent xmlns:mc="http://schemas.openxmlformats.org/markup-compatibility/2006">
                <mc:Choice xmlns:v="urn:schemas-microsoft-com:vml" Requires="v">
                  <p:oleObj name="Equation" r:id="rId26" imgW="228600" imgH="241300" progId="Equation.3">
                    <p:embed/>
                  </p:oleObj>
                </mc:Choice>
                <mc:Fallback>
                  <p:oleObj name="Equation" r:id="rId26" imgW="228600" imgH="241300" progId="Equation.3">
                    <p:embed/>
                    <p:pic>
                      <p:nvPicPr>
                        <p:cNvPr id="0" name="Object 3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040599" y="1755169"/>
                          <a:ext cx="551005" cy="520911"/>
                        </a:xfrm>
                        <a:prstGeom prst="rect">
                          <a:avLst/>
                        </a:prstGeom>
                        <a:noFill/>
                        <a:ln>
                          <a:noFill/>
                        </a:ln>
                        <a:effectLst/>
                      </p:spPr>
                    </p:pic>
                  </p:oleObj>
                </mc:Fallback>
              </mc:AlternateContent>
            </a:graphicData>
          </a:graphic>
        </p:graphicFrame>
        <p:sp>
          <p:nvSpPr>
            <p:cNvPr id="12317" name="Freeform 40"/>
            <p:cNvSpPr>
              <a:spLocks/>
            </p:cNvSpPr>
            <p:nvPr/>
          </p:nvSpPr>
          <p:spPr bwMode="auto">
            <a:xfrm>
              <a:off x="3387725" y="2321720"/>
              <a:ext cx="450662" cy="303811"/>
            </a:xfrm>
            <a:custGeom>
              <a:avLst/>
              <a:gdLst>
                <a:gd name="T0" fmla="*/ 0 w 9898"/>
                <a:gd name="T1" fmla="*/ 2147483647 h 10025"/>
                <a:gd name="T2" fmla="*/ 2147483647 w 9898"/>
                <a:gd name="T3" fmla="*/ 2147483647 h 10025"/>
                <a:gd name="T4" fmla="*/ 2147483647 w 9898"/>
                <a:gd name="T5" fmla="*/ 2147483647 h 10025"/>
                <a:gd name="T6" fmla="*/ 2147483647 w 9898"/>
                <a:gd name="T7" fmla="*/ 2147483647 h 10025"/>
                <a:gd name="T8" fmla="*/ 2147483647 w 9898"/>
                <a:gd name="T9" fmla="*/ 2147483647 h 100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98" h="10025">
                  <a:moveTo>
                    <a:pt x="0" y="4748"/>
                  </a:moveTo>
                  <a:cubicBezTo>
                    <a:pt x="1557" y="1022"/>
                    <a:pt x="2250" y="1008"/>
                    <a:pt x="3270" y="335"/>
                  </a:cubicBezTo>
                  <a:cubicBezTo>
                    <a:pt x="4290" y="-338"/>
                    <a:pt x="5273" y="112"/>
                    <a:pt x="6119" y="708"/>
                  </a:cubicBezTo>
                  <a:cubicBezTo>
                    <a:pt x="6966" y="1304"/>
                    <a:pt x="7670" y="2348"/>
                    <a:pt x="8291" y="3913"/>
                  </a:cubicBezTo>
                  <a:cubicBezTo>
                    <a:pt x="8911" y="5478"/>
                    <a:pt x="9559" y="8758"/>
                    <a:pt x="9898" y="10025"/>
                  </a:cubicBez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square">
              <a:spAutoFit/>
            </a:bodyPr>
            <a:lstStyle/>
            <a:p>
              <a:endParaRPr lang="en-GB"/>
            </a:p>
          </p:txBody>
        </p:sp>
        <p:sp>
          <p:nvSpPr>
            <p:cNvPr id="12318" name="Freeform 41"/>
            <p:cNvSpPr>
              <a:spLocks/>
            </p:cNvSpPr>
            <p:nvPr/>
          </p:nvSpPr>
          <p:spPr bwMode="auto">
            <a:xfrm>
              <a:off x="3041650" y="1557337"/>
              <a:ext cx="413063" cy="311149"/>
            </a:xfrm>
            <a:custGeom>
              <a:avLst/>
              <a:gdLst>
                <a:gd name="T0" fmla="*/ 0 w 364"/>
                <a:gd name="T1" fmla="*/ 2147483647 h 148"/>
                <a:gd name="T2" fmla="*/ 2147483647 w 364"/>
                <a:gd name="T3" fmla="*/ 2147483647 h 148"/>
                <a:gd name="T4" fmla="*/ 2147483647 w 364"/>
                <a:gd name="T5" fmla="*/ 2147483647 h 148"/>
                <a:gd name="T6" fmla="*/ 2147483647 w 364"/>
                <a:gd name="T7" fmla="*/ 2147483647 h 148"/>
                <a:gd name="T8" fmla="*/ 2147483647 w 364"/>
                <a:gd name="T9" fmla="*/ 2147483647 h 148"/>
                <a:gd name="T10" fmla="*/ 0 60000 65536"/>
                <a:gd name="T11" fmla="*/ 0 60000 65536"/>
                <a:gd name="T12" fmla="*/ 0 60000 65536"/>
                <a:gd name="T13" fmla="*/ 0 60000 65536"/>
                <a:gd name="T14" fmla="*/ 0 60000 65536"/>
                <a:gd name="T15" fmla="*/ 0 w 364"/>
                <a:gd name="T16" fmla="*/ 0 h 148"/>
                <a:gd name="T17" fmla="*/ 364 w 364"/>
                <a:gd name="T18" fmla="*/ 148 h 148"/>
              </a:gdLst>
              <a:ahLst/>
              <a:cxnLst>
                <a:cxn ang="T10">
                  <a:pos x="T0" y="T1"/>
                </a:cxn>
                <a:cxn ang="T11">
                  <a:pos x="T2" y="T3"/>
                </a:cxn>
                <a:cxn ang="T12">
                  <a:pos x="T4" y="T5"/>
                </a:cxn>
                <a:cxn ang="T13">
                  <a:pos x="T6" y="T7"/>
                </a:cxn>
                <a:cxn ang="T14">
                  <a:pos x="T8" y="T9"/>
                </a:cxn>
              </a:cxnLst>
              <a:rect l="T15" t="T16" r="T17" b="T18"/>
              <a:pathLst>
                <a:path w="364" h="148">
                  <a:moveTo>
                    <a:pt x="0" y="83"/>
                  </a:moveTo>
                  <a:cubicBezTo>
                    <a:pt x="18" y="71"/>
                    <a:pt x="70" y="22"/>
                    <a:pt x="110" y="11"/>
                  </a:cubicBezTo>
                  <a:cubicBezTo>
                    <a:pt x="150" y="0"/>
                    <a:pt x="207" y="7"/>
                    <a:pt x="240" y="16"/>
                  </a:cubicBezTo>
                  <a:cubicBezTo>
                    <a:pt x="273" y="25"/>
                    <a:pt x="286" y="44"/>
                    <a:pt x="307" y="66"/>
                  </a:cubicBezTo>
                  <a:cubicBezTo>
                    <a:pt x="328" y="88"/>
                    <a:pt x="352" y="131"/>
                    <a:pt x="364" y="148"/>
                  </a:cubicBezTo>
                </a:path>
              </a:pathLst>
            </a:custGeom>
            <a:noFill/>
            <a:ln w="9525" cap="flat" cmpd="sng">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square">
              <a:spAutoFit/>
            </a:bodyPr>
            <a:lstStyle/>
            <a:p>
              <a:endParaRPr lang="en-GB"/>
            </a:p>
          </p:txBody>
        </p:sp>
        <p:graphicFrame>
          <p:nvGraphicFramePr>
            <p:cNvPr id="12319" name="Object 2"/>
            <p:cNvGraphicFramePr>
              <a:graphicFrameLocks noChangeAspect="1"/>
            </p:cNvGraphicFramePr>
            <p:nvPr/>
          </p:nvGraphicFramePr>
          <p:xfrm>
            <a:off x="3907105" y="4261402"/>
            <a:ext cx="246063" cy="219009"/>
          </p:xfrm>
          <a:graphic>
            <a:graphicData uri="http://schemas.openxmlformats.org/presentationml/2006/ole">
              <mc:AlternateContent xmlns:mc="http://schemas.openxmlformats.org/markup-compatibility/2006">
                <mc:Choice xmlns:v="urn:schemas-microsoft-com:vml" Requires="v">
                  <p:oleObj name="Equation" r:id="rId28" imgW="152334" imgH="139639" progId="Equation.DSMT4">
                    <p:embed/>
                  </p:oleObj>
                </mc:Choice>
                <mc:Fallback>
                  <p:oleObj name="Equation" r:id="rId28" imgW="152334" imgH="139639" progId="Equation.DSMT4">
                    <p:embed/>
                    <p:pic>
                      <p:nvPicPr>
                        <p:cNvPr id="0" name="Object 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907105" y="4261402"/>
                          <a:ext cx="246063" cy="21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6"/>
                                        </p:tgtEl>
                                        <p:attrNameLst>
                                          <p:attrName>style.visibility</p:attrName>
                                        </p:attrNameLst>
                                      </p:cBhvr>
                                      <p:to>
                                        <p:strVal val="visible"/>
                                      </p:to>
                                    </p:set>
                                  </p:childTnLst>
                                </p:cTn>
                              </p:par>
                            </p:childTnLst>
                          </p:cTn>
                        </p:par>
                        <p:par>
                          <p:cTn id="15" fill="hold" nodeType="withGroup">
                            <p:stCondLst>
                              <p:cond delay="0"/>
                            </p:stCondLst>
                            <p:childTnLst>
                              <p:par>
                                <p:cTn id="16" presetID="1" presetClass="entr" presetSubtype="0" fill="hold" nodeType="afterEffect">
                                  <p:stCondLst>
                                    <p:cond delay="0"/>
                                  </p:stCondLst>
                                  <p:childTnLst>
                                    <p:set>
                                      <p:cBhvr>
                                        <p:cTn id="17" dur="1" fill="hold">
                                          <p:stCondLst>
                                            <p:cond delay="0"/>
                                          </p:stCondLst>
                                        </p:cTn>
                                        <p:tgtEl>
                                          <p:spTgt spid="5140"/>
                                        </p:tgtEl>
                                        <p:attrNameLst>
                                          <p:attrName>style.visibility</p:attrName>
                                        </p:attrNameLst>
                                      </p:cBhvr>
                                      <p:to>
                                        <p:strVal val="visible"/>
                                      </p:to>
                                    </p:set>
                                  </p:childTnLst>
                                </p:cTn>
                              </p:par>
                            </p:childTnLst>
                          </p:cTn>
                        </p:par>
                        <p:par>
                          <p:cTn id="18" fill="hold" nodeType="withGroup">
                            <p:stCondLst>
                              <p:cond delay="0"/>
                            </p:stCondLst>
                            <p:childTnLst>
                              <p:par>
                                <p:cTn id="19" presetID="1" presetClass="entr" presetSubtype="0" fill="hold" nodeType="afterEffect">
                                  <p:stCondLst>
                                    <p:cond delay="0"/>
                                  </p:stCondLst>
                                  <p:childTnLst>
                                    <p:set>
                                      <p:cBhvr>
                                        <p:cTn id="20" dur="1" fill="hold">
                                          <p:stCondLst>
                                            <p:cond delay="0"/>
                                          </p:stCondLst>
                                        </p:cTn>
                                        <p:tgtEl>
                                          <p:spTgt spid="514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27"/>
                                        </p:tgtEl>
                                        <p:attrNameLst>
                                          <p:attrName>style.visibility</p:attrName>
                                        </p:attrNameLst>
                                      </p:cBhvr>
                                      <p:to>
                                        <p:strVal val="visible"/>
                                      </p:to>
                                    </p:set>
                                  </p:childTnLst>
                                </p:cTn>
                              </p:par>
                            </p:childTnLst>
                          </p:cTn>
                        </p:par>
                        <p:par>
                          <p:cTn id="23" fill="hold" nodeType="withGroup">
                            <p:stCondLst>
                              <p:cond delay="0"/>
                            </p:stCondLst>
                            <p:childTnLst>
                              <p:par>
                                <p:cTn id="24" presetID="1" presetClass="entr" presetSubtype="0" fill="hold" nodeType="afterEffect">
                                  <p:stCondLst>
                                    <p:cond delay="0"/>
                                  </p:stCondLst>
                                  <p:childTnLst>
                                    <p:set>
                                      <p:cBhvr>
                                        <p:cTn id="25" dur="1" fill="hold">
                                          <p:stCondLst>
                                            <p:cond delay="0"/>
                                          </p:stCondLst>
                                        </p:cTn>
                                        <p:tgtEl>
                                          <p:spTgt spid="512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148"/>
                                        </p:tgtEl>
                                        <p:attrNameLst>
                                          <p:attrName>style.visibility</p:attrName>
                                        </p:attrNameLst>
                                      </p:cBhvr>
                                      <p:to>
                                        <p:strVal val="visible"/>
                                      </p:to>
                                    </p:set>
                                  </p:childTnLst>
                                </p:cTn>
                              </p:par>
                            </p:childTnLst>
                          </p:cTn>
                        </p:par>
                        <p:par>
                          <p:cTn id="28" fill="hold" nodeType="withGroup">
                            <p:stCondLst>
                              <p:cond delay="0"/>
                            </p:stCondLst>
                            <p:childTnLst>
                              <p:par>
                                <p:cTn id="29" presetID="1" presetClass="entr" presetSubtype="0"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1" grpId="0" animBg="1"/>
      <p:bldP spid="5142" grpId="0" animBg="1"/>
      <p:bldP spid="5148" grpId="0" animBg="1"/>
      <p:bldP spid="515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15"/>
          <p:cNvGraphicFramePr>
            <a:graphicFrameLocks noChangeAspect="1"/>
          </p:cNvGraphicFramePr>
          <p:nvPr>
            <p:extLst>
              <p:ext uri="{D42A27DB-BD31-4B8C-83A1-F6EECF244321}">
                <p14:modId xmlns:p14="http://schemas.microsoft.com/office/powerpoint/2010/main" val="3650290913"/>
              </p:ext>
            </p:extLst>
          </p:nvPr>
        </p:nvGraphicFramePr>
        <p:xfrm>
          <a:off x="5549652" y="3457576"/>
          <a:ext cx="2938931" cy="520700"/>
        </p:xfrm>
        <a:graphic>
          <a:graphicData uri="http://schemas.openxmlformats.org/presentationml/2006/ole">
            <mc:AlternateContent xmlns:mc="http://schemas.openxmlformats.org/markup-compatibility/2006">
              <mc:Choice xmlns:v="urn:schemas-microsoft-com:vml" Requires="v">
                <p:oleObj name="Equation" r:id="rId4" imgW="1422400" imgH="228600" progId="Equation.DSMT4">
                  <p:embed/>
                </p:oleObj>
              </mc:Choice>
              <mc:Fallback>
                <p:oleObj name="Equation" r:id="rId4" imgW="1422400" imgH="228600" progId="Equation.DSMT4">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49652" y="3457576"/>
                        <a:ext cx="2938931" cy="520700"/>
                      </a:xfrm>
                      <a:prstGeom prst="rect">
                        <a:avLst/>
                      </a:prstGeom>
                      <a:noFill/>
                      <a:ln>
                        <a:noFill/>
                      </a:ln>
                      <a:effectLst/>
                    </p:spPr>
                  </p:pic>
                </p:oleObj>
              </mc:Fallback>
            </mc:AlternateContent>
          </a:graphicData>
        </a:graphic>
      </p:graphicFrame>
      <p:graphicFrame>
        <p:nvGraphicFramePr>
          <p:cNvPr id="6147" name="Object 23"/>
          <p:cNvGraphicFramePr>
            <a:graphicFrameLocks noChangeAspect="1"/>
          </p:cNvGraphicFramePr>
          <p:nvPr>
            <p:extLst>
              <p:ext uri="{D42A27DB-BD31-4B8C-83A1-F6EECF244321}">
                <p14:modId xmlns:p14="http://schemas.microsoft.com/office/powerpoint/2010/main" val="1736691294"/>
              </p:ext>
            </p:extLst>
          </p:nvPr>
        </p:nvGraphicFramePr>
        <p:xfrm>
          <a:off x="9154070" y="3217255"/>
          <a:ext cx="2582863" cy="1012825"/>
        </p:xfrm>
        <a:graphic>
          <a:graphicData uri="http://schemas.openxmlformats.org/presentationml/2006/ole">
            <mc:AlternateContent xmlns:mc="http://schemas.openxmlformats.org/markup-compatibility/2006">
              <mc:Choice xmlns:v="urn:schemas-microsoft-com:vml" Requires="v">
                <p:oleObj name="Equation" r:id="rId6" imgW="1129810" imgH="444307" progId="Equation.3">
                  <p:embed/>
                </p:oleObj>
              </mc:Choice>
              <mc:Fallback>
                <p:oleObj name="Equation" r:id="rId6" imgW="1129810" imgH="444307" progId="Equation.3">
                  <p:embed/>
                  <p:pic>
                    <p:nvPicPr>
                      <p:cNvPr id="0"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54070" y="3217255"/>
                        <a:ext cx="2582863" cy="1012825"/>
                      </a:xfrm>
                      <a:prstGeom prst="rect">
                        <a:avLst/>
                      </a:prstGeom>
                      <a:solidFill>
                        <a:schemeClr val="bg1"/>
                      </a:solidFill>
                      <a:ln w="28575">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6" name="Line 25"/>
          <p:cNvSpPr>
            <a:spLocks noChangeShapeType="1"/>
          </p:cNvSpPr>
          <p:nvPr/>
        </p:nvSpPr>
        <p:spPr bwMode="auto">
          <a:xfrm>
            <a:off x="8488583" y="3715158"/>
            <a:ext cx="609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GB"/>
          </a:p>
        </p:txBody>
      </p:sp>
      <p:sp>
        <p:nvSpPr>
          <p:cNvPr id="13317" name="Rectangle 30"/>
          <p:cNvSpPr>
            <a:spLocks noChangeArrowheads="1"/>
          </p:cNvSpPr>
          <p:nvPr/>
        </p:nvSpPr>
        <p:spPr bwMode="auto">
          <a:xfrm>
            <a:off x="767408" y="124398"/>
            <a:ext cx="109712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dirty="0">
                <a:solidFill>
                  <a:schemeClr val="bg2"/>
                </a:solidFill>
                <a:latin typeface="Bookman Old Style" pitchFamily="18" charset="0"/>
              </a:rPr>
              <a:t>Definition and evaluation of the wing trim angle (</a:t>
            </a:r>
            <a:r>
              <a:rPr lang="el-GR" altLang="nl-NL" sz="3200" dirty="0">
                <a:solidFill>
                  <a:schemeClr val="bg2"/>
                </a:solidFill>
                <a:latin typeface="Bookman Old Style" pitchFamily="18" charset="0"/>
              </a:rPr>
              <a:t>α</a:t>
            </a:r>
            <a:r>
              <a:rPr lang="nl-NL" altLang="nl-NL" sz="3200" baseline="-25000" dirty="0">
                <a:solidFill>
                  <a:schemeClr val="bg2"/>
                </a:solidFill>
                <a:latin typeface="Bookman Old Style" pitchFamily="18" charset="0"/>
              </a:rPr>
              <a:t>trim</a:t>
            </a:r>
            <a:r>
              <a:rPr lang="nl-NL" altLang="nl-NL" sz="3200" dirty="0">
                <a:solidFill>
                  <a:schemeClr val="bg2"/>
                </a:solidFill>
                <a:latin typeface="Bookman Old Style" pitchFamily="18" charset="0"/>
              </a:rPr>
              <a:t>)</a:t>
            </a:r>
            <a:endParaRPr lang="el-GR" altLang="nl-NL" sz="3200" dirty="0">
              <a:solidFill>
                <a:schemeClr val="bg2"/>
              </a:solidFill>
              <a:latin typeface="Bookman Old Style" pitchFamily="18" charset="0"/>
            </a:endParaRPr>
          </a:p>
        </p:txBody>
      </p:sp>
      <p:sp>
        <p:nvSpPr>
          <p:cNvPr id="13318" name="Text Box 35"/>
          <p:cNvSpPr txBox="1">
            <a:spLocks noChangeArrowheads="1"/>
          </p:cNvSpPr>
          <p:nvPr/>
        </p:nvSpPr>
        <p:spPr bwMode="auto">
          <a:xfrm>
            <a:off x="5567339" y="1119189"/>
            <a:ext cx="4895850" cy="584200"/>
          </a:xfrm>
          <a:prstGeom prst="rect">
            <a:avLst/>
          </a:prstGeom>
          <a:noFill/>
          <a:ln w="19050" algn="ctr">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1600" dirty="0"/>
              <a:t>α</a:t>
            </a:r>
            <a:r>
              <a:rPr lang="en-US" altLang="nl-NL" sz="1600" baseline="-25000" dirty="0"/>
              <a:t>trim</a:t>
            </a:r>
            <a:r>
              <a:rPr lang="en-US" altLang="nl-NL" sz="1600" dirty="0"/>
              <a:t> is the angle of attack at which the wing has to fly in order to deliver the design lift coefficient </a:t>
            </a:r>
            <a:r>
              <a:rPr lang="en-US" altLang="nl-NL" sz="1600" dirty="0" err="1"/>
              <a:t>C</a:t>
            </a:r>
            <a:r>
              <a:rPr lang="en-US" altLang="nl-NL" sz="1600" baseline="-25000" dirty="0" err="1"/>
              <a:t>Ldes</a:t>
            </a:r>
            <a:r>
              <a:rPr lang="en-US" altLang="nl-NL" sz="1600" dirty="0"/>
              <a:t>. </a:t>
            </a:r>
          </a:p>
        </p:txBody>
      </p:sp>
      <p:sp>
        <p:nvSpPr>
          <p:cNvPr id="6159" name="Rectangle 36"/>
          <p:cNvSpPr>
            <a:spLocks noChangeArrowheads="1"/>
          </p:cNvSpPr>
          <p:nvPr/>
        </p:nvSpPr>
        <p:spPr bwMode="auto">
          <a:xfrm>
            <a:off x="5663952" y="5110385"/>
            <a:ext cx="4919662" cy="830263"/>
          </a:xfrm>
          <a:prstGeom prst="rect">
            <a:avLst/>
          </a:prstGeom>
          <a:solidFill>
            <a:srgbClr val="FFFF00"/>
          </a:solidFill>
          <a:ln w="9525" algn="ctr">
            <a:solidFill>
              <a:schemeClr val="tx1"/>
            </a:solidFill>
            <a:miter lim="800000"/>
            <a:headEnd/>
            <a:tailEnd/>
          </a:ln>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1600" dirty="0"/>
              <a:t>The wing, due to its finite length, has to be set at a </a:t>
            </a:r>
            <a:r>
              <a:rPr lang="en-US" altLang="nl-NL" sz="1600" b="1" dirty="0"/>
              <a:t>higher angle of attack</a:t>
            </a:r>
            <a:r>
              <a:rPr lang="en-US" altLang="nl-NL" sz="1600" dirty="0"/>
              <a:t> than the airfoil. The lower the lift curve slope the higher the trim angle</a:t>
            </a:r>
          </a:p>
        </p:txBody>
      </p:sp>
      <p:graphicFrame>
        <p:nvGraphicFramePr>
          <p:cNvPr id="6148" name="Object 38"/>
          <p:cNvGraphicFramePr>
            <a:graphicFrameLocks noChangeAspect="1"/>
          </p:cNvGraphicFramePr>
          <p:nvPr>
            <p:extLst>
              <p:ext uri="{D42A27DB-BD31-4B8C-83A1-F6EECF244321}">
                <p14:modId xmlns:p14="http://schemas.microsoft.com/office/powerpoint/2010/main" val="4147154662"/>
              </p:ext>
            </p:extLst>
          </p:nvPr>
        </p:nvGraphicFramePr>
        <p:xfrm>
          <a:off x="5567339" y="2583694"/>
          <a:ext cx="2487613" cy="495300"/>
        </p:xfrm>
        <a:graphic>
          <a:graphicData uri="http://schemas.openxmlformats.org/presentationml/2006/ole">
            <mc:AlternateContent xmlns:mc="http://schemas.openxmlformats.org/markup-compatibility/2006">
              <mc:Choice xmlns:v="urn:schemas-microsoft-com:vml" Requires="v">
                <p:oleObj name="Equation" r:id="rId8" imgW="1143000" imgH="228600" progId="Equation.DSMT4">
                  <p:embed/>
                </p:oleObj>
              </mc:Choice>
              <mc:Fallback>
                <p:oleObj name="Equation" r:id="rId8" imgW="1143000" imgH="228600" progId="Equation.DSMT4">
                  <p:embed/>
                  <p:pic>
                    <p:nvPicPr>
                      <p:cNvPr id="0" name="Object 3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67339" y="2583694"/>
                        <a:ext cx="2487613"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61" name="Group 41"/>
          <p:cNvGrpSpPr>
            <a:grpSpLocks/>
          </p:cNvGrpSpPr>
          <p:nvPr/>
        </p:nvGrpSpPr>
        <p:grpSpPr bwMode="auto">
          <a:xfrm>
            <a:off x="10992544" y="5110385"/>
            <a:ext cx="858838" cy="754062"/>
            <a:chOff x="4988" y="3294"/>
            <a:chExt cx="541" cy="475"/>
          </a:xfrm>
        </p:grpSpPr>
        <p:sp>
          <p:nvSpPr>
            <p:cNvPr id="13326" name="Rectangle 43"/>
            <p:cNvSpPr>
              <a:spLocks noChangeArrowheads="1"/>
            </p:cNvSpPr>
            <p:nvPr/>
          </p:nvSpPr>
          <p:spPr bwMode="auto">
            <a:xfrm>
              <a:off x="5239" y="3294"/>
              <a:ext cx="2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a:t>**</a:t>
              </a:r>
            </a:p>
          </p:txBody>
        </p:sp>
        <p:pic>
          <p:nvPicPr>
            <p:cNvPr id="13327" name="Picture 44" descr="warning"/>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131454">
              <a:off x="4988" y="3384"/>
              <a:ext cx="432"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323" name="Group 40"/>
          <p:cNvGrpSpPr>
            <a:grpSpLocks/>
          </p:cNvGrpSpPr>
          <p:nvPr/>
        </p:nvGrpSpPr>
        <p:grpSpPr bwMode="auto">
          <a:xfrm>
            <a:off x="10920536" y="969964"/>
            <a:ext cx="754062" cy="733425"/>
            <a:chOff x="5088" y="1584"/>
            <a:chExt cx="475" cy="462"/>
          </a:xfrm>
        </p:grpSpPr>
        <p:pic>
          <p:nvPicPr>
            <p:cNvPr id="13324" name="Picture 41" descr="warning"/>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131454">
              <a:off x="5088" y="1661"/>
              <a:ext cx="432"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5" name="Rectangle 45"/>
            <p:cNvSpPr>
              <a:spLocks noChangeArrowheads="1"/>
            </p:cNvSpPr>
            <p:nvPr/>
          </p:nvSpPr>
          <p:spPr bwMode="auto">
            <a:xfrm>
              <a:off x="5360" y="1584"/>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a:t>*</a:t>
              </a:r>
            </a:p>
          </p:txBody>
        </p:sp>
      </p:grpSp>
      <p:grpSp>
        <p:nvGrpSpPr>
          <p:cNvPr id="42" name="Group 42"/>
          <p:cNvGrpSpPr>
            <a:grpSpLocks/>
          </p:cNvGrpSpPr>
          <p:nvPr/>
        </p:nvGrpSpPr>
        <p:grpSpPr bwMode="auto">
          <a:xfrm>
            <a:off x="1130052" y="1532285"/>
            <a:ext cx="3810000" cy="3656013"/>
            <a:chOff x="144" y="572"/>
            <a:chExt cx="2400" cy="2303"/>
          </a:xfrm>
        </p:grpSpPr>
        <p:sp>
          <p:nvSpPr>
            <p:cNvPr id="43" name="Line 2"/>
            <p:cNvSpPr>
              <a:spLocks noChangeShapeType="1"/>
            </p:cNvSpPr>
            <p:nvPr/>
          </p:nvSpPr>
          <p:spPr bwMode="auto">
            <a:xfrm flipV="1">
              <a:off x="823" y="915"/>
              <a:ext cx="0" cy="16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44" name="Line 3"/>
            <p:cNvSpPr>
              <a:spLocks noChangeShapeType="1"/>
            </p:cNvSpPr>
            <p:nvPr/>
          </p:nvSpPr>
          <p:spPr bwMode="auto">
            <a:xfrm rot="5400000" flipV="1">
              <a:off x="1221" y="1414"/>
              <a:ext cx="0" cy="212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45" name="Line 4"/>
            <p:cNvSpPr>
              <a:spLocks noChangeShapeType="1"/>
            </p:cNvSpPr>
            <p:nvPr/>
          </p:nvSpPr>
          <p:spPr bwMode="auto">
            <a:xfrm flipV="1">
              <a:off x="442" y="1071"/>
              <a:ext cx="1047" cy="140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GB"/>
            </a:p>
          </p:txBody>
        </p:sp>
        <p:graphicFrame>
          <p:nvGraphicFramePr>
            <p:cNvPr id="46" name="Object 5"/>
            <p:cNvGraphicFramePr>
              <a:graphicFrameLocks noChangeAspect="1"/>
            </p:cNvGraphicFramePr>
            <p:nvPr/>
          </p:nvGraphicFramePr>
          <p:xfrm>
            <a:off x="564" y="922"/>
            <a:ext cx="237" cy="249"/>
          </p:xfrm>
          <a:graphic>
            <a:graphicData uri="http://schemas.openxmlformats.org/presentationml/2006/ole">
              <mc:AlternateContent xmlns:mc="http://schemas.openxmlformats.org/markup-compatibility/2006">
                <mc:Choice xmlns:v="urn:schemas-microsoft-com:vml" Requires="v">
                  <p:oleObj name="Equation" r:id="rId11" imgW="203024" imgH="215713" progId="Equation.3">
                    <p:embed/>
                  </p:oleObj>
                </mc:Choice>
                <mc:Fallback>
                  <p:oleObj name="Equation" r:id="rId11" imgW="203024" imgH="215713" progId="Equation.3">
                    <p:embed/>
                    <p:pic>
                      <p:nvPicPr>
                        <p:cNvPr id="13331"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4" y="922"/>
                          <a:ext cx="237"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6"/>
            <p:cNvGraphicFramePr>
              <a:graphicFrameLocks noChangeAspect="1"/>
            </p:cNvGraphicFramePr>
            <p:nvPr/>
          </p:nvGraphicFramePr>
          <p:xfrm>
            <a:off x="1325" y="1395"/>
            <a:ext cx="217" cy="225"/>
          </p:xfrm>
          <a:graphic>
            <a:graphicData uri="http://schemas.openxmlformats.org/presentationml/2006/ole">
              <mc:AlternateContent xmlns:mc="http://schemas.openxmlformats.org/markup-compatibility/2006">
                <mc:Choice xmlns:v="urn:schemas-microsoft-com:vml" Requires="v">
                  <p:oleObj name="Equation" r:id="rId13" imgW="228600" imgH="241300" progId="Equation.3">
                    <p:embed/>
                  </p:oleObj>
                </mc:Choice>
                <mc:Fallback>
                  <p:oleObj name="Equation" r:id="rId13" imgW="228600" imgH="241300" progId="Equation.3">
                    <p:embed/>
                    <p:pic>
                      <p:nvPicPr>
                        <p:cNvPr id="13332"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25" y="1395"/>
                          <a:ext cx="217"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 name="Line 7"/>
            <p:cNvSpPr>
              <a:spLocks noChangeShapeType="1"/>
            </p:cNvSpPr>
            <p:nvPr/>
          </p:nvSpPr>
          <p:spPr bwMode="auto">
            <a:xfrm>
              <a:off x="981" y="1728"/>
              <a:ext cx="5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49" name="Arc 8"/>
            <p:cNvSpPr>
              <a:spLocks/>
            </p:cNvSpPr>
            <p:nvPr/>
          </p:nvSpPr>
          <p:spPr bwMode="auto">
            <a:xfrm>
              <a:off x="947" y="1528"/>
              <a:ext cx="286" cy="198"/>
            </a:xfrm>
            <a:custGeom>
              <a:avLst/>
              <a:gdLst>
                <a:gd name="T0" fmla="*/ 0 w 21599"/>
                <a:gd name="T1" fmla="*/ 0 h 15293"/>
                <a:gd name="T2" fmla="*/ 0 w 21599"/>
                <a:gd name="T3" fmla="*/ 0 h 15293"/>
                <a:gd name="T4" fmla="*/ 0 w 21599"/>
                <a:gd name="T5" fmla="*/ 0 h 15293"/>
                <a:gd name="T6" fmla="*/ 0 60000 65536"/>
                <a:gd name="T7" fmla="*/ 0 60000 65536"/>
                <a:gd name="T8" fmla="*/ 0 60000 65536"/>
                <a:gd name="T9" fmla="*/ 0 w 21599"/>
                <a:gd name="T10" fmla="*/ 0 h 15293"/>
                <a:gd name="T11" fmla="*/ 21599 w 21599"/>
                <a:gd name="T12" fmla="*/ 15293 h 15293"/>
              </a:gdLst>
              <a:ahLst/>
              <a:cxnLst>
                <a:cxn ang="T6">
                  <a:pos x="T0" y="T1"/>
                </a:cxn>
                <a:cxn ang="T7">
                  <a:pos x="T2" y="T3"/>
                </a:cxn>
                <a:cxn ang="T8">
                  <a:pos x="T4" y="T5"/>
                </a:cxn>
              </a:cxnLst>
              <a:rect l="T9" t="T10" r="T11" b="T12"/>
              <a:pathLst>
                <a:path w="21599" h="15293" fill="none" extrusionOk="0">
                  <a:moveTo>
                    <a:pt x="15253" y="0"/>
                  </a:moveTo>
                  <a:cubicBezTo>
                    <a:pt x="19280" y="4015"/>
                    <a:pt x="21560" y="9457"/>
                    <a:pt x="21599" y="15143"/>
                  </a:cubicBezTo>
                </a:path>
                <a:path w="21599" h="15293" stroke="0" extrusionOk="0">
                  <a:moveTo>
                    <a:pt x="15253" y="0"/>
                  </a:moveTo>
                  <a:cubicBezTo>
                    <a:pt x="19280" y="4015"/>
                    <a:pt x="21560" y="9457"/>
                    <a:pt x="21599" y="15143"/>
                  </a:cubicBezTo>
                  <a:lnTo>
                    <a:pt x="0" y="15293"/>
                  </a:lnTo>
                  <a:lnTo>
                    <a:pt x="15253"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GB"/>
            </a:p>
          </p:txBody>
        </p:sp>
        <p:sp>
          <p:nvSpPr>
            <p:cNvPr id="50" name="Line 10"/>
            <p:cNvSpPr>
              <a:spLocks noChangeShapeType="1"/>
            </p:cNvSpPr>
            <p:nvPr/>
          </p:nvSpPr>
          <p:spPr bwMode="auto">
            <a:xfrm flipV="1">
              <a:off x="442" y="1542"/>
              <a:ext cx="1536" cy="9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51" name="Line 11"/>
            <p:cNvSpPr>
              <a:spLocks noChangeShapeType="1"/>
            </p:cNvSpPr>
            <p:nvPr/>
          </p:nvSpPr>
          <p:spPr bwMode="auto">
            <a:xfrm>
              <a:off x="1203" y="2009"/>
              <a:ext cx="5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52" name="Arc 12"/>
            <p:cNvSpPr>
              <a:spLocks/>
            </p:cNvSpPr>
            <p:nvPr/>
          </p:nvSpPr>
          <p:spPr bwMode="auto">
            <a:xfrm>
              <a:off x="1377" y="1793"/>
              <a:ext cx="285" cy="210"/>
            </a:xfrm>
            <a:custGeom>
              <a:avLst/>
              <a:gdLst>
                <a:gd name="T0" fmla="*/ 0 w 21600"/>
                <a:gd name="T1" fmla="*/ 0 h 16219"/>
                <a:gd name="T2" fmla="*/ 0 w 21600"/>
                <a:gd name="T3" fmla="*/ 0 h 16219"/>
                <a:gd name="T4" fmla="*/ 0 w 21600"/>
                <a:gd name="T5" fmla="*/ 0 h 16219"/>
                <a:gd name="T6" fmla="*/ 0 60000 65536"/>
                <a:gd name="T7" fmla="*/ 0 60000 65536"/>
                <a:gd name="T8" fmla="*/ 0 60000 65536"/>
                <a:gd name="T9" fmla="*/ 0 w 21600"/>
                <a:gd name="T10" fmla="*/ 0 h 16219"/>
                <a:gd name="T11" fmla="*/ 21600 w 21600"/>
                <a:gd name="T12" fmla="*/ 16219 h 16219"/>
              </a:gdLst>
              <a:ahLst/>
              <a:cxnLst>
                <a:cxn ang="T6">
                  <a:pos x="T0" y="T1"/>
                </a:cxn>
                <a:cxn ang="T7">
                  <a:pos x="T2" y="T3"/>
                </a:cxn>
                <a:cxn ang="T8">
                  <a:pos x="T4" y="T5"/>
                </a:cxn>
              </a:cxnLst>
              <a:rect l="T9" t="T10" r="T11" b="T12"/>
              <a:pathLst>
                <a:path w="21600" h="16219" fill="none" extrusionOk="0">
                  <a:moveTo>
                    <a:pt x="15253" y="0"/>
                  </a:moveTo>
                  <a:cubicBezTo>
                    <a:pt x="19316" y="4052"/>
                    <a:pt x="21600" y="9554"/>
                    <a:pt x="21600" y="15293"/>
                  </a:cubicBezTo>
                  <a:cubicBezTo>
                    <a:pt x="21600" y="15601"/>
                    <a:pt x="21593" y="15910"/>
                    <a:pt x="21580" y="16219"/>
                  </a:cubicBezTo>
                </a:path>
                <a:path w="21600" h="16219" stroke="0" extrusionOk="0">
                  <a:moveTo>
                    <a:pt x="15253" y="0"/>
                  </a:moveTo>
                  <a:cubicBezTo>
                    <a:pt x="19316" y="4052"/>
                    <a:pt x="21600" y="9554"/>
                    <a:pt x="21600" y="15293"/>
                  </a:cubicBezTo>
                  <a:cubicBezTo>
                    <a:pt x="21600" y="15601"/>
                    <a:pt x="21593" y="15910"/>
                    <a:pt x="21580" y="16219"/>
                  </a:cubicBezTo>
                  <a:lnTo>
                    <a:pt x="0" y="15293"/>
                  </a:lnTo>
                  <a:lnTo>
                    <a:pt x="15253"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GB"/>
            </a:p>
          </p:txBody>
        </p:sp>
        <p:graphicFrame>
          <p:nvGraphicFramePr>
            <p:cNvPr id="53" name="Object 13"/>
            <p:cNvGraphicFramePr>
              <a:graphicFrameLocks noChangeAspect="1"/>
            </p:cNvGraphicFramePr>
            <p:nvPr/>
          </p:nvGraphicFramePr>
          <p:xfrm>
            <a:off x="1744" y="1759"/>
            <a:ext cx="242" cy="225"/>
          </p:xfrm>
          <a:graphic>
            <a:graphicData uri="http://schemas.openxmlformats.org/presentationml/2006/ole">
              <mc:AlternateContent xmlns:mc="http://schemas.openxmlformats.org/markup-compatibility/2006">
                <mc:Choice xmlns:v="urn:schemas-microsoft-com:vml" Requires="v">
                  <p:oleObj name="Equation" r:id="rId15" imgW="253890" imgH="241195" progId="Equation.3">
                    <p:embed/>
                  </p:oleObj>
                </mc:Choice>
                <mc:Fallback>
                  <p:oleObj name="Equation" r:id="rId15" imgW="253890" imgH="241195" progId="Equation.3">
                    <p:embed/>
                    <p:pic>
                      <p:nvPicPr>
                        <p:cNvPr id="13338"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44" y="1759"/>
                          <a:ext cx="242"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14"/>
            <p:cNvGraphicFramePr>
              <a:graphicFrameLocks noChangeAspect="1"/>
            </p:cNvGraphicFramePr>
            <p:nvPr/>
          </p:nvGraphicFramePr>
          <p:xfrm>
            <a:off x="221" y="2547"/>
            <a:ext cx="242" cy="213"/>
          </p:xfrm>
          <a:graphic>
            <a:graphicData uri="http://schemas.openxmlformats.org/presentationml/2006/ole">
              <mc:AlternateContent xmlns:mc="http://schemas.openxmlformats.org/markup-compatibility/2006">
                <mc:Choice xmlns:v="urn:schemas-microsoft-com:vml" Requires="v">
                  <p:oleObj name="Equation" r:id="rId17" imgW="253890" imgH="228501" progId="Equation.3">
                    <p:embed/>
                  </p:oleObj>
                </mc:Choice>
                <mc:Fallback>
                  <p:oleObj name="Equation" r:id="rId17" imgW="253890" imgH="228501" progId="Equation.3">
                    <p:embed/>
                    <p:pic>
                      <p:nvPicPr>
                        <p:cNvPr id="13339"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1" y="2547"/>
                          <a:ext cx="24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 name="Line 17"/>
            <p:cNvSpPr>
              <a:spLocks noChangeShapeType="1"/>
            </p:cNvSpPr>
            <p:nvPr/>
          </p:nvSpPr>
          <p:spPr bwMode="auto">
            <a:xfrm>
              <a:off x="797" y="1827"/>
              <a:ext cx="768" cy="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spAutoFit/>
            </a:bodyPr>
            <a:lstStyle/>
            <a:p>
              <a:endParaRPr lang="en-GB"/>
            </a:p>
          </p:txBody>
        </p:sp>
        <p:sp>
          <p:nvSpPr>
            <p:cNvPr id="56" name="Line 18"/>
            <p:cNvSpPr>
              <a:spLocks noChangeShapeType="1"/>
            </p:cNvSpPr>
            <p:nvPr/>
          </p:nvSpPr>
          <p:spPr bwMode="auto">
            <a:xfrm>
              <a:off x="929" y="1836"/>
              <a:ext cx="0" cy="768"/>
            </a:xfrm>
            <a:prstGeom prst="line">
              <a:avLst/>
            </a:prstGeom>
            <a:noFill/>
            <a:ln w="9525">
              <a:solidFill>
                <a:srgbClr val="FF3300"/>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en-GB"/>
            </a:p>
          </p:txBody>
        </p:sp>
        <p:sp>
          <p:nvSpPr>
            <p:cNvPr id="57" name="Line 19"/>
            <p:cNvSpPr>
              <a:spLocks noChangeShapeType="1"/>
            </p:cNvSpPr>
            <p:nvPr/>
          </p:nvSpPr>
          <p:spPr bwMode="auto">
            <a:xfrm>
              <a:off x="1499" y="1820"/>
              <a:ext cx="0" cy="768"/>
            </a:xfrm>
            <a:prstGeom prst="line">
              <a:avLst/>
            </a:prstGeom>
            <a:noFill/>
            <a:ln w="9525">
              <a:solidFill>
                <a:srgbClr val="FF3300"/>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en-GB"/>
            </a:p>
          </p:txBody>
        </p:sp>
        <p:graphicFrame>
          <p:nvGraphicFramePr>
            <p:cNvPr id="58" name="Object 20"/>
            <p:cNvGraphicFramePr>
              <a:graphicFrameLocks noChangeAspect="1"/>
            </p:cNvGraphicFramePr>
            <p:nvPr/>
          </p:nvGraphicFramePr>
          <p:xfrm>
            <a:off x="173" y="1347"/>
            <a:ext cx="370" cy="264"/>
          </p:xfrm>
          <a:graphic>
            <a:graphicData uri="http://schemas.openxmlformats.org/presentationml/2006/ole">
              <mc:AlternateContent xmlns:mc="http://schemas.openxmlformats.org/markup-compatibility/2006">
                <mc:Choice xmlns:v="urn:schemas-microsoft-com:vml" Requires="v">
                  <p:oleObj name="Equation" r:id="rId19" imgW="317362" imgH="228501" progId="Equation.3">
                    <p:embed/>
                  </p:oleObj>
                </mc:Choice>
                <mc:Fallback>
                  <p:oleObj name="Equation" r:id="rId19" imgW="317362" imgH="228501" progId="Equation.3">
                    <p:embed/>
                    <p:pic>
                      <p:nvPicPr>
                        <p:cNvPr id="13343" name="Object 2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3" y="1347"/>
                          <a:ext cx="370" cy="264"/>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 name="Object 21"/>
            <p:cNvGraphicFramePr>
              <a:graphicFrameLocks noChangeAspect="1"/>
            </p:cNvGraphicFramePr>
            <p:nvPr/>
          </p:nvGraphicFramePr>
          <p:xfrm>
            <a:off x="1277" y="2547"/>
            <a:ext cx="420" cy="328"/>
          </p:xfrm>
          <a:graphic>
            <a:graphicData uri="http://schemas.openxmlformats.org/presentationml/2006/ole">
              <mc:AlternateContent xmlns:mc="http://schemas.openxmlformats.org/markup-compatibility/2006">
                <mc:Choice xmlns:v="urn:schemas-microsoft-com:vml" Requires="v">
                  <p:oleObj name="Equation" r:id="rId21" imgW="291973" imgH="228501" progId="Equation.3">
                    <p:embed/>
                  </p:oleObj>
                </mc:Choice>
                <mc:Fallback>
                  <p:oleObj name="Equation" r:id="rId21" imgW="291973" imgH="228501" progId="Equation.3">
                    <p:embed/>
                    <p:pic>
                      <p:nvPicPr>
                        <p:cNvPr id="13344" name="Object 2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277" y="2547"/>
                          <a:ext cx="420" cy="328"/>
                        </a:xfrm>
                        <a:prstGeom prst="rect">
                          <a:avLst/>
                        </a:prstGeom>
                        <a:noFill/>
                        <a:ln w="9525">
                          <a:solidFill>
                            <a:srgbClr val="FF33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 name="Object 27"/>
            <p:cNvGraphicFramePr>
              <a:graphicFrameLocks noChangeAspect="1"/>
            </p:cNvGraphicFramePr>
            <p:nvPr/>
          </p:nvGraphicFramePr>
          <p:xfrm>
            <a:off x="144" y="1731"/>
            <a:ext cx="429" cy="264"/>
          </p:xfrm>
          <a:graphic>
            <a:graphicData uri="http://schemas.openxmlformats.org/presentationml/2006/ole">
              <mc:AlternateContent xmlns:mc="http://schemas.openxmlformats.org/markup-compatibility/2006">
                <mc:Choice xmlns:v="urn:schemas-microsoft-com:vml" Requires="v">
                  <p:oleObj name="Equation" r:id="rId23" imgW="368300" imgH="228600" progId="Equation.3">
                    <p:embed/>
                  </p:oleObj>
                </mc:Choice>
                <mc:Fallback>
                  <p:oleObj name="Equation" r:id="rId23" imgW="368300" imgH="228600" progId="Equation.3">
                    <p:embed/>
                    <p:pic>
                      <p:nvPicPr>
                        <p:cNvPr id="13345" name="Object 2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44" y="1731"/>
                          <a:ext cx="429"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 name="Line 28"/>
            <p:cNvSpPr>
              <a:spLocks noChangeShapeType="1"/>
            </p:cNvSpPr>
            <p:nvPr/>
          </p:nvSpPr>
          <p:spPr bwMode="auto">
            <a:xfrm>
              <a:off x="557" y="1587"/>
              <a:ext cx="240" cy="24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GB"/>
            </a:p>
          </p:txBody>
        </p:sp>
        <p:sp>
          <p:nvSpPr>
            <p:cNvPr id="62" name="Line 29"/>
            <p:cNvSpPr>
              <a:spLocks noChangeShapeType="1"/>
            </p:cNvSpPr>
            <p:nvPr/>
          </p:nvSpPr>
          <p:spPr bwMode="auto">
            <a:xfrm>
              <a:off x="557" y="1971"/>
              <a:ext cx="263" cy="277"/>
            </a:xfrm>
            <a:prstGeom prst="line">
              <a:avLst/>
            </a:prstGeom>
            <a:noFill/>
            <a:ln w="9525">
              <a:solidFill>
                <a:schemeClr val="tx2"/>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GB"/>
            </a:p>
          </p:txBody>
        </p:sp>
        <p:sp>
          <p:nvSpPr>
            <p:cNvPr id="63" name="Text Box 31"/>
            <p:cNvSpPr txBox="1">
              <a:spLocks noChangeArrowheads="1"/>
            </p:cNvSpPr>
            <p:nvPr/>
          </p:nvSpPr>
          <p:spPr bwMode="auto">
            <a:xfrm>
              <a:off x="1429" y="572"/>
              <a:ext cx="1115"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a:t>Effect of finite aspect ratio</a:t>
              </a:r>
            </a:p>
          </p:txBody>
        </p:sp>
        <p:sp>
          <p:nvSpPr>
            <p:cNvPr id="64" name="Line 32"/>
            <p:cNvSpPr>
              <a:spLocks noChangeShapeType="1"/>
            </p:cNvSpPr>
            <p:nvPr/>
          </p:nvSpPr>
          <p:spPr bwMode="auto">
            <a:xfrm flipH="1">
              <a:off x="1786" y="986"/>
              <a:ext cx="238"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65" name="Arc 33"/>
            <p:cNvSpPr>
              <a:spLocks/>
            </p:cNvSpPr>
            <p:nvPr/>
          </p:nvSpPr>
          <p:spPr bwMode="auto">
            <a:xfrm>
              <a:off x="538" y="1158"/>
              <a:ext cx="1356" cy="1307"/>
            </a:xfrm>
            <a:custGeom>
              <a:avLst/>
              <a:gdLst>
                <a:gd name="T0" fmla="*/ 0 w 17684"/>
                <a:gd name="T1" fmla="*/ 0 h 18093"/>
                <a:gd name="T2" fmla="*/ 0 w 17684"/>
                <a:gd name="T3" fmla="*/ 0 h 18093"/>
                <a:gd name="T4" fmla="*/ 0 w 17684"/>
                <a:gd name="T5" fmla="*/ 0 h 18093"/>
                <a:gd name="T6" fmla="*/ 0 60000 65536"/>
                <a:gd name="T7" fmla="*/ 0 60000 65536"/>
                <a:gd name="T8" fmla="*/ 0 60000 65536"/>
                <a:gd name="T9" fmla="*/ 0 w 17684"/>
                <a:gd name="T10" fmla="*/ 0 h 18093"/>
                <a:gd name="T11" fmla="*/ 17684 w 17684"/>
                <a:gd name="T12" fmla="*/ 18093 h 18093"/>
              </a:gdLst>
              <a:ahLst/>
              <a:cxnLst>
                <a:cxn ang="T6">
                  <a:pos x="T0" y="T1"/>
                </a:cxn>
                <a:cxn ang="T7">
                  <a:pos x="T2" y="T3"/>
                </a:cxn>
                <a:cxn ang="T8">
                  <a:pos x="T4" y="T5"/>
                </a:cxn>
              </a:cxnLst>
              <a:rect l="T9" t="T10" r="T11" b="T12"/>
              <a:pathLst>
                <a:path w="17684" h="18093" fill="none" extrusionOk="0">
                  <a:moveTo>
                    <a:pt x="11798" y="-1"/>
                  </a:moveTo>
                  <a:cubicBezTo>
                    <a:pt x="14104" y="1503"/>
                    <a:pt x="16102" y="3435"/>
                    <a:pt x="17684" y="5689"/>
                  </a:cubicBezTo>
                </a:path>
                <a:path w="17684" h="18093" stroke="0" extrusionOk="0">
                  <a:moveTo>
                    <a:pt x="11798" y="-1"/>
                  </a:moveTo>
                  <a:cubicBezTo>
                    <a:pt x="14104" y="1503"/>
                    <a:pt x="16102" y="3435"/>
                    <a:pt x="17684" y="5689"/>
                  </a:cubicBezTo>
                  <a:lnTo>
                    <a:pt x="0" y="18093"/>
                  </a:lnTo>
                  <a:lnTo>
                    <a:pt x="11798" y="-1"/>
                  </a:lnTo>
                  <a:close/>
                </a:path>
              </a:pathLst>
            </a:custGeom>
            <a:noFill/>
            <a:ln w="38100">
              <a:solidFill>
                <a:srgbClr val="00A4DE"/>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GB"/>
            </a:p>
          </p:txBody>
        </p:sp>
        <p:sp>
          <p:nvSpPr>
            <p:cNvPr id="66" name="Text Box 34"/>
            <p:cNvSpPr txBox="1">
              <a:spLocks noChangeArrowheads="1"/>
            </p:cNvSpPr>
            <p:nvPr/>
          </p:nvSpPr>
          <p:spPr bwMode="auto">
            <a:xfrm>
              <a:off x="2189" y="2451"/>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l-GR" altLang="nl-NL"/>
                <a:t>α</a:t>
              </a:r>
            </a:p>
          </p:txBody>
        </p:sp>
        <p:sp>
          <p:nvSpPr>
            <p:cNvPr id="67" name="Freeform 39"/>
            <p:cNvSpPr>
              <a:spLocks/>
            </p:cNvSpPr>
            <p:nvPr/>
          </p:nvSpPr>
          <p:spPr bwMode="auto">
            <a:xfrm>
              <a:off x="1489" y="989"/>
              <a:ext cx="364" cy="148"/>
            </a:xfrm>
            <a:custGeom>
              <a:avLst/>
              <a:gdLst>
                <a:gd name="T0" fmla="*/ 0 w 364"/>
                <a:gd name="T1" fmla="*/ 83 h 148"/>
                <a:gd name="T2" fmla="*/ 110 w 364"/>
                <a:gd name="T3" fmla="*/ 11 h 148"/>
                <a:gd name="T4" fmla="*/ 240 w 364"/>
                <a:gd name="T5" fmla="*/ 16 h 148"/>
                <a:gd name="T6" fmla="*/ 307 w 364"/>
                <a:gd name="T7" fmla="*/ 66 h 148"/>
                <a:gd name="T8" fmla="*/ 364 w 364"/>
                <a:gd name="T9" fmla="*/ 148 h 148"/>
                <a:gd name="T10" fmla="*/ 0 60000 65536"/>
                <a:gd name="T11" fmla="*/ 0 60000 65536"/>
                <a:gd name="T12" fmla="*/ 0 60000 65536"/>
                <a:gd name="T13" fmla="*/ 0 60000 65536"/>
                <a:gd name="T14" fmla="*/ 0 60000 65536"/>
                <a:gd name="T15" fmla="*/ 0 w 364"/>
                <a:gd name="T16" fmla="*/ 0 h 148"/>
                <a:gd name="T17" fmla="*/ 364 w 364"/>
                <a:gd name="T18" fmla="*/ 148 h 148"/>
              </a:gdLst>
              <a:ahLst/>
              <a:cxnLst>
                <a:cxn ang="T10">
                  <a:pos x="T0" y="T1"/>
                </a:cxn>
                <a:cxn ang="T11">
                  <a:pos x="T2" y="T3"/>
                </a:cxn>
                <a:cxn ang="T12">
                  <a:pos x="T4" y="T5"/>
                </a:cxn>
                <a:cxn ang="T13">
                  <a:pos x="T6" y="T7"/>
                </a:cxn>
                <a:cxn ang="T14">
                  <a:pos x="T8" y="T9"/>
                </a:cxn>
              </a:cxnLst>
              <a:rect l="T15" t="T16" r="T17" b="T18"/>
              <a:pathLst>
                <a:path w="364" h="148">
                  <a:moveTo>
                    <a:pt x="0" y="83"/>
                  </a:moveTo>
                  <a:cubicBezTo>
                    <a:pt x="18" y="71"/>
                    <a:pt x="70" y="22"/>
                    <a:pt x="110" y="11"/>
                  </a:cubicBezTo>
                  <a:cubicBezTo>
                    <a:pt x="150" y="0"/>
                    <a:pt x="207" y="7"/>
                    <a:pt x="240" y="16"/>
                  </a:cubicBezTo>
                  <a:cubicBezTo>
                    <a:pt x="273" y="25"/>
                    <a:pt x="286" y="44"/>
                    <a:pt x="307" y="66"/>
                  </a:cubicBezTo>
                  <a:cubicBezTo>
                    <a:pt x="328" y="88"/>
                    <a:pt x="352" y="131"/>
                    <a:pt x="364" y="148"/>
                  </a:cubicBezTo>
                </a:path>
              </a:pathLst>
            </a:custGeom>
            <a:noFill/>
            <a:ln w="9525" cap="flat" cmpd="sng">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GB"/>
            </a:p>
          </p:txBody>
        </p:sp>
        <p:sp>
          <p:nvSpPr>
            <p:cNvPr id="68" name="Freeform 40"/>
            <p:cNvSpPr>
              <a:spLocks/>
            </p:cNvSpPr>
            <p:nvPr/>
          </p:nvSpPr>
          <p:spPr bwMode="auto">
            <a:xfrm>
              <a:off x="1973" y="1486"/>
              <a:ext cx="345" cy="137"/>
            </a:xfrm>
            <a:custGeom>
              <a:avLst/>
              <a:gdLst>
                <a:gd name="T0" fmla="*/ 0 w 345"/>
                <a:gd name="T1" fmla="*/ 55 h 137"/>
                <a:gd name="T2" fmla="*/ 110 w 345"/>
                <a:gd name="T3" fmla="*/ 7 h 137"/>
                <a:gd name="T4" fmla="*/ 211 w 345"/>
                <a:gd name="T5" fmla="*/ 12 h 137"/>
                <a:gd name="T6" fmla="*/ 288 w 345"/>
                <a:gd name="T7" fmla="*/ 55 h 137"/>
                <a:gd name="T8" fmla="*/ 345 w 345"/>
                <a:gd name="T9" fmla="*/ 137 h 137"/>
                <a:gd name="T10" fmla="*/ 0 60000 65536"/>
                <a:gd name="T11" fmla="*/ 0 60000 65536"/>
                <a:gd name="T12" fmla="*/ 0 60000 65536"/>
                <a:gd name="T13" fmla="*/ 0 60000 65536"/>
                <a:gd name="T14" fmla="*/ 0 60000 65536"/>
                <a:gd name="T15" fmla="*/ 0 w 345"/>
                <a:gd name="T16" fmla="*/ 0 h 137"/>
                <a:gd name="T17" fmla="*/ 345 w 345"/>
                <a:gd name="T18" fmla="*/ 137 h 137"/>
              </a:gdLst>
              <a:ahLst/>
              <a:cxnLst>
                <a:cxn ang="T10">
                  <a:pos x="T0" y="T1"/>
                </a:cxn>
                <a:cxn ang="T11">
                  <a:pos x="T2" y="T3"/>
                </a:cxn>
                <a:cxn ang="T12">
                  <a:pos x="T4" y="T5"/>
                </a:cxn>
                <a:cxn ang="T13">
                  <a:pos x="T6" y="T7"/>
                </a:cxn>
                <a:cxn ang="T14">
                  <a:pos x="T8" y="T9"/>
                </a:cxn>
              </a:cxnLst>
              <a:rect l="T15" t="T16" r="T17" b="T18"/>
              <a:pathLst>
                <a:path w="345" h="137">
                  <a:moveTo>
                    <a:pt x="0" y="55"/>
                  </a:moveTo>
                  <a:cubicBezTo>
                    <a:pt x="18" y="47"/>
                    <a:pt x="75" y="14"/>
                    <a:pt x="110" y="7"/>
                  </a:cubicBezTo>
                  <a:cubicBezTo>
                    <a:pt x="145" y="0"/>
                    <a:pt x="181" y="4"/>
                    <a:pt x="211" y="12"/>
                  </a:cubicBezTo>
                  <a:cubicBezTo>
                    <a:pt x="241" y="20"/>
                    <a:pt x="266" y="34"/>
                    <a:pt x="288" y="55"/>
                  </a:cubicBezTo>
                  <a:cubicBezTo>
                    <a:pt x="310" y="76"/>
                    <a:pt x="333" y="120"/>
                    <a:pt x="345" y="137"/>
                  </a:cubicBez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GB"/>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14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5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4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6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6" grpId="0" animBg="1"/>
      <p:bldP spid="615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ChangeArrowheads="1"/>
          </p:cNvSpPr>
          <p:nvPr/>
        </p:nvSpPr>
        <p:spPr bwMode="auto">
          <a:xfrm>
            <a:off x="0" y="-24605"/>
            <a:ext cx="12192000" cy="6117902"/>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nl-NL" sz="2200"/>
          </a:p>
        </p:txBody>
      </p:sp>
      <p:sp>
        <p:nvSpPr>
          <p:cNvPr id="14340" name="Line 5"/>
          <p:cNvSpPr>
            <a:spLocks noChangeShapeType="1"/>
          </p:cNvSpPr>
          <p:nvPr/>
        </p:nvSpPr>
        <p:spPr bwMode="auto">
          <a:xfrm flipV="1">
            <a:off x="5395914" y="2309813"/>
            <a:ext cx="3175" cy="29083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14341" name="Line 6"/>
          <p:cNvSpPr>
            <a:spLocks noChangeShapeType="1"/>
          </p:cNvSpPr>
          <p:nvPr/>
        </p:nvSpPr>
        <p:spPr bwMode="auto">
          <a:xfrm rot="5400000" flipV="1">
            <a:off x="6011863" y="3346450"/>
            <a:ext cx="0" cy="334645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14342" name="Line 7"/>
          <p:cNvSpPr>
            <a:spLocks noChangeShapeType="1"/>
          </p:cNvSpPr>
          <p:nvPr/>
        </p:nvSpPr>
        <p:spPr bwMode="auto">
          <a:xfrm flipV="1">
            <a:off x="4791076" y="3148013"/>
            <a:ext cx="1522413" cy="18716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GB"/>
          </a:p>
        </p:txBody>
      </p:sp>
      <p:graphicFrame>
        <p:nvGraphicFramePr>
          <p:cNvPr id="14343" name="Object 8"/>
          <p:cNvGraphicFramePr>
            <a:graphicFrameLocks noChangeAspect="1"/>
          </p:cNvGraphicFramePr>
          <p:nvPr/>
        </p:nvGraphicFramePr>
        <p:xfrm>
          <a:off x="4941889" y="2081214"/>
          <a:ext cx="376237" cy="395287"/>
        </p:xfrm>
        <a:graphic>
          <a:graphicData uri="http://schemas.openxmlformats.org/presentationml/2006/ole">
            <mc:AlternateContent xmlns:mc="http://schemas.openxmlformats.org/markup-compatibility/2006">
              <mc:Choice xmlns:v="urn:schemas-microsoft-com:vml" Requires="v">
                <p:oleObj name="Equation" r:id="rId3" imgW="203024" imgH="215713" progId="Equation.3">
                  <p:embed/>
                </p:oleObj>
              </mc:Choice>
              <mc:Fallback>
                <p:oleObj name="Equation" r:id="rId3" imgW="203024" imgH="215713"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1889" y="2081214"/>
                        <a:ext cx="376237" cy="395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4" name="Text Box 11"/>
          <p:cNvSpPr txBox="1">
            <a:spLocks noChangeArrowheads="1"/>
          </p:cNvSpPr>
          <p:nvPr/>
        </p:nvSpPr>
        <p:spPr bwMode="auto">
          <a:xfrm>
            <a:off x="7456489" y="5053014"/>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l-GR" altLang="nl-NL"/>
              <a:t>α</a:t>
            </a:r>
          </a:p>
        </p:txBody>
      </p:sp>
      <p:graphicFrame>
        <p:nvGraphicFramePr>
          <p:cNvPr id="14345" name="Object 12"/>
          <p:cNvGraphicFramePr>
            <a:graphicFrameLocks noChangeAspect="1"/>
          </p:cNvGraphicFramePr>
          <p:nvPr/>
        </p:nvGraphicFramePr>
        <p:xfrm>
          <a:off x="4440239" y="5129213"/>
          <a:ext cx="498475" cy="438150"/>
        </p:xfrm>
        <a:graphic>
          <a:graphicData uri="http://schemas.openxmlformats.org/presentationml/2006/ole">
            <mc:AlternateContent xmlns:mc="http://schemas.openxmlformats.org/markup-compatibility/2006">
              <mc:Choice xmlns:v="urn:schemas-microsoft-com:vml" Requires="v">
                <p:oleObj name="Equation" r:id="rId5" imgW="253890" imgH="228501" progId="Equation.3">
                  <p:embed/>
                </p:oleObj>
              </mc:Choice>
              <mc:Fallback>
                <p:oleObj name="Equation" r:id="rId5" imgW="253890" imgH="228501"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0239" y="5129213"/>
                        <a:ext cx="498475"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6" name="Line 16"/>
          <p:cNvSpPr>
            <a:spLocks noChangeShapeType="1"/>
          </p:cNvSpPr>
          <p:nvPr/>
        </p:nvSpPr>
        <p:spPr bwMode="auto">
          <a:xfrm flipV="1">
            <a:off x="6224588" y="2335213"/>
            <a:ext cx="723900" cy="901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14347" name="Text Box 17"/>
          <p:cNvSpPr txBox="1">
            <a:spLocks noChangeArrowheads="1"/>
          </p:cNvSpPr>
          <p:nvPr/>
        </p:nvSpPr>
        <p:spPr bwMode="auto">
          <a:xfrm>
            <a:off x="6615113" y="5129213"/>
            <a:ext cx="457200" cy="406400"/>
          </a:xfrm>
          <a:prstGeom prst="rect">
            <a:avLst/>
          </a:prstGeom>
          <a:solidFill>
            <a:srgbClr val="FFFF00"/>
          </a:solidFill>
          <a:ln w="9525" algn="ctr">
            <a:solidFill>
              <a:schemeClr val="tx1"/>
            </a:solidFill>
            <a:miter lim="800000"/>
            <a:headEnd/>
            <a:tailEnd/>
          </a:ln>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l-GR" altLang="nl-NL"/>
              <a:t>α</a:t>
            </a:r>
            <a:r>
              <a:rPr lang="nl-NL" altLang="nl-NL" baseline="-25000"/>
              <a:t>s</a:t>
            </a:r>
            <a:endParaRPr lang="el-GR" altLang="nl-NL" baseline="-25000"/>
          </a:p>
        </p:txBody>
      </p:sp>
      <p:sp>
        <p:nvSpPr>
          <p:cNvPr id="14348" name="Line 18"/>
          <p:cNvSpPr>
            <a:spLocks noChangeShapeType="1"/>
          </p:cNvSpPr>
          <p:nvPr/>
        </p:nvSpPr>
        <p:spPr bwMode="auto">
          <a:xfrm flipV="1">
            <a:off x="6846888" y="2081213"/>
            <a:ext cx="0" cy="2971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en-GB"/>
          </a:p>
        </p:txBody>
      </p:sp>
      <p:sp>
        <p:nvSpPr>
          <p:cNvPr id="14349" name="Line 19"/>
          <p:cNvSpPr>
            <a:spLocks noChangeShapeType="1"/>
          </p:cNvSpPr>
          <p:nvPr/>
        </p:nvSpPr>
        <p:spPr bwMode="auto">
          <a:xfrm>
            <a:off x="5170488" y="2919413"/>
            <a:ext cx="2514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en-GB"/>
          </a:p>
        </p:txBody>
      </p:sp>
      <p:sp>
        <p:nvSpPr>
          <p:cNvPr id="14350" name="Freeform 20"/>
          <p:cNvSpPr>
            <a:spLocks/>
          </p:cNvSpPr>
          <p:nvPr/>
        </p:nvSpPr>
        <p:spPr bwMode="auto">
          <a:xfrm>
            <a:off x="6313489" y="2919413"/>
            <a:ext cx="519401" cy="254001"/>
          </a:xfrm>
          <a:custGeom>
            <a:avLst/>
            <a:gdLst>
              <a:gd name="T0" fmla="*/ 0 w 634"/>
              <a:gd name="T1" fmla="*/ 2147483647 h 192"/>
              <a:gd name="T2" fmla="*/ 2147483647 w 634"/>
              <a:gd name="T3" fmla="*/ 2147483647 h 192"/>
              <a:gd name="T4" fmla="*/ 2147483647 w 634"/>
              <a:gd name="T5" fmla="*/ 0 h 192"/>
              <a:gd name="T6" fmla="*/ 2147483647 w 634"/>
              <a:gd name="T7" fmla="*/ 2147483647 h 192"/>
              <a:gd name="T8" fmla="*/ 2147483647 w 634"/>
              <a:gd name="T9" fmla="*/ 2147483647 h 192"/>
              <a:gd name="T10" fmla="*/ 0 60000 65536"/>
              <a:gd name="T11" fmla="*/ 0 60000 65536"/>
              <a:gd name="T12" fmla="*/ 0 60000 65536"/>
              <a:gd name="T13" fmla="*/ 0 60000 65536"/>
              <a:gd name="T14" fmla="*/ 0 60000 65536"/>
              <a:gd name="T15" fmla="*/ 0 w 634"/>
              <a:gd name="T16" fmla="*/ 0 h 192"/>
              <a:gd name="T17" fmla="*/ 634 w 634"/>
              <a:gd name="T18" fmla="*/ 192 h 192"/>
            </a:gdLst>
            <a:ahLst/>
            <a:cxnLst>
              <a:cxn ang="T10">
                <a:pos x="T0" y="T1"/>
              </a:cxn>
              <a:cxn ang="T11">
                <a:pos x="T2" y="T3"/>
              </a:cxn>
              <a:cxn ang="T12">
                <a:pos x="T4" y="T5"/>
              </a:cxn>
              <a:cxn ang="T13">
                <a:pos x="T6" y="T7"/>
              </a:cxn>
              <a:cxn ang="T14">
                <a:pos x="T8" y="T9"/>
              </a:cxn>
            </a:cxnLst>
            <a:rect l="T15" t="T16" r="T17" b="T18"/>
            <a:pathLst>
              <a:path w="634" h="192">
                <a:moveTo>
                  <a:pt x="0" y="192"/>
                </a:moveTo>
                <a:cubicBezTo>
                  <a:pt x="28" y="170"/>
                  <a:pt x="105" y="90"/>
                  <a:pt x="168" y="58"/>
                </a:cubicBezTo>
                <a:cubicBezTo>
                  <a:pt x="231" y="26"/>
                  <a:pt x="314" y="0"/>
                  <a:pt x="379" y="0"/>
                </a:cubicBezTo>
                <a:cubicBezTo>
                  <a:pt x="444" y="0"/>
                  <a:pt x="515" y="33"/>
                  <a:pt x="557" y="58"/>
                </a:cubicBezTo>
                <a:cubicBezTo>
                  <a:pt x="599" y="83"/>
                  <a:pt x="618" y="130"/>
                  <a:pt x="634" y="149"/>
                </a:cubicBezTo>
              </a:path>
            </a:pathLst>
          </a:custGeom>
          <a:noFill/>
          <a:ln w="127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square">
            <a:spAutoFit/>
          </a:bodyPr>
          <a:lstStyle/>
          <a:p>
            <a:endParaRPr lang="en-GB"/>
          </a:p>
        </p:txBody>
      </p:sp>
      <p:graphicFrame>
        <p:nvGraphicFramePr>
          <p:cNvPr id="14351" name="Object 21"/>
          <p:cNvGraphicFramePr>
            <a:graphicFrameLocks noChangeAspect="1"/>
          </p:cNvGraphicFramePr>
          <p:nvPr/>
        </p:nvGraphicFramePr>
        <p:xfrm>
          <a:off x="4176714" y="2978151"/>
          <a:ext cx="833437" cy="512763"/>
        </p:xfrm>
        <a:graphic>
          <a:graphicData uri="http://schemas.openxmlformats.org/presentationml/2006/ole">
            <mc:AlternateContent xmlns:mc="http://schemas.openxmlformats.org/markup-compatibility/2006">
              <mc:Choice xmlns:v="urn:schemas-microsoft-com:vml" Requires="v">
                <p:oleObj name="Equation" r:id="rId7" imgW="368300" imgH="228600" progId="Equation.3">
                  <p:embed/>
                </p:oleObj>
              </mc:Choice>
              <mc:Fallback>
                <p:oleObj name="Equation" r:id="rId7" imgW="368300" imgH="228600" progId="Equation.3">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76714" y="2978151"/>
                        <a:ext cx="833437" cy="51276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2" name="Line 22"/>
          <p:cNvSpPr>
            <a:spLocks noChangeShapeType="1"/>
          </p:cNvSpPr>
          <p:nvPr/>
        </p:nvSpPr>
        <p:spPr bwMode="auto">
          <a:xfrm flipV="1">
            <a:off x="4941888" y="2919413"/>
            <a:ext cx="457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GB"/>
          </a:p>
        </p:txBody>
      </p:sp>
      <p:sp>
        <p:nvSpPr>
          <p:cNvPr id="14353" name="Oval 24"/>
          <p:cNvSpPr>
            <a:spLocks noChangeArrowheads="1"/>
          </p:cNvSpPr>
          <p:nvPr/>
        </p:nvSpPr>
        <p:spPr bwMode="auto">
          <a:xfrm>
            <a:off x="6164263" y="2809172"/>
            <a:ext cx="776790" cy="476071"/>
          </a:xfrm>
          <a:prstGeom prst="ellipse">
            <a:avLst/>
          </a:prstGeom>
          <a:noFill/>
          <a:ln w="38100" algn="ctr">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endParaRPr lang="nl-NL" altLang="nl-NL" sz="1600"/>
          </a:p>
        </p:txBody>
      </p:sp>
      <p:sp>
        <p:nvSpPr>
          <p:cNvPr id="18" name="Rectangle 4"/>
          <p:cNvSpPr>
            <a:spLocks noChangeArrowheads="1"/>
          </p:cNvSpPr>
          <p:nvPr/>
        </p:nvSpPr>
        <p:spPr bwMode="auto">
          <a:xfrm>
            <a:off x="191344" y="369367"/>
            <a:ext cx="80645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3600" b="1" dirty="0">
                <a:solidFill>
                  <a:schemeClr val="bg1"/>
                </a:solidFill>
                <a:latin typeface="Bookman Old Style" pitchFamily="18" charset="0"/>
              </a:rPr>
              <a:t>Lift curve of the clean wing</a:t>
            </a:r>
            <a:endParaRPr lang="en-US" altLang="nl-NL" sz="3600" b="1" dirty="0">
              <a:solidFill>
                <a:schemeClr val="bg1"/>
              </a:solidFill>
              <a:latin typeface="Bookman Old Style" pitchFamily="18" charset="0"/>
            </a:endParaRPr>
          </a:p>
          <a:p>
            <a:pPr eaLnBrk="1" hangingPunct="1">
              <a:lnSpc>
                <a:spcPct val="100000"/>
              </a:lnSpc>
              <a:buClrTx/>
              <a:buFontTx/>
              <a:buNone/>
            </a:pPr>
            <a:endParaRPr lang="en-US" altLang="nl-NL" sz="3600" b="1" dirty="0">
              <a:solidFill>
                <a:schemeClr val="bg1"/>
              </a:solidFill>
              <a:latin typeface="Bookman Old Style" pitchFamily="18" charset="0"/>
            </a:endParaRPr>
          </a:p>
          <a:p>
            <a:pPr eaLnBrk="1" hangingPunct="1">
              <a:lnSpc>
                <a:spcPct val="100000"/>
              </a:lnSpc>
              <a:buClrTx/>
              <a:buNone/>
            </a:pPr>
            <a:r>
              <a:rPr lang="en-US" altLang="nl-NL" sz="3600" b="1" dirty="0">
                <a:solidFill>
                  <a:schemeClr val="bg1"/>
                </a:solidFill>
                <a:latin typeface="Bookman Old Style" pitchFamily="18" charset="0"/>
              </a:rPr>
              <a:t>1.2	</a:t>
            </a:r>
            <a:r>
              <a:rPr lang="en-US" altLang="nl-NL" sz="3600" b="1" dirty="0" err="1">
                <a:solidFill>
                  <a:schemeClr val="bg1"/>
                </a:solidFill>
                <a:latin typeface="Bookman Old Style" pitchFamily="18" charset="0"/>
              </a:rPr>
              <a:t>C</a:t>
            </a:r>
            <a:r>
              <a:rPr lang="en-US" altLang="nl-NL" sz="3200" b="1" dirty="0" err="1">
                <a:solidFill>
                  <a:schemeClr val="bg1"/>
                </a:solidFill>
                <a:latin typeface="Bookman Old Style" pitchFamily="18" charset="0"/>
              </a:rPr>
              <a:t>L</a:t>
            </a:r>
            <a:r>
              <a:rPr lang="en-US" altLang="nl-NL" sz="3600" b="1" baseline="-25000" dirty="0" err="1">
                <a:solidFill>
                  <a:schemeClr val="bg1"/>
                </a:solidFill>
                <a:latin typeface="Bookman Old Style" pitchFamily="18" charset="0"/>
              </a:rPr>
              <a:t>max</a:t>
            </a:r>
            <a:r>
              <a:rPr lang="en-US" altLang="nl-NL" sz="3600" b="1" dirty="0">
                <a:solidFill>
                  <a:schemeClr val="bg1"/>
                </a:solidFill>
                <a:latin typeface="Bookman Old Style" pitchFamily="18" charset="0"/>
              </a:rPr>
              <a:t> and </a:t>
            </a:r>
            <a:r>
              <a:rPr lang="el-GR" altLang="nl-NL" sz="3600" b="1" dirty="0">
                <a:solidFill>
                  <a:schemeClr val="bg1"/>
                </a:solidFill>
                <a:latin typeface="Bookman Old Style" pitchFamily="18" charset="0"/>
              </a:rPr>
              <a:t>α</a:t>
            </a:r>
            <a:r>
              <a:rPr lang="en-US" altLang="nl-NL" sz="3600" b="1" baseline="-25000" dirty="0">
                <a:solidFill>
                  <a:schemeClr val="bg1"/>
                </a:solidFill>
                <a:latin typeface="Bookman Old Style" pitchFamily="18" charset="0"/>
              </a:rPr>
              <a:t>stall</a:t>
            </a:r>
            <a:r>
              <a:rPr lang="en-US" altLang="nl-NL" sz="3600" b="1" dirty="0">
                <a:solidFill>
                  <a:schemeClr val="bg1"/>
                </a:solidFill>
                <a:latin typeface="Bookman Old Style" pitchFamily="18" charset="0"/>
              </a:rPr>
              <a:t> </a:t>
            </a:r>
          </a:p>
          <a:p>
            <a:pPr eaLnBrk="1" hangingPunct="1">
              <a:lnSpc>
                <a:spcPct val="100000"/>
              </a:lnSpc>
              <a:buClrTx/>
              <a:buFontTx/>
              <a:buNone/>
            </a:pPr>
            <a:endParaRPr lang="en-US" altLang="nl-NL" sz="3600" b="1" dirty="0">
              <a:solidFill>
                <a:schemeClr val="bg1"/>
              </a:solidFill>
              <a:latin typeface="Bookman Old Style"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695400" y="188913"/>
            <a:ext cx="1116124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dirty="0">
                <a:solidFill>
                  <a:schemeClr val="bg2"/>
                </a:solidFill>
                <a:latin typeface="Bookman Old Style" pitchFamily="18" charset="0"/>
              </a:rPr>
              <a:t>Evaluation of wing stall angle (</a:t>
            </a:r>
            <a:r>
              <a:rPr lang="el-GR" altLang="nl-NL" sz="3200" dirty="0">
                <a:solidFill>
                  <a:schemeClr val="bg2"/>
                </a:solidFill>
                <a:latin typeface="Bookman Old Style" pitchFamily="18" charset="0"/>
              </a:rPr>
              <a:t>α</a:t>
            </a:r>
            <a:r>
              <a:rPr lang="nl-NL" altLang="nl-NL" sz="3200" baseline="-25000" dirty="0" err="1">
                <a:solidFill>
                  <a:schemeClr val="bg2"/>
                </a:solidFill>
                <a:latin typeface="Bookman Old Style" pitchFamily="18" charset="0"/>
              </a:rPr>
              <a:t>stall</a:t>
            </a:r>
            <a:r>
              <a:rPr lang="nl-NL" altLang="nl-NL" sz="3200" dirty="0">
                <a:solidFill>
                  <a:schemeClr val="bg2"/>
                </a:solidFill>
                <a:latin typeface="Bookman Old Style" pitchFamily="18" charset="0"/>
              </a:rPr>
              <a:t>)</a:t>
            </a:r>
            <a:r>
              <a:rPr lang="en-US" altLang="nl-NL" sz="3200" dirty="0">
                <a:solidFill>
                  <a:schemeClr val="bg2"/>
                </a:solidFill>
                <a:latin typeface="Bookman Old Style" pitchFamily="18" charset="0"/>
              </a:rPr>
              <a:t> and maximum lift coefficient (</a:t>
            </a:r>
            <a:r>
              <a:rPr lang="en-US" altLang="nl-NL" sz="3200" dirty="0" err="1">
                <a:solidFill>
                  <a:schemeClr val="bg2"/>
                </a:solidFill>
                <a:latin typeface="Bookman Old Style" pitchFamily="18" charset="0"/>
              </a:rPr>
              <a:t>C</a:t>
            </a:r>
            <a:r>
              <a:rPr lang="en-US" altLang="nl-NL" sz="3200" baseline="-25000" dirty="0" err="1">
                <a:solidFill>
                  <a:schemeClr val="bg2"/>
                </a:solidFill>
                <a:latin typeface="Bookman Old Style" pitchFamily="18" charset="0"/>
              </a:rPr>
              <a:t>Lmax</a:t>
            </a:r>
            <a:r>
              <a:rPr lang="en-US" altLang="nl-NL" sz="3200" dirty="0">
                <a:solidFill>
                  <a:schemeClr val="bg2"/>
                </a:solidFill>
                <a:latin typeface="Bookman Old Style" pitchFamily="18" charset="0"/>
              </a:rPr>
              <a:t>)</a:t>
            </a:r>
            <a:endParaRPr lang="el-GR" altLang="nl-NL" sz="3200" dirty="0">
              <a:solidFill>
                <a:schemeClr val="bg2"/>
              </a:solidFill>
              <a:latin typeface="Bookman Old Style" pitchFamily="18" charset="0"/>
            </a:endParaRPr>
          </a:p>
        </p:txBody>
      </p:sp>
      <p:sp>
        <p:nvSpPr>
          <p:cNvPr id="23555" name="Text Box 3"/>
          <p:cNvSpPr txBox="1">
            <a:spLocks noChangeArrowheads="1"/>
          </p:cNvSpPr>
          <p:nvPr/>
        </p:nvSpPr>
        <p:spPr bwMode="auto">
          <a:xfrm>
            <a:off x="695400" y="2708920"/>
            <a:ext cx="612068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342900" indent="-342900"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pPr>
            <a:r>
              <a:rPr lang="en-GB" altLang="nl-NL" sz="1600" dirty="0"/>
              <a:t>Any assumed value of the wing </a:t>
            </a:r>
            <a:r>
              <a:rPr lang="en-GB" altLang="nl-NL" sz="1600" b="1" dirty="0" err="1"/>
              <a:t>C</a:t>
            </a:r>
            <a:r>
              <a:rPr lang="en-GB" altLang="nl-NL" sz="1600" b="1" baseline="-25000" dirty="0" err="1"/>
              <a:t>Lmax</a:t>
            </a:r>
            <a:r>
              <a:rPr lang="en-GB" altLang="nl-NL" sz="1600" baseline="-25000" dirty="0"/>
              <a:t> </a:t>
            </a:r>
            <a:r>
              <a:rPr lang="en-GB" altLang="nl-NL" sz="1600" dirty="0"/>
              <a:t> affects the size of the wing surface required to take off and land*.  </a:t>
            </a:r>
            <a:br>
              <a:rPr lang="en-GB" altLang="nl-NL" sz="1600" dirty="0"/>
            </a:br>
            <a:r>
              <a:rPr lang="en-GB" altLang="nl-NL" sz="1600" dirty="0"/>
              <a:t>This surface determines the amount of cruise drag and, as a consequence, the aircraft MTOW.</a:t>
            </a:r>
          </a:p>
          <a:p>
            <a:pPr eaLnBrk="1" hangingPunct="1">
              <a:lnSpc>
                <a:spcPct val="100000"/>
              </a:lnSpc>
              <a:buClrTx/>
            </a:pPr>
            <a:endParaRPr lang="en-GB" altLang="nl-NL" sz="1600" dirty="0"/>
          </a:p>
          <a:p>
            <a:pPr eaLnBrk="1" hangingPunct="1">
              <a:lnSpc>
                <a:spcPct val="100000"/>
              </a:lnSpc>
              <a:buClrTx/>
            </a:pPr>
            <a:r>
              <a:rPr lang="en-GB" altLang="nl-NL" sz="1600" dirty="0"/>
              <a:t>An estimation of </a:t>
            </a:r>
            <a:r>
              <a:rPr lang="en-GB" altLang="nl-NL" sz="1600" b="1" dirty="0" err="1"/>
              <a:t>C</a:t>
            </a:r>
            <a:r>
              <a:rPr lang="en-GB" altLang="nl-NL" sz="1600" b="1" baseline="-25000" dirty="0" err="1"/>
              <a:t>Lmax</a:t>
            </a:r>
            <a:r>
              <a:rPr lang="en-GB" altLang="nl-NL" sz="1600" b="1" dirty="0"/>
              <a:t> </a:t>
            </a:r>
            <a:r>
              <a:rPr lang="en-GB" altLang="nl-NL" sz="1600" dirty="0"/>
              <a:t>is</a:t>
            </a:r>
            <a:r>
              <a:rPr lang="en-GB" altLang="nl-NL" sz="1600" b="1" dirty="0"/>
              <a:t> </a:t>
            </a:r>
            <a:r>
              <a:rPr lang="en-GB" altLang="nl-NL" sz="1600" dirty="0"/>
              <a:t>also required to understand whether high lift devices are needed - and how large - for take off and landing</a:t>
            </a:r>
            <a:endParaRPr lang="en-GB" altLang="nl-NL" sz="1600" baseline="-25000" dirty="0"/>
          </a:p>
          <a:p>
            <a:pPr eaLnBrk="1" hangingPunct="1">
              <a:lnSpc>
                <a:spcPct val="100000"/>
              </a:lnSpc>
              <a:buClrTx/>
              <a:buFontTx/>
              <a:buNone/>
            </a:pPr>
            <a:endParaRPr lang="en-GB" altLang="nl-NL" sz="1600" dirty="0"/>
          </a:p>
        </p:txBody>
      </p:sp>
      <p:sp>
        <p:nvSpPr>
          <p:cNvPr id="15364" name="Rectangle 4"/>
          <p:cNvSpPr>
            <a:spLocks noChangeArrowheads="1"/>
          </p:cNvSpPr>
          <p:nvPr/>
        </p:nvSpPr>
        <p:spPr bwMode="auto">
          <a:xfrm>
            <a:off x="695400" y="1772097"/>
            <a:ext cx="112332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800" b="1" dirty="0"/>
              <a:t>Question: </a:t>
            </a:r>
            <a:r>
              <a:rPr lang="en-GB" altLang="nl-NL" sz="1800" i="1" dirty="0"/>
              <a:t>Why is it important to evaluate the maximum lift coefficient of the wing?</a:t>
            </a:r>
          </a:p>
        </p:txBody>
      </p:sp>
      <p:pic>
        <p:nvPicPr>
          <p:cNvPr id="2" name="Picture 3">
            <a:extLst>
              <a:ext uri="{FF2B5EF4-FFF2-40B4-BE49-F238E27FC236}">
                <a16:creationId xmlns:a16="http://schemas.microsoft.com/office/drawing/2014/main" id="{6B6A6DE7-21F5-C67C-452A-931AF720DAE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25425"/>
          <a:stretch/>
        </p:blipFill>
        <p:spPr bwMode="auto">
          <a:xfrm>
            <a:off x="7032104" y="2276872"/>
            <a:ext cx="4752528" cy="373287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767408" y="188913"/>
            <a:ext cx="1101722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dirty="0">
                <a:solidFill>
                  <a:schemeClr val="bg2"/>
                </a:solidFill>
                <a:latin typeface="Bookman Old Style" pitchFamily="18" charset="0"/>
              </a:rPr>
              <a:t>Evaluation of wing stall angle (</a:t>
            </a:r>
            <a:r>
              <a:rPr lang="el-GR" altLang="nl-NL" sz="3200" dirty="0">
                <a:solidFill>
                  <a:schemeClr val="bg2"/>
                </a:solidFill>
                <a:latin typeface="Bookman Old Style" pitchFamily="18" charset="0"/>
              </a:rPr>
              <a:t>α</a:t>
            </a:r>
            <a:r>
              <a:rPr lang="nl-NL" altLang="nl-NL" sz="3200" baseline="-25000" dirty="0" err="1">
                <a:solidFill>
                  <a:schemeClr val="bg2"/>
                </a:solidFill>
                <a:latin typeface="Bookman Old Style" pitchFamily="18" charset="0"/>
              </a:rPr>
              <a:t>stall</a:t>
            </a:r>
            <a:r>
              <a:rPr lang="nl-NL" altLang="nl-NL" sz="3200" dirty="0">
                <a:solidFill>
                  <a:schemeClr val="bg2"/>
                </a:solidFill>
                <a:latin typeface="Bookman Old Style" pitchFamily="18" charset="0"/>
              </a:rPr>
              <a:t>)</a:t>
            </a:r>
            <a:r>
              <a:rPr lang="en-US" altLang="nl-NL" sz="3200" dirty="0">
                <a:solidFill>
                  <a:schemeClr val="bg2"/>
                </a:solidFill>
                <a:latin typeface="Bookman Old Style" pitchFamily="18" charset="0"/>
              </a:rPr>
              <a:t> and maximum lift coefficient (</a:t>
            </a:r>
            <a:r>
              <a:rPr lang="en-US" altLang="nl-NL" sz="3200" dirty="0" err="1">
                <a:solidFill>
                  <a:schemeClr val="bg2"/>
                </a:solidFill>
                <a:latin typeface="Bookman Old Style" pitchFamily="18" charset="0"/>
              </a:rPr>
              <a:t>C</a:t>
            </a:r>
            <a:r>
              <a:rPr lang="en-US" altLang="nl-NL" sz="3200" baseline="-25000" dirty="0" err="1">
                <a:solidFill>
                  <a:schemeClr val="bg2"/>
                </a:solidFill>
                <a:latin typeface="Bookman Old Style" pitchFamily="18" charset="0"/>
              </a:rPr>
              <a:t>Lmax</a:t>
            </a:r>
            <a:r>
              <a:rPr lang="en-US" altLang="nl-NL" sz="3200" dirty="0">
                <a:solidFill>
                  <a:schemeClr val="bg2"/>
                </a:solidFill>
                <a:latin typeface="Bookman Old Style" pitchFamily="18" charset="0"/>
              </a:rPr>
              <a:t>)</a:t>
            </a:r>
            <a:endParaRPr lang="el-GR" altLang="nl-NL" sz="3200" dirty="0">
              <a:solidFill>
                <a:schemeClr val="bg2"/>
              </a:solidFill>
              <a:latin typeface="Bookman Old Style" pitchFamily="18" charset="0"/>
            </a:endParaRPr>
          </a:p>
        </p:txBody>
      </p:sp>
      <p:sp>
        <p:nvSpPr>
          <p:cNvPr id="16387" name="Text Box 3"/>
          <p:cNvSpPr txBox="1">
            <a:spLocks noChangeArrowheads="1"/>
          </p:cNvSpPr>
          <p:nvPr/>
        </p:nvSpPr>
        <p:spPr bwMode="auto">
          <a:xfrm>
            <a:off x="739286" y="1569750"/>
            <a:ext cx="1104534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dirty="0"/>
              <a:t>Unfortunately the estimation of </a:t>
            </a:r>
            <a:r>
              <a:rPr lang="en-GB" altLang="nl-NL" sz="1600" dirty="0" err="1"/>
              <a:t>CL</a:t>
            </a:r>
            <a:r>
              <a:rPr lang="en-GB" altLang="nl-NL" sz="1600" baseline="-25000" dirty="0" err="1"/>
              <a:t>max</a:t>
            </a:r>
            <a:r>
              <a:rPr lang="en-GB" altLang="nl-NL" sz="1600" dirty="0"/>
              <a:t> in conceptual design is </a:t>
            </a:r>
            <a:r>
              <a:rPr lang="en-GB" altLang="nl-NL" sz="1600" b="1" dirty="0"/>
              <a:t>rather inaccurate</a:t>
            </a:r>
            <a:r>
              <a:rPr lang="en-GB" altLang="nl-NL" sz="1600" dirty="0"/>
              <a:t>. Possibly, it is the least reliable of all the calculations used in conceptual design*!</a:t>
            </a:r>
          </a:p>
        </p:txBody>
      </p:sp>
      <p:sp>
        <p:nvSpPr>
          <p:cNvPr id="5" name="Text Box 3"/>
          <p:cNvSpPr txBox="1">
            <a:spLocks noChangeArrowheads="1"/>
          </p:cNvSpPr>
          <p:nvPr/>
        </p:nvSpPr>
        <p:spPr bwMode="auto">
          <a:xfrm>
            <a:off x="739285" y="2349501"/>
            <a:ext cx="1104534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en-US" sz="1600"/>
              <a:t>For wings featuring </a:t>
            </a:r>
            <a:r>
              <a:rPr lang="en-GB" altLang="en-US" sz="1600" b="1"/>
              <a:t>high aspect ratio</a:t>
            </a:r>
            <a:r>
              <a:rPr lang="en-GB" altLang="en-US" sz="1600"/>
              <a:t>, </a:t>
            </a:r>
            <a:r>
              <a:rPr lang="en-GB" altLang="en-US" sz="1600" b="1"/>
              <a:t>moderate sweep</a:t>
            </a:r>
            <a:r>
              <a:rPr lang="en-GB" altLang="en-US" sz="1600"/>
              <a:t>, and </a:t>
            </a:r>
            <a:r>
              <a:rPr lang="en-GB" altLang="en-US" sz="1600" b="1"/>
              <a:t>large airfoil nose radius</a:t>
            </a:r>
            <a:r>
              <a:rPr lang="en-GB" altLang="en-US" sz="1600"/>
              <a:t>, a good approximation is the following**:</a:t>
            </a:r>
          </a:p>
          <a:p>
            <a:pPr eaLnBrk="1" hangingPunct="1">
              <a:lnSpc>
                <a:spcPct val="100000"/>
              </a:lnSpc>
              <a:buClrTx/>
              <a:buFontTx/>
              <a:buNone/>
            </a:pPr>
            <a:endParaRPr lang="en-US" altLang="en-US" sz="1600"/>
          </a:p>
        </p:txBody>
      </p:sp>
      <p:sp>
        <p:nvSpPr>
          <p:cNvPr id="16389" name="Rectangle 1"/>
          <p:cNvSpPr>
            <a:spLocks noChangeArrowheads="1"/>
          </p:cNvSpPr>
          <p:nvPr/>
        </p:nvSpPr>
        <p:spPr bwMode="auto">
          <a:xfrm>
            <a:off x="6105993" y="3695801"/>
            <a:ext cx="1382713"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US" altLang="nl-NL" sz="1400" dirty="0"/>
              <a:t>Source Raymer</a:t>
            </a:r>
          </a:p>
        </p:txBody>
      </p:sp>
      <p:graphicFrame>
        <p:nvGraphicFramePr>
          <p:cNvPr id="2" name="Object 1"/>
          <p:cNvGraphicFramePr>
            <a:graphicFrameLocks noChangeAspect="1"/>
          </p:cNvGraphicFramePr>
          <p:nvPr>
            <p:extLst>
              <p:ext uri="{D42A27DB-BD31-4B8C-83A1-F6EECF244321}">
                <p14:modId xmlns:p14="http://schemas.microsoft.com/office/powerpoint/2010/main" val="1786890708"/>
              </p:ext>
            </p:extLst>
          </p:nvPr>
        </p:nvGraphicFramePr>
        <p:xfrm>
          <a:off x="2855640" y="3080037"/>
          <a:ext cx="3771900" cy="520700"/>
        </p:xfrm>
        <a:graphic>
          <a:graphicData uri="http://schemas.openxmlformats.org/presentationml/2006/ole">
            <mc:AlternateContent xmlns:mc="http://schemas.openxmlformats.org/markup-compatibility/2006">
              <mc:Choice xmlns:v="urn:schemas-microsoft-com:vml" Requires="v">
                <p:oleObj name="Equation" r:id="rId4" imgW="1651000" imgH="228600" progId="Equation.DSMT4">
                  <p:embed/>
                </p:oleObj>
              </mc:Choice>
              <mc:Fallback>
                <p:oleObj name="Equation" r:id="rId4" imgW="1651000" imgH="22860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5640" y="3080037"/>
                        <a:ext cx="37719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1" name="Rectangle 2"/>
          <p:cNvSpPr>
            <a:spLocks noChangeArrowheads="1"/>
          </p:cNvSpPr>
          <p:nvPr/>
        </p:nvSpPr>
        <p:spPr bwMode="auto">
          <a:xfrm>
            <a:off x="739284" y="4365626"/>
            <a:ext cx="1075731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en-US" sz="1600" dirty="0"/>
              <a:t>In case of </a:t>
            </a:r>
            <a:r>
              <a:rPr lang="en-US" altLang="en-US" sz="1600" b="1" dirty="0"/>
              <a:t>low aspect ratio and/or substantial sweep</a:t>
            </a:r>
            <a:r>
              <a:rPr lang="en-US" altLang="en-US" sz="1600" dirty="0"/>
              <a:t>, and use of relatively </a:t>
            </a:r>
            <a:r>
              <a:rPr lang="en-US" altLang="en-US" sz="1600" b="1" dirty="0"/>
              <a:t>sharp airfoils</a:t>
            </a:r>
            <a:r>
              <a:rPr lang="en-US" altLang="en-US" sz="1600" dirty="0"/>
              <a:t>, a formation of </a:t>
            </a:r>
            <a:r>
              <a:rPr lang="en-US" altLang="en-US" sz="1600" b="1" dirty="0"/>
              <a:t>leading edge vortices occurs </a:t>
            </a:r>
            <a:r>
              <a:rPr lang="en-US" altLang="en-US" sz="1600" dirty="0"/>
              <a:t>at high angle of attack. </a:t>
            </a:r>
          </a:p>
          <a:p>
            <a:pPr eaLnBrk="1" hangingPunct="1">
              <a:lnSpc>
                <a:spcPct val="100000"/>
              </a:lnSpc>
              <a:buClrTx/>
              <a:buFontTx/>
              <a:buNone/>
            </a:pPr>
            <a:r>
              <a:rPr lang="en-US" altLang="en-US" sz="1600" dirty="0"/>
              <a:t>These vortices have a strong influence on the maximum lifting capability of the wing, </a:t>
            </a:r>
            <a:r>
              <a:rPr lang="en-US" altLang="en-US" sz="1600" b="1" dirty="0"/>
              <a:t>up to ~30% of </a:t>
            </a:r>
            <a:r>
              <a:rPr lang="en-US" altLang="en-US" sz="1600" b="1" dirty="0" err="1"/>
              <a:t>Clmax</a:t>
            </a:r>
            <a:r>
              <a:rPr lang="en-US" altLang="en-US" sz="1600" dirty="0"/>
              <a:t> for very high sweep.</a:t>
            </a:r>
            <a:endParaRPr lang="en-GB" altLang="en-US" sz="1600" dirty="0"/>
          </a:p>
        </p:txBody>
      </p:sp>
      <p:sp>
        <p:nvSpPr>
          <p:cNvPr id="8" name="Text Box 25"/>
          <p:cNvSpPr txBox="1">
            <a:spLocks noChangeArrowheads="1"/>
          </p:cNvSpPr>
          <p:nvPr/>
        </p:nvSpPr>
        <p:spPr bwMode="auto">
          <a:xfrm rot="20984738">
            <a:off x="7137259" y="2953545"/>
            <a:ext cx="2360613" cy="584200"/>
          </a:xfrm>
          <a:prstGeom prst="rect">
            <a:avLst/>
          </a:prstGeom>
          <a:solidFill>
            <a:srgbClr val="FFFF00"/>
          </a:solidFill>
          <a:ln w="9525" algn="ctr">
            <a:solidFill>
              <a:schemeClr val="tx1"/>
            </a:solidFill>
            <a:miter lim="800000"/>
            <a:headEnd/>
            <a:tailEnd/>
          </a:ln>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dirty="0"/>
              <a:t>Do NOT use this in your homework assignment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7"/>
          <p:cNvSpPr>
            <a:spLocks noChangeArrowheads="1"/>
          </p:cNvSpPr>
          <p:nvPr/>
        </p:nvSpPr>
        <p:spPr bwMode="auto">
          <a:xfrm>
            <a:off x="767408" y="230188"/>
            <a:ext cx="11089232"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dirty="0">
                <a:solidFill>
                  <a:schemeClr val="bg2"/>
                </a:solidFill>
                <a:latin typeface="Bookman Old Style" pitchFamily="18" charset="0"/>
              </a:rPr>
              <a:t>Evaluation of wing stall angle (</a:t>
            </a:r>
            <a:r>
              <a:rPr lang="el-GR" altLang="nl-NL" sz="3200" dirty="0">
                <a:solidFill>
                  <a:schemeClr val="bg2"/>
                </a:solidFill>
                <a:latin typeface="Bookman Old Style" pitchFamily="18" charset="0"/>
              </a:rPr>
              <a:t>α</a:t>
            </a:r>
            <a:r>
              <a:rPr lang="nl-NL" altLang="nl-NL" sz="3200" baseline="-25000" dirty="0" err="1">
                <a:solidFill>
                  <a:schemeClr val="bg2"/>
                </a:solidFill>
                <a:latin typeface="Bookman Old Style" pitchFamily="18" charset="0"/>
              </a:rPr>
              <a:t>stall</a:t>
            </a:r>
            <a:r>
              <a:rPr lang="nl-NL" altLang="nl-NL" sz="3200" dirty="0">
                <a:solidFill>
                  <a:schemeClr val="bg2"/>
                </a:solidFill>
                <a:latin typeface="Bookman Old Style" pitchFamily="18" charset="0"/>
              </a:rPr>
              <a:t>)</a:t>
            </a:r>
            <a:r>
              <a:rPr lang="en-US" altLang="nl-NL" sz="3200" dirty="0">
                <a:solidFill>
                  <a:schemeClr val="bg2"/>
                </a:solidFill>
                <a:latin typeface="Bookman Old Style" pitchFamily="18" charset="0"/>
              </a:rPr>
              <a:t> and maximum lift coefficient (</a:t>
            </a:r>
            <a:r>
              <a:rPr lang="en-US" altLang="nl-NL" sz="3200" dirty="0" err="1">
                <a:solidFill>
                  <a:schemeClr val="bg2"/>
                </a:solidFill>
                <a:latin typeface="Bookman Old Style" pitchFamily="18" charset="0"/>
              </a:rPr>
              <a:t>C</a:t>
            </a:r>
            <a:r>
              <a:rPr lang="en-US" altLang="nl-NL" sz="3200" baseline="-25000" dirty="0" err="1">
                <a:solidFill>
                  <a:schemeClr val="bg2"/>
                </a:solidFill>
                <a:latin typeface="Bookman Old Style" pitchFamily="18" charset="0"/>
              </a:rPr>
              <a:t>Lmax</a:t>
            </a:r>
            <a:r>
              <a:rPr lang="en-US" altLang="nl-NL" sz="3200" dirty="0">
                <a:solidFill>
                  <a:schemeClr val="bg2"/>
                </a:solidFill>
                <a:latin typeface="Bookman Old Style" pitchFamily="18" charset="0"/>
              </a:rPr>
              <a:t>)</a:t>
            </a:r>
            <a:endParaRPr lang="el-GR" altLang="nl-NL" sz="3200" dirty="0">
              <a:solidFill>
                <a:schemeClr val="bg2"/>
              </a:solidFill>
              <a:latin typeface="Bookman Old Style" pitchFamily="18" charset="0"/>
            </a:endParaRPr>
          </a:p>
        </p:txBody>
      </p:sp>
      <p:sp>
        <p:nvSpPr>
          <p:cNvPr id="7189" name="Rectangle 29"/>
          <p:cNvSpPr>
            <a:spLocks noChangeArrowheads="1"/>
          </p:cNvSpPr>
          <p:nvPr/>
        </p:nvSpPr>
        <p:spPr bwMode="auto">
          <a:xfrm>
            <a:off x="763311" y="3068681"/>
            <a:ext cx="4713288" cy="2288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spcAft>
                <a:spcPts val="1200"/>
              </a:spcAft>
              <a:buClrTx/>
              <a:buNone/>
              <a:defRPr/>
            </a:pPr>
            <a:r>
              <a:rPr lang="en-GB" altLang="nl-NL" sz="1600" dirty="0"/>
              <a:t>This method accounts for:</a:t>
            </a:r>
          </a:p>
          <a:p>
            <a:pPr lvl="1" eaLnBrk="1" hangingPunct="1">
              <a:lnSpc>
                <a:spcPct val="150000"/>
              </a:lnSpc>
              <a:buClrTx/>
              <a:buFontTx/>
              <a:buAutoNum type="arabicPeriod"/>
              <a:defRPr/>
            </a:pPr>
            <a:r>
              <a:rPr lang="en-GB" altLang="nl-NL" dirty="0"/>
              <a:t>aspect ratio</a:t>
            </a:r>
          </a:p>
          <a:p>
            <a:pPr lvl="1" eaLnBrk="1" hangingPunct="1">
              <a:lnSpc>
                <a:spcPct val="150000"/>
              </a:lnSpc>
              <a:buClrTx/>
              <a:buFontTx/>
              <a:buAutoNum type="arabicPeriod"/>
              <a:defRPr/>
            </a:pPr>
            <a:r>
              <a:rPr lang="en-GB" altLang="nl-NL" dirty="0"/>
              <a:t>taper ratio</a:t>
            </a:r>
          </a:p>
          <a:p>
            <a:pPr lvl="1" eaLnBrk="1" hangingPunct="1">
              <a:lnSpc>
                <a:spcPct val="150000"/>
              </a:lnSpc>
              <a:buClrTx/>
              <a:buFontTx/>
              <a:buAutoNum type="arabicPeriod"/>
              <a:defRPr/>
            </a:pPr>
            <a:r>
              <a:rPr lang="en-GB" altLang="nl-NL" dirty="0"/>
              <a:t>sweep angle</a:t>
            </a:r>
          </a:p>
          <a:p>
            <a:pPr lvl="1" eaLnBrk="1" hangingPunct="1">
              <a:lnSpc>
                <a:spcPct val="150000"/>
              </a:lnSpc>
              <a:buClrTx/>
              <a:buFontTx/>
              <a:buAutoNum type="arabicPeriod"/>
              <a:defRPr/>
            </a:pPr>
            <a:r>
              <a:rPr lang="en-GB" altLang="nl-NL" dirty="0" err="1"/>
              <a:t>airfoil</a:t>
            </a:r>
            <a:r>
              <a:rPr lang="en-GB" altLang="nl-NL" dirty="0"/>
              <a:t> type (sharpness factor)</a:t>
            </a:r>
          </a:p>
          <a:p>
            <a:pPr lvl="1" eaLnBrk="1" hangingPunct="1">
              <a:lnSpc>
                <a:spcPct val="150000"/>
              </a:lnSpc>
              <a:buClrTx/>
              <a:buFontTx/>
              <a:buAutoNum type="arabicPeriod"/>
              <a:defRPr/>
            </a:pPr>
            <a:r>
              <a:rPr lang="en-GB" altLang="nl-NL" dirty="0">
                <a:solidFill>
                  <a:schemeClr val="bg1">
                    <a:lumMod val="65000"/>
                  </a:schemeClr>
                </a:solidFill>
              </a:rPr>
              <a:t>Compressibility**</a:t>
            </a:r>
          </a:p>
        </p:txBody>
      </p:sp>
      <p:sp>
        <p:nvSpPr>
          <p:cNvPr id="7190" name="Rectangle 30"/>
          <p:cNvSpPr>
            <a:spLocks noChangeArrowheads="1"/>
          </p:cNvSpPr>
          <p:nvPr/>
        </p:nvSpPr>
        <p:spPr bwMode="auto">
          <a:xfrm>
            <a:off x="784176" y="2186288"/>
            <a:ext cx="1105569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400" dirty="0"/>
              <a:t>A DATCOM method* is proposed here to compute </a:t>
            </a:r>
            <a:r>
              <a:rPr lang="en-GB" altLang="nl-NL" sz="1400" b="1" dirty="0"/>
              <a:t>stall angle </a:t>
            </a:r>
            <a:r>
              <a:rPr lang="en-GB" altLang="nl-NL" sz="1400" dirty="0"/>
              <a:t>and </a:t>
            </a:r>
            <a:r>
              <a:rPr lang="en-GB" altLang="nl-NL" sz="1400" b="1" dirty="0"/>
              <a:t>maximum lift coefficient </a:t>
            </a:r>
            <a:r>
              <a:rPr lang="en-GB" altLang="nl-NL" sz="1400" dirty="0"/>
              <a:t>of a finite length wing.</a:t>
            </a:r>
          </a:p>
        </p:txBody>
      </p:sp>
      <p:grpSp>
        <p:nvGrpSpPr>
          <p:cNvPr id="24" name="Group 23"/>
          <p:cNvGrpSpPr/>
          <p:nvPr/>
        </p:nvGrpSpPr>
        <p:grpSpPr>
          <a:xfrm>
            <a:off x="7824192" y="2564904"/>
            <a:ext cx="3606800" cy="3486150"/>
            <a:chOff x="5395913" y="2566988"/>
            <a:chExt cx="3606800" cy="3486150"/>
          </a:xfrm>
        </p:grpSpPr>
        <p:sp>
          <p:nvSpPr>
            <p:cNvPr id="25" name="Line 5"/>
            <p:cNvSpPr>
              <a:spLocks noChangeShapeType="1"/>
            </p:cNvSpPr>
            <p:nvPr/>
          </p:nvSpPr>
          <p:spPr bwMode="auto">
            <a:xfrm flipV="1">
              <a:off x="6615113" y="2795588"/>
              <a:ext cx="3175" cy="29083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26" name="Line 6"/>
            <p:cNvSpPr>
              <a:spLocks noChangeShapeType="1"/>
            </p:cNvSpPr>
            <p:nvPr/>
          </p:nvSpPr>
          <p:spPr bwMode="auto">
            <a:xfrm rot="5400000" flipV="1">
              <a:off x="7231063" y="3833813"/>
              <a:ext cx="0" cy="334645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27" name="Line 7"/>
            <p:cNvSpPr>
              <a:spLocks noChangeShapeType="1"/>
            </p:cNvSpPr>
            <p:nvPr/>
          </p:nvSpPr>
          <p:spPr bwMode="auto">
            <a:xfrm flipV="1">
              <a:off x="6010275" y="3633788"/>
              <a:ext cx="1522413" cy="18732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GB"/>
            </a:p>
          </p:txBody>
        </p:sp>
        <p:graphicFrame>
          <p:nvGraphicFramePr>
            <p:cNvPr id="28" name="Object 8"/>
            <p:cNvGraphicFramePr>
              <a:graphicFrameLocks noChangeAspect="1"/>
            </p:cNvGraphicFramePr>
            <p:nvPr>
              <p:extLst>
                <p:ext uri="{D42A27DB-BD31-4B8C-83A1-F6EECF244321}">
                  <p14:modId xmlns:p14="http://schemas.microsoft.com/office/powerpoint/2010/main" val="2815748157"/>
                </p:ext>
              </p:extLst>
            </p:nvPr>
          </p:nvGraphicFramePr>
          <p:xfrm>
            <a:off x="6161088" y="2566988"/>
            <a:ext cx="376237" cy="396875"/>
          </p:xfrm>
          <a:graphic>
            <a:graphicData uri="http://schemas.openxmlformats.org/presentationml/2006/ole">
              <mc:AlternateContent xmlns:mc="http://schemas.openxmlformats.org/markup-compatibility/2006">
                <mc:Choice xmlns:v="urn:schemas-microsoft-com:vml" Requires="v">
                  <p:oleObj name="Equation" r:id="rId4" imgW="203024" imgH="215713" progId="Equation.3">
                    <p:embed/>
                  </p:oleObj>
                </mc:Choice>
                <mc:Fallback>
                  <p:oleObj name="Equation" r:id="rId4" imgW="203024" imgH="215713" progId="Equation.3">
                    <p:embed/>
                    <p:pic>
                      <p:nvPicPr>
                        <p:cNvPr id="1844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1088" y="2566988"/>
                          <a:ext cx="376237"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 name="Line 9"/>
            <p:cNvSpPr>
              <a:spLocks noChangeShapeType="1"/>
            </p:cNvSpPr>
            <p:nvPr/>
          </p:nvSpPr>
          <p:spPr bwMode="auto">
            <a:xfrm>
              <a:off x="6770688" y="4624388"/>
              <a:ext cx="806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30" name="Arc 10"/>
            <p:cNvSpPr>
              <a:spLocks/>
            </p:cNvSpPr>
            <p:nvPr/>
          </p:nvSpPr>
          <p:spPr bwMode="auto">
            <a:xfrm>
              <a:off x="6694488" y="4319588"/>
              <a:ext cx="454025" cy="314325"/>
            </a:xfrm>
            <a:custGeom>
              <a:avLst/>
              <a:gdLst>
                <a:gd name="T0" fmla="*/ 2147483647 w 21599"/>
                <a:gd name="T1" fmla="*/ 0 h 15293"/>
                <a:gd name="T2" fmla="*/ 2147483647 w 21599"/>
                <a:gd name="T3" fmla="*/ 2147483647 h 15293"/>
                <a:gd name="T4" fmla="*/ 0 w 21599"/>
                <a:gd name="T5" fmla="*/ 2147483647 h 15293"/>
                <a:gd name="T6" fmla="*/ 0 60000 65536"/>
                <a:gd name="T7" fmla="*/ 0 60000 65536"/>
                <a:gd name="T8" fmla="*/ 0 60000 65536"/>
                <a:gd name="T9" fmla="*/ 0 w 21599"/>
                <a:gd name="T10" fmla="*/ 0 h 15293"/>
                <a:gd name="T11" fmla="*/ 21599 w 21599"/>
                <a:gd name="T12" fmla="*/ 15293 h 15293"/>
              </a:gdLst>
              <a:ahLst/>
              <a:cxnLst>
                <a:cxn ang="T6">
                  <a:pos x="T0" y="T1"/>
                </a:cxn>
                <a:cxn ang="T7">
                  <a:pos x="T2" y="T3"/>
                </a:cxn>
                <a:cxn ang="T8">
                  <a:pos x="T4" y="T5"/>
                </a:cxn>
              </a:cxnLst>
              <a:rect l="T9" t="T10" r="T11" b="T12"/>
              <a:pathLst>
                <a:path w="21599" h="15293" fill="none" extrusionOk="0">
                  <a:moveTo>
                    <a:pt x="15253" y="0"/>
                  </a:moveTo>
                  <a:cubicBezTo>
                    <a:pt x="19280" y="4015"/>
                    <a:pt x="21560" y="9457"/>
                    <a:pt x="21599" y="15143"/>
                  </a:cubicBezTo>
                </a:path>
                <a:path w="21599" h="15293" stroke="0" extrusionOk="0">
                  <a:moveTo>
                    <a:pt x="15253" y="0"/>
                  </a:moveTo>
                  <a:cubicBezTo>
                    <a:pt x="19280" y="4015"/>
                    <a:pt x="21560" y="9457"/>
                    <a:pt x="21599" y="15143"/>
                  </a:cubicBezTo>
                  <a:lnTo>
                    <a:pt x="0" y="15293"/>
                  </a:lnTo>
                  <a:lnTo>
                    <a:pt x="15253"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GB"/>
            </a:p>
          </p:txBody>
        </p:sp>
        <p:sp>
          <p:nvSpPr>
            <p:cNvPr id="31" name="Text Box 11"/>
            <p:cNvSpPr txBox="1">
              <a:spLocks noChangeArrowheads="1"/>
            </p:cNvSpPr>
            <p:nvPr/>
          </p:nvSpPr>
          <p:spPr bwMode="auto">
            <a:xfrm>
              <a:off x="8675688" y="553878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l-GR" altLang="nl-NL"/>
                <a:t>α</a:t>
              </a:r>
            </a:p>
          </p:txBody>
        </p:sp>
        <p:graphicFrame>
          <p:nvGraphicFramePr>
            <p:cNvPr id="32" name="Object 12"/>
            <p:cNvGraphicFramePr>
              <a:graphicFrameLocks noChangeAspect="1"/>
            </p:cNvGraphicFramePr>
            <p:nvPr>
              <p:extLst>
                <p:ext uri="{D42A27DB-BD31-4B8C-83A1-F6EECF244321}">
                  <p14:modId xmlns:p14="http://schemas.microsoft.com/office/powerpoint/2010/main" val="2677716929"/>
                </p:ext>
              </p:extLst>
            </p:nvPr>
          </p:nvGraphicFramePr>
          <p:xfrm>
            <a:off x="5659438" y="5614988"/>
            <a:ext cx="498475" cy="438150"/>
          </p:xfrm>
          <a:graphic>
            <a:graphicData uri="http://schemas.openxmlformats.org/presentationml/2006/ole">
              <mc:AlternateContent xmlns:mc="http://schemas.openxmlformats.org/markup-compatibility/2006">
                <mc:Choice xmlns:v="urn:schemas-microsoft-com:vml" Requires="v">
                  <p:oleObj name="Equation" r:id="rId6" imgW="253890" imgH="228501" progId="Equation.3">
                    <p:embed/>
                  </p:oleObj>
                </mc:Choice>
                <mc:Fallback>
                  <p:oleObj name="Equation" r:id="rId6" imgW="253890" imgH="228501" progId="Equation.3">
                    <p:embed/>
                    <p:pic>
                      <p:nvPicPr>
                        <p:cNvPr id="18444"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59438" y="5614988"/>
                          <a:ext cx="498475"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 name="Object 13"/>
            <p:cNvGraphicFramePr>
              <a:graphicFrameLocks noChangeAspect="1"/>
            </p:cNvGraphicFramePr>
            <p:nvPr>
              <p:extLst>
                <p:ext uri="{D42A27DB-BD31-4B8C-83A1-F6EECF244321}">
                  <p14:modId xmlns:p14="http://schemas.microsoft.com/office/powerpoint/2010/main" val="3135572970"/>
                </p:ext>
              </p:extLst>
            </p:nvPr>
          </p:nvGraphicFramePr>
          <p:xfrm>
            <a:off x="5475288" y="4395788"/>
            <a:ext cx="681037" cy="419100"/>
          </p:xfrm>
          <a:graphic>
            <a:graphicData uri="http://schemas.openxmlformats.org/presentationml/2006/ole">
              <mc:AlternateContent xmlns:mc="http://schemas.openxmlformats.org/markup-compatibility/2006">
                <mc:Choice xmlns:v="urn:schemas-microsoft-com:vml" Requires="v">
                  <p:oleObj name="Equation" r:id="rId8" imgW="368300" imgH="228600" progId="Equation.3">
                    <p:embed/>
                  </p:oleObj>
                </mc:Choice>
                <mc:Fallback>
                  <p:oleObj name="Equation" r:id="rId8" imgW="368300" imgH="228600" progId="Equation.3">
                    <p:embed/>
                    <p:pic>
                      <p:nvPicPr>
                        <p:cNvPr id="18445"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75288" y="4395788"/>
                          <a:ext cx="681037"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 name="Line 14"/>
            <p:cNvSpPr>
              <a:spLocks noChangeShapeType="1"/>
            </p:cNvSpPr>
            <p:nvPr/>
          </p:nvSpPr>
          <p:spPr bwMode="auto">
            <a:xfrm>
              <a:off x="6161088" y="4700588"/>
              <a:ext cx="457200" cy="76200"/>
            </a:xfrm>
            <a:prstGeom prst="line">
              <a:avLst/>
            </a:prstGeom>
            <a:noFill/>
            <a:ln w="9525">
              <a:solidFill>
                <a:schemeClr val="tx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35" name="Text Box 15"/>
            <p:cNvSpPr txBox="1">
              <a:spLocks noChangeArrowheads="1"/>
            </p:cNvSpPr>
            <p:nvPr/>
          </p:nvSpPr>
          <p:spPr bwMode="auto">
            <a:xfrm>
              <a:off x="7151688" y="4167188"/>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a:t>C</a:t>
              </a:r>
              <a:r>
                <a:rPr lang="en-GB" altLang="nl-NL" baseline="-25000"/>
                <a:t>L</a:t>
              </a:r>
              <a:r>
                <a:rPr lang="el-GR" altLang="nl-NL" baseline="-25000"/>
                <a:t>α</a:t>
              </a:r>
            </a:p>
          </p:txBody>
        </p:sp>
        <p:sp>
          <p:nvSpPr>
            <p:cNvPr id="36" name="Line 16"/>
            <p:cNvSpPr>
              <a:spLocks noChangeShapeType="1"/>
            </p:cNvSpPr>
            <p:nvPr/>
          </p:nvSpPr>
          <p:spPr bwMode="auto">
            <a:xfrm flipV="1">
              <a:off x="7443788" y="2820988"/>
              <a:ext cx="723900" cy="901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37" name="Text Box 17"/>
            <p:cNvSpPr txBox="1">
              <a:spLocks noChangeArrowheads="1"/>
            </p:cNvSpPr>
            <p:nvPr/>
          </p:nvSpPr>
          <p:spPr bwMode="auto">
            <a:xfrm>
              <a:off x="7834313" y="5614988"/>
              <a:ext cx="457200" cy="406400"/>
            </a:xfrm>
            <a:prstGeom prst="rect">
              <a:avLst/>
            </a:prstGeom>
            <a:solidFill>
              <a:srgbClr val="FFFF00"/>
            </a:solidFill>
            <a:ln w="9525" algn="ctr">
              <a:solidFill>
                <a:schemeClr val="tx1"/>
              </a:solidFill>
              <a:miter lim="800000"/>
              <a:headEnd/>
              <a:tailEnd/>
            </a:ln>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l-GR" altLang="nl-NL"/>
                <a:t>α</a:t>
              </a:r>
              <a:r>
                <a:rPr lang="nl-NL" altLang="nl-NL" baseline="-25000"/>
                <a:t>s</a:t>
              </a:r>
              <a:endParaRPr lang="el-GR" altLang="nl-NL" baseline="-25000"/>
            </a:p>
          </p:txBody>
        </p:sp>
        <p:sp>
          <p:nvSpPr>
            <p:cNvPr id="38" name="Line 18"/>
            <p:cNvSpPr>
              <a:spLocks noChangeShapeType="1"/>
            </p:cNvSpPr>
            <p:nvPr/>
          </p:nvSpPr>
          <p:spPr bwMode="auto">
            <a:xfrm flipV="1">
              <a:off x="8066088" y="2566988"/>
              <a:ext cx="0" cy="2971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en-GB"/>
            </a:p>
          </p:txBody>
        </p:sp>
        <p:sp>
          <p:nvSpPr>
            <p:cNvPr id="39" name="Line 19"/>
            <p:cNvSpPr>
              <a:spLocks noChangeShapeType="1"/>
            </p:cNvSpPr>
            <p:nvPr/>
          </p:nvSpPr>
          <p:spPr bwMode="auto">
            <a:xfrm>
              <a:off x="6389688" y="3405188"/>
              <a:ext cx="2514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en-GB"/>
            </a:p>
          </p:txBody>
        </p:sp>
        <p:sp>
          <p:nvSpPr>
            <p:cNvPr id="40" name="Freeform 20"/>
            <p:cNvSpPr>
              <a:spLocks/>
            </p:cNvSpPr>
            <p:nvPr/>
          </p:nvSpPr>
          <p:spPr bwMode="auto">
            <a:xfrm>
              <a:off x="7456488" y="3405188"/>
              <a:ext cx="1006475" cy="304800"/>
            </a:xfrm>
            <a:custGeom>
              <a:avLst/>
              <a:gdLst>
                <a:gd name="T0" fmla="*/ 0 w 634"/>
                <a:gd name="T1" fmla="*/ 2147483647 h 192"/>
                <a:gd name="T2" fmla="*/ 2147483647 w 634"/>
                <a:gd name="T3" fmla="*/ 2147483647 h 192"/>
                <a:gd name="T4" fmla="*/ 2147483647 w 634"/>
                <a:gd name="T5" fmla="*/ 0 h 192"/>
                <a:gd name="T6" fmla="*/ 2147483647 w 634"/>
                <a:gd name="T7" fmla="*/ 2147483647 h 192"/>
                <a:gd name="T8" fmla="*/ 2147483647 w 634"/>
                <a:gd name="T9" fmla="*/ 2147483647 h 192"/>
                <a:gd name="T10" fmla="*/ 0 60000 65536"/>
                <a:gd name="T11" fmla="*/ 0 60000 65536"/>
                <a:gd name="T12" fmla="*/ 0 60000 65536"/>
                <a:gd name="T13" fmla="*/ 0 60000 65536"/>
                <a:gd name="T14" fmla="*/ 0 60000 65536"/>
                <a:gd name="T15" fmla="*/ 0 w 634"/>
                <a:gd name="T16" fmla="*/ 0 h 192"/>
                <a:gd name="T17" fmla="*/ 634 w 634"/>
                <a:gd name="T18" fmla="*/ 192 h 192"/>
              </a:gdLst>
              <a:ahLst/>
              <a:cxnLst>
                <a:cxn ang="T10">
                  <a:pos x="T0" y="T1"/>
                </a:cxn>
                <a:cxn ang="T11">
                  <a:pos x="T2" y="T3"/>
                </a:cxn>
                <a:cxn ang="T12">
                  <a:pos x="T4" y="T5"/>
                </a:cxn>
                <a:cxn ang="T13">
                  <a:pos x="T6" y="T7"/>
                </a:cxn>
                <a:cxn ang="T14">
                  <a:pos x="T8" y="T9"/>
                </a:cxn>
              </a:cxnLst>
              <a:rect l="T15" t="T16" r="T17" b="T18"/>
              <a:pathLst>
                <a:path w="634" h="192">
                  <a:moveTo>
                    <a:pt x="0" y="192"/>
                  </a:moveTo>
                  <a:cubicBezTo>
                    <a:pt x="28" y="170"/>
                    <a:pt x="105" y="90"/>
                    <a:pt x="168" y="58"/>
                  </a:cubicBezTo>
                  <a:cubicBezTo>
                    <a:pt x="231" y="26"/>
                    <a:pt x="314" y="0"/>
                    <a:pt x="379" y="0"/>
                  </a:cubicBezTo>
                  <a:cubicBezTo>
                    <a:pt x="444" y="0"/>
                    <a:pt x="515" y="33"/>
                    <a:pt x="557" y="58"/>
                  </a:cubicBezTo>
                  <a:cubicBezTo>
                    <a:pt x="599" y="83"/>
                    <a:pt x="618" y="130"/>
                    <a:pt x="634" y="149"/>
                  </a:cubicBezTo>
                </a:path>
              </a:pathLst>
            </a:custGeom>
            <a:noFill/>
            <a:ln w="127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spAutoFit/>
            </a:bodyPr>
            <a:lstStyle/>
            <a:p>
              <a:endParaRPr lang="en-GB"/>
            </a:p>
          </p:txBody>
        </p:sp>
        <p:graphicFrame>
          <p:nvGraphicFramePr>
            <p:cNvPr id="41" name="Object 21"/>
            <p:cNvGraphicFramePr>
              <a:graphicFrameLocks noChangeAspect="1"/>
            </p:cNvGraphicFramePr>
            <p:nvPr>
              <p:extLst>
                <p:ext uri="{D42A27DB-BD31-4B8C-83A1-F6EECF244321}">
                  <p14:modId xmlns:p14="http://schemas.microsoft.com/office/powerpoint/2010/main" val="3344501746"/>
                </p:ext>
              </p:extLst>
            </p:nvPr>
          </p:nvGraphicFramePr>
          <p:xfrm>
            <a:off x="5395913" y="3465513"/>
            <a:ext cx="833437" cy="511175"/>
          </p:xfrm>
          <a:graphic>
            <a:graphicData uri="http://schemas.openxmlformats.org/presentationml/2006/ole">
              <mc:AlternateContent xmlns:mc="http://schemas.openxmlformats.org/markup-compatibility/2006">
                <mc:Choice xmlns:v="urn:schemas-microsoft-com:vml" Requires="v">
                  <p:oleObj name="Equation" r:id="rId10" imgW="368300" imgH="228600" progId="Equation.3">
                    <p:embed/>
                  </p:oleObj>
                </mc:Choice>
                <mc:Fallback>
                  <p:oleObj name="Equation" r:id="rId10" imgW="368300" imgH="228600" progId="Equation.3">
                    <p:embed/>
                    <p:pic>
                      <p:nvPicPr>
                        <p:cNvPr id="18453"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95913" y="3465513"/>
                          <a:ext cx="833437" cy="511175"/>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 name="Line 22"/>
            <p:cNvSpPr>
              <a:spLocks noChangeShapeType="1"/>
            </p:cNvSpPr>
            <p:nvPr/>
          </p:nvSpPr>
          <p:spPr bwMode="auto">
            <a:xfrm flipV="1">
              <a:off x="6161088" y="3405188"/>
              <a:ext cx="457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GB"/>
            </a:p>
          </p:txBody>
        </p:sp>
        <p:sp>
          <p:nvSpPr>
            <p:cNvPr id="43" name="Oval 24"/>
            <p:cNvSpPr>
              <a:spLocks noChangeArrowheads="1"/>
            </p:cNvSpPr>
            <p:nvPr/>
          </p:nvSpPr>
          <p:spPr bwMode="auto">
            <a:xfrm>
              <a:off x="7058025" y="2884488"/>
              <a:ext cx="1944688" cy="1298575"/>
            </a:xfrm>
            <a:prstGeom prst="ellipse">
              <a:avLst/>
            </a:prstGeom>
            <a:noFill/>
            <a:ln w="38100" algn="ctr">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endParaRPr lang="nl-NL" altLang="nl-NL" sz="1600"/>
            </a:p>
          </p:txBody>
        </p:sp>
      </p:grpSp>
      <p:sp>
        <p:nvSpPr>
          <p:cNvPr id="2" name="Text Box 3">
            <a:extLst>
              <a:ext uri="{FF2B5EF4-FFF2-40B4-BE49-F238E27FC236}">
                <a16:creationId xmlns:a16="http://schemas.microsoft.com/office/drawing/2014/main" id="{BECAEE62-F1D5-4045-7C63-0E71624879FA}"/>
              </a:ext>
            </a:extLst>
          </p:cNvPr>
          <p:cNvSpPr txBox="1">
            <a:spLocks noChangeArrowheads="1"/>
          </p:cNvSpPr>
          <p:nvPr/>
        </p:nvSpPr>
        <p:spPr bwMode="auto">
          <a:xfrm>
            <a:off x="767408" y="1360438"/>
            <a:ext cx="1104534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dirty="0"/>
              <a:t>Unfortunately the estimation of </a:t>
            </a:r>
            <a:r>
              <a:rPr lang="en-GB" altLang="nl-NL" sz="1600" dirty="0" err="1"/>
              <a:t>CL</a:t>
            </a:r>
            <a:r>
              <a:rPr lang="en-GB" altLang="nl-NL" sz="1600" baseline="-25000" dirty="0" err="1"/>
              <a:t>max</a:t>
            </a:r>
            <a:r>
              <a:rPr lang="en-GB" altLang="nl-NL" sz="1600" dirty="0"/>
              <a:t> in conceptual design is </a:t>
            </a:r>
            <a:r>
              <a:rPr lang="en-GB" altLang="nl-NL" sz="1600" b="1" dirty="0"/>
              <a:t>rather inaccurate</a:t>
            </a:r>
            <a:r>
              <a:rPr lang="en-GB" altLang="nl-NL" sz="1600" dirty="0"/>
              <a:t>. Possibly, it is the least reliable of all the calculations used in conceptual design*!</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89">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189">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89">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189">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189">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18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ChangeArrowheads="1"/>
          </p:cNvSpPr>
          <p:nvPr/>
        </p:nvSpPr>
        <p:spPr bwMode="auto">
          <a:xfrm>
            <a:off x="695400" y="115888"/>
            <a:ext cx="94328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a:solidFill>
                  <a:schemeClr val="bg2"/>
                </a:solidFill>
                <a:latin typeface="Bookman Old Style" pitchFamily="18" charset="0"/>
              </a:rPr>
              <a:t>Definition of the LE sharpness parameter (</a:t>
            </a:r>
            <a:r>
              <a:rPr lang="el-GR" altLang="nl-NL" sz="3200" dirty="0">
                <a:solidFill>
                  <a:schemeClr val="bg2"/>
                </a:solidFill>
                <a:latin typeface="Bookman Old Style" pitchFamily="18" charset="0"/>
              </a:rPr>
              <a:t>Δ</a:t>
            </a:r>
            <a:r>
              <a:rPr lang="nl-NL" altLang="nl-NL" sz="3200" dirty="0">
                <a:solidFill>
                  <a:schemeClr val="bg2"/>
                </a:solidFill>
                <a:latin typeface="Bookman Old Style" pitchFamily="18" charset="0"/>
              </a:rPr>
              <a:t>Y)</a:t>
            </a:r>
            <a:r>
              <a:rPr lang="en-US" altLang="nl-NL" sz="3200" dirty="0">
                <a:solidFill>
                  <a:schemeClr val="bg2"/>
                </a:solidFill>
                <a:latin typeface="Bookman Old Style" pitchFamily="18" charset="0"/>
              </a:rPr>
              <a:t> </a:t>
            </a:r>
            <a:endParaRPr lang="el-GR" altLang="nl-NL" sz="3200" dirty="0">
              <a:solidFill>
                <a:schemeClr val="bg2"/>
              </a:solidFill>
              <a:latin typeface="Bookman Old Style" pitchFamily="18" charset="0"/>
            </a:endParaRPr>
          </a:p>
        </p:txBody>
      </p:sp>
      <p:pic>
        <p:nvPicPr>
          <p:cNvPr id="24582" name="Picture 4"/>
          <p:cNvPicPr>
            <a:picLocks noChangeAspect="1" noChangeArrowheads="1"/>
          </p:cNvPicPr>
          <p:nvPr/>
        </p:nvPicPr>
        <p:blipFill>
          <a:blip r:embed="rId4">
            <a:extLst>
              <a:ext uri="{28A0092B-C50C-407E-A947-70E740481C1C}">
                <a14:useLocalDpi xmlns:a14="http://schemas.microsoft.com/office/drawing/2010/main" val="0"/>
              </a:ext>
            </a:extLst>
          </a:blip>
          <a:srcRect l="11539" r="7692"/>
          <a:stretch>
            <a:fillRect/>
          </a:stretch>
        </p:blipFill>
        <p:spPr bwMode="auto">
          <a:xfrm>
            <a:off x="7752184" y="3433366"/>
            <a:ext cx="3429000"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4583" name="Text Box 5"/>
          <p:cNvSpPr txBox="1">
            <a:spLocks noChangeArrowheads="1"/>
          </p:cNvSpPr>
          <p:nvPr/>
        </p:nvSpPr>
        <p:spPr bwMode="auto">
          <a:xfrm>
            <a:off x="767408" y="906686"/>
            <a:ext cx="11233247"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defRPr/>
            </a:pPr>
            <a:r>
              <a:rPr lang="en-GB" altLang="nl-NL" sz="1600" dirty="0"/>
              <a:t>The sharper the LE, the higher the intensity of the generated leading edge vortices; hence*, the higher </a:t>
            </a:r>
            <a:r>
              <a:rPr lang="en-GB" altLang="nl-NL" sz="1600" dirty="0" err="1"/>
              <a:t>C</a:t>
            </a:r>
            <a:r>
              <a:rPr lang="en-GB" altLang="nl-NL" sz="1600" baseline="-25000" dirty="0" err="1"/>
              <a:t>Lmax</a:t>
            </a:r>
            <a:endParaRPr lang="en-GB" altLang="nl-NL" sz="1600" dirty="0"/>
          </a:p>
          <a:p>
            <a:pPr eaLnBrk="1" hangingPunct="1">
              <a:lnSpc>
                <a:spcPct val="100000"/>
              </a:lnSpc>
              <a:buClrTx/>
              <a:buFontTx/>
              <a:buNone/>
              <a:defRPr/>
            </a:pPr>
            <a:endParaRPr lang="en-GB" altLang="nl-NL" sz="1050" dirty="0"/>
          </a:p>
          <a:p>
            <a:pPr eaLnBrk="1" hangingPunct="1">
              <a:lnSpc>
                <a:spcPct val="100000"/>
              </a:lnSpc>
              <a:buClrTx/>
              <a:buFontTx/>
              <a:buNone/>
              <a:defRPr/>
            </a:pPr>
            <a:r>
              <a:rPr lang="en-GB" altLang="nl-NL" sz="1600" dirty="0"/>
              <a:t>The shape of the upper part of the </a:t>
            </a:r>
            <a:r>
              <a:rPr lang="en-GB" altLang="nl-NL" sz="1600" dirty="0" err="1"/>
              <a:t>airfoil</a:t>
            </a:r>
            <a:r>
              <a:rPr lang="en-GB" altLang="nl-NL" sz="1600" dirty="0"/>
              <a:t>, near the LE**, is mostly responsible for the formation of these vortexes. </a:t>
            </a:r>
          </a:p>
          <a:p>
            <a:pPr eaLnBrk="1" hangingPunct="1">
              <a:lnSpc>
                <a:spcPct val="100000"/>
              </a:lnSpc>
              <a:buClrTx/>
              <a:buFontTx/>
              <a:buNone/>
              <a:defRPr/>
            </a:pPr>
            <a:endParaRPr lang="en-GB" altLang="nl-NL" sz="1050" dirty="0"/>
          </a:p>
          <a:p>
            <a:pPr eaLnBrk="1" hangingPunct="1">
              <a:lnSpc>
                <a:spcPct val="100000"/>
              </a:lnSpc>
              <a:buClrTx/>
              <a:buFontTx/>
              <a:buNone/>
              <a:defRPr/>
            </a:pPr>
            <a:r>
              <a:rPr lang="en-GB" altLang="nl-NL" sz="1600" dirty="0"/>
              <a:t>A </a:t>
            </a:r>
            <a:r>
              <a:rPr lang="en-GB" altLang="nl-NL" sz="1600" b="1" dirty="0"/>
              <a:t>LE sharpness parameter</a:t>
            </a:r>
            <a:r>
              <a:rPr lang="en-GB" altLang="nl-NL" sz="1600" dirty="0"/>
              <a:t> (</a:t>
            </a:r>
            <a:r>
              <a:rPr lang="el-GR" altLang="nl-NL" sz="1600" b="1" dirty="0"/>
              <a:t>Δ</a:t>
            </a:r>
            <a:r>
              <a:rPr lang="nl-NL" altLang="nl-NL" sz="1600" b="1" dirty="0"/>
              <a:t>Y</a:t>
            </a:r>
            <a:r>
              <a:rPr lang="nl-NL" altLang="nl-NL" sz="1600" dirty="0"/>
              <a:t>) is </a:t>
            </a:r>
            <a:r>
              <a:rPr lang="nl-NL" altLang="nl-NL" sz="1600" dirty="0" err="1"/>
              <a:t>used</a:t>
            </a:r>
            <a:r>
              <a:rPr lang="nl-NL" altLang="nl-NL" sz="1600" dirty="0"/>
              <a:t>  as a  parameter </a:t>
            </a:r>
            <a:r>
              <a:rPr lang="nl-NL" altLang="nl-NL" sz="1600" dirty="0" err="1"/>
              <a:t>to</a:t>
            </a:r>
            <a:r>
              <a:rPr lang="nl-NL" altLang="nl-NL" sz="1600" dirty="0"/>
              <a:t> </a:t>
            </a:r>
            <a:r>
              <a:rPr lang="nl-NL" altLang="nl-NL" sz="1600" dirty="0" err="1"/>
              <a:t>calculate</a:t>
            </a:r>
            <a:r>
              <a:rPr lang="nl-NL" altLang="nl-NL" sz="1600" dirty="0"/>
              <a:t> </a:t>
            </a:r>
            <a:r>
              <a:rPr lang="nl-NL" altLang="nl-NL" sz="1600" dirty="0" err="1"/>
              <a:t>the</a:t>
            </a:r>
            <a:r>
              <a:rPr lang="nl-NL" altLang="nl-NL" sz="1600" dirty="0"/>
              <a:t> </a:t>
            </a:r>
            <a:r>
              <a:rPr lang="en-GB" altLang="nl-NL" sz="1600" dirty="0" err="1"/>
              <a:t>C</a:t>
            </a:r>
            <a:r>
              <a:rPr lang="en-GB" altLang="nl-NL" sz="1600" baseline="-25000" dirty="0" err="1"/>
              <a:t>Lmax</a:t>
            </a:r>
            <a:r>
              <a:rPr lang="en-GB" altLang="nl-NL" sz="1600" dirty="0"/>
              <a:t>; it can be defined as follows:</a:t>
            </a:r>
          </a:p>
        </p:txBody>
      </p:sp>
      <p:sp>
        <p:nvSpPr>
          <p:cNvPr id="24584" name="Text Box 7"/>
          <p:cNvSpPr txBox="1">
            <a:spLocks noChangeArrowheads="1"/>
          </p:cNvSpPr>
          <p:nvPr/>
        </p:nvSpPr>
        <p:spPr bwMode="auto">
          <a:xfrm>
            <a:off x="7181549" y="2765292"/>
            <a:ext cx="431505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dirty="0"/>
              <a:t>IF you know the definition of your </a:t>
            </a:r>
            <a:r>
              <a:rPr lang="en-GB" altLang="nl-NL" sz="1600" dirty="0" err="1"/>
              <a:t>airfoil</a:t>
            </a:r>
            <a:r>
              <a:rPr lang="en-GB" altLang="nl-NL" sz="1600" dirty="0"/>
              <a:t> you can compute </a:t>
            </a:r>
            <a:r>
              <a:rPr lang="el-GR" altLang="nl-NL" sz="1600" dirty="0"/>
              <a:t>Δ</a:t>
            </a:r>
            <a:r>
              <a:rPr lang="nl-NL" altLang="nl-NL" sz="1600" dirty="0"/>
              <a:t>Y</a:t>
            </a:r>
            <a:r>
              <a:rPr lang="en-GB" altLang="nl-NL" sz="1600" dirty="0"/>
              <a:t> by yourself, ELSE</a:t>
            </a:r>
          </a:p>
        </p:txBody>
      </p:sp>
      <p:grpSp>
        <p:nvGrpSpPr>
          <p:cNvPr id="12" name="Group 11"/>
          <p:cNvGrpSpPr>
            <a:grpSpLocks/>
          </p:cNvGrpSpPr>
          <p:nvPr/>
        </p:nvGrpSpPr>
        <p:grpSpPr bwMode="auto">
          <a:xfrm>
            <a:off x="655215" y="2564904"/>
            <a:ext cx="5715000" cy="2949575"/>
            <a:chOff x="0" y="3352800"/>
            <a:chExt cx="5442111" cy="2743200"/>
          </a:xfrm>
        </p:grpSpPr>
        <p:sp>
          <p:nvSpPr>
            <p:cNvPr id="13" name="Oval 8"/>
            <p:cNvSpPr>
              <a:spLocks noChangeArrowheads="1"/>
            </p:cNvSpPr>
            <p:nvPr/>
          </p:nvSpPr>
          <p:spPr bwMode="auto">
            <a:xfrm>
              <a:off x="1752600" y="3886200"/>
              <a:ext cx="2057400" cy="533400"/>
            </a:xfrm>
            <a:prstGeom prst="ellipse">
              <a:avLst/>
            </a:prstGeom>
            <a:solidFill>
              <a:srgbClr val="FFFF00"/>
            </a:solidFill>
            <a:ln w="9525" algn="ctr">
              <a:solidFill>
                <a:schemeClr val="tx1"/>
              </a:solidFill>
              <a:round/>
              <a:headEnd/>
              <a:tailEnd/>
            </a:ln>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14" name="Oval 6"/>
            <p:cNvSpPr>
              <a:spLocks noChangeArrowheads="1"/>
            </p:cNvSpPr>
            <p:nvPr/>
          </p:nvSpPr>
          <p:spPr bwMode="auto">
            <a:xfrm>
              <a:off x="0" y="5410200"/>
              <a:ext cx="1371600" cy="685800"/>
            </a:xfrm>
            <a:prstGeom prst="ellipse">
              <a:avLst/>
            </a:prstGeom>
            <a:solidFill>
              <a:srgbClr val="FFFF00"/>
            </a:solidFill>
            <a:ln w="9525" algn="ctr">
              <a:solidFill>
                <a:schemeClr val="tx1"/>
              </a:solidFill>
              <a:round/>
              <a:headEnd/>
              <a:tailEnd/>
            </a:ln>
          </p:spPr>
          <p:txBody>
            <a:bodyPr wrap="none"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pic>
          <p:nvPicPr>
            <p:cNvPr id="15" name="Picture 2"/>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3505200"/>
              <a:ext cx="5442111"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6" name="AutoShape 10"/>
            <p:cNvSpPr>
              <a:spLocks noChangeArrowheads="1"/>
            </p:cNvSpPr>
            <p:nvPr/>
          </p:nvSpPr>
          <p:spPr bwMode="auto">
            <a:xfrm rot="2801081">
              <a:off x="952500" y="3543300"/>
              <a:ext cx="685800" cy="304800"/>
            </a:xfrm>
            <a:prstGeom prst="rightArrow">
              <a:avLst>
                <a:gd name="adj1" fmla="val 50000"/>
                <a:gd name="adj2" fmla="val 56250"/>
              </a:avLst>
            </a:prstGeom>
            <a:solidFill>
              <a:srgbClr val="FF3300"/>
            </a:solidFill>
            <a:ln w="9525" algn="ctr">
              <a:solidFill>
                <a:schemeClr val="tx1"/>
              </a:solidFill>
              <a:miter lim="800000"/>
              <a:headEnd/>
              <a:tailEnd/>
            </a:ln>
          </p:spPr>
          <p:txBody>
            <a:bodyPr wrap="none"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gr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3"/>
          <p:cNvSpPr txBox="1">
            <a:spLocks noChangeArrowheads="1"/>
          </p:cNvSpPr>
          <p:nvPr/>
        </p:nvSpPr>
        <p:spPr bwMode="auto">
          <a:xfrm>
            <a:off x="767408" y="1342231"/>
            <a:ext cx="11017224"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dirty="0"/>
              <a:t>Two different approaches are proposed: one for </a:t>
            </a:r>
            <a:r>
              <a:rPr lang="en-GB" altLang="nl-NL" sz="1600" b="1" dirty="0"/>
              <a:t>high</a:t>
            </a:r>
            <a:r>
              <a:rPr lang="en-GB" altLang="nl-NL" sz="1600" dirty="0"/>
              <a:t> and one for </a:t>
            </a:r>
            <a:r>
              <a:rPr lang="en-GB" altLang="nl-NL" sz="1600" b="1" dirty="0"/>
              <a:t>low aspect ratio </a:t>
            </a:r>
            <a:r>
              <a:rPr lang="en-GB" altLang="nl-NL" sz="1600" dirty="0"/>
              <a:t>wings. </a:t>
            </a:r>
          </a:p>
          <a:p>
            <a:pPr eaLnBrk="1" hangingPunct="1">
              <a:lnSpc>
                <a:spcPct val="100000"/>
              </a:lnSpc>
              <a:buClrTx/>
              <a:buFontTx/>
              <a:buNone/>
            </a:pPr>
            <a:endParaRPr lang="en-GB" altLang="nl-NL" sz="1000" dirty="0"/>
          </a:p>
          <a:p>
            <a:pPr eaLnBrk="1" hangingPunct="1">
              <a:lnSpc>
                <a:spcPct val="100000"/>
              </a:lnSpc>
              <a:buClrTx/>
              <a:buFontTx/>
              <a:buNone/>
            </a:pPr>
            <a:endParaRPr lang="en-GB" altLang="nl-NL" sz="1000" dirty="0"/>
          </a:p>
          <a:p>
            <a:pPr eaLnBrk="1" hangingPunct="1">
              <a:lnSpc>
                <a:spcPct val="100000"/>
              </a:lnSpc>
              <a:buClrTx/>
              <a:buFontTx/>
              <a:buNone/>
            </a:pPr>
            <a:r>
              <a:rPr lang="en-GB" altLang="nl-NL" sz="1600" dirty="0"/>
              <a:t>For high aspect ratio wings the characteristics of the </a:t>
            </a:r>
            <a:r>
              <a:rPr lang="en-GB" altLang="nl-NL" sz="1600" dirty="0" err="1"/>
              <a:t>airfoils</a:t>
            </a:r>
            <a:r>
              <a:rPr lang="en-GB" altLang="nl-NL" sz="1600" dirty="0"/>
              <a:t> have a stronger impact on the wing behaviour, than for low aspect ratio wings, where 3D effects are dominant</a:t>
            </a:r>
          </a:p>
        </p:txBody>
      </p:sp>
      <p:pic>
        <p:nvPicPr>
          <p:cNvPr id="8197" name="Picture 5"/>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3479" t="19403" r="46666" b="11940"/>
          <a:stretch>
            <a:fillRect/>
          </a:stretch>
        </p:blipFill>
        <p:spPr bwMode="auto">
          <a:xfrm>
            <a:off x="5988050" y="4236369"/>
            <a:ext cx="3708350" cy="1983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17412" name="Group 1"/>
          <p:cNvGrpSpPr>
            <a:grpSpLocks/>
          </p:cNvGrpSpPr>
          <p:nvPr/>
        </p:nvGrpSpPr>
        <p:grpSpPr bwMode="auto">
          <a:xfrm>
            <a:off x="2351584" y="3711574"/>
            <a:ext cx="6654066" cy="822325"/>
            <a:chOff x="699323" y="4082330"/>
            <a:chExt cx="6654421" cy="822415"/>
          </a:xfrm>
        </p:grpSpPr>
        <p:graphicFrame>
          <p:nvGraphicFramePr>
            <p:cNvPr id="19465" name="Object 6"/>
            <p:cNvGraphicFramePr>
              <a:graphicFrameLocks noChangeAspect="1"/>
            </p:cNvGraphicFramePr>
            <p:nvPr>
              <p:extLst>
                <p:ext uri="{D42A27DB-BD31-4B8C-83A1-F6EECF244321}">
                  <p14:modId xmlns:p14="http://schemas.microsoft.com/office/powerpoint/2010/main" val="558564664"/>
                </p:ext>
              </p:extLst>
            </p:nvPr>
          </p:nvGraphicFramePr>
          <p:xfrm>
            <a:off x="1244956" y="4082330"/>
            <a:ext cx="2381377" cy="822415"/>
          </p:xfrm>
          <a:graphic>
            <a:graphicData uri="http://schemas.openxmlformats.org/presentationml/2006/ole">
              <mc:AlternateContent xmlns:mc="http://schemas.openxmlformats.org/markup-compatibility/2006">
                <mc:Choice xmlns:v="urn:schemas-microsoft-com:vml" Requires="v">
                  <p:oleObj name="Equazione" r:id="rId5" imgW="1244520" imgH="431640" progId="Equation.3">
                    <p:embed/>
                  </p:oleObj>
                </mc:Choice>
                <mc:Fallback>
                  <p:oleObj name="Equazione" r:id="rId5" imgW="1244520" imgH="431640" progId="Equation.3">
                    <p:embed/>
                    <p:pic>
                      <p:nvPicPr>
                        <p:cNvPr id="0" name="Object 6"/>
                        <p:cNvPicPr>
                          <a:picLocks noChangeAspect="1" noChangeArrowheads="1"/>
                        </p:cNvPicPr>
                        <p:nvPr/>
                      </p:nvPicPr>
                      <p:blipFill>
                        <a:blip r:embed="rId6"/>
                        <a:srcRect/>
                        <a:stretch>
                          <a:fillRect/>
                        </a:stretch>
                      </p:blipFill>
                      <p:spPr bwMode="auto">
                        <a:xfrm>
                          <a:off x="1244956" y="4082330"/>
                          <a:ext cx="2381377" cy="82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6" name="Text Box 8"/>
            <p:cNvSpPr txBox="1">
              <a:spLocks noChangeArrowheads="1"/>
            </p:cNvSpPr>
            <p:nvPr/>
          </p:nvSpPr>
          <p:spPr bwMode="auto">
            <a:xfrm>
              <a:off x="699323" y="4275108"/>
              <a:ext cx="6654421" cy="338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dirty="0"/>
                <a:t>IF                                             THEN use high aspect ratio method</a:t>
              </a:r>
            </a:p>
          </p:txBody>
        </p:sp>
      </p:grpSp>
      <p:sp>
        <p:nvSpPr>
          <p:cNvPr id="8201" name="Line 10"/>
          <p:cNvSpPr>
            <a:spLocks noChangeShapeType="1"/>
          </p:cNvSpPr>
          <p:nvPr/>
        </p:nvSpPr>
        <p:spPr bwMode="auto">
          <a:xfrm>
            <a:off x="4038600" y="4481514"/>
            <a:ext cx="1887538" cy="446087"/>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19462" name="Rectangle 12"/>
          <p:cNvSpPr>
            <a:spLocks noChangeArrowheads="1"/>
          </p:cNvSpPr>
          <p:nvPr/>
        </p:nvSpPr>
        <p:spPr bwMode="auto">
          <a:xfrm>
            <a:off x="767408" y="44451"/>
            <a:ext cx="1101722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dirty="0">
                <a:solidFill>
                  <a:schemeClr val="bg2"/>
                </a:solidFill>
                <a:latin typeface="Bookman Old Style" pitchFamily="18" charset="0"/>
              </a:rPr>
              <a:t>Evaluation of wing stall angle (</a:t>
            </a:r>
            <a:r>
              <a:rPr lang="el-GR" altLang="nl-NL" sz="3200" dirty="0">
                <a:solidFill>
                  <a:schemeClr val="bg2"/>
                </a:solidFill>
                <a:latin typeface="Bookman Old Style" pitchFamily="18" charset="0"/>
              </a:rPr>
              <a:t>α</a:t>
            </a:r>
            <a:r>
              <a:rPr lang="nl-NL" altLang="nl-NL" sz="3200" baseline="-25000" dirty="0" err="1">
                <a:solidFill>
                  <a:schemeClr val="bg2"/>
                </a:solidFill>
                <a:latin typeface="Bookman Old Style" pitchFamily="18" charset="0"/>
              </a:rPr>
              <a:t>stall</a:t>
            </a:r>
            <a:r>
              <a:rPr lang="nl-NL" altLang="nl-NL" sz="3200" dirty="0">
                <a:solidFill>
                  <a:schemeClr val="bg2"/>
                </a:solidFill>
                <a:latin typeface="Bookman Old Style" pitchFamily="18" charset="0"/>
              </a:rPr>
              <a:t>)</a:t>
            </a:r>
            <a:r>
              <a:rPr lang="en-US" altLang="nl-NL" sz="3200" dirty="0">
                <a:solidFill>
                  <a:schemeClr val="bg2"/>
                </a:solidFill>
                <a:latin typeface="Bookman Old Style" pitchFamily="18" charset="0"/>
              </a:rPr>
              <a:t> and maximum lift coefficient (</a:t>
            </a:r>
            <a:r>
              <a:rPr lang="en-US" altLang="nl-NL" sz="3200" dirty="0" err="1">
                <a:solidFill>
                  <a:schemeClr val="bg2"/>
                </a:solidFill>
                <a:latin typeface="Bookman Old Style" pitchFamily="18" charset="0"/>
              </a:rPr>
              <a:t>C</a:t>
            </a:r>
            <a:r>
              <a:rPr lang="en-US" altLang="nl-NL" sz="3200" baseline="-25000" dirty="0" err="1">
                <a:solidFill>
                  <a:schemeClr val="bg2"/>
                </a:solidFill>
                <a:latin typeface="Bookman Old Style" pitchFamily="18" charset="0"/>
              </a:rPr>
              <a:t>Lmax</a:t>
            </a:r>
            <a:r>
              <a:rPr lang="en-US" altLang="nl-NL" sz="3200" dirty="0">
                <a:solidFill>
                  <a:schemeClr val="bg2"/>
                </a:solidFill>
                <a:latin typeface="Bookman Old Style" pitchFamily="18" charset="0"/>
              </a:rPr>
              <a:t>)</a:t>
            </a:r>
            <a:endParaRPr lang="el-GR" altLang="nl-NL" sz="3200" dirty="0">
              <a:solidFill>
                <a:schemeClr val="bg2"/>
              </a:solidFill>
              <a:latin typeface="Bookman Old Style" pitchFamily="18" charset="0"/>
            </a:endParaRPr>
          </a:p>
        </p:txBody>
      </p:sp>
      <p:sp>
        <p:nvSpPr>
          <p:cNvPr id="11" name="Rectangle 10"/>
          <p:cNvSpPr>
            <a:spLocks noChangeArrowheads="1"/>
          </p:cNvSpPr>
          <p:nvPr/>
        </p:nvSpPr>
        <p:spPr bwMode="auto">
          <a:xfrm>
            <a:off x="1991544" y="3009176"/>
            <a:ext cx="84248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b="1" dirty="0"/>
              <a:t>Question: </a:t>
            </a:r>
            <a:r>
              <a:rPr lang="en-GB" altLang="nl-NL" sz="1600" i="1" dirty="0"/>
              <a:t>How to estimate whether a given wing has a high or low aspect ratio?</a:t>
            </a:r>
          </a:p>
        </p:txBody>
      </p:sp>
      <p:sp>
        <p:nvSpPr>
          <p:cNvPr id="12" name="Oval 9"/>
          <p:cNvSpPr>
            <a:spLocks noChangeArrowheads="1"/>
          </p:cNvSpPr>
          <p:nvPr/>
        </p:nvSpPr>
        <p:spPr bwMode="auto">
          <a:xfrm>
            <a:off x="3455988" y="4122411"/>
            <a:ext cx="588962" cy="562630"/>
          </a:xfrm>
          <a:prstGeom prst="ellipse">
            <a:avLst/>
          </a:prstGeom>
          <a:noFill/>
          <a:ln w="19050"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19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20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1" grpId="0" animBg="1"/>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2"/>
          <p:cNvSpPr>
            <a:spLocks noChangeArrowheads="1"/>
          </p:cNvSpPr>
          <p:nvPr/>
        </p:nvSpPr>
        <p:spPr bwMode="auto">
          <a:xfrm>
            <a:off x="767408" y="981076"/>
            <a:ext cx="11089232"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2400">
                <a:solidFill>
                  <a:schemeClr val="bg2"/>
                </a:solidFill>
                <a:latin typeface="Bookman Old Style" pitchFamily="18" charset="0"/>
              </a:rPr>
              <a:t>DATCOM method for the Evaluation of stall angle (</a:t>
            </a:r>
            <a:r>
              <a:rPr lang="el-GR" altLang="nl-NL" sz="2400">
                <a:solidFill>
                  <a:schemeClr val="bg2"/>
                </a:solidFill>
                <a:latin typeface="Bookman Old Style" pitchFamily="18" charset="0"/>
              </a:rPr>
              <a:t>α</a:t>
            </a:r>
            <a:r>
              <a:rPr lang="nl-NL" altLang="nl-NL" sz="2400" baseline="-25000">
                <a:solidFill>
                  <a:schemeClr val="bg2"/>
                </a:solidFill>
                <a:latin typeface="Bookman Old Style" pitchFamily="18" charset="0"/>
              </a:rPr>
              <a:t>stall</a:t>
            </a:r>
            <a:r>
              <a:rPr lang="nl-NL" altLang="nl-NL" sz="2400">
                <a:solidFill>
                  <a:schemeClr val="bg2"/>
                </a:solidFill>
                <a:latin typeface="Bookman Old Style" pitchFamily="18" charset="0"/>
              </a:rPr>
              <a:t>)</a:t>
            </a:r>
            <a:r>
              <a:rPr lang="en-US" altLang="nl-NL" sz="2400">
                <a:solidFill>
                  <a:schemeClr val="bg2"/>
                </a:solidFill>
                <a:latin typeface="Bookman Old Style" pitchFamily="18" charset="0"/>
              </a:rPr>
              <a:t> and maximum lift coefficient (C</a:t>
            </a:r>
            <a:r>
              <a:rPr lang="en-US" altLang="nl-NL" sz="2400" baseline="-25000">
                <a:solidFill>
                  <a:schemeClr val="bg2"/>
                </a:solidFill>
                <a:latin typeface="Bookman Old Style" pitchFamily="18" charset="0"/>
              </a:rPr>
              <a:t>Lmax</a:t>
            </a:r>
            <a:r>
              <a:rPr lang="en-US" altLang="nl-NL" sz="2400">
                <a:solidFill>
                  <a:schemeClr val="bg2"/>
                </a:solidFill>
                <a:latin typeface="Bookman Old Style" pitchFamily="18" charset="0"/>
              </a:rPr>
              <a:t>) for </a:t>
            </a:r>
            <a:r>
              <a:rPr lang="en-US" altLang="nl-NL" sz="2800" b="1">
                <a:solidFill>
                  <a:schemeClr val="bg2"/>
                </a:solidFill>
                <a:latin typeface="Bookman Old Style" pitchFamily="18" charset="0"/>
              </a:rPr>
              <a:t>high aspect ratio wings</a:t>
            </a:r>
            <a:endParaRPr lang="el-GR" altLang="nl-NL" sz="2800" b="1">
              <a:solidFill>
                <a:schemeClr val="bg2"/>
              </a:solidFill>
              <a:latin typeface="Bookman Old Style" pitchFamily="18" charset="0"/>
            </a:endParaRPr>
          </a:p>
        </p:txBody>
      </p:sp>
      <p:pic>
        <p:nvPicPr>
          <p:cNvPr id="131074" name="Picture 2" descr="http://www.aerospaceweb.org/aircraft/jetliner/a340/a340_09.jpg"/>
          <p:cNvPicPr>
            <a:picLocks noChangeAspect="1" noChangeArrowheads="1"/>
          </p:cNvPicPr>
          <p:nvPr/>
        </p:nvPicPr>
        <p:blipFill>
          <a:blip r:embed="rId3"/>
          <a:srcRect/>
          <a:stretch>
            <a:fillRect/>
          </a:stretch>
        </p:blipFill>
        <p:spPr bwMode="auto">
          <a:xfrm>
            <a:off x="4727848" y="3068960"/>
            <a:ext cx="3367088" cy="23622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695400" y="188640"/>
            <a:ext cx="110172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dirty="0">
                <a:solidFill>
                  <a:schemeClr val="bg2"/>
                </a:solidFill>
                <a:latin typeface="Bookman Old Style" pitchFamily="18" charset="0"/>
              </a:rPr>
              <a:t>Evaluation of </a:t>
            </a:r>
            <a:r>
              <a:rPr lang="en-US" altLang="nl-NL" sz="3200" dirty="0" err="1">
                <a:solidFill>
                  <a:schemeClr val="bg2"/>
                </a:solidFill>
                <a:latin typeface="Bookman Old Style" pitchFamily="18" charset="0"/>
              </a:rPr>
              <a:t>C</a:t>
            </a:r>
            <a:r>
              <a:rPr lang="en-US" altLang="nl-NL" sz="3200" baseline="-25000" dirty="0" err="1">
                <a:solidFill>
                  <a:schemeClr val="bg2"/>
                </a:solidFill>
                <a:latin typeface="Bookman Old Style" pitchFamily="18" charset="0"/>
              </a:rPr>
              <a:t>Lmax</a:t>
            </a:r>
            <a:r>
              <a:rPr lang="en-US" altLang="nl-NL" sz="3200" dirty="0">
                <a:solidFill>
                  <a:schemeClr val="bg2"/>
                </a:solidFill>
                <a:latin typeface="Bookman Old Style" pitchFamily="18" charset="0"/>
              </a:rPr>
              <a:t> for a HIGH aspect ratio wing</a:t>
            </a:r>
            <a:endParaRPr lang="el-GR" altLang="nl-NL" sz="3200" dirty="0">
              <a:solidFill>
                <a:schemeClr val="bg2"/>
              </a:solidFill>
              <a:latin typeface="Bookman Old Style" pitchFamily="18" charset="0"/>
            </a:endParaRPr>
          </a:p>
        </p:txBody>
      </p:sp>
      <p:graphicFrame>
        <p:nvGraphicFramePr>
          <p:cNvPr id="21507" name="Object 3"/>
          <p:cNvGraphicFramePr>
            <a:graphicFrameLocks noChangeAspect="1"/>
          </p:cNvGraphicFramePr>
          <p:nvPr>
            <p:extLst>
              <p:ext uri="{D42A27DB-BD31-4B8C-83A1-F6EECF244321}">
                <p14:modId xmlns:p14="http://schemas.microsoft.com/office/powerpoint/2010/main" val="2515032567"/>
              </p:ext>
            </p:extLst>
          </p:nvPr>
        </p:nvGraphicFramePr>
        <p:xfrm>
          <a:off x="1055514" y="1196752"/>
          <a:ext cx="3816350" cy="969963"/>
        </p:xfrm>
        <a:graphic>
          <a:graphicData uri="http://schemas.openxmlformats.org/presentationml/2006/ole">
            <mc:AlternateContent xmlns:mc="http://schemas.openxmlformats.org/markup-compatibility/2006">
              <mc:Choice xmlns:v="urn:schemas-microsoft-com:vml" Requires="v">
                <p:oleObj name="Equation" r:id="rId4" imgW="1892300" imgH="482600" progId="Equation.3">
                  <p:embed/>
                </p:oleObj>
              </mc:Choice>
              <mc:Fallback>
                <p:oleObj name="Equation" r:id="rId4" imgW="1892300" imgH="482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5514" y="1196752"/>
                        <a:ext cx="3816350" cy="96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0" name="Oval 13"/>
          <p:cNvSpPr>
            <a:spLocks noChangeArrowheads="1"/>
          </p:cNvSpPr>
          <p:nvPr/>
        </p:nvSpPr>
        <p:spPr bwMode="auto">
          <a:xfrm>
            <a:off x="2998614" y="1410737"/>
            <a:ext cx="685800" cy="562630"/>
          </a:xfrm>
          <a:prstGeom prst="ellipse">
            <a:avLst/>
          </a:prstGeom>
          <a:noFill/>
          <a:ln w="19050"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9221" name="Text Box 14"/>
          <p:cNvSpPr txBox="1">
            <a:spLocks noChangeArrowheads="1"/>
          </p:cNvSpPr>
          <p:nvPr/>
        </p:nvSpPr>
        <p:spPr bwMode="auto">
          <a:xfrm>
            <a:off x="765289" y="2619478"/>
            <a:ext cx="3771900" cy="107791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dirty="0"/>
              <a:t>Wing section characteristic, at </a:t>
            </a:r>
            <a:r>
              <a:rPr lang="en-GB" altLang="nl-NL" sz="1600" b="1" dirty="0"/>
              <a:t>M=0.2</a:t>
            </a:r>
            <a:r>
              <a:rPr lang="en-GB" altLang="nl-NL" sz="1600" dirty="0"/>
              <a:t> (hence no compressibility effects!).</a:t>
            </a:r>
          </a:p>
          <a:p>
            <a:pPr eaLnBrk="1" hangingPunct="1">
              <a:lnSpc>
                <a:spcPct val="100000"/>
              </a:lnSpc>
              <a:buClrTx/>
              <a:buFontTx/>
              <a:buNone/>
            </a:pPr>
            <a:r>
              <a:rPr lang="en-GB" altLang="nl-NL" sz="1600" b="1" dirty="0"/>
              <a:t>Use the </a:t>
            </a:r>
            <a:r>
              <a:rPr lang="en-GB" altLang="nl-NL" sz="1600" b="1" dirty="0" err="1"/>
              <a:t>C</a:t>
            </a:r>
            <a:r>
              <a:rPr lang="en-GB" altLang="nl-NL" sz="1600" b="1" baseline="-25000" dirty="0" err="1"/>
              <a:t>lmax</a:t>
            </a:r>
            <a:r>
              <a:rPr lang="en-GB" altLang="nl-NL" sz="1600" b="1" dirty="0"/>
              <a:t> value for the right Re number!</a:t>
            </a:r>
            <a:r>
              <a:rPr lang="en-GB" altLang="nl-NL" sz="1600" dirty="0"/>
              <a:t> </a:t>
            </a:r>
          </a:p>
        </p:txBody>
      </p:sp>
      <p:sp>
        <p:nvSpPr>
          <p:cNvPr id="9222" name="Line 15"/>
          <p:cNvSpPr>
            <a:spLocks noChangeShapeType="1"/>
          </p:cNvSpPr>
          <p:nvPr/>
        </p:nvSpPr>
        <p:spPr bwMode="auto">
          <a:xfrm flipH="1">
            <a:off x="2977976" y="2030189"/>
            <a:ext cx="381000" cy="457200"/>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pic>
        <p:nvPicPr>
          <p:cNvPr id="9223" name="Picture 16"/>
          <p:cNvPicPr>
            <a:picLocks noChangeAspect="1" noChangeArrowheads="1"/>
          </p:cNvPicPr>
          <p:nvPr/>
        </p:nvPicPr>
        <p:blipFill>
          <a:blip r:embed="rId6">
            <a:extLst>
              <a:ext uri="{28A0092B-C50C-407E-A947-70E740481C1C}">
                <a14:useLocalDpi xmlns:a14="http://schemas.microsoft.com/office/drawing/2010/main" val="0"/>
              </a:ext>
            </a:extLst>
          </a:blip>
          <a:srcRect l="11940" t="38300" r="8955" b="5266"/>
          <a:stretch>
            <a:fillRect/>
          </a:stretch>
        </p:blipFill>
        <p:spPr bwMode="auto">
          <a:xfrm>
            <a:off x="7254552" y="1052736"/>
            <a:ext cx="3810000" cy="330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224" name="Freeform 17"/>
          <p:cNvSpPr>
            <a:spLocks/>
          </p:cNvSpPr>
          <p:nvPr/>
        </p:nvSpPr>
        <p:spPr bwMode="auto">
          <a:xfrm>
            <a:off x="2665182" y="905504"/>
            <a:ext cx="4897668" cy="302662"/>
          </a:xfrm>
          <a:custGeom>
            <a:avLst/>
            <a:gdLst>
              <a:gd name="T0" fmla="*/ 0 w 2139"/>
              <a:gd name="T1" fmla="*/ 2147483647 h 380"/>
              <a:gd name="T2" fmla="*/ 2147483647 w 2139"/>
              <a:gd name="T3" fmla="*/ 2147483647 h 380"/>
              <a:gd name="T4" fmla="*/ 2147483647 w 2139"/>
              <a:gd name="T5" fmla="*/ 2147483647 h 380"/>
              <a:gd name="T6" fmla="*/ 2147483647 w 2139"/>
              <a:gd name="T7" fmla="*/ 2147483647 h 380"/>
              <a:gd name="T8" fmla="*/ 2147483647 w 2139"/>
              <a:gd name="T9" fmla="*/ 2147483647 h 380"/>
              <a:gd name="T10" fmla="*/ 0 60000 65536"/>
              <a:gd name="T11" fmla="*/ 0 60000 65536"/>
              <a:gd name="T12" fmla="*/ 0 60000 65536"/>
              <a:gd name="T13" fmla="*/ 0 60000 65536"/>
              <a:gd name="T14" fmla="*/ 0 60000 65536"/>
              <a:gd name="T15" fmla="*/ 0 w 2139"/>
              <a:gd name="T16" fmla="*/ 0 h 380"/>
              <a:gd name="T17" fmla="*/ 2139 w 2139"/>
              <a:gd name="T18" fmla="*/ 380 h 380"/>
            </a:gdLst>
            <a:ahLst/>
            <a:cxnLst>
              <a:cxn ang="T10">
                <a:pos x="T0" y="T1"/>
              </a:cxn>
              <a:cxn ang="T11">
                <a:pos x="T2" y="T3"/>
              </a:cxn>
              <a:cxn ang="T12">
                <a:pos x="T4" y="T5"/>
              </a:cxn>
              <a:cxn ang="T13">
                <a:pos x="T6" y="T7"/>
              </a:cxn>
              <a:cxn ang="T14">
                <a:pos x="T8" y="T9"/>
              </a:cxn>
            </a:cxnLst>
            <a:rect l="T15" t="T16" r="T17" b="T18"/>
            <a:pathLst>
              <a:path w="2139" h="380">
                <a:moveTo>
                  <a:pt x="0" y="380"/>
                </a:moveTo>
                <a:cubicBezTo>
                  <a:pt x="87" y="331"/>
                  <a:pt x="338" y="149"/>
                  <a:pt x="521" y="87"/>
                </a:cubicBezTo>
                <a:cubicBezTo>
                  <a:pt x="704" y="25"/>
                  <a:pt x="905" y="0"/>
                  <a:pt x="1097" y="5"/>
                </a:cubicBezTo>
                <a:cubicBezTo>
                  <a:pt x="1289" y="10"/>
                  <a:pt x="1499" y="60"/>
                  <a:pt x="1673" y="115"/>
                </a:cubicBezTo>
                <a:cubicBezTo>
                  <a:pt x="1847" y="170"/>
                  <a:pt x="2042" y="289"/>
                  <a:pt x="2139" y="334"/>
                </a:cubicBezTo>
              </a:path>
            </a:pathLst>
          </a:custGeom>
          <a:noFill/>
          <a:ln w="38100" cap="flat" cmpd="sng">
            <a:solidFill>
              <a:srgbClr val="FF33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square">
            <a:spAutoFit/>
          </a:bodyPr>
          <a:lstStyle/>
          <a:p>
            <a:endParaRPr lang="en-GB"/>
          </a:p>
        </p:txBody>
      </p:sp>
      <p:sp>
        <p:nvSpPr>
          <p:cNvPr id="9225" name="Oval 18"/>
          <p:cNvSpPr>
            <a:spLocks noChangeArrowheads="1"/>
          </p:cNvSpPr>
          <p:nvPr/>
        </p:nvSpPr>
        <p:spPr bwMode="auto">
          <a:xfrm>
            <a:off x="3957464" y="1393274"/>
            <a:ext cx="914400" cy="562630"/>
          </a:xfrm>
          <a:prstGeom prst="ellipse">
            <a:avLst/>
          </a:prstGeom>
          <a:noFill/>
          <a:ln w="19050"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9226" name="Text Box 19"/>
          <p:cNvSpPr txBox="1">
            <a:spLocks noChangeArrowheads="1"/>
          </p:cNvSpPr>
          <p:nvPr/>
        </p:nvSpPr>
        <p:spPr bwMode="auto">
          <a:xfrm>
            <a:off x="2855914" y="4819651"/>
            <a:ext cx="7343775" cy="83026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dirty="0"/>
              <a:t>This term accounts for the effect of </a:t>
            </a:r>
            <a:r>
              <a:rPr lang="en-GB" altLang="nl-NL" sz="1600" b="1" dirty="0"/>
              <a:t>Mach number higher than 0.2</a:t>
            </a:r>
            <a:r>
              <a:rPr lang="en-GB" altLang="nl-NL" sz="1600" dirty="0"/>
              <a:t>.  When defining the C</a:t>
            </a:r>
            <a:r>
              <a:rPr lang="en-GB" altLang="nl-NL" sz="1600" baseline="-25000" dirty="0"/>
              <a:t>L</a:t>
            </a:r>
            <a:r>
              <a:rPr lang="en-GB" altLang="nl-NL" sz="1600" dirty="0"/>
              <a:t>-α curve at </a:t>
            </a:r>
            <a:r>
              <a:rPr lang="en-GB" altLang="nl-NL" sz="1600" b="1" u="sng" dirty="0"/>
              <a:t>low speed</a:t>
            </a:r>
            <a:r>
              <a:rPr lang="en-GB" altLang="nl-NL" sz="1600" dirty="0"/>
              <a:t> (e.g., at take off and landing), </a:t>
            </a:r>
            <a:r>
              <a:rPr lang="en-GB" altLang="nl-NL" sz="1600" b="1" dirty="0"/>
              <a:t>this term is </a:t>
            </a:r>
            <a:r>
              <a:rPr lang="en-GB" altLang="nl-NL" sz="1600" b="1" u="sng" dirty="0"/>
              <a:t>not</a:t>
            </a:r>
            <a:r>
              <a:rPr lang="en-GB" altLang="nl-NL" sz="1600" b="1" dirty="0"/>
              <a:t> relevant</a:t>
            </a:r>
            <a:r>
              <a:rPr lang="en-GB" altLang="nl-NL" sz="1600" dirty="0"/>
              <a:t>. </a:t>
            </a:r>
          </a:p>
        </p:txBody>
      </p:sp>
      <p:sp>
        <p:nvSpPr>
          <p:cNvPr id="9227" name="Line 20"/>
          <p:cNvSpPr>
            <a:spLocks noChangeShapeType="1"/>
          </p:cNvSpPr>
          <p:nvPr/>
        </p:nvSpPr>
        <p:spPr bwMode="auto">
          <a:xfrm>
            <a:off x="4632962" y="1904288"/>
            <a:ext cx="1963101" cy="2880437"/>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en-GB"/>
          </a:p>
        </p:txBody>
      </p:sp>
      <p:sp>
        <p:nvSpPr>
          <p:cNvPr id="9228" name="Oval 22"/>
          <p:cNvSpPr>
            <a:spLocks noChangeArrowheads="1"/>
          </p:cNvSpPr>
          <p:nvPr/>
        </p:nvSpPr>
        <p:spPr bwMode="auto">
          <a:xfrm>
            <a:off x="8284841" y="1348011"/>
            <a:ext cx="701675" cy="561975"/>
          </a:xfrm>
          <a:prstGeom prst="ellipse">
            <a:avLst/>
          </a:prstGeom>
          <a:noFill/>
          <a:ln w="38100"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pic>
        <p:nvPicPr>
          <p:cNvPr id="9229" name="Picture 23" descr="warning"/>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131454">
            <a:off x="9057953" y="1476597"/>
            <a:ext cx="754063"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230" name="Group 18"/>
          <p:cNvGrpSpPr>
            <a:grpSpLocks/>
          </p:cNvGrpSpPr>
          <p:nvPr/>
        </p:nvGrpSpPr>
        <p:grpSpPr bwMode="auto">
          <a:xfrm>
            <a:off x="1949451" y="4819650"/>
            <a:ext cx="874713" cy="604838"/>
            <a:chOff x="336" y="2736"/>
            <a:chExt cx="607" cy="477"/>
          </a:xfrm>
        </p:grpSpPr>
        <p:pic>
          <p:nvPicPr>
            <p:cNvPr id="21522" name="Picture 24" descr="warning"/>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131454">
              <a:off x="336" y="2784"/>
              <a:ext cx="480"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23" name="Text Box 25"/>
            <p:cNvSpPr txBox="1">
              <a:spLocks noChangeArrowheads="1"/>
            </p:cNvSpPr>
            <p:nvPr/>
          </p:nvSpPr>
          <p:spPr bwMode="auto">
            <a:xfrm>
              <a:off x="703" y="2736"/>
              <a:ext cx="240"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a:t>*</a:t>
              </a:r>
            </a:p>
          </p:txBody>
        </p:sp>
      </p:grpSp>
      <p:sp>
        <p:nvSpPr>
          <p:cNvPr id="21519" name="Text Box 26"/>
          <p:cNvSpPr txBox="1">
            <a:spLocks noChangeArrowheads="1"/>
          </p:cNvSpPr>
          <p:nvPr/>
        </p:nvSpPr>
        <p:spPr bwMode="auto">
          <a:xfrm>
            <a:off x="9191625" y="5867400"/>
            <a:ext cx="1373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400"/>
              <a:t>Source Raymer</a:t>
            </a:r>
          </a:p>
        </p:txBody>
      </p:sp>
      <p:sp>
        <p:nvSpPr>
          <p:cNvPr id="9232" name="AutoShape 27"/>
          <p:cNvSpPr>
            <a:spLocks noChangeArrowheads="1"/>
          </p:cNvSpPr>
          <p:nvPr/>
        </p:nvSpPr>
        <p:spPr bwMode="auto">
          <a:xfrm rot="11891019">
            <a:off x="8375328" y="1932082"/>
            <a:ext cx="250825" cy="454283"/>
          </a:xfrm>
          <a:prstGeom prst="downArrow">
            <a:avLst>
              <a:gd name="adj1" fmla="val 50000"/>
              <a:gd name="adj2" fmla="val 44937"/>
            </a:avLst>
          </a:prstGeom>
          <a:solidFill>
            <a:srgbClr val="FFFF00"/>
          </a:solidFill>
          <a:ln w="9525" algn="ctr">
            <a:solidFill>
              <a:schemeClr val="tx1"/>
            </a:solidFill>
            <a:miter lim="800000"/>
            <a:headEnd/>
            <a:tailEnd/>
          </a:ln>
        </p:spPr>
        <p:txBody>
          <a:bodyPr rot="10800000"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2" name="Rectangle 1"/>
          <p:cNvSpPr>
            <a:spLocks noChangeArrowheads="1"/>
          </p:cNvSpPr>
          <p:nvPr/>
        </p:nvSpPr>
        <p:spPr bwMode="auto">
          <a:xfrm>
            <a:off x="2231851" y="1301527"/>
            <a:ext cx="698500" cy="785813"/>
          </a:xfrm>
          <a:prstGeom prst="rect">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en-GB" altLang="en-US" sz="2200"/>
          </a:p>
        </p:txBody>
      </p:sp>
      <p:sp>
        <p:nvSpPr>
          <p:cNvPr id="8" name="Freeform 7"/>
          <p:cNvSpPr/>
          <p:nvPr/>
        </p:nvSpPr>
        <p:spPr bwMode="auto">
          <a:xfrm>
            <a:off x="8076877" y="2206847"/>
            <a:ext cx="2654300" cy="641350"/>
          </a:xfrm>
          <a:custGeom>
            <a:avLst/>
            <a:gdLst>
              <a:gd name="connsiteX0" fmla="*/ 0 w 2654300"/>
              <a:gd name="connsiteY0" fmla="*/ 641350 h 641350"/>
              <a:gd name="connsiteX1" fmla="*/ 2654300 w 2654300"/>
              <a:gd name="connsiteY1" fmla="*/ 0 h 641350"/>
              <a:gd name="connsiteX0" fmla="*/ 0 w 2654300"/>
              <a:gd name="connsiteY0" fmla="*/ 641350 h 641350"/>
              <a:gd name="connsiteX1" fmla="*/ 679450 w 2654300"/>
              <a:gd name="connsiteY1" fmla="*/ 533400 h 641350"/>
              <a:gd name="connsiteX2" fmla="*/ 2654300 w 2654300"/>
              <a:gd name="connsiteY2" fmla="*/ 0 h 641350"/>
              <a:gd name="connsiteX0" fmla="*/ 0 w 2654300"/>
              <a:gd name="connsiteY0" fmla="*/ 641350 h 641350"/>
              <a:gd name="connsiteX1" fmla="*/ 679450 w 2654300"/>
              <a:gd name="connsiteY1" fmla="*/ 533400 h 641350"/>
              <a:gd name="connsiteX2" fmla="*/ 1803400 w 2654300"/>
              <a:gd name="connsiteY2" fmla="*/ 292100 h 641350"/>
              <a:gd name="connsiteX3" fmla="*/ 2654300 w 2654300"/>
              <a:gd name="connsiteY3" fmla="*/ 0 h 641350"/>
              <a:gd name="connsiteX0" fmla="*/ 0 w 2654300"/>
              <a:gd name="connsiteY0" fmla="*/ 641350 h 641350"/>
              <a:gd name="connsiteX1" fmla="*/ 679450 w 2654300"/>
              <a:gd name="connsiteY1" fmla="*/ 533400 h 641350"/>
              <a:gd name="connsiteX2" fmla="*/ 1098550 w 2654300"/>
              <a:gd name="connsiteY2" fmla="*/ 469900 h 641350"/>
              <a:gd name="connsiteX3" fmla="*/ 1803400 w 2654300"/>
              <a:gd name="connsiteY3" fmla="*/ 292100 h 641350"/>
              <a:gd name="connsiteX4" fmla="*/ 2654300 w 2654300"/>
              <a:gd name="connsiteY4" fmla="*/ 0 h 641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4300" h="641350">
                <a:moveTo>
                  <a:pt x="0" y="641350"/>
                </a:moveTo>
                <a:cubicBezTo>
                  <a:pt x="107950" y="620183"/>
                  <a:pt x="544513" y="559858"/>
                  <a:pt x="679450" y="533400"/>
                </a:cubicBezTo>
                <a:cubicBezTo>
                  <a:pt x="862542" y="501650"/>
                  <a:pt x="911225" y="510117"/>
                  <a:pt x="1098550" y="469900"/>
                </a:cubicBezTo>
                <a:cubicBezTo>
                  <a:pt x="1285875" y="429683"/>
                  <a:pt x="1544108" y="367242"/>
                  <a:pt x="1803400" y="292100"/>
                </a:cubicBezTo>
                <a:cubicBezTo>
                  <a:pt x="2132542" y="203200"/>
                  <a:pt x="2510367" y="52917"/>
                  <a:pt x="2654300" y="0"/>
                </a:cubicBezTo>
              </a:path>
            </a:pathLst>
          </a:cu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t" anchorCtr="0" compatLnSpc="1">
            <a:prstTxWarp prst="textNoShape">
              <a:avLst/>
            </a:prstTxWarp>
          </a:bodyPr>
          <a:lstStyle/>
          <a:p>
            <a:pPr algn="r" fontAlgn="base"/>
            <a:endParaRPr lang="en-GB" sz="2200">
              <a:latin typeface="Tahoma" pitchFamily="34" charset="0"/>
            </a:endParaRPr>
          </a:p>
        </p:txBody>
      </p:sp>
      <p:cxnSp>
        <p:nvCxnSpPr>
          <p:cNvPr id="10" name="Straight Connector 9"/>
          <p:cNvCxnSpPr/>
          <p:nvPr/>
        </p:nvCxnSpPr>
        <p:spPr bwMode="auto">
          <a:xfrm>
            <a:off x="8981753" y="2707703"/>
            <a:ext cx="0" cy="1196182"/>
          </a:xfrm>
          <a:prstGeom prst="line">
            <a:avLst/>
          </a:prstGeom>
          <a:ln w="44450" cap="flat" cmpd="sng" algn="ctr">
            <a:solidFill>
              <a:schemeClr val="bg2">
                <a:lumMod val="60000"/>
                <a:lumOff val="40000"/>
              </a:schemeClr>
            </a:solidFill>
            <a:prstDash val="dash"/>
            <a:round/>
            <a:headEnd type="triangl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Connector 28"/>
          <p:cNvCxnSpPr/>
          <p:nvPr/>
        </p:nvCxnSpPr>
        <p:spPr bwMode="auto">
          <a:xfrm flipV="1">
            <a:off x="8076877" y="2707703"/>
            <a:ext cx="904876" cy="26194"/>
          </a:xfrm>
          <a:prstGeom prst="line">
            <a:avLst/>
          </a:prstGeom>
          <a:ln w="44450" cap="flat" cmpd="sng" algn="ctr">
            <a:solidFill>
              <a:schemeClr val="bg2">
                <a:lumMod val="60000"/>
                <a:lumOff val="40000"/>
              </a:schemeClr>
            </a:solidFill>
            <a:prstDash val="dash"/>
            <a:round/>
            <a:headEnd type="triangle" w="med" len="med"/>
            <a:tailEnd type="none" w="med" len="med"/>
          </a:ln>
        </p:spPr>
        <p:style>
          <a:lnRef idx="0">
            <a:scrgbClr r="0" g="0" b="0"/>
          </a:lnRef>
          <a:fillRef idx="0">
            <a:scrgbClr r="0" g="0" b="0"/>
          </a:fillRef>
          <a:effectRef idx="0">
            <a:scrgbClr r="0" g="0" b="0"/>
          </a:effectRef>
          <a:fontRef idx="minor">
            <a:schemeClr val="tx1"/>
          </a:fontRef>
        </p:style>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2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2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23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22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9220"/>
                                        </p:tgtEl>
                                        <p:attrNameLst>
                                          <p:attrName>style.visibility</p:attrName>
                                        </p:attrNameLst>
                                      </p:cBhvr>
                                      <p:to>
                                        <p:strVal val="visible"/>
                                      </p:to>
                                    </p:set>
                                    <p:animEffect transition="in" filter="fade">
                                      <p:cBhvr>
                                        <p:cTn id="35" dur="500"/>
                                        <p:tgtEl>
                                          <p:spTgt spid="922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222"/>
                                        </p:tgtEl>
                                        <p:attrNameLst>
                                          <p:attrName>style.visibility</p:attrName>
                                        </p:attrNameLst>
                                      </p:cBhvr>
                                      <p:to>
                                        <p:strVal val="visible"/>
                                      </p:to>
                                    </p:set>
                                    <p:animEffect transition="in" filter="fade">
                                      <p:cBhvr>
                                        <p:cTn id="38" dur="500"/>
                                        <p:tgtEl>
                                          <p:spTgt spid="922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9221"/>
                                        </p:tgtEl>
                                        <p:attrNameLst>
                                          <p:attrName>style.visibility</p:attrName>
                                        </p:attrNameLst>
                                      </p:cBhvr>
                                      <p:to>
                                        <p:strVal val="visible"/>
                                      </p:to>
                                    </p:set>
                                    <p:animEffect transition="in" filter="fade">
                                      <p:cBhvr>
                                        <p:cTn id="41" dur="500"/>
                                        <p:tgtEl>
                                          <p:spTgt spid="922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9225"/>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922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9226"/>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9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animBg="1"/>
      <p:bldP spid="9221" grpId="0" animBg="1"/>
      <p:bldP spid="9222" grpId="0" animBg="1"/>
      <p:bldP spid="9224" grpId="0" animBg="1"/>
      <p:bldP spid="9225" grpId="0" animBg="1"/>
      <p:bldP spid="9226" grpId="0" animBg="1"/>
      <p:bldP spid="9227" grpId="0" animBg="1"/>
      <p:bldP spid="9228" grpId="0" animBg="1"/>
      <p:bldP spid="9232" grpId="0" animBg="1"/>
      <p:bldP spid="2"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4">
            <a:extLst>
              <a:ext uri="{28A0092B-C50C-407E-A947-70E740481C1C}">
                <a14:useLocalDpi xmlns:a14="http://schemas.microsoft.com/office/drawing/2010/main" val="0"/>
              </a:ext>
            </a:extLst>
          </a:blip>
          <a:srcRect b="42360"/>
          <a:stretch>
            <a:fillRect/>
          </a:stretch>
        </p:blipFill>
        <p:spPr bwMode="auto">
          <a:xfrm>
            <a:off x="1687513" y="1063625"/>
            <a:ext cx="5638800" cy="353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2531" name="Rectangle 3"/>
          <p:cNvSpPr>
            <a:spLocks noChangeArrowheads="1"/>
          </p:cNvSpPr>
          <p:nvPr/>
        </p:nvSpPr>
        <p:spPr bwMode="auto">
          <a:xfrm>
            <a:off x="2092325" y="163513"/>
            <a:ext cx="8828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2400">
                <a:solidFill>
                  <a:schemeClr val="bg2"/>
                </a:solidFill>
                <a:latin typeface="Bookman Old Style" pitchFamily="18" charset="0"/>
              </a:rPr>
              <a:t>Evaluation of C</a:t>
            </a:r>
            <a:r>
              <a:rPr lang="en-US" altLang="nl-NL" sz="2400" baseline="-25000">
                <a:solidFill>
                  <a:schemeClr val="bg2"/>
                </a:solidFill>
                <a:latin typeface="Bookman Old Style" pitchFamily="18" charset="0"/>
              </a:rPr>
              <a:t>Lmax</a:t>
            </a:r>
            <a:r>
              <a:rPr lang="en-US" altLang="nl-NL" sz="2400">
                <a:solidFill>
                  <a:schemeClr val="bg2"/>
                </a:solidFill>
                <a:latin typeface="Bookman Old Style" pitchFamily="18" charset="0"/>
              </a:rPr>
              <a:t> for a HIGH aspect ratio wing (cont’d)</a:t>
            </a:r>
            <a:endParaRPr lang="el-GR" altLang="nl-NL" sz="2400">
              <a:solidFill>
                <a:schemeClr val="bg2"/>
              </a:solidFill>
              <a:latin typeface="Bookman Old Style" pitchFamily="18" charset="0"/>
            </a:endParaRPr>
          </a:p>
        </p:txBody>
      </p:sp>
      <p:pic>
        <p:nvPicPr>
          <p:cNvPr id="22532" name="Picture 4"/>
          <p:cNvPicPr>
            <a:picLocks noChangeAspect="1" noChangeArrowheads="1"/>
          </p:cNvPicPr>
          <p:nvPr/>
        </p:nvPicPr>
        <p:blipFill>
          <a:blip r:embed="rId5">
            <a:extLst>
              <a:ext uri="{28A0092B-C50C-407E-A947-70E740481C1C}">
                <a14:useLocalDpi xmlns:a14="http://schemas.microsoft.com/office/drawing/2010/main" val="0"/>
              </a:ext>
            </a:extLst>
          </a:blip>
          <a:srcRect t="57333" r="53563" b="6416"/>
          <a:stretch>
            <a:fillRect/>
          </a:stretch>
        </p:blipFill>
        <p:spPr bwMode="auto">
          <a:xfrm>
            <a:off x="7478713" y="911226"/>
            <a:ext cx="2819400" cy="239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2533" name="Picture 5"/>
          <p:cNvPicPr>
            <a:picLocks noChangeAspect="1" noChangeArrowheads="1"/>
          </p:cNvPicPr>
          <p:nvPr/>
        </p:nvPicPr>
        <p:blipFill>
          <a:blip r:embed="rId5">
            <a:extLst>
              <a:ext uri="{28A0092B-C50C-407E-A947-70E740481C1C}">
                <a14:useLocalDpi xmlns:a14="http://schemas.microsoft.com/office/drawing/2010/main" val="0"/>
              </a:ext>
            </a:extLst>
          </a:blip>
          <a:srcRect l="51962" t="55611" b="12445"/>
          <a:stretch>
            <a:fillRect/>
          </a:stretch>
        </p:blipFill>
        <p:spPr bwMode="auto">
          <a:xfrm>
            <a:off x="7173913" y="3273426"/>
            <a:ext cx="2906712"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2534" name="Text Box 6"/>
          <p:cNvSpPr txBox="1">
            <a:spLocks noChangeArrowheads="1"/>
          </p:cNvSpPr>
          <p:nvPr/>
        </p:nvSpPr>
        <p:spPr bwMode="auto">
          <a:xfrm>
            <a:off x="2208213" y="5154614"/>
            <a:ext cx="83232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b="1"/>
              <a:t>Mach number correction for subsonic maximum lift coefficent of high aspect ratio wings</a:t>
            </a:r>
          </a:p>
        </p:txBody>
      </p:sp>
      <p:sp>
        <p:nvSpPr>
          <p:cNvPr id="22535" name="Text Box 9"/>
          <p:cNvSpPr txBox="1">
            <a:spLocks noChangeArrowheads="1"/>
          </p:cNvSpPr>
          <p:nvPr/>
        </p:nvSpPr>
        <p:spPr bwMode="auto">
          <a:xfrm>
            <a:off x="9067800" y="5867400"/>
            <a:ext cx="1373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400"/>
              <a:t>Source Raymer</a:t>
            </a:r>
          </a:p>
        </p:txBody>
      </p:sp>
    </p:spTree>
    <p:custDataLst>
      <p:tags r:id="rId1"/>
    </p:custData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l="14667" r="6667" b="10913"/>
          <a:stretch>
            <a:fillRect/>
          </a:stretch>
        </p:blipFill>
        <p:spPr bwMode="auto">
          <a:xfrm>
            <a:off x="5867400" y="1828801"/>
            <a:ext cx="4800600" cy="406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aphicFrame>
        <p:nvGraphicFramePr>
          <p:cNvPr id="23555" name="Object 4"/>
          <p:cNvGraphicFramePr>
            <a:graphicFrameLocks noChangeAspect="1"/>
          </p:cNvGraphicFramePr>
          <p:nvPr>
            <p:extLst>
              <p:ext uri="{D42A27DB-BD31-4B8C-83A1-F6EECF244321}">
                <p14:modId xmlns:p14="http://schemas.microsoft.com/office/powerpoint/2010/main" val="2038906780"/>
              </p:ext>
            </p:extLst>
          </p:nvPr>
        </p:nvGraphicFramePr>
        <p:xfrm>
          <a:off x="1199456" y="1856260"/>
          <a:ext cx="3826932" cy="1004087"/>
        </p:xfrm>
        <a:graphic>
          <a:graphicData uri="http://schemas.openxmlformats.org/presentationml/2006/ole">
            <mc:AlternateContent xmlns:mc="http://schemas.openxmlformats.org/markup-compatibility/2006">
              <mc:Choice xmlns:v="urn:schemas-microsoft-com:vml" Requires="v">
                <p:oleObj name="Equation" r:id="rId5" imgW="1637589" imgH="431613" progId="Equation.3">
                  <p:embed/>
                </p:oleObj>
              </mc:Choice>
              <mc:Fallback>
                <p:oleObj name="Equation" r:id="rId5" imgW="1637589" imgH="431613"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99456" y="1856260"/>
                        <a:ext cx="3826932" cy="1004087"/>
                      </a:xfrm>
                      <a:prstGeom prst="rect">
                        <a:avLst/>
                      </a:prstGeom>
                      <a:noFill/>
                      <a:ln>
                        <a:noFill/>
                      </a:ln>
                      <a:effectLst/>
                    </p:spPr>
                  </p:pic>
                </p:oleObj>
              </mc:Fallback>
            </mc:AlternateContent>
          </a:graphicData>
        </a:graphic>
      </p:graphicFrame>
      <p:sp>
        <p:nvSpPr>
          <p:cNvPr id="10244" name="Oval 5"/>
          <p:cNvSpPr>
            <a:spLocks noChangeArrowheads="1"/>
          </p:cNvSpPr>
          <p:nvPr/>
        </p:nvSpPr>
        <p:spPr bwMode="auto">
          <a:xfrm>
            <a:off x="3893840" y="2060848"/>
            <a:ext cx="762000" cy="562630"/>
          </a:xfrm>
          <a:prstGeom prst="ellipse">
            <a:avLst/>
          </a:prstGeom>
          <a:noFill/>
          <a:ln w="19050"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10245" name="Line 6"/>
          <p:cNvSpPr>
            <a:spLocks noChangeShapeType="1"/>
          </p:cNvSpPr>
          <p:nvPr/>
        </p:nvSpPr>
        <p:spPr bwMode="auto">
          <a:xfrm>
            <a:off x="4655840" y="2306152"/>
            <a:ext cx="1944216" cy="374476"/>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en-GB"/>
          </a:p>
        </p:txBody>
      </p:sp>
      <p:sp>
        <p:nvSpPr>
          <p:cNvPr id="10246" name="Text Box 9"/>
          <p:cNvSpPr txBox="1">
            <a:spLocks noChangeArrowheads="1"/>
          </p:cNvSpPr>
          <p:nvPr/>
        </p:nvSpPr>
        <p:spPr bwMode="auto">
          <a:xfrm>
            <a:off x="4151313" y="874819"/>
            <a:ext cx="4953000" cy="5842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dirty="0"/>
              <a:t>Known characteristic of the wing section (depends on the section camber***)</a:t>
            </a:r>
          </a:p>
        </p:txBody>
      </p:sp>
      <p:sp>
        <p:nvSpPr>
          <p:cNvPr id="23559" name="Rectangle 10"/>
          <p:cNvSpPr>
            <a:spLocks noChangeArrowheads="1"/>
          </p:cNvSpPr>
          <p:nvPr/>
        </p:nvSpPr>
        <p:spPr bwMode="auto">
          <a:xfrm>
            <a:off x="767408" y="115888"/>
            <a:ext cx="957674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200" dirty="0">
                <a:solidFill>
                  <a:schemeClr val="bg2"/>
                </a:solidFill>
                <a:latin typeface="Bookman Old Style" pitchFamily="18" charset="0"/>
              </a:rPr>
              <a:t>Evaluation of </a:t>
            </a:r>
            <a:r>
              <a:rPr lang="el-GR" altLang="nl-NL" sz="3200" dirty="0">
                <a:solidFill>
                  <a:schemeClr val="bg2"/>
                </a:solidFill>
                <a:latin typeface="Bookman Old Style" pitchFamily="18" charset="0"/>
              </a:rPr>
              <a:t>α</a:t>
            </a:r>
            <a:r>
              <a:rPr lang="en-US" altLang="nl-NL" sz="3200" baseline="-25000" dirty="0">
                <a:solidFill>
                  <a:schemeClr val="bg2"/>
                </a:solidFill>
                <a:latin typeface="Bookman Old Style" pitchFamily="18" charset="0"/>
              </a:rPr>
              <a:t>stall</a:t>
            </a:r>
            <a:r>
              <a:rPr lang="en-US" altLang="nl-NL" sz="3200" dirty="0">
                <a:solidFill>
                  <a:schemeClr val="bg2"/>
                </a:solidFill>
                <a:latin typeface="Bookman Old Style" pitchFamily="18" charset="0"/>
              </a:rPr>
              <a:t> for a HIGH aspect ratio wing</a:t>
            </a:r>
            <a:endParaRPr lang="el-GR" altLang="nl-NL" sz="3200" dirty="0">
              <a:solidFill>
                <a:schemeClr val="bg2"/>
              </a:solidFill>
              <a:latin typeface="Bookman Old Style" pitchFamily="18" charset="0"/>
            </a:endParaRPr>
          </a:p>
        </p:txBody>
      </p:sp>
      <p:sp>
        <p:nvSpPr>
          <p:cNvPr id="10248" name="Oval 11"/>
          <p:cNvSpPr>
            <a:spLocks noChangeArrowheads="1"/>
          </p:cNvSpPr>
          <p:nvPr/>
        </p:nvSpPr>
        <p:spPr bwMode="auto">
          <a:xfrm>
            <a:off x="2748854" y="1994045"/>
            <a:ext cx="875789" cy="624214"/>
          </a:xfrm>
          <a:prstGeom prst="ellipse">
            <a:avLst/>
          </a:prstGeom>
          <a:noFill/>
          <a:ln w="19050"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10249" name="Line 12"/>
          <p:cNvSpPr>
            <a:spLocks noChangeShapeType="1"/>
          </p:cNvSpPr>
          <p:nvPr/>
        </p:nvSpPr>
        <p:spPr bwMode="auto">
          <a:xfrm flipV="1">
            <a:off x="3398142" y="1484784"/>
            <a:ext cx="609600" cy="609600"/>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10250" name="Oval 13"/>
          <p:cNvSpPr>
            <a:spLocks noChangeArrowheads="1"/>
          </p:cNvSpPr>
          <p:nvPr/>
        </p:nvSpPr>
        <p:spPr bwMode="auto">
          <a:xfrm>
            <a:off x="2015977" y="2348880"/>
            <a:ext cx="767655" cy="614217"/>
          </a:xfrm>
          <a:prstGeom prst="ellipse">
            <a:avLst/>
          </a:prstGeom>
          <a:noFill/>
          <a:ln w="19050"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10251" name="Text Box 14"/>
          <p:cNvSpPr txBox="1">
            <a:spLocks noChangeArrowheads="1"/>
          </p:cNvSpPr>
          <p:nvPr/>
        </p:nvSpPr>
        <p:spPr bwMode="auto">
          <a:xfrm>
            <a:off x="904180" y="924864"/>
            <a:ext cx="2470150" cy="5842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a:t>Calculated  in the previous two slides</a:t>
            </a:r>
          </a:p>
        </p:txBody>
      </p:sp>
      <p:sp>
        <p:nvSpPr>
          <p:cNvPr id="10252" name="Oval 15"/>
          <p:cNvSpPr>
            <a:spLocks noChangeArrowheads="1"/>
          </p:cNvSpPr>
          <p:nvPr/>
        </p:nvSpPr>
        <p:spPr bwMode="auto">
          <a:xfrm>
            <a:off x="1986854" y="1841645"/>
            <a:ext cx="753533" cy="562630"/>
          </a:xfrm>
          <a:prstGeom prst="ellipse">
            <a:avLst/>
          </a:prstGeom>
          <a:noFill/>
          <a:ln w="19050"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10253" name="Line 16"/>
          <p:cNvSpPr>
            <a:spLocks noChangeShapeType="1"/>
          </p:cNvSpPr>
          <p:nvPr/>
        </p:nvSpPr>
        <p:spPr bwMode="auto">
          <a:xfrm flipH="1" flipV="1">
            <a:off x="1721740" y="1565275"/>
            <a:ext cx="342901" cy="367184"/>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en-GB"/>
          </a:p>
        </p:txBody>
      </p:sp>
      <p:sp>
        <p:nvSpPr>
          <p:cNvPr id="10254" name="Text Box 17"/>
          <p:cNvSpPr txBox="1">
            <a:spLocks noChangeArrowheads="1"/>
          </p:cNvSpPr>
          <p:nvPr/>
        </p:nvSpPr>
        <p:spPr bwMode="auto">
          <a:xfrm>
            <a:off x="538229" y="3309965"/>
            <a:ext cx="4127500" cy="83026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dirty="0"/>
              <a:t>The wing lift gradient (calculated at the beginning of this lecture). </a:t>
            </a:r>
          </a:p>
          <a:p>
            <a:pPr eaLnBrk="1" hangingPunct="1">
              <a:lnSpc>
                <a:spcPct val="100000"/>
              </a:lnSpc>
              <a:buClrTx/>
              <a:buFontTx/>
              <a:buNone/>
            </a:pPr>
            <a:r>
              <a:rPr lang="en-GB" altLang="nl-NL" sz="1600" b="1" dirty="0"/>
              <a:t>Calculate it at the right Mach number!</a:t>
            </a:r>
          </a:p>
        </p:txBody>
      </p:sp>
      <p:grpSp>
        <p:nvGrpSpPr>
          <p:cNvPr id="10255" name="Group 22"/>
          <p:cNvGrpSpPr>
            <a:grpSpLocks/>
          </p:cNvGrpSpPr>
          <p:nvPr/>
        </p:nvGrpSpPr>
        <p:grpSpPr bwMode="auto">
          <a:xfrm>
            <a:off x="3235325" y="4262439"/>
            <a:ext cx="915988" cy="750887"/>
            <a:chOff x="816" y="2596"/>
            <a:chExt cx="577" cy="473"/>
          </a:xfrm>
        </p:grpSpPr>
        <p:pic>
          <p:nvPicPr>
            <p:cNvPr id="23573" name="Picture 18" descr="warning"/>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131454">
              <a:off x="816" y="2640"/>
              <a:ext cx="480"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74" name="Text Box 19"/>
            <p:cNvSpPr txBox="1">
              <a:spLocks noChangeArrowheads="1"/>
            </p:cNvSpPr>
            <p:nvPr/>
          </p:nvSpPr>
          <p:spPr bwMode="auto">
            <a:xfrm>
              <a:off x="1190" y="2596"/>
              <a:ext cx="2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a:t>*</a:t>
              </a:r>
            </a:p>
          </p:txBody>
        </p:sp>
      </p:grpSp>
      <p:sp>
        <p:nvSpPr>
          <p:cNvPr id="10256" name="Line 20"/>
          <p:cNvSpPr>
            <a:spLocks noChangeShapeType="1"/>
          </p:cNvSpPr>
          <p:nvPr/>
        </p:nvSpPr>
        <p:spPr bwMode="auto">
          <a:xfrm flipH="1">
            <a:off x="2351583" y="2920665"/>
            <a:ext cx="25711" cy="356103"/>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en-GB"/>
          </a:p>
        </p:txBody>
      </p:sp>
      <p:sp>
        <p:nvSpPr>
          <p:cNvPr id="10257" name="Text Box 21"/>
          <p:cNvSpPr txBox="1">
            <a:spLocks noChangeArrowheads="1"/>
          </p:cNvSpPr>
          <p:nvPr/>
        </p:nvSpPr>
        <p:spPr bwMode="auto">
          <a:xfrm>
            <a:off x="2559051" y="5238750"/>
            <a:ext cx="4208463" cy="584200"/>
          </a:xfrm>
          <a:prstGeom prst="rect">
            <a:avLst/>
          </a:prstGeom>
          <a:solidFill>
            <a:srgbClr val="FFFF00"/>
          </a:solidFill>
          <a:ln w="9525" algn="ctr">
            <a:solidFill>
              <a:srgbClr val="FF3300"/>
            </a:solidFill>
            <a:miter lim="800000"/>
            <a:headEnd/>
            <a:tailEnd/>
          </a:ln>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600"/>
              <a:t>This term account for the non linear effects of the LE vortices**</a:t>
            </a:r>
          </a:p>
        </p:txBody>
      </p:sp>
      <p:sp>
        <p:nvSpPr>
          <p:cNvPr id="10258" name="Oval 22"/>
          <p:cNvSpPr>
            <a:spLocks noChangeArrowheads="1"/>
          </p:cNvSpPr>
          <p:nvPr/>
        </p:nvSpPr>
        <p:spPr bwMode="auto">
          <a:xfrm>
            <a:off x="7658100" y="2084061"/>
            <a:ext cx="958850" cy="562630"/>
          </a:xfrm>
          <a:prstGeom prst="ellipse">
            <a:avLst/>
          </a:prstGeom>
          <a:noFill/>
          <a:ln w="19050"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10259" name="Line 23"/>
          <p:cNvSpPr>
            <a:spLocks noChangeShapeType="1"/>
          </p:cNvSpPr>
          <p:nvPr/>
        </p:nvSpPr>
        <p:spPr bwMode="auto">
          <a:xfrm flipH="1">
            <a:off x="5867400" y="2667000"/>
            <a:ext cx="2209800" cy="2514600"/>
          </a:xfrm>
          <a:prstGeom prst="line">
            <a:avLst/>
          </a:prstGeom>
          <a:noFill/>
          <a:ln w="1905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GB"/>
          </a:p>
        </p:txBody>
      </p:sp>
      <p:sp>
        <p:nvSpPr>
          <p:cNvPr id="23572" name="Text Box 24"/>
          <p:cNvSpPr txBox="1">
            <a:spLocks noChangeArrowheads="1"/>
          </p:cNvSpPr>
          <p:nvPr/>
        </p:nvSpPr>
        <p:spPr bwMode="auto">
          <a:xfrm>
            <a:off x="9067800" y="5867400"/>
            <a:ext cx="1373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400"/>
              <a:t>Source Raymer</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5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2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24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25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25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255"/>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245"/>
                                        </p:tgtEl>
                                        <p:attrNameLst>
                                          <p:attrName>style.visibility</p:attrName>
                                        </p:attrNameLst>
                                      </p:cBhvr>
                                      <p:to>
                                        <p:strVal val="visible"/>
                                      </p:to>
                                    </p:set>
                                    <p:animEffect transition="in" filter="fade">
                                      <p:cBhvr>
                                        <p:cTn id="33" dur="500"/>
                                        <p:tgtEl>
                                          <p:spTgt spid="1024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244"/>
                                        </p:tgtEl>
                                        <p:attrNameLst>
                                          <p:attrName>style.visibility</p:attrName>
                                        </p:attrNameLst>
                                      </p:cBhvr>
                                      <p:to>
                                        <p:strVal val="visible"/>
                                      </p:to>
                                    </p:set>
                                    <p:animEffect transition="in" filter="fade">
                                      <p:cBhvr>
                                        <p:cTn id="36" dur="500"/>
                                        <p:tgtEl>
                                          <p:spTgt spid="10244"/>
                                        </p:tgtEl>
                                      </p:cBhvr>
                                    </p:animEffect>
                                  </p:childTnLst>
                                </p:cTn>
                              </p:par>
                              <p:par>
                                <p:cTn id="37" presetID="10" presetClass="entr" presetSubtype="0" fill="hold" nodeType="withEffect">
                                  <p:stCondLst>
                                    <p:cond delay="0"/>
                                  </p:stCondLst>
                                  <p:childTnLst>
                                    <p:set>
                                      <p:cBhvr>
                                        <p:cTn id="38" dur="1" fill="hold">
                                          <p:stCondLst>
                                            <p:cond delay="0"/>
                                          </p:stCondLst>
                                        </p:cTn>
                                        <p:tgtEl>
                                          <p:spTgt spid="10243"/>
                                        </p:tgtEl>
                                        <p:attrNameLst>
                                          <p:attrName>style.visibility</p:attrName>
                                        </p:attrNameLst>
                                      </p:cBhvr>
                                      <p:to>
                                        <p:strVal val="visible"/>
                                      </p:to>
                                    </p:set>
                                    <p:animEffect transition="in" filter="fade">
                                      <p:cBhvr>
                                        <p:cTn id="39" dur="500"/>
                                        <p:tgtEl>
                                          <p:spTgt spid="1024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0258"/>
                                        </p:tgtEl>
                                        <p:attrNameLst>
                                          <p:attrName>style.visibility</p:attrName>
                                        </p:attrNameLst>
                                      </p:cBhvr>
                                      <p:to>
                                        <p:strVal val="visible"/>
                                      </p:to>
                                    </p:set>
                                    <p:animEffect transition="in" filter="fade">
                                      <p:cBhvr>
                                        <p:cTn id="44" dur="500"/>
                                        <p:tgtEl>
                                          <p:spTgt spid="1025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0259"/>
                                        </p:tgtEl>
                                        <p:attrNameLst>
                                          <p:attrName>style.visibility</p:attrName>
                                        </p:attrNameLst>
                                      </p:cBhvr>
                                      <p:to>
                                        <p:strVal val="visible"/>
                                      </p:to>
                                    </p:set>
                                    <p:animEffect transition="in" filter="fade">
                                      <p:cBhvr>
                                        <p:cTn id="47" dur="500"/>
                                        <p:tgtEl>
                                          <p:spTgt spid="1025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0257"/>
                                        </p:tgtEl>
                                        <p:attrNameLst>
                                          <p:attrName>style.visibility</p:attrName>
                                        </p:attrNameLst>
                                      </p:cBhvr>
                                      <p:to>
                                        <p:strVal val="visible"/>
                                      </p:to>
                                    </p:set>
                                    <p:animEffect transition="in" filter="fade">
                                      <p:cBhvr>
                                        <p:cTn id="50" dur="500"/>
                                        <p:tgtEl>
                                          <p:spTgt spid="10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animBg="1"/>
      <p:bldP spid="10245" grpId="0" animBg="1"/>
      <p:bldP spid="10246" grpId="0" animBg="1"/>
      <p:bldP spid="10248" grpId="0" animBg="1"/>
      <p:bldP spid="10249" grpId="0" animBg="1"/>
      <p:bldP spid="10250" grpId="0" animBg="1"/>
      <p:bldP spid="10251" grpId="0" animBg="1"/>
      <p:bldP spid="10252" grpId="0" animBg="1"/>
      <p:bldP spid="10253" grpId="0" animBg="1"/>
      <p:bldP spid="10254" grpId="0" animBg="1"/>
      <p:bldP spid="10256" grpId="0" animBg="1"/>
      <p:bldP spid="10257" grpId="0" animBg="1"/>
      <p:bldP spid="10258" grpId="0" animBg="1"/>
      <p:bldP spid="1025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2"/>
          <p:cNvSpPr>
            <a:spLocks noChangeArrowheads="1"/>
          </p:cNvSpPr>
          <p:nvPr/>
        </p:nvSpPr>
        <p:spPr bwMode="auto">
          <a:xfrm>
            <a:off x="767408" y="1062038"/>
            <a:ext cx="1116124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2400" dirty="0">
                <a:solidFill>
                  <a:schemeClr val="bg2"/>
                </a:solidFill>
                <a:latin typeface="Bookman Old Style" pitchFamily="18" charset="0"/>
              </a:rPr>
              <a:t>DATCOM method for the evaluation of stall angle (</a:t>
            </a:r>
            <a:r>
              <a:rPr lang="el-GR" altLang="nl-NL" sz="2400" dirty="0">
                <a:solidFill>
                  <a:schemeClr val="bg2"/>
                </a:solidFill>
                <a:latin typeface="Bookman Old Style" pitchFamily="18" charset="0"/>
              </a:rPr>
              <a:t>α</a:t>
            </a:r>
            <a:r>
              <a:rPr lang="nl-NL" altLang="nl-NL" sz="2400" baseline="-25000" dirty="0" err="1">
                <a:solidFill>
                  <a:schemeClr val="bg2"/>
                </a:solidFill>
                <a:latin typeface="Bookman Old Style" pitchFamily="18" charset="0"/>
              </a:rPr>
              <a:t>stall</a:t>
            </a:r>
            <a:r>
              <a:rPr lang="nl-NL" altLang="nl-NL" sz="2400" dirty="0">
                <a:solidFill>
                  <a:schemeClr val="bg2"/>
                </a:solidFill>
                <a:latin typeface="Bookman Old Style" pitchFamily="18" charset="0"/>
              </a:rPr>
              <a:t>)</a:t>
            </a:r>
            <a:r>
              <a:rPr lang="en-US" altLang="nl-NL" sz="2400" dirty="0">
                <a:solidFill>
                  <a:schemeClr val="bg2"/>
                </a:solidFill>
                <a:latin typeface="Bookman Old Style" pitchFamily="18" charset="0"/>
              </a:rPr>
              <a:t> and maximum lift coefficient (</a:t>
            </a:r>
            <a:r>
              <a:rPr lang="en-US" altLang="nl-NL" sz="2400" dirty="0" err="1">
                <a:solidFill>
                  <a:schemeClr val="bg2"/>
                </a:solidFill>
                <a:latin typeface="Bookman Old Style" pitchFamily="18" charset="0"/>
              </a:rPr>
              <a:t>C</a:t>
            </a:r>
            <a:r>
              <a:rPr lang="en-US" altLang="nl-NL" sz="2400" baseline="-25000" dirty="0" err="1">
                <a:solidFill>
                  <a:schemeClr val="bg2"/>
                </a:solidFill>
                <a:latin typeface="Bookman Old Style" pitchFamily="18" charset="0"/>
              </a:rPr>
              <a:t>Lmax</a:t>
            </a:r>
            <a:r>
              <a:rPr lang="en-US" altLang="nl-NL" sz="2400" dirty="0">
                <a:solidFill>
                  <a:schemeClr val="bg2"/>
                </a:solidFill>
                <a:latin typeface="Bookman Old Style" pitchFamily="18" charset="0"/>
              </a:rPr>
              <a:t>) for </a:t>
            </a:r>
            <a:r>
              <a:rPr lang="en-US" altLang="nl-NL" sz="2800" b="1" dirty="0">
                <a:solidFill>
                  <a:schemeClr val="bg2"/>
                </a:solidFill>
                <a:latin typeface="Bookman Old Style" pitchFamily="18" charset="0"/>
              </a:rPr>
              <a:t>low aspect ratio wings</a:t>
            </a:r>
            <a:endParaRPr lang="el-GR" altLang="nl-NL" sz="2800" b="1" dirty="0">
              <a:solidFill>
                <a:schemeClr val="bg2"/>
              </a:solidFill>
              <a:latin typeface="Bookman Old Style" pitchFamily="18" charset="0"/>
            </a:endParaRPr>
          </a:p>
        </p:txBody>
      </p:sp>
      <p:pic>
        <p:nvPicPr>
          <p:cNvPr id="135170" name="Picture 2" descr="http://www.company-v.com/images/Aircraft/Military/Italy-Horizontal_Break_F104.jpg"/>
          <p:cNvPicPr>
            <a:picLocks noChangeAspect="1" noChangeArrowheads="1"/>
          </p:cNvPicPr>
          <p:nvPr/>
        </p:nvPicPr>
        <p:blipFill>
          <a:blip r:embed="rId3"/>
          <a:srcRect/>
          <a:stretch>
            <a:fillRect/>
          </a:stretch>
        </p:blipFill>
        <p:spPr bwMode="auto">
          <a:xfrm>
            <a:off x="4079776" y="3212976"/>
            <a:ext cx="3889375" cy="25336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Oval 5"/>
          <p:cNvSpPr>
            <a:spLocks noChangeArrowheads="1"/>
          </p:cNvSpPr>
          <p:nvPr/>
        </p:nvSpPr>
        <p:spPr bwMode="auto">
          <a:xfrm>
            <a:off x="3124200" y="1814185"/>
            <a:ext cx="259766" cy="562630"/>
          </a:xfrm>
          <a:prstGeom prst="ellipse">
            <a:avLst/>
          </a:prstGeom>
          <a:noFill/>
          <a:ln w="952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25603" name="Oval 6"/>
          <p:cNvSpPr>
            <a:spLocks noChangeArrowheads="1"/>
          </p:cNvSpPr>
          <p:nvPr/>
        </p:nvSpPr>
        <p:spPr bwMode="auto">
          <a:xfrm>
            <a:off x="9906000" y="1890385"/>
            <a:ext cx="259766" cy="562630"/>
          </a:xfrm>
          <a:prstGeom prst="ellipse">
            <a:avLst/>
          </a:prstGeom>
          <a:noFill/>
          <a:ln w="952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pic>
        <p:nvPicPr>
          <p:cNvPr id="25604"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1585913"/>
            <a:ext cx="5467350" cy="347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5605" name="Freeform 8"/>
          <p:cNvSpPr>
            <a:spLocks/>
          </p:cNvSpPr>
          <p:nvPr/>
        </p:nvSpPr>
        <p:spPr bwMode="auto">
          <a:xfrm>
            <a:off x="3733800" y="1733550"/>
            <a:ext cx="2133600" cy="338554"/>
          </a:xfrm>
          <a:custGeom>
            <a:avLst/>
            <a:gdLst>
              <a:gd name="T0" fmla="*/ 0 w 1344"/>
              <a:gd name="T1" fmla="*/ 2147483647 h 620"/>
              <a:gd name="T2" fmla="*/ 2147483647 w 1344"/>
              <a:gd name="T3" fmla="*/ 2147483647 h 620"/>
              <a:gd name="T4" fmla="*/ 2147483647 w 1344"/>
              <a:gd name="T5" fmla="*/ 2147483647 h 620"/>
              <a:gd name="T6" fmla="*/ 2147483647 w 1344"/>
              <a:gd name="T7" fmla="*/ 2147483647 h 620"/>
              <a:gd name="T8" fmla="*/ 2147483647 w 1344"/>
              <a:gd name="T9" fmla="*/ 2147483647 h 620"/>
              <a:gd name="T10" fmla="*/ 0 60000 65536"/>
              <a:gd name="T11" fmla="*/ 0 60000 65536"/>
              <a:gd name="T12" fmla="*/ 0 60000 65536"/>
              <a:gd name="T13" fmla="*/ 0 60000 65536"/>
              <a:gd name="T14" fmla="*/ 0 60000 65536"/>
              <a:gd name="T15" fmla="*/ 0 w 1344"/>
              <a:gd name="T16" fmla="*/ 0 h 620"/>
              <a:gd name="T17" fmla="*/ 1344 w 1344"/>
              <a:gd name="T18" fmla="*/ 620 h 620"/>
            </a:gdLst>
            <a:ahLst/>
            <a:cxnLst>
              <a:cxn ang="T10">
                <a:pos x="T0" y="T1"/>
              </a:cxn>
              <a:cxn ang="T11">
                <a:pos x="T2" y="T3"/>
              </a:cxn>
              <a:cxn ang="T12">
                <a:pos x="T4" y="T5"/>
              </a:cxn>
              <a:cxn ang="T13">
                <a:pos x="T6" y="T7"/>
              </a:cxn>
              <a:cxn ang="T14">
                <a:pos x="T8" y="T9"/>
              </a:cxn>
            </a:cxnLst>
            <a:rect l="T15" t="T16" r="T17" b="T18"/>
            <a:pathLst>
              <a:path w="1344" h="620">
                <a:moveTo>
                  <a:pt x="0" y="68"/>
                </a:moveTo>
                <a:cubicBezTo>
                  <a:pt x="55" y="59"/>
                  <a:pt x="205" y="17"/>
                  <a:pt x="328" y="12"/>
                </a:cubicBezTo>
                <a:cubicBezTo>
                  <a:pt x="451" y="7"/>
                  <a:pt x="596" y="0"/>
                  <a:pt x="736" y="36"/>
                </a:cubicBezTo>
                <a:cubicBezTo>
                  <a:pt x="876" y="72"/>
                  <a:pt x="1067" y="131"/>
                  <a:pt x="1168" y="228"/>
                </a:cubicBezTo>
                <a:cubicBezTo>
                  <a:pt x="1269" y="325"/>
                  <a:pt x="1307" y="538"/>
                  <a:pt x="1344" y="620"/>
                </a:cubicBezTo>
              </a:path>
            </a:pathLst>
          </a:custGeom>
          <a:noFill/>
          <a:ln w="38100" cap="flat" cmpd="sng">
            <a:solidFill>
              <a:srgbClr val="FF33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en-GB"/>
          </a:p>
        </p:txBody>
      </p:sp>
      <p:sp>
        <p:nvSpPr>
          <p:cNvPr id="25606" name="Oval 9"/>
          <p:cNvSpPr>
            <a:spLocks noChangeArrowheads="1"/>
          </p:cNvSpPr>
          <p:nvPr/>
        </p:nvSpPr>
        <p:spPr bwMode="auto">
          <a:xfrm>
            <a:off x="7543800" y="4252585"/>
            <a:ext cx="259766" cy="562630"/>
          </a:xfrm>
          <a:prstGeom prst="ellipse">
            <a:avLst/>
          </a:prstGeom>
          <a:noFill/>
          <a:ln w="952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25607" name="Oval 10"/>
          <p:cNvSpPr>
            <a:spLocks noChangeArrowheads="1"/>
          </p:cNvSpPr>
          <p:nvPr/>
        </p:nvSpPr>
        <p:spPr bwMode="auto">
          <a:xfrm>
            <a:off x="8610600" y="2842885"/>
            <a:ext cx="533400" cy="562630"/>
          </a:xfrm>
          <a:prstGeom prst="ellipse">
            <a:avLst/>
          </a:prstGeom>
          <a:noFill/>
          <a:ln w="952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25608" name="Text Box 11"/>
          <p:cNvSpPr txBox="1">
            <a:spLocks noChangeArrowheads="1"/>
          </p:cNvSpPr>
          <p:nvPr/>
        </p:nvSpPr>
        <p:spPr bwMode="auto">
          <a:xfrm>
            <a:off x="7391401" y="5334001"/>
            <a:ext cx="184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a:t>F(C</a:t>
            </a:r>
            <a:r>
              <a:rPr lang="en-GB" altLang="nl-NL" baseline="-25000"/>
              <a:t>1</a:t>
            </a:r>
            <a:r>
              <a:rPr lang="en-GB" altLang="nl-NL"/>
              <a:t>, A, </a:t>
            </a:r>
            <a:r>
              <a:rPr lang="el-GR" altLang="nl-NL"/>
              <a:t>β</a:t>
            </a:r>
            <a:r>
              <a:rPr lang="nl-NL" altLang="nl-NL"/>
              <a:t>,</a:t>
            </a:r>
            <a:r>
              <a:rPr lang="el-GR" altLang="nl-NL"/>
              <a:t>Λ</a:t>
            </a:r>
            <a:r>
              <a:rPr lang="nl-NL" altLang="nl-NL" baseline="-25000"/>
              <a:t>LE)</a:t>
            </a:r>
            <a:endParaRPr lang="el-GR" altLang="nl-NL" baseline="-25000"/>
          </a:p>
        </p:txBody>
      </p:sp>
      <p:sp>
        <p:nvSpPr>
          <p:cNvPr id="25609" name="Line 12"/>
          <p:cNvSpPr>
            <a:spLocks noChangeShapeType="1"/>
          </p:cNvSpPr>
          <p:nvPr/>
        </p:nvSpPr>
        <p:spPr bwMode="auto">
          <a:xfrm flipH="1">
            <a:off x="8153400" y="4876800"/>
            <a:ext cx="76200" cy="4572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25610" name="Oval 13"/>
          <p:cNvSpPr>
            <a:spLocks noChangeArrowheads="1"/>
          </p:cNvSpPr>
          <p:nvPr/>
        </p:nvSpPr>
        <p:spPr bwMode="auto">
          <a:xfrm>
            <a:off x="8458200" y="2690485"/>
            <a:ext cx="533400" cy="562630"/>
          </a:xfrm>
          <a:prstGeom prst="ellipse">
            <a:avLst/>
          </a:prstGeom>
          <a:noFill/>
          <a:ln w="952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25611" name="Oval 14"/>
          <p:cNvSpPr>
            <a:spLocks noChangeArrowheads="1"/>
          </p:cNvSpPr>
          <p:nvPr/>
        </p:nvSpPr>
        <p:spPr bwMode="auto">
          <a:xfrm>
            <a:off x="6477000" y="1623685"/>
            <a:ext cx="533400" cy="562630"/>
          </a:xfrm>
          <a:prstGeom prst="ellipse">
            <a:avLst/>
          </a:prstGeom>
          <a:noFill/>
          <a:ln w="952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pic>
        <p:nvPicPr>
          <p:cNvPr id="25612" name="Picture 15"/>
          <p:cNvPicPr>
            <a:picLocks noChangeAspect="1" noChangeArrowheads="1"/>
          </p:cNvPicPr>
          <p:nvPr/>
        </p:nvPicPr>
        <p:blipFill>
          <a:blip r:embed="rId5">
            <a:extLst>
              <a:ext uri="{28A0092B-C50C-407E-A947-70E740481C1C}">
                <a14:useLocalDpi xmlns:a14="http://schemas.microsoft.com/office/drawing/2010/main" val="0"/>
              </a:ext>
            </a:extLst>
          </a:blip>
          <a:srcRect l="3479" t="19403" r="46666" b="11940"/>
          <a:stretch>
            <a:fillRect/>
          </a:stretch>
        </p:blipFill>
        <p:spPr bwMode="auto">
          <a:xfrm>
            <a:off x="1828800" y="3733800"/>
            <a:ext cx="3276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5613" name="Oval 16"/>
          <p:cNvSpPr>
            <a:spLocks noChangeArrowheads="1"/>
          </p:cNvSpPr>
          <p:nvPr/>
        </p:nvSpPr>
        <p:spPr bwMode="auto">
          <a:xfrm>
            <a:off x="7620000" y="5281285"/>
            <a:ext cx="533400" cy="562630"/>
          </a:xfrm>
          <a:prstGeom prst="ellipse">
            <a:avLst/>
          </a:prstGeom>
          <a:noFill/>
          <a:ln w="952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25614" name="Line 17"/>
          <p:cNvSpPr>
            <a:spLocks noChangeShapeType="1"/>
          </p:cNvSpPr>
          <p:nvPr/>
        </p:nvSpPr>
        <p:spPr bwMode="auto">
          <a:xfrm flipH="1" flipV="1">
            <a:off x="4572000" y="4724400"/>
            <a:ext cx="3048000" cy="6096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25615" name="Rectangle 19"/>
          <p:cNvSpPr>
            <a:spLocks noChangeArrowheads="1"/>
          </p:cNvSpPr>
          <p:nvPr/>
        </p:nvSpPr>
        <p:spPr bwMode="auto">
          <a:xfrm>
            <a:off x="2546350" y="188913"/>
            <a:ext cx="736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2400">
                <a:solidFill>
                  <a:schemeClr val="bg2"/>
                </a:solidFill>
                <a:latin typeface="Bookman Old Style" pitchFamily="18" charset="0"/>
              </a:rPr>
              <a:t>Evaluation of C</a:t>
            </a:r>
            <a:r>
              <a:rPr lang="en-US" altLang="nl-NL" sz="2400" baseline="-25000">
                <a:solidFill>
                  <a:schemeClr val="bg2"/>
                </a:solidFill>
                <a:latin typeface="Bookman Old Style" pitchFamily="18" charset="0"/>
              </a:rPr>
              <a:t>Lmax</a:t>
            </a:r>
            <a:r>
              <a:rPr lang="en-US" altLang="nl-NL" sz="2400">
                <a:solidFill>
                  <a:schemeClr val="bg2"/>
                </a:solidFill>
                <a:latin typeface="Bookman Old Style" pitchFamily="18" charset="0"/>
              </a:rPr>
              <a:t> for a LOW aspect ratio wing</a:t>
            </a:r>
            <a:endParaRPr lang="el-GR" altLang="nl-NL" sz="2400">
              <a:solidFill>
                <a:schemeClr val="bg2"/>
              </a:solidFill>
              <a:latin typeface="Bookman Old Style" pitchFamily="18" charset="0"/>
            </a:endParaRPr>
          </a:p>
        </p:txBody>
      </p:sp>
      <p:graphicFrame>
        <p:nvGraphicFramePr>
          <p:cNvPr id="25616" name="Object 3"/>
          <p:cNvGraphicFramePr>
            <a:graphicFrameLocks noChangeAspect="1"/>
          </p:cNvGraphicFramePr>
          <p:nvPr/>
        </p:nvGraphicFramePr>
        <p:xfrm>
          <a:off x="1981200" y="1905000"/>
          <a:ext cx="3455988" cy="458788"/>
        </p:xfrm>
        <a:graphic>
          <a:graphicData uri="http://schemas.openxmlformats.org/presentationml/2006/ole">
            <mc:AlternateContent xmlns:mc="http://schemas.openxmlformats.org/markup-compatibility/2006">
              <mc:Choice xmlns:v="urn:schemas-microsoft-com:vml" Requires="v">
                <p:oleObj name="Equation" r:id="rId6" imgW="1714500" imgH="228600" progId="Equation.3">
                  <p:embed/>
                </p:oleObj>
              </mc:Choice>
              <mc:Fallback>
                <p:oleObj name="Equation" r:id="rId6" imgW="1714500" imgH="2286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1200" y="1905000"/>
                        <a:ext cx="3455988"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5617" name="Picture 21" descr="warning"/>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131454">
            <a:off x="9144000" y="5181600"/>
            <a:ext cx="762000"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8" name="Text Box 22"/>
          <p:cNvSpPr txBox="1">
            <a:spLocks noChangeArrowheads="1"/>
          </p:cNvSpPr>
          <p:nvPr/>
        </p:nvSpPr>
        <p:spPr bwMode="auto">
          <a:xfrm>
            <a:off x="9677401" y="5257801"/>
            <a:ext cx="322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a:t>*</a:t>
            </a:r>
          </a:p>
        </p:txBody>
      </p:sp>
      <p:sp>
        <p:nvSpPr>
          <p:cNvPr id="25619" name="Text Box 23"/>
          <p:cNvSpPr txBox="1">
            <a:spLocks noChangeArrowheads="1"/>
          </p:cNvSpPr>
          <p:nvPr/>
        </p:nvSpPr>
        <p:spPr bwMode="auto">
          <a:xfrm>
            <a:off x="4743451" y="965200"/>
            <a:ext cx="5313363" cy="376238"/>
          </a:xfrm>
          <a:prstGeom prst="rect">
            <a:avLst/>
          </a:prstGeom>
          <a:solidFill>
            <a:srgbClr val="FFFF00"/>
          </a:solidFill>
          <a:ln w="9525" algn="ctr">
            <a:solidFill>
              <a:schemeClr val="tx1"/>
            </a:solidFill>
            <a:miter lim="800000"/>
            <a:headEnd/>
            <a:tailEnd/>
          </a:ln>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800"/>
              <a:t>Note the effect of sharp airfoils in increasing C</a:t>
            </a:r>
            <a:r>
              <a:rPr lang="en-GB" altLang="nl-NL" sz="1800" baseline="-25000"/>
              <a:t>Lmax</a:t>
            </a:r>
            <a:r>
              <a:rPr lang="en-GB" altLang="nl-NL" sz="1800"/>
              <a:t>!</a:t>
            </a:r>
          </a:p>
        </p:txBody>
      </p:sp>
      <p:sp>
        <p:nvSpPr>
          <p:cNvPr id="25620" name="Line 24"/>
          <p:cNvSpPr>
            <a:spLocks noChangeShapeType="1"/>
          </p:cNvSpPr>
          <p:nvPr/>
        </p:nvSpPr>
        <p:spPr bwMode="auto">
          <a:xfrm flipH="1">
            <a:off x="7086600" y="1371600"/>
            <a:ext cx="53340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GB"/>
          </a:p>
        </p:txBody>
      </p:sp>
      <p:sp>
        <p:nvSpPr>
          <p:cNvPr id="25621" name="Text Box 25"/>
          <p:cNvSpPr txBox="1">
            <a:spLocks noChangeArrowheads="1"/>
          </p:cNvSpPr>
          <p:nvPr/>
        </p:nvSpPr>
        <p:spPr bwMode="auto">
          <a:xfrm>
            <a:off x="9067800" y="5867400"/>
            <a:ext cx="1373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400"/>
              <a:t>Source Raymer</a:t>
            </a:r>
          </a:p>
        </p:txBody>
      </p:sp>
    </p:spTree>
    <p:custDataLst>
      <p:tags r:id="rId1"/>
    </p:custData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6626" name="Object 3"/>
          <p:cNvGraphicFramePr>
            <a:graphicFrameLocks noChangeAspect="1"/>
          </p:cNvGraphicFramePr>
          <p:nvPr/>
        </p:nvGraphicFramePr>
        <p:xfrm>
          <a:off x="1981200" y="1828800"/>
          <a:ext cx="3455988" cy="458788"/>
        </p:xfrm>
        <a:graphic>
          <a:graphicData uri="http://schemas.openxmlformats.org/presentationml/2006/ole">
            <mc:AlternateContent xmlns:mc="http://schemas.openxmlformats.org/markup-compatibility/2006">
              <mc:Choice xmlns:v="urn:schemas-microsoft-com:vml" Requires="v">
                <p:oleObj name="Equation" r:id="rId4" imgW="1714500" imgH="228600" progId="Equation.3">
                  <p:embed/>
                </p:oleObj>
              </mc:Choice>
              <mc:Fallback>
                <p:oleObj name="Equation" r:id="rId4" imgW="1714500" imgH="228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1828800"/>
                        <a:ext cx="3455988"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27" name="Oval 5"/>
          <p:cNvSpPr>
            <a:spLocks noChangeArrowheads="1"/>
          </p:cNvSpPr>
          <p:nvPr/>
        </p:nvSpPr>
        <p:spPr bwMode="auto">
          <a:xfrm>
            <a:off x="4572000" y="1737985"/>
            <a:ext cx="533400" cy="562630"/>
          </a:xfrm>
          <a:prstGeom prst="ellipse">
            <a:avLst/>
          </a:prstGeom>
          <a:noFill/>
          <a:ln w="952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26628" name="Text Box 6"/>
          <p:cNvSpPr txBox="1">
            <a:spLocks noChangeArrowheads="1"/>
          </p:cNvSpPr>
          <p:nvPr/>
        </p:nvSpPr>
        <p:spPr bwMode="auto">
          <a:xfrm>
            <a:off x="7391401" y="5334001"/>
            <a:ext cx="184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a:t>F(C</a:t>
            </a:r>
            <a:r>
              <a:rPr lang="en-GB" altLang="nl-NL" baseline="-25000"/>
              <a:t>2</a:t>
            </a:r>
            <a:r>
              <a:rPr lang="en-GB" altLang="nl-NL"/>
              <a:t>, A, </a:t>
            </a:r>
            <a:r>
              <a:rPr lang="en-US" altLang="nl-NL"/>
              <a:t>M</a:t>
            </a:r>
            <a:r>
              <a:rPr lang="nl-NL" altLang="nl-NL"/>
              <a:t>,</a:t>
            </a:r>
            <a:r>
              <a:rPr lang="el-GR" altLang="nl-NL"/>
              <a:t>Λ</a:t>
            </a:r>
            <a:r>
              <a:rPr lang="nl-NL" altLang="nl-NL" baseline="-25000"/>
              <a:t>LE)</a:t>
            </a:r>
            <a:endParaRPr lang="el-GR" altLang="nl-NL" baseline="-25000"/>
          </a:p>
        </p:txBody>
      </p:sp>
      <p:sp>
        <p:nvSpPr>
          <p:cNvPr id="26629" name="Line 7"/>
          <p:cNvSpPr>
            <a:spLocks noChangeShapeType="1"/>
          </p:cNvSpPr>
          <p:nvPr/>
        </p:nvSpPr>
        <p:spPr bwMode="auto">
          <a:xfrm>
            <a:off x="8077200" y="4495800"/>
            <a:ext cx="76200" cy="8382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26630" name="Oval 8"/>
          <p:cNvSpPr>
            <a:spLocks noChangeArrowheads="1"/>
          </p:cNvSpPr>
          <p:nvPr/>
        </p:nvSpPr>
        <p:spPr bwMode="auto">
          <a:xfrm>
            <a:off x="7696200" y="5319385"/>
            <a:ext cx="381000" cy="562630"/>
          </a:xfrm>
          <a:prstGeom prst="ellipse">
            <a:avLst/>
          </a:prstGeom>
          <a:noFill/>
          <a:ln w="952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26631" name="Line 9"/>
          <p:cNvSpPr>
            <a:spLocks noChangeShapeType="1"/>
          </p:cNvSpPr>
          <p:nvPr/>
        </p:nvSpPr>
        <p:spPr bwMode="auto">
          <a:xfrm flipH="1" flipV="1">
            <a:off x="4495800" y="4953000"/>
            <a:ext cx="3200400" cy="5334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pic>
        <p:nvPicPr>
          <p:cNvPr id="26632" name="Picture 10"/>
          <p:cNvPicPr>
            <a:picLocks noChangeAspect="1" noChangeArrowheads="1"/>
          </p:cNvPicPr>
          <p:nvPr/>
        </p:nvPicPr>
        <p:blipFill>
          <a:blip r:embed="rId6">
            <a:extLst>
              <a:ext uri="{28A0092B-C50C-407E-A947-70E740481C1C}">
                <a14:useLocalDpi xmlns:a14="http://schemas.microsoft.com/office/drawing/2010/main" val="0"/>
              </a:ext>
            </a:extLst>
          </a:blip>
          <a:srcRect l="2083" r="1042" b="11221"/>
          <a:stretch>
            <a:fillRect/>
          </a:stretch>
        </p:blipFill>
        <p:spPr bwMode="auto">
          <a:xfrm>
            <a:off x="5410200" y="1752600"/>
            <a:ext cx="5257800" cy="253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6633" name="Picture 11"/>
          <p:cNvPicPr>
            <a:picLocks noChangeAspect="1" noChangeArrowheads="1"/>
          </p:cNvPicPr>
          <p:nvPr/>
        </p:nvPicPr>
        <p:blipFill>
          <a:blip r:embed="rId7">
            <a:extLst>
              <a:ext uri="{28A0092B-C50C-407E-A947-70E740481C1C}">
                <a14:useLocalDpi xmlns:a14="http://schemas.microsoft.com/office/drawing/2010/main" val="0"/>
              </a:ext>
            </a:extLst>
          </a:blip>
          <a:srcRect l="51015" t="5971" r="2609" b="13432"/>
          <a:stretch>
            <a:fillRect/>
          </a:stretch>
        </p:blipFill>
        <p:spPr bwMode="auto">
          <a:xfrm>
            <a:off x="1905000" y="3733800"/>
            <a:ext cx="30480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6634" name="Freeform 12"/>
          <p:cNvSpPr>
            <a:spLocks/>
          </p:cNvSpPr>
          <p:nvPr/>
        </p:nvSpPr>
        <p:spPr bwMode="auto">
          <a:xfrm>
            <a:off x="5105400" y="1733550"/>
            <a:ext cx="1676400" cy="338554"/>
          </a:xfrm>
          <a:custGeom>
            <a:avLst/>
            <a:gdLst>
              <a:gd name="T0" fmla="*/ 0 w 1344"/>
              <a:gd name="T1" fmla="*/ 2147483647 h 620"/>
              <a:gd name="T2" fmla="*/ 2147483647 w 1344"/>
              <a:gd name="T3" fmla="*/ 2147483647 h 620"/>
              <a:gd name="T4" fmla="*/ 2147483647 w 1344"/>
              <a:gd name="T5" fmla="*/ 2147483647 h 620"/>
              <a:gd name="T6" fmla="*/ 2147483647 w 1344"/>
              <a:gd name="T7" fmla="*/ 2147483647 h 620"/>
              <a:gd name="T8" fmla="*/ 2147483647 w 1344"/>
              <a:gd name="T9" fmla="*/ 2147483647 h 620"/>
              <a:gd name="T10" fmla="*/ 0 60000 65536"/>
              <a:gd name="T11" fmla="*/ 0 60000 65536"/>
              <a:gd name="T12" fmla="*/ 0 60000 65536"/>
              <a:gd name="T13" fmla="*/ 0 60000 65536"/>
              <a:gd name="T14" fmla="*/ 0 60000 65536"/>
              <a:gd name="T15" fmla="*/ 0 w 1344"/>
              <a:gd name="T16" fmla="*/ 0 h 620"/>
              <a:gd name="T17" fmla="*/ 1344 w 1344"/>
              <a:gd name="T18" fmla="*/ 620 h 620"/>
            </a:gdLst>
            <a:ahLst/>
            <a:cxnLst>
              <a:cxn ang="T10">
                <a:pos x="T0" y="T1"/>
              </a:cxn>
              <a:cxn ang="T11">
                <a:pos x="T2" y="T3"/>
              </a:cxn>
              <a:cxn ang="T12">
                <a:pos x="T4" y="T5"/>
              </a:cxn>
              <a:cxn ang="T13">
                <a:pos x="T6" y="T7"/>
              </a:cxn>
              <a:cxn ang="T14">
                <a:pos x="T8" y="T9"/>
              </a:cxn>
            </a:cxnLst>
            <a:rect l="T15" t="T16" r="T17" b="T18"/>
            <a:pathLst>
              <a:path w="1344" h="620">
                <a:moveTo>
                  <a:pt x="0" y="68"/>
                </a:moveTo>
                <a:cubicBezTo>
                  <a:pt x="55" y="59"/>
                  <a:pt x="205" y="17"/>
                  <a:pt x="328" y="12"/>
                </a:cubicBezTo>
                <a:cubicBezTo>
                  <a:pt x="451" y="7"/>
                  <a:pt x="596" y="0"/>
                  <a:pt x="736" y="36"/>
                </a:cubicBezTo>
                <a:cubicBezTo>
                  <a:pt x="876" y="72"/>
                  <a:pt x="1067" y="131"/>
                  <a:pt x="1168" y="228"/>
                </a:cubicBezTo>
                <a:cubicBezTo>
                  <a:pt x="1269" y="325"/>
                  <a:pt x="1307" y="538"/>
                  <a:pt x="1344" y="620"/>
                </a:cubicBezTo>
              </a:path>
            </a:pathLst>
          </a:custGeom>
          <a:noFill/>
          <a:ln w="38100" cap="flat" cmpd="sng">
            <a:solidFill>
              <a:srgbClr val="FF33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en-GB"/>
          </a:p>
        </p:txBody>
      </p:sp>
      <p:sp>
        <p:nvSpPr>
          <p:cNvPr id="26635" name="Oval 13"/>
          <p:cNvSpPr>
            <a:spLocks noChangeArrowheads="1"/>
          </p:cNvSpPr>
          <p:nvPr/>
        </p:nvSpPr>
        <p:spPr bwMode="auto">
          <a:xfrm>
            <a:off x="7315200" y="3871585"/>
            <a:ext cx="259766" cy="562630"/>
          </a:xfrm>
          <a:prstGeom prst="ellipse">
            <a:avLst/>
          </a:prstGeom>
          <a:noFill/>
          <a:ln w="952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26636" name="Rectangle 15"/>
          <p:cNvSpPr>
            <a:spLocks noChangeArrowheads="1"/>
          </p:cNvSpPr>
          <p:nvPr/>
        </p:nvSpPr>
        <p:spPr bwMode="auto">
          <a:xfrm>
            <a:off x="2074864" y="115888"/>
            <a:ext cx="8485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2400">
                <a:solidFill>
                  <a:schemeClr val="bg2"/>
                </a:solidFill>
                <a:latin typeface="Bookman Old Style" pitchFamily="18" charset="0"/>
              </a:rPr>
              <a:t>Evaluation of C</a:t>
            </a:r>
            <a:r>
              <a:rPr lang="en-US" altLang="nl-NL" sz="2400" baseline="-25000">
                <a:solidFill>
                  <a:schemeClr val="bg2"/>
                </a:solidFill>
                <a:latin typeface="Bookman Old Style" pitchFamily="18" charset="0"/>
              </a:rPr>
              <a:t>Lmax</a:t>
            </a:r>
            <a:r>
              <a:rPr lang="en-US" altLang="nl-NL" sz="2400">
                <a:solidFill>
                  <a:schemeClr val="bg2"/>
                </a:solidFill>
                <a:latin typeface="Bookman Old Style" pitchFamily="18" charset="0"/>
              </a:rPr>
              <a:t> for a LOW aspect ratio wing (cont’d)</a:t>
            </a:r>
            <a:endParaRPr lang="el-GR" altLang="nl-NL" sz="2400">
              <a:solidFill>
                <a:schemeClr val="bg2"/>
              </a:solidFill>
              <a:latin typeface="Bookman Old Style" pitchFamily="18" charset="0"/>
            </a:endParaRPr>
          </a:p>
        </p:txBody>
      </p:sp>
      <p:pic>
        <p:nvPicPr>
          <p:cNvPr id="26637" name="Picture 16" descr="warning"/>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rot="1131454">
            <a:off x="9220200" y="5181600"/>
            <a:ext cx="762000"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8" name="Text Box 17"/>
          <p:cNvSpPr txBox="1">
            <a:spLocks noChangeArrowheads="1"/>
          </p:cNvSpPr>
          <p:nvPr/>
        </p:nvSpPr>
        <p:spPr bwMode="auto">
          <a:xfrm>
            <a:off x="9753601" y="5334001"/>
            <a:ext cx="322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a:t>*</a:t>
            </a:r>
          </a:p>
        </p:txBody>
      </p:sp>
      <p:sp>
        <p:nvSpPr>
          <p:cNvPr id="26639" name="Text Box 18"/>
          <p:cNvSpPr txBox="1">
            <a:spLocks noChangeArrowheads="1"/>
          </p:cNvSpPr>
          <p:nvPr/>
        </p:nvSpPr>
        <p:spPr bwMode="auto">
          <a:xfrm>
            <a:off x="3792539" y="935038"/>
            <a:ext cx="6683375" cy="4064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a:t>This term accounts for the compressibility effects on C</a:t>
            </a:r>
            <a:r>
              <a:rPr lang="en-GB" altLang="nl-NL" baseline="-25000"/>
              <a:t>Lmax</a:t>
            </a:r>
            <a:endParaRPr lang="en-GB" altLang="nl-NL"/>
          </a:p>
        </p:txBody>
      </p:sp>
      <p:sp>
        <p:nvSpPr>
          <p:cNvPr id="26640" name="Line 19"/>
          <p:cNvSpPr>
            <a:spLocks noChangeShapeType="1"/>
          </p:cNvSpPr>
          <p:nvPr/>
        </p:nvSpPr>
        <p:spPr bwMode="auto">
          <a:xfrm>
            <a:off x="7543800" y="1295400"/>
            <a:ext cx="1066800" cy="9144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wrap="none">
            <a:spAutoFit/>
          </a:bodyPr>
          <a:lstStyle/>
          <a:p>
            <a:endParaRPr lang="en-GB"/>
          </a:p>
        </p:txBody>
      </p:sp>
      <p:sp>
        <p:nvSpPr>
          <p:cNvPr id="26641" name="Line 20"/>
          <p:cNvSpPr>
            <a:spLocks noChangeShapeType="1"/>
          </p:cNvSpPr>
          <p:nvPr/>
        </p:nvSpPr>
        <p:spPr bwMode="auto">
          <a:xfrm flipV="1">
            <a:off x="4876800" y="1371600"/>
            <a:ext cx="3048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GB"/>
          </a:p>
        </p:txBody>
      </p:sp>
      <p:sp>
        <p:nvSpPr>
          <p:cNvPr id="26642" name="Text Box 21"/>
          <p:cNvSpPr txBox="1">
            <a:spLocks noChangeArrowheads="1"/>
          </p:cNvSpPr>
          <p:nvPr/>
        </p:nvSpPr>
        <p:spPr bwMode="auto">
          <a:xfrm>
            <a:off x="9067800" y="5867400"/>
            <a:ext cx="1373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400"/>
              <a:t>Source Raymer</a:t>
            </a:r>
          </a:p>
        </p:txBody>
      </p:sp>
    </p:spTree>
    <p:custDataLst>
      <p:tags r:id="rId1"/>
    </p:custData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7650" name="Object 3"/>
          <p:cNvGraphicFramePr>
            <a:graphicFrameLocks noChangeAspect="1"/>
          </p:cNvGraphicFramePr>
          <p:nvPr/>
        </p:nvGraphicFramePr>
        <p:xfrm>
          <a:off x="1981201" y="1371601"/>
          <a:ext cx="3122613" cy="485775"/>
        </p:xfrm>
        <a:graphic>
          <a:graphicData uri="http://schemas.openxmlformats.org/presentationml/2006/ole">
            <mc:AlternateContent xmlns:mc="http://schemas.openxmlformats.org/markup-compatibility/2006">
              <mc:Choice xmlns:v="urn:schemas-microsoft-com:vml" Requires="v">
                <p:oleObj name="Equation" r:id="rId4" imgW="1548728" imgH="241195" progId="Equation.3">
                  <p:embed/>
                </p:oleObj>
              </mc:Choice>
              <mc:Fallback>
                <p:oleObj name="Equation" r:id="rId4" imgW="1548728" imgH="241195"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1" y="1371601"/>
                        <a:ext cx="3122613"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1" name="Oval 5"/>
          <p:cNvSpPr>
            <a:spLocks noChangeArrowheads="1"/>
          </p:cNvSpPr>
          <p:nvPr/>
        </p:nvSpPr>
        <p:spPr bwMode="auto">
          <a:xfrm>
            <a:off x="2743200" y="1356985"/>
            <a:ext cx="259766" cy="562630"/>
          </a:xfrm>
          <a:prstGeom prst="ellipse">
            <a:avLst/>
          </a:prstGeom>
          <a:noFill/>
          <a:ln w="952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pic>
        <p:nvPicPr>
          <p:cNvPr id="27652" name="Picture 6"/>
          <p:cNvPicPr>
            <a:picLocks noChangeAspect="1" noChangeArrowheads="1"/>
          </p:cNvPicPr>
          <p:nvPr/>
        </p:nvPicPr>
        <p:blipFill>
          <a:blip r:embed="rId6">
            <a:extLst>
              <a:ext uri="{28A0092B-C50C-407E-A947-70E740481C1C}">
                <a14:useLocalDpi xmlns:a14="http://schemas.microsoft.com/office/drawing/2010/main" val="0"/>
              </a:ext>
            </a:extLst>
          </a:blip>
          <a:srcRect l="4982" t="3638" r="3363" b="3484"/>
          <a:stretch>
            <a:fillRect/>
          </a:stretch>
        </p:blipFill>
        <p:spPr bwMode="auto">
          <a:xfrm>
            <a:off x="5715000" y="914400"/>
            <a:ext cx="4648200" cy="252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7653" name="Freeform 7"/>
          <p:cNvSpPr>
            <a:spLocks/>
          </p:cNvSpPr>
          <p:nvPr/>
        </p:nvSpPr>
        <p:spPr bwMode="auto">
          <a:xfrm>
            <a:off x="3352800" y="1219200"/>
            <a:ext cx="2895600" cy="338554"/>
          </a:xfrm>
          <a:custGeom>
            <a:avLst/>
            <a:gdLst>
              <a:gd name="T0" fmla="*/ 0 w 1536"/>
              <a:gd name="T1" fmla="*/ 2147483647 h 130"/>
              <a:gd name="T2" fmla="*/ 2147483647 w 1536"/>
              <a:gd name="T3" fmla="*/ 0 h 130"/>
              <a:gd name="T4" fmla="*/ 2147483647 w 1536"/>
              <a:gd name="T5" fmla="*/ 2147483647 h 130"/>
              <a:gd name="T6" fmla="*/ 0 60000 65536"/>
              <a:gd name="T7" fmla="*/ 0 60000 65536"/>
              <a:gd name="T8" fmla="*/ 0 60000 65536"/>
              <a:gd name="T9" fmla="*/ 0 w 1536"/>
              <a:gd name="T10" fmla="*/ 0 h 130"/>
              <a:gd name="T11" fmla="*/ 1536 w 1536"/>
              <a:gd name="T12" fmla="*/ 130 h 130"/>
            </a:gdLst>
            <a:ahLst/>
            <a:cxnLst>
              <a:cxn ang="T6">
                <a:pos x="T0" y="T1"/>
              </a:cxn>
              <a:cxn ang="T7">
                <a:pos x="T2" y="T3"/>
              </a:cxn>
              <a:cxn ang="T8">
                <a:pos x="T4" y="T5"/>
              </a:cxn>
            </a:cxnLst>
            <a:rect l="T9" t="T10" r="T11" b="T12"/>
            <a:pathLst>
              <a:path w="1536" h="130">
                <a:moveTo>
                  <a:pt x="0" y="130"/>
                </a:moveTo>
                <a:cubicBezTo>
                  <a:pt x="120" y="108"/>
                  <a:pt x="464" y="0"/>
                  <a:pt x="720" y="0"/>
                </a:cubicBezTo>
                <a:cubicBezTo>
                  <a:pt x="976" y="0"/>
                  <a:pt x="1366" y="102"/>
                  <a:pt x="1536" y="129"/>
                </a:cubicBezTo>
              </a:path>
            </a:pathLst>
          </a:custGeom>
          <a:noFill/>
          <a:ln w="9525" cap="flat" cmpd="sng">
            <a:solidFill>
              <a:srgbClr val="FF33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en-GB"/>
          </a:p>
        </p:txBody>
      </p:sp>
      <p:pic>
        <p:nvPicPr>
          <p:cNvPr id="27654" name="Picture 8"/>
          <p:cNvPicPr>
            <a:picLocks noChangeAspect="1" noChangeArrowheads="1"/>
          </p:cNvPicPr>
          <p:nvPr/>
        </p:nvPicPr>
        <p:blipFill>
          <a:blip r:embed="rId7">
            <a:extLst>
              <a:ext uri="{28A0092B-C50C-407E-A947-70E740481C1C}">
                <a14:useLocalDpi xmlns:a14="http://schemas.microsoft.com/office/drawing/2010/main" val="0"/>
              </a:ext>
            </a:extLst>
          </a:blip>
          <a:srcRect l="1434" t="4510" r="1434" b="2942"/>
          <a:stretch>
            <a:fillRect/>
          </a:stretch>
        </p:blipFill>
        <p:spPr bwMode="auto">
          <a:xfrm>
            <a:off x="5181600" y="3570289"/>
            <a:ext cx="5486400" cy="294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7655" name="Picture 9"/>
          <p:cNvPicPr>
            <a:picLocks noChangeAspect="1" noChangeArrowheads="1"/>
          </p:cNvPicPr>
          <p:nvPr/>
        </p:nvPicPr>
        <p:blipFill>
          <a:blip r:embed="rId8">
            <a:extLst>
              <a:ext uri="{28A0092B-C50C-407E-A947-70E740481C1C}">
                <a14:useLocalDpi xmlns:a14="http://schemas.microsoft.com/office/drawing/2010/main" val="0"/>
              </a:ext>
            </a:extLst>
          </a:blip>
          <a:srcRect l="51015" t="5971" r="2609" b="13432"/>
          <a:stretch>
            <a:fillRect/>
          </a:stretch>
        </p:blipFill>
        <p:spPr bwMode="auto">
          <a:xfrm>
            <a:off x="1828800" y="3733800"/>
            <a:ext cx="30480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7656" name="Oval 10"/>
          <p:cNvSpPr>
            <a:spLocks noChangeArrowheads="1"/>
          </p:cNvSpPr>
          <p:nvPr/>
        </p:nvSpPr>
        <p:spPr bwMode="auto">
          <a:xfrm>
            <a:off x="4191000" y="1433185"/>
            <a:ext cx="259766" cy="562630"/>
          </a:xfrm>
          <a:prstGeom prst="ellipse">
            <a:avLst/>
          </a:prstGeom>
          <a:noFill/>
          <a:ln w="952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27657" name="Line 11"/>
          <p:cNvSpPr>
            <a:spLocks noChangeShapeType="1"/>
          </p:cNvSpPr>
          <p:nvPr/>
        </p:nvSpPr>
        <p:spPr bwMode="auto">
          <a:xfrm>
            <a:off x="4648200" y="2057400"/>
            <a:ext cx="685800" cy="23622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27658" name="Oval 12"/>
          <p:cNvSpPr>
            <a:spLocks noChangeArrowheads="1"/>
          </p:cNvSpPr>
          <p:nvPr/>
        </p:nvSpPr>
        <p:spPr bwMode="auto">
          <a:xfrm>
            <a:off x="7315200" y="5738485"/>
            <a:ext cx="457200" cy="562630"/>
          </a:xfrm>
          <a:prstGeom prst="ellipse">
            <a:avLst/>
          </a:prstGeom>
          <a:noFill/>
          <a:ln w="952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endParaRPr lang="nl-NL" altLang="nl-NL"/>
          </a:p>
        </p:txBody>
      </p:sp>
      <p:sp>
        <p:nvSpPr>
          <p:cNvPr id="27659" name="Line 13"/>
          <p:cNvSpPr>
            <a:spLocks noChangeShapeType="1"/>
          </p:cNvSpPr>
          <p:nvPr/>
        </p:nvSpPr>
        <p:spPr bwMode="auto">
          <a:xfrm flipH="1" flipV="1">
            <a:off x="4267200" y="4800600"/>
            <a:ext cx="3048000" cy="11430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27660" name="Rectangle 15"/>
          <p:cNvSpPr>
            <a:spLocks noChangeArrowheads="1"/>
          </p:cNvSpPr>
          <p:nvPr/>
        </p:nvSpPr>
        <p:spPr bwMode="auto">
          <a:xfrm>
            <a:off x="2711451" y="188913"/>
            <a:ext cx="7089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2400">
                <a:solidFill>
                  <a:schemeClr val="bg2"/>
                </a:solidFill>
                <a:latin typeface="Bookman Old Style" pitchFamily="18" charset="0"/>
              </a:rPr>
              <a:t>Evaluation of </a:t>
            </a:r>
            <a:r>
              <a:rPr lang="el-GR" altLang="nl-NL" sz="2400">
                <a:solidFill>
                  <a:schemeClr val="bg2"/>
                </a:solidFill>
                <a:latin typeface="Bookman Old Style" pitchFamily="18" charset="0"/>
              </a:rPr>
              <a:t>α</a:t>
            </a:r>
            <a:r>
              <a:rPr lang="en-US" altLang="nl-NL" sz="2400" baseline="-25000">
                <a:solidFill>
                  <a:schemeClr val="bg2"/>
                </a:solidFill>
                <a:latin typeface="Bookman Old Style" pitchFamily="18" charset="0"/>
              </a:rPr>
              <a:t>stall</a:t>
            </a:r>
            <a:r>
              <a:rPr lang="en-US" altLang="nl-NL" sz="2400">
                <a:solidFill>
                  <a:schemeClr val="bg2"/>
                </a:solidFill>
                <a:latin typeface="Bookman Old Style" pitchFamily="18" charset="0"/>
              </a:rPr>
              <a:t> for a LOW aspect ratio wing</a:t>
            </a:r>
            <a:endParaRPr lang="el-GR" altLang="nl-NL" sz="2400">
              <a:solidFill>
                <a:schemeClr val="bg2"/>
              </a:solidFill>
              <a:latin typeface="Bookman Old Style" pitchFamily="18" charset="0"/>
            </a:endParaRPr>
          </a:p>
        </p:txBody>
      </p:sp>
      <p:sp>
        <p:nvSpPr>
          <p:cNvPr id="27661" name="Text Box 16"/>
          <p:cNvSpPr txBox="1">
            <a:spLocks noChangeArrowheads="1"/>
          </p:cNvSpPr>
          <p:nvPr/>
        </p:nvSpPr>
        <p:spPr bwMode="auto">
          <a:xfrm>
            <a:off x="1676400" y="5867400"/>
            <a:ext cx="1373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sz="1400"/>
              <a:t>Source Raymer</a:t>
            </a:r>
          </a:p>
        </p:txBody>
      </p:sp>
    </p:spTree>
    <p:custDataLst>
      <p:tags r:id="rId1"/>
    </p:custData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ChangeArrowheads="1"/>
          </p:cNvSpPr>
          <p:nvPr/>
        </p:nvSpPr>
        <p:spPr bwMode="auto">
          <a:xfrm>
            <a:off x="0" y="-5404"/>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en-US" sz="2200"/>
          </a:p>
        </p:txBody>
      </p:sp>
      <p:sp>
        <p:nvSpPr>
          <p:cNvPr id="28675" name="AutoShape 6"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5862638" y="-8953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endParaRPr lang="nl-NL" altLang="en-US" sz="1600"/>
          </a:p>
        </p:txBody>
      </p:sp>
      <p:sp>
        <p:nvSpPr>
          <p:cNvPr id="28676" name="AutoShape 8"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6015038" y="-7429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endParaRPr lang="nl-NL" altLang="en-US" sz="1600"/>
          </a:p>
        </p:txBody>
      </p:sp>
      <p:sp>
        <p:nvSpPr>
          <p:cNvPr id="28677" name="Rectangle 4"/>
          <p:cNvSpPr>
            <a:spLocks noChangeArrowheads="1"/>
          </p:cNvSpPr>
          <p:nvPr/>
        </p:nvSpPr>
        <p:spPr bwMode="auto">
          <a:xfrm>
            <a:off x="407368" y="980966"/>
            <a:ext cx="7488238"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nl-NL" sz="3600" b="1" dirty="0">
                <a:solidFill>
                  <a:schemeClr val="bg1"/>
                </a:solidFill>
                <a:latin typeface="Bookman Old Style" pitchFamily="18" charset="0"/>
              </a:rPr>
              <a:t>2. Aircraft </a:t>
            </a:r>
            <a:r>
              <a:rPr lang="en-GB" altLang="nl-NL" sz="3600" b="1" dirty="0">
                <a:solidFill>
                  <a:schemeClr val="bg1"/>
                </a:solidFill>
                <a:latin typeface="Bookman Old Style" pitchFamily="18" charset="0"/>
              </a:rPr>
              <a:t>Drag polar: </a:t>
            </a:r>
          </a:p>
          <a:p>
            <a:pPr eaLnBrk="1" hangingPunct="1">
              <a:lnSpc>
                <a:spcPct val="100000"/>
              </a:lnSpc>
              <a:buClrTx/>
              <a:buFontTx/>
              <a:buNone/>
            </a:pPr>
            <a:r>
              <a:rPr lang="en-GB" altLang="nl-NL" sz="3600" b="1" dirty="0">
                <a:solidFill>
                  <a:schemeClr val="bg1"/>
                </a:solidFill>
                <a:latin typeface="Bookman Old Style" pitchFamily="18" charset="0"/>
              </a:rPr>
              <a:t>	</a:t>
            </a:r>
          </a:p>
          <a:p>
            <a:pPr eaLnBrk="1" hangingPunct="1">
              <a:lnSpc>
                <a:spcPct val="100000"/>
              </a:lnSpc>
              <a:buClrTx/>
              <a:buFontTx/>
              <a:buNone/>
            </a:pPr>
            <a:r>
              <a:rPr lang="en-GB" altLang="nl-NL" sz="3600" b="1" dirty="0">
                <a:solidFill>
                  <a:schemeClr val="bg1"/>
                </a:solidFill>
                <a:latin typeface="Bookman Old Style" pitchFamily="18" charset="0"/>
              </a:rPr>
              <a:t>	Introduction</a:t>
            </a:r>
            <a:endParaRPr lang="en-US" altLang="nl-NL" sz="3600" b="1" dirty="0">
              <a:solidFill>
                <a:schemeClr val="bg1"/>
              </a:solidFill>
              <a:latin typeface="Bookman Old Style" pitchFamily="18" charset="0"/>
            </a:endParaRP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PQuestion" title="Question Text"/>
          <p:cNvSpPr>
            <a:spLocks noGrp="1"/>
          </p:cNvSpPr>
          <p:nvPr>
            <p:ph type="title"/>
          </p:nvPr>
        </p:nvSpPr>
        <p:spPr>
          <a:xfrm>
            <a:off x="839416" y="351629"/>
            <a:ext cx="10513168" cy="760413"/>
          </a:xfrm>
        </p:spPr>
        <p:txBody>
          <a:bodyPr/>
          <a:lstStyle/>
          <a:p>
            <a:r>
              <a:rPr lang="en-GB" altLang="en-US" dirty="0">
                <a:solidFill>
                  <a:schemeClr val="bg2"/>
                </a:solidFill>
                <a:ea typeface="MS PGothic" charset="-128"/>
              </a:rPr>
              <a:t>What is the efficiency of the aircraft system in converting fuel into useful energy?</a:t>
            </a:r>
            <a:endParaRPr lang="en-US" altLang="en-US" dirty="0">
              <a:ea typeface="MS PGothic" charset="-128"/>
            </a:endParaRPr>
          </a:p>
        </p:txBody>
      </p:sp>
      <p:sp>
        <p:nvSpPr>
          <p:cNvPr id="13314" name="TPAnswers" title="Answer Text"/>
          <p:cNvSpPr>
            <a:spLocks noGrp="1"/>
          </p:cNvSpPr>
          <p:nvPr>
            <p:ph idx="1"/>
            <p:custDataLst>
              <p:tags r:id="rId2"/>
            </p:custDataLst>
          </p:nvPr>
        </p:nvSpPr>
        <p:spPr>
          <a:xfrm>
            <a:off x="1020867" y="1700808"/>
            <a:ext cx="4114800" cy="4214879"/>
          </a:xfrm>
        </p:spPr>
        <p:txBody>
          <a:bodyPr>
            <a:normAutofit/>
          </a:bodyPr>
          <a:lstStyle/>
          <a:p>
            <a:pPr marL="514350" indent="-514350">
              <a:spcBef>
                <a:spcPts val="769"/>
              </a:spcBef>
              <a:buFont typeface="Arial" charset="0"/>
              <a:buAutoNum type="alphaUcPeriod"/>
            </a:pPr>
            <a:r>
              <a:rPr lang="en-US" dirty="0"/>
              <a:t>&lt;10%</a:t>
            </a:r>
          </a:p>
          <a:p>
            <a:pPr marL="514350" indent="-514350">
              <a:spcBef>
                <a:spcPts val="769"/>
              </a:spcBef>
              <a:buFont typeface="Arial" charset="0"/>
              <a:buAutoNum type="alphaUcPeriod"/>
            </a:pPr>
            <a:r>
              <a:rPr lang="en-US" dirty="0"/>
              <a:t>10-20%</a:t>
            </a:r>
          </a:p>
          <a:p>
            <a:pPr marL="514350" indent="-514350">
              <a:spcBef>
                <a:spcPts val="769"/>
              </a:spcBef>
              <a:buFont typeface="Arial" charset="0"/>
              <a:buAutoNum type="alphaUcPeriod"/>
            </a:pPr>
            <a:r>
              <a:rPr lang="en-US" dirty="0"/>
              <a:t>20-40%</a:t>
            </a:r>
          </a:p>
          <a:p>
            <a:pPr marL="514350" indent="-514350">
              <a:spcBef>
                <a:spcPts val="769"/>
              </a:spcBef>
              <a:buFont typeface="Arial" charset="0"/>
              <a:buAutoNum type="alphaUcPeriod"/>
            </a:pPr>
            <a:r>
              <a:rPr lang="en-US" dirty="0"/>
              <a:t>40-60%</a:t>
            </a:r>
          </a:p>
          <a:p>
            <a:pPr marL="514350" indent="-514350">
              <a:spcBef>
                <a:spcPts val="769"/>
              </a:spcBef>
              <a:buFont typeface="Arial" charset="0"/>
              <a:buAutoNum type="alphaUcPeriod"/>
            </a:pPr>
            <a:r>
              <a:rPr lang="en-US" dirty="0"/>
              <a:t>60-80%</a:t>
            </a:r>
          </a:p>
          <a:p>
            <a:pPr marL="514350" indent="-514350">
              <a:spcBef>
                <a:spcPts val="769"/>
              </a:spcBef>
              <a:buFont typeface="Arial" charset="0"/>
              <a:buAutoNum type="alphaUcPeriod"/>
            </a:pPr>
            <a:r>
              <a:rPr lang="en-US" dirty="0"/>
              <a:t>&gt;80%</a:t>
            </a:r>
          </a:p>
        </p:txBody>
      </p:sp>
      <p:sp>
        <p:nvSpPr>
          <p:cNvPr id="8" name="Rectangle 7">
            <a:extLst>
              <a:ext uri="{FF2B5EF4-FFF2-40B4-BE49-F238E27FC236}">
                <a16:creationId xmlns:a16="http://schemas.microsoft.com/office/drawing/2014/main" id="{1C1864F6-144F-5F47-9D0B-BCEBB5BBA263}"/>
              </a:ext>
            </a:extLst>
          </p:cNvPr>
          <p:cNvSpPr/>
          <p:nvPr/>
        </p:nvSpPr>
        <p:spPr>
          <a:xfrm>
            <a:off x="11088401" y="6105990"/>
            <a:ext cx="1072730" cy="338554"/>
          </a:xfrm>
          <a:prstGeom prst="rect">
            <a:avLst/>
          </a:prstGeom>
        </p:spPr>
        <p:txBody>
          <a:bodyPr wrap="none">
            <a:spAutoFit/>
          </a:bodyPr>
          <a:lstStyle/>
          <a:p>
            <a:r>
              <a:rPr lang="en-US" altLang="nl-NL" dirty="0"/>
              <a:t>23ae2111</a:t>
            </a:r>
            <a:endParaRPr lang="en-GB" dirty="0"/>
          </a:p>
        </p:txBody>
      </p:sp>
      <p:pic>
        <p:nvPicPr>
          <p:cNvPr id="11" name="Picture 2" descr="D:\aelham\Desktop\download.jpg">
            <a:extLst>
              <a:ext uri="{FF2B5EF4-FFF2-40B4-BE49-F238E27FC236}">
                <a16:creationId xmlns:a16="http://schemas.microsoft.com/office/drawing/2014/main" id="{5C8205A2-7492-0C4C-BFE4-C04467A42E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60296" y="1850727"/>
            <a:ext cx="3260615" cy="1832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CAI1" hidden="1" title="Correct Answer Indicator">
            <a:extLst>
              <a:ext uri="{FF2B5EF4-FFF2-40B4-BE49-F238E27FC236}">
                <a16:creationId xmlns:a16="http://schemas.microsoft.com/office/drawing/2014/main" id="{D752AA1E-BE86-3749-895F-3F2FFF468CA0}"/>
              </a:ext>
            </a:extLst>
          </p:cNvPr>
          <p:cNvSpPr/>
          <p:nvPr>
            <p:custDataLst>
              <p:tags r:id="rId3"/>
            </p:custDataLst>
          </p:nvPr>
        </p:nvSpPr>
        <p:spPr bwMode="auto">
          <a:xfrm rot="10800000">
            <a:off x="817667" y="2102975"/>
            <a:ext cx="254000" cy="254000"/>
          </a:xfrm>
          <a:custGeom>
            <a:avLst/>
            <a:gdLst/>
            <a:ahLst/>
            <a:cxnLst/>
            <a:rect l="0" t="0" r="0" b="0"/>
            <a:pathLst>
              <a:path w="1524001" h="1752601">
                <a:moveTo>
                  <a:pt x="1295400" y="1066800"/>
                </a:moveTo>
                <a:lnTo>
                  <a:pt x="1524000" y="533400"/>
                </a:lnTo>
                <a:lnTo>
                  <a:pt x="914400" y="0"/>
                </a:lnTo>
                <a:lnTo>
                  <a:pt x="0" y="1447800"/>
                </a:lnTo>
                <a:lnTo>
                  <a:pt x="0" y="1752600"/>
                </a:lnTo>
                <a:lnTo>
                  <a:pt x="990600" y="533400"/>
                </a:lnTo>
                <a:close/>
              </a:path>
            </a:pathLst>
          </a:custGeom>
          <a:solidFill>
            <a:srgbClr val="00C800"/>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2200" b="0" i="0" u="none" strike="noStrike" cap="none" normalizeH="0" baseline="0">
              <a:ln>
                <a:noFill/>
              </a:ln>
              <a:solidFill>
                <a:schemeClr val="tx1"/>
              </a:solidFill>
              <a:effectLst/>
              <a:latin typeface="Tahoma" pitchFamily="34" charset="0"/>
            </a:endParaRPr>
          </a:p>
        </p:txBody>
      </p:sp>
      <p:sp>
        <p:nvSpPr>
          <p:cNvPr id="17" name="Rectangle 16">
            <a:extLst>
              <a:ext uri="{FF2B5EF4-FFF2-40B4-BE49-F238E27FC236}">
                <a16:creationId xmlns:a16="http://schemas.microsoft.com/office/drawing/2014/main" id="{6C6E2E74-A0B3-7242-A7D1-D9F2D917A6B9}"/>
              </a:ext>
            </a:extLst>
          </p:cNvPr>
          <p:cNvSpPr/>
          <p:nvPr/>
        </p:nvSpPr>
        <p:spPr>
          <a:xfrm>
            <a:off x="479376" y="4865188"/>
            <a:ext cx="9865096" cy="830997"/>
          </a:xfrm>
          <a:prstGeom prst="rect">
            <a:avLst/>
          </a:prstGeom>
        </p:spPr>
        <p:txBody>
          <a:bodyPr wrap="square">
            <a:spAutoFit/>
          </a:bodyPr>
          <a:lstStyle/>
          <a:p>
            <a:pPr marL="381000" lvl="1" algn="just">
              <a:defRPr/>
            </a:pPr>
            <a:r>
              <a:rPr lang="en-GB" dirty="0">
                <a:solidFill>
                  <a:srgbClr val="FF0000"/>
                </a:solidFill>
              </a:rPr>
              <a:t>Air transportation moves objects from zero velocity and zero altitude to zero velocity and zero altitude. So the useful work done is ZERO!</a:t>
            </a:r>
          </a:p>
          <a:p>
            <a:pPr marL="381000" lvl="1" algn="just">
              <a:defRPr/>
            </a:pPr>
            <a:r>
              <a:rPr lang="en-GB" dirty="0">
                <a:solidFill>
                  <a:srgbClr val="FF0000"/>
                </a:solidFill>
              </a:rPr>
              <a:t>The energy we spend on air transportation is just to defeat drag!</a:t>
            </a:r>
            <a:endParaRPr lang="nl-NL" dirty="0">
              <a:solidFill>
                <a:srgbClr val="FF0000"/>
              </a:solidFill>
            </a:endParaRPr>
          </a:p>
        </p:txBody>
      </p:sp>
    </p:spTree>
    <p:custDataLst>
      <p:tags r:id="rId1"/>
    </p:custDataLst>
    <p:extLst>
      <p:ext uri="{BB962C8B-B14F-4D97-AF65-F5344CB8AC3E}">
        <p14:creationId xmlns:p14="http://schemas.microsoft.com/office/powerpoint/2010/main" val="325008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1"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695400" y="76200"/>
            <a:ext cx="10740951" cy="723899"/>
          </a:xfrm>
        </p:spPr>
        <p:txBody>
          <a:bodyPr/>
          <a:lstStyle/>
          <a:p>
            <a:r>
              <a:rPr lang="en-GB" altLang="en-US" dirty="0">
                <a:solidFill>
                  <a:schemeClr val="bg2"/>
                </a:solidFill>
              </a:rPr>
              <a:t>The origin of drag</a:t>
            </a:r>
            <a:endParaRPr lang="nl-NL" altLang="en-US" dirty="0">
              <a:solidFill>
                <a:schemeClr val="bg2"/>
              </a:solidFill>
            </a:endParaRPr>
          </a:p>
        </p:txBody>
      </p:sp>
      <p:sp>
        <p:nvSpPr>
          <p:cNvPr id="3" name="Content Placeholder 2"/>
          <p:cNvSpPr>
            <a:spLocks noGrp="1"/>
          </p:cNvSpPr>
          <p:nvPr>
            <p:ph idx="1"/>
          </p:nvPr>
        </p:nvSpPr>
        <p:spPr/>
        <p:txBody>
          <a:bodyPr/>
          <a:lstStyle/>
          <a:p>
            <a:pPr>
              <a:defRPr/>
            </a:pPr>
            <a:r>
              <a:rPr lang="en-GB" sz="1600" dirty="0"/>
              <a:t>There are only two ways that the air flow and the airplane can act upon each other:</a:t>
            </a:r>
          </a:p>
          <a:p>
            <a:pPr lvl="1">
              <a:defRPr/>
            </a:pPr>
            <a:r>
              <a:rPr lang="en-GB" sz="1400" dirty="0"/>
              <a:t>Pressure – perpendicular to surface</a:t>
            </a:r>
          </a:p>
          <a:p>
            <a:pPr lvl="1">
              <a:defRPr/>
            </a:pPr>
            <a:r>
              <a:rPr lang="en-GB" sz="1400" dirty="0"/>
              <a:t>Friction – tangential to surface</a:t>
            </a:r>
          </a:p>
          <a:p>
            <a:pPr>
              <a:defRPr/>
            </a:pPr>
            <a:r>
              <a:rPr lang="en-GB" sz="1600" dirty="0"/>
              <a:t>Origin of pressure: the change in flow velocity due to the body shape</a:t>
            </a:r>
          </a:p>
          <a:p>
            <a:pPr>
              <a:defRPr/>
            </a:pPr>
            <a:r>
              <a:rPr lang="en-GB" sz="1600" dirty="0"/>
              <a:t>Origin of friction: no slip condition – the flow velocity is zero at the surface.</a:t>
            </a:r>
          </a:p>
          <a:p>
            <a:pPr>
              <a:defRPr/>
            </a:pPr>
            <a:r>
              <a:rPr lang="en-GB" sz="1600" dirty="0"/>
              <a:t>The region close to the surface, in which the flow velocity increases from zero to 99% of the outer velocity is called “boundary layer”.</a:t>
            </a:r>
          </a:p>
          <a:p>
            <a:pPr>
              <a:defRPr/>
            </a:pPr>
            <a:r>
              <a:rPr lang="en-GB" sz="1600" dirty="0"/>
              <a:t>The boundary layer can be “laminar” or “turbulent”.</a:t>
            </a:r>
          </a:p>
          <a:p>
            <a:pPr marL="0" indent="0">
              <a:buNone/>
              <a:defRPr/>
            </a:pPr>
            <a:endParaRPr lang="en-GB" sz="1600" dirty="0"/>
          </a:p>
          <a:p>
            <a:pPr lvl="1">
              <a:defRPr/>
            </a:pPr>
            <a:endParaRPr lang="nl-NL" dirty="0"/>
          </a:p>
        </p:txBody>
      </p:sp>
      <p:pic>
        <p:nvPicPr>
          <p:cNvPr id="30724" name="Picture 2" descr="D:\aelham\Desktop\Untitl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2175" y="4221163"/>
            <a:ext cx="5538788"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TextBox 4"/>
          <p:cNvSpPr txBox="1">
            <a:spLocks noChangeArrowheads="1"/>
          </p:cNvSpPr>
          <p:nvPr/>
        </p:nvSpPr>
        <p:spPr bwMode="auto">
          <a:xfrm>
            <a:off x="7916863" y="5738814"/>
            <a:ext cx="26654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200"/>
              <a:t>Fig. source: Nicolai</a:t>
            </a:r>
            <a:endParaRPr lang="nl-NL" altLang="en-US" sz="12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p:cNvSpPr>
            <a:spLocks noGrp="1"/>
          </p:cNvSpPr>
          <p:nvPr>
            <p:ph idx="1"/>
          </p:nvPr>
        </p:nvSpPr>
        <p:spPr>
          <a:xfrm>
            <a:off x="981458" y="1186260"/>
            <a:ext cx="6310312" cy="4289425"/>
          </a:xfrm>
        </p:spPr>
        <p:txBody>
          <a:bodyPr/>
          <a:lstStyle/>
          <a:p>
            <a:r>
              <a:rPr lang="en-GB" altLang="en-US" sz="1600" dirty="0"/>
              <a:t>Laminar Boundary layer</a:t>
            </a:r>
          </a:p>
          <a:p>
            <a:pPr lvl="1"/>
            <a:r>
              <a:rPr lang="en-GB" altLang="en-US" sz="1400" dirty="0"/>
              <a:t>Thinner</a:t>
            </a:r>
          </a:p>
          <a:p>
            <a:pPr lvl="1"/>
            <a:r>
              <a:rPr lang="en-GB" altLang="en-US" sz="1400" dirty="0"/>
              <a:t>Lower friction</a:t>
            </a:r>
          </a:p>
          <a:p>
            <a:pPr lvl="1"/>
            <a:r>
              <a:rPr lang="en-GB" altLang="en-US" sz="1400" dirty="0"/>
              <a:t>More prone to separation</a:t>
            </a:r>
          </a:p>
          <a:p>
            <a:endParaRPr lang="en-GB" altLang="en-US" sz="1600" dirty="0"/>
          </a:p>
          <a:p>
            <a:r>
              <a:rPr lang="en-GB" altLang="en-US" sz="1600" dirty="0"/>
              <a:t>Turbulent boundary layer</a:t>
            </a:r>
          </a:p>
          <a:p>
            <a:pPr lvl="1"/>
            <a:r>
              <a:rPr lang="en-GB" altLang="en-US" sz="1400" dirty="0"/>
              <a:t>Thicker</a:t>
            </a:r>
          </a:p>
          <a:p>
            <a:pPr lvl="1"/>
            <a:r>
              <a:rPr lang="en-GB" altLang="en-US" sz="1400" dirty="0"/>
              <a:t>Higher friction</a:t>
            </a:r>
          </a:p>
          <a:p>
            <a:pPr lvl="1"/>
            <a:r>
              <a:rPr lang="en-GB" altLang="en-US" sz="1400" dirty="0"/>
              <a:t>Higher energy </a:t>
            </a:r>
            <a:r>
              <a:rPr lang="en-GB" altLang="en-US" sz="1400" dirty="0">
                <a:sym typeface="Wingdings" pitchFamily="2" charset="2"/>
              </a:rPr>
              <a:t> less prone to separation</a:t>
            </a:r>
            <a:endParaRPr lang="en-GB" altLang="en-US" sz="1400" dirty="0"/>
          </a:p>
        </p:txBody>
      </p:sp>
      <p:pic>
        <p:nvPicPr>
          <p:cNvPr id="317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1944" y="1157684"/>
            <a:ext cx="4300537" cy="1511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748" name="Title 1"/>
          <p:cNvSpPr>
            <a:spLocks noGrp="1"/>
          </p:cNvSpPr>
          <p:nvPr>
            <p:ph type="title"/>
          </p:nvPr>
        </p:nvSpPr>
        <p:spPr>
          <a:xfrm>
            <a:off x="983432" y="84931"/>
            <a:ext cx="10212917" cy="760413"/>
          </a:xfrm>
        </p:spPr>
        <p:txBody>
          <a:bodyPr/>
          <a:lstStyle/>
          <a:p>
            <a:r>
              <a:rPr lang="en-GB" altLang="en-US" sz="3200">
                <a:solidFill>
                  <a:schemeClr val="bg2"/>
                </a:solidFill>
              </a:rPr>
              <a:t>Laminar vs turbulent boundary layer</a:t>
            </a:r>
            <a:endParaRPr lang="nl-NL" altLang="en-US" sz="3200">
              <a:solidFill>
                <a:schemeClr val="bg2"/>
              </a:solidFill>
            </a:endParaRPr>
          </a:p>
        </p:txBody>
      </p:sp>
      <p:pic>
        <p:nvPicPr>
          <p:cNvPr id="3174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3832" y="4432301"/>
            <a:ext cx="5688013" cy="1384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750" name="TextBox 6"/>
          <p:cNvSpPr txBox="1">
            <a:spLocks noChangeArrowheads="1"/>
          </p:cNvSpPr>
          <p:nvPr/>
        </p:nvSpPr>
        <p:spPr bwMode="auto">
          <a:xfrm>
            <a:off x="7967663" y="5816601"/>
            <a:ext cx="26654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200"/>
              <a:t>Fig. source: Gudmundsson</a:t>
            </a:r>
            <a:endParaRPr lang="nl-NL" altLang="en-US" sz="1200"/>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p:cNvSpPr txBox="1">
            <a:spLocks/>
          </p:cNvSpPr>
          <p:nvPr/>
        </p:nvSpPr>
        <p:spPr bwMode="auto">
          <a:xfrm>
            <a:off x="2593975" y="228601"/>
            <a:ext cx="7659688"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sz="2800" kern="0" dirty="0">
                <a:solidFill>
                  <a:schemeClr val="bg2"/>
                </a:solidFill>
              </a:rPr>
              <a:t>Laminar vs turbulent boundary layer</a:t>
            </a:r>
            <a:endParaRPr lang="nl-NL" sz="2800" kern="0" dirty="0">
              <a:solidFill>
                <a:schemeClr val="bg2"/>
              </a:solidFill>
            </a:endParaRPr>
          </a:p>
        </p:txBody>
      </p:sp>
      <p:pic>
        <p:nvPicPr>
          <p:cNvPr id="32771"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071814" y="3068638"/>
            <a:ext cx="5888037" cy="27368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2"/>
          <p:cNvSpPr txBox="1">
            <a:spLocks/>
          </p:cNvSpPr>
          <p:nvPr/>
        </p:nvSpPr>
        <p:spPr bwMode="auto">
          <a:xfrm>
            <a:off x="2424114" y="1189038"/>
            <a:ext cx="7462837" cy="202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400" kern="0" dirty="0"/>
              <a:t>Effect of roughness: smoother surface can sustain laminar BL more than a rough surface.</a:t>
            </a:r>
          </a:p>
          <a:p>
            <a:pPr>
              <a:defRPr/>
            </a:pPr>
            <a:r>
              <a:rPr lang="en-GB" sz="1400" kern="0" dirty="0"/>
              <a:t>Effect of geometry: position of the maximum thickness controls the pressure gradient on an </a:t>
            </a:r>
            <a:r>
              <a:rPr lang="en-GB" sz="1400" kern="0" dirty="0" err="1"/>
              <a:t>airfoil</a:t>
            </a:r>
            <a:endParaRPr lang="en-GB" sz="1400" kern="0" dirty="0"/>
          </a:p>
          <a:p>
            <a:pPr>
              <a:defRPr/>
            </a:pPr>
            <a:r>
              <a:rPr lang="en-GB" sz="1400" kern="0" dirty="0"/>
              <a:t>Moving the position of the maximum thickness back postpones the transition. However we should be able to increase the pressure again without having separation!</a:t>
            </a:r>
          </a:p>
          <a:p>
            <a:pPr>
              <a:defRPr/>
            </a:pPr>
            <a:endParaRPr lang="en-GB" sz="1600" kern="0" dirty="0"/>
          </a:p>
          <a:p>
            <a:pPr marL="0" indent="0">
              <a:buNone/>
              <a:defRPr/>
            </a:pPr>
            <a:endParaRPr lang="en-GB" sz="1600" kern="0" dirty="0"/>
          </a:p>
          <a:p>
            <a:pPr>
              <a:defRPr/>
            </a:pPr>
            <a:endParaRPr lang="en-GB" sz="1600" kern="0" dirty="0"/>
          </a:p>
          <a:p>
            <a:pPr marL="0" indent="0">
              <a:buNone/>
              <a:defRPr/>
            </a:pPr>
            <a:endParaRPr lang="nl-NL" sz="1400" kern="0" dirty="0"/>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p:cNvSpPr txBox="1">
            <a:spLocks/>
          </p:cNvSpPr>
          <p:nvPr/>
        </p:nvSpPr>
        <p:spPr bwMode="auto">
          <a:xfrm>
            <a:off x="2593975" y="228601"/>
            <a:ext cx="7659688"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sz="2800" kern="0" dirty="0">
                <a:solidFill>
                  <a:schemeClr val="bg2"/>
                </a:solidFill>
              </a:rPr>
              <a:t>Laminar vs turbulent boundary layer</a:t>
            </a:r>
            <a:endParaRPr lang="nl-NL" sz="2800" kern="0" dirty="0">
              <a:solidFill>
                <a:schemeClr val="bg2"/>
              </a:solidFill>
            </a:endParaRPr>
          </a:p>
        </p:txBody>
      </p:sp>
      <p:sp>
        <p:nvSpPr>
          <p:cNvPr id="33795" name="Content Placeholder 1"/>
          <p:cNvSpPr>
            <a:spLocks noGrp="1"/>
          </p:cNvSpPr>
          <p:nvPr>
            <p:ph idx="1"/>
          </p:nvPr>
        </p:nvSpPr>
        <p:spPr/>
        <p:txBody>
          <a:bodyPr/>
          <a:lstStyle/>
          <a:p>
            <a:r>
              <a:rPr lang="en-GB" altLang="en-US" sz="1600"/>
              <a:t>NLF airfoils (Natural Laminar Flow): airfoils that can sustain laminar flow as far as 50% (or even more) of the chord naturally. </a:t>
            </a:r>
            <a:endParaRPr lang="nl-NL" altLang="en-US"/>
          </a:p>
        </p:txBody>
      </p:sp>
      <p:pic>
        <p:nvPicPr>
          <p:cNvPr id="3379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0189" y="2060575"/>
            <a:ext cx="5775325" cy="1728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79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4338" y="4086226"/>
            <a:ext cx="5910262" cy="1762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3798" name="TextBox 2"/>
          <p:cNvSpPr txBox="1">
            <a:spLocks noChangeArrowheads="1"/>
          </p:cNvSpPr>
          <p:nvPr/>
        </p:nvSpPr>
        <p:spPr bwMode="auto">
          <a:xfrm>
            <a:off x="2208214" y="2565400"/>
            <a:ext cx="18319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a:t>Ordinary airfoil</a:t>
            </a:r>
            <a:endParaRPr lang="nl-NL" altLang="en-US" sz="1600"/>
          </a:p>
        </p:txBody>
      </p:sp>
      <p:sp>
        <p:nvSpPr>
          <p:cNvPr id="33799" name="TextBox 8"/>
          <p:cNvSpPr txBox="1">
            <a:spLocks noChangeArrowheads="1"/>
          </p:cNvSpPr>
          <p:nvPr/>
        </p:nvSpPr>
        <p:spPr bwMode="auto">
          <a:xfrm>
            <a:off x="2208214" y="4799014"/>
            <a:ext cx="18319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a:t>NLF  airfoil</a:t>
            </a:r>
            <a:endParaRPr lang="nl-NL" altLang="en-US" sz="1600"/>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767409" y="355540"/>
            <a:ext cx="9333855"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Different Drag Components</a:t>
            </a:r>
            <a:endParaRPr lang="nl-NL" kern="0" dirty="0">
              <a:solidFill>
                <a:schemeClr val="bg2"/>
              </a:solidFill>
            </a:endParaRPr>
          </a:p>
        </p:txBody>
      </p:sp>
      <p:sp>
        <p:nvSpPr>
          <p:cNvPr id="4" name="Content Placeholder 2"/>
          <p:cNvSpPr txBox="1">
            <a:spLocks/>
          </p:cNvSpPr>
          <p:nvPr/>
        </p:nvSpPr>
        <p:spPr>
          <a:xfrm>
            <a:off x="1271464" y="1309688"/>
            <a:ext cx="9793087" cy="3784600"/>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US" sz="1200" b="1" dirty="0"/>
              <a:t>Skin friction drag. </a:t>
            </a:r>
            <a:r>
              <a:rPr lang="en-US" sz="1200" dirty="0"/>
              <a:t>The drag on a body resulting from viscous shearing stresses over its wetted surface.</a:t>
            </a:r>
          </a:p>
          <a:p>
            <a:pPr>
              <a:defRPr/>
            </a:pPr>
            <a:r>
              <a:rPr lang="en-US" sz="1200" b="1" dirty="0"/>
              <a:t>Pressure drag (or form drag). </a:t>
            </a:r>
            <a:r>
              <a:rPr lang="en-US" sz="1200" dirty="0"/>
              <a:t>The drag on a body resulting from the integrated effect of the static pressure acting normal to its surface resolved in the drag direction.</a:t>
            </a:r>
          </a:p>
          <a:p>
            <a:pPr>
              <a:defRPr/>
            </a:pPr>
            <a:r>
              <a:rPr lang="en-US" sz="1200" b="1" dirty="0"/>
              <a:t>Profile drag (or parasite drag). </a:t>
            </a:r>
            <a:r>
              <a:rPr lang="en-US" sz="1200" dirty="0"/>
              <a:t>Usually defined as the sum of the skin friction drag and the pressure drag for a two-dimensional airfoil.</a:t>
            </a:r>
          </a:p>
          <a:p>
            <a:pPr>
              <a:defRPr/>
            </a:pPr>
            <a:r>
              <a:rPr lang="en-US" sz="1200" b="1" dirty="0"/>
              <a:t>Viscous drag-due-to-lift. </a:t>
            </a:r>
            <a:r>
              <a:rPr lang="en-US" sz="1200" dirty="0"/>
              <a:t>The drag that results due to the integrated effect of the static pressure acting normal to its surface (resolved in the drag direction) when the airfoil angle-of-attack is increased to generate lift. (Note: It is present without vortices.)</a:t>
            </a:r>
          </a:p>
          <a:p>
            <a:pPr>
              <a:defRPr/>
            </a:pPr>
            <a:r>
              <a:rPr lang="en-US" sz="1200" b="1" dirty="0"/>
              <a:t>Inviscid drag-due-to-lift (or induced drag). </a:t>
            </a:r>
            <a:r>
              <a:rPr lang="en-US" sz="1200" dirty="0"/>
              <a:t>The drag that results from the influence of a trailing vortex (downstream of a lifting surface of finite aspect ratio) on the wing aerodynamic center. (Note: It is present with or without viscosity).</a:t>
            </a:r>
          </a:p>
          <a:p>
            <a:pPr>
              <a:defRPr/>
            </a:pPr>
            <a:r>
              <a:rPr lang="en-US" sz="1200" b="1" dirty="0"/>
              <a:t>Interference drag. </a:t>
            </a:r>
            <a:r>
              <a:rPr lang="en-US" sz="1200" dirty="0"/>
              <a:t>The increment in drag resulting from bringing two bodies into proximity to each other; for example, the total drag of a wing–fuselage combination will usually be greater than the sum of the wing drag and fuselage drag independent of one another.</a:t>
            </a:r>
          </a:p>
          <a:p>
            <a:pPr>
              <a:defRPr/>
            </a:pPr>
            <a:r>
              <a:rPr lang="en-US" sz="1200" dirty="0"/>
              <a:t>…</a:t>
            </a:r>
          </a:p>
          <a:p>
            <a:pPr marL="0" indent="0">
              <a:buNone/>
              <a:defRPr/>
            </a:pPr>
            <a:endParaRPr lang="en-GB" sz="1000" kern="0" dirty="0">
              <a:solidFill>
                <a:srgbClr val="FF0000"/>
              </a:solidFill>
              <a:latin typeface="Arial" charset="0"/>
            </a:endParaRPr>
          </a:p>
          <a:p>
            <a:pPr marL="0" indent="0" algn="ctr">
              <a:buNone/>
              <a:defRPr/>
            </a:pPr>
            <a:endParaRPr lang="en-GB" sz="1000" kern="0" dirty="0">
              <a:solidFill>
                <a:srgbClr val="FF0000"/>
              </a:solidFill>
              <a:latin typeface="Arial" charset="0"/>
            </a:endParaRPr>
          </a:p>
        </p:txBody>
      </p:sp>
      <p:sp>
        <p:nvSpPr>
          <p:cNvPr id="34820" name="Right Arrow 2"/>
          <p:cNvSpPr>
            <a:spLocks noChangeArrowheads="1"/>
          </p:cNvSpPr>
          <p:nvPr/>
        </p:nvSpPr>
        <p:spPr bwMode="auto">
          <a:xfrm>
            <a:off x="678186" y="2420938"/>
            <a:ext cx="449262" cy="144462"/>
          </a:xfrm>
          <a:prstGeom prst="rightArrow">
            <a:avLst>
              <a:gd name="adj1" fmla="val 50000"/>
              <a:gd name="adj2" fmla="val 49758"/>
            </a:avLst>
          </a:prstGeom>
          <a:solidFill>
            <a:schemeClr val="accent1"/>
          </a:solidFill>
          <a:ln w="9525" algn="ctr">
            <a:solidFill>
              <a:schemeClr val="tx1"/>
            </a:solidFill>
            <a:round/>
            <a:headEnd/>
            <a:tailEnd/>
          </a:ln>
        </p:spPr>
        <p:txBody>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endParaRPr lang="en-GB" altLang="en-US" sz="2200"/>
          </a:p>
        </p:txBody>
      </p:sp>
      <p:sp>
        <p:nvSpPr>
          <p:cNvPr id="34821" name="Right Arrow 5"/>
          <p:cNvSpPr>
            <a:spLocks noChangeArrowheads="1"/>
          </p:cNvSpPr>
          <p:nvPr/>
        </p:nvSpPr>
        <p:spPr bwMode="auto">
          <a:xfrm>
            <a:off x="676575" y="3392575"/>
            <a:ext cx="449262" cy="144462"/>
          </a:xfrm>
          <a:prstGeom prst="rightArrow">
            <a:avLst>
              <a:gd name="adj1" fmla="val 50000"/>
              <a:gd name="adj2" fmla="val 49758"/>
            </a:avLst>
          </a:prstGeom>
          <a:solidFill>
            <a:schemeClr val="accent1"/>
          </a:solidFill>
          <a:ln w="9525" algn="ctr">
            <a:solidFill>
              <a:schemeClr val="tx1"/>
            </a:solidFill>
            <a:round/>
            <a:headEnd/>
            <a:tailEnd/>
          </a:ln>
        </p:spPr>
        <p:txBody>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endParaRPr lang="en-GB" altLang="en-US" sz="2200"/>
          </a:p>
        </p:txBody>
      </p:sp>
      <p:sp>
        <p:nvSpPr>
          <p:cNvPr id="34822" name="Right Arrow 6"/>
          <p:cNvSpPr>
            <a:spLocks noChangeArrowheads="1"/>
          </p:cNvSpPr>
          <p:nvPr/>
        </p:nvSpPr>
        <p:spPr bwMode="auto">
          <a:xfrm>
            <a:off x="674987" y="4005064"/>
            <a:ext cx="450850" cy="144463"/>
          </a:xfrm>
          <a:prstGeom prst="rightArrow">
            <a:avLst>
              <a:gd name="adj1" fmla="val 50000"/>
              <a:gd name="adj2" fmla="val 49934"/>
            </a:avLst>
          </a:prstGeom>
          <a:solidFill>
            <a:schemeClr val="accent1"/>
          </a:solidFill>
          <a:ln w="9525" algn="ctr">
            <a:solidFill>
              <a:schemeClr val="tx1"/>
            </a:solidFill>
            <a:round/>
            <a:headEnd/>
            <a:tailEnd/>
          </a:ln>
        </p:spPr>
        <p:txBody>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endParaRPr lang="en-GB" altLang="en-US" sz="22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1559496" y="1309688"/>
            <a:ext cx="9937103" cy="3784600"/>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US" sz="1200" b="1" dirty="0"/>
              <a:t>Trim drag. </a:t>
            </a:r>
            <a:r>
              <a:rPr lang="en-US" sz="1200" dirty="0"/>
              <a:t>The increment in drag resulting from the aerodynamic forces required to trim the aircraft about its center of gravity; usually this takes the form of added drag-due-to-lift on the horizontal tail.</a:t>
            </a:r>
            <a:endParaRPr lang="en-GB" sz="1200" kern="0" dirty="0"/>
          </a:p>
          <a:p>
            <a:pPr>
              <a:defRPr/>
            </a:pPr>
            <a:r>
              <a:rPr lang="en-US" sz="1200" b="1" dirty="0"/>
              <a:t>Base drag. </a:t>
            </a:r>
            <a:r>
              <a:rPr lang="en-US" sz="1200" dirty="0"/>
              <a:t>The specific contribution to the pressure drag attributed to </a:t>
            </a:r>
            <a:r>
              <a:rPr lang="nl-NL" sz="1200" dirty="0"/>
              <a:t>a </a:t>
            </a:r>
            <a:r>
              <a:rPr lang="nl-NL" sz="1200" dirty="0" err="1"/>
              <a:t>blunt</a:t>
            </a:r>
            <a:r>
              <a:rPr lang="nl-NL" sz="1200" dirty="0"/>
              <a:t> </a:t>
            </a:r>
            <a:r>
              <a:rPr lang="nl-NL" sz="1200" dirty="0" err="1"/>
              <a:t>afterbody</a:t>
            </a:r>
            <a:r>
              <a:rPr lang="nl-NL" sz="1200" dirty="0"/>
              <a:t>.</a:t>
            </a:r>
            <a:endParaRPr lang="en-GB" sz="1200" kern="0" dirty="0"/>
          </a:p>
          <a:p>
            <a:pPr>
              <a:defRPr/>
            </a:pPr>
            <a:r>
              <a:rPr lang="en-US" sz="1200" b="1" dirty="0"/>
              <a:t>Wave drag. </a:t>
            </a:r>
            <a:r>
              <a:rPr lang="en-US" sz="1200" dirty="0"/>
              <a:t>Only exists with supersonic flow; this is a pressure drag resulting from </a:t>
            </a:r>
            <a:r>
              <a:rPr lang="en-US" sz="1200" dirty="0" err="1"/>
              <a:t>noncanceling</a:t>
            </a:r>
            <a:r>
              <a:rPr lang="en-US" sz="1200" dirty="0"/>
              <a:t> static pressure components on either side of a shock wave acting on the surface of the body from which the wave </a:t>
            </a:r>
            <a:r>
              <a:rPr lang="nl-NL" sz="1200" dirty="0"/>
              <a:t>is </a:t>
            </a:r>
            <a:r>
              <a:rPr lang="nl-NL" sz="1200" dirty="0" err="1"/>
              <a:t>emanating</a:t>
            </a:r>
            <a:r>
              <a:rPr lang="nl-NL" sz="1200" dirty="0"/>
              <a:t>.</a:t>
            </a:r>
          </a:p>
          <a:p>
            <a:pPr>
              <a:defRPr/>
            </a:pPr>
            <a:r>
              <a:rPr lang="en-US" sz="1200" b="1" dirty="0"/>
              <a:t>Excrescence drag (or protuberance drag). </a:t>
            </a:r>
            <a:r>
              <a:rPr lang="en-US" sz="1200" dirty="0"/>
              <a:t>The drag associated with antennas, total pressure probes (part of the air data system), and other protrusions above the exterior of the aircraft; external fuel tanks, missiles, and bombs are also considered excrescence drag items.</a:t>
            </a:r>
          </a:p>
          <a:p>
            <a:pPr>
              <a:defRPr/>
            </a:pPr>
            <a:r>
              <a:rPr lang="en-US" sz="1200" b="1" dirty="0"/>
              <a:t>Cooling drag. </a:t>
            </a:r>
            <a:r>
              <a:rPr lang="en-US" sz="1200" dirty="0"/>
              <a:t>The drag resulting from the momentum lost by the air that passes through the </a:t>
            </a:r>
            <a:r>
              <a:rPr lang="en-US" sz="1200" dirty="0" err="1"/>
              <a:t>powerplant</a:t>
            </a:r>
            <a:r>
              <a:rPr lang="en-US" sz="1200" dirty="0"/>
              <a:t> installation (i.e., the heat exchanger) for cooling the engine, oil, and so on.</a:t>
            </a:r>
          </a:p>
          <a:p>
            <a:pPr>
              <a:defRPr/>
            </a:pPr>
            <a:r>
              <a:rPr lang="en-US" sz="1200" b="1" dirty="0"/>
              <a:t>Ram drag. </a:t>
            </a:r>
            <a:r>
              <a:rPr lang="en-US" sz="1200" dirty="0"/>
              <a:t>The drag resulting from the momentum lost by the air as it slows down to enter an inlet.</a:t>
            </a:r>
            <a:endParaRPr lang="en-GB" sz="1200" kern="0" dirty="0">
              <a:solidFill>
                <a:srgbClr val="FF0000"/>
              </a:solidFill>
              <a:latin typeface="Arial" charset="0"/>
            </a:endParaRPr>
          </a:p>
          <a:p>
            <a:pPr marL="0" indent="0" algn="ctr">
              <a:buNone/>
              <a:defRPr/>
            </a:pPr>
            <a:endParaRPr lang="en-GB" sz="1200" kern="0" dirty="0">
              <a:solidFill>
                <a:srgbClr val="FF0000"/>
              </a:solidFill>
              <a:latin typeface="Arial" charset="0"/>
            </a:endParaRPr>
          </a:p>
          <a:p>
            <a:pPr marL="0" indent="0" algn="ctr">
              <a:buNone/>
              <a:defRPr/>
            </a:pPr>
            <a:endParaRPr lang="en-GB" sz="1200" kern="0" dirty="0">
              <a:solidFill>
                <a:srgbClr val="FF0000"/>
              </a:solidFill>
              <a:latin typeface="Arial" charset="0"/>
            </a:endParaRPr>
          </a:p>
        </p:txBody>
      </p:sp>
      <p:sp>
        <p:nvSpPr>
          <p:cNvPr id="5" name="Title 1"/>
          <p:cNvSpPr txBox="1">
            <a:spLocks/>
          </p:cNvSpPr>
          <p:nvPr/>
        </p:nvSpPr>
        <p:spPr>
          <a:xfrm>
            <a:off x="839416" y="549276"/>
            <a:ext cx="9261847"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Different Drag Components</a:t>
            </a:r>
            <a:endParaRPr lang="nl-NL" kern="0" dirty="0">
              <a:solidFill>
                <a:schemeClr val="bg2"/>
              </a:solidFill>
            </a:endParaRPr>
          </a:p>
        </p:txBody>
      </p:sp>
      <p:sp>
        <p:nvSpPr>
          <p:cNvPr id="35844" name="Right Arrow 3"/>
          <p:cNvSpPr>
            <a:spLocks noChangeArrowheads="1"/>
          </p:cNvSpPr>
          <p:nvPr/>
        </p:nvSpPr>
        <p:spPr bwMode="auto">
          <a:xfrm>
            <a:off x="822202" y="2420938"/>
            <a:ext cx="449262" cy="144462"/>
          </a:xfrm>
          <a:prstGeom prst="rightArrow">
            <a:avLst>
              <a:gd name="adj1" fmla="val 50000"/>
              <a:gd name="adj2" fmla="val 49758"/>
            </a:avLst>
          </a:prstGeom>
          <a:solidFill>
            <a:schemeClr val="accent1"/>
          </a:solidFill>
          <a:ln w="9525" algn="ctr">
            <a:solidFill>
              <a:schemeClr val="tx1"/>
            </a:solidFill>
            <a:round/>
            <a:headEnd/>
            <a:tailEnd/>
          </a:ln>
        </p:spPr>
        <p:txBody>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endParaRPr lang="en-GB" altLang="en-US" sz="2200"/>
          </a:p>
        </p:txBody>
      </p:sp>
      <p:sp>
        <p:nvSpPr>
          <p:cNvPr id="6" name="Right Arrow 3"/>
          <p:cNvSpPr>
            <a:spLocks noChangeArrowheads="1"/>
          </p:cNvSpPr>
          <p:nvPr/>
        </p:nvSpPr>
        <p:spPr bwMode="auto">
          <a:xfrm>
            <a:off x="839416" y="1484784"/>
            <a:ext cx="449262" cy="144462"/>
          </a:xfrm>
          <a:prstGeom prst="rightArrow">
            <a:avLst>
              <a:gd name="adj1" fmla="val 50000"/>
              <a:gd name="adj2" fmla="val 49758"/>
            </a:avLst>
          </a:prstGeom>
          <a:solidFill>
            <a:schemeClr val="accent1"/>
          </a:solidFill>
          <a:ln w="9525" algn="ctr">
            <a:solidFill>
              <a:schemeClr val="tx1"/>
            </a:solidFill>
            <a:round/>
            <a:headEnd/>
            <a:tailEnd/>
          </a:ln>
        </p:spPr>
        <p:txBody>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endParaRPr lang="en-GB" altLang="en-US" sz="22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Question" title="Question Text"/>
          <p:cNvSpPr txBox="1">
            <a:spLocks/>
          </p:cNvSpPr>
          <p:nvPr/>
        </p:nvSpPr>
        <p:spPr bwMode="auto">
          <a:xfrm>
            <a:off x="767408" y="0"/>
            <a:ext cx="10297144"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marL="0" indent="0"/>
            <a:r>
              <a:rPr lang="en-GB" sz="2400" kern="0" dirty="0">
                <a:solidFill>
                  <a:schemeClr val="bg2"/>
                </a:solidFill>
              </a:rPr>
              <a:t>What is the most predominant drag component during the flight?</a:t>
            </a:r>
          </a:p>
        </p:txBody>
      </p:sp>
      <p:pic>
        <p:nvPicPr>
          <p:cNvPr id="21506" name="Picture 2" descr="A350 XWB Family - Passenger aircraft - Airbu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7408" y="1340768"/>
            <a:ext cx="2791992" cy="194421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701578" y="3465229"/>
            <a:ext cx="923651" cy="400110"/>
          </a:xfrm>
          <a:prstGeom prst="rect">
            <a:avLst/>
          </a:prstGeom>
          <a:noFill/>
        </p:spPr>
        <p:txBody>
          <a:bodyPr wrap="none" rtlCol="0">
            <a:spAutoFit/>
          </a:bodyPr>
          <a:lstStyle/>
          <a:p>
            <a:r>
              <a:rPr lang="en-GB" sz="2000" dirty="0"/>
              <a:t>D</a:t>
            </a:r>
            <a:r>
              <a:rPr lang="en-GB" sz="2000" baseline="-25000" dirty="0"/>
              <a:t>i</a:t>
            </a:r>
            <a:r>
              <a:rPr lang="en-GB" sz="2000" dirty="0"/>
              <a:t> ≈</a:t>
            </a:r>
            <a:r>
              <a:rPr lang="en-GB" sz="2000" dirty="0" err="1"/>
              <a:t>D</a:t>
            </a:r>
            <a:r>
              <a:rPr lang="en-GB" sz="2000" baseline="-25000" dirty="0" err="1"/>
              <a:t>v</a:t>
            </a:r>
            <a:endParaRPr lang="en-US" sz="2000" baseline="-25000" dirty="0"/>
          </a:p>
        </p:txBody>
      </p:sp>
      <p:sp>
        <p:nvSpPr>
          <p:cNvPr id="7" name="TextBox 6"/>
          <p:cNvSpPr txBox="1"/>
          <p:nvPr/>
        </p:nvSpPr>
        <p:spPr>
          <a:xfrm>
            <a:off x="1701576" y="4653136"/>
            <a:ext cx="923651" cy="400110"/>
          </a:xfrm>
          <a:prstGeom prst="rect">
            <a:avLst/>
          </a:prstGeom>
          <a:noFill/>
        </p:spPr>
        <p:txBody>
          <a:bodyPr wrap="none" rtlCol="0">
            <a:spAutoFit/>
          </a:bodyPr>
          <a:lstStyle/>
          <a:p>
            <a:r>
              <a:rPr lang="en-GB" sz="2000" dirty="0"/>
              <a:t>D</a:t>
            </a:r>
            <a:r>
              <a:rPr lang="en-GB" sz="2000" baseline="-25000" dirty="0"/>
              <a:t>i</a:t>
            </a:r>
            <a:r>
              <a:rPr lang="en-GB" sz="2000" dirty="0"/>
              <a:t> &gt;</a:t>
            </a:r>
            <a:r>
              <a:rPr lang="en-GB" sz="2000" dirty="0" err="1"/>
              <a:t>D</a:t>
            </a:r>
            <a:r>
              <a:rPr lang="en-GB" sz="2000" baseline="-25000" dirty="0" err="1"/>
              <a:t>v</a:t>
            </a:r>
            <a:endParaRPr lang="en-US" sz="2000" baseline="-25000" dirty="0"/>
          </a:p>
        </p:txBody>
      </p:sp>
      <p:sp>
        <p:nvSpPr>
          <p:cNvPr id="8" name="TextBox 7"/>
          <p:cNvSpPr txBox="1"/>
          <p:nvPr/>
        </p:nvSpPr>
        <p:spPr>
          <a:xfrm>
            <a:off x="814763" y="4314582"/>
            <a:ext cx="1348639" cy="338554"/>
          </a:xfrm>
          <a:prstGeom prst="rect">
            <a:avLst/>
          </a:prstGeom>
          <a:noFill/>
        </p:spPr>
        <p:txBody>
          <a:bodyPr wrap="none" rtlCol="0">
            <a:spAutoFit/>
          </a:bodyPr>
          <a:lstStyle/>
          <a:p>
            <a:r>
              <a:rPr lang="en-GB" dirty="0"/>
              <a:t>At low speed</a:t>
            </a:r>
            <a:endParaRPr lang="en-US" dirty="0"/>
          </a:p>
        </p:txBody>
      </p:sp>
      <p:pic>
        <p:nvPicPr>
          <p:cNvPr id="21508" name="Picture 4" descr="Remembering Concorde, 50 years on | All media content | DW | 01.03.20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2531" y="1513730"/>
            <a:ext cx="3146897" cy="177125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5095677" y="3464906"/>
            <a:ext cx="1590500" cy="400110"/>
          </a:xfrm>
          <a:prstGeom prst="rect">
            <a:avLst/>
          </a:prstGeom>
          <a:noFill/>
        </p:spPr>
        <p:txBody>
          <a:bodyPr wrap="none" rtlCol="0">
            <a:spAutoFit/>
          </a:bodyPr>
          <a:lstStyle/>
          <a:p>
            <a:r>
              <a:rPr lang="en-GB" sz="2000" dirty="0" err="1"/>
              <a:t>D</a:t>
            </a:r>
            <a:r>
              <a:rPr lang="en-GB" sz="2000" baseline="-25000" dirty="0" err="1"/>
              <a:t>w</a:t>
            </a:r>
            <a:r>
              <a:rPr lang="en-GB" sz="2000" dirty="0"/>
              <a:t> &gt; </a:t>
            </a:r>
            <a:r>
              <a:rPr lang="en-GB" sz="2000" dirty="0" err="1"/>
              <a:t>D</a:t>
            </a:r>
            <a:r>
              <a:rPr lang="en-GB" sz="2000" baseline="-25000" dirty="0" err="1"/>
              <a:t>v</a:t>
            </a:r>
            <a:r>
              <a:rPr lang="en-GB" sz="2000" baseline="-25000" dirty="0"/>
              <a:t> </a:t>
            </a:r>
            <a:r>
              <a:rPr lang="en-GB" sz="2000" dirty="0"/>
              <a:t>&gt;D</a:t>
            </a:r>
            <a:r>
              <a:rPr lang="en-GB" sz="2000" baseline="-25000" dirty="0"/>
              <a:t>i</a:t>
            </a:r>
            <a:endParaRPr lang="en-US" sz="2000" baseline="-25000" dirty="0"/>
          </a:p>
        </p:txBody>
      </p:sp>
      <p:pic>
        <p:nvPicPr>
          <p:cNvPr id="21510" name="Picture 6" descr="Lockheed Martin delivers milestone C-130 | AirMed&amp;Rescu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12224" y="1412776"/>
            <a:ext cx="3815220" cy="200299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8832098" y="3495684"/>
            <a:ext cx="2403800" cy="338554"/>
          </a:xfrm>
          <a:prstGeom prst="rect">
            <a:avLst/>
          </a:prstGeom>
        </p:spPr>
        <p:txBody>
          <a:bodyPr wrap="none">
            <a:spAutoFit/>
          </a:bodyPr>
          <a:lstStyle/>
          <a:p>
            <a:r>
              <a:rPr lang="en-GB" dirty="0" err="1"/>
              <a:t>D</a:t>
            </a:r>
            <a:r>
              <a:rPr lang="en-GB" baseline="-25000" dirty="0" err="1"/>
              <a:t>misc</a:t>
            </a:r>
            <a:r>
              <a:rPr lang="en-GB" dirty="0"/>
              <a:t> (</a:t>
            </a:r>
            <a:r>
              <a:rPr lang="en-GB" dirty="0" err="1"/>
              <a:t>D</a:t>
            </a:r>
            <a:r>
              <a:rPr lang="en-GB" baseline="-25000" dirty="0" err="1"/>
              <a:t>trim</a:t>
            </a:r>
            <a:r>
              <a:rPr lang="en-GB" dirty="0"/>
              <a:t>) predominant</a:t>
            </a:r>
            <a:endParaRPr lang="en-US" dirty="0"/>
          </a:p>
        </p:txBody>
      </p:sp>
      <p:sp>
        <p:nvSpPr>
          <p:cNvPr id="10" name="Oval 9"/>
          <p:cNvSpPr/>
          <p:nvPr/>
        </p:nvSpPr>
        <p:spPr bwMode="auto">
          <a:xfrm>
            <a:off x="9984432" y="2492896"/>
            <a:ext cx="1368152" cy="726697"/>
          </a:xfrm>
          <a:prstGeom prst="ellipse">
            <a:avLst/>
          </a:prstGeom>
          <a:noFill/>
          <a:ln w="9525" cap="flat" cmpd="sng" algn="ctr">
            <a:solidFill>
              <a:schemeClr val="accent1">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12884724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983432" y="1309688"/>
            <a:ext cx="10513167" cy="3784600"/>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lgn="just">
              <a:defRPr/>
            </a:pPr>
            <a:endParaRPr lang="en-GB" sz="1600" dirty="0"/>
          </a:p>
          <a:p>
            <a:pPr algn="just">
              <a:defRPr/>
            </a:pPr>
            <a:r>
              <a:rPr lang="en-GB" sz="1800" dirty="0"/>
              <a:t>Drag is usually spoken of as so many </a:t>
            </a:r>
            <a:r>
              <a:rPr lang="en-GB" sz="1800" dirty="0">
                <a:solidFill>
                  <a:schemeClr val="bg2"/>
                </a:solidFill>
              </a:rPr>
              <a:t>counts</a:t>
            </a:r>
            <a:r>
              <a:rPr lang="en-GB" sz="1800" dirty="0"/>
              <a:t>.</a:t>
            </a:r>
          </a:p>
          <a:p>
            <a:pPr lvl="1" algn="just">
              <a:defRPr/>
            </a:pPr>
            <a:r>
              <a:rPr lang="en-GB" dirty="0"/>
              <a:t>Each drag count is 0.0001 drag coefficient. For example 38 drag counts mean a drag coefficient of 0.0038</a:t>
            </a:r>
          </a:p>
          <a:p>
            <a:pPr lvl="1" algn="just">
              <a:defRPr/>
            </a:pPr>
            <a:endParaRPr lang="en-GB" kern="0" dirty="0">
              <a:solidFill>
                <a:srgbClr val="FF0000"/>
              </a:solidFill>
              <a:latin typeface="Arial" charset="0"/>
            </a:endParaRPr>
          </a:p>
          <a:p>
            <a:pPr algn="just">
              <a:defRPr/>
            </a:pPr>
            <a:r>
              <a:rPr lang="en-GB" sz="1800" kern="0" dirty="0">
                <a:latin typeface="Arial" charset="0"/>
              </a:rPr>
              <a:t>Drag force over the dynamic pressure (D/q) is a commonly used parameter and has a unit of square meter (or feet). D/q is called the </a:t>
            </a:r>
            <a:r>
              <a:rPr lang="en-GB" sz="1800" kern="0" dirty="0">
                <a:solidFill>
                  <a:schemeClr val="bg2"/>
                </a:solidFill>
                <a:latin typeface="Arial" charset="0"/>
              </a:rPr>
              <a:t>drag area</a:t>
            </a:r>
            <a:r>
              <a:rPr lang="en-GB" sz="1800" kern="0" dirty="0">
                <a:latin typeface="Arial" charset="0"/>
              </a:rPr>
              <a:t>.</a:t>
            </a:r>
          </a:p>
          <a:p>
            <a:pPr lvl="1" algn="just">
              <a:defRPr/>
            </a:pPr>
            <a:r>
              <a:rPr lang="en-GB" kern="0" dirty="0">
                <a:latin typeface="Arial" charset="0"/>
              </a:rPr>
              <a:t>If the drag area is multiplied by the dynamic pressure is yields the drag force.</a:t>
            </a:r>
          </a:p>
          <a:p>
            <a:pPr lvl="1" algn="just">
              <a:defRPr/>
            </a:pPr>
            <a:r>
              <a:rPr lang="en-GB" kern="0" dirty="0">
                <a:latin typeface="Arial" charset="0"/>
              </a:rPr>
              <a:t>If the drag area is divided by the wing reference area it yields the drag coefficient.</a:t>
            </a:r>
          </a:p>
          <a:p>
            <a:pPr marL="0" indent="0" algn="just">
              <a:buNone/>
              <a:defRPr/>
            </a:pPr>
            <a:endParaRPr lang="en-GB" sz="1400" kern="0" dirty="0">
              <a:solidFill>
                <a:srgbClr val="FF0000"/>
              </a:solidFill>
              <a:latin typeface="Arial" charset="0"/>
            </a:endParaRPr>
          </a:p>
          <a:p>
            <a:pPr marL="0" indent="0" algn="just">
              <a:buNone/>
              <a:defRPr/>
            </a:pPr>
            <a:endParaRPr lang="en-GB" sz="1200" kern="0" dirty="0">
              <a:solidFill>
                <a:srgbClr val="FF0000"/>
              </a:solidFill>
              <a:latin typeface="Arial" charset="0"/>
            </a:endParaRPr>
          </a:p>
        </p:txBody>
      </p:sp>
      <p:sp>
        <p:nvSpPr>
          <p:cNvPr id="3" name="Title 1"/>
          <p:cNvSpPr txBox="1">
            <a:spLocks/>
          </p:cNvSpPr>
          <p:nvPr/>
        </p:nvSpPr>
        <p:spPr>
          <a:xfrm>
            <a:off x="983432" y="549276"/>
            <a:ext cx="10513168"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Drag count and drag area</a:t>
            </a:r>
            <a:endParaRPr lang="nl-NL" kern="0" dirty="0">
              <a:solidFill>
                <a:schemeClr val="bg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41575" y="260351"/>
            <a:ext cx="7659688"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Drag polar</a:t>
            </a:r>
            <a:endParaRPr lang="nl-NL" kern="0" dirty="0">
              <a:solidFill>
                <a:schemeClr val="bg2"/>
              </a:solidFill>
            </a:endParaRPr>
          </a:p>
        </p:txBody>
      </p:sp>
      <p:sp>
        <p:nvSpPr>
          <p:cNvPr id="4" name="Content Placeholder 2"/>
          <p:cNvSpPr txBox="1">
            <a:spLocks/>
          </p:cNvSpPr>
          <p:nvPr/>
        </p:nvSpPr>
        <p:spPr>
          <a:xfrm>
            <a:off x="983432" y="1196976"/>
            <a:ext cx="9865096" cy="4289425"/>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600" kern="0" dirty="0"/>
              <a:t>If we look at the experimental results for drag vs lift, we can see that the drag varies </a:t>
            </a:r>
            <a:r>
              <a:rPr lang="en-GB" sz="1600" kern="0" dirty="0" err="1"/>
              <a:t>quadratically</a:t>
            </a:r>
            <a:r>
              <a:rPr lang="en-GB" sz="1600" kern="0" dirty="0"/>
              <a:t> with lift.</a:t>
            </a:r>
          </a:p>
          <a:p>
            <a:pPr>
              <a:defRPr/>
            </a:pPr>
            <a:endParaRPr lang="en-GB" sz="1600" kern="0" dirty="0"/>
          </a:p>
          <a:p>
            <a:pPr>
              <a:defRPr/>
            </a:pPr>
            <a:r>
              <a:rPr lang="en-GB" sz="1600" kern="0" dirty="0"/>
              <a:t>So we can approximate drag as:</a:t>
            </a:r>
          </a:p>
          <a:p>
            <a:pPr>
              <a:defRPr/>
            </a:pPr>
            <a:endParaRPr lang="en-GB" sz="1600" kern="0" dirty="0"/>
          </a:p>
          <a:p>
            <a:pPr lvl="1">
              <a:defRPr/>
            </a:pPr>
            <a:r>
              <a:rPr lang="en-GB" sz="1400" kern="0" dirty="0"/>
              <a:t>For </a:t>
            </a:r>
            <a:r>
              <a:rPr lang="en-GB" sz="1400" kern="0" dirty="0" err="1"/>
              <a:t>uncambered</a:t>
            </a:r>
            <a:r>
              <a:rPr lang="en-GB" sz="1400" kern="0" dirty="0"/>
              <a:t> wings</a:t>
            </a:r>
          </a:p>
          <a:p>
            <a:pPr>
              <a:defRPr/>
            </a:pPr>
            <a:endParaRPr lang="en-GB" sz="1600" kern="0" dirty="0"/>
          </a:p>
          <a:p>
            <a:pPr>
              <a:defRPr/>
            </a:pPr>
            <a:endParaRPr lang="en-GB" sz="1600" kern="0" dirty="0"/>
          </a:p>
          <a:p>
            <a:pPr marL="0" indent="0">
              <a:buNone/>
              <a:defRPr/>
            </a:pPr>
            <a:endParaRPr lang="en-GB" sz="1600" kern="0" dirty="0"/>
          </a:p>
          <a:p>
            <a:pPr lvl="1">
              <a:defRPr/>
            </a:pPr>
            <a:r>
              <a:rPr lang="en-GB" sz="1400" kern="0" dirty="0"/>
              <a:t>For cambered wings</a:t>
            </a:r>
          </a:p>
          <a:p>
            <a:pPr>
              <a:defRPr/>
            </a:pPr>
            <a:endParaRPr lang="en-GB" sz="1600" kern="0" dirty="0"/>
          </a:p>
          <a:p>
            <a:pPr>
              <a:defRPr/>
            </a:pPr>
            <a:endParaRPr lang="en-GB" sz="1600" kern="0" dirty="0"/>
          </a:p>
          <a:p>
            <a:pPr>
              <a:defRPr/>
            </a:pPr>
            <a:endParaRPr lang="en-GB" sz="1600" kern="0" dirty="0"/>
          </a:p>
          <a:p>
            <a:pPr>
              <a:defRPr/>
            </a:pPr>
            <a:endParaRPr lang="en-GB" sz="1600" kern="0" dirty="0"/>
          </a:p>
          <a:p>
            <a:pPr>
              <a:defRPr/>
            </a:pPr>
            <a:r>
              <a:rPr lang="en-GB" sz="1600" kern="0" dirty="0"/>
              <a:t>For wings with moderate camber, </a:t>
            </a:r>
            <a:r>
              <a:rPr lang="en-GB" sz="1600" kern="0" dirty="0" err="1"/>
              <a:t>CLminD</a:t>
            </a:r>
            <a:r>
              <a:rPr lang="en-GB" sz="1600" kern="0" dirty="0"/>
              <a:t> is usually small so the first equation can be used.</a:t>
            </a:r>
            <a:endParaRPr lang="nl-NL" sz="1600" kern="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1985" y="1668776"/>
            <a:ext cx="4697000" cy="34884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5" name="Object 4"/>
          <p:cNvGraphicFramePr>
            <a:graphicFrameLocks noChangeAspect="1"/>
          </p:cNvGraphicFramePr>
          <p:nvPr>
            <p:extLst>
              <p:ext uri="{D42A27DB-BD31-4B8C-83A1-F6EECF244321}">
                <p14:modId xmlns:p14="http://schemas.microsoft.com/office/powerpoint/2010/main" val="2643406759"/>
              </p:ext>
            </p:extLst>
          </p:nvPr>
        </p:nvGraphicFramePr>
        <p:xfrm>
          <a:off x="1631504" y="3243264"/>
          <a:ext cx="1785938" cy="430213"/>
        </p:xfrm>
        <a:graphic>
          <a:graphicData uri="http://schemas.openxmlformats.org/presentationml/2006/ole">
            <mc:AlternateContent xmlns:mc="http://schemas.openxmlformats.org/markup-compatibility/2006">
              <mc:Choice xmlns:v="urn:schemas-microsoft-com:vml" Requires="v">
                <p:oleObj name="Equation" r:id="rId4" imgW="1054100" imgH="254000" progId="Equation.DSMT4">
                  <p:embed/>
                </p:oleObj>
              </mc:Choice>
              <mc:Fallback>
                <p:oleObj name="Equation" r:id="rId4" imgW="1054100" imgH="2540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1504" y="3243264"/>
                        <a:ext cx="178593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951456519"/>
              </p:ext>
            </p:extLst>
          </p:nvPr>
        </p:nvGraphicFramePr>
        <p:xfrm>
          <a:off x="1619454" y="4563728"/>
          <a:ext cx="2928938" cy="430213"/>
        </p:xfrm>
        <a:graphic>
          <a:graphicData uri="http://schemas.openxmlformats.org/presentationml/2006/ole">
            <mc:AlternateContent xmlns:mc="http://schemas.openxmlformats.org/markup-compatibility/2006">
              <mc:Choice xmlns:v="urn:schemas-microsoft-com:vml" Requires="v">
                <p:oleObj name="Equation" r:id="rId6" imgW="1726451" imgH="253890" progId="Equation.DSMT4">
                  <p:embed/>
                </p:oleObj>
              </mc:Choice>
              <mc:Fallback>
                <p:oleObj name="Equation" r:id="rId6" imgW="1726451" imgH="25389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9454" y="4563728"/>
                        <a:ext cx="292893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079"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07505" y="2504634"/>
            <a:ext cx="4842819" cy="2625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9"/>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3074"/>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983432" y="260351"/>
            <a:ext cx="9117831"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Drag polar</a:t>
            </a:r>
            <a:endParaRPr lang="nl-NL" kern="0" dirty="0">
              <a:solidFill>
                <a:schemeClr val="bg2"/>
              </a:solidFill>
            </a:endParaRPr>
          </a:p>
        </p:txBody>
      </p:sp>
      <p:graphicFrame>
        <p:nvGraphicFramePr>
          <p:cNvPr id="38915" name="Object 2"/>
          <p:cNvGraphicFramePr>
            <a:graphicFrameLocks noChangeAspect="1"/>
          </p:cNvGraphicFramePr>
          <p:nvPr>
            <p:extLst>
              <p:ext uri="{D42A27DB-BD31-4B8C-83A1-F6EECF244321}">
                <p14:modId xmlns:p14="http://schemas.microsoft.com/office/powerpoint/2010/main" val="1994964708"/>
              </p:ext>
            </p:extLst>
          </p:nvPr>
        </p:nvGraphicFramePr>
        <p:xfrm>
          <a:off x="4943872" y="979266"/>
          <a:ext cx="2695575" cy="650875"/>
        </p:xfrm>
        <a:graphic>
          <a:graphicData uri="http://schemas.openxmlformats.org/presentationml/2006/ole">
            <mc:AlternateContent xmlns:mc="http://schemas.openxmlformats.org/markup-compatibility/2006">
              <mc:Choice xmlns:v="urn:schemas-microsoft-com:vml" Requires="v">
                <p:oleObj name="Equation" r:id="rId2" imgW="1054100" imgH="254000" progId="Equation.DSMT4">
                  <p:embed/>
                </p:oleObj>
              </mc:Choice>
              <mc:Fallback>
                <p:oleObj name="Equation" r:id="rId2" imgW="1054100" imgH="2540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3872" y="979266"/>
                        <a:ext cx="2695575" cy="650875"/>
                      </a:xfrm>
                      <a:prstGeom prst="rect">
                        <a:avLst/>
                      </a:prstGeom>
                      <a:solidFill>
                        <a:srgbClr val="FFFF00"/>
                      </a:solidFill>
                      <a:ln>
                        <a:noFill/>
                      </a:ln>
                    </p:spPr>
                  </p:pic>
                </p:oleObj>
              </mc:Fallback>
            </mc:AlternateContent>
          </a:graphicData>
        </a:graphic>
      </p:graphicFrame>
      <p:sp>
        <p:nvSpPr>
          <p:cNvPr id="4" name="Oval 3"/>
          <p:cNvSpPr>
            <a:spLocks noChangeArrowheads="1"/>
          </p:cNvSpPr>
          <p:nvPr/>
        </p:nvSpPr>
        <p:spPr bwMode="auto">
          <a:xfrm>
            <a:off x="5841601" y="1009428"/>
            <a:ext cx="649288" cy="647700"/>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en-US" sz="2200"/>
          </a:p>
        </p:txBody>
      </p:sp>
      <p:sp>
        <p:nvSpPr>
          <p:cNvPr id="5" name="TextBox 4"/>
          <p:cNvSpPr txBox="1">
            <a:spLocks noChangeArrowheads="1"/>
          </p:cNvSpPr>
          <p:nvPr/>
        </p:nvSpPr>
        <p:spPr bwMode="auto">
          <a:xfrm>
            <a:off x="983432" y="1898711"/>
            <a:ext cx="2736850" cy="46196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2400">
                <a:solidFill>
                  <a:srgbClr val="FF0000"/>
                </a:solidFill>
              </a:rPr>
              <a:t>Zero lift drag</a:t>
            </a:r>
            <a:endParaRPr lang="nl-NL" altLang="en-US" sz="2400">
              <a:solidFill>
                <a:srgbClr val="FF0000"/>
              </a:solidFill>
            </a:endParaRPr>
          </a:p>
        </p:txBody>
      </p:sp>
      <p:sp>
        <p:nvSpPr>
          <p:cNvPr id="6" name="Oval 5"/>
          <p:cNvSpPr>
            <a:spLocks noChangeArrowheads="1"/>
          </p:cNvSpPr>
          <p:nvPr/>
        </p:nvSpPr>
        <p:spPr bwMode="auto">
          <a:xfrm>
            <a:off x="6686946" y="995141"/>
            <a:ext cx="431800" cy="576263"/>
          </a:xfrm>
          <a:prstGeom prst="ellipse">
            <a:avLst/>
          </a:prstGeom>
          <a:noFill/>
          <a:ln w="952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en-US" sz="2200"/>
          </a:p>
        </p:txBody>
      </p:sp>
      <p:graphicFrame>
        <p:nvGraphicFramePr>
          <p:cNvPr id="7" name="Object 6"/>
          <p:cNvGraphicFramePr>
            <a:graphicFrameLocks noChangeAspect="1"/>
          </p:cNvGraphicFramePr>
          <p:nvPr>
            <p:extLst>
              <p:ext uri="{D42A27DB-BD31-4B8C-83A1-F6EECF244321}">
                <p14:modId xmlns:p14="http://schemas.microsoft.com/office/powerpoint/2010/main" val="3212947576"/>
              </p:ext>
            </p:extLst>
          </p:nvPr>
        </p:nvGraphicFramePr>
        <p:xfrm>
          <a:off x="993776" y="2676527"/>
          <a:ext cx="1708150" cy="1079500"/>
        </p:xfrm>
        <a:graphic>
          <a:graphicData uri="http://schemas.openxmlformats.org/presentationml/2006/ole">
            <mc:AlternateContent xmlns:mc="http://schemas.openxmlformats.org/markup-compatibility/2006">
              <mc:Choice xmlns:v="urn:schemas-microsoft-com:vml" Requires="v">
                <p:oleObj name="Equation" r:id="rId4" imgW="622030" imgH="393529" progId="Equation.DSMT4">
                  <p:embed/>
                </p:oleObj>
              </mc:Choice>
              <mc:Fallback>
                <p:oleObj name="Equation" r:id="rId4" imgW="622030" imgH="393529"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3776" y="2676527"/>
                        <a:ext cx="1708150" cy="1079500"/>
                      </a:xfrm>
                      <a:prstGeom prst="rect">
                        <a:avLst/>
                      </a:prstGeom>
                      <a:solidFill>
                        <a:srgbClr val="FFFF00"/>
                      </a:solidFill>
                      <a:ln w="9525">
                        <a:solidFill>
                          <a:schemeClr val="bg2"/>
                        </a:solidFill>
                        <a:miter lim="800000"/>
                        <a:headEnd/>
                        <a:tailEnd/>
                      </a:ln>
                    </p:spPr>
                  </p:pic>
                </p:oleObj>
              </mc:Fallback>
            </mc:AlternateContent>
          </a:graphicData>
        </a:graphic>
      </p:graphicFrame>
      <p:sp>
        <p:nvSpPr>
          <p:cNvPr id="8" name="TextBox 7"/>
          <p:cNvSpPr txBox="1">
            <a:spLocks noChangeArrowheads="1"/>
          </p:cNvSpPr>
          <p:nvPr/>
        </p:nvSpPr>
        <p:spPr bwMode="auto">
          <a:xfrm>
            <a:off x="3468233" y="2771076"/>
            <a:ext cx="34559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800" dirty="0"/>
              <a:t>e = Oswald efficiency factor</a:t>
            </a:r>
          </a:p>
          <a:p>
            <a:pPr algn="ctr" eaLnBrk="1" fontAlgn="ctr" hangingPunct="1">
              <a:lnSpc>
                <a:spcPct val="100000"/>
              </a:lnSpc>
              <a:buClrTx/>
              <a:buFontTx/>
              <a:buNone/>
            </a:pPr>
            <a:endParaRPr lang="en-GB" altLang="en-US" sz="1800" dirty="0"/>
          </a:p>
          <a:p>
            <a:pPr algn="ctr" eaLnBrk="1" fontAlgn="ctr" hangingPunct="1">
              <a:lnSpc>
                <a:spcPct val="100000"/>
              </a:lnSpc>
              <a:buClrTx/>
              <a:buFontTx/>
              <a:buNone/>
            </a:pPr>
            <a:r>
              <a:rPr lang="en-GB" altLang="en-US" sz="1800" dirty="0"/>
              <a:t>A = Aspect Ratio</a:t>
            </a:r>
            <a:endParaRPr lang="nl-NL" altLang="en-US" sz="1800" dirty="0"/>
          </a:p>
        </p:txBody>
      </p:sp>
      <p:sp>
        <p:nvSpPr>
          <p:cNvPr id="9" name="TextBox 8"/>
          <p:cNvSpPr txBox="1">
            <a:spLocks noChangeArrowheads="1"/>
          </p:cNvSpPr>
          <p:nvPr/>
        </p:nvSpPr>
        <p:spPr bwMode="auto">
          <a:xfrm>
            <a:off x="513617" y="3976478"/>
            <a:ext cx="11305256" cy="147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just" eaLnBrk="1" fontAlgn="ctr" hangingPunct="1">
              <a:lnSpc>
                <a:spcPct val="120000"/>
              </a:lnSpc>
              <a:buClrTx/>
              <a:buFontTx/>
              <a:buNone/>
            </a:pPr>
            <a:r>
              <a:rPr lang="en-GB" altLang="en-US" sz="1600" dirty="0"/>
              <a:t>From classical theory the induced drag of a wing with elliptical lift distribution is equal to      , however few wings have an elliptical lift distribution. Also the separation drag is not counted in this formula. The extra drag due to </a:t>
            </a:r>
            <a:r>
              <a:rPr lang="en-GB" altLang="en-US" sz="1600" dirty="0" err="1"/>
              <a:t>nonelliptical</a:t>
            </a:r>
            <a:r>
              <a:rPr lang="en-GB" altLang="en-US" sz="1600" dirty="0"/>
              <a:t> lift and separation can be accounted for using </a:t>
            </a:r>
            <a:r>
              <a:rPr lang="en-GB" altLang="en-US" sz="1600" b="1" i="1" dirty="0"/>
              <a:t>e</a:t>
            </a:r>
            <a:r>
              <a:rPr lang="en-GB" altLang="en-US" sz="1600" dirty="0"/>
              <a:t>.</a:t>
            </a:r>
          </a:p>
          <a:p>
            <a:pPr algn="just" eaLnBrk="1" fontAlgn="ctr" hangingPunct="1">
              <a:lnSpc>
                <a:spcPct val="100000"/>
              </a:lnSpc>
              <a:buClrTx/>
              <a:buFontTx/>
              <a:buNone/>
            </a:pPr>
            <a:endParaRPr lang="en-GB" altLang="en-US" sz="1600" dirty="0"/>
          </a:p>
          <a:p>
            <a:pPr algn="just" eaLnBrk="1" fontAlgn="ctr" hangingPunct="1">
              <a:lnSpc>
                <a:spcPct val="100000"/>
              </a:lnSpc>
              <a:buClrTx/>
              <a:buFontTx/>
              <a:buNone/>
            </a:pPr>
            <a:endParaRPr lang="nl-NL" altLang="en-US" sz="1600" dirty="0"/>
          </a:p>
        </p:txBody>
      </p:sp>
      <p:graphicFrame>
        <p:nvGraphicFramePr>
          <p:cNvPr id="11" name="Object 10"/>
          <p:cNvGraphicFramePr>
            <a:graphicFrameLocks noChangeAspect="1"/>
          </p:cNvGraphicFramePr>
          <p:nvPr>
            <p:extLst>
              <p:ext uri="{D42A27DB-BD31-4B8C-83A1-F6EECF244321}">
                <p14:modId xmlns:p14="http://schemas.microsoft.com/office/powerpoint/2010/main" val="572810380"/>
              </p:ext>
            </p:extLst>
          </p:nvPr>
        </p:nvGraphicFramePr>
        <p:xfrm>
          <a:off x="8688288" y="3773750"/>
          <a:ext cx="358775" cy="517525"/>
        </p:xfrm>
        <a:graphic>
          <a:graphicData uri="http://schemas.openxmlformats.org/presentationml/2006/ole">
            <mc:AlternateContent xmlns:mc="http://schemas.openxmlformats.org/markup-compatibility/2006">
              <mc:Choice xmlns:v="urn:schemas-microsoft-com:vml" Requires="v">
                <p:oleObj name="Equation" r:id="rId6" imgW="291973" imgH="418918" progId="Equation.DSMT4">
                  <p:embed/>
                </p:oleObj>
              </mc:Choice>
              <mc:Fallback>
                <p:oleObj name="Equation" r:id="rId6" imgW="291973" imgH="418918"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88288" y="3773750"/>
                        <a:ext cx="3587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TextBox 11"/>
          <p:cNvSpPr txBox="1">
            <a:spLocks noChangeArrowheads="1"/>
          </p:cNvSpPr>
          <p:nvPr/>
        </p:nvSpPr>
        <p:spPr bwMode="auto">
          <a:xfrm>
            <a:off x="1107771" y="5202555"/>
            <a:ext cx="997487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dirty="0">
                <a:solidFill>
                  <a:schemeClr val="bg2"/>
                </a:solidFill>
              </a:rPr>
              <a:t>Drag estimation includes two parts: estimating the zero lift drag, and estimating the Oswald efficiency factor</a:t>
            </a:r>
            <a:endParaRPr lang="nl-NL" altLang="en-US" sz="1600" dirty="0">
              <a:solidFill>
                <a:schemeClr val="bg2"/>
              </a:solidFill>
            </a:endParaRPr>
          </a:p>
        </p:txBody>
      </p:sp>
      <p:sp>
        <p:nvSpPr>
          <p:cNvPr id="13" name="TextBox 12"/>
          <p:cNvSpPr txBox="1">
            <a:spLocks noChangeArrowheads="1"/>
          </p:cNvSpPr>
          <p:nvPr/>
        </p:nvSpPr>
        <p:spPr bwMode="auto">
          <a:xfrm>
            <a:off x="1990726" y="5683250"/>
            <a:ext cx="82089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dirty="0">
                <a:solidFill>
                  <a:srgbClr val="FF0000"/>
                </a:solidFill>
              </a:rPr>
              <a:t>To properly estimate the drag, we need consider the whole aircraft!</a:t>
            </a:r>
            <a:endParaRPr lang="nl-NL" altLang="en-US" sz="16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p:bldP spid="9" grpId="0"/>
      <p:bldP spid="12" grpId="0"/>
      <p:bldP spid="1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ChangeArrowheads="1"/>
          </p:cNvSpPr>
          <p:nvPr/>
        </p:nvSpPr>
        <p:spPr bwMode="auto">
          <a:xfrm>
            <a:off x="0" y="28575"/>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en-US" sz="2200"/>
          </a:p>
        </p:txBody>
      </p:sp>
      <p:sp>
        <p:nvSpPr>
          <p:cNvPr id="5123" name="Rectangle 4"/>
          <p:cNvSpPr>
            <a:spLocks noChangeArrowheads="1"/>
          </p:cNvSpPr>
          <p:nvPr/>
        </p:nvSpPr>
        <p:spPr bwMode="auto">
          <a:xfrm>
            <a:off x="407368" y="1099496"/>
            <a:ext cx="1072919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defRPr/>
            </a:pPr>
            <a:r>
              <a:rPr lang="en-US" sz="3200" b="1" dirty="0">
                <a:solidFill>
                  <a:schemeClr val="bg1"/>
                </a:solidFill>
                <a:latin typeface="Bookman Old Style" pitchFamily="18" charset="0"/>
              </a:rPr>
              <a:t>The Aircraft Drag polar curve:</a:t>
            </a:r>
          </a:p>
          <a:p>
            <a:pPr algn="l" fontAlgn="base">
              <a:defRPr/>
            </a:pPr>
            <a:endParaRPr lang="en-US" sz="3200" b="1" dirty="0">
              <a:solidFill>
                <a:schemeClr val="bg1"/>
              </a:solidFill>
              <a:latin typeface="Bookman Old Style" pitchFamily="18" charset="0"/>
            </a:endParaRPr>
          </a:p>
          <a:p>
            <a:pPr algn="l" fontAlgn="base">
              <a:defRPr/>
            </a:pPr>
            <a:r>
              <a:rPr lang="en-US" sz="3200" b="1" dirty="0">
                <a:solidFill>
                  <a:schemeClr val="bg1"/>
                </a:solidFill>
                <a:latin typeface="Bookman Old Style" pitchFamily="18" charset="0"/>
              </a:rPr>
              <a:t>	 2.2: Z</a:t>
            </a:r>
            <a:r>
              <a:rPr lang="en-US" sz="3200" b="1" dirty="0">
                <a:solidFill>
                  <a:schemeClr val="bg1"/>
                </a:solidFill>
                <a:latin typeface="+mj-lt"/>
              </a:rPr>
              <a:t>ero lift drag estimation method</a:t>
            </a:r>
            <a:r>
              <a:rPr lang="en-US" sz="3200" b="1" u="sng" dirty="0">
                <a:solidFill>
                  <a:schemeClr val="bg1"/>
                </a:solidFill>
                <a:latin typeface="+mj-lt"/>
              </a:rPr>
              <a:t>s</a:t>
            </a:r>
          </a:p>
        </p:txBody>
      </p:sp>
      <p:sp>
        <p:nvSpPr>
          <p:cNvPr id="39940" name="AutoShape 6"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5862638" y="-8953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endParaRPr lang="nl-NL" altLang="en-US" sz="1600"/>
          </a:p>
        </p:txBody>
      </p:sp>
      <p:sp>
        <p:nvSpPr>
          <p:cNvPr id="39941" name="AutoShape 8"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6015038" y="-7429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endParaRPr lang="nl-NL" altLang="en-US" sz="1600"/>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911424" y="288376"/>
            <a:ext cx="7659688"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Zero lift drag: methods</a:t>
            </a:r>
            <a:endParaRPr lang="nl-NL" kern="0" dirty="0">
              <a:solidFill>
                <a:schemeClr val="bg2"/>
              </a:solidFill>
            </a:endParaRPr>
          </a:p>
        </p:txBody>
      </p:sp>
      <p:sp>
        <p:nvSpPr>
          <p:cNvPr id="3" name="Content Placeholder 2"/>
          <p:cNvSpPr txBox="1">
            <a:spLocks/>
          </p:cNvSpPr>
          <p:nvPr/>
        </p:nvSpPr>
        <p:spPr>
          <a:xfrm>
            <a:off x="767408" y="1401764"/>
            <a:ext cx="10873208" cy="4084637"/>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600" kern="0" dirty="0"/>
              <a:t>Very fast methods usually used on early conceptual design stages (statistical regression based on similar aircraft)</a:t>
            </a:r>
          </a:p>
          <a:p>
            <a:pPr>
              <a:defRPr/>
            </a:pPr>
            <a:endParaRPr lang="en-GB" sz="1600" kern="0" dirty="0"/>
          </a:p>
          <a:p>
            <a:pPr>
              <a:defRPr/>
            </a:pPr>
            <a:r>
              <a:rPr lang="en-GB" sz="1600" kern="0" dirty="0"/>
              <a:t>A fast method to estimate CD0 for each aircraft component.</a:t>
            </a:r>
          </a:p>
          <a:p>
            <a:pPr marL="0" indent="0">
              <a:buNone/>
              <a:defRPr/>
            </a:pPr>
            <a:endParaRPr lang="en-GB" sz="1600" kern="0" dirty="0"/>
          </a:p>
          <a:p>
            <a:pPr>
              <a:defRPr/>
            </a:pPr>
            <a:r>
              <a:rPr lang="en-GB" sz="1600" kern="0" dirty="0"/>
              <a:t>The component build-up method where CD0 is estimated in a more accurate way considering also some flow properties.</a:t>
            </a:r>
          </a:p>
          <a:p>
            <a:pPr>
              <a:defRPr/>
            </a:pPr>
            <a:endParaRPr lang="en-GB" sz="1600" kern="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767408" y="220808"/>
            <a:ext cx="8640960"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1-Very fast estimation of zero lift drag</a:t>
            </a:r>
            <a:endParaRPr lang="nl-NL" kern="0" dirty="0">
              <a:solidFill>
                <a:schemeClr val="bg2"/>
              </a:solidFill>
            </a:endParaRPr>
          </a:p>
        </p:txBody>
      </p:sp>
      <p:sp>
        <p:nvSpPr>
          <p:cNvPr id="3" name="Content Placeholder 2"/>
          <p:cNvSpPr txBox="1">
            <a:spLocks/>
          </p:cNvSpPr>
          <p:nvPr/>
        </p:nvSpPr>
        <p:spPr>
          <a:xfrm>
            <a:off x="911424" y="1173956"/>
            <a:ext cx="6480720" cy="4084637"/>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600" kern="0" dirty="0"/>
              <a:t>Useful for </a:t>
            </a:r>
            <a:r>
              <a:rPr lang="en-GB" sz="1600" u="sng" kern="0" dirty="0"/>
              <a:t>early conceptual design phase</a:t>
            </a:r>
            <a:r>
              <a:rPr lang="en-GB" sz="1600" kern="0" dirty="0"/>
              <a:t>, where aircraft layout is not yet available.</a:t>
            </a:r>
          </a:p>
          <a:p>
            <a:pPr>
              <a:defRPr/>
            </a:pPr>
            <a:endParaRPr lang="en-GB" sz="1600" kern="0" dirty="0"/>
          </a:p>
          <a:p>
            <a:pPr>
              <a:defRPr/>
            </a:pPr>
            <a:r>
              <a:rPr lang="en-GB" sz="1600" kern="0" dirty="0"/>
              <a:t>The fastest method for CD0 estimation of </a:t>
            </a:r>
            <a:r>
              <a:rPr lang="en-GB" sz="1600" b="1" kern="0" dirty="0"/>
              <a:t>CLEAN</a:t>
            </a:r>
            <a:r>
              <a:rPr lang="en-GB" sz="1600" kern="0" dirty="0"/>
              <a:t> aircraft configuration is as follows:</a:t>
            </a:r>
          </a:p>
          <a:p>
            <a:pPr>
              <a:defRPr/>
            </a:pPr>
            <a:endParaRPr lang="en-GB" sz="1600" kern="0" dirty="0"/>
          </a:p>
          <a:p>
            <a:pPr>
              <a:defRPr/>
            </a:pPr>
            <a:endParaRPr lang="en-GB" sz="1600" kern="0" dirty="0"/>
          </a:p>
          <a:p>
            <a:pPr>
              <a:defRPr/>
            </a:pPr>
            <a:endParaRPr lang="en-GB" sz="1600" kern="0" dirty="0"/>
          </a:p>
          <a:p>
            <a:pPr>
              <a:defRPr/>
            </a:pPr>
            <a:endParaRPr lang="en-GB" sz="1600" kern="0" dirty="0"/>
          </a:p>
          <a:p>
            <a:pPr>
              <a:defRPr/>
            </a:pPr>
            <a:r>
              <a:rPr lang="en-GB" sz="1600" kern="0" dirty="0" err="1"/>
              <a:t>Cfe</a:t>
            </a:r>
            <a:r>
              <a:rPr lang="en-GB" sz="1600" kern="0" dirty="0"/>
              <a:t>  is equivalent skin friction coefficient, </a:t>
            </a:r>
            <a:r>
              <a:rPr lang="en-GB" sz="1600" kern="0" dirty="0" err="1"/>
              <a:t>Swet</a:t>
            </a:r>
            <a:r>
              <a:rPr lang="en-GB" sz="1600" kern="0" dirty="0"/>
              <a:t> is the aircraft wetted area and </a:t>
            </a:r>
            <a:r>
              <a:rPr lang="en-GB" sz="1600" kern="0" dirty="0" err="1"/>
              <a:t>Sref</a:t>
            </a:r>
            <a:r>
              <a:rPr lang="en-GB" sz="1600" kern="0" dirty="0"/>
              <a:t> is the wing reference area.</a:t>
            </a:r>
          </a:p>
          <a:p>
            <a:pPr>
              <a:defRPr/>
            </a:pPr>
            <a:endParaRPr lang="en-GB" sz="1600" kern="0" dirty="0"/>
          </a:p>
        </p:txBody>
      </p:sp>
      <p:graphicFrame>
        <p:nvGraphicFramePr>
          <p:cNvPr id="40964" name="Object 3"/>
          <p:cNvGraphicFramePr>
            <a:graphicFrameLocks noChangeAspect="1"/>
          </p:cNvGraphicFramePr>
          <p:nvPr>
            <p:extLst>
              <p:ext uri="{D42A27DB-BD31-4B8C-83A1-F6EECF244321}">
                <p14:modId xmlns:p14="http://schemas.microsoft.com/office/powerpoint/2010/main" val="122042698"/>
              </p:ext>
            </p:extLst>
          </p:nvPr>
        </p:nvGraphicFramePr>
        <p:xfrm>
          <a:off x="3791744" y="2749549"/>
          <a:ext cx="1870075" cy="933450"/>
        </p:xfrm>
        <a:graphic>
          <a:graphicData uri="http://schemas.openxmlformats.org/presentationml/2006/ole">
            <mc:AlternateContent xmlns:mc="http://schemas.openxmlformats.org/markup-compatibility/2006">
              <mc:Choice xmlns:v="urn:schemas-microsoft-com:vml" Requires="v">
                <p:oleObj name="Equation" r:id="rId3" imgW="888614" imgH="444307" progId="Equation.DSMT4">
                  <p:embed/>
                </p:oleObj>
              </mc:Choice>
              <mc:Fallback>
                <p:oleObj name="Equation" r:id="rId3" imgW="888614" imgH="444307" progId="Equation.DSMT4">
                  <p:embed/>
                  <p:pic>
                    <p:nvPicPr>
                      <p:cNvPr id="4096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1744" y="2749549"/>
                        <a:ext cx="1870075"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844667775"/>
              </p:ext>
            </p:extLst>
          </p:nvPr>
        </p:nvGraphicFramePr>
        <p:xfrm>
          <a:off x="9192344" y="981221"/>
          <a:ext cx="2430462" cy="4053180"/>
        </p:xfrm>
        <a:graphic>
          <a:graphicData uri="http://schemas.openxmlformats.org/drawingml/2006/table">
            <a:tbl>
              <a:tblPr firstRow="1" bandRow="1">
                <a:tableStyleId>{5C22544A-7EE6-4342-B048-85BDC9FD1C3A}</a:tableStyleId>
              </a:tblPr>
              <a:tblGrid>
                <a:gridCol w="1584289">
                  <a:extLst>
                    <a:ext uri="{9D8B030D-6E8A-4147-A177-3AD203B41FA5}">
                      <a16:colId xmlns:a16="http://schemas.microsoft.com/office/drawing/2014/main" val="20000"/>
                    </a:ext>
                  </a:extLst>
                </a:gridCol>
                <a:gridCol w="846173">
                  <a:extLst>
                    <a:ext uri="{9D8B030D-6E8A-4147-A177-3AD203B41FA5}">
                      <a16:colId xmlns:a16="http://schemas.microsoft.com/office/drawing/2014/main" val="20001"/>
                    </a:ext>
                  </a:extLst>
                </a:gridCol>
              </a:tblGrid>
              <a:tr h="365674">
                <a:tc>
                  <a:txBody>
                    <a:bodyPr/>
                    <a:lstStyle/>
                    <a:p>
                      <a:r>
                        <a:rPr lang="en-GB" sz="1800" b="0" dirty="0">
                          <a:solidFill>
                            <a:schemeClr val="tx1"/>
                          </a:solidFill>
                        </a:rPr>
                        <a:t>Aircraft</a:t>
                      </a:r>
                      <a:endParaRPr lang="nl-NL" sz="1800" b="0" dirty="0">
                        <a:solidFill>
                          <a:schemeClr val="tx1"/>
                        </a:solidFill>
                      </a:endParaRPr>
                    </a:p>
                  </a:txBody>
                  <a:tcPr marL="91447" marR="91447" marT="45690" marB="45690"/>
                </a:tc>
                <a:tc>
                  <a:txBody>
                    <a:bodyPr/>
                    <a:lstStyle/>
                    <a:p>
                      <a:r>
                        <a:rPr lang="en-GB" sz="1800" b="0" dirty="0" err="1">
                          <a:solidFill>
                            <a:schemeClr val="tx1"/>
                          </a:solidFill>
                        </a:rPr>
                        <a:t>Cfe</a:t>
                      </a:r>
                      <a:endParaRPr lang="nl-NL" sz="1800" b="0" dirty="0">
                        <a:solidFill>
                          <a:schemeClr val="tx1"/>
                        </a:solidFill>
                      </a:endParaRPr>
                    </a:p>
                  </a:txBody>
                  <a:tcPr marL="91447" marR="91447" marT="45690" marB="45690"/>
                </a:tc>
                <a:extLst>
                  <a:ext uri="{0D108BD9-81ED-4DB2-BD59-A6C34878D82A}">
                    <a16:rowId xmlns:a16="http://schemas.microsoft.com/office/drawing/2014/main" val="10000"/>
                  </a:ext>
                </a:extLst>
              </a:tr>
              <a:tr h="304720">
                <a:tc>
                  <a:txBody>
                    <a:bodyPr/>
                    <a:lstStyle/>
                    <a:p>
                      <a:r>
                        <a:rPr lang="en-GB" sz="1400" dirty="0"/>
                        <a:t>Bomber</a:t>
                      </a:r>
                      <a:endParaRPr lang="nl-NL" sz="1400" dirty="0"/>
                    </a:p>
                  </a:txBody>
                  <a:tcPr marL="91447" marR="91447" marT="45690" marB="45690"/>
                </a:tc>
                <a:tc>
                  <a:txBody>
                    <a:bodyPr/>
                    <a:lstStyle/>
                    <a:p>
                      <a:r>
                        <a:rPr lang="en-GB" sz="1400" dirty="0"/>
                        <a:t>0.0030</a:t>
                      </a:r>
                      <a:endParaRPr lang="nl-NL" sz="1400" dirty="0"/>
                    </a:p>
                  </a:txBody>
                  <a:tcPr marL="91447" marR="91447" marT="45690" marB="45690"/>
                </a:tc>
                <a:extLst>
                  <a:ext uri="{0D108BD9-81ED-4DB2-BD59-A6C34878D82A}">
                    <a16:rowId xmlns:a16="http://schemas.microsoft.com/office/drawing/2014/main" val="10001"/>
                  </a:ext>
                </a:extLst>
              </a:tr>
              <a:tr h="304720">
                <a:tc>
                  <a:txBody>
                    <a:bodyPr/>
                    <a:lstStyle/>
                    <a:p>
                      <a:r>
                        <a:rPr lang="en-GB" sz="1400" dirty="0"/>
                        <a:t>Civil transport</a:t>
                      </a:r>
                      <a:endParaRPr lang="nl-NL" sz="1400" dirty="0"/>
                    </a:p>
                  </a:txBody>
                  <a:tcPr marL="91447" marR="91447" marT="45690" marB="45690"/>
                </a:tc>
                <a:tc>
                  <a:txBody>
                    <a:bodyPr/>
                    <a:lstStyle/>
                    <a:p>
                      <a:r>
                        <a:rPr lang="en-GB" sz="1400" dirty="0"/>
                        <a:t>0.0026</a:t>
                      </a:r>
                      <a:endParaRPr lang="nl-NL" sz="1400" dirty="0"/>
                    </a:p>
                  </a:txBody>
                  <a:tcPr marL="91447" marR="91447" marT="45690" marB="45690"/>
                </a:tc>
                <a:extLst>
                  <a:ext uri="{0D108BD9-81ED-4DB2-BD59-A6C34878D82A}">
                    <a16:rowId xmlns:a16="http://schemas.microsoft.com/office/drawing/2014/main" val="10002"/>
                  </a:ext>
                </a:extLst>
              </a:tr>
              <a:tr h="304720">
                <a:tc>
                  <a:txBody>
                    <a:bodyPr/>
                    <a:lstStyle/>
                    <a:p>
                      <a:r>
                        <a:rPr lang="en-GB" sz="1400" dirty="0"/>
                        <a:t>Military cargo</a:t>
                      </a:r>
                      <a:endParaRPr lang="nl-NL" sz="1400" dirty="0"/>
                    </a:p>
                  </a:txBody>
                  <a:tcPr marL="91447" marR="91447" marT="45690" marB="45690"/>
                </a:tc>
                <a:tc>
                  <a:txBody>
                    <a:bodyPr/>
                    <a:lstStyle/>
                    <a:p>
                      <a:r>
                        <a:rPr lang="en-GB" sz="1400" dirty="0"/>
                        <a:t>0.0035</a:t>
                      </a:r>
                      <a:endParaRPr lang="nl-NL" sz="1400" dirty="0"/>
                    </a:p>
                  </a:txBody>
                  <a:tcPr marL="91447" marR="91447" marT="45690" marB="45690"/>
                </a:tc>
                <a:extLst>
                  <a:ext uri="{0D108BD9-81ED-4DB2-BD59-A6C34878D82A}">
                    <a16:rowId xmlns:a16="http://schemas.microsoft.com/office/drawing/2014/main" val="10003"/>
                  </a:ext>
                </a:extLst>
              </a:tr>
              <a:tr h="304720">
                <a:tc>
                  <a:txBody>
                    <a:bodyPr/>
                    <a:lstStyle/>
                    <a:p>
                      <a:r>
                        <a:rPr lang="en-GB" sz="1400" dirty="0"/>
                        <a:t>Air force fighter</a:t>
                      </a:r>
                      <a:endParaRPr lang="nl-NL" sz="1400" dirty="0"/>
                    </a:p>
                  </a:txBody>
                  <a:tcPr marL="91447" marR="91447" marT="45690" marB="45690"/>
                </a:tc>
                <a:tc>
                  <a:txBody>
                    <a:bodyPr/>
                    <a:lstStyle/>
                    <a:p>
                      <a:r>
                        <a:rPr lang="en-GB" sz="1400" dirty="0"/>
                        <a:t>0.0035</a:t>
                      </a:r>
                      <a:endParaRPr lang="nl-NL" sz="1400" dirty="0"/>
                    </a:p>
                  </a:txBody>
                  <a:tcPr marL="91447" marR="91447" marT="45690" marB="45690"/>
                </a:tc>
                <a:extLst>
                  <a:ext uri="{0D108BD9-81ED-4DB2-BD59-A6C34878D82A}">
                    <a16:rowId xmlns:a16="http://schemas.microsoft.com/office/drawing/2014/main" val="10004"/>
                  </a:ext>
                </a:extLst>
              </a:tr>
              <a:tr h="304720">
                <a:tc>
                  <a:txBody>
                    <a:bodyPr/>
                    <a:lstStyle/>
                    <a:p>
                      <a:r>
                        <a:rPr lang="en-GB" sz="1400" dirty="0"/>
                        <a:t>Navy fighter</a:t>
                      </a:r>
                      <a:endParaRPr lang="nl-NL" sz="1400" dirty="0"/>
                    </a:p>
                  </a:txBody>
                  <a:tcPr marL="91447" marR="91447" marT="45690" marB="45690"/>
                </a:tc>
                <a:tc>
                  <a:txBody>
                    <a:bodyPr/>
                    <a:lstStyle/>
                    <a:p>
                      <a:r>
                        <a:rPr lang="en-GB" sz="1400" dirty="0"/>
                        <a:t>0.0040</a:t>
                      </a:r>
                      <a:endParaRPr lang="nl-NL" sz="1400" dirty="0"/>
                    </a:p>
                  </a:txBody>
                  <a:tcPr marL="91447" marR="91447" marT="45690" marB="45690"/>
                </a:tc>
                <a:extLst>
                  <a:ext uri="{0D108BD9-81ED-4DB2-BD59-A6C34878D82A}">
                    <a16:rowId xmlns:a16="http://schemas.microsoft.com/office/drawing/2014/main" val="10005"/>
                  </a:ext>
                </a:extLst>
              </a:tr>
              <a:tr h="518059">
                <a:tc>
                  <a:txBody>
                    <a:bodyPr/>
                    <a:lstStyle/>
                    <a:p>
                      <a:r>
                        <a:rPr lang="en-GB" sz="1400" dirty="0"/>
                        <a:t>Clean supersonic cruise aircraft</a:t>
                      </a:r>
                      <a:endParaRPr lang="nl-NL" sz="1400" dirty="0"/>
                    </a:p>
                  </a:txBody>
                  <a:tcPr marL="91447" marR="91447" marT="45690" marB="45690"/>
                </a:tc>
                <a:tc>
                  <a:txBody>
                    <a:bodyPr/>
                    <a:lstStyle/>
                    <a:p>
                      <a:r>
                        <a:rPr lang="en-GB" sz="1400" dirty="0"/>
                        <a:t>0.0025</a:t>
                      </a:r>
                      <a:endParaRPr lang="nl-NL" sz="1400" dirty="0"/>
                    </a:p>
                  </a:txBody>
                  <a:tcPr marL="91447" marR="91447" marT="45690" marB="45690"/>
                </a:tc>
                <a:extLst>
                  <a:ext uri="{0D108BD9-81ED-4DB2-BD59-A6C34878D82A}">
                    <a16:rowId xmlns:a16="http://schemas.microsoft.com/office/drawing/2014/main" val="10006"/>
                  </a:ext>
                </a:extLst>
              </a:tr>
              <a:tr h="518059">
                <a:tc>
                  <a:txBody>
                    <a:bodyPr/>
                    <a:lstStyle/>
                    <a:p>
                      <a:r>
                        <a:rPr lang="en-GB" sz="1400" dirty="0"/>
                        <a:t>Light aircraft – single engine</a:t>
                      </a:r>
                      <a:endParaRPr lang="nl-NL" sz="1400" dirty="0"/>
                    </a:p>
                  </a:txBody>
                  <a:tcPr marL="91447" marR="91447" marT="45690" marB="45690"/>
                </a:tc>
                <a:tc>
                  <a:txBody>
                    <a:bodyPr/>
                    <a:lstStyle/>
                    <a:p>
                      <a:r>
                        <a:rPr lang="en-GB" sz="1400" dirty="0"/>
                        <a:t>0.0055</a:t>
                      </a:r>
                      <a:endParaRPr lang="nl-NL" sz="1400" dirty="0"/>
                    </a:p>
                  </a:txBody>
                  <a:tcPr marL="91447" marR="91447" marT="45690" marB="45690"/>
                </a:tc>
                <a:extLst>
                  <a:ext uri="{0D108BD9-81ED-4DB2-BD59-A6C34878D82A}">
                    <a16:rowId xmlns:a16="http://schemas.microsoft.com/office/drawing/2014/main" val="10007"/>
                  </a:ext>
                </a:extLst>
              </a:tr>
              <a:tr h="518059">
                <a:tc>
                  <a:txBody>
                    <a:bodyPr/>
                    <a:lstStyle/>
                    <a:p>
                      <a:r>
                        <a:rPr lang="en-GB" sz="1400" dirty="0"/>
                        <a:t>Light aircraft – twin</a:t>
                      </a:r>
                      <a:r>
                        <a:rPr lang="en-GB" sz="1400" baseline="0" dirty="0"/>
                        <a:t> engine</a:t>
                      </a:r>
                      <a:endParaRPr lang="nl-NL" sz="1400" dirty="0"/>
                    </a:p>
                  </a:txBody>
                  <a:tcPr marL="91447" marR="91447" marT="45690" marB="45690"/>
                </a:tc>
                <a:tc>
                  <a:txBody>
                    <a:bodyPr/>
                    <a:lstStyle/>
                    <a:p>
                      <a:r>
                        <a:rPr lang="en-GB" sz="1400" dirty="0"/>
                        <a:t>0.0045</a:t>
                      </a:r>
                      <a:endParaRPr lang="nl-NL" sz="1400" dirty="0"/>
                    </a:p>
                  </a:txBody>
                  <a:tcPr marL="91447" marR="91447" marT="45690" marB="45690"/>
                </a:tc>
                <a:extLst>
                  <a:ext uri="{0D108BD9-81ED-4DB2-BD59-A6C34878D82A}">
                    <a16:rowId xmlns:a16="http://schemas.microsoft.com/office/drawing/2014/main" val="10008"/>
                  </a:ext>
                </a:extLst>
              </a:tr>
              <a:tr h="304720">
                <a:tc>
                  <a:txBody>
                    <a:bodyPr/>
                    <a:lstStyle/>
                    <a:p>
                      <a:r>
                        <a:rPr lang="en-GB" sz="1400" dirty="0"/>
                        <a:t>Prop seaplane</a:t>
                      </a:r>
                      <a:endParaRPr lang="nl-NL" sz="1400" dirty="0"/>
                    </a:p>
                  </a:txBody>
                  <a:tcPr marL="91447" marR="91447" marT="45690" marB="45690"/>
                </a:tc>
                <a:tc>
                  <a:txBody>
                    <a:bodyPr/>
                    <a:lstStyle/>
                    <a:p>
                      <a:r>
                        <a:rPr lang="en-GB" sz="1400" dirty="0"/>
                        <a:t>0.0065</a:t>
                      </a:r>
                      <a:endParaRPr lang="nl-NL" sz="1400" dirty="0"/>
                    </a:p>
                  </a:txBody>
                  <a:tcPr marL="91447" marR="91447" marT="45690" marB="45690"/>
                </a:tc>
                <a:extLst>
                  <a:ext uri="{0D108BD9-81ED-4DB2-BD59-A6C34878D82A}">
                    <a16:rowId xmlns:a16="http://schemas.microsoft.com/office/drawing/2014/main" val="10009"/>
                  </a:ext>
                </a:extLst>
              </a:tr>
              <a:tr h="304720">
                <a:tc>
                  <a:txBody>
                    <a:bodyPr/>
                    <a:lstStyle/>
                    <a:p>
                      <a:r>
                        <a:rPr lang="en-GB" sz="1400" dirty="0"/>
                        <a:t>Jet seaplane</a:t>
                      </a:r>
                      <a:endParaRPr lang="nl-NL" sz="1400" dirty="0"/>
                    </a:p>
                  </a:txBody>
                  <a:tcPr marL="91447" marR="91447" marT="45690" marB="45690"/>
                </a:tc>
                <a:tc>
                  <a:txBody>
                    <a:bodyPr/>
                    <a:lstStyle/>
                    <a:p>
                      <a:r>
                        <a:rPr lang="en-GB" sz="1400" dirty="0"/>
                        <a:t>0.0040</a:t>
                      </a:r>
                      <a:endParaRPr lang="nl-NL" sz="1400" dirty="0"/>
                    </a:p>
                  </a:txBody>
                  <a:tcPr marL="91447" marR="91447" marT="45690" marB="45690"/>
                </a:tc>
                <a:extLst>
                  <a:ext uri="{0D108BD9-81ED-4DB2-BD59-A6C34878D82A}">
                    <a16:rowId xmlns:a16="http://schemas.microsoft.com/office/drawing/2014/main" val="10010"/>
                  </a:ext>
                </a:extLst>
              </a:tr>
            </a:tbl>
          </a:graphicData>
        </a:graphic>
      </p:graphicFrame>
      <p:sp>
        <p:nvSpPr>
          <p:cNvPr id="41003" name="TextBox 6"/>
          <p:cNvSpPr txBox="1">
            <a:spLocks noChangeArrowheads="1"/>
          </p:cNvSpPr>
          <p:nvPr/>
        </p:nvSpPr>
        <p:spPr bwMode="auto">
          <a:xfrm>
            <a:off x="8688288" y="5120480"/>
            <a:ext cx="26654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200" dirty="0"/>
              <a:t>Table source: Raymer</a:t>
            </a:r>
            <a:endParaRPr lang="nl-NL" altLang="en-US" sz="1200" dirty="0"/>
          </a:p>
        </p:txBody>
      </p:sp>
    </p:spTree>
    <p:extLst>
      <p:ext uri="{BB962C8B-B14F-4D97-AF65-F5344CB8AC3E}">
        <p14:creationId xmlns:p14="http://schemas.microsoft.com/office/powerpoint/2010/main" val="37777033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6" name="Group 27"/>
          <p:cNvGrpSpPr>
            <a:grpSpLocks/>
          </p:cNvGrpSpPr>
          <p:nvPr/>
        </p:nvGrpSpPr>
        <p:grpSpPr bwMode="auto">
          <a:xfrm>
            <a:off x="3215680" y="982669"/>
            <a:ext cx="5915025" cy="4857750"/>
            <a:chOff x="1643042" y="785794"/>
            <a:chExt cx="5915025" cy="4857784"/>
          </a:xfrm>
        </p:grpSpPr>
        <p:pic>
          <p:nvPicPr>
            <p:cNvPr id="41989" name="Picture 2"/>
            <p:cNvPicPr>
              <a:picLocks noChangeAspect="1" noChangeArrowheads="1"/>
            </p:cNvPicPr>
            <p:nvPr/>
          </p:nvPicPr>
          <p:blipFill>
            <a:blip r:embed="rId2">
              <a:extLst>
                <a:ext uri="{28A0092B-C50C-407E-A947-70E740481C1C}">
                  <a14:useLocalDpi xmlns:a14="http://schemas.microsoft.com/office/drawing/2010/main" val="0"/>
                </a:ext>
              </a:extLst>
            </a:blip>
            <a:srcRect b="7440"/>
            <a:stretch>
              <a:fillRect/>
            </a:stretch>
          </p:blipFill>
          <p:spPr bwMode="auto">
            <a:xfrm>
              <a:off x="1643042" y="785794"/>
              <a:ext cx="5915025" cy="4857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41990" name="Rectangle 6"/>
            <p:cNvSpPr>
              <a:spLocks noChangeArrowheads="1"/>
            </p:cNvSpPr>
            <p:nvPr/>
          </p:nvSpPr>
          <p:spPr bwMode="auto">
            <a:xfrm>
              <a:off x="1643042" y="857232"/>
              <a:ext cx="979756"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b="1"/>
                <a:t>S</a:t>
              </a:r>
              <a:r>
                <a:rPr lang="nl-NL" altLang="en-US" b="1" baseline="-25000"/>
                <a:t>wet</a:t>
              </a:r>
              <a:r>
                <a:rPr lang="nl-NL" altLang="en-US" b="1"/>
                <a:t>/S</a:t>
              </a:r>
            </a:p>
          </p:txBody>
        </p:sp>
        <p:sp>
          <p:nvSpPr>
            <p:cNvPr id="41991" name="Rectangle 7"/>
            <p:cNvSpPr>
              <a:spLocks noChangeArrowheads="1"/>
            </p:cNvSpPr>
            <p:nvPr/>
          </p:nvSpPr>
          <p:spPr bwMode="auto">
            <a:xfrm>
              <a:off x="1785918" y="5072074"/>
              <a:ext cx="274434"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1100" b="1"/>
                <a:t>2</a:t>
              </a:r>
            </a:p>
          </p:txBody>
        </p:sp>
        <p:sp>
          <p:nvSpPr>
            <p:cNvPr id="41992" name="Rectangle 8"/>
            <p:cNvSpPr>
              <a:spLocks noChangeArrowheads="1"/>
            </p:cNvSpPr>
            <p:nvPr/>
          </p:nvSpPr>
          <p:spPr bwMode="auto">
            <a:xfrm>
              <a:off x="3143240" y="1928802"/>
              <a:ext cx="521297"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1100" b="1"/>
                <a:t>B-47</a:t>
              </a:r>
            </a:p>
          </p:txBody>
        </p:sp>
        <p:sp>
          <p:nvSpPr>
            <p:cNvPr id="41993" name="Rectangle 9"/>
            <p:cNvSpPr>
              <a:spLocks noChangeArrowheads="1"/>
            </p:cNvSpPr>
            <p:nvPr/>
          </p:nvSpPr>
          <p:spPr bwMode="auto">
            <a:xfrm>
              <a:off x="5249027" y="1714488"/>
              <a:ext cx="1024640"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1100" b="1"/>
                <a:t>Boeing  747</a:t>
              </a:r>
            </a:p>
          </p:txBody>
        </p:sp>
        <p:sp>
          <p:nvSpPr>
            <p:cNvPr id="41994" name="Rectangle 10"/>
            <p:cNvSpPr>
              <a:spLocks noChangeArrowheads="1"/>
            </p:cNvSpPr>
            <p:nvPr/>
          </p:nvSpPr>
          <p:spPr bwMode="auto">
            <a:xfrm>
              <a:off x="4178047" y="2643182"/>
              <a:ext cx="1241045"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1100" b="1"/>
                <a:t>Beech Duchess</a:t>
              </a:r>
            </a:p>
          </p:txBody>
        </p:sp>
        <p:sp>
          <p:nvSpPr>
            <p:cNvPr id="41995" name="Rectangle 12"/>
            <p:cNvSpPr>
              <a:spLocks noChangeArrowheads="1"/>
            </p:cNvSpPr>
            <p:nvPr/>
          </p:nvSpPr>
          <p:spPr bwMode="auto">
            <a:xfrm>
              <a:off x="4143372" y="2643182"/>
              <a:ext cx="1241045"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1100" b="1"/>
                <a:t>Beech Duchess</a:t>
              </a:r>
            </a:p>
          </p:txBody>
        </p:sp>
        <p:sp>
          <p:nvSpPr>
            <p:cNvPr id="41996" name="Rectangle 14"/>
            <p:cNvSpPr>
              <a:spLocks noChangeArrowheads="1"/>
            </p:cNvSpPr>
            <p:nvPr/>
          </p:nvSpPr>
          <p:spPr bwMode="auto">
            <a:xfrm>
              <a:off x="2904166" y="3634740"/>
              <a:ext cx="1071570" cy="2308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900" b="1"/>
                <a:t>Beech Starship</a:t>
              </a:r>
            </a:p>
          </p:txBody>
        </p:sp>
        <p:sp>
          <p:nvSpPr>
            <p:cNvPr id="41997" name="Rectangle 15"/>
            <p:cNvSpPr>
              <a:spLocks noChangeArrowheads="1"/>
            </p:cNvSpPr>
            <p:nvPr/>
          </p:nvSpPr>
          <p:spPr bwMode="auto">
            <a:xfrm>
              <a:off x="2564523" y="2714620"/>
              <a:ext cx="535724"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1100" b="1"/>
                <a:t>F104</a:t>
              </a:r>
            </a:p>
          </p:txBody>
        </p:sp>
        <p:sp>
          <p:nvSpPr>
            <p:cNvPr id="41998" name="Rectangle 17"/>
            <p:cNvSpPr>
              <a:spLocks noChangeArrowheads="1"/>
            </p:cNvSpPr>
            <p:nvPr/>
          </p:nvSpPr>
          <p:spPr bwMode="auto">
            <a:xfrm>
              <a:off x="5072066" y="4071942"/>
              <a:ext cx="535724"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1100" b="1"/>
                <a:t>F102</a:t>
              </a:r>
            </a:p>
          </p:txBody>
        </p:sp>
        <p:sp>
          <p:nvSpPr>
            <p:cNvPr id="41999" name="Rectangle 18"/>
            <p:cNvSpPr>
              <a:spLocks noChangeArrowheads="1"/>
            </p:cNvSpPr>
            <p:nvPr/>
          </p:nvSpPr>
          <p:spPr bwMode="auto">
            <a:xfrm>
              <a:off x="4590330" y="4143380"/>
              <a:ext cx="356187"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1100" b="1"/>
                <a:t>F4</a:t>
              </a:r>
            </a:p>
          </p:txBody>
        </p:sp>
        <p:sp>
          <p:nvSpPr>
            <p:cNvPr id="42000" name="Rectangle 19"/>
            <p:cNvSpPr>
              <a:spLocks noChangeArrowheads="1"/>
            </p:cNvSpPr>
            <p:nvPr/>
          </p:nvSpPr>
          <p:spPr bwMode="auto">
            <a:xfrm>
              <a:off x="4500562" y="4143380"/>
              <a:ext cx="356187"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1100" b="1"/>
                <a:t>F4</a:t>
              </a:r>
            </a:p>
          </p:txBody>
        </p:sp>
        <p:sp>
          <p:nvSpPr>
            <p:cNvPr id="42001" name="Rectangle 20"/>
            <p:cNvSpPr>
              <a:spLocks noChangeArrowheads="1"/>
            </p:cNvSpPr>
            <p:nvPr/>
          </p:nvSpPr>
          <p:spPr bwMode="auto">
            <a:xfrm>
              <a:off x="4252481" y="4714884"/>
              <a:ext cx="460383"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1100" b="1"/>
                <a:t>B49</a:t>
              </a:r>
            </a:p>
          </p:txBody>
        </p:sp>
        <p:sp>
          <p:nvSpPr>
            <p:cNvPr id="42002" name="Rectangle 21"/>
            <p:cNvSpPr>
              <a:spLocks noChangeArrowheads="1"/>
            </p:cNvSpPr>
            <p:nvPr/>
          </p:nvSpPr>
          <p:spPr bwMode="auto">
            <a:xfrm>
              <a:off x="6072198" y="4643446"/>
              <a:ext cx="1214446" cy="2154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800" b="1"/>
                <a:t>Cessna Skylane R9</a:t>
              </a:r>
            </a:p>
          </p:txBody>
        </p:sp>
        <p:sp>
          <p:nvSpPr>
            <p:cNvPr id="42003" name="Rectangle 22"/>
            <p:cNvSpPr>
              <a:spLocks noChangeArrowheads="1"/>
            </p:cNvSpPr>
            <p:nvPr/>
          </p:nvSpPr>
          <p:spPr bwMode="auto">
            <a:xfrm>
              <a:off x="3000364" y="5000636"/>
              <a:ext cx="1214446" cy="2308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900" b="1"/>
                <a:t>Avro Vulcan</a:t>
              </a:r>
            </a:p>
          </p:txBody>
        </p:sp>
        <p:sp>
          <p:nvSpPr>
            <p:cNvPr id="42004" name="Rectangle 23"/>
            <p:cNvSpPr>
              <a:spLocks noChangeArrowheads="1"/>
            </p:cNvSpPr>
            <p:nvPr/>
          </p:nvSpPr>
          <p:spPr bwMode="auto">
            <a:xfrm>
              <a:off x="1785918" y="3786190"/>
              <a:ext cx="274434"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1100" b="1"/>
                <a:t>4</a:t>
              </a:r>
            </a:p>
          </p:txBody>
        </p:sp>
        <p:sp>
          <p:nvSpPr>
            <p:cNvPr id="42005" name="Rectangle 24"/>
            <p:cNvSpPr>
              <a:spLocks noChangeArrowheads="1"/>
            </p:cNvSpPr>
            <p:nvPr/>
          </p:nvSpPr>
          <p:spPr bwMode="auto">
            <a:xfrm>
              <a:off x="1785918" y="2500306"/>
              <a:ext cx="274434"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1100" b="1"/>
                <a:t>6</a:t>
              </a:r>
            </a:p>
          </p:txBody>
        </p:sp>
        <p:sp>
          <p:nvSpPr>
            <p:cNvPr id="42006" name="Rectangle 25"/>
            <p:cNvSpPr>
              <a:spLocks noChangeArrowheads="1"/>
            </p:cNvSpPr>
            <p:nvPr/>
          </p:nvSpPr>
          <p:spPr bwMode="auto">
            <a:xfrm>
              <a:off x="1785918" y="1214422"/>
              <a:ext cx="274434" cy="2616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nl-NL" altLang="en-US" sz="1100" b="1"/>
                <a:t>8</a:t>
              </a:r>
            </a:p>
          </p:txBody>
        </p:sp>
        <p:sp>
          <p:nvSpPr>
            <p:cNvPr id="42007" name="Rectangle 26"/>
            <p:cNvSpPr>
              <a:spLocks noChangeArrowheads="1"/>
            </p:cNvSpPr>
            <p:nvPr/>
          </p:nvSpPr>
          <p:spPr bwMode="auto">
            <a:xfrm>
              <a:off x="2071670" y="5429264"/>
              <a:ext cx="1643074" cy="214314"/>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en-US" sz="2200"/>
            </a:p>
          </p:txBody>
        </p:sp>
      </p:grpSp>
      <p:sp>
        <p:nvSpPr>
          <p:cNvPr id="22" name="Title 1"/>
          <p:cNvSpPr txBox="1">
            <a:spLocks/>
          </p:cNvSpPr>
          <p:nvPr/>
        </p:nvSpPr>
        <p:spPr>
          <a:xfrm>
            <a:off x="839416" y="222256"/>
            <a:ext cx="7659687" cy="760413"/>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1-Very fast estimation of zero lift drag</a:t>
            </a:r>
            <a:endParaRPr lang="nl-NL" kern="0" dirty="0">
              <a:solidFill>
                <a:schemeClr val="bg2"/>
              </a:solidFill>
            </a:endParaRPr>
          </a:p>
        </p:txBody>
      </p:sp>
      <p:sp>
        <p:nvSpPr>
          <p:cNvPr id="41988" name="TextBox 22"/>
          <p:cNvSpPr txBox="1">
            <a:spLocks noChangeArrowheads="1"/>
          </p:cNvSpPr>
          <p:nvPr/>
        </p:nvSpPr>
        <p:spPr bwMode="auto">
          <a:xfrm>
            <a:off x="7902201" y="5595150"/>
            <a:ext cx="26654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200" dirty="0"/>
              <a:t>Table source: Raymer</a:t>
            </a:r>
            <a:endParaRPr lang="nl-NL" alt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847930" y="200026"/>
            <a:ext cx="9261847"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sz="3200" kern="0" dirty="0">
                <a:solidFill>
                  <a:schemeClr val="bg2"/>
                </a:solidFill>
              </a:rPr>
              <a:t>2-Fast estimation of zero lift drag - Prop</a:t>
            </a:r>
            <a:endParaRPr lang="nl-NL" sz="3200" kern="0" dirty="0">
              <a:solidFill>
                <a:schemeClr val="bg2"/>
              </a:solidFill>
            </a:endParaRPr>
          </a:p>
        </p:txBody>
      </p:sp>
      <p:sp>
        <p:nvSpPr>
          <p:cNvPr id="3" name="Content Placeholder 2"/>
          <p:cNvSpPr txBox="1">
            <a:spLocks/>
          </p:cNvSpPr>
          <p:nvPr/>
        </p:nvSpPr>
        <p:spPr>
          <a:xfrm>
            <a:off x="2203450" y="1144589"/>
            <a:ext cx="8135938" cy="4084637"/>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600" kern="0" dirty="0"/>
              <a:t>A fast method for CD0 estimation of </a:t>
            </a:r>
            <a:r>
              <a:rPr lang="en-GB" sz="1600" b="1" kern="0" dirty="0"/>
              <a:t>CLEAN</a:t>
            </a:r>
            <a:r>
              <a:rPr lang="en-GB" sz="1600" kern="0" dirty="0"/>
              <a:t> aircraft configuration is as follows:</a:t>
            </a:r>
          </a:p>
          <a:p>
            <a:pPr>
              <a:defRPr/>
            </a:pPr>
            <a:endParaRPr lang="en-GB" sz="1600" kern="0" dirty="0"/>
          </a:p>
          <a:p>
            <a:pPr>
              <a:defRPr/>
            </a:pPr>
            <a:endParaRPr lang="en-GB" sz="1600" kern="0" dirty="0"/>
          </a:p>
          <a:p>
            <a:pPr>
              <a:defRPr/>
            </a:pPr>
            <a:endParaRPr lang="en-GB" sz="1600" kern="0" dirty="0"/>
          </a:p>
          <a:p>
            <a:pPr>
              <a:defRPr/>
            </a:pPr>
            <a:endParaRPr lang="en-GB" sz="1600" kern="0" dirty="0"/>
          </a:p>
          <a:p>
            <a:pPr>
              <a:defRPr/>
            </a:pPr>
            <a:endParaRPr lang="en-GB" sz="1600" kern="0" dirty="0"/>
          </a:p>
        </p:txBody>
      </p:sp>
      <p:graphicFrame>
        <p:nvGraphicFramePr>
          <p:cNvPr id="43012" name="Object 3"/>
          <p:cNvGraphicFramePr>
            <a:graphicFrameLocks noChangeAspect="1"/>
          </p:cNvGraphicFramePr>
          <p:nvPr>
            <p:extLst>
              <p:ext uri="{D42A27DB-BD31-4B8C-83A1-F6EECF244321}">
                <p14:modId xmlns:p14="http://schemas.microsoft.com/office/powerpoint/2010/main" val="3747703579"/>
              </p:ext>
            </p:extLst>
          </p:nvPr>
        </p:nvGraphicFramePr>
        <p:xfrm>
          <a:off x="2464308" y="1630363"/>
          <a:ext cx="3709987" cy="933450"/>
        </p:xfrm>
        <a:graphic>
          <a:graphicData uri="http://schemas.openxmlformats.org/presentationml/2006/ole">
            <mc:AlternateContent xmlns:mc="http://schemas.openxmlformats.org/markup-compatibility/2006">
              <mc:Choice xmlns:v="urn:schemas-microsoft-com:vml" Requires="v">
                <p:oleObj name="Equation" r:id="rId3" imgW="1765080" imgH="444240" progId="Equation.DSMT4">
                  <p:embed/>
                </p:oleObj>
              </mc:Choice>
              <mc:Fallback>
                <p:oleObj name="Equation" r:id="rId3" imgW="1765080" imgH="444240" progId="Equation.DSMT4">
                  <p:embed/>
                  <p:pic>
                    <p:nvPicPr>
                      <p:cNvPr id="0" name="Object 3"/>
                      <p:cNvPicPr>
                        <a:picLocks noChangeAspect="1" noChangeArrowheads="1"/>
                      </p:cNvPicPr>
                      <p:nvPr/>
                    </p:nvPicPr>
                    <p:blipFill>
                      <a:blip r:embed="rId4"/>
                      <a:srcRect/>
                      <a:stretch>
                        <a:fillRect/>
                      </a:stretch>
                    </p:blipFill>
                    <p:spPr bwMode="auto">
                      <a:xfrm>
                        <a:off x="2464308" y="1630363"/>
                        <a:ext cx="3709987"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Oval 4"/>
          <p:cNvSpPr>
            <a:spLocks noChangeArrowheads="1"/>
          </p:cNvSpPr>
          <p:nvPr/>
        </p:nvSpPr>
        <p:spPr bwMode="auto">
          <a:xfrm>
            <a:off x="5478854" y="1773238"/>
            <a:ext cx="647700" cy="647700"/>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en-US" sz="2200"/>
          </a:p>
        </p:txBody>
      </p:sp>
      <p:sp>
        <p:nvSpPr>
          <p:cNvPr id="6" name="TextBox 5"/>
          <p:cNvSpPr txBox="1">
            <a:spLocks noChangeArrowheads="1"/>
          </p:cNvSpPr>
          <p:nvPr/>
        </p:nvSpPr>
        <p:spPr bwMode="auto">
          <a:xfrm>
            <a:off x="6272213" y="1681163"/>
            <a:ext cx="273526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a:solidFill>
                  <a:srgbClr val="FF0000"/>
                </a:solidFill>
              </a:rPr>
              <a:t>Drag increment for interference, roughness and excrescence </a:t>
            </a:r>
            <a:endParaRPr lang="nl-NL" altLang="en-US" sz="1600">
              <a:solidFill>
                <a:srgbClr val="FF0000"/>
              </a:solidFill>
            </a:endParaRP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1530206692"/>
                  </p:ext>
                </p:extLst>
              </p:nvPr>
            </p:nvGraphicFramePr>
            <p:xfrm>
              <a:off x="3048000" y="2770189"/>
              <a:ext cx="6096000" cy="2879775"/>
            </p:xfrm>
            <a:graphic>
              <a:graphicData uri="http://schemas.openxmlformats.org/drawingml/2006/table">
                <a:tbl>
                  <a:tblPr firstRow="1" bandRow="1">
                    <a:tableStyleId>{5C22544A-7EE6-4342-B048-85BDC9FD1C3A}</a:tableStyleId>
                  </a:tblPr>
                  <a:tblGrid>
                    <a:gridCol w="2615952">
                      <a:extLst>
                        <a:ext uri="{9D8B030D-6E8A-4147-A177-3AD203B41FA5}">
                          <a16:colId xmlns:a16="http://schemas.microsoft.com/office/drawing/2014/main" val="20000"/>
                        </a:ext>
                      </a:extLst>
                    </a:gridCol>
                    <a:gridCol w="1448048">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683">
                    <a:tc>
                      <a:txBody>
                        <a:bodyPr/>
                        <a:lstStyle/>
                        <a:p>
                          <a:r>
                            <a:rPr lang="en-GB" sz="1400" dirty="0">
                              <a:solidFill>
                                <a:schemeClr val="tx1"/>
                              </a:solidFill>
                            </a:rPr>
                            <a:t>Aircraft</a:t>
                          </a:r>
                          <a:r>
                            <a:rPr lang="en-GB" sz="1400" baseline="0" dirty="0">
                              <a:solidFill>
                                <a:schemeClr val="tx1"/>
                              </a:solidFill>
                            </a:rPr>
                            <a:t> component</a:t>
                          </a:r>
                          <a:endParaRPr lang="nl-NL" sz="1400" dirty="0">
                            <a:solidFill>
                              <a:schemeClr val="tx1"/>
                            </a:solidFill>
                          </a:endParaRPr>
                        </a:p>
                      </a:txBody>
                      <a:tcPr marT="45701" marB="45701"/>
                    </a:tc>
                    <a:tc>
                      <a:txBody>
                        <a:bodyPr/>
                        <a:lstStyle/>
                        <a:p>
                          <a:pPr algn="ctr"/>
                          <a:r>
                            <a:rPr lang="en-GB" sz="1400" dirty="0" err="1">
                              <a:solidFill>
                                <a:schemeClr val="tx1"/>
                              </a:solidFill>
                            </a:rPr>
                            <a:t>CDc</a:t>
                          </a:r>
                          <a:endParaRPr lang="nl-NL" sz="1400" dirty="0">
                            <a:solidFill>
                              <a:schemeClr val="tx1"/>
                            </a:solidFill>
                          </a:endParaRPr>
                        </a:p>
                      </a:txBody>
                      <a:tcPr marT="45701" marB="45701"/>
                    </a:tc>
                    <a:tc>
                      <a:txBody>
                        <a:bodyPr/>
                        <a:lstStyle/>
                        <a:p>
                          <a:pPr algn="ctr"/>
                          <a14:m>
                            <m:oMathPara xmlns:m="http://schemas.openxmlformats.org/officeDocument/2006/math">
                              <m:oMathParaPr>
                                <m:jc m:val="centerGroup"/>
                              </m:oMathParaPr>
                              <m:oMath xmlns:m="http://schemas.openxmlformats.org/officeDocument/2006/math">
                                <m:sSub>
                                  <m:sSubPr>
                                    <m:ctrlPr>
                                      <a:rPr lang="en-GB" sz="1400" b="1" i="1" kern="1200" smtClean="0">
                                        <a:solidFill>
                                          <a:schemeClr val="tx1"/>
                                        </a:solidFill>
                                        <a:latin typeface="Cambria Math" panose="02040503050406030204" pitchFamily="18" charset="0"/>
                                        <a:ea typeface="+mn-ea"/>
                                        <a:cs typeface="+mn-cs"/>
                                      </a:rPr>
                                    </m:ctrlPr>
                                  </m:sSubPr>
                                  <m:e>
                                    <m:r>
                                      <a:rPr lang="en-GB" sz="1400" b="1" i="1" kern="1200" smtClean="0">
                                        <a:solidFill>
                                          <a:schemeClr val="tx1"/>
                                        </a:solidFill>
                                        <a:latin typeface="Cambria Math" panose="02040503050406030204" pitchFamily="18" charset="0"/>
                                        <a:ea typeface="+mn-ea"/>
                                        <a:cs typeface="+mn-cs"/>
                                      </a:rPr>
                                      <m:t>𝑺</m:t>
                                    </m:r>
                                  </m:e>
                                  <m:sub>
                                    <m:sSub>
                                      <m:sSubPr>
                                        <m:ctrlPr>
                                          <a:rPr lang="en-GB" sz="1400" b="1" i="1" kern="1200">
                                            <a:solidFill>
                                              <a:schemeClr val="tx1"/>
                                            </a:solidFill>
                                            <a:latin typeface="Cambria Math" panose="02040503050406030204" pitchFamily="18" charset="0"/>
                                            <a:ea typeface="+mn-ea"/>
                                            <a:cs typeface="+mn-cs"/>
                                          </a:rPr>
                                        </m:ctrlPr>
                                      </m:sSubPr>
                                      <m:e>
                                        <m:r>
                                          <a:rPr lang="en-GB" sz="1400" b="1" i="1" kern="1200" smtClean="0">
                                            <a:solidFill>
                                              <a:schemeClr val="tx1"/>
                                            </a:solidFill>
                                            <a:latin typeface="Cambria Math" panose="02040503050406030204" pitchFamily="18" charset="0"/>
                                            <a:ea typeface="+mn-ea"/>
                                            <a:cs typeface="+mn-cs"/>
                                          </a:rPr>
                                          <m:t>𝒘𝒆𝒕</m:t>
                                        </m:r>
                                      </m:e>
                                      <m:sub>
                                        <m:r>
                                          <a:rPr lang="en-GB" sz="1400" b="1" i="1" kern="1200">
                                            <a:solidFill>
                                              <a:schemeClr val="tx1"/>
                                            </a:solidFill>
                                            <a:latin typeface="Cambria Math" panose="02040503050406030204" pitchFamily="18" charset="0"/>
                                            <a:ea typeface="+mn-ea"/>
                                            <a:cs typeface="+mn-cs"/>
                                          </a:rPr>
                                          <m:t>𝑐</m:t>
                                        </m:r>
                                      </m:sub>
                                    </m:sSub>
                                  </m:sub>
                                </m:sSub>
                              </m:oMath>
                            </m:oMathPara>
                          </a14:m>
                          <a:endParaRPr lang="nl-NL" sz="1400" dirty="0">
                            <a:solidFill>
                              <a:schemeClr val="tx1"/>
                            </a:solidFill>
                          </a:endParaRPr>
                        </a:p>
                      </a:txBody>
                      <a:tcPr marT="45701" marB="45701"/>
                    </a:tc>
                    <a:extLst>
                      <a:ext uri="{0D108BD9-81ED-4DB2-BD59-A6C34878D82A}">
                        <a16:rowId xmlns:a16="http://schemas.microsoft.com/office/drawing/2014/main" val="10000"/>
                      </a:ext>
                    </a:extLst>
                  </a:tr>
                  <a:tr h="370683">
                    <a:tc>
                      <a:txBody>
                        <a:bodyPr/>
                        <a:lstStyle/>
                        <a:p>
                          <a:r>
                            <a:rPr lang="en-GB" sz="1400" dirty="0"/>
                            <a:t>Wing</a:t>
                          </a:r>
                          <a:endParaRPr lang="nl-NL" sz="1400" dirty="0"/>
                        </a:p>
                      </a:txBody>
                      <a:tcPr marT="45701" marB="45701"/>
                    </a:tc>
                    <a:tc>
                      <a:txBody>
                        <a:bodyPr/>
                        <a:lstStyle/>
                        <a:p>
                          <a:pPr algn="ctr"/>
                          <a:r>
                            <a:rPr lang="en-GB" sz="1400" dirty="0"/>
                            <a:t>0.0070</a:t>
                          </a:r>
                          <a:endParaRPr lang="nl-NL" sz="1400" dirty="0"/>
                        </a:p>
                      </a:txBody>
                      <a:tcPr marT="45701" marB="45701"/>
                    </a:tc>
                    <a:tc>
                      <a:txBody>
                        <a:bodyPr/>
                        <a:lstStyle/>
                        <a:p>
                          <a:pPr algn="ctr"/>
                          <a:r>
                            <a:rPr lang="en-GB" sz="1400" dirty="0"/>
                            <a:t>Wing reference area</a:t>
                          </a:r>
                          <a:endParaRPr lang="nl-NL" sz="1400" dirty="0"/>
                        </a:p>
                      </a:txBody>
                      <a:tcPr marT="45701" marB="45701"/>
                    </a:tc>
                    <a:extLst>
                      <a:ext uri="{0D108BD9-81ED-4DB2-BD59-A6C34878D82A}">
                        <a16:rowId xmlns:a16="http://schemas.microsoft.com/office/drawing/2014/main" val="10001"/>
                      </a:ext>
                    </a:extLst>
                  </a:tr>
                  <a:tr h="518108">
                    <a:tc>
                      <a:txBody>
                        <a:bodyPr/>
                        <a:lstStyle/>
                        <a:p>
                          <a:r>
                            <a:rPr lang="en-GB" sz="1400" dirty="0"/>
                            <a:t>Fuselage: multi-engine</a:t>
                          </a:r>
                        </a:p>
                        <a:p>
                          <a:r>
                            <a:rPr lang="en-GB" sz="1400" dirty="0"/>
                            <a:t>               single-engine</a:t>
                          </a:r>
                          <a:endParaRPr lang="nl-NL" sz="1400" dirty="0"/>
                        </a:p>
                      </a:txBody>
                      <a:tcPr marT="45701" marB="45701"/>
                    </a:tc>
                    <a:tc>
                      <a:txBody>
                        <a:bodyPr/>
                        <a:lstStyle/>
                        <a:p>
                          <a:pPr algn="ctr"/>
                          <a:r>
                            <a:rPr lang="en-GB" sz="1400" dirty="0"/>
                            <a:t>0.0800</a:t>
                          </a:r>
                        </a:p>
                        <a:p>
                          <a:pPr algn="ctr"/>
                          <a:r>
                            <a:rPr lang="en-GB" sz="1400" dirty="0"/>
                            <a:t>0.1100</a:t>
                          </a:r>
                          <a:endParaRPr lang="nl-NL" sz="1400" dirty="0"/>
                        </a:p>
                      </a:txBody>
                      <a:tcPr marT="45701" marB="45701"/>
                    </a:tc>
                    <a:tc>
                      <a:txBody>
                        <a:bodyPr/>
                        <a:lstStyle/>
                        <a:p>
                          <a:pPr algn="ctr"/>
                          <a:r>
                            <a:rPr lang="en-GB" sz="1400" dirty="0"/>
                            <a:t>Maximum frontal</a:t>
                          </a:r>
                        </a:p>
                        <a:p>
                          <a:pPr algn="ctr"/>
                          <a:r>
                            <a:rPr lang="en-GB" sz="1400" dirty="0"/>
                            <a:t>Area of fuselage</a:t>
                          </a:r>
                          <a:endParaRPr lang="nl-NL" sz="1400" dirty="0"/>
                        </a:p>
                      </a:txBody>
                      <a:tcPr marT="45701" marB="45701"/>
                    </a:tc>
                    <a:extLst>
                      <a:ext uri="{0D108BD9-81ED-4DB2-BD59-A6C34878D82A}">
                        <a16:rowId xmlns:a16="http://schemas.microsoft.com/office/drawing/2014/main" val="10002"/>
                      </a:ext>
                    </a:extLst>
                  </a:tr>
                  <a:tr h="731461">
                    <a:tc>
                      <a:txBody>
                        <a:bodyPr/>
                        <a:lstStyle/>
                        <a:p>
                          <a:r>
                            <a:rPr lang="en-GB" sz="1400" dirty="0"/>
                            <a:t>Nacelles</a:t>
                          </a:r>
                          <a:endParaRPr lang="nl-NL" sz="1400" dirty="0"/>
                        </a:p>
                      </a:txBody>
                      <a:tcPr marT="45701" marB="45701"/>
                    </a:tc>
                    <a:tc>
                      <a:txBody>
                        <a:bodyPr/>
                        <a:lstStyle/>
                        <a:p>
                          <a:pPr algn="ctr"/>
                          <a:r>
                            <a:rPr lang="en-GB" sz="1400" dirty="0"/>
                            <a:t>0.0600</a:t>
                          </a:r>
                          <a:endParaRPr lang="nl-NL" sz="1400" dirty="0"/>
                        </a:p>
                      </a:txBody>
                      <a:tcPr marT="45701" marB="45701"/>
                    </a:tc>
                    <a:tc>
                      <a:txBody>
                        <a:bodyPr/>
                        <a:lstStyle/>
                        <a:p>
                          <a:pPr algn="ctr"/>
                          <a:r>
                            <a:rPr lang="en-GB" sz="1400" dirty="0"/>
                            <a:t>Maximum frontal</a:t>
                          </a:r>
                        </a:p>
                        <a:p>
                          <a:pPr algn="ctr"/>
                          <a:r>
                            <a:rPr lang="en-GB" sz="1400" dirty="0"/>
                            <a:t>Area of nacelles</a:t>
                          </a:r>
                          <a:endParaRPr lang="nl-NL" sz="1400" dirty="0"/>
                        </a:p>
                        <a:p>
                          <a:pPr algn="ctr"/>
                          <a:endParaRPr lang="nl-NL" sz="1400" dirty="0"/>
                        </a:p>
                      </a:txBody>
                      <a:tcPr marT="45701" marB="45701"/>
                    </a:tc>
                    <a:extLst>
                      <a:ext uri="{0D108BD9-81ED-4DB2-BD59-A6C34878D82A}">
                        <a16:rowId xmlns:a16="http://schemas.microsoft.com/office/drawing/2014/main" val="10003"/>
                      </a:ext>
                    </a:extLst>
                  </a:tr>
                  <a:tr h="518108">
                    <a:tc>
                      <a:txBody>
                        <a:bodyPr/>
                        <a:lstStyle/>
                        <a:p>
                          <a:r>
                            <a:rPr lang="en-GB" sz="1400" dirty="0"/>
                            <a:t>Tail</a:t>
                          </a:r>
                          <a:r>
                            <a:rPr lang="en-GB" sz="1400" baseline="0" dirty="0"/>
                            <a:t> (both horizontal and vertical)</a:t>
                          </a:r>
                          <a:endParaRPr lang="nl-NL" sz="1400" dirty="0"/>
                        </a:p>
                      </a:txBody>
                      <a:tcPr marT="45701" marB="45701"/>
                    </a:tc>
                    <a:tc>
                      <a:txBody>
                        <a:bodyPr/>
                        <a:lstStyle/>
                        <a:p>
                          <a:pPr algn="ctr"/>
                          <a:r>
                            <a:rPr lang="en-GB" sz="1400" dirty="0"/>
                            <a:t>0.0080</a:t>
                          </a:r>
                          <a:endParaRPr lang="nl-NL" sz="1400" dirty="0"/>
                        </a:p>
                      </a:txBody>
                      <a:tcPr marT="45701" marB="45701"/>
                    </a:tc>
                    <a:tc>
                      <a:txBody>
                        <a:bodyPr/>
                        <a:lstStyle/>
                        <a:p>
                          <a:pPr algn="ctr"/>
                          <a:r>
                            <a:rPr lang="en-GB" sz="1400" dirty="0"/>
                            <a:t>Tail (H or V) reference area</a:t>
                          </a:r>
                          <a:endParaRPr lang="nl-NL" sz="1400" dirty="0"/>
                        </a:p>
                      </a:txBody>
                      <a:tcPr marT="45701" marB="45701"/>
                    </a:tc>
                    <a:extLst>
                      <a:ext uri="{0D108BD9-81ED-4DB2-BD59-A6C34878D82A}">
                        <a16:rowId xmlns:a16="http://schemas.microsoft.com/office/drawing/2014/main" val="10004"/>
                      </a:ext>
                    </a:extLst>
                  </a:tr>
                  <a:tr h="370683">
                    <a:tc>
                      <a:txBody>
                        <a:bodyPr/>
                        <a:lstStyle/>
                        <a:p>
                          <a:r>
                            <a:rPr lang="en-GB" sz="1400" dirty="0" err="1"/>
                            <a:t>CDmisc</a:t>
                          </a:r>
                          <a:endParaRPr lang="nl-NL" sz="1400" dirty="0"/>
                        </a:p>
                      </a:txBody>
                      <a:tcPr marT="45701" marB="45701"/>
                    </a:tc>
                    <a:tc gridSpan="2">
                      <a:txBody>
                        <a:bodyPr/>
                        <a:lstStyle/>
                        <a:p>
                          <a:pPr algn="ctr"/>
                          <a:r>
                            <a:rPr lang="en-GB" sz="1400" dirty="0"/>
                            <a:t>Add 15% to CD0</a:t>
                          </a:r>
                          <a:endParaRPr lang="nl-NL" sz="1400" dirty="0"/>
                        </a:p>
                      </a:txBody>
                      <a:tcPr marT="45701" marB="45701"/>
                    </a:tc>
                    <a:tc hMerge="1">
                      <a:txBody>
                        <a:bodyPr/>
                        <a:lstStyle/>
                        <a:p>
                          <a:pPr algn="ctr"/>
                          <a:endParaRPr lang="nl-NL" sz="1400" dirty="0"/>
                        </a:p>
                      </a:txBody>
                      <a:tcPr/>
                    </a:tc>
                    <a:extLst>
                      <a:ext uri="{0D108BD9-81ED-4DB2-BD59-A6C34878D82A}">
                        <a16:rowId xmlns:a16="http://schemas.microsoft.com/office/drawing/2014/main" val="10005"/>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1530206692"/>
                  </p:ext>
                </p:extLst>
              </p:nvPr>
            </p:nvGraphicFramePr>
            <p:xfrm>
              <a:off x="3048000" y="2770189"/>
              <a:ext cx="6096000" cy="2879775"/>
            </p:xfrm>
            <a:graphic>
              <a:graphicData uri="http://schemas.openxmlformats.org/drawingml/2006/table">
                <a:tbl>
                  <a:tblPr firstRow="1" bandRow="1">
                    <a:tableStyleId>{5C22544A-7EE6-4342-B048-85BDC9FD1C3A}</a:tableStyleId>
                  </a:tblPr>
                  <a:tblGrid>
                    <a:gridCol w="2615952">
                      <a:extLst>
                        <a:ext uri="{9D8B030D-6E8A-4147-A177-3AD203B41FA5}">
                          <a16:colId xmlns:a16="http://schemas.microsoft.com/office/drawing/2014/main" val="20000"/>
                        </a:ext>
                      </a:extLst>
                    </a:gridCol>
                    <a:gridCol w="1448048">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683">
                    <a:tc>
                      <a:txBody>
                        <a:bodyPr/>
                        <a:lstStyle/>
                        <a:p>
                          <a:r>
                            <a:rPr lang="en-GB" sz="1400" dirty="0" smtClean="0">
                              <a:solidFill>
                                <a:schemeClr val="tx1"/>
                              </a:solidFill>
                            </a:rPr>
                            <a:t>Aircraft</a:t>
                          </a:r>
                          <a:r>
                            <a:rPr lang="en-GB" sz="1400" baseline="0" dirty="0" smtClean="0">
                              <a:solidFill>
                                <a:schemeClr val="tx1"/>
                              </a:solidFill>
                            </a:rPr>
                            <a:t> component</a:t>
                          </a:r>
                          <a:endParaRPr lang="nl-NL" sz="1400" dirty="0">
                            <a:solidFill>
                              <a:schemeClr val="tx1"/>
                            </a:solidFill>
                          </a:endParaRPr>
                        </a:p>
                      </a:txBody>
                      <a:tcPr marT="45701" marB="45701"/>
                    </a:tc>
                    <a:tc>
                      <a:txBody>
                        <a:bodyPr/>
                        <a:lstStyle/>
                        <a:p>
                          <a:pPr algn="ctr"/>
                          <a:r>
                            <a:rPr lang="en-GB" sz="1400" dirty="0" err="1" smtClean="0">
                              <a:solidFill>
                                <a:schemeClr val="tx1"/>
                              </a:solidFill>
                            </a:rPr>
                            <a:t>CDc</a:t>
                          </a:r>
                          <a:endParaRPr lang="nl-NL" sz="1400" dirty="0">
                            <a:solidFill>
                              <a:schemeClr val="tx1"/>
                            </a:solidFill>
                          </a:endParaRPr>
                        </a:p>
                      </a:txBody>
                      <a:tcPr marT="45701" marB="45701"/>
                    </a:tc>
                    <a:tc>
                      <a:txBody>
                        <a:bodyPr/>
                        <a:lstStyle/>
                        <a:p>
                          <a:endParaRPr lang="en-US"/>
                        </a:p>
                      </a:txBody>
                      <a:tcPr marT="45701" marB="45701">
                        <a:blipFill>
                          <a:blip r:embed="rId6"/>
                          <a:stretch>
                            <a:fillRect l="-200901" t="-1639" r="-1502" b="-678689"/>
                          </a:stretch>
                        </a:blipFill>
                      </a:tcPr>
                    </a:tc>
                    <a:extLst>
                      <a:ext uri="{0D108BD9-81ED-4DB2-BD59-A6C34878D82A}">
                        <a16:rowId xmlns:a16="http://schemas.microsoft.com/office/drawing/2014/main" val="10000"/>
                      </a:ext>
                    </a:extLst>
                  </a:tr>
                  <a:tr h="370683">
                    <a:tc>
                      <a:txBody>
                        <a:bodyPr/>
                        <a:lstStyle/>
                        <a:p>
                          <a:r>
                            <a:rPr lang="en-GB" sz="1400" dirty="0" smtClean="0"/>
                            <a:t>Wing</a:t>
                          </a:r>
                          <a:endParaRPr lang="nl-NL" sz="1400" dirty="0"/>
                        </a:p>
                      </a:txBody>
                      <a:tcPr marT="45701" marB="45701"/>
                    </a:tc>
                    <a:tc>
                      <a:txBody>
                        <a:bodyPr/>
                        <a:lstStyle/>
                        <a:p>
                          <a:pPr algn="ctr"/>
                          <a:r>
                            <a:rPr lang="en-GB" sz="1400" dirty="0" smtClean="0"/>
                            <a:t>0.0070</a:t>
                          </a:r>
                          <a:endParaRPr lang="nl-NL" sz="1400" dirty="0"/>
                        </a:p>
                      </a:txBody>
                      <a:tcPr marT="45701" marB="45701"/>
                    </a:tc>
                    <a:tc>
                      <a:txBody>
                        <a:bodyPr/>
                        <a:lstStyle/>
                        <a:p>
                          <a:pPr algn="ctr"/>
                          <a:r>
                            <a:rPr lang="en-GB" sz="1400" dirty="0" smtClean="0"/>
                            <a:t>Wing reference area</a:t>
                          </a:r>
                          <a:endParaRPr lang="nl-NL" sz="1400" dirty="0"/>
                        </a:p>
                      </a:txBody>
                      <a:tcPr marT="45701" marB="45701"/>
                    </a:tc>
                    <a:extLst>
                      <a:ext uri="{0D108BD9-81ED-4DB2-BD59-A6C34878D82A}">
                        <a16:rowId xmlns:a16="http://schemas.microsoft.com/office/drawing/2014/main" val="10001"/>
                      </a:ext>
                    </a:extLst>
                  </a:tr>
                  <a:tr h="518122">
                    <a:tc>
                      <a:txBody>
                        <a:bodyPr/>
                        <a:lstStyle/>
                        <a:p>
                          <a:r>
                            <a:rPr lang="en-GB" sz="1400" dirty="0" smtClean="0"/>
                            <a:t>Fuselage: multi-engine</a:t>
                          </a:r>
                        </a:p>
                        <a:p>
                          <a:r>
                            <a:rPr lang="en-GB" sz="1400" dirty="0" smtClean="0"/>
                            <a:t>               single-engine</a:t>
                          </a:r>
                          <a:endParaRPr lang="nl-NL" sz="1400" dirty="0"/>
                        </a:p>
                      </a:txBody>
                      <a:tcPr marT="45701" marB="45701"/>
                    </a:tc>
                    <a:tc>
                      <a:txBody>
                        <a:bodyPr/>
                        <a:lstStyle/>
                        <a:p>
                          <a:pPr algn="ctr"/>
                          <a:r>
                            <a:rPr lang="en-GB" sz="1400" dirty="0" smtClean="0"/>
                            <a:t>0.0800</a:t>
                          </a:r>
                        </a:p>
                        <a:p>
                          <a:pPr algn="ctr"/>
                          <a:r>
                            <a:rPr lang="en-GB" sz="1400" dirty="0" smtClean="0"/>
                            <a:t>0.1100</a:t>
                          </a:r>
                          <a:endParaRPr lang="nl-NL" sz="1400" dirty="0"/>
                        </a:p>
                      </a:txBody>
                      <a:tcPr marT="45701" marB="45701"/>
                    </a:tc>
                    <a:tc>
                      <a:txBody>
                        <a:bodyPr/>
                        <a:lstStyle/>
                        <a:p>
                          <a:pPr algn="ctr"/>
                          <a:r>
                            <a:rPr lang="en-GB" sz="1400" dirty="0" smtClean="0"/>
                            <a:t>Maximum frontal</a:t>
                          </a:r>
                        </a:p>
                        <a:p>
                          <a:pPr algn="ctr"/>
                          <a:r>
                            <a:rPr lang="en-GB" sz="1400" dirty="0" smtClean="0"/>
                            <a:t>Area of fuselage</a:t>
                          </a:r>
                          <a:endParaRPr lang="nl-NL" sz="1400" dirty="0"/>
                        </a:p>
                      </a:txBody>
                      <a:tcPr marT="45701" marB="45701"/>
                    </a:tc>
                    <a:extLst>
                      <a:ext uri="{0D108BD9-81ED-4DB2-BD59-A6C34878D82A}">
                        <a16:rowId xmlns:a16="http://schemas.microsoft.com/office/drawing/2014/main" val="10002"/>
                      </a:ext>
                    </a:extLst>
                  </a:tr>
                  <a:tr h="731482">
                    <a:tc>
                      <a:txBody>
                        <a:bodyPr/>
                        <a:lstStyle/>
                        <a:p>
                          <a:r>
                            <a:rPr lang="en-GB" sz="1400" dirty="0" smtClean="0"/>
                            <a:t>Nacelles</a:t>
                          </a:r>
                          <a:endParaRPr lang="nl-NL" sz="1400" dirty="0"/>
                        </a:p>
                      </a:txBody>
                      <a:tcPr marT="45701" marB="45701"/>
                    </a:tc>
                    <a:tc>
                      <a:txBody>
                        <a:bodyPr/>
                        <a:lstStyle/>
                        <a:p>
                          <a:pPr algn="ctr"/>
                          <a:r>
                            <a:rPr lang="en-GB" sz="1400" dirty="0" smtClean="0"/>
                            <a:t>0.0600</a:t>
                          </a:r>
                          <a:endParaRPr lang="nl-NL" sz="1400" dirty="0"/>
                        </a:p>
                      </a:txBody>
                      <a:tcPr marT="45701" marB="45701"/>
                    </a:tc>
                    <a:tc>
                      <a:txBody>
                        <a:bodyPr/>
                        <a:lstStyle/>
                        <a:p>
                          <a:pPr algn="ctr"/>
                          <a:r>
                            <a:rPr lang="en-GB" sz="1400" dirty="0" smtClean="0"/>
                            <a:t>Maximum frontal</a:t>
                          </a:r>
                        </a:p>
                        <a:p>
                          <a:pPr algn="ctr"/>
                          <a:r>
                            <a:rPr lang="en-GB" sz="1400" dirty="0" smtClean="0"/>
                            <a:t>Area of nacelles</a:t>
                          </a:r>
                          <a:endParaRPr lang="nl-NL" sz="1400" dirty="0" smtClean="0"/>
                        </a:p>
                        <a:p>
                          <a:pPr algn="ctr"/>
                          <a:endParaRPr lang="nl-NL" sz="1400" dirty="0"/>
                        </a:p>
                      </a:txBody>
                      <a:tcPr marT="45701" marB="45701"/>
                    </a:tc>
                    <a:extLst>
                      <a:ext uri="{0D108BD9-81ED-4DB2-BD59-A6C34878D82A}">
                        <a16:rowId xmlns:a16="http://schemas.microsoft.com/office/drawing/2014/main" val="10003"/>
                      </a:ext>
                    </a:extLst>
                  </a:tr>
                  <a:tr h="518122">
                    <a:tc>
                      <a:txBody>
                        <a:bodyPr/>
                        <a:lstStyle/>
                        <a:p>
                          <a:r>
                            <a:rPr lang="en-GB" sz="1400" dirty="0" smtClean="0"/>
                            <a:t>Tail</a:t>
                          </a:r>
                          <a:r>
                            <a:rPr lang="en-GB" sz="1400" baseline="0" dirty="0" smtClean="0"/>
                            <a:t> (both horizontal and vertical)</a:t>
                          </a:r>
                          <a:endParaRPr lang="nl-NL" sz="1400" dirty="0"/>
                        </a:p>
                      </a:txBody>
                      <a:tcPr marT="45701" marB="45701"/>
                    </a:tc>
                    <a:tc>
                      <a:txBody>
                        <a:bodyPr/>
                        <a:lstStyle/>
                        <a:p>
                          <a:pPr algn="ctr"/>
                          <a:r>
                            <a:rPr lang="en-GB" sz="1400" dirty="0" smtClean="0"/>
                            <a:t>0.0080</a:t>
                          </a:r>
                          <a:endParaRPr lang="nl-NL" sz="1400" dirty="0"/>
                        </a:p>
                      </a:txBody>
                      <a:tcPr marT="45701" marB="45701"/>
                    </a:tc>
                    <a:tc>
                      <a:txBody>
                        <a:bodyPr/>
                        <a:lstStyle/>
                        <a:p>
                          <a:pPr algn="ctr"/>
                          <a:r>
                            <a:rPr lang="en-GB" sz="1400" dirty="0" smtClean="0"/>
                            <a:t>Tail (H or V) reference area</a:t>
                          </a:r>
                          <a:endParaRPr lang="nl-NL" sz="1400" dirty="0"/>
                        </a:p>
                      </a:txBody>
                      <a:tcPr marT="45701" marB="45701"/>
                    </a:tc>
                    <a:extLst>
                      <a:ext uri="{0D108BD9-81ED-4DB2-BD59-A6C34878D82A}">
                        <a16:rowId xmlns:a16="http://schemas.microsoft.com/office/drawing/2014/main" val="10004"/>
                      </a:ext>
                    </a:extLst>
                  </a:tr>
                  <a:tr h="370683">
                    <a:tc>
                      <a:txBody>
                        <a:bodyPr/>
                        <a:lstStyle/>
                        <a:p>
                          <a:r>
                            <a:rPr lang="en-GB" sz="1400" dirty="0" err="1" smtClean="0"/>
                            <a:t>CDmisc</a:t>
                          </a:r>
                          <a:endParaRPr lang="nl-NL" sz="1400" dirty="0"/>
                        </a:p>
                      </a:txBody>
                      <a:tcPr marT="45701" marB="45701"/>
                    </a:tc>
                    <a:tc gridSpan="2">
                      <a:txBody>
                        <a:bodyPr/>
                        <a:lstStyle/>
                        <a:p>
                          <a:pPr algn="ctr"/>
                          <a:r>
                            <a:rPr lang="en-GB" sz="1400" dirty="0" smtClean="0"/>
                            <a:t>Add 15% to CD0</a:t>
                          </a:r>
                          <a:endParaRPr lang="nl-NL" sz="1400" dirty="0"/>
                        </a:p>
                      </a:txBody>
                      <a:tcPr marT="45701" marB="45701"/>
                    </a:tc>
                    <a:tc hMerge="1">
                      <a:txBody>
                        <a:bodyPr/>
                        <a:lstStyle/>
                        <a:p>
                          <a:pPr algn="ctr"/>
                          <a:endParaRPr lang="nl-NL" sz="1400" dirty="0"/>
                        </a:p>
                      </a:txBody>
                      <a:tcPr/>
                    </a:tc>
                    <a:extLst>
                      <a:ext uri="{0D108BD9-81ED-4DB2-BD59-A6C34878D82A}">
                        <a16:rowId xmlns:a16="http://schemas.microsoft.com/office/drawing/2014/main" val="10005"/>
                      </a:ext>
                    </a:extLst>
                  </a:tr>
                </a:tbl>
              </a:graphicData>
            </a:graphic>
          </p:graphicFrame>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txBox="1">
            <a:spLocks/>
          </p:cNvSpPr>
          <p:nvPr/>
        </p:nvSpPr>
        <p:spPr>
          <a:xfrm>
            <a:off x="767408" y="260648"/>
            <a:ext cx="9333855"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sz="3600" kern="0" dirty="0">
                <a:solidFill>
                  <a:schemeClr val="bg2"/>
                </a:solidFill>
              </a:rPr>
              <a:t>Fast estimation of zero lift drag - Jet</a:t>
            </a:r>
            <a:endParaRPr lang="nl-NL" sz="3600" kern="0" dirty="0">
              <a:solidFill>
                <a:schemeClr val="bg2"/>
              </a:solidFill>
            </a:endParaRPr>
          </a:p>
        </p:txBody>
      </p:sp>
      <p:sp>
        <p:nvSpPr>
          <p:cNvPr id="3" name="Content Placeholder 2"/>
          <p:cNvSpPr txBox="1">
            <a:spLocks/>
          </p:cNvSpPr>
          <p:nvPr/>
        </p:nvSpPr>
        <p:spPr>
          <a:xfrm>
            <a:off x="2203450" y="1144589"/>
            <a:ext cx="8135938" cy="4084637"/>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600" kern="0" dirty="0"/>
              <a:t>A fast method for CD0 estimation of </a:t>
            </a:r>
            <a:r>
              <a:rPr lang="en-GB" sz="1600" b="1" kern="0" dirty="0"/>
              <a:t>CLEAN</a:t>
            </a:r>
            <a:r>
              <a:rPr lang="en-GB" sz="1600" kern="0" dirty="0"/>
              <a:t> aircraft configuration is as follows:</a:t>
            </a:r>
          </a:p>
          <a:p>
            <a:pPr>
              <a:defRPr/>
            </a:pPr>
            <a:endParaRPr lang="en-GB" sz="1600" kern="0" dirty="0"/>
          </a:p>
          <a:p>
            <a:pPr>
              <a:defRPr/>
            </a:pPr>
            <a:endParaRPr lang="en-GB" sz="1600" kern="0" dirty="0"/>
          </a:p>
          <a:p>
            <a:pPr>
              <a:defRPr/>
            </a:pPr>
            <a:endParaRPr lang="en-GB" sz="1600" kern="0" dirty="0"/>
          </a:p>
          <a:p>
            <a:pPr>
              <a:defRPr/>
            </a:pPr>
            <a:endParaRPr lang="en-GB" sz="1600" kern="0" dirty="0"/>
          </a:p>
          <a:p>
            <a:pPr>
              <a:defRPr/>
            </a:pPr>
            <a:endParaRPr lang="en-GB" sz="1600" kern="0" dirty="0"/>
          </a:p>
        </p:txBody>
      </p:sp>
      <p:graphicFrame>
        <p:nvGraphicFramePr>
          <p:cNvPr id="44036" name="Object 3"/>
          <p:cNvGraphicFramePr>
            <a:graphicFrameLocks noChangeAspect="1"/>
          </p:cNvGraphicFramePr>
          <p:nvPr>
            <p:extLst>
              <p:ext uri="{D42A27DB-BD31-4B8C-83A1-F6EECF244321}">
                <p14:modId xmlns:p14="http://schemas.microsoft.com/office/powerpoint/2010/main" val="4207190423"/>
              </p:ext>
            </p:extLst>
          </p:nvPr>
        </p:nvGraphicFramePr>
        <p:xfrm>
          <a:off x="2498726" y="1628775"/>
          <a:ext cx="3736975" cy="933450"/>
        </p:xfrm>
        <a:graphic>
          <a:graphicData uri="http://schemas.openxmlformats.org/presentationml/2006/ole">
            <mc:AlternateContent xmlns:mc="http://schemas.openxmlformats.org/markup-compatibility/2006">
              <mc:Choice xmlns:v="urn:schemas-microsoft-com:vml" Requires="v">
                <p:oleObj name="Equation" r:id="rId3" imgW="1777680" imgH="444240" progId="Equation.DSMT4">
                  <p:embed/>
                </p:oleObj>
              </mc:Choice>
              <mc:Fallback>
                <p:oleObj name="Equation" r:id="rId3" imgW="1777680" imgH="444240" progId="Equation.DSMT4">
                  <p:embed/>
                  <p:pic>
                    <p:nvPicPr>
                      <p:cNvPr id="0" name="Object 3"/>
                      <p:cNvPicPr>
                        <a:picLocks noChangeAspect="1" noChangeArrowheads="1"/>
                      </p:cNvPicPr>
                      <p:nvPr/>
                    </p:nvPicPr>
                    <p:blipFill>
                      <a:blip r:embed="rId4"/>
                      <a:srcRect/>
                      <a:stretch>
                        <a:fillRect/>
                      </a:stretch>
                    </p:blipFill>
                    <p:spPr bwMode="auto">
                      <a:xfrm>
                        <a:off x="2498726" y="1628775"/>
                        <a:ext cx="3736975"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37" name="Oval 4"/>
          <p:cNvSpPr>
            <a:spLocks noChangeArrowheads="1"/>
          </p:cNvSpPr>
          <p:nvPr/>
        </p:nvSpPr>
        <p:spPr bwMode="auto">
          <a:xfrm>
            <a:off x="5563362" y="1771650"/>
            <a:ext cx="647700" cy="647700"/>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en-US" sz="2200"/>
          </a:p>
        </p:txBody>
      </p:sp>
      <p:sp>
        <p:nvSpPr>
          <p:cNvPr id="44038" name="TextBox 5"/>
          <p:cNvSpPr txBox="1">
            <a:spLocks noChangeArrowheads="1"/>
          </p:cNvSpPr>
          <p:nvPr/>
        </p:nvSpPr>
        <p:spPr bwMode="auto">
          <a:xfrm>
            <a:off x="6272213" y="1681163"/>
            <a:ext cx="273526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a:solidFill>
                  <a:srgbClr val="FF0000"/>
                </a:solidFill>
              </a:rPr>
              <a:t>Drag increment for interference, roughness and excrescence </a:t>
            </a:r>
            <a:endParaRPr lang="nl-NL" altLang="en-US" sz="1600">
              <a:solidFill>
                <a:srgbClr val="FF0000"/>
              </a:solidFill>
            </a:endParaRP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3775790237"/>
                  </p:ext>
                </p:extLst>
              </p:nvPr>
            </p:nvGraphicFramePr>
            <p:xfrm>
              <a:off x="3048000" y="2770188"/>
              <a:ext cx="6096000" cy="2391696"/>
            </p:xfrm>
            <a:graphic>
              <a:graphicData uri="http://schemas.openxmlformats.org/drawingml/2006/table">
                <a:tbl>
                  <a:tblPr firstRow="1" bandRow="1">
                    <a:tableStyleId>{5C22544A-7EE6-4342-B048-85BDC9FD1C3A}</a:tableStyleId>
                  </a:tblPr>
                  <a:tblGrid>
                    <a:gridCol w="21118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2831976">
                      <a:extLst>
                        <a:ext uri="{9D8B030D-6E8A-4147-A177-3AD203B41FA5}">
                          <a16:colId xmlns:a16="http://schemas.microsoft.com/office/drawing/2014/main" val="20002"/>
                        </a:ext>
                      </a:extLst>
                    </a:gridCol>
                  </a:tblGrid>
                  <a:tr h="370719">
                    <a:tc>
                      <a:txBody>
                        <a:bodyPr/>
                        <a:lstStyle/>
                        <a:p>
                          <a:r>
                            <a:rPr lang="en-GB" sz="1400" dirty="0">
                              <a:solidFill>
                                <a:schemeClr val="tx1"/>
                              </a:solidFill>
                            </a:rPr>
                            <a:t>Aircraft</a:t>
                          </a:r>
                          <a:r>
                            <a:rPr lang="en-GB" sz="1400" baseline="0" dirty="0">
                              <a:solidFill>
                                <a:schemeClr val="tx1"/>
                              </a:solidFill>
                            </a:rPr>
                            <a:t> component</a:t>
                          </a:r>
                          <a:endParaRPr lang="nl-NL" sz="1400" dirty="0">
                            <a:solidFill>
                              <a:schemeClr val="tx1"/>
                            </a:solidFill>
                          </a:endParaRPr>
                        </a:p>
                      </a:txBody>
                      <a:tcPr marT="45706" marB="45706"/>
                    </a:tc>
                    <a:tc>
                      <a:txBody>
                        <a:bodyPr/>
                        <a:lstStyle/>
                        <a:p>
                          <a:pPr algn="ctr"/>
                          <a:r>
                            <a:rPr lang="en-GB" sz="1400" dirty="0" err="1">
                              <a:solidFill>
                                <a:schemeClr val="tx1"/>
                              </a:solidFill>
                            </a:rPr>
                            <a:t>CDc</a:t>
                          </a:r>
                          <a:endParaRPr lang="nl-NL" sz="1400" dirty="0">
                            <a:solidFill>
                              <a:schemeClr val="tx1"/>
                            </a:solidFill>
                          </a:endParaRPr>
                        </a:p>
                      </a:txBody>
                      <a:tcPr marT="45706" marB="45706"/>
                    </a:tc>
                    <a:tc>
                      <a:txBody>
                        <a:bodyPr/>
                        <a:lstStyle/>
                        <a:p>
                          <a:pPr algn="ctr"/>
                          <a14:m>
                            <m:oMathPara xmlns:m="http://schemas.openxmlformats.org/officeDocument/2006/math">
                              <m:oMathParaPr>
                                <m:jc m:val="centerGroup"/>
                              </m:oMathParaPr>
                              <m:oMath xmlns:m="http://schemas.openxmlformats.org/officeDocument/2006/math">
                                <m:sSub>
                                  <m:sSubPr>
                                    <m:ctrlPr>
                                      <a:rPr lang="en-GB" sz="1800" b="1" i="1" kern="1200" smtClean="0">
                                        <a:solidFill>
                                          <a:schemeClr val="tx1"/>
                                        </a:solidFill>
                                        <a:latin typeface="Cambria Math" panose="02040503050406030204" pitchFamily="18" charset="0"/>
                                        <a:ea typeface="+mn-ea"/>
                                        <a:cs typeface="+mn-cs"/>
                                      </a:rPr>
                                    </m:ctrlPr>
                                  </m:sSubPr>
                                  <m:e>
                                    <m:r>
                                      <a:rPr lang="en-GB" sz="1800" b="1" i="1" kern="1200" smtClean="0">
                                        <a:solidFill>
                                          <a:schemeClr val="tx1"/>
                                        </a:solidFill>
                                        <a:latin typeface="Cambria Math" panose="02040503050406030204" pitchFamily="18" charset="0"/>
                                        <a:ea typeface="+mn-ea"/>
                                        <a:cs typeface="+mn-cs"/>
                                      </a:rPr>
                                      <m:t>𝑺</m:t>
                                    </m:r>
                                  </m:e>
                                  <m:sub>
                                    <m:sSub>
                                      <m:sSubPr>
                                        <m:ctrlPr>
                                          <a:rPr lang="en-GB" sz="1800" b="1" i="1" kern="1200">
                                            <a:solidFill>
                                              <a:schemeClr val="tx1"/>
                                            </a:solidFill>
                                            <a:latin typeface="Cambria Math" panose="02040503050406030204" pitchFamily="18" charset="0"/>
                                            <a:ea typeface="+mn-ea"/>
                                            <a:cs typeface="+mn-cs"/>
                                          </a:rPr>
                                        </m:ctrlPr>
                                      </m:sSubPr>
                                      <m:e>
                                        <m:r>
                                          <a:rPr lang="en-GB" sz="1800" b="1" i="1" kern="1200" smtClean="0">
                                            <a:solidFill>
                                              <a:schemeClr val="tx1"/>
                                            </a:solidFill>
                                            <a:latin typeface="Cambria Math" panose="02040503050406030204" pitchFamily="18" charset="0"/>
                                            <a:ea typeface="+mn-ea"/>
                                            <a:cs typeface="+mn-cs"/>
                                          </a:rPr>
                                          <m:t>𝒘𝒆𝒕</m:t>
                                        </m:r>
                                      </m:e>
                                      <m:sub>
                                        <m:r>
                                          <a:rPr lang="en-GB" sz="1800" b="1" i="1" kern="1200">
                                            <a:solidFill>
                                              <a:schemeClr val="tx1"/>
                                            </a:solidFill>
                                            <a:latin typeface="Cambria Math" panose="02040503050406030204" pitchFamily="18" charset="0"/>
                                            <a:ea typeface="+mn-ea"/>
                                            <a:cs typeface="+mn-cs"/>
                                          </a:rPr>
                                          <m:t>𝑐</m:t>
                                        </m:r>
                                      </m:sub>
                                    </m:sSub>
                                  </m:sub>
                                </m:sSub>
                              </m:oMath>
                            </m:oMathPara>
                          </a14:m>
                          <a:endParaRPr lang="nl-NL" sz="1400" dirty="0">
                            <a:solidFill>
                              <a:schemeClr val="tx1"/>
                            </a:solidFill>
                          </a:endParaRPr>
                        </a:p>
                      </a:txBody>
                      <a:tcPr marT="45706" marB="45706"/>
                    </a:tc>
                    <a:extLst>
                      <a:ext uri="{0D108BD9-81ED-4DB2-BD59-A6C34878D82A}">
                        <a16:rowId xmlns:a16="http://schemas.microsoft.com/office/drawing/2014/main" val="10000"/>
                      </a:ext>
                    </a:extLst>
                  </a:tr>
                  <a:tr h="370719">
                    <a:tc>
                      <a:txBody>
                        <a:bodyPr/>
                        <a:lstStyle/>
                        <a:p>
                          <a:r>
                            <a:rPr lang="en-GB" sz="1400" dirty="0"/>
                            <a:t>Wing</a:t>
                          </a:r>
                          <a:endParaRPr lang="nl-NL" sz="1400" dirty="0"/>
                        </a:p>
                      </a:txBody>
                      <a:tcPr marT="45706" marB="45706"/>
                    </a:tc>
                    <a:tc>
                      <a:txBody>
                        <a:bodyPr/>
                        <a:lstStyle/>
                        <a:p>
                          <a:pPr algn="ctr"/>
                          <a:r>
                            <a:rPr lang="en-GB" sz="1400" dirty="0"/>
                            <a:t>0.0030</a:t>
                          </a:r>
                          <a:endParaRPr lang="nl-NL" sz="1400" dirty="0"/>
                        </a:p>
                      </a:txBody>
                      <a:tcPr marT="45706" marB="45706"/>
                    </a:tc>
                    <a:tc>
                      <a:txBody>
                        <a:bodyPr/>
                        <a:lstStyle/>
                        <a:p>
                          <a:pPr algn="ctr"/>
                          <a:r>
                            <a:rPr lang="en-GB" sz="1400" dirty="0"/>
                            <a:t>Wing wetted area</a:t>
                          </a:r>
                          <a:endParaRPr lang="nl-NL" sz="1400" dirty="0"/>
                        </a:p>
                      </a:txBody>
                      <a:tcPr marT="45706" marB="45706"/>
                    </a:tc>
                    <a:extLst>
                      <a:ext uri="{0D108BD9-81ED-4DB2-BD59-A6C34878D82A}">
                        <a16:rowId xmlns:a16="http://schemas.microsoft.com/office/drawing/2014/main" val="10001"/>
                      </a:ext>
                    </a:extLst>
                  </a:tr>
                  <a:tr h="370719">
                    <a:tc>
                      <a:txBody>
                        <a:bodyPr/>
                        <a:lstStyle/>
                        <a:p>
                          <a:r>
                            <a:rPr lang="en-GB" sz="1400" dirty="0"/>
                            <a:t>Fuselage</a:t>
                          </a:r>
                          <a:endParaRPr lang="nl-NL" sz="1400" dirty="0"/>
                        </a:p>
                      </a:txBody>
                      <a:tcPr marT="45706" marB="45706"/>
                    </a:tc>
                    <a:tc>
                      <a:txBody>
                        <a:bodyPr/>
                        <a:lstStyle/>
                        <a:p>
                          <a:pPr algn="ctr"/>
                          <a:r>
                            <a:rPr lang="en-GB" sz="1400" dirty="0"/>
                            <a:t>0.0024</a:t>
                          </a:r>
                        </a:p>
                      </a:txBody>
                      <a:tcPr marT="45706" marB="45706"/>
                    </a:tc>
                    <a:tc>
                      <a:txBody>
                        <a:bodyPr/>
                        <a:lstStyle/>
                        <a:p>
                          <a:pPr algn="ctr"/>
                          <a:r>
                            <a:rPr lang="en-GB" sz="1400" dirty="0"/>
                            <a:t>Fuselage wetted area</a:t>
                          </a:r>
                          <a:endParaRPr lang="nl-NL" sz="1400" dirty="0"/>
                        </a:p>
                      </a:txBody>
                      <a:tcPr marT="45706" marB="45706"/>
                    </a:tc>
                    <a:extLst>
                      <a:ext uri="{0D108BD9-81ED-4DB2-BD59-A6C34878D82A}">
                        <a16:rowId xmlns:a16="http://schemas.microsoft.com/office/drawing/2014/main" val="10002"/>
                      </a:ext>
                    </a:extLst>
                  </a:tr>
                  <a:tr h="518130">
                    <a:tc>
                      <a:txBody>
                        <a:bodyPr/>
                        <a:lstStyle/>
                        <a:p>
                          <a:r>
                            <a:rPr lang="en-GB" sz="1400" dirty="0"/>
                            <a:t>Nacelles</a:t>
                          </a:r>
                          <a:endParaRPr lang="nl-NL" sz="1400" dirty="0"/>
                        </a:p>
                      </a:txBody>
                      <a:tcPr marT="45706" marB="45706"/>
                    </a:tc>
                    <a:tc>
                      <a:txBody>
                        <a:bodyPr/>
                        <a:lstStyle/>
                        <a:p>
                          <a:pPr algn="ctr"/>
                          <a:r>
                            <a:rPr lang="en-GB" sz="1400" dirty="0"/>
                            <a:t>0.0060</a:t>
                          </a:r>
                          <a:endParaRPr lang="nl-NL" sz="1400" dirty="0"/>
                        </a:p>
                      </a:txBody>
                      <a:tcPr marT="45706" marB="45706"/>
                    </a:tc>
                    <a:tc>
                      <a:txBody>
                        <a:bodyPr/>
                        <a:lstStyle/>
                        <a:p>
                          <a:pPr algn="ctr"/>
                          <a:r>
                            <a:rPr lang="en-GB" sz="1400" dirty="0"/>
                            <a:t>Wetted area of nacelles</a:t>
                          </a:r>
                          <a:endParaRPr lang="nl-NL" sz="1400" dirty="0"/>
                        </a:p>
                        <a:p>
                          <a:pPr algn="ctr"/>
                          <a:endParaRPr lang="nl-NL" sz="1400" dirty="0"/>
                        </a:p>
                      </a:txBody>
                      <a:tcPr marT="45706" marB="45706"/>
                    </a:tc>
                    <a:extLst>
                      <a:ext uri="{0D108BD9-81ED-4DB2-BD59-A6C34878D82A}">
                        <a16:rowId xmlns:a16="http://schemas.microsoft.com/office/drawing/2014/main" val="10003"/>
                      </a:ext>
                    </a:extLst>
                  </a:tr>
                  <a:tr h="370719">
                    <a:tc>
                      <a:txBody>
                        <a:bodyPr/>
                        <a:lstStyle/>
                        <a:p>
                          <a:r>
                            <a:rPr lang="en-GB" sz="1400" dirty="0" err="1"/>
                            <a:t>Tailplane</a:t>
                          </a:r>
                          <a:endParaRPr lang="nl-NL" sz="1400" dirty="0"/>
                        </a:p>
                      </a:txBody>
                      <a:tcPr marT="45706" marB="45706"/>
                    </a:tc>
                    <a:tc>
                      <a:txBody>
                        <a:bodyPr/>
                        <a:lstStyle/>
                        <a:p>
                          <a:pPr algn="ctr"/>
                          <a:r>
                            <a:rPr lang="en-GB" sz="1400" dirty="0"/>
                            <a:t>0.0025</a:t>
                          </a:r>
                          <a:endParaRPr lang="nl-NL" sz="1400" dirty="0"/>
                        </a:p>
                      </a:txBody>
                      <a:tcPr marT="45706" marB="45706"/>
                    </a:tc>
                    <a:tc>
                      <a:txBody>
                        <a:bodyPr/>
                        <a:lstStyle/>
                        <a:p>
                          <a:pPr algn="ctr"/>
                          <a:r>
                            <a:rPr lang="en-GB" sz="1400" dirty="0" err="1"/>
                            <a:t>Tailplane</a:t>
                          </a:r>
                          <a:r>
                            <a:rPr lang="en-GB" sz="1400" dirty="0"/>
                            <a:t> wetted area</a:t>
                          </a:r>
                          <a:endParaRPr lang="nl-NL" sz="1400" dirty="0"/>
                        </a:p>
                      </a:txBody>
                      <a:tcPr marT="45706" marB="45706"/>
                    </a:tc>
                    <a:extLst>
                      <a:ext uri="{0D108BD9-81ED-4DB2-BD59-A6C34878D82A}">
                        <a16:rowId xmlns:a16="http://schemas.microsoft.com/office/drawing/2014/main" val="10004"/>
                      </a:ext>
                    </a:extLst>
                  </a:tr>
                  <a:tr h="370719">
                    <a:tc>
                      <a:txBody>
                        <a:bodyPr/>
                        <a:lstStyle/>
                        <a:p>
                          <a:r>
                            <a:rPr lang="en-GB" sz="1400" dirty="0" err="1"/>
                            <a:t>CDmisc</a:t>
                          </a:r>
                          <a:endParaRPr lang="nl-NL" sz="1400" dirty="0"/>
                        </a:p>
                      </a:txBody>
                      <a:tcPr marT="45706" marB="45706"/>
                    </a:tc>
                    <a:tc gridSpan="2">
                      <a:txBody>
                        <a:bodyPr/>
                        <a:lstStyle/>
                        <a:p>
                          <a:pPr algn="ctr"/>
                          <a:r>
                            <a:rPr lang="en-GB" sz="1400" dirty="0"/>
                            <a:t>Add 10% to CD0</a:t>
                          </a:r>
                          <a:endParaRPr lang="nl-NL" sz="1400" dirty="0"/>
                        </a:p>
                      </a:txBody>
                      <a:tcPr marT="45706" marB="45706"/>
                    </a:tc>
                    <a:tc hMerge="1">
                      <a:txBody>
                        <a:bodyPr/>
                        <a:lstStyle/>
                        <a:p>
                          <a:pPr algn="ctr"/>
                          <a:endParaRPr lang="nl-NL" sz="1400" dirty="0"/>
                        </a:p>
                      </a:txBody>
                      <a:tcPr/>
                    </a:tc>
                    <a:extLst>
                      <a:ext uri="{0D108BD9-81ED-4DB2-BD59-A6C34878D82A}">
                        <a16:rowId xmlns:a16="http://schemas.microsoft.com/office/drawing/2014/main" val="10005"/>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775790237"/>
                  </p:ext>
                </p:extLst>
              </p:nvPr>
            </p:nvGraphicFramePr>
            <p:xfrm>
              <a:off x="3048000" y="2770188"/>
              <a:ext cx="6096000" cy="2391696"/>
            </p:xfrm>
            <a:graphic>
              <a:graphicData uri="http://schemas.openxmlformats.org/drawingml/2006/table">
                <a:tbl>
                  <a:tblPr firstRow="1" bandRow="1">
                    <a:tableStyleId>{5C22544A-7EE6-4342-B048-85BDC9FD1C3A}</a:tableStyleId>
                  </a:tblPr>
                  <a:tblGrid>
                    <a:gridCol w="2111896">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2831976">
                      <a:extLst>
                        <a:ext uri="{9D8B030D-6E8A-4147-A177-3AD203B41FA5}">
                          <a16:colId xmlns:a16="http://schemas.microsoft.com/office/drawing/2014/main" val="20002"/>
                        </a:ext>
                      </a:extLst>
                    </a:gridCol>
                  </a:tblGrid>
                  <a:tr h="390688">
                    <a:tc>
                      <a:txBody>
                        <a:bodyPr/>
                        <a:lstStyle/>
                        <a:p>
                          <a:r>
                            <a:rPr lang="en-GB" sz="1400" dirty="0" smtClean="0">
                              <a:solidFill>
                                <a:schemeClr val="tx1"/>
                              </a:solidFill>
                            </a:rPr>
                            <a:t>Aircraft</a:t>
                          </a:r>
                          <a:r>
                            <a:rPr lang="en-GB" sz="1400" baseline="0" dirty="0" smtClean="0">
                              <a:solidFill>
                                <a:schemeClr val="tx1"/>
                              </a:solidFill>
                            </a:rPr>
                            <a:t> component</a:t>
                          </a:r>
                          <a:endParaRPr lang="nl-NL" sz="1400" dirty="0">
                            <a:solidFill>
                              <a:schemeClr val="tx1"/>
                            </a:solidFill>
                          </a:endParaRPr>
                        </a:p>
                      </a:txBody>
                      <a:tcPr marT="45706" marB="45706"/>
                    </a:tc>
                    <a:tc>
                      <a:txBody>
                        <a:bodyPr/>
                        <a:lstStyle/>
                        <a:p>
                          <a:pPr algn="ctr"/>
                          <a:r>
                            <a:rPr lang="en-GB" sz="1400" dirty="0" err="1" smtClean="0">
                              <a:solidFill>
                                <a:schemeClr val="tx1"/>
                              </a:solidFill>
                            </a:rPr>
                            <a:t>CDc</a:t>
                          </a:r>
                          <a:endParaRPr lang="nl-NL" sz="1400" dirty="0">
                            <a:solidFill>
                              <a:schemeClr val="tx1"/>
                            </a:solidFill>
                          </a:endParaRPr>
                        </a:p>
                      </a:txBody>
                      <a:tcPr marT="45706" marB="45706"/>
                    </a:tc>
                    <a:tc>
                      <a:txBody>
                        <a:bodyPr/>
                        <a:lstStyle/>
                        <a:p>
                          <a:endParaRPr lang="en-US"/>
                        </a:p>
                      </a:txBody>
                      <a:tcPr marT="45706" marB="45706">
                        <a:blipFill>
                          <a:blip r:embed="rId6"/>
                          <a:stretch>
                            <a:fillRect l="-115484" t="-1563" r="-1075" b="-517188"/>
                          </a:stretch>
                        </a:blipFill>
                      </a:tcPr>
                    </a:tc>
                    <a:extLst>
                      <a:ext uri="{0D108BD9-81ED-4DB2-BD59-A6C34878D82A}">
                        <a16:rowId xmlns:a16="http://schemas.microsoft.com/office/drawing/2014/main" val="10000"/>
                      </a:ext>
                    </a:extLst>
                  </a:tr>
                  <a:tr h="370719">
                    <a:tc>
                      <a:txBody>
                        <a:bodyPr/>
                        <a:lstStyle/>
                        <a:p>
                          <a:r>
                            <a:rPr lang="en-GB" sz="1400" dirty="0" smtClean="0"/>
                            <a:t>Wing</a:t>
                          </a:r>
                          <a:endParaRPr lang="nl-NL" sz="1400" dirty="0"/>
                        </a:p>
                      </a:txBody>
                      <a:tcPr marT="45706" marB="45706"/>
                    </a:tc>
                    <a:tc>
                      <a:txBody>
                        <a:bodyPr/>
                        <a:lstStyle/>
                        <a:p>
                          <a:pPr algn="ctr"/>
                          <a:r>
                            <a:rPr lang="en-GB" sz="1400" dirty="0" smtClean="0"/>
                            <a:t>0.0030</a:t>
                          </a:r>
                          <a:endParaRPr lang="nl-NL" sz="1400" dirty="0"/>
                        </a:p>
                      </a:txBody>
                      <a:tcPr marT="45706" marB="45706"/>
                    </a:tc>
                    <a:tc>
                      <a:txBody>
                        <a:bodyPr/>
                        <a:lstStyle/>
                        <a:p>
                          <a:pPr algn="ctr"/>
                          <a:r>
                            <a:rPr lang="en-GB" sz="1400" dirty="0" smtClean="0"/>
                            <a:t>Wing wetted area</a:t>
                          </a:r>
                          <a:endParaRPr lang="nl-NL" sz="1400" dirty="0"/>
                        </a:p>
                      </a:txBody>
                      <a:tcPr marT="45706" marB="45706"/>
                    </a:tc>
                    <a:extLst>
                      <a:ext uri="{0D108BD9-81ED-4DB2-BD59-A6C34878D82A}">
                        <a16:rowId xmlns:a16="http://schemas.microsoft.com/office/drawing/2014/main" val="10001"/>
                      </a:ext>
                    </a:extLst>
                  </a:tr>
                  <a:tr h="370719">
                    <a:tc>
                      <a:txBody>
                        <a:bodyPr/>
                        <a:lstStyle/>
                        <a:p>
                          <a:r>
                            <a:rPr lang="en-GB" sz="1400" dirty="0" smtClean="0"/>
                            <a:t>Fuselage</a:t>
                          </a:r>
                          <a:endParaRPr lang="nl-NL" sz="1400" dirty="0"/>
                        </a:p>
                      </a:txBody>
                      <a:tcPr marT="45706" marB="45706"/>
                    </a:tc>
                    <a:tc>
                      <a:txBody>
                        <a:bodyPr/>
                        <a:lstStyle/>
                        <a:p>
                          <a:pPr algn="ctr"/>
                          <a:r>
                            <a:rPr lang="en-GB" sz="1400" dirty="0" smtClean="0"/>
                            <a:t>0.0024</a:t>
                          </a:r>
                        </a:p>
                      </a:txBody>
                      <a:tcPr marT="45706" marB="45706"/>
                    </a:tc>
                    <a:tc>
                      <a:txBody>
                        <a:bodyPr/>
                        <a:lstStyle/>
                        <a:p>
                          <a:pPr algn="ctr"/>
                          <a:r>
                            <a:rPr lang="en-GB" sz="1400" dirty="0" smtClean="0"/>
                            <a:t>Fuselage wetted area</a:t>
                          </a:r>
                          <a:endParaRPr lang="nl-NL" sz="1400" dirty="0"/>
                        </a:p>
                      </a:txBody>
                      <a:tcPr marT="45706" marB="45706"/>
                    </a:tc>
                    <a:extLst>
                      <a:ext uri="{0D108BD9-81ED-4DB2-BD59-A6C34878D82A}">
                        <a16:rowId xmlns:a16="http://schemas.microsoft.com/office/drawing/2014/main" val="10002"/>
                      </a:ext>
                    </a:extLst>
                  </a:tr>
                  <a:tr h="518132">
                    <a:tc>
                      <a:txBody>
                        <a:bodyPr/>
                        <a:lstStyle/>
                        <a:p>
                          <a:r>
                            <a:rPr lang="en-GB" sz="1400" dirty="0" smtClean="0"/>
                            <a:t>Nacelles</a:t>
                          </a:r>
                          <a:endParaRPr lang="nl-NL" sz="1400" dirty="0"/>
                        </a:p>
                      </a:txBody>
                      <a:tcPr marT="45706" marB="45706"/>
                    </a:tc>
                    <a:tc>
                      <a:txBody>
                        <a:bodyPr/>
                        <a:lstStyle/>
                        <a:p>
                          <a:pPr algn="ctr"/>
                          <a:r>
                            <a:rPr lang="en-GB" sz="1400" dirty="0" smtClean="0"/>
                            <a:t>0.0060</a:t>
                          </a:r>
                          <a:endParaRPr lang="nl-NL" sz="1400" dirty="0"/>
                        </a:p>
                      </a:txBody>
                      <a:tcPr marT="45706" marB="45706"/>
                    </a:tc>
                    <a:tc>
                      <a:txBody>
                        <a:bodyPr/>
                        <a:lstStyle/>
                        <a:p>
                          <a:pPr algn="ctr"/>
                          <a:r>
                            <a:rPr lang="en-GB" sz="1400" dirty="0" smtClean="0"/>
                            <a:t>Wetted area of nacelles</a:t>
                          </a:r>
                          <a:endParaRPr lang="nl-NL" sz="1400" dirty="0" smtClean="0"/>
                        </a:p>
                        <a:p>
                          <a:pPr algn="ctr"/>
                          <a:endParaRPr lang="nl-NL" sz="1400" dirty="0"/>
                        </a:p>
                      </a:txBody>
                      <a:tcPr marT="45706" marB="45706"/>
                    </a:tc>
                    <a:extLst>
                      <a:ext uri="{0D108BD9-81ED-4DB2-BD59-A6C34878D82A}">
                        <a16:rowId xmlns:a16="http://schemas.microsoft.com/office/drawing/2014/main" val="10003"/>
                      </a:ext>
                    </a:extLst>
                  </a:tr>
                  <a:tr h="370719">
                    <a:tc>
                      <a:txBody>
                        <a:bodyPr/>
                        <a:lstStyle/>
                        <a:p>
                          <a:r>
                            <a:rPr lang="en-GB" sz="1400" dirty="0" err="1" smtClean="0"/>
                            <a:t>Tailplane</a:t>
                          </a:r>
                          <a:endParaRPr lang="nl-NL" sz="1400" dirty="0"/>
                        </a:p>
                      </a:txBody>
                      <a:tcPr marT="45706" marB="45706"/>
                    </a:tc>
                    <a:tc>
                      <a:txBody>
                        <a:bodyPr/>
                        <a:lstStyle/>
                        <a:p>
                          <a:pPr algn="ctr"/>
                          <a:r>
                            <a:rPr lang="en-GB" sz="1400" dirty="0" smtClean="0"/>
                            <a:t>0.0025</a:t>
                          </a:r>
                          <a:endParaRPr lang="nl-NL" sz="1400" dirty="0"/>
                        </a:p>
                      </a:txBody>
                      <a:tcPr marT="45706" marB="45706"/>
                    </a:tc>
                    <a:tc>
                      <a:txBody>
                        <a:bodyPr/>
                        <a:lstStyle/>
                        <a:p>
                          <a:pPr algn="ctr"/>
                          <a:r>
                            <a:rPr lang="en-GB" sz="1400" dirty="0" err="1" smtClean="0"/>
                            <a:t>Tailplane</a:t>
                          </a:r>
                          <a:r>
                            <a:rPr lang="en-GB" sz="1400" dirty="0" smtClean="0"/>
                            <a:t> wetted area</a:t>
                          </a:r>
                          <a:endParaRPr lang="nl-NL" sz="1400" dirty="0"/>
                        </a:p>
                      </a:txBody>
                      <a:tcPr marT="45706" marB="45706"/>
                    </a:tc>
                    <a:extLst>
                      <a:ext uri="{0D108BD9-81ED-4DB2-BD59-A6C34878D82A}">
                        <a16:rowId xmlns:a16="http://schemas.microsoft.com/office/drawing/2014/main" val="10004"/>
                      </a:ext>
                    </a:extLst>
                  </a:tr>
                  <a:tr h="370719">
                    <a:tc>
                      <a:txBody>
                        <a:bodyPr/>
                        <a:lstStyle/>
                        <a:p>
                          <a:r>
                            <a:rPr lang="en-GB" sz="1400" dirty="0" err="1" smtClean="0"/>
                            <a:t>CDmisc</a:t>
                          </a:r>
                          <a:endParaRPr lang="nl-NL" sz="1400" dirty="0"/>
                        </a:p>
                      </a:txBody>
                      <a:tcPr marT="45706" marB="45706"/>
                    </a:tc>
                    <a:tc gridSpan="2">
                      <a:txBody>
                        <a:bodyPr/>
                        <a:lstStyle/>
                        <a:p>
                          <a:pPr algn="ctr"/>
                          <a:r>
                            <a:rPr lang="en-GB" sz="1400" dirty="0" smtClean="0"/>
                            <a:t>Add 10% to CD0</a:t>
                          </a:r>
                          <a:endParaRPr lang="nl-NL" sz="1400" dirty="0"/>
                        </a:p>
                      </a:txBody>
                      <a:tcPr marT="45706" marB="45706"/>
                    </a:tc>
                    <a:tc hMerge="1">
                      <a:txBody>
                        <a:bodyPr/>
                        <a:lstStyle/>
                        <a:p>
                          <a:pPr algn="ctr"/>
                          <a:endParaRPr lang="nl-NL" sz="1400" dirty="0"/>
                        </a:p>
                      </a:txBody>
                      <a:tcPr/>
                    </a:tc>
                    <a:extLst>
                      <a:ext uri="{0D108BD9-81ED-4DB2-BD59-A6C34878D82A}">
                        <a16:rowId xmlns:a16="http://schemas.microsoft.com/office/drawing/2014/main" val="10005"/>
                      </a:ext>
                    </a:extLst>
                  </a:tr>
                </a:tbl>
              </a:graphicData>
            </a:graphic>
          </p:graphicFrame>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95400" y="200028"/>
            <a:ext cx="9405863"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sz="3200" kern="0" dirty="0">
                <a:solidFill>
                  <a:schemeClr val="bg2"/>
                </a:solidFill>
              </a:rPr>
              <a:t>2-Component wetted area</a:t>
            </a:r>
            <a:endParaRPr lang="nl-NL" sz="3200" kern="0" dirty="0">
              <a:solidFill>
                <a:schemeClr val="bg2"/>
              </a:solidFill>
            </a:endParaRPr>
          </a:p>
        </p:txBody>
      </p:sp>
      <p:sp>
        <p:nvSpPr>
          <p:cNvPr id="3" name="Content Placeholder 2"/>
          <p:cNvSpPr txBox="1">
            <a:spLocks/>
          </p:cNvSpPr>
          <p:nvPr/>
        </p:nvSpPr>
        <p:spPr>
          <a:xfrm>
            <a:off x="2203450" y="1144589"/>
            <a:ext cx="8135938" cy="4084637"/>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marL="0" indent="0">
              <a:buNone/>
              <a:defRPr/>
            </a:pPr>
            <a:r>
              <a:rPr lang="en-GB" sz="1600" kern="0" dirty="0"/>
              <a:t>Wing wetted area: </a:t>
            </a:r>
          </a:p>
          <a:p>
            <a:pPr marL="0" indent="0">
              <a:buNone/>
              <a:defRPr/>
            </a:pPr>
            <a:endParaRPr lang="en-GB" sz="1600" kern="0" dirty="0"/>
          </a:p>
          <a:p>
            <a:pPr marL="0" indent="0">
              <a:buNone/>
              <a:defRPr/>
            </a:pPr>
            <a:r>
              <a:rPr lang="en-GB" sz="1600" kern="0" dirty="0"/>
              <a:t>Horizontal tail wetted area: </a:t>
            </a:r>
          </a:p>
          <a:p>
            <a:pPr marL="0" indent="0">
              <a:buNone/>
              <a:defRPr/>
            </a:pPr>
            <a:endParaRPr lang="en-GB" sz="1600" kern="0" dirty="0"/>
          </a:p>
          <a:p>
            <a:pPr marL="0" indent="0">
              <a:buNone/>
              <a:defRPr/>
            </a:pPr>
            <a:r>
              <a:rPr lang="en-GB" sz="1600" kern="0" dirty="0"/>
              <a:t>Vertical tail wetted area:</a:t>
            </a:r>
          </a:p>
          <a:p>
            <a:pPr marL="0" indent="0">
              <a:buNone/>
              <a:defRPr/>
            </a:pPr>
            <a:endParaRPr lang="en-GB" sz="1600" kern="0" dirty="0"/>
          </a:p>
          <a:p>
            <a:pPr marL="0" indent="0">
              <a:buNone/>
              <a:defRPr/>
            </a:pPr>
            <a:r>
              <a:rPr lang="en-GB" sz="1600" kern="0" dirty="0"/>
              <a:t>Fuselage wetted area:</a:t>
            </a:r>
          </a:p>
          <a:p>
            <a:pPr>
              <a:defRPr/>
            </a:pPr>
            <a:endParaRPr lang="en-GB" sz="1600" kern="0" dirty="0"/>
          </a:p>
          <a:p>
            <a:pPr>
              <a:defRPr/>
            </a:pPr>
            <a:endParaRPr lang="en-GB" sz="1600" kern="0" dirty="0"/>
          </a:p>
          <a:p>
            <a:pPr>
              <a:defRPr/>
            </a:pPr>
            <a:endParaRPr lang="en-GB" sz="1600" kern="0" dirty="0"/>
          </a:p>
          <a:p>
            <a:pPr>
              <a:defRPr/>
            </a:pPr>
            <a:endParaRPr lang="en-GB" sz="1600" kern="0" dirty="0"/>
          </a:p>
          <a:p>
            <a:pPr>
              <a:defRPr/>
            </a:pPr>
            <a:endParaRPr lang="en-GB" sz="1600" kern="0" dirty="0"/>
          </a:p>
        </p:txBody>
      </p:sp>
      <p:graphicFrame>
        <p:nvGraphicFramePr>
          <p:cNvPr id="45060" name="Object 3"/>
          <p:cNvGraphicFramePr>
            <a:graphicFrameLocks noChangeAspect="1"/>
          </p:cNvGraphicFramePr>
          <p:nvPr>
            <p:extLst>
              <p:ext uri="{D42A27DB-BD31-4B8C-83A1-F6EECF244321}">
                <p14:modId xmlns:p14="http://schemas.microsoft.com/office/powerpoint/2010/main" val="729207990"/>
              </p:ext>
            </p:extLst>
          </p:nvPr>
        </p:nvGraphicFramePr>
        <p:xfrm>
          <a:off x="6731001" y="1125539"/>
          <a:ext cx="2689225" cy="496887"/>
        </p:xfrm>
        <a:graphic>
          <a:graphicData uri="http://schemas.openxmlformats.org/presentationml/2006/ole">
            <mc:AlternateContent xmlns:mc="http://schemas.openxmlformats.org/markup-compatibility/2006">
              <mc:Choice xmlns:v="urn:schemas-microsoft-com:vml" Requires="v">
                <p:oleObj name="Equation" r:id="rId3" imgW="1307880" imgH="241200" progId="Equation.DSMT4">
                  <p:embed/>
                </p:oleObj>
              </mc:Choice>
              <mc:Fallback>
                <p:oleObj name="Equation" r:id="rId3" imgW="1307880" imgH="241200" progId="Equation.DSMT4">
                  <p:embed/>
                  <p:pic>
                    <p:nvPicPr>
                      <p:cNvPr id="0" name="Object 3"/>
                      <p:cNvPicPr>
                        <a:picLocks noChangeAspect="1" noChangeArrowheads="1"/>
                      </p:cNvPicPr>
                      <p:nvPr/>
                    </p:nvPicPr>
                    <p:blipFill>
                      <a:blip r:embed="rId4"/>
                      <a:srcRect/>
                      <a:stretch>
                        <a:fillRect/>
                      </a:stretch>
                    </p:blipFill>
                    <p:spPr bwMode="auto">
                      <a:xfrm>
                        <a:off x="6731001" y="1125539"/>
                        <a:ext cx="26892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61" name="Object 4"/>
          <p:cNvGraphicFramePr>
            <a:graphicFrameLocks noChangeAspect="1"/>
          </p:cNvGraphicFramePr>
          <p:nvPr>
            <p:extLst>
              <p:ext uri="{D42A27DB-BD31-4B8C-83A1-F6EECF244321}">
                <p14:modId xmlns:p14="http://schemas.microsoft.com/office/powerpoint/2010/main" val="3194754798"/>
              </p:ext>
            </p:extLst>
          </p:nvPr>
        </p:nvGraphicFramePr>
        <p:xfrm>
          <a:off x="6808789" y="1785939"/>
          <a:ext cx="2738437" cy="496887"/>
        </p:xfrm>
        <a:graphic>
          <a:graphicData uri="http://schemas.openxmlformats.org/presentationml/2006/ole">
            <mc:AlternateContent xmlns:mc="http://schemas.openxmlformats.org/markup-compatibility/2006">
              <mc:Choice xmlns:v="urn:schemas-microsoft-com:vml" Requires="v">
                <p:oleObj name="Equation" r:id="rId5" imgW="1333440" imgH="241200" progId="Equation.DSMT4">
                  <p:embed/>
                </p:oleObj>
              </mc:Choice>
              <mc:Fallback>
                <p:oleObj name="Equation" r:id="rId5" imgW="1333440" imgH="241200" progId="Equation.DSMT4">
                  <p:embed/>
                  <p:pic>
                    <p:nvPicPr>
                      <p:cNvPr id="0" name="Object 4"/>
                      <p:cNvPicPr>
                        <a:picLocks noChangeAspect="1" noChangeArrowheads="1"/>
                      </p:cNvPicPr>
                      <p:nvPr/>
                    </p:nvPicPr>
                    <p:blipFill>
                      <a:blip r:embed="rId6"/>
                      <a:srcRect/>
                      <a:stretch>
                        <a:fillRect/>
                      </a:stretch>
                    </p:blipFill>
                    <p:spPr bwMode="auto">
                      <a:xfrm>
                        <a:off x="6808789" y="1785939"/>
                        <a:ext cx="2738437"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5063"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37225" y="3173413"/>
            <a:ext cx="4032250" cy="174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45064" name="Object 6"/>
          <p:cNvGraphicFramePr>
            <a:graphicFrameLocks noChangeAspect="1"/>
          </p:cNvGraphicFramePr>
          <p:nvPr>
            <p:extLst>
              <p:ext uri="{D42A27DB-BD31-4B8C-83A1-F6EECF244321}">
                <p14:modId xmlns:p14="http://schemas.microsoft.com/office/powerpoint/2010/main" val="2366306014"/>
              </p:ext>
            </p:extLst>
          </p:nvPr>
        </p:nvGraphicFramePr>
        <p:xfrm>
          <a:off x="2884489" y="4941889"/>
          <a:ext cx="6162675" cy="909637"/>
        </p:xfrm>
        <a:graphic>
          <a:graphicData uri="http://schemas.openxmlformats.org/presentationml/2006/ole">
            <mc:AlternateContent xmlns:mc="http://schemas.openxmlformats.org/markup-compatibility/2006">
              <mc:Choice xmlns:v="urn:schemas-microsoft-com:vml" Requires="v">
                <p:oleObj name="Equation" r:id="rId8" imgW="3962160" imgH="583920" progId="Equation.DSMT4">
                  <p:embed/>
                </p:oleObj>
              </mc:Choice>
              <mc:Fallback>
                <p:oleObj name="Equation" r:id="rId8" imgW="3962160" imgH="583920" progId="Equation.DSMT4">
                  <p:embed/>
                  <p:pic>
                    <p:nvPicPr>
                      <p:cNvPr id="0" name="Object 6"/>
                      <p:cNvPicPr>
                        <a:picLocks noChangeAspect="1" noChangeArrowheads="1"/>
                      </p:cNvPicPr>
                      <p:nvPr/>
                    </p:nvPicPr>
                    <p:blipFill>
                      <a:blip r:embed="rId9"/>
                      <a:srcRect/>
                      <a:stretch>
                        <a:fillRect/>
                      </a:stretch>
                    </p:blipFill>
                    <p:spPr bwMode="auto">
                      <a:xfrm>
                        <a:off x="2884489" y="4941889"/>
                        <a:ext cx="6162675" cy="90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4"/>
          <p:cNvGraphicFramePr>
            <a:graphicFrameLocks noChangeAspect="1"/>
          </p:cNvGraphicFramePr>
          <p:nvPr>
            <p:extLst>
              <p:ext uri="{D42A27DB-BD31-4B8C-83A1-F6EECF244321}">
                <p14:modId xmlns:p14="http://schemas.microsoft.com/office/powerpoint/2010/main" val="3139541878"/>
              </p:ext>
            </p:extLst>
          </p:nvPr>
        </p:nvGraphicFramePr>
        <p:xfrm>
          <a:off x="6731001" y="2406650"/>
          <a:ext cx="2817813" cy="496888"/>
        </p:xfrm>
        <a:graphic>
          <a:graphicData uri="http://schemas.openxmlformats.org/presentationml/2006/ole">
            <mc:AlternateContent xmlns:mc="http://schemas.openxmlformats.org/markup-compatibility/2006">
              <mc:Choice xmlns:v="urn:schemas-microsoft-com:vml" Requires="v">
                <p:oleObj name="Equation" r:id="rId10" imgW="1371600" imgH="241200" progId="Equation.DSMT4">
                  <p:embed/>
                </p:oleObj>
              </mc:Choice>
              <mc:Fallback>
                <p:oleObj name="Equation" r:id="rId10" imgW="1371600" imgH="241200" progId="Equation.DSMT4">
                  <p:embed/>
                  <p:pic>
                    <p:nvPicPr>
                      <p:cNvPr id="45061" name="Object 4"/>
                      <p:cNvPicPr>
                        <a:picLocks noChangeAspect="1" noChangeArrowheads="1"/>
                      </p:cNvPicPr>
                      <p:nvPr/>
                    </p:nvPicPr>
                    <p:blipFill>
                      <a:blip r:embed="rId11"/>
                      <a:srcRect/>
                      <a:stretch>
                        <a:fillRect/>
                      </a:stretch>
                    </p:blipFill>
                    <p:spPr bwMode="auto">
                      <a:xfrm>
                        <a:off x="6731001" y="2406650"/>
                        <a:ext cx="2817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911424" y="404813"/>
            <a:ext cx="9189839"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3-The component drag build-up method</a:t>
            </a:r>
            <a:endParaRPr lang="nl-NL" kern="0" dirty="0">
              <a:solidFill>
                <a:schemeClr val="bg2"/>
              </a:solidFill>
            </a:endParaRPr>
          </a:p>
        </p:txBody>
      </p:sp>
      <p:sp>
        <p:nvSpPr>
          <p:cNvPr id="3" name="Content Placeholder 2"/>
          <p:cNvSpPr txBox="1">
            <a:spLocks/>
          </p:cNvSpPr>
          <p:nvPr/>
        </p:nvSpPr>
        <p:spPr>
          <a:xfrm>
            <a:off x="911424" y="1484784"/>
            <a:ext cx="10513168" cy="4084637"/>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600" kern="0" dirty="0"/>
              <a:t>This method estimates the subsonic parasite drag of each aircraft component using:</a:t>
            </a:r>
          </a:p>
          <a:p>
            <a:pPr>
              <a:defRPr/>
            </a:pPr>
            <a:endParaRPr lang="en-GB" sz="1600" kern="0" dirty="0"/>
          </a:p>
          <a:p>
            <a:pPr lvl="1">
              <a:defRPr/>
            </a:pPr>
            <a:r>
              <a:rPr lang="en-GB" sz="1400" kern="0" dirty="0"/>
              <a:t>flat plate skin friction coefficient (</a:t>
            </a:r>
            <a:r>
              <a:rPr lang="en-GB" sz="1400" kern="0" dirty="0" err="1"/>
              <a:t>Cf</a:t>
            </a:r>
            <a:r>
              <a:rPr lang="en-GB" sz="1400" kern="0" dirty="0"/>
              <a:t>), that estimates the component friction drag </a:t>
            </a:r>
          </a:p>
          <a:p>
            <a:pPr lvl="1">
              <a:defRPr/>
            </a:pPr>
            <a:r>
              <a:rPr lang="en-GB" sz="1400" kern="0" dirty="0"/>
              <a:t>Component form factor (FF), that estimates the pressure drag due to viscous separation</a:t>
            </a:r>
          </a:p>
          <a:p>
            <a:pPr lvl="1">
              <a:defRPr/>
            </a:pPr>
            <a:r>
              <a:rPr lang="en-GB" sz="1400" kern="0" dirty="0"/>
              <a:t>Interference factor (IF) , that estimates the effect of each components on the drag of the other components</a:t>
            </a:r>
          </a:p>
          <a:p>
            <a:pPr lvl="1">
              <a:defRPr/>
            </a:pPr>
            <a:r>
              <a:rPr lang="en-GB" sz="1400" kern="0" dirty="0"/>
              <a:t>Miscellaneous drag includes special features such as flaps, landing gear etc.</a:t>
            </a:r>
          </a:p>
          <a:p>
            <a:pPr>
              <a:defRPr/>
            </a:pPr>
            <a:endParaRPr lang="en-GB" sz="1600" kern="0" dirty="0"/>
          </a:p>
          <a:p>
            <a:pPr>
              <a:defRPr/>
            </a:pPr>
            <a:endParaRPr lang="en-GB" sz="1600" kern="0" dirty="0"/>
          </a:p>
          <a:p>
            <a:pPr>
              <a:defRPr/>
            </a:pPr>
            <a:endParaRPr lang="en-GB" sz="1600" kern="0" dirty="0"/>
          </a:p>
          <a:p>
            <a:pPr>
              <a:defRPr/>
            </a:pPr>
            <a:endParaRPr lang="en-GB" sz="1600" kern="0" dirty="0"/>
          </a:p>
          <a:p>
            <a:pPr>
              <a:defRPr/>
            </a:pPr>
            <a:endParaRPr lang="en-GB" sz="1600" kern="0" dirty="0"/>
          </a:p>
        </p:txBody>
      </p:sp>
      <p:graphicFrame>
        <p:nvGraphicFramePr>
          <p:cNvPr id="46084" name="Object 3"/>
          <p:cNvGraphicFramePr>
            <a:graphicFrameLocks noChangeAspect="1"/>
          </p:cNvGraphicFramePr>
          <p:nvPr>
            <p:extLst>
              <p:ext uri="{D42A27DB-BD31-4B8C-83A1-F6EECF244321}">
                <p14:modId xmlns:p14="http://schemas.microsoft.com/office/powerpoint/2010/main" val="549565965"/>
              </p:ext>
            </p:extLst>
          </p:nvPr>
        </p:nvGraphicFramePr>
        <p:xfrm>
          <a:off x="3299395" y="4221088"/>
          <a:ext cx="5737225" cy="933450"/>
        </p:xfrm>
        <a:graphic>
          <a:graphicData uri="http://schemas.openxmlformats.org/presentationml/2006/ole">
            <mc:AlternateContent xmlns:mc="http://schemas.openxmlformats.org/markup-compatibility/2006">
              <mc:Choice xmlns:v="urn:schemas-microsoft-com:vml" Requires="v">
                <p:oleObj name="Equation" r:id="rId3" imgW="2730240" imgH="444240" progId="Equation.DSMT4">
                  <p:embed/>
                </p:oleObj>
              </mc:Choice>
              <mc:Fallback>
                <p:oleObj name="Equation" r:id="rId3" imgW="2730240" imgH="444240" progId="Equation.DSMT4">
                  <p:embed/>
                  <p:pic>
                    <p:nvPicPr>
                      <p:cNvPr id="0" name="Object 3"/>
                      <p:cNvPicPr>
                        <a:picLocks noChangeAspect="1" noChangeArrowheads="1"/>
                      </p:cNvPicPr>
                      <p:nvPr/>
                    </p:nvPicPr>
                    <p:blipFill>
                      <a:blip r:embed="rId4"/>
                      <a:srcRect/>
                      <a:stretch>
                        <a:fillRect/>
                      </a:stretch>
                    </p:blipFill>
                    <p:spPr bwMode="auto">
                      <a:xfrm>
                        <a:off x="3299395" y="4221088"/>
                        <a:ext cx="5737225"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p:cNvSpPr>
            <a:spLocks noGrp="1"/>
          </p:cNvSpPr>
          <p:nvPr>
            <p:ph idx="1"/>
          </p:nvPr>
        </p:nvSpPr>
        <p:spPr>
          <a:xfrm>
            <a:off x="2782889" y="1916113"/>
            <a:ext cx="7246937" cy="360362"/>
          </a:xfrm>
          <a:ln cap="flat" algn="ctr">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indent="0" eaLnBrk="1" hangingPunct="1">
              <a:lnSpc>
                <a:spcPct val="100000"/>
              </a:lnSpc>
              <a:buClrTx/>
              <a:buNone/>
              <a:defRPr/>
            </a:pPr>
            <a:r>
              <a:rPr lang="nl-NL" altLang="en-US" sz="1600" kern="1200" dirty="0"/>
              <a:t>It </a:t>
            </a:r>
            <a:r>
              <a:rPr lang="nl-NL" altLang="en-US" sz="1600" kern="1200" dirty="0" err="1"/>
              <a:t>depends</a:t>
            </a:r>
            <a:r>
              <a:rPr lang="nl-NL" altLang="en-US" sz="1600" kern="1200" dirty="0"/>
              <a:t> on </a:t>
            </a:r>
            <a:r>
              <a:rPr lang="nl-NL" altLang="en-US" sz="1600" kern="1200" dirty="0" err="1"/>
              <a:t>the</a:t>
            </a:r>
            <a:r>
              <a:rPr lang="nl-NL" altLang="en-US" sz="1600" kern="1200" dirty="0"/>
              <a:t> Reynolds </a:t>
            </a:r>
            <a:r>
              <a:rPr lang="nl-NL" altLang="en-US" sz="1600" kern="1200" dirty="0" err="1"/>
              <a:t>number</a:t>
            </a:r>
            <a:r>
              <a:rPr lang="nl-NL" altLang="en-US" sz="1600" kern="1200" dirty="0"/>
              <a:t> </a:t>
            </a:r>
            <a:r>
              <a:rPr lang="nl-NL" altLang="en-US" sz="1600" kern="1200" dirty="0" err="1"/>
              <a:t>and</a:t>
            </a:r>
            <a:r>
              <a:rPr lang="nl-NL" altLang="en-US" sz="1600" kern="1200" dirty="0"/>
              <a:t> on </a:t>
            </a:r>
            <a:r>
              <a:rPr lang="nl-NL" altLang="en-US" sz="1600" kern="1200" dirty="0" err="1"/>
              <a:t>the</a:t>
            </a:r>
            <a:r>
              <a:rPr lang="nl-NL" altLang="en-US" sz="1600" kern="1200" dirty="0"/>
              <a:t> type of </a:t>
            </a:r>
            <a:r>
              <a:rPr lang="nl-NL" altLang="en-US" sz="1600" kern="1200" dirty="0" err="1"/>
              <a:t>boundary</a:t>
            </a:r>
            <a:r>
              <a:rPr lang="nl-NL" altLang="en-US" sz="1600" kern="1200" dirty="0"/>
              <a:t> </a:t>
            </a:r>
            <a:r>
              <a:rPr lang="nl-NL" altLang="en-US" sz="1600" kern="1200" dirty="0" err="1"/>
              <a:t>layer</a:t>
            </a:r>
            <a:endParaRPr lang="nl-NL" altLang="en-US" sz="1600" kern="1200" dirty="0"/>
          </a:p>
        </p:txBody>
      </p:sp>
      <p:pic>
        <p:nvPicPr>
          <p:cNvPr id="317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933825"/>
            <a:ext cx="4300538" cy="1511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7108" name="Title 1"/>
          <p:cNvSpPr>
            <a:spLocks noGrp="1"/>
          </p:cNvSpPr>
          <p:nvPr>
            <p:ph type="title"/>
          </p:nvPr>
        </p:nvSpPr>
        <p:spPr>
          <a:xfrm>
            <a:off x="839416" y="76200"/>
            <a:ext cx="10596935" cy="760413"/>
          </a:xfrm>
        </p:spPr>
        <p:txBody>
          <a:bodyPr/>
          <a:lstStyle/>
          <a:p>
            <a:r>
              <a:rPr lang="en-GB" altLang="en-US" sz="3200" dirty="0">
                <a:solidFill>
                  <a:schemeClr val="bg2"/>
                </a:solidFill>
              </a:rPr>
              <a:t>3-Laminar vs turbulent boundary layer</a:t>
            </a:r>
            <a:endParaRPr lang="nl-NL" altLang="en-US" sz="3200" dirty="0">
              <a:solidFill>
                <a:schemeClr val="bg2"/>
              </a:solidFill>
            </a:endParaRPr>
          </a:p>
        </p:txBody>
      </p:sp>
      <p:sp>
        <p:nvSpPr>
          <p:cNvPr id="47109" name="TextBox 6"/>
          <p:cNvSpPr txBox="1">
            <a:spLocks noChangeArrowheads="1"/>
          </p:cNvSpPr>
          <p:nvPr/>
        </p:nvSpPr>
        <p:spPr bwMode="auto">
          <a:xfrm>
            <a:off x="7967663" y="5816601"/>
            <a:ext cx="26654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200"/>
              <a:t>Fig. source: Gudmundsson</a:t>
            </a:r>
            <a:endParaRPr lang="nl-NL" altLang="en-US" sz="1200"/>
          </a:p>
        </p:txBody>
      </p:sp>
      <p:graphicFrame>
        <p:nvGraphicFramePr>
          <p:cNvPr id="47110" name="Object 1"/>
          <p:cNvGraphicFramePr>
            <a:graphicFrameLocks noChangeAspect="1"/>
          </p:cNvGraphicFramePr>
          <p:nvPr/>
        </p:nvGraphicFramePr>
        <p:xfrm>
          <a:off x="3486151" y="981075"/>
          <a:ext cx="5364163" cy="933450"/>
        </p:xfrm>
        <a:graphic>
          <a:graphicData uri="http://schemas.openxmlformats.org/presentationml/2006/ole">
            <mc:AlternateContent xmlns:mc="http://schemas.openxmlformats.org/markup-compatibility/2006">
              <mc:Choice xmlns:v="urn:schemas-microsoft-com:vml" Requires="v">
                <p:oleObj name="Equation" r:id="rId4" imgW="2552700" imgH="444500" progId="Equation.DSMT4">
                  <p:embed/>
                </p:oleObj>
              </mc:Choice>
              <mc:Fallback>
                <p:oleObj name="Equation" r:id="rId4" imgW="2552700" imgH="44450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6151" y="981075"/>
                        <a:ext cx="5364163"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1" name="Oval 2"/>
          <p:cNvSpPr>
            <a:spLocks noChangeArrowheads="1"/>
          </p:cNvSpPr>
          <p:nvPr/>
        </p:nvSpPr>
        <p:spPr bwMode="auto">
          <a:xfrm>
            <a:off x="5159376" y="1052514"/>
            <a:ext cx="504825" cy="720725"/>
          </a:xfrm>
          <a:prstGeom prst="ellipse">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1600">
                <a:solidFill>
                  <a:schemeClr val="tx1"/>
                </a:solidFill>
                <a:latin typeface="Tahoma" pitchFamily="34" charset="0"/>
              </a:defRPr>
            </a:lvl1pPr>
            <a:lvl2pPr marL="742950" indent="-285750" eaLnBrk="0" hangingPunct="0">
              <a:defRPr sz="1600">
                <a:solidFill>
                  <a:schemeClr val="tx1"/>
                </a:solidFill>
                <a:latin typeface="Tahoma" pitchFamily="34" charset="0"/>
              </a:defRPr>
            </a:lvl2pPr>
            <a:lvl3pPr marL="1143000" indent="-228600" eaLnBrk="0" hangingPunct="0">
              <a:defRPr sz="1600">
                <a:solidFill>
                  <a:schemeClr val="tx1"/>
                </a:solidFill>
                <a:latin typeface="Tahoma" pitchFamily="34" charset="0"/>
              </a:defRPr>
            </a:lvl3pPr>
            <a:lvl4pPr marL="1600200" indent="-228600" eaLnBrk="0" hangingPunct="0">
              <a:defRPr sz="1600">
                <a:solidFill>
                  <a:schemeClr val="tx1"/>
                </a:solidFill>
                <a:latin typeface="Tahoma" pitchFamily="34" charset="0"/>
              </a:defRPr>
            </a:lvl4pPr>
            <a:lvl5pPr marL="2057400" indent="-228600" eaLnBrk="0" hangingPunct="0">
              <a:defRPr sz="1600">
                <a:solidFill>
                  <a:schemeClr val="tx1"/>
                </a:solidFill>
                <a:latin typeface="Tahoma" pitchFamily="34" charset="0"/>
              </a:defRPr>
            </a:lvl5pPr>
            <a:lvl6pPr marL="2514600" indent="-228600" algn="ctr" eaLnBrk="0" fontAlgn="ctr" hangingPunct="0">
              <a:spcBef>
                <a:spcPct val="0"/>
              </a:spcBef>
              <a:spcAft>
                <a:spcPct val="0"/>
              </a:spcAft>
              <a:defRPr sz="1600">
                <a:solidFill>
                  <a:schemeClr val="tx1"/>
                </a:solidFill>
                <a:latin typeface="Tahoma" pitchFamily="34" charset="0"/>
              </a:defRPr>
            </a:lvl6pPr>
            <a:lvl7pPr marL="2971800" indent="-228600" algn="ctr" eaLnBrk="0" fontAlgn="ctr" hangingPunct="0">
              <a:spcBef>
                <a:spcPct val="0"/>
              </a:spcBef>
              <a:spcAft>
                <a:spcPct val="0"/>
              </a:spcAft>
              <a:defRPr sz="1600">
                <a:solidFill>
                  <a:schemeClr val="tx1"/>
                </a:solidFill>
                <a:latin typeface="Tahoma" pitchFamily="34" charset="0"/>
              </a:defRPr>
            </a:lvl7pPr>
            <a:lvl8pPr marL="3429000" indent="-228600" algn="ctr" eaLnBrk="0" fontAlgn="ctr" hangingPunct="0">
              <a:spcBef>
                <a:spcPct val="0"/>
              </a:spcBef>
              <a:spcAft>
                <a:spcPct val="0"/>
              </a:spcAft>
              <a:defRPr sz="1600">
                <a:solidFill>
                  <a:schemeClr val="tx1"/>
                </a:solidFill>
                <a:latin typeface="Tahoma" pitchFamily="34" charset="0"/>
              </a:defRPr>
            </a:lvl8pPr>
            <a:lvl9pPr marL="3886200" indent="-228600" algn="ctr" eaLnBrk="0" fontAlgn="ctr" hangingPunct="0">
              <a:spcBef>
                <a:spcPct val="0"/>
              </a:spcBef>
              <a:spcAft>
                <a:spcPct val="0"/>
              </a:spcAft>
              <a:defRPr sz="1600">
                <a:solidFill>
                  <a:schemeClr val="tx1"/>
                </a:solidFill>
                <a:latin typeface="Tahoma" pitchFamily="34" charset="0"/>
              </a:defRPr>
            </a:lvl9pPr>
          </a:lstStyle>
          <a:p>
            <a:pPr algn="r" eaLnBrk="1" fontAlgn="base" hangingPunct="1"/>
            <a:endParaRPr lang="en-GB" altLang="en-US" sz="2200"/>
          </a:p>
        </p:txBody>
      </p:sp>
      <p:cxnSp>
        <p:nvCxnSpPr>
          <p:cNvPr id="47112" name="Elbow Connector 4"/>
          <p:cNvCxnSpPr>
            <a:cxnSpLocks noChangeShapeType="1"/>
            <a:stCxn id="47111" idx="4"/>
            <a:endCxn id="31746" idx="1"/>
          </p:cNvCxnSpPr>
          <p:nvPr/>
        </p:nvCxnSpPr>
        <p:spPr bwMode="auto">
          <a:xfrm rot="5400000">
            <a:off x="3935413" y="620713"/>
            <a:ext cx="323850" cy="2628900"/>
          </a:xfrm>
          <a:prstGeom prst="bentConnector4">
            <a:avLst>
              <a:gd name="adj1" fmla="val 22222"/>
              <a:gd name="adj2" fmla="val 108699"/>
            </a:avLst>
          </a:prstGeom>
          <a:noFill/>
          <a:ln w="9525" algn="ctr">
            <a:solidFill>
              <a:schemeClr val="tx1"/>
            </a:solidFill>
            <a:round/>
            <a:headEnd/>
            <a:tailEnd type="arrow" w="med" len="med"/>
          </a:ln>
        </p:spPr>
      </p:cxnSp>
      <p:sp>
        <p:nvSpPr>
          <p:cNvPr id="11" name="Content Placeholder 2"/>
          <p:cNvSpPr txBox="1">
            <a:spLocks/>
          </p:cNvSpPr>
          <p:nvPr/>
        </p:nvSpPr>
        <p:spPr bwMode="auto">
          <a:xfrm>
            <a:off x="2216151" y="2565401"/>
            <a:ext cx="6310313" cy="336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indent="-19050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957263" indent="-1905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338263" indent="-1905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1719263" indent="-1905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176463" indent="-1905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633663" indent="-1905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090863" indent="-1905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548063" indent="-1905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en-US"/>
              <a:t>Laminar Boundary layer</a:t>
            </a:r>
          </a:p>
          <a:p>
            <a:pPr lvl="1" fontAlgn="ctr"/>
            <a:r>
              <a:rPr lang="en-GB" altLang="en-US" sz="1400"/>
              <a:t>Thinner</a:t>
            </a:r>
          </a:p>
          <a:p>
            <a:pPr lvl="1" fontAlgn="ctr"/>
            <a:r>
              <a:rPr lang="en-GB" altLang="en-US" sz="1400"/>
              <a:t>Lower friction</a:t>
            </a:r>
          </a:p>
          <a:p>
            <a:pPr lvl="1" fontAlgn="ctr"/>
            <a:r>
              <a:rPr lang="en-GB" altLang="en-US" sz="1400"/>
              <a:t>More prone to separation</a:t>
            </a:r>
          </a:p>
          <a:p>
            <a:pPr eaLnBrk="1" hangingPunct="1">
              <a:lnSpc>
                <a:spcPct val="100000"/>
              </a:lnSpc>
              <a:buClrTx/>
              <a:buFontTx/>
              <a:buNone/>
            </a:pPr>
            <a:endParaRPr lang="en-GB" altLang="en-US"/>
          </a:p>
          <a:p>
            <a:pPr eaLnBrk="1" hangingPunct="1">
              <a:lnSpc>
                <a:spcPct val="100000"/>
              </a:lnSpc>
              <a:buClrTx/>
              <a:buFontTx/>
              <a:buNone/>
            </a:pPr>
            <a:r>
              <a:rPr lang="en-GB" altLang="en-US"/>
              <a:t>Turbulent boundary layer</a:t>
            </a:r>
          </a:p>
          <a:p>
            <a:pPr lvl="1" fontAlgn="ctr"/>
            <a:r>
              <a:rPr lang="en-GB" altLang="en-US" sz="1400"/>
              <a:t>Thicker</a:t>
            </a:r>
          </a:p>
          <a:p>
            <a:pPr lvl="1" fontAlgn="ctr"/>
            <a:r>
              <a:rPr lang="en-GB" altLang="en-US" sz="1400"/>
              <a:t>Higher friction</a:t>
            </a:r>
          </a:p>
          <a:p>
            <a:pPr lvl="1" fontAlgn="ctr"/>
            <a:r>
              <a:rPr lang="en-GB" altLang="en-US" sz="1400"/>
              <a:t>Higher energy</a:t>
            </a:r>
          </a:p>
          <a:p>
            <a:pPr lvl="1" fontAlgn="ctr"/>
            <a:r>
              <a:rPr lang="en-GB" altLang="en-US" sz="1400"/>
              <a:t>Higher resistance against separation (since it has higher energy)</a:t>
            </a:r>
            <a:endParaRPr lang="nl-NL" altLang="en-US" sz="1400"/>
          </a:p>
        </p:txBody>
      </p:sp>
      <p:pic>
        <p:nvPicPr>
          <p:cNvPr id="119813" name="Picture 5" descr="Image result for laminar flow"/>
          <p:cNvPicPr>
            <a:picLocks noChangeAspect="1" noChangeArrowheads="1"/>
          </p:cNvPicPr>
          <p:nvPr/>
        </p:nvPicPr>
        <p:blipFill>
          <a:blip r:embed="rId6">
            <a:extLst>
              <a:ext uri="{28A0092B-C50C-407E-A947-70E740481C1C}">
                <a14:useLocalDpi xmlns:a14="http://schemas.microsoft.com/office/drawing/2010/main" val="0"/>
              </a:ext>
            </a:extLst>
          </a:blip>
          <a:srcRect t="43941"/>
          <a:stretch>
            <a:fillRect/>
          </a:stretch>
        </p:blipFill>
        <p:spPr bwMode="auto">
          <a:xfrm>
            <a:off x="6167438" y="2565401"/>
            <a:ext cx="4157662" cy="15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98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7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839416" y="404813"/>
            <a:ext cx="9261847"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3-Flat plate skin friction coefficient</a:t>
            </a:r>
            <a:endParaRPr lang="nl-NL" kern="0" dirty="0">
              <a:solidFill>
                <a:schemeClr val="bg2"/>
              </a:solidFill>
            </a:endParaRPr>
          </a:p>
        </p:txBody>
      </p:sp>
      <p:sp>
        <p:nvSpPr>
          <p:cNvPr id="3" name="Content Placeholder 2"/>
          <p:cNvSpPr txBox="1">
            <a:spLocks/>
          </p:cNvSpPr>
          <p:nvPr/>
        </p:nvSpPr>
        <p:spPr>
          <a:xfrm>
            <a:off x="2441575" y="981075"/>
            <a:ext cx="7659688" cy="4445000"/>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endParaRPr lang="en-GB" sz="1600" kern="0" dirty="0"/>
          </a:p>
          <a:p>
            <a:pPr>
              <a:defRPr/>
            </a:pPr>
            <a:r>
              <a:rPr lang="en-GB" sz="1600" kern="0" dirty="0"/>
              <a:t>Laminar or turbulent boundary layer? We have to guess!</a:t>
            </a:r>
            <a:endParaRPr lang="en-GB" sz="1800" kern="0" dirty="0"/>
          </a:p>
          <a:p>
            <a:pPr>
              <a:defRPr/>
            </a:pPr>
            <a:endParaRPr lang="en-GB" sz="1600" kern="0" dirty="0"/>
          </a:p>
          <a:p>
            <a:pPr>
              <a:defRPr/>
            </a:pPr>
            <a:endParaRPr lang="en-GB" sz="1600" kern="0" dirty="0"/>
          </a:p>
          <a:p>
            <a:pPr>
              <a:defRPr/>
            </a:pPr>
            <a:endParaRPr lang="en-GB" sz="1600" kern="0" dirty="0"/>
          </a:p>
          <a:p>
            <a:pPr>
              <a:defRPr/>
            </a:pPr>
            <a:endParaRPr lang="en-GB" sz="1600" kern="0" dirty="0"/>
          </a:p>
        </p:txBody>
      </p:sp>
      <p:graphicFrame>
        <p:nvGraphicFramePr>
          <p:cNvPr id="4" name="Table 3"/>
          <p:cNvGraphicFramePr>
            <a:graphicFrameLocks noGrp="1"/>
          </p:cNvGraphicFramePr>
          <p:nvPr/>
        </p:nvGraphicFramePr>
        <p:xfrm>
          <a:off x="5087938" y="2400300"/>
          <a:ext cx="4824412" cy="3332216"/>
        </p:xfrm>
        <a:graphic>
          <a:graphicData uri="http://schemas.openxmlformats.org/drawingml/2006/table">
            <a:tbl>
              <a:tblPr firstRow="1" bandRow="1">
                <a:tableStyleId>{5C22544A-7EE6-4342-B048-85BDC9FD1C3A}</a:tableStyleId>
              </a:tblPr>
              <a:tblGrid>
                <a:gridCol w="2880246">
                  <a:extLst>
                    <a:ext uri="{9D8B030D-6E8A-4147-A177-3AD203B41FA5}">
                      <a16:colId xmlns:a16="http://schemas.microsoft.com/office/drawing/2014/main" val="20000"/>
                    </a:ext>
                  </a:extLst>
                </a:gridCol>
                <a:gridCol w="936080">
                  <a:extLst>
                    <a:ext uri="{9D8B030D-6E8A-4147-A177-3AD203B41FA5}">
                      <a16:colId xmlns:a16="http://schemas.microsoft.com/office/drawing/2014/main" val="20001"/>
                    </a:ext>
                  </a:extLst>
                </a:gridCol>
                <a:gridCol w="1008086">
                  <a:extLst>
                    <a:ext uri="{9D8B030D-6E8A-4147-A177-3AD203B41FA5}">
                      <a16:colId xmlns:a16="http://schemas.microsoft.com/office/drawing/2014/main" val="20002"/>
                    </a:ext>
                  </a:extLst>
                </a:gridCol>
              </a:tblGrid>
              <a:tr h="518129">
                <a:tc>
                  <a:txBody>
                    <a:bodyPr/>
                    <a:lstStyle/>
                    <a:p>
                      <a:r>
                        <a:rPr lang="en-GB" sz="1400" b="0" dirty="0">
                          <a:solidFill>
                            <a:schemeClr val="tx1"/>
                          </a:solidFill>
                        </a:rPr>
                        <a:t>Laminar flow </a:t>
                      </a:r>
                      <a:endParaRPr lang="nl-NL" sz="1400" b="0" dirty="0">
                        <a:solidFill>
                          <a:schemeClr val="tx1"/>
                        </a:solidFill>
                      </a:endParaRPr>
                    </a:p>
                  </a:txBody>
                  <a:tcPr marL="91438" marR="91438" marT="45710" marB="45710"/>
                </a:tc>
                <a:tc>
                  <a:txBody>
                    <a:bodyPr/>
                    <a:lstStyle/>
                    <a:p>
                      <a:r>
                        <a:rPr lang="en-GB" sz="1400" b="0" dirty="0">
                          <a:solidFill>
                            <a:schemeClr val="tx1"/>
                          </a:solidFill>
                        </a:rPr>
                        <a:t>Fuselage</a:t>
                      </a:r>
                      <a:r>
                        <a:rPr lang="en-GB" sz="1400" b="0" baseline="0" dirty="0">
                          <a:solidFill>
                            <a:schemeClr val="tx1"/>
                          </a:solidFill>
                        </a:rPr>
                        <a:t> (%)</a:t>
                      </a:r>
                      <a:endParaRPr lang="nl-NL" sz="1400" b="0" dirty="0">
                        <a:solidFill>
                          <a:schemeClr val="tx1"/>
                        </a:solidFill>
                      </a:endParaRPr>
                    </a:p>
                  </a:txBody>
                  <a:tcPr marL="91438" marR="91438" marT="45710" marB="45710"/>
                </a:tc>
                <a:tc>
                  <a:txBody>
                    <a:bodyPr/>
                    <a:lstStyle/>
                    <a:p>
                      <a:r>
                        <a:rPr lang="en-GB" sz="1400" b="0" dirty="0">
                          <a:solidFill>
                            <a:schemeClr val="tx1"/>
                          </a:solidFill>
                        </a:rPr>
                        <a:t>Wing and tail (%)</a:t>
                      </a:r>
                      <a:endParaRPr lang="nl-NL" sz="1400" b="0" dirty="0">
                        <a:solidFill>
                          <a:schemeClr val="tx1"/>
                        </a:solidFill>
                      </a:endParaRPr>
                    </a:p>
                  </a:txBody>
                  <a:tcPr marL="91438" marR="91438" marT="45710" marB="45710"/>
                </a:tc>
                <a:extLst>
                  <a:ext uri="{0D108BD9-81ED-4DB2-BD59-A6C34878D82A}">
                    <a16:rowId xmlns:a16="http://schemas.microsoft.com/office/drawing/2014/main" val="10000"/>
                  </a:ext>
                </a:extLst>
              </a:tr>
              <a:tr h="518129">
                <a:tc>
                  <a:txBody>
                    <a:bodyPr/>
                    <a:lstStyle/>
                    <a:p>
                      <a:r>
                        <a:rPr lang="en-GB" sz="1400" dirty="0"/>
                        <a:t>General aviation – classic production metal</a:t>
                      </a:r>
                      <a:endParaRPr lang="nl-NL" sz="1400" dirty="0"/>
                    </a:p>
                  </a:txBody>
                  <a:tcPr marL="91438" marR="91438" marT="45710" marB="45710"/>
                </a:tc>
                <a:tc>
                  <a:txBody>
                    <a:bodyPr/>
                    <a:lstStyle/>
                    <a:p>
                      <a:pPr algn="ctr"/>
                      <a:r>
                        <a:rPr lang="en-GB" sz="1400" dirty="0"/>
                        <a:t>0</a:t>
                      </a:r>
                      <a:endParaRPr lang="nl-NL" sz="1400" dirty="0"/>
                    </a:p>
                  </a:txBody>
                  <a:tcPr marL="91438" marR="91438" marT="45710" marB="45710"/>
                </a:tc>
                <a:tc>
                  <a:txBody>
                    <a:bodyPr/>
                    <a:lstStyle/>
                    <a:p>
                      <a:pPr algn="ctr"/>
                      <a:r>
                        <a:rPr lang="en-GB" sz="1400" dirty="0"/>
                        <a:t>10</a:t>
                      </a:r>
                      <a:endParaRPr lang="nl-NL" sz="1400" dirty="0"/>
                    </a:p>
                  </a:txBody>
                  <a:tcPr marL="91438" marR="91438" marT="45710" marB="45710"/>
                </a:tc>
                <a:extLst>
                  <a:ext uri="{0D108BD9-81ED-4DB2-BD59-A6C34878D82A}">
                    <a16:rowId xmlns:a16="http://schemas.microsoft.com/office/drawing/2014/main" val="10001"/>
                  </a:ext>
                </a:extLst>
              </a:tr>
              <a:tr h="518129">
                <a:tc>
                  <a:txBody>
                    <a:bodyPr/>
                    <a:lstStyle/>
                    <a:p>
                      <a:r>
                        <a:rPr lang="en-GB" sz="1400" dirty="0"/>
                        <a:t>General aviation – smooth metal (no rivets or cracks)</a:t>
                      </a:r>
                      <a:endParaRPr lang="nl-NL" sz="1400" dirty="0"/>
                    </a:p>
                  </a:txBody>
                  <a:tcPr marL="91438" marR="91438" marT="45710" marB="45710"/>
                </a:tc>
                <a:tc>
                  <a:txBody>
                    <a:bodyPr/>
                    <a:lstStyle/>
                    <a:p>
                      <a:pPr algn="ctr"/>
                      <a:r>
                        <a:rPr lang="en-GB" sz="1400" dirty="0"/>
                        <a:t>10</a:t>
                      </a:r>
                      <a:endParaRPr lang="nl-NL" sz="1400" dirty="0"/>
                    </a:p>
                  </a:txBody>
                  <a:tcPr marL="91438" marR="91438" marT="45710" marB="45710"/>
                </a:tc>
                <a:tc>
                  <a:txBody>
                    <a:bodyPr/>
                    <a:lstStyle/>
                    <a:p>
                      <a:pPr algn="ctr"/>
                      <a:r>
                        <a:rPr lang="en-GB" sz="1400" dirty="0"/>
                        <a:t>35</a:t>
                      </a:r>
                      <a:endParaRPr lang="nl-NL" sz="1400" dirty="0"/>
                    </a:p>
                  </a:txBody>
                  <a:tcPr marL="91438" marR="91438" marT="45710" marB="45710"/>
                </a:tc>
                <a:extLst>
                  <a:ext uri="{0D108BD9-81ED-4DB2-BD59-A6C34878D82A}">
                    <a16:rowId xmlns:a16="http://schemas.microsoft.com/office/drawing/2014/main" val="10002"/>
                  </a:ext>
                </a:extLst>
              </a:tr>
              <a:tr h="518129">
                <a:tc>
                  <a:txBody>
                    <a:bodyPr/>
                    <a:lstStyle/>
                    <a:p>
                      <a:r>
                        <a:rPr lang="en-GB" sz="1400" dirty="0"/>
                        <a:t>General aviation – smooth </a:t>
                      </a:r>
                      <a:r>
                        <a:rPr lang="en-GB" sz="1400" dirty="0" err="1"/>
                        <a:t>molded</a:t>
                      </a:r>
                      <a:r>
                        <a:rPr lang="en-GB" sz="1400" dirty="0"/>
                        <a:t> composites</a:t>
                      </a:r>
                      <a:endParaRPr lang="nl-NL" sz="1400" dirty="0"/>
                    </a:p>
                  </a:txBody>
                  <a:tcPr marL="91438" marR="91438" marT="45710" marB="45710"/>
                </a:tc>
                <a:tc>
                  <a:txBody>
                    <a:bodyPr/>
                    <a:lstStyle/>
                    <a:p>
                      <a:pPr algn="ctr"/>
                      <a:r>
                        <a:rPr lang="en-GB" sz="1400" dirty="0"/>
                        <a:t>25</a:t>
                      </a:r>
                      <a:endParaRPr lang="nl-NL" sz="1400" dirty="0"/>
                    </a:p>
                  </a:txBody>
                  <a:tcPr marL="91438" marR="91438" marT="45710" marB="45710"/>
                </a:tc>
                <a:tc>
                  <a:txBody>
                    <a:bodyPr/>
                    <a:lstStyle/>
                    <a:p>
                      <a:pPr algn="ctr"/>
                      <a:r>
                        <a:rPr lang="en-GB" sz="1400" dirty="0"/>
                        <a:t>50</a:t>
                      </a:r>
                      <a:endParaRPr lang="nl-NL" sz="1400" dirty="0"/>
                    </a:p>
                  </a:txBody>
                  <a:tcPr marL="91438" marR="91438" marT="45710" marB="45710"/>
                </a:tc>
                <a:extLst>
                  <a:ext uri="{0D108BD9-81ED-4DB2-BD59-A6C34878D82A}">
                    <a16:rowId xmlns:a16="http://schemas.microsoft.com/office/drawing/2014/main" val="10003"/>
                  </a:ext>
                </a:extLst>
              </a:tr>
              <a:tr h="518129">
                <a:tc>
                  <a:txBody>
                    <a:bodyPr/>
                    <a:lstStyle/>
                    <a:p>
                      <a:r>
                        <a:rPr lang="en-GB" sz="1400" dirty="0"/>
                        <a:t>Sailplane – smooth </a:t>
                      </a:r>
                      <a:r>
                        <a:rPr lang="en-GB" sz="1400" dirty="0" err="1"/>
                        <a:t>molded</a:t>
                      </a:r>
                      <a:r>
                        <a:rPr lang="en-GB" sz="1400" dirty="0"/>
                        <a:t> composites</a:t>
                      </a:r>
                      <a:endParaRPr lang="nl-NL" sz="1400" dirty="0"/>
                    </a:p>
                  </a:txBody>
                  <a:tcPr marL="91438" marR="91438" marT="45710" marB="45710"/>
                </a:tc>
                <a:tc>
                  <a:txBody>
                    <a:bodyPr/>
                    <a:lstStyle/>
                    <a:p>
                      <a:pPr algn="ctr"/>
                      <a:r>
                        <a:rPr lang="en-GB" sz="1400" dirty="0"/>
                        <a:t>35</a:t>
                      </a:r>
                      <a:endParaRPr lang="nl-NL" sz="1400" dirty="0"/>
                    </a:p>
                  </a:txBody>
                  <a:tcPr marL="91438" marR="91438" marT="45710" marB="45710"/>
                </a:tc>
                <a:tc>
                  <a:txBody>
                    <a:bodyPr/>
                    <a:lstStyle/>
                    <a:p>
                      <a:pPr algn="ctr"/>
                      <a:r>
                        <a:rPr lang="en-GB" sz="1400" dirty="0"/>
                        <a:t>70</a:t>
                      </a:r>
                      <a:endParaRPr lang="nl-NL" sz="1400" dirty="0"/>
                    </a:p>
                  </a:txBody>
                  <a:tcPr marL="91438" marR="91438" marT="45710" marB="45710"/>
                </a:tc>
                <a:extLst>
                  <a:ext uri="{0D108BD9-81ED-4DB2-BD59-A6C34878D82A}">
                    <a16:rowId xmlns:a16="http://schemas.microsoft.com/office/drawing/2014/main" val="10004"/>
                  </a:ext>
                </a:extLst>
              </a:tr>
              <a:tr h="370758">
                <a:tc>
                  <a:txBody>
                    <a:bodyPr/>
                    <a:lstStyle/>
                    <a:p>
                      <a:r>
                        <a:rPr lang="en-GB" sz="1400" dirty="0"/>
                        <a:t>Civil jet – classic production metal</a:t>
                      </a:r>
                      <a:endParaRPr lang="nl-NL" sz="1400" dirty="0"/>
                    </a:p>
                  </a:txBody>
                  <a:tcPr marL="91438" marR="91438" marT="45710" marB="45710"/>
                </a:tc>
                <a:tc>
                  <a:txBody>
                    <a:bodyPr/>
                    <a:lstStyle/>
                    <a:p>
                      <a:pPr algn="ctr"/>
                      <a:r>
                        <a:rPr lang="en-GB" sz="1400" dirty="0"/>
                        <a:t>5</a:t>
                      </a:r>
                      <a:endParaRPr lang="nl-NL" sz="1400" dirty="0"/>
                    </a:p>
                  </a:txBody>
                  <a:tcPr marL="91438" marR="91438" marT="45710" marB="45710"/>
                </a:tc>
                <a:tc>
                  <a:txBody>
                    <a:bodyPr/>
                    <a:lstStyle/>
                    <a:p>
                      <a:pPr algn="ctr"/>
                      <a:r>
                        <a:rPr lang="en-GB" sz="1400" dirty="0"/>
                        <a:t>10</a:t>
                      </a:r>
                      <a:endParaRPr lang="nl-NL" sz="1400" dirty="0"/>
                    </a:p>
                  </a:txBody>
                  <a:tcPr marL="91438" marR="91438" marT="45710" marB="45710"/>
                </a:tc>
                <a:extLst>
                  <a:ext uri="{0D108BD9-81ED-4DB2-BD59-A6C34878D82A}">
                    <a16:rowId xmlns:a16="http://schemas.microsoft.com/office/drawing/2014/main" val="10005"/>
                  </a:ext>
                </a:extLst>
              </a:tr>
              <a:tr h="370758">
                <a:tc>
                  <a:txBody>
                    <a:bodyPr/>
                    <a:lstStyle/>
                    <a:p>
                      <a:r>
                        <a:rPr lang="en-GB" sz="1400" dirty="0"/>
                        <a:t>Military aircraft</a:t>
                      </a:r>
                      <a:endParaRPr lang="nl-NL" sz="1400" dirty="0"/>
                    </a:p>
                  </a:txBody>
                  <a:tcPr marL="91438" marR="91438" marT="45710" marB="45710"/>
                </a:tc>
                <a:tc>
                  <a:txBody>
                    <a:bodyPr/>
                    <a:lstStyle/>
                    <a:p>
                      <a:pPr algn="ctr"/>
                      <a:r>
                        <a:rPr lang="en-GB" sz="1400" dirty="0"/>
                        <a:t>0</a:t>
                      </a:r>
                      <a:endParaRPr lang="nl-NL" sz="1400" dirty="0"/>
                    </a:p>
                  </a:txBody>
                  <a:tcPr marL="91438" marR="91438" marT="45710" marB="45710"/>
                </a:tc>
                <a:tc>
                  <a:txBody>
                    <a:bodyPr/>
                    <a:lstStyle/>
                    <a:p>
                      <a:pPr algn="ctr"/>
                      <a:r>
                        <a:rPr lang="en-GB" sz="1400" dirty="0"/>
                        <a:t>0</a:t>
                      </a:r>
                      <a:endParaRPr lang="nl-NL" sz="1400" dirty="0"/>
                    </a:p>
                  </a:txBody>
                  <a:tcPr marL="91438" marR="91438" marT="45710" marB="45710"/>
                </a:tc>
                <a:extLst>
                  <a:ext uri="{0D108BD9-81ED-4DB2-BD59-A6C34878D82A}">
                    <a16:rowId xmlns:a16="http://schemas.microsoft.com/office/drawing/2014/main" val="10006"/>
                  </a:ext>
                </a:extLst>
              </a:tr>
            </a:tbl>
          </a:graphicData>
        </a:graphic>
      </p:graphicFrame>
      <p:pic>
        <p:nvPicPr>
          <p:cNvPr id="481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313" y="2528889"/>
            <a:ext cx="2817812" cy="2555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8167" name="TextBox 4"/>
          <p:cNvSpPr txBox="1">
            <a:spLocks noChangeArrowheads="1"/>
          </p:cNvSpPr>
          <p:nvPr/>
        </p:nvSpPr>
        <p:spPr bwMode="auto">
          <a:xfrm>
            <a:off x="2063751" y="5157789"/>
            <a:ext cx="274637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400"/>
              <a:t>Piaggio GP180 laminar flow:</a:t>
            </a:r>
          </a:p>
          <a:p>
            <a:pPr algn="ctr" eaLnBrk="1" fontAlgn="ctr" hangingPunct="1">
              <a:lnSpc>
                <a:spcPct val="100000"/>
              </a:lnSpc>
              <a:buClrTx/>
              <a:buFontTx/>
              <a:buNone/>
            </a:pPr>
            <a:r>
              <a:rPr lang="en-GB" altLang="en-US" sz="1400"/>
              <a:t>50% of the wing and tails, 20-35% of the fuselage</a:t>
            </a:r>
            <a:endParaRPr lang="nl-NL" altLang="en-US" sz="1400"/>
          </a:p>
        </p:txBody>
      </p:sp>
      <p:graphicFrame>
        <p:nvGraphicFramePr>
          <p:cNvPr id="7" name="Object 1">
            <a:extLst>
              <a:ext uri="{FF2B5EF4-FFF2-40B4-BE49-F238E27FC236}">
                <a16:creationId xmlns:a16="http://schemas.microsoft.com/office/drawing/2014/main" id="{89D45976-6E54-D849-ACFB-D29753D5B5BB}"/>
              </a:ext>
            </a:extLst>
          </p:cNvPr>
          <p:cNvGraphicFramePr>
            <a:graphicFrameLocks noChangeAspect="1"/>
          </p:cNvGraphicFramePr>
          <p:nvPr>
            <p:extLst>
              <p:ext uri="{D42A27DB-BD31-4B8C-83A1-F6EECF244321}">
                <p14:modId xmlns:p14="http://schemas.microsoft.com/office/powerpoint/2010/main" val="1201468365"/>
              </p:ext>
            </p:extLst>
          </p:nvPr>
        </p:nvGraphicFramePr>
        <p:xfrm>
          <a:off x="8040030" y="67644"/>
          <a:ext cx="4122466" cy="717375"/>
        </p:xfrm>
        <a:graphic>
          <a:graphicData uri="http://schemas.openxmlformats.org/presentationml/2006/ole">
            <mc:AlternateContent xmlns:mc="http://schemas.openxmlformats.org/markup-compatibility/2006">
              <mc:Choice xmlns:v="urn:schemas-microsoft-com:vml" Requires="v">
                <p:oleObj name="Equation" r:id="rId4" imgW="2552700" imgH="444500" progId="Equation.DSMT4">
                  <p:embed/>
                </p:oleObj>
              </mc:Choice>
              <mc:Fallback>
                <p:oleObj name="Equation" r:id="rId4" imgW="2552700" imgH="444500" progId="Equation.DSMT4">
                  <p:embed/>
                  <p:pic>
                    <p:nvPicPr>
                      <p:cNvPr id="4711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40030" y="67644"/>
                        <a:ext cx="4122466" cy="717375"/>
                      </a:xfrm>
                      <a:prstGeom prst="rect">
                        <a:avLst/>
                      </a:prstGeom>
                      <a:noFill/>
                      <a:ln>
                        <a:noFill/>
                      </a:ln>
                    </p:spPr>
                  </p:pic>
                </p:oleObj>
              </mc:Fallback>
            </mc:AlternateContent>
          </a:graphicData>
        </a:graphic>
      </p:graphicFrame>
      <p:sp>
        <p:nvSpPr>
          <p:cNvPr id="5" name="Oval 4">
            <a:extLst>
              <a:ext uri="{FF2B5EF4-FFF2-40B4-BE49-F238E27FC236}">
                <a16:creationId xmlns:a16="http://schemas.microsoft.com/office/drawing/2014/main" id="{B2CDC377-7299-1244-9C23-32E07C0C5438}"/>
              </a:ext>
            </a:extLst>
          </p:cNvPr>
          <p:cNvSpPr/>
          <p:nvPr/>
        </p:nvSpPr>
        <p:spPr bwMode="auto">
          <a:xfrm>
            <a:off x="9264352" y="162942"/>
            <a:ext cx="503982" cy="483741"/>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2200" b="0" i="0" u="none" strike="noStrike" cap="none" normalizeH="0" baseline="0">
              <a:ln>
                <a:noFill/>
              </a:ln>
              <a:solidFill>
                <a:schemeClr val="tx1"/>
              </a:solidFill>
              <a:effectLst/>
              <a:latin typeface="Tahoma"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767408" y="404664"/>
            <a:ext cx="9333855"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3-Flat plate skin friction coefficient</a:t>
            </a:r>
            <a:endParaRPr lang="nl-NL" kern="0" dirty="0">
              <a:solidFill>
                <a:schemeClr val="bg2"/>
              </a:solidFill>
            </a:endParaRPr>
          </a:p>
        </p:txBody>
      </p:sp>
      <p:graphicFrame>
        <p:nvGraphicFramePr>
          <p:cNvPr id="49155" name="Object 2"/>
          <p:cNvGraphicFramePr>
            <a:graphicFrameLocks noChangeAspect="1"/>
          </p:cNvGraphicFramePr>
          <p:nvPr/>
        </p:nvGraphicFramePr>
        <p:xfrm>
          <a:off x="3648076" y="1284288"/>
          <a:ext cx="1223963" cy="709612"/>
        </p:xfrm>
        <a:graphic>
          <a:graphicData uri="http://schemas.openxmlformats.org/presentationml/2006/ole">
            <mc:AlternateContent xmlns:mc="http://schemas.openxmlformats.org/markup-compatibility/2006">
              <mc:Choice xmlns:v="urn:schemas-microsoft-com:vml" Requires="v">
                <p:oleObj name="Equation" r:id="rId2" imgW="723586" imgH="418918" progId="Equation.DSMT4">
                  <p:embed/>
                </p:oleObj>
              </mc:Choice>
              <mc:Fallback>
                <p:oleObj name="Equation" r:id="rId2" imgW="723586" imgH="418918"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8076" y="1284288"/>
                        <a:ext cx="1223963"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56" name="TextBox 3"/>
          <p:cNvSpPr txBox="1">
            <a:spLocks noChangeArrowheads="1"/>
          </p:cNvSpPr>
          <p:nvPr/>
        </p:nvSpPr>
        <p:spPr bwMode="auto">
          <a:xfrm>
            <a:off x="1847850" y="1484314"/>
            <a:ext cx="21605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a:t>Laminar:</a:t>
            </a:r>
            <a:endParaRPr lang="nl-NL" altLang="en-US" sz="1600"/>
          </a:p>
        </p:txBody>
      </p:sp>
      <p:sp>
        <p:nvSpPr>
          <p:cNvPr id="49157" name="TextBox 4"/>
          <p:cNvSpPr txBox="1">
            <a:spLocks noChangeArrowheads="1"/>
          </p:cNvSpPr>
          <p:nvPr/>
        </p:nvSpPr>
        <p:spPr bwMode="auto">
          <a:xfrm>
            <a:off x="4656139" y="1470025"/>
            <a:ext cx="21605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a:t>Turbulent:</a:t>
            </a:r>
            <a:endParaRPr lang="nl-NL" altLang="en-US" sz="1600"/>
          </a:p>
        </p:txBody>
      </p:sp>
      <p:graphicFrame>
        <p:nvGraphicFramePr>
          <p:cNvPr id="49158" name="Object 5"/>
          <p:cNvGraphicFramePr>
            <a:graphicFrameLocks noChangeAspect="1"/>
          </p:cNvGraphicFramePr>
          <p:nvPr/>
        </p:nvGraphicFramePr>
        <p:xfrm>
          <a:off x="6527800" y="1268413"/>
          <a:ext cx="3778250" cy="741362"/>
        </p:xfrm>
        <a:graphic>
          <a:graphicData uri="http://schemas.openxmlformats.org/presentationml/2006/ole">
            <mc:AlternateContent xmlns:mc="http://schemas.openxmlformats.org/markup-compatibility/2006">
              <mc:Choice xmlns:v="urn:schemas-microsoft-com:vml" Requires="v">
                <p:oleObj name="Equation" r:id="rId4" imgW="2197100" imgH="431800" progId="Equation.DSMT4">
                  <p:embed/>
                </p:oleObj>
              </mc:Choice>
              <mc:Fallback>
                <p:oleObj name="Equation" r:id="rId4" imgW="2197100" imgH="4318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7800" y="1268413"/>
                        <a:ext cx="3778250"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nvGraphicFramePr>
        <p:xfrm>
          <a:off x="2927350" y="2271713"/>
          <a:ext cx="3024188" cy="698500"/>
        </p:xfrm>
        <a:graphic>
          <a:graphicData uri="http://schemas.openxmlformats.org/presentationml/2006/ole">
            <mc:AlternateContent xmlns:mc="http://schemas.openxmlformats.org/markup-compatibility/2006">
              <mc:Choice xmlns:v="urn:schemas-microsoft-com:vml" Requires="v">
                <p:oleObj name="Equation" r:id="rId6" imgW="1981200" imgH="457200" progId="Equation.DSMT4">
                  <p:embed/>
                </p:oleObj>
              </mc:Choice>
              <mc:Fallback>
                <p:oleObj name="Equation" r:id="rId6" imgW="1981200" imgH="4572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7350" y="2271713"/>
                        <a:ext cx="3024188"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7"/>
          <p:cNvGraphicFramePr>
            <a:graphicFrameLocks noChangeAspect="1"/>
          </p:cNvGraphicFramePr>
          <p:nvPr/>
        </p:nvGraphicFramePr>
        <p:xfrm>
          <a:off x="2855913" y="3176588"/>
          <a:ext cx="3744912" cy="736600"/>
        </p:xfrm>
        <a:graphic>
          <a:graphicData uri="http://schemas.openxmlformats.org/presentationml/2006/ole">
            <mc:AlternateContent xmlns:mc="http://schemas.openxmlformats.org/markup-compatibility/2006">
              <mc:Choice xmlns:v="urn:schemas-microsoft-com:vml" Requires="v">
                <p:oleObj name="Equation" r:id="rId8" imgW="2324100" imgH="457200" progId="Equation.DSMT4">
                  <p:embed/>
                </p:oleObj>
              </mc:Choice>
              <mc:Fallback>
                <p:oleObj name="Equation" r:id="rId8" imgW="2324100" imgH="4572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55913" y="3176588"/>
                        <a:ext cx="3744912"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p:cNvSpPr txBox="1">
            <a:spLocks noChangeArrowheads="1"/>
          </p:cNvSpPr>
          <p:nvPr/>
        </p:nvSpPr>
        <p:spPr bwMode="auto">
          <a:xfrm>
            <a:off x="1127125" y="2451101"/>
            <a:ext cx="21605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a:t>Subsonic</a:t>
            </a:r>
            <a:endParaRPr lang="nl-NL" altLang="en-US" sz="1600"/>
          </a:p>
        </p:txBody>
      </p:sp>
      <p:sp>
        <p:nvSpPr>
          <p:cNvPr id="10" name="TextBox 9"/>
          <p:cNvSpPr txBox="1">
            <a:spLocks noChangeArrowheads="1"/>
          </p:cNvSpPr>
          <p:nvPr/>
        </p:nvSpPr>
        <p:spPr bwMode="auto">
          <a:xfrm>
            <a:off x="1150937" y="3176588"/>
            <a:ext cx="21605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a:t>Transonic,</a:t>
            </a:r>
          </a:p>
          <a:p>
            <a:pPr algn="ctr" eaLnBrk="1" fontAlgn="ctr" hangingPunct="1">
              <a:lnSpc>
                <a:spcPct val="100000"/>
              </a:lnSpc>
              <a:buClrTx/>
              <a:buFontTx/>
              <a:buNone/>
            </a:pPr>
            <a:r>
              <a:rPr lang="en-GB" altLang="en-US" sz="1600"/>
              <a:t>supersonic</a:t>
            </a:r>
            <a:endParaRPr lang="nl-NL" altLang="en-US" sz="1600"/>
          </a:p>
        </p:txBody>
      </p:sp>
      <p:sp>
        <p:nvSpPr>
          <p:cNvPr id="11" name="Oval 10"/>
          <p:cNvSpPr>
            <a:spLocks noChangeArrowheads="1"/>
          </p:cNvSpPr>
          <p:nvPr/>
        </p:nvSpPr>
        <p:spPr bwMode="auto">
          <a:xfrm>
            <a:off x="4440238" y="1560513"/>
            <a:ext cx="431800" cy="493712"/>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en-US" sz="2200"/>
          </a:p>
        </p:txBody>
      </p:sp>
      <p:sp>
        <p:nvSpPr>
          <p:cNvPr id="12" name="Oval 11"/>
          <p:cNvSpPr>
            <a:spLocks noChangeArrowheads="1"/>
          </p:cNvSpPr>
          <p:nvPr/>
        </p:nvSpPr>
        <p:spPr bwMode="auto">
          <a:xfrm>
            <a:off x="7680325" y="1557339"/>
            <a:ext cx="431800" cy="492125"/>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en-US" sz="2200"/>
          </a:p>
        </p:txBody>
      </p:sp>
      <p:sp>
        <p:nvSpPr>
          <p:cNvPr id="13" name="Oval 12"/>
          <p:cNvSpPr>
            <a:spLocks noChangeArrowheads="1"/>
          </p:cNvSpPr>
          <p:nvPr/>
        </p:nvSpPr>
        <p:spPr bwMode="auto">
          <a:xfrm>
            <a:off x="3935413" y="2205039"/>
            <a:ext cx="444500" cy="758825"/>
          </a:xfrm>
          <a:prstGeom prst="ellipse">
            <a:avLst/>
          </a:prstGeom>
          <a:noFill/>
          <a:ln w="952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en-US" sz="2200"/>
          </a:p>
        </p:txBody>
      </p:sp>
      <p:sp>
        <p:nvSpPr>
          <p:cNvPr id="15" name="TextBox 14"/>
          <p:cNvSpPr txBox="1">
            <a:spLocks noChangeArrowheads="1"/>
          </p:cNvSpPr>
          <p:nvPr/>
        </p:nvSpPr>
        <p:spPr bwMode="auto">
          <a:xfrm>
            <a:off x="2441576" y="4044950"/>
            <a:ext cx="22145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a:solidFill>
                  <a:schemeClr val="bg2"/>
                </a:solidFill>
              </a:rPr>
              <a:t>Actual Re</a:t>
            </a:r>
            <a:endParaRPr lang="nl-NL" altLang="en-US" sz="1600">
              <a:solidFill>
                <a:schemeClr val="bg2"/>
              </a:solidFill>
            </a:endParaRPr>
          </a:p>
        </p:txBody>
      </p:sp>
      <p:sp>
        <p:nvSpPr>
          <p:cNvPr id="16" name="Oval 15"/>
          <p:cNvSpPr>
            <a:spLocks noChangeArrowheads="1"/>
          </p:cNvSpPr>
          <p:nvPr/>
        </p:nvSpPr>
        <p:spPr bwMode="auto">
          <a:xfrm>
            <a:off x="3935413" y="3179763"/>
            <a:ext cx="444500" cy="760412"/>
          </a:xfrm>
          <a:prstGeom prst="ellipse">
            <a:avLst/>
          </a:prstGeom>
          <a:noFill/>
          <a:ln w="952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en-US" sz="2200"/>
          </a:p>
        </p:txBody>
      </p:sp>
      <p:sp>
        <p:nvSpPr>
          <p:cNvPr id="17" name="Oval 16"/>
          <p:cNvSpPr>
            <a:spLocks noChangeArrowheads="1"/>
          </p:cNvSpPr>
          <p:nvPr/>
        </p:nvSpPr>
        <p:spPr bwMode="auto">
          <a:xfrm>
            <a:off x="4367214" y="2378075"/>
            <a:ext cx="1512887" cy="514350"/>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en-US" sz="2200"/>
          </a:p>
        </p:txBody>
      </p:sp>
      <p:sp>
        <p:nvSpPr>
          <p:cNvPr id="18" name="Oval 17"/>
          <p:cNvSpPr>
            <a:spLocks noChangeArrowheads="1"/>
          </p:cNvSpPr>
          <p:nvPr/>
        </p:nvSpPr>
        <p:spPr bwMode="auto">
          <a:xfrm>
            <a:off x="4367214" y="3246438"/>
            <a:ext cx="2160587" cy="514350"/>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en-US" sz="2200"/>
          </a:p>
        </p:txBody>
      </p:sp>
      <p:sp>
        <p:nvSpPr>
          <p:cNvPr id="19" name="TextBox 18"/>
          <p:cNvSpPr txBox="1">
            <a:spLocks noChangeArrowheads="1"/>
          </p:cNvSpPr>
          <p:nvPr/>
        </p:nvSpPr>
        <p:spPr bwMode="auto">
          <a:xfrm>
            <a:off x="4379913" y="4057650"/>
            <a:ext cx="22145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a:solidFill>
                  <a:schemeClr val="bg2"/>
                </a:solidFill>
              </a:rPr>
              <a:t>Cutoff Re</a:t>
            </a:r>
            <a:endParaRPr lang="nl-NL" altLang="en-US" sz="1600">
              <a:solidFill>
                <a:schemeClr val="bg2"/>
              </a:solidFill>
            </a:endParaRPr>
          </a:p>
        </p:txBody>
      </p:sp>
      <p:sp>
        <p:nvSpPr>
          <p:cNvPr id="20" name="TextBox 19"/>
          <p:cNvSpPr txBox="1">
            <a:spLocks noChangeArrowheads="1"/>
          </p:cNvSpPr>
          <p:nvPr/>
        </p:nvSpPr>
        <p:spPr bwMode="auto">
          <a:xfrm>
            <a:off x="1992313" y="4621213"/>
            <a:ext cx="4279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dirty="0" err="1"/>
              <a:t>Cutoff</a:t>
            </a:r>
            <a:r>
              <a:rPr lang="en-GB" altLang="en-US" sz="1600" dirty="0"/>
              <a:t> Re determines the effect of roughness on transition</a:t>
            </a:r>
            <a:endParaRPr lang="nl-NL" altLang="en-US" sz="1600" dirty="0"/>
          </a:p>
        </p:txBody>
      </p:sp>
      <p:graphicFrame>
        <p:nvGraphicFramePr>
          <p:cNvPr id="21" name="Table 20"/>
          <p:cNvGraphicFramePr>
            <a:graphicFrameLocks noGrp="1"/>
          </p:cNvGraphicFramePr>
          <p:nvPr>
            <p:extLst>
              <p:ext uri="{D42A27DB-BD31-4B8C-83A1-F6EECF244321}">
                <p14:modId xmlns:p14="http://schemas.microsoft.com/office/powerpoint/2010/main" val="2925421740"/>
              </p:ext>
            </p:extLst>
          </p:nvPr>
        </p:nvGraphicFramePr>
        <p:xfrm>
          <a:off x="8474962" y="2518569"/>
          <a:ext cx="3263900" cy="2484438"/>
        </p:xfrm>
        <a:graphic>
          <a:graphicData uri="http://schemas.openxmlformats.org/drawingml/2006/table">
            <a:tbl>
              <a:tblPr firstRow="1" bandRow="1">
                <a:tableStyleId>{5C22544A-7EE6-4342-B048-85BDC9FD1C3A}</a:tableStyleId>
              </a:tblPr>
              <a:tblGrid>
                <a:gridCol w="1631950">
                  <a:extLst>
                    <a:ext uri="{9D8B030D-6E8A-4147-A177-3AD203B41FA5}">
                      <a16:colId xmlns:a16="http://schemas.microsoft.com/office/drawing/2014/main" val="20000"/>
                    </a:ext>
                  </a:extLst>
                </a:gridCol>
                <a:gridCol w="1631950">
                  <a:extLst>
                    <a:ext uri="{9D8B030D-6E8A-4147-A177-3AD203B41FA5}">
                      <a16:colId xmlns:a16="http://schemas.microsoft.com/office/drawing/2014/main" val="20001"/>
                    </a:ext>
                  </a:extLst>
                </a:gridCol>
              </a:tblGrid>
              <a:tr h="370887">
                <a:tc>
                  <a:txBody>
                    <a:bodyPr/>
                    <a:lstStyle/>
                    <a:p>
                      <a:r>
                        <a:rPr lang="en-GB" sz="1200" dirty="0"/>
                        <a:t>Surface</a:t>
                      </a:r>
                      <a:endParaRPr lang="nl-NL" sz="1200" dirty="0"/>
                    </a:p>
                  </a:txBody>
                  <a:tcPr marL="91437" marR="91437" marT="45726" marB="45726"/>
                </a:tc>
                <a:tc>
                  <a:txBody>
                    <a:bodyPr/>
                    <a:lstStyle/>
                    <a:p>
                      <a:r>
                        <a:rPr lang="en-GB" sz="1200" dirty="0"/>
                        <a:t>k (m)</a:t>
                      </a:r>
                      <a:endParaRPr lang="nl-NL" sz="1200" dirty="0"/>
                    </a:p>
                  </a:txBody>
                  <a:tcPr marL="91437" marR="91437" marT="45726" marB="45726"/>
                </a:tc>
                <a:extLst>
                  <a:ext uri="{0D108BD9-81ED-4DB2-BD59-A6C34878D82A}">
                    <a16:rowId xmlns:a16="http://schemas.microsoft.com/office/drawing/2014/main" val="10000"/>
                  </a:ext>
                </a:extLst>
              </a:tr>
              <a:tr h="457259">
                <a:tc>
                  <a:txBody>
                    <a:bodyPr/>
                    <a:lstStyle/>
                    <a:p>
                      <a:r>
                        <a:rPr lang="en-GB" sz="1200" dirty="0"/>
                        <a:t>Camouflage paint on </a:t>
                      </a:r>
                      <a:r>
                        <a:rPr lang="en-GB" sz="1200" dirty="0" err="1"/>
                        <a:t>aluminum</a:t>
                      </a:r>
                      <a:endParaRPr lang="nl-NL" sz="1200" dirty="0"/>
                    </a:p>
                  </a:txBody>
                  <a:tcPr marL="91437" marR="91437" marT="45726" marB="45726"/>
                </a:tc>
                <a:tc>
                  <a:txBody>
                    <a:bodyPr/>
                    <a:lstStyle/>
                    <a:p>
                      <a:r>
                        <a:rPr lang="en-GB" sz="1200" dirty="0"/>
                        <a:t>1.015 x 10^-5</a:t>
                      </a:r>
                      <a:endParaRPr lang="nl-NL" sz="1200" dirty="0"/>
                    </a:p>
                  </a:txBody>
                  <a:tcPr marL="91437" marR="91437" marT="45726" marB="45726"/>
                </a:tc>
                <a:extLst>
                  <a:ext uri="{0D108BD9-81ED-4DB2-BD59-A6C34878D82A}">
                    <a16:rowId xmlns:a16="http://schemas.microsoft.com/office/drawing/2014/main" val="10001"/>
                  </a:ext>
                </a:extLst>
              </a:tr>
              <a:tr h="370887">
                <a:tc>
                  <a:txBody>
                    <a:bodyPr/>
                    <a:lstStyle/>
                    <a:p>
                      <a:r>
                        <a:rPr lang="en-GB" sz="1200" dirty="0"/>
                        <a:t>Smooth paint</a:t>
                      </a:r>
                      <a:endParaRPr lang="nl-NL" sz="1200" dirty="0"/>
                    </a:p>
                  </a:txBody>
                  <a:tcPr marL="91437" marR="91437" marT="45726" marB="45726"/>
                </a:tc>
                <a:tc>
                  <a:txBody>
                    <a:bodyPr/>
                    <a:lstStyle/>
                    <a:p>
                      <a:r>
                        <a:rPr lang="en-GB" sz="1200" dirty="0"/>
                        <a:t>0.634</a:t>
                      </a:r>
                      <a:r>
                        <a:rPr lang="en-GB" sz="1200" baseline="0" dirty="0"/>
                        <a:t> x 10^-5</a:t>
                      </a:r>
                      <a:endParaRPr lang="nl-NL" sz="1200" dirty="0"/>
                    </a:p>
                  </a:txBody>
                  <a:tcPr marL="91437" marR="91437" marT="45726" marB="45726"/>
                </a:tc>
                <a:extLst>
                  <a:ext uri="{0D108BD9-81ED-4DB2-BD59-A6C34878D82A}">
                    <a16:rowId xmlns:a16="http://schemas.microsoft.com/office/drawing/2014/main" val="10002"/>
                  </a:ext>
                </a:extLst>
              </a:tr>
              <a:tr h="457259">
                <a:tc>
                  <a:txBody>
                    <a:bodyPr/>
                    <a:lstStyle/>
                    <a:p>
                      <a:r>
                        <a:rPr lang="en-GB" sz="1200" dirty="0"/>
                        <a:t>Production sheet metal</a:t>
                      </a:r>
                      <a:endParaRPr lang="nl-NL" sz="1200" dirty="0"/>
                    </a:p>
                  </a:txBody>
                  <a:tcPr marL="91437" marR="91437" marT="45726" marB="45726"/>
                </a:tc>
                <a:tc>
                  <a:txBody>
                    <a:bodyPr/>
                    <a:lstStyle/>
                    <a:p>
                      <a:r>
                        <a:rPr lang="en-GB" sz="1200" dirty="0"/>
                        <a:t>0.405</a:t>
                      </a:r>
                      <a:r>
                        <a:rPr lang="en-GB" sz="1200" baseline="0" dirty="0"/>
                        <a:t> x 10^-5</a:t>
                      </a:r>
                      <a:endParaRPr lang="nl-NL" sz="1200" dirty="0"/>
                    </a:p>
                  </a:txBody>
                  <a:tcPr marL="91437" marR="91437" marT="45726" marB="45726"/>
                </a:tc>
                <a:extLst>
                  <a:ext uri="{0D108BD9-81ED-4DB2-BD59-A6C34878D82A}">
                    <a16:rowId xmlns:a16="http://schemas.microsoft.com/office/drawing/2014/main" val="10003"/>
                  </a:ext>
                </a:extLst>
              </a:tr>
              <a:tr h="370887">
                <a:tc>
                  <a:txBody>
                    <a:bodyPr/>
                    <a:lstStyle/>
                    <a:p>
                      <a:r>
                        <a:rPr lang="en-GB" sz="1200" dirty="0"/>
                        <a:t>Polished sheet</a:t>
                      </a:r>
                      <a:r>
                        <a:rPr lang="en-GB" sz="1200" baseline="0" dirty="0"/>
                        <a:t> metal</a:t>
                      </a:r>
                      <a:endParaRPr lang="nl-NL" sz="1200" dirty="0"/>
                    </a:p>
                  </a:txBody>
                  <a:tcPr marL="91437" marR="91437" marT="45726" marB="45726"/>
                </a:tc>
                <a:tc>
                  <a:txBody>
                    <a:bodyPr/>
                    <a:lstStyle/>
                    <a:p>
                      <a:r>
                        <a:rPr lang="en-GB" sz="1200" dirty="0"/>
                        <a:t>0.152 x 10^-5</a:t>
                      </a:r>
                      <a:endParaRPr lang="nl-NL" sz="1200" dirty="0"/>
                    </a:p>
                  </a:txBody>
                  <a:tcPr marL="91437" marR="91437" marT="45726" marB="45726"/>
                </a:tc>
                <a:extLst>
                  <a:ext uri="{0D108BD9-81ED-4DB2-BD59-A6C34878D82A}">
                    <a16:rowId xmlns:a16="http://schemas.microsoft.com/office/drawing/2014/main" val="10004"/>
                  </a:ext>
                </a:extLst>
              </a:tr>
              <a:tr h="457259">
                <a:tc>
                  <a:txBody>
                    <a:bodyPr/>
                    <a:lstStyle/>
                    <a:p>
                      <a:r>
                        <a:rPr lang="en-GB" sz="1200" dirty="0"/>
                        <a:t>Smooth</a:t>
                      </a:r>
                      <a:r>
                        <a:rPr lang="en-GB" sz="1200" baseline="0" dirty="0"/>
                        <a:t> </a:t>
                      </a:r>
                      <a:r>
                        <a:rPr lang="en-GB" sz="1200" baseline="0" dirty="0" err="1"/>
                        <a:t>molded</a:t>
                      </a:r>
                      <a:r>
                        <a:rPr lang="en-GB" sz="1200" baseline="0" dirty="0"/>
                        <a:t> composite</a:t>
                      </a:r>
                      <a:endParaRPr lang="nl-NL" sz="1200" dirty="0"/>
                    </a:p>
                  </a:txBody>
                  <a:tcPr marL="91437" marR="91437" marT="45726" marB="45726"/>
                </a:tc>
                <a:tc>
                  <a:txBody>
                    <a:bodyPr/>
                    <a:lstStyle/>
                    <a:p>
                      <a:r>
                        <a:rPr lang="en-GB" sz="1200" dirty="0"/>
                        <a:t>0.052 x 10^-5</a:t>
                      </a:r>
                      <a:endParaRPr lang="nl-NL" sz="1200" dirty="0"/>
                    </a:p>
                  </a:txBody>
                  <a:tcPr marL="91437" marR="91437" marT="45726" marB="45726"/>
                </a:tc>
                <a:extLst>
                  <a:ext uri="{0D108BD9-81ED-4DB2-BD59-A6C34878D82A}">
                    <a16:rowId xmlns:a16="http://schemas.microsoft.com/office/drawing/2014/main" val="10005"/>
                  </a:ext>
                </a:extLst>
              </a:tr>
            </a:tbl>
          </a:graphicData>
        </a:graphic>
      </p:graphicFrame>
      <p:sp>
        <p:nvSpPr>
          <p:cNvPr id="22" name="TextBox 21"/>
          <p:cNvSpPr txBox="1">
            <a:spLocks noChangeArrowheads="1"/>
          </p:cNvSpPr>
          <p:nvPr/>
        </p:nvSpPr>
        <p:spPr bwMode="auto">
          <a:xfrm>
            <a:off x="1865489" y="5370513"/>
            <a:ext cx="856932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dirty="0">
                <a:solidFill>
                  <a:schemeClr val="bg2"/>
                </a:solidFill>
              </a:rPr>
              <a:t>The total </a:t>
            </a:r>
            <a:r>
              <a:rPr lang="en-GB" altLang="en-US" sz="1600" dirty="0" err="1">
                <a:solidFill>
                  <a:schemeClr val="bg2"/>
                </a:solidFill>
              </a:rPr>
              <a:t>Cf</a:t>
            </a:r>
            <a:r>
              <a:rPr lang="en-GB" altLang="en-US" sz="1600" dirty="0">
                <a:solidFill>
                  <a:schemeClr val="bg2"/>
                </a:solidFill>
              </a:rPr>
              <a:t> is the weighted average of the laminar and the turbulent Cf. For example if you have 10% laminar and 90% turbulent flow then: </a:t>
            </a:r>
            <a:r>
              <a:rPr lang="en-GB" altLang="en-US" sz="1600" dirty="0" err="1">
                <a:solidFill>
                  <a:schemeClr val="bg2"/>
                </a:solidFill>
              </a:rPr>
              <a:t>Cf</a:t>
            </a:r>
            <a:r>
              <a:rPr lang="en-GB" altLang="en-US" sz="1600" dirty="0">
                <a:solidFill>
                  <a:schemeClr val="bg2"/>
                </a:solidFill>
              </a:rPr>
              <a:t> = 0,1Cf_laminar + 0,9 </a:t>
            </a:r>
            <a:r>
              <a:rPr lang="en-GB" altLang="en-US" sz="1600" dirty="0" err="1">
                <a:solidFill>
                  <a:schemeClr val="bg2"/>
                </a:solidFill>
              </a:rPr>
              <a:t>Cf_turbulent</a:t>
            </a:r>
            <a:endParaRPr lang="nl-NL" altLang="en-US" sz="1600" dirty="0">
              <a:solidFill>
                <a:schemeClr val="bg2"/>
              </a:solidFill>
            </a:endParaRPr>
          </a:p>
        </p:txBody>
      </p:sp>
      <p:graphicFrame>
        <p:nvGraphicFramePr>
          <p:cNvPr id="23" name="Object 1">
            <a:extLst>
              <a:ext uri="{FF2B5EF4-FFF2-40B4-BE49-F238E27FC236}">
                <a16:creationId xmlns:a16="http://schemas.microsoft.com/office/drawing/2014/main" id="{2A9A242B-F51E-E549-A9CF-A8E7DCDA5777}"/>
              </a:ext>
            </a:extLst>
          </p:cNvPr>
          <p:cNvGraphicFramePr>
            <a:graphicFrameLocks noChangeAspect="1"/>
          </p:cNvGraphicFramePr>
          <p:nvPr>
            <p:extLst>
              <p:ext uri="{D42A27DB-BD31-4B8C-83A1-F6EECF244321}">
                <p14:modId xmlns:p14="http://schemas.microsoft.com/office/powerpoint/2010/main" val="2334377535"/>
              </p:ext>
            </p:extLst>
          </p:nvPr>
        </p:nvGraphicFramePr>
        <p:xfrm>
          <a:off x="8040030" y="67644"/>
          <a:ext cx="4122466" cy="717375"/>
        </p:xfrm>
        <a:graphic>
          <a:graphicData uri="http://schemas.openxmlformats.org/presentationml/2006/ole">
            <mc:AlternateContent xmlns:mc="http://schemas.openxmlformats.org/markup-compatibility/2006">
              <mc:Choice xmlns:v="urn:schemas-microsoft-com:vml" Requires="v">
                <p:oleObj name="Equation" r:id="rId10" imgW="2552700" imgH="444500" progId="Equation.DSMT4">
                  <p:embed/>
                </p:oleObj>
              </mc:Choice>
              <mc:Fallback>
                <p:oleObj name="Equation" r:id="rId10" imgW="2552700" imgH="444500" progId="Equation.DSMT4">
                  <p:embed/>
                  <p:pic>
                    <p:nvPicPr>
                      <p:cNvPr id="7" name="Object 1">
                        <a:extLst>
                          <a:ext uri="{FF2B5EF4-FFF2-40B4-BE49-F238E27FC236}">
                            <a16:creationId xmlns:a16="http://schemas.microsoft.com/office/drawing/2014/main" id="{89D45976-6E54-D849-ACFB-D29753D5B5B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40030" y="67644"/>
                        <a:ext cx="4122466" cy="717375"/>
                      </a:xfrm>
                      <a:prstGeom prst="rect">
                        <a:avLst/>
                      </a:prstGeom>
                      <a:noFill/>
                      <a:ln>
                        <a:noFill/>
                      </a:ln>
                    </p:spPr>
                  </p:pic>
                </p:oleObj>
              </mc:Fallback>
            </mc:AlternateContent>
          </a:graphicData>
        </a:graphic>
      </p:graphicFrame>
      <p:sp>
        <p:nvSpPr>
          <p:cNvPr id="24" name="Oval 23">
            <a:extLst>
              <a:ext uri="{FF2B5EF4-FFF2-40B4-BE49-F238E27FC236}">
                <a16:creationId xmlns:a16="http://schemas.microsoft.com/office/drawing/2014/main" id="{5D61DCB4-28C9-F241-8335-39BEE56FA9C5}"/>
              </a:ext>
            </a:extLst>
          </p:cNvPr>
          <p:cNvSpPr/>
          <p:nvPr/>
        </p:nvSpPr>
        <p:spPr bwMode="auto">
          <a:xfrm>
            <a:off x="9264352" y="162942"/>
            <a:ext cx="503982" cy="483741"/>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2200" b="0" i="0" u="none" strike="noStrike" cap="none" normalizeH="0" baseline="0">
              <a:ln>
                <a:noFill/>
              </a:ln>
              <a:solidFill>
                <a:schemeClr val="tx1"/>
              </a:solidFill>
              <a:effectLst/>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5" grpId="0"/>
      <p:bldP spid="16" grpId="0" animBg="1"/>
      <p:bldP spid="17" grpId="0" animBg="1"/>
      <p:bldP spid="18" grpId="0" animBg="1"/>
      <p:bldP spid="19" grpId="0"/>
      <p:bldP spid="20" grpId="0"/>
      <p:bldP spid="2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911424" y="260648"/>
            <a:ext cx="9117831"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3-Component form factor</a:t>
            </a:r>
            <a:endParaRPr lang="nl-NL" kern="0" dirty="0">
              <a:solidFill>
                <a:schemeClr val="bg2"/>
              </a:solidFill>
            </a:endParaRPr>
          </a:p>
        </p:txBody>
      </p:sp>
      <p:graphicFrame>
        <p:nvGraphicFramePr>
          <p:cNvPr id="50179" name="Object 2"/>
          <p:cNvGraphicFramePr>
            <a:graphicFrameLocks noChangeAspect="1"/>
          </p:cNvGraphicFramePr>
          <p:nvPr/>
        </p:nvGraphicFramePr>
        <p:xfrm>
          <a:off x="4151313" y="1628776"/>
          <a:ext cx="5300662" cy="752475"/>
        </p:xfrm>
        <a:graphic>
          <a:graphicData uri="http://schemas.openxmlformats.org/presentationml/2006/ole">
            <mc:AlternateContent xmlns:mc="http://schemas.openxmlformats.org/markup-compatibility/2006">
              <mc:Choice xmlns:v="urn:schemas-microsoft-com:vml" Requires="v">
                <p:oleObj name="Equation" r:id="rId3" imgW="3581400" imgH="508000" progId="Equation.DSMT4">
                  <p:embed/>
                </p:oleObj>
              </mc:Choice>
              <mc:Fallback>
                <p:oleObj name="Equation" r:id="rId3" imgW="3581400" imgH="5080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1313" y="1628776"/>
                        <a:ext cx="5300662"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80" name="TextBox 3"/>
          <p:cNvSpPr txBox="1">
            <a:spLocks noChangeArrowheads="1"/>
          </p:cNvSpPr>
          <p:nvPr/>
        </p:nvSpPr>
        <p:spPr bwMode="auto">
          <a:xfrm>
            <a:off x="2414588" y="1268414"/>
            <a:ext cx="29527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a:t>Wing, tail, strut and pylon:</a:t>
            </a:r>
            <a:endParaRPr lang="nl-NL" altLang="en-US" sz="1600"/>
          </a:p>
        </p:txBody>
      </p:sp>
      <p:sp>
        <p:nvSpPr>
          <p:cNvPr id="50181" name="TextBox 4"/>
          <p:cNvSpPr txBox="1">
            <a:spLocks noChangeArrowheads="1"/>
          </p:cNvSpPr>
          <p:nvPr/>
        </p:nvSpPr>
        <p:spPr bwMode="auto">
          <a:xfrm>
            <a:off x="2566988" y="2492376"/>
            <a:ext cx="29527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a:t>Fuselage and smooth canopy:</a:t>
            </a:r>
            <a:endParaRPr lang="nl-NL" altLang="en-US" sz="1600"/>
          </a:p>
        </p:txBody>
      </p:sp>
      <p:graphicFrame>
        <p:nvGraphicFramePr>
          <p:cNvPr id="50182" name="Object 5"/>
          <p:cNvGraphicFramePr>
            <a:graphicFrameLocks noChangeAspect="1"/>
          </p:cNvGraphicFramePr>
          <p:nvPr/>
        </p:nvGraphicFramePr>
        <p:xfrm>
          <a:off x="5332413" y="2865439"/>
          <a:ext cx="2063750" cy="708025"/>
        </p:xfrm>
        <a:graphic>
          <a:graphicData uri="http://schemas.openxmlformats.org/presentationml/2006/ole">
            <mc:AlternateContent xmlns:mc="http://schemas.openxmlformats.org/markup-compatibility/2006">
              <mc:Choice xmlns:v="urn:schemas-microsoft-com:vml" Requires="v">
                <p:oleObj name="Equation" r:id="rId5" imgW="1333500" imgH="457200" progId="Equation.DSMT4">
                  <p:embed/>
                </p:oleObj>
              </mc:Choice>
              <mc:Fallback>
                <p:oleObj name="Equation" r:id="rId5" imgW="1333500" imgH="4572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2413" y="2865439"/>
                        <a:ext cx="20637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83" name="TextBox 6"/>
          <p:cNvSpPr txBox="1">
            <a:spLocks noChangeArrowheads="1"/>
          </p:cNvSpPr>
          <p:nvPr/>
        </p:nvSpPr>
        <p:spPr bwMode="auto">
          <a:xfrm>
            <a:off x="2441576" y="3573464"/>
            <a:ext cx="35290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a:t>Nacelle and smooth external store:</a:t>
            </a:r>
            <a:endParaRPr lang="nl-NL" altLang="en-US" sz="1600"/>
          </a:p>
        </p:txBody>
      </p:sp>
      <p:graphicFrame>
        <p:nvGraphicFramePr>
          <p:cNvPr id="50184" name="Object 7"/>
          <p:cNvGraphicFramePr>
            <a:graphicFrameLocks noChangeAspect="1"/>
          </p:cNvGraphicFramePr>
          <p:nvPr/>
        </p:nvGraphicFramePr>
        <p:xfrm>
          <a:off x="5591176" y="4079876"/>
          <a:ext cx="1368425" cy="644525"/>
        </p:xfrm>
        <a:graphic>
          <a:graphicData uri="http://schemas.openxmlformats.org/presentationml/2006/ole">
            <mc:AlternateContent xmlns:mc="http://schemas.openxmlformats.org/markup-compatibility/2006">
              <mc:Choice xmlns:v="urn:schemas-microsoft-com:vml" Requires="v">
                <p:oleObj name="Equation" r:id="rId7" imgW="889000" imgH="419100" progId="Equation.DSMT4">
                  <p:embed/>
                </p:oleObj>
              </mc:Choice>
              <mc:Fallback>
                <p:oleObj name="Equation" r:id="rId7" imgW="889000" imgH="4191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91176" y="4079876"/>
                        <a:ext cx="1368425"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185" name="TextBox 8"/>
          <p:cNvSpPr txBox="1">
            <a:spLocks noChangeArrowheads="1"/>
          </p:cNvSpPr>
          <p:nvPr/>
        </p:nvSpPr>
        <p:spPr bwMode="auto">
          <a:xfrm>
            <a:off x="2640013" y="4797425"/>
            <a:ext cx="12509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a:t>where</a:t>
            </a:r>
            <a:endParaRPr lang="nl-NL" altLang="en-US" sz="1600"/>
          </a:p>
        </p:txBody>
      </p:sp>
      <p:graphicFrame>
        <p:nvGraphicFramePr>
          <p:cNvPr id="50186" name="Object 9"/>
          <p:cNvGraphicFramePr>
            <a:graphicFrameLocks noChangeAspect="1"/>
          </p:cNvGraphicFramePr>
          <p:nvPr/>
        </p:nvGraphicFramePr>
        <p:xfrm>
          <a:off x="5364164" y="5086351"/>
          <a:ext cx="2111375" cy="703263"/>
        </p:xfrm>
        <a:graphic>
          <a:graphicData uri="http://schemas.openxmlformats.org/presentationml/2006/ole">
            <mc:AlternateContent xmlns:mc="http://schemas.openxmlformats.org/markup-compatibility/2006">
              <mc:Choice xmlns:v="urn:schemas-microsoft-com:vml" Requires="v">
                <p:oleObj name="Equation" r:id="rId9" imgW="1371600" imgH="457200" progId="Equation.DSMT4">
                  <p:embed/>
                </p:oleObj>
              </mc:Choice>
              <mc:Fallback>
                <p:oleObj name="Equation" r:id="rId9" imgW="1371600" imgH="4572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64164" y="5086351"/>
                        <a:ext cx="2111375"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
            <a:extLst>
              <a:ext uri="{FF2B5EF4-FFF2-40B4-BE49-F238E27FC236}">
                <a16:creationId xmlns:a16="http://schemas.microsoft.com/office/drawing/2014/main" id="{54D24E19-A515-DD48-A7FA-C2C9A7941111}"/>
              </a:ext>
            </a:extLst>
          </p:cNvPr>
          <p:cNvGraphicFramePr>
            <a:graphicFrameLocks noChangeAspect="1"/>
          </p:cNvGraphicFramePr>
          <p:nvPr>
            <p:extLst>
              <p:ext uri="{D42A27DB-BD31-4B8C-83A1-F6EECF244321}">
                <p14:modId xmlns:p14="http://schemas.microsoft.com/office/powerpoint/2010/main" val="2334377535"/>
              </p:ext>
            </p:extLst>
          </p:nvPr>
        </p:nvGraphicFramePr>
        <p:xfrm>
          <a:off x="8040030" y="67644"/>
          <a:ext cx="4122466" cy="717375"/>
        </p:xfrm>
        <a:graphic>
          <a:graphicData uri="http://schemas.openxmlformats.org/presentationml/2006/ole">
            <mc:AlternateContent xmlns:mc="http://schemas.openxmlformats.org/markup-compatibility/2006">
              <mc:Choice xmlns:v="urn:schemas-microsoft-com:vml" Requires="v">
                <p:oleObj name="Equation" r:id="rId11" imgW="2552700" imgH="444500" progId="Equation.DSMT4">
                  <p:embed/>
                </p:oleObj>
              </mc:Choice>
              <mc:Fallback>
                <p:oleObj name="Equation" r:id="rId11" imgW="2552700" imgH="444500" progId="Equation.DSMT4">
                  <p:embed/>
                  <p:pic>
                    <p:nvPicPr>
                      <p:cNvPr id="7" name="Object 1">
                        <a:extLst>
                          <a:ext uri="{FF2B5EF4-FFF2-40B4-BE49-F238E27FC236}">
                            <a16:creationId xmlns:a16="http://schemas.microsoft.com/office/drawing/2014/main" id="{89D45976-6E54-D849-ACFB-D29753D5B5B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40030" y="67644"/>
                        <a:ext cx="4122466" cy="717375"/>
                      </a:xfrm>
                      <a:prstGeom prst="rect">
                        <a:avLst/>
                      </a:prstGeom>
                      <a:noFill/>
                      <a:ln>
                        <a:noFill/>
                      </a:ln>
                    </p:spPr>
                  </p:pic>
                </p:oleObj>
              </mc:Fallback>
            </mc:AlternateContent>
          </a:graphicData>
        </a:graphic>
      </p:graphicFrame>
      <p:sp>
        <p:nvSpPr>
          <p:cNvPr id="12" name="Oval 11">
            <a:extLst>
              <a:ext uri="{FF2B5EF4-FFF2-40B4-BE49-F238E27FC236}">
                <a16:creationId xmlns:a16="http://schemas.microsoft.com/office/drawing/2014/main" id="{52EFD784-9650-5949-8B22-DE5462F27E4B}"/>
              </a:ext>
            </a:extLst>
          </p:cNvPr>
          <p:cNvSpPr/>
          <p:nvPr/>
        </p:nvSpPr>
        <p:spPr bwMode="auto">
          <a:xfrm>
            <a:off x="9849272" y="161454"/>
            <a:ext cx="503982" cy="529754"/>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2200" b="0" i="0" u="none" strike="noStrike" cap="none" normalizeH="0" baseline="0">
              <a:ln>
                <a:noFill/>
              </a:ln>
              <a:solidFill>
                <a:schemeClr val="tx1"/>
              </a:solidFill>
              <a:effectLst/>
              <a:latin typeface="Tahoma"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839416" y="116632"/>
            <a:ext cx="7659688"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3-Component interference factor</a:t>
            </a:r>
            <a:endParaRPr lang="nl-NL" kern="0" dirty="0">
              <a:solidFill>
                <a:schemeClr val="bg2"/>
              </a:solidFill>
            </a:endParaRPr>
          </a:p>
        </p:txBody>
      </p:sp>
      <p:pic>
        <p:nvPicPr>
          <p:cNvPr id="5120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0256" y="980728"/>
            <a:ext cx="3357563" cy="5022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2"/>
          <p:cNvSpPr txBox="1">
            <a:spLocks/>
          </p:cNvSpPr>
          <p:nvPr/>
        </p:nvSpPr>
        <p:spPr>
          <a:xfrm>
            <a:off x="807114" y="1092200"/>
            <a:ext cx="6873062" cy="3581400"/>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600" kern="0" dirty="0"/>
              <a:t>The interference drag is due to:</a:t>
            </a:r>
          </a:p>
          <a:p>
            <a:pPr lvl="1">
              <a:defRPr/>
            </a:pPr>
            <a:r>
              <a:rPr lang="en-GB" sz="1400" kern="0" dirty="0"/>
              <a:t>Boundary layer interaction at the connection of two component  resulting in a  thicker BL.</a:t>
            </a:r>
          </a:p>
          <a:p>
            <a:pPr lvl="1">
              <a:defRPr/>
            </a:pPr>
            <a:endParaRPr lang="en-GB" sz="1400" kern="0" dirty="0"/>
          </a:p>
          <a:p>
            <a:pPr lvl="1">
              <a:defRPr/>
            </a:pPr>
            <a:r>
              <a:rPr lang="en-GB" sz="1400" kern="0" dirty="0"/>
              <a:t>A component is immersed in the </a:t>
            </a:r>
            <a:r>
              <a:rPr lang="en-GB" sz="1400" kern="0" dirty="0" err="1"/>
              <a:t>supervelocity</a:t>
            </a:r>
            <a:r>
              <a:rPr lang="en-GB" sz="1400" kern="0" dirty="0"/>
              <a:t> around another component *.</a:t>
            </a:r>
            <a:endParaRPr lang="en-GB" sz="1050" kern="0" dirty="0"/>
          </a:p>
          <a:p>
            <a:pPr lvl="1">
              <a:defRPr/>
            </a:pPr>
            <a:endParaRPr lang="en-GB" sz="1400" kern="0" dirty="0"/>
          </a:p>
          <a:p>
            <a:pPr lvl="1">
              <a:defRPr/>
            </a:pPr>
            <a:endParaRPr lang="en-GB" sz="1400" kern="0" dirty="0"/>
          </a:p>
          <a:p>
            <a:pPr lvl="1">
              <a:defRPr/>
            </a:pPr>
            <a:endParaRPr lang="en-GB" sz="1400" kern="0" dirty="0"/>
          </a:p>
          <a:p>
            <a:pPr lvl="1">
              <a:defRPr/>
            </a:pPr>
            <a:endParaRPr lang="en-GB" sz="1400" kern="0" dirty="0"/>
          </a:p>
          <a:p>
            <a:pPr lvl="1">
              <a:defRPr/>
            </a:pPr>
            <a:endParaRPr lang="en-GB" sz="1400" kern="0" dirty="0"/>
          </a:p>
          <a:p>
            <a:pPr marL="385763" lvl="1" indent="0">
              <a:buNone/>
              <a:defRPr/>
            </a:pPr>
            <a:endParaRPr lang="en-GB" sz="1400" kern="0" dirty="0"/>
          </a:p>
          <a:p>
            <a:pPr>
              <a:defRPr/>
            </a:pPr>
            <a:endParaRPr lang="en-GB" sz="1600" kern="0" dirty="0"/>
          </a:p>
          <a:p>
            <a:pPr>
              <a:defRPr/>
            </a:pPr>
            <a:endParaRPr lang="en-GB" sz="1600" kern="0" dirty="0"/>
          </a:p>
          <a:p>
            <a:pPr>
              <a:defRPr/>
            </a:pPr>
            <a:endParaRPr lang="en-GB" sz="1600" kern="0" dirty="0"/>
          </a:p>
          <a:p>
            <a:pPr>
              <a:defRPr/>
            </a:pPr>
            <a:endParaRPr lang="en-GB" sz="1600" kern="0" dirty="0"/>
          </a:p>
          <a:p>
            <a:pPr>
              <a:defRPr/>
            </a:pPr>
            <a:endParaRPr lang="en-GB" sz="1600" kern="0" dirty="0"/>
          </a:p>
        </p:txBody>
      </p:sp>
      <p:graphicFrame>
        <p:nvGraphicFramePr>
          <p:cNvPr id="5" name="Object 1">
            <a:extLst>
              <a:ext uri="{FF2B5EF4-FFF2-40B4-BE49-F238E27FC236}">
                <a16:creationId xmlns:a16="http://schemas.microsoft.com/office/drawing/2014/main" id="{16BD423C-364B-734F-AB78-1FD53EEFC1F2}"/>
              </a:ext>
            </a:extLst>
          </p:cNvPr>
          <p:cNvGraphicFramePr>
            <a:graphicFrameLocks noChangeAspect="1"/>
          </p:cNvGraphicFramePr>
          <p:nvPr>
            <p:extLst>
              <p:ext uri="{D42A27DB-BD31-4B8C-83A1-F6EECF244321}">
                <p14:modId xmlns:p14="http://schemas.microsoft.com/office/powerpoint/2010/main" val="2334377535"/>
              </p:ext>
            </p:extLst>
          </p:nvPr>
        </p:nvGraphicFramePr>
        <p:xfrm>
          <a:off x="8040030" y="67644"/>
          <a:ext cx="4122466" cy="717375"/>
        </p:xfrm>
        <a:graphic>
          <a:graphicData uri="http://schemas.openxmlformats.org/presentationml/2006/ole">
            <mc:AlternateContent xmlns:mc="http://schemas.openxmlformats.org/markup-compatibility/2006">
              <mc:Choice xmlns:v="urn:schemas-microsoft-com:vml" Requires="v">
                <p:oleObj name="Equation" r:id="rId4" imgW="2552700" imgH="444500" progId="Equation.DSMT4">
                  <p:embed/>
                </p:oleObj>
              </mc:Choice>
              <mc:Fallback>
                <p:oleObj name="Equation" r:id="rId4" imgW="2552700" imgH="444500" progId="Equation.DSMT4">
                  <p:embed/>
                  <p:pic>
                    <p:nvPicPr>
                      <p:cNvPr id="7" name="Object 1">
                        <a:extLst>
                          <a:ext uri="{FF2B5EF4-FFF2-40B4-BE49-F238E27FC236}">
                            <a16:creationId xmlns:a16="http://schemas.microsoft.com/office/drawing/2014/main" id="{89D45976-6E54-D849-ACFB-D29753D5B5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40030" y="67644"/>
                        <a:ext cx="4122466" cy="717375"/>
                      </a:xfrm>
                      <a:prstGeom prst="rect">
                        <a:avLst/>
                      </a:prstGeom>
                      <a:noFill/>
                      <a:ln>
                        <a:noFill/>
                      </a:ln>
                    </p:spPr>
                  </p:pic>
                </p:oleObj>
              </mc:Fallback>
            </mc:AlternateContent>
          </a:graphicData>
        </a:graphic>
      </p:graphicFrame>
      <p:sp>
        <p:nvSpPr>
          <p:cNvPr id="6" name="Oval 5">
            <a:extLst>
              <a:ext uri="{FF2B5EF4-FFF2-40B4-BE49-F238E27FC236}">
                <a16:creationId xmlns:a16="http://schemas.microsoft.com/office/drawing/2014/main" id="{6F273B32-EB86-DA41-ACF6-F10204CA6643}"/>
              </a:ext>
            </a:extLst>
          </p:cNvPr>
          <p:cNvSpPr/>
          <p:nvPr/>
        </p:nvSpPr>
        <p:spPr bwMode="auto">
          <a:xfrm>
            <a:off x="10416480" y="168350"/>
            <a:ext cx="503982" cy="483741"/>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2200" b="0" i="0" u="none" strike="noStrike" cap="none" normalizeH="0" baseline="0">
              <a:ln>
                <a:noFill/>
              </a:ln>
              <a:solidFill>
                <a:schemeClr val="tx1"/>
              </a:solidFill>
              <a:effectLst/>
              <a:latin typeface="Tahoma"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802578" y="130971"/>
            <a:ext cx="9261847"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Miscellaneous drag - Wave drag</a:t>
            </a:r>
            <a:endParaRPr lang="nl-NL" kern="0" dirty="0">
              <a:solidFill>
                <a:schemeClr val="bg2"/>
              </a:solidFill>
            </a:endParaRPr>
          </a:p>
        </p:txBody>
      </p:sp>
      <p:sp>
        <p:nvSpPr>
          <p:cNvPr id="3" name="Content Placeholder 2"/>
          <p:cNvSpPr txBox="1">
            <a:spLocks/>
          </p:cNvSpPr>
          <p:nvPr/>
        </p:nvSpPr>
        <p:spPr>
          <a:xfrm>
            <a:off x="911425" y="1268414"/>
            <a:ext cx="9361290" cy="865187"/>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600" kern="0" dirty="0"/>
              <a:t>Drag divergence Mach number.</a:t>
            </a:r>
          </a:p>
          <a:p>
            <a:pPr lvl="1">
              <a:defRPr/>
            </a:pPr>
            <a:r>
              <a:rPr lang="en-GB" sz="1400" kern="0" dirty="0"/>
              <a:t>Definition 1:</a:t>
            </a:r>
            <a:endParaRPr lang="en-GB" kern="0" dirty="0"/>
          </a:p>
          <a:p>
            <a:pPr>
              <a:defRPr/>
            </a:pPr>
            <a:endParaRPr lang="en-GB" sz="1600" kern="0" dirty="0"/>
          </a:p>
          <a:p>
            <a:pPr>
              <a:defRPr/>
            </a:pPr>
            <a:endParaRPr lang="en-GB" sz="1600" kern="0" dirty="0"/>
          </a:p>
          <a:p>
            <a:pPr>
              <a:defRPr/>
            </a:pPr>
            <a:endParaRPr lang="en-GB" sz="1600" kern="0" dirty="0"/>
          </a:p>
        </p:txBody>
      </p:sp>
      <p:pic>
        <p:nvPicPr>
          <p:cNvPr id="5222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49" y="998538"/>
            <a:ext cx="4168775" cy="2830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52229" name="Object 3"/>
          <p:cNvGraphicFramePr>
            <a:graphicFrameLocks noChangeAspect="1"/>
          </p:cNvGraphicFramePr>
          <p:nvPr>
            <p:extLst>
              <p:ext uri="{D42A27DB-BD31-4B8C-83A1-F6EECF244321}">
                <p14:modId xmlns:p14="http://schemas.microsoft.com/office/powerpoint/2010/main" val="4096627077"/>
              </p:ext>
            </p:extLst>
          </p:nvPr>
        </p:nvGraphicFramePr>
        <p:xfrm>
          <a:off x="2646720" y="1654970"/>
          <a:ext cx="1300163" cy="360363"/>
        </p:xfrm>
        <a:graphic>
          <a:graphicData uri="http://schemas.openxmlformats.org/presentationml/2006/ole">
            <mc:AlternateContent xmlns:mc="http://schemas.openxmlformats.org/markup-compatibility/2006">
              <mc:Choice xmlns:v="urn:schemas-microsoft-com:vml" Requires="v">
                <p:oleObj name="Equation" r:id="rId4" imgW="825500" imgH="228600" progId="Equation.DSMT4">
                  <p:embed/>
                </p:oleObj>
              </mc:Choice>
              <mc:Fallback>
                <p:oleObj name="Equation" r:id="rId4" imgW="825500" imgH="2286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6720" y="1654970"/>
                        <a:ext cx="13001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606656482"/>
              </p:ext>
            </p:extLst>
          </p:nvPr>
        </p:nvGraphicFramePr>
        <p:xfrm>
          <a:off x="2677085" y="2209801"/>
          <a:ext cx="865187" cy="514350"/>
        </p:xfrm>
        <a:graphic>
          <a:graphicData uri="http://schemas.openxmlformats.org/presentationml/2006/ole">
            <mc:AlternateContent xmlns:mc="http://schemas.openxmlformats.org/markup-compatibility/2006">
              <mc:Choice xmlns:v="urn:schemas-microsoft-com:vml" Requires="v">
                <p:oleObj name="Equation" r:id="rId6" imgW="660113" imgH="393529" progId="Equation.DSMT4">
                  <p:embed/>
                </p:oleObj>
              </mc:Choice>
              <mc:Fallback>
                <p:oleObj name="Equation" r:id="rId6" imgW="660113" imgH="393529"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77085" y="2209801"/>
                        <a:ext cx="86518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7" name="Straight Connector 6"/>
          <p:cNvCxnSpPr>
            <a:cxnSpLocks noChangeShapeType="1"/>
          </p:cNvCxnSpPr>
          <p:nvPr/>
        </p:nvCxnSpPr>
        <p:spPr bwMode="auto">
          <a:xfrm flipH="1">
            <a:off x="9055148" y="2133601"/>
            <a:ext cx="1009650" cy="1223963"/>
          </a:xfrm>
          <a:prstGeom prst="line">
            <a:avLst/>
          </a:prstGeom>
          <a:noFill/>
          <a:ln w="15875" algn="ctr">
            <a:solidFill>
              <a:srgbClr val="FF0000"/>
            </a:solidFill>
            <a:round/>
            <a:headEnd/>
            <a:tailEnd/>
          </a:ln>
          <a:extLst>
            <a:ext uri="{909E8E84-426E-40DD-AFC4-6F175D3DCCD1}">
              <a14:hiddenFill xmlns:a14="http://schemas.microsoft.com/office/drawing/2010/main">
                <a:noFill/>
              </a14:hiddenFill>
            </a:ext>
          </a:extLst>
        </p:spPr>
      </p:cxnSp>
      <p:cxnSp>
        <p:nvCxnSpPr>
          <p:cNvPr id="11" name="Straight Connector 10"/>
          <p:cNvCxnSpPr>
            <a:cxnSpLocks noChangeShapeType="1"/>
          </p:cNvCxnSpPr>
          <p:nvPr/>
        </p:nvCxnSpPr>
        <p:spPr bwMode="auto">
          <a:xfrm flipH="1">
            <a:off x="9128174" y="2205038"/>
            <a:ext cx="1008063" cy="1223962"/>
          </a:xfrm>
          <a:prstGeom prst="line">
            <a:avLst/>
          </a:prstGeom>
          <a:noFill/>
          <a:ln w="15875" algn="ctr">
            <a:solidFill>
              <a:srgbClr val="FF0000"/>
            </a:solidFill>
            <a:round/>
            <a:headEnd/>
            <a:tailEnd/>
          </a:ln>
          <a:extLst>
            <a:ext uri="{909E8E84-426E-40DD-AFC4-6F175D3DCCD1}">
              <a14:hiddenFill xmlns:a14="http://schemas.microsoft.com/office/drawing/2010/main">
                <a:noFill/>
              </a14:hiddenFill>
            </a:ext>
          </a:extLst>
        </p:spPr>
      </p:cxnSp>
      <p:cxnSp>
        <p:nvCxnSpPr>
          <p:cNvPr id="12" name="Straight Connector 11"/>
          <p:cNvCxnSpPr>
            <a:cxnSpLocks noChangeShapeType="1"/>
          </p:cNvCxnSpPr>
          <p:nvPr/>
        </p:nvCxnSpPr>
        <p:spPr bwMode="auto">
          <a:xfrm flipH="1">
            <a:off x="9272636" y="2276476"/>
            <a:ext cx="1008062" cy="1223963"/>
          </a:xfrm>
          <a:prstGeom prst="line">
            <a:avLst/>
          </a:prstGeom>
          <a:noFill/>
          <a:ln w="15875" algn="ctr">
            <a:solidFill>
              <a:srgbClr val="FF0000"/>
            </a:solidFill>
            <a:round/>
            <a:headEnd/>
            <a:tailEnd/>
          </a:ln>
          <a:extLst>
            <a:ext uri="{909E8E84-426E-40DD-AFC4-6F175D3DCCD1}">
              <a14:hiddenFill xmlns:a14="http://schemas.microsoft.com/office/drawing/2010/main">
                <a:noFill/>
              </a14:hiddenFill>
            </a:ext>
          </a:extLst>
        </p:spPr>
      </p:cxnSp>
      <p:sp>
        <p:nvSpPr>
          <p:cNvPr id="17" name="Content Placeholder 2"/>
          <p:cNvSpPr txBox="1">
            <a:spLocks/>
          </p:cNvSpPr>
          <p:nvPr/>
        </p:nvSpPr>
        <p:spPr>
          <a:xfrm>
            <a:off x="911425" y="1884364"/>
            <a:ext cx="9361289" cy="865187"/>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lvl="1">
              <a:defRPr/>
            </a:pPr>
            <a:endParaRPr lang="en-GB" sz="1400" kern="0" dirty="0"/>
          </a:p>
          <a:p>
            <a:pPr lvl="1">
              <a:defRPr/>
            </a:pPr>
            <a:r>
              <a:rPr lang="en-GB" sz="1400" kern="0" dirty="0"/>
              <a:t>Definition 2:</a:t>
            </a:r>
          </a:p>
          <a:p>
            <a:pPr lvl="1">
              <a:defRPr/>
            </a:pPr>
            <a:endParaRPr lang="en-GB" sz="1400" kern="0" dirty="0"/>
          </a:p>
          <a:p>
            <a:pPr lvl="1">
              <a:defRPr/>
            </a:pPr>
            <a:endParaRPr lang="en-GB" sz="1400" kern="0" dirty="0"/>
          </a:p>
          <a:p>
            <a:pPr marL="385763" lvl="1" indent="0">
              <a:buNone/>
              <a:defRPr/>
            </a:pPr>
            <a:endParaRPr lang="en-GB" sz="1400" kern="0" dirty="0"/>
          </a:p>
          <a:p>
            <a:pPr>
              <a:defRPr/>
            </a:pPr>
            <a:endParaRPr lang="en-GB" sz="1600" kern="0" dirty="0"/>
          </a:p>
          <a:p>
            <a:pPr>
              <a:defRPr/>
            </a:pPr>
            <a:endParaRPr lang="en-GB" sz="1600" kern="0" dirty="0"/>
          </a:p>
          <a:p>
            <a:pPr>
              <a:defRPr/>
            </a:pPr>
            <a:endParaRPr lang="en-GB" sz="1600" kern="0" dirty="0"/>
          </a:p>
          <a:p>
            <a:pPr>
              <a:defRPr/>
            </a:pPr>
            <a:endParaRPr lang="en-GB" sz="1600" kern="0" dirty="0"/>
          </a:p>
          <a:p>
            <a:pPr>
              <a:defRPr/>
            </a:pPr>
            <a:endParaRPr lang="en-GB" sz="1600" kern="0" dirty="0"/>
          </a:p>
        </p:txBody>
      </p:sp>
      <p:sp>
        <p:nvSpPr>
          <p:cNvPr id="18" name="Content Placeholder 2"/>
          <p:cNvSpPr txBox="1">
            <a:spLocks/>
          </p:cNvSpPr>
          <p:nvPr/>
        </p:nvSpPr>
        <p:spPr>
          <a:xfrm>
            <a:off x="802578" y="3213101"/>
            <a:ext cx="9541573" cy="2519363"/>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lvl="1">
              <a:defRPr/>
            </a:pPr>
            <a:endParaRPr lang="en-GB" sz="1400" kern="0" dirty="0"/>
          </a:p>
          <a:p>
            <a:pPr>
              <a:defRPr/>
            </a:pPr>
            <a:r>
              <a:rPr lang="en-GB" sz="1600" kern="0" dirty="0"/>
              <a:t>Estimation of MDD (by Mason):</a:t>
            </a:r>
          </a:p>
          <a:p>
            <a:pPr>
              <a:defRPr/>
            </a:pPr>
            <a:endParaRPr lang="en-GB" sz="1600" kern="0" dirty="0"/>
          </a:p>
          <a:p>
            <a:pPr lvl="1">
              <a:defRPr/>
            </a:pPr>
            <a:endParaRPr lang="en-GB" sz="1400" kern="0" dirty="0"/>
          </a:p>
          <a:p>
            <a:pPr lvl="1">
              <a:defRPr/>
            </a:pPr>
            <a:endParaRPr lang="en-GB" sz="1400" kern="0" dirty="0"/>
          </a:p>
          <a:p>
            <a:pPr lvl="1">
              <a:defRPr/>
            </a:pPr>
            <a:endParaRPr lang="en-GB" sz="1400" kern="0" dirty="0"/>
          </a:p>
          <a:p>
            <a:pPr algn="just">
              <a:defRPr/>
            </a:pPr>
            <a:r>
              <a:rPr lang="en-GB" sz="1400" dirty="0" err="1"/>
              <a:t>k</a:t>
            </a:r>
            <a:r>
              <a:rPr lang="en-GB" sz="1400" baseline="-25000" dirty="0" err="1"/>
              <a:t>a</a:t>
            </a:r>
            <a:r>
              <a:rPr lang="en-GB" sz="1400" dirty="0"/>
              <a:t> is the technology factor of the </a:t>
            </a:r>
            <a:r>
              <a:rPr lang="en-GB" sz="1400" dirty="0" err="1"/>
              <a:t>airfoil</a:t>
            </a:r>
            <a:r>
              <a:rPr lang="en-GB" sz="1400" dirty="0"/>
              <a:t> that is considered. It is constant for a given family of </a:t>
            </a:r>
            <a:r>
              <a:rPr lang="en-GB" sz="1400" dirty="0" err="1"/>
              <a:t>airfoils</a:t>
            </a:r>
            <a:r>
              <a:rPr lang="en-GB" sz="1400" dirty="0"/>
              <a:t> that differ only by their thickness. </a:t>
            </a:r>
            <a:r>
              <a:rPr lang="en-GB" sz="1400" dirty="0" err="1"/>
              <a:t>Ka</a:t>
            </a:r>
            <a:r>
              <a:rPr lang="en-GB" sz="1400" dirty="0"/>
              <a:t> is equal to 0.87 for NACA 6-series </a:t>
            </a:r>
            <a:r>
              <a:rPr lang="en-GB" sz="1400" dirty="0" err="1"/>
              <a:t>airfoils</a:t>
            </a:r>
            <a:r>
              <a:rPr lang="en-GB" sz="1400" dirty="0"/>
              <a:t> and 0.935 for supercritical </a:t>
            </a:r>
            <a:r>
              <a:rPr lang="en-GB" sz="1400" dirty="0" err="1"/>
              <a:t>airfoils</a:t>
            </a:r>
            <a:endParaRPr lang="en-GB" sz="1400" dirty="0"/>
          </a:p>
          <a:p>
            <a:pPr marL="385763" lvl="1" indent="0">
              <a:buNone/>
              <a:defRPr/>
            </a:pPr>
            <a:endParaRPr lang="en-GB" sz="1400" dirty="0"/>
          </a:p>
          <a:p>
            <a:pPr marL="385763" lvl="1" indent="0">
              <a:buNone/>
              <a:defRPr/>
            </a:pPr>
            <a:endParaRPr lang="en-GB" sz="1400" kern="0" dirty="0"/>
          </a:p>
          <a:p>
            <a:pPr>
              <a:defRPr/>
            </a:pPr>
            <a:endParaRPr lang="en-GB" sz="1600" kern="0" dirty="0"/>
          </a:p>
          <a:p>
            <a:pPr>
              <a:defRPr/>
            </a:pPr>
            <a:endParaRPr lang="en-GB" sz="1600" kern="0" dirty="0"/>
          </a:p>
          <a:p>
            <a:pPr>
              <a:defRPr/>
            </a:pPr>
            <a:endParaRPr lang="en-GB" sz="1600" kern="0" dirty="0"/>
          </a:p>
          <a:p>
            <a:pPr>
              <a:defRPr/>
            </a:pPr>
            <a:endParaRPr lang="en-GB" sz="1600" kern="0" dirty="0"/>
          </a:p>
          <a:p>
            <a:pPr>
              <a:defRPr/>
            </a:pPr>
            <a:endParaRPr lang="en-GB" sz="1600" kern="0" dirty="0"/>
          </a:p>
        </p:txBody>
      </p:sp>
      <p:graphicFrame>
        <p:nvGraphicFramePr>
          <p:cNvPr id="10" name="Object 9"/>
          <p:cNvGraphicFramePr>
            <a:graphicFrameLocks noChangeAspect="1"/>
          </p:cNvGraphicFramePr>
          <p:nvPr>
            <p:extLst>
              <p:ext uri="{D42A27DB-BD31-4B8C-83A1-F6EECF244321}">
                <p14:modId xmlns:p14="http://schemas.microsoft.com/office/powerpoint/2010/main" val="2457809112"/>
              </p:ext>
            </p:extLst>
          </p:nvPr>
        </p:nvGraphicFramePr>
        <p:xfrm>
          <a:off x="1991544" y="4001665"/>
          <a:ext cx="4738531" cy="962449"/>
        </p:xfrm>
        <a:graphic>
          <a:graphicData uri="http://schemas.openxmlformats.org/presentationml/2006/ole">
            <mc:AlternateContent xmlns:mc="http://schemas.openxmlformats.org/markup-compatibility/2006">
              <mc:Choice xmlns:v="urn:schemas-microsoft-com:vml" Requires="v">
                <p:oleObj name="Equation" r:id="rId8" imgW="2501900" imgH="508000" progId="Equation.DSMT4">
                  <p:embed/>
                </p:oleObj>
              </mc:Choice>
              <mc:Fallback>
                <p:oleObj name="Equation" r:id="rId8" imgW="2501900" imgH="50800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91544" y="4001665"/>
                        <a:ext cx="4738531" cy="962449"/>
                      </a:xfrm>
                      <a:prstGeom prst="rect">
                        <a:avLst/>
                      </a:prstGeom>
                      <a:noFill/>
                      <a:ln>
                        <a:noFill/>
                      </a:ln>
                    </p:spPr>
                  </p:pic>
                </p:oleObj>
              </mc:Fallback>
            </mc:AlternateContent>
          </a:graphicData>
        </a:graphic>
      </p:graphicFrame>
      <p:graphicFrame>
        <p:nvGraphicFramePr>
          <p:cNvPr id="13" name="Object 1">
            <a:extLst>
              <a:ext uri="{FF2B5EF4-FFF2-40B4-BE49-F238E27FC236}">
                <a16:creationId xmlns:a16="http://schemas.microsoft.com/office/drawing/2014/main" id="{EFAD3929-73FE-764F-9EF6-7E1EADCEF492}"/>
              </a:ext>
            </a:extLst>
          </p:cNvPr>
          <p:cNvGraphicFramePr>
            <a:graphicFrameLocks noChangeAspect="1"/>
          </p:cNvGraphicFramePr>
          <p:nvPr>
            <p:extLst>
              <p:ext uri="{D42A27DB-BD31-4B8C-83A1-F6EECF244321}">
                <p14:modId xmlns:p14="http://schemas.microsoft.com/office/powerpoint/2010/main" val="2334377535"/>
              </p:ext>
            </p:extLst>
          </p:nvPr>
        </p:nvGraphicFramePr>
        <p:xfrm>
          <a:off x="8040030" y="67644"/>
          <a:ext cx="4122466" cy="717375"/>
        </p:xfrm>
        <a:graphic>
          <a:graphicData uri="http://schemas.openxmlformats.org/presentationml/2006/ole">
            <mc:AlternateContent xmlns:mc="http://schemas.openxmlformats.org/markup-compatibility/2006">
              <mc:Choice xmlns:v="urn:schemas-microsoft-com:vml" Requires="v">
                <p:oleObj name="Equation" r:id="rId10" imgW="2552700" imgH="444500" progId="Equation.DSMT4">
                  <p:embed/>
                </p:oleObj>
              </mc:Choice>
              <mc:Fallback>
                <p:oleObj name="Equation" r:id="rId10" imgW="2552700" imgH="444500" progId="Equation.DSMT4">
                  <p:embed/>
                  <p:pic>
                    <p:nvPicPr>
                      <p:cNvPr id="7" name="Object 1">
                        <a:extLst>
                          <a:ext uri="{FF2B5EF4-FFF2-40B4-BE49-F238E27FC236}">
                            <a16:creationId xmlns:a16="http://schemas.microsoft.com/office/drawing/2014/main" id="{89D45976-6E54-D849-ACFB-D29753D5B5B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40030" y="67644"/>
                        <a:ext cx="4122466" cy="717375"/>
                      </a:xfrm>
                      <a:prstGeom prst="rect">
                        <a:avLst/>
                      </a:prstGeom>
                      <a:noFill/>
                      <a:ln>
                        <a:noFill/>
                      </a:ln>
                    </p:spPr>
                  </p:pic>
                </p:oleObj>
              </mc:Fallback>
            </mc:AlternateContent>
          </a:graphicData>
        </a:graphic>
      </p:graphicFrame>
      <p:sp>
        <p:nvSpPr>
          <p:cNvPr id="14" name="Oval 13">
            <a:extLst>
              <a:ext uri="{FF2B5EF4-FFF2-40B4-BE49-F238E27FC236}">
                <a16:creationId xmlns:a16="http://schemas.microsoft.com/office/drawing/2014/main" id="{9C99E11D-FDCD-ED4E-BD94-19996FB68A67}"/>
              </a:ext>
            </a:extLst>
          </p:cNvPr>
          <p:cNvSpPr/>
          <p:nvPr/>
        </p:nvSpPr>
        <p:spPr bwMode="auto">
          <a:xfrm>
            <a:off x="11658514" y="152569"/>
            <a:ext cx="503982" cy="483741"/>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2200" b="0" i="0" u="none" strike="noStrike" cap="none" normalizeH="0" baseline="0">
              <a:ln>
                <a:noFill/>
              </a:ln>
              <a:solidFill>
                <a:schemeClr val="tx1"/>
              </a:solidFill>
              <a:effectLst/>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855005" y="211313"/>
            <a:ext cx="7659688"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Miscellaneous drag  - Wave drag</a:t>
            </a:r>
            <a:endParaRPr lang="nl-NL" kern="0" dirty="0">
              <a:solidFill>
                <a:schemeClr val="bg2"/>
              </a:solidFill>
            </a:endParaRPr>
          </a:p>
        </p:txBody>
      </p:sp>
      <p:sp>
        <p:nvSpPr>
          <p:cNvPr id="3" name="Content Placeholder 2"/>
          <p:cNvSpPr txBox="1">
            <a:spLocks/>
          </p:cNvSpPr>
          <p:nvPr/>
        </p:nvSpPr>
        <p:spPr>
          <a:xfrm>
            <a:off x="911425" y="1268414"/>
            <a:ext cx="9361290" cy="4105275"/>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600" kern="0" dirty="0"/>
              <a:t>Additional drag due to compressibility:</a:t>
            </a:r>
          </a:p>
          <a:p>
            <a:pPr>
              <a:defRPr/>
            </a:pPr>
            <a:endParaRPr lang="en-GB" sz="1600" kern="0" dirty="0"/>
          </a:p>
          <a:p>
            <a:pPr lvl="1">
              <a:defRPr/>
            </a:pPr>
            <a:endParaRPr lang="en-GB" kern="0" dirty="0"/>
          </a:p>
          <a:p>
            <a:pPr lvl="1">
              <a:defRPr/>
            </a:pPr>
            <a:r>
              <a:rPr lang="en-GB" kern="0" dirty="0"/>
              <a:t> For  		:</a:t>
            </a:r>
          </a:p>
          <a:p>
            <a:pPr lvl="1">
              <a:defRPr/>
            </a:pPr>
            <a:endParaRPr lang="en-GB" sz="1200" kern="0" dirty="0"/>
          </a:p>
          <a:p>
            <a:pPr lvl="1">
              <a:defRPr/>
            </a:pPr>
            <a:endParaRPr lang="en-GB" sz="1200" kern="0" dirty="0"/>
          </a:p>
          <a:p>
            <a:pPr lvl="1">
              <a:defRPr/>
            </a:pPr>
            <a:r>
              <a:rPr lang="en-GB" kern="0" dirty="0"/>
              <a:t>For </a:t>
            </a:r>
            <a:r>
              <a:rPr lang="en-GB" sz="1200" kern="0" dirty="0"/>
              <a:t> 		</a:t>
            </a:r>
            <a:r>
              <a:rPr lang="en-GB" kern="0" dirty="0"/>
              <a:t>:</a:t>
            </a:r>
          </a:p>
          <a:p>
            <a:pPr lvl="1">
              <a:defRPr/>
            </a:pPr>
            <a:endParaRPr lang="en-GB" sz="1200" kern="0" dirty="0"/>
          </a:p>
          <a:p>
            <a:pPr lvl="1">
              <a:defRPr/>
            </a:pPr>
            <a:endParaRPr lang="en-GB" sz="1200" kern="0" dirty="0"/>
          </a:p>
          <a:p>
            <a:pPr lvl="1">
              <a:defRPr/>
            </a:pPr>
            <a:endParaRPr lang="en-GB" sz="1200" kern="0" dirty="0"/>
          </a:p>
          <a:p>
            <a:pPr lvl="1">
              <a:defRPr/>
            </a:pPr>
            <a:r>
              <a:rPr lang="en-GB" kern="0" dirty="0"/>
              <a:t>For 		:</a:t>
            </a:r>
          </a:p>
          <a:p>
            <a:pPr>
              <a:defRPr/>
            </a:pPr>
            <a:endParaRPr lang="en-GB" sz="1600" kern="0" dirty="0"/>
          </a:p>
        </p:txBody>
      </p:sp>
      <p:graphicFrame>
        <p:nvGraphicFramePr>
          <p:cNvPr id="53252" name="Object 3"/>
          <p:cNvGraphicFramePr>
            <a:graphicFrameLocks noChangeAspect="1"/>
          </p:cNvGraphicFramePr>
          <p:nvPr>
            <p:extLst>
              <p:ext uri="{D42A27DB-BD31-4B8C-83A1-F6EECF244321}">
                <p14:modId xmlns:p14="http://schemas.microsoft.com/office/powerpoint/2010/main" val="3911667165"/>
              </p:ext>
            </p:extLst>
          </p:nvPr>
        </p:nvGraphicFramePr>
        <p:xfrm>
          <a:off x="4367808" y="3059105"/>
          <a:ext cx="2952750" cy="647700"/>
        </p:xfrm>
        <a:graphic>
          <a:graphicData uri="http://schemas.openxmlformats.org/presentationml/2006/ole">
            <mc:AlternateContent xmlns:mc="http://schemas.openxmlformats.org/markup-compatibility/2006">
              <mc:Choice xmlns:v="urn:schemas-microsoft-com:vml" Requires="v">
                <p:oleObj name="Equation" r:id="rId2" imgW="2082800" imgH="457200" progId="Equation.DSMT4">
                  <p:embed/>
                </p:oleObj>
              </mc:Choice>
              <mc:Fallback>
                <p:oleObj name="Equation" r:id="rId2" imgW="2082800" imgH="4572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7808" y="3059105"/>
                        <a:ext cx="29527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3" name="Object 4"/>
          <p:cNvGraphicFramePr>
            <a:graphicFrameLocks noChangeAspect="1"/>
          </p:cNvGraphicFramePr>
          <p:nvPr>
            <p:extLst>
              <p:ext uri="{D42A27DB-BD31-4B8C-83A1-F6EECF244321}">
                <p14:modId xmlns:p14="http://schemas.microsoft.com/office/powerpoint/2010/main" val="1970719691"/>
              </p:ext>
            </p:extLst>
          </p:nvPr>
        </p:nvGraphicFramePr>
        <p:xfrm>
          <a:off x="2098972" y="3214680"/>
          <a:ext cx="1512887" cy="336550"/>
        </p:xfrm>
        <a:graphic>
          <a:graphicData uri="http://schemas.openxmlformats.org/presentationml/2006/ole">
            <mc:AlternateContent xmlns:mc="http://schemas.openxmlformats.org/markup-compatibility/2006">
              <mc:Choice xmlns:v="urn:schemas-microsoft-com:vml" Requires="v">
                <p:oleObj name="Equation" r:id="rId4" imgW="1028700" imgH="228600" progId="Equation.DSMT4">
                  <p:embed/>
                </p:oleObj>
              </mc:Choice>
              <mc:Fallback>
                <p:oleObj name="Equation" r:id="rId4" imgW="1028700" imgH="2286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8972" y="3214680"/>
                        <a:ext cx="15128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4" name="Object 5"/>
          <p:cNvGraphicFramePr>
            <a:graphicFrameLocks noChangeAspect="1"/>
          </p:cNvGraphicFramePr>
          <p:nvPr>
            <p:extLst>
              <p:ext uri="{D42A27DB-BD31-4B8C-83A1-F6EECF244321}">
                <p14:modId xmlns:p14="http://schemas.microsoft.com/office/powerpoint/2010/main" val="185832771"/>
              </p:ext>
            </p:extLst>
          </p:nvPr>
        </p:nvGraphicFramePr>
        <p:xfrm>
          <a:off x="2240459" y="4529112"/>
          <a:ext cx="915988" cy="336550"/>
        </p:xfrm>
        <a:graphic>
          <a:graphicData uri="http://schemas.openxmlformats.org/presentationml/2006/ole">
            <mc:AlternateContent xmlns:mc="http://schemas.openxmlformats.org/markup-compatibility/2006">
              <mc:Choice xmlns:v="urn:schemas-microsoft-com:vml" Requires="v">
                <p:oleObj name="Equation" r:id="rId6" imgW="622030" imgH="228501" progId="Equation.DSMT4">
                  <p:embed/>
                </p:oleObj>
              </mc:Choice>
              <mc:Fallback>
                <p:oleObj name="Equation" r:id="rId6" imgW="622030" imgH="228501"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40459" y="4529112"/>
                        <a:ext cx="915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5" name="Object 6"/>
          <p:cNvGraphicFramePr>
            <a:graphicFrameLocks noChangeAspect="1"/>
          </p:cNvGraphicFramePr>
          <p:nvPr>
            <p:extLst>
              <p:ext uri="{D42A27DB-BD31-4B8C-83A1-F6EECF244321}">
                <p14:modId xmlns:p14="http://schemas.microsoft.com/office/powerpoint/2010/main" val="4029927900"/>
              </p:ext>
            </p:extLst>
          </p:nvPr>
        </p:nvGraphicFramePr>
        <p:xfrm>
          <a:off x="4367808" y="4371824"/>
          <a:ext cx="2700338" cy="647700"/>
        </p:xfrm>
        <a:graphic>
          <a:graphicData uri="http://schemas.openxmlformats.org/presentationml/2006/ole">
            <mc:AlternateContent xmlns:mc="http://schemas.openxmlformats.org/markup-compatibility/2006">
              <mc:Choice xmlns:v="urn:schemas-microsoft-com:vml" Requires="v">
                <p:oleObj name="Equation" r:id="rId8" imgW="1905000" imgH="457200" progId="Equation.DSMT4">
                  <p:embed/>
                </p:oleObj>
              </mc:Choice>
              <mc:Fallback>
                <p:oleObj name="Equation" r:id="rId8" imgW="1905000" imgH="4572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67808" y="4371824"/>
                        <a:ext cx="27003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6" name="Object 7"/>
          <p:cNvGraphicFramePr>
            <a:graphicFrameLocks noChangeAspect="1"/>
          </p:cNvGraphicFramePr>
          <p:nvPr>
            <p:extLst>
              <p:ext uri="{D42A27DB-BD31-4B8C-83A1-F6EECF244321}">
                <p14:modId xmlns:p14="http://schemas.microsoft.com/office/powerpoint/2010/main" val="2316382813"/>
              </p:ext>
            </p:extLst>
          </p:nvPr>
        </p:nvGraphicFramePr>
        <p:xfrm>
          <a:off x="2351584" y="2282825"/>
          <a:ext cx="804863" cy="336550"/>
        </p:xfrm>
        <a:graphic>
          <a:graphicData uri="http://schemas.openxmlformats.org/presentationml/2006/ole">
            <mc:AlternateContent xmlns:mc="http://schemas.openxmlformats.org/markup-compatibility/2006">
              <mc:Choice xmlns:v="urn:schemas-microsoft-com:vml" Requires="v">
                <p:oleObj name="Equation" r:id="rId10" imgW="545863" imgH="228501" progId="Equation.DSMT4">
                  <p:embed/>
                </p:oleObj>
              </mc:Choice>
              <mc:Fallback>
                <p:oleObj name="Equation" r:id="rId10" imgW="545863" imgH="228501"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51584" y="2282825"/>
                        <a:ext cx="804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7" name="Object 8"/>
          <p:cNvGraphicFramePr>
            <a:graphicFrameLocks noChangeAspect="1"/>
          </p:cNvGraphicFramePr>
          <p:nvPr>
            <p:extLst>
              <p:ext uri="{D42A27DB-BD31-4B8C-83A1-F6EECF244321}">
                <p14:modId xmlns:p14="http://schemas.microsoft.com/office/powerpoint/2010/main" val="1509983792"/>
              </p:ext>
            </p:extLst>
          </p:nvPr>
        </p:nvGraphicFramePr>
        <p:xfrm>
          <a:off x="4419546" y="2283114"/>
          <a:ext cx="792163" cy="323850"/>
        </p:xfrm>
        <a:graphic>
          <a:graphicData uri="http://schemas.openxmlformats.org/presentationml/2006/ole">
            <mc:AlternateContent xmlns:mc="http://schemas.openxmlformats.org/markup-compatibility/2006">
              <mc:Choice xmlns:v="urn:schemas-microsoft-com:vml" Requires="v">
                <p:oleObj name="Equation" r:id="rId12" imgW="558800" imgH="228600" progId="Equation.DSMT4">
                  <p:embed/>
                </p:oleObj>
              </mc:Choice>
              <mc:Fallback>
                <p:oleObj name="Equation" r:id="rId12" imgW="558800" imgH="228600"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19546" y="2283114"/>
                        <a:ext cx="79216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Oval 3"/>
          <p:cNvSpPr/>
          <p:nvPr/>
        </p:nvSpPr>
        <p:spPr bwMode="auto">
          <a:xfrm>
            <a:off x="7066757" y="3033123"/>
            <a:ext cx="388607" cy="251271"/>
          </a:xfrm>
          <a:prstGeom prst="ellipse">
            <a:avLst/>
          </a:prstGeom>
          <a:noFill/>
          <a:ln>
            <a:solidFill>
              <a:srgbClr val="C0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r" fontAlgn="base"/>
            <a:endParaRPr lang="en-GB" sz="2200">
              <a:solidFill>
                <a:schemeClr val="tx1"/>
              </a:solidFill>
              <a:latin typeface="Tahoma" pitchFamily="34" charset="0"/>
            </a:endParaRPr>
          </a:p>
        </p:txBody>
      </p:sp>
      <p:sp>
        <p:nvSpPr>
          <p:cNvPr id="11" name="Oval 10"/>
          <p:cNvSpPr/>
          <p:nvPr/>
        </p:nvSpPr>
        <p:spPr bwMode="auto">
          <a:xfrm>
            <a:off x="6744072" y="4337096"/>
            <a:ext cx="388607" cy="251271"/>
          </a:xfrm>
          <a:prstGeom prst="ellipse">
            <a:avLst/>
          </a:prstGeom>
          <a:noFill/>
          <a:ln>
            <a:solidFill>
              <a:srgbClr val="C0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r" fontAlgn="base"/>
            <a:endParaRPr lang="en-GB" sz="2200">
              <a:solidFill>
                <a:schemeClr val="tx1"/>
              </a:solidFill>
              <a:latin typeface="Tahoma" pitchFamily="34" charset="0"/>
            </a:endParaRPr>
          </a:p>
        </p:txBody>
      </p:sp>
      <p:graphicFrame>
        <p:nvGraphicFramePr>
          <p:cNvPr id="12" name="Object 1">
            <a:extLst>
              <a:ext uri="{FF2B5EF4-FFF2-40B4-BE49-F238E27FC236}">
                <a16:creationId xmlns:a16="http://schemas.microsoft.com/office/drawing/2014/main" id="{33019398-094F-094C-8825-8A4C0A8AB11D}"/>
              </a:ext>
            </a:extLst>
          </p:cNvPr>
          <p:cNvGraphicFramePr>
            <a:graphicFrameLocks noChangeAspect="1"/>
          </p:cNvGraphicFramePr>
          <p:nvPr>
            <p:extLst>
              <p:ext uri="{D42A27DB-BD31-4B8C-83A1-F6EECF244321}">
                <p14:modId xmlns:p14="http://schemas.microsoft.com/office/powerpoint/2010/main" val="2430248456"/>
              </p:ext>
            </p:extLst>
          </p:nvPr>
        </p:nvGraphicFramePr>
        <p:xfrm>
          <a:off x="8040030" y="67644"/>
          <a:ext cx="4122466" cy="717375"/>
        </p:xfrm>
        <a:graphic>
          <a:graphicData uri="http://schemas.openxmlformats.org/presentationml/2006/ole">
            <mc:AlternateContent xmlns:mc="http://schemas.openxmlformats.org/markup-compatibility/2006">
              <mc:Choice xmlns:v="urn:schemas-microsoft-com:vml" Requires="v">
                <p:oleObj name="Equation" r:id="rId14" imgW="2552700" imgH="444500" progId="Equation.DSMT4">
                  <p:embed/>
                </p:oleObj>
              </mc:Choice>
              <mc:Fallback>
                <p:oleObj name="Equation" r:id="rId14" imgW="2552700" imgH="444500" progId="Equation.DSMT4">
                  <p:embed/>
                  <p:pic>
                    <p:nvPicPr>
                      <p:cNvPr id="13" name="Object 1">
                        <a:extLst>
                          <a:ext uri="{FF2B5EF4-FFF2-40B4-BE49-F238E27FC236}">
                            <a16:creationId xmlns:a16="http://schemas.microsoft.com/office/drawing/2014/main" id="{EFAD3929-73FE-764F-9EF6-7E1EADCEF49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040030" y="67644"/>
                        <a:ext cx="4122466" cy="717375"/>
                      </a:xfrm>
                      <a:prstGeom prst="rect">
                        <a:avLst/>
                      </a:prstGeom>
                      <a:noFill/>
                      <a:ln>
                        <a:noFill/>
                      </a:ln>
                    </p:spPr>
                  </p:pic>
                </p:oleObj>
              </mc:Fallback>
            </mc:AlternateContent>
          </a:graphicData>
        </a:graphic>
      </p:graphicFrame>
      <p:sp>
        <p:nvSpPr>
          <p:cNvPr id="13" name="Oval 12">
            <a:extLst>
              <a:ext uri="{FF2B5EF4-FFF2-40B4-BE49-F238E27FC236}">
                <a16:creationId xmlns:a16="http://schemas.microsoft.com/office/drawing/2014/main" id="{51A26C8E-0530-AC47-876D-C14FA07C5C5C}"/>
              </a:ext>
            </a:extLst>
          </p:cNvPr>
          <p:cNvSpPr/>
          <p:nvPr/>
        </p:nvSpPr>
        <p:spPr bwMode="auto">
          <a:xfrm>
            <a:off x="11658514" y="152569"/>
            <a:ext cx="503982" cy="483741"/>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2200" b="0" i="0" u="none" strike="noStrike" cap="none" normalizeH="0" baseline="0">
              <a:ln>
                <a:noFill/>
              </a:ln>
              <a:solidFill>
                <a:schemeClr val="tx1"/>
              </a:solidFill>
              <a:effectLst/>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txBox="1">
            <a:spLocks/>
          </p:cNvSpPr>
          <p:nvPr/>
        </p:nvSpPr>
        <p:spPr>
          <a:xfrm>
            <a:off x="911424" y="276353"/>
            <a:ext cx="7128606"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Miscellaneous drag – fuselage upsweep and base area</a:t>
            </a:r>
            <a:endParaRPr lang="nl-NL" kern="0" dirty="0">
              <a:solidFill>
                <a:schemeClr val="bg2"/>
              </a:solidFill>
            </a:endParaRPr>
          </a:p>
        </p:txBody>
      </p:sp>
      <p:pic>
        <p:nvPicPr>
          <p:cNvPr id="5427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4112" y="1868421"/>
            <a:ext cx="4594225" cy="1339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2"/>
          <p:cNvSpPr txBox="1">
            <a:spLocks/>
          </p:cNvSpPr>
          <p:nvPr/>
        </p:nvSpPr>
        <p:spPr>
          <a:xfrm>
            <a:off x="1199456" y="1773239"/>
            <a:ext cx="8641457" cy="3868737"/>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800" kern="0" dirty="0"/>
              <a:t>Additional drag due to fuselage upsweep:</a:t>
            </a:r>
          </a:p>
          <a:p>
            <a:pPr>
              <a:defRPr/>
            </a:pPr>
            <a:endParaRPr lang="en-GB" sz="1800" kern="0" dirty="0"/>
          </a:p>
          <a:p>
            <a:pPr lvl="1">
              <a:defRPr/>
            </a:pPr>
            <a:endParaRPr lang="en-GB" sz="1400" kern="0" dirty="0"/>
          </a:p>
          <a:p>
            <a:pPr lvl="1">
              <a:defRPr/>
            </a:pPr>
            <a:endParaRPr lang="en-GB" sz="1400" kern="0" dirty="0"/>
          </a:p>
          <a:p>
            <a:pPr lvl="1">
              <a:defRPr/>
            </a:pPr>
            <a:endParaRPr lang="en-GB" kern="0" dirty="0"/>
          </a:p>
          <a:p>
            <a:pPr marL="0" indent="0">
              <a:buNone/>
              <a:defRPr/>
            </a:pPr>
            <a:r>
              <a:rPr lang="en-GB" sz="1600" kern="0" dirty="0"/>
              <a:t>u should be in radian. Amax is the maximum fuselage cross-sectional area.</a:t>
            </a:r>
          </a:p>
          <a:p>
            <a:pPr>
              <a:defRPr/>
            </a:pPr>
            <a:endParaRPr lang="en-GB" sz="1800" kern="0" dirty="0"/>
          </a:p>
          <a:p>
            <a:pPr>
              <a:defRPr/>
            </a:pPr>
            <a:r>
              <a:rPr lang="en-GB" sz="1800" kern="0" dirty="0"/>
              <a:t>Fuselage base drag</a:t>
            </a:r>
          </a:p>
          <a:p>
            <a:pPr marL="385763" lvl="1" indent="0">
              <a:buNone/>
              <a:defRPr/>
            </a:pPr>
            <a:endParaRPr lang="en-GB" sz="1400" kern="0" dirty="0"/>
          </a:p>
          <a:p>
            <a:pPr>
              <a:defRPr/>
            </a:pPr>
            <a:endParaRPr lang="en-GB" sz="1600" kern="0" dirty="0"/>
          </a:p>
          <a:p>
            <a:pPr>
              <a:defRPr/>
            </a:pPr>
            <a:endParaRPr lang="en-GB" sz="1600" kern="0" dirty="0"/>
          </a:p>
          <a:p>
            <a:pPr>
              <a:defRPr/>
            </a:pPr>
            <a:endParaRPr lang="en-GB" sz="1600" kern="0" dirty="0"/>
          </a:p>
          <a:p>
            <a:pPr lvl="1">
              <a:defRPr/>
            </a:pPr>
            <a:r>
              <a:rPr lang="en-GB" sz="1200" kern="0" dirty="0"/>
              <a:t>M is the Much number (only subsonic) and A</a:t>
            </a:r>
            <a:r>
              <a:rPr lang="en-GB" sz="1200" kern="0" baseline="-25000" dirty="0"/>
              <a:t>base</a:t>
            </a:r>
            <a:r>
              <a:rPr lang="en-GB" sz="1200" kern="0" dirty="0"/>
              <a:t> is the fuselage base area</a:t>
            </a:r>
          </a:p>
          <a:p>
            <a:pPr>
              <a:defRPr/>
            </a:pPr>
            <a:endParaRPr lang="en-GB" sz="1600" kern="0" dirty="0"/>
          </a:p>
        </p:txBody>
      </p:sp>
      <p:graphicFrame>
        <p:nvGraphicFramePr>
          <p:cNvPr id="54277" name="Object 2"/>
          <p:cNvGraphicFramePr>
            <a:graphicFrameLocks noChangeAspect="1"/>
          </p:cNvGraphicFramePr>
          <p:nvPr>
            <p:extLst>
              <p:ext uri="{D42A27DB-BD31-4B8C-83A1-F6EECF244321}">
                <p14:modId xmlns:p14="http://schemas.microsoft.com/office/powerpoint/2010/main" val="1878553742"/>
              </p:ext>
            </p:extLst>
          </p:nvPr>
        </p:nvGraphicFramePr>
        <p:xfrm>
          <a:off x="1487488" y="2454275"/>
          <a:ext cx="1871663" cy="744538"/>
        </p:xfrm>
        <a:graphic>
          <a:graphicData uri="http://schemas.openxmlformats.org/presentationml/2006/ole">
            <mc:AlternateContent xmlns:mc="http://schemas.openxmlformats.org/markup-compatibility/2006">
              <mc:Choice xmlns:v="urn:schemas-microsoft-com:vml" Requires="v">
                <p:oleObj name="Equation" r:id="rId4" imgW="1054100" imgH="419100" progId="Equation.DSMT4">
                  <p:embed/>
                </p:oleObj>
              </mc:Choice>
              <mc:Fallback>
                <p:oleObj name="Equation" r:id="rId4" imgW="1054100" imgH="4191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7488" y="2454275"/>
                        <a:ext cx="1871663"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8" name="Object 4"/>
          <p:cNvGraphicFramePr>
            <a:graphicFrameLocks noChangeAspect="1"/>
          </p:cNvGraphicFramePr>
          <p:nvPr>
            <p:extLst>
              <p:ext uri="{D42A27DB-BD31-4B8C-83A1-F6EECF244321}">
                <p14:modId xmlns:p14="http://schemas.microsoft.com/office/powerpoint/2010/main" val="3645702953"/>
              </p:ext>
            </p:extLst>
          </p:nvPr>
        </p:nvGraphicFramePr>
        <p:xfrm>
          <a:off x="1496141" y="4581128"/>
          <a:ext cx="4787900" cy="846138"/>
        </p:xfrm>
        <a:graphic>
          <a:graphicData uri="http://schemas.openxmlformats.org/presentationml/2006/ole">
            <mc:AlternateContent xmlns:mc="http://schemas.openxmlformats.org/markup-compatibility/2006">
              <mc:Choice xmlns:v="urn:schemas-microsoft-com:vml" Requires="v">
                <p:oleObj name="Equation" r:id="rId6" imgW="2374900" imgH="419100" progId="Equation.DSMT4">
                  <p:embed/>
                </p:oleObj>
              </mc:Choice>
              <mc:Fallback>
                <p:oleObj name="Equation" r:id="rId6" imgW="2374900" imgH="4191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96141" y="4581128"/>
                        <a:ext cx="4787900" cy="846138"/>
                      </a:xfrm>
                      <a:prstGeom prst="rect">
                        <a:avLst/>
                      </a:prstGeom>
                      <a:noFill/>
                      <a:ln>
                        <a:noFill/>
                      </a:ln>
                    </p:spPr>
                  </p:pic>
                </p:oleObj>
              </mc:Fallback>
            </mc:AlternateContent>
          </a:graphicData>
        </a:graphic>
      </p:graphicFrame>
      <p:graphicFrame>
        <p:nvGraphicFramePr>
          <p:cNvPr id="7" name="Object 1">
            <a:extLst>
              <a:ext uri="{FF2B5EF4-FFF2-40B4-BE49-F238E27FC236}">
                <a16:creationId xmlns:a16="http://schemas.microsoft.com/office/drawing/2014/main" id="{C3737F61-2998-9A41-BBAC-F106470F96E1}"/>
              </a:ext>
            </a:extLst>
          </p:cNvPr>
          <p:cNvGraphicFramePr>
            <a:graphicFrameLocks noChangeAspect="1"/>
          </p:cNvGraphicFramePr>
          <p:nvPr>
            <p:extLst>
              <p:ext uri="{D42A27DB-BD31-4B8C-83A1-F6EECF244321}">
                <p14:modId xmlns:p14="http://schemas.microsoft.com/office/powerpoint/2010/main" val="2430248456"/>
              </p:ext>
            </p:extLst>
          </p:nvPr>
        </p:nvGraphicFramePr>
        <p:xfrm>
          <a:off x="8040030" y="67644"/>
          <a:ext cx="4122466" cy="717375"/>
        </p:xfrm>
        <a:graphic>
          <a:graphicData uri="http://schemas.openxmlformats.org/presentationml/2006/ole">
            <mc:AlternateContent xmlns:mc="http://schemas.openxmlformats.org/markup-compatibility/2006">
              <mc:Choice xmlns:v="urn:schemas-microsoft-com:vml" Requires="v">
                <p:oleObj name="Equation" r:id="rId8" imgW="2552700" imgH="444500" progId="Equation.DSMT4">
                  <p:embed/>
                </p:oleObj>
              </mc:Choice>
              <mc:Fallback>
                <p:oleObj name="Equation" r:id="rId8" imgW="2552700" imgH="444500" progId="Equation.DSMT4">
                  <p:embed/>
                  <p:pic>
                    <p:nvPicPr>
                      <p:cNvPr id="13" name="Object 1">
                        <a:extLst>
                          <a:ext uri="{FF2B5EF4-FFF2-40B4-BE49-F238E27FC236}">
                            <a16:creationId xmlns:a16="http://schemas.microsoft.com/office/drawing/2014/main" id="{EFAD3929-73FE-764F-9EF6-7E1EADCEF49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40030" y="67644"/>
                        <a:ext cx="4122466" cy="717375"/>
                      </a:xfrm>
                      <a:prstGeom prst="rect">
                        <a:avLst/>
                      </a:prstGeom>
                      <a:noFill/>
                      <a:ln>
                        <a:noFill/>
                      </a:ln>
                    </p:spPr>
                  </p:pic>
                </p:oleObj>
              </mc:Fallback>
            </mc:AlternateContent>
          </a:graphicData>
        </a:graphic>
      </p:graphicFrame>
      <p:sp>
        <p:nvSpPr>
          <p:cNvPr id="8" name="Oval 7">
            <a:extLst>
              <a:ext uri="{FF2B5EF4-FFF2-40B4-BE49-F238E27FC236}">
                <a16:creationId xmlns:a16="http://schemas.microsoft.com/office/drawing/2014/main" id="{126DB649-0E8A-0A4F-A592-66082D92C500}"/>
              </a:ext>
            </a:extLst>
          </p:cNvPr>
          <p:cNvSpPr/>
          <p:nvPr/>
        </p:nvSpPr>
        <p:spPr bwMode="auto">
          <a:xfrm>
            <a:off x="11658514" y="152569"/>
            <a:ext cx="503982" cy="483741"/>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2200" b="0" i="0" u="none" strike="noStrike" cap="none" normalizeH="0" baseline="0">
              <a:ln>
                <a:noFill/>
              </a:ln>
              <a:solidFill>
                <a:schemeClr val="tx1"/>
              </a:solidFill>
              <a:effectLst/>
              <a:latin typeface="Tahoma"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52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188" y="1268414"/>
            <a:ext cx="3956050" cy="242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1"/>
          <p:cNvSpPr txBox="1">
            <a:spLocks/>
          </p:cNvSpPr>
          <p:nvPr/>
        </p:nvSpPr>
        <p:spPr>
          <a:xfrm>
            <a:off x="2441575" y="404813"/>
            <a:ext cx="7659688"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Miscellaneous drag – landing gear</a:t>
            </a:r>
            <a:endParaRPr lang="nl-NL" kern="0" dirty="0">
              <a:solidFill>
                <a:schemeClr val="bg2"/>
              </a:solidFill>
            </a:endParaRPr>
          </a:p>
        </p:txBody>
      </p:sp>
      <p:pic>
        <p:nvPicPr>
          <p:cNvPr id="5530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0625" y="1268414"/>
            <a:ext cx="4002088" cy="24717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2"/>
          <p:cNvSpPr txBox="1">
            <a:spLocks/>
          </p:cNvSpPr>
          <p:nvPr/>
        </p:nvSpPr>
        <p:spPr>
          <a:xfrm>
            <a:off x="2135189" y="3933825"/>
            <a:ext cx="8137525" cy="1708150"/>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400" kern="0" dirty="0"/>
              <a:t>The left graph shows the drag of all the main landing gears</a:t>
            </a:r>
          </a:p>
          <a:p>
            <a:pPr>
              <a:defRPr/>
            </a:pPr>
            <a:r>
              <a:rPr lang="en-GB" sz="1400" kern="0" dirty="0"/>
              <a:t>The LG drag coefficient in these graphs is scaled using the LG reference area defined as (</a:t>
            </a:r>
            <a:r>
              <a:rPr lang="en-GB" sz="1400" kern="0" dirty="0" err="1"/>
              <a:t>Ss</a:t>
            </a:r>
            <a:r>
              <a:rPr lang="en-GB" sz="1400" kern="0" dirty="0"/>
              <a:t> = d x w).  To add the LG drag coefficient to the aircraft CD0, the drag coefficient based on the wing reference area should be calculated:</a:t>
            </a:r>
          </a:p>
          <a:p>
            <a:pPr>
              <a:defRPr/>
            </a:pPr>
            <a:r>
              <a:rPr lang="en-GB" sz="1400" kern="0" dirty="0"/>
              <a:t>  </a:t>
            </a:r>
          </a:p>
          <a:p>
            <a:pPr lvl="1">
              <a:defRPr/>
            </a:pPr>
            <a:endParaRPr lang="en-GB" sz="1400" kern="0" dirty="0"/>
          </a:p>
          <a:p>
            <a:pPr lvl="1">
              <a:defRPr/>
            </a:pPr>
            <a:endParaRPr lang="en-GB" sz="1400" kern="0" dirty="0"/>
          </a:p>
          <a:p>
            <a:pPr lvl="1">
              <a:defRPr/>
            </a:pPr>
            <a:endParaRPr lang="en-GB" sz="1400" kern="0" dirty="0"/>
          </a:p>
          <a:p>
            <a:pPr lvl="1">
              <a:defRPr/>
            </a:pPr>
            <a:endParaRPr lang="en-GB" sz="1400" kern="0" dirty="0"/>
          </a:p>
          <a:p>
            <a:pPr marL="385763" lvl="1" indent="0">
              <a:buNone/>
              <a:defRPr/>
            </a:pPr>
            <a:endParaRPr lang="en-GB" sz="1400" kern="0" dirty="0"/>
          </a:p>
          <a:p>
            <a:pPr>
              <a:defRPr/>
            </a:pPr>
            <a:endParaRPr lang="en-GB" sz="1600" kern="0" dirty="0"/>
          </a:p>
          <a:p>
            <a:pPr>
              <a:defRPr/>
            </a:pPr>
            <a:endParaRPr lang="en-GB" sz="1600" kern="0" dirty="0"/>
          </a:p>
          <a:p>
            <a:pPr>
              <a:defRPr/>
            </a:pPr>
            <a:endParaRPr lang="en-GB" sz="1600" kern="0" dirty="0"/>
          </a:p>
          <a:p>
            <a:pPr>
              <a:defRPr/>
            </a:pPr>
            <a:endParaRPr lang="en-GB" sz="1600" kern="0" dirty="0"/>
          </a:p>
          <a:p>
            <a:pPr>
              <a:defRPr/>
            </a:pPr>
            <a:endParaRPr lang="en-GB" sz="1600" kern="0" dirty="0"/>
          </a:p>
        </p:txBody>
      </p:sp>
      <p:graphicFrame>
        <p:nvGraphicFramePr>
          <p:cNvPr id="55302" name="Object 1"/>
          <p:cNvGraphicFramePr>
            <a:graphicFrameLocks noChangeAspect="1"/>
          </p:cNvGraphicFramePr>
          <p:nvPr/>
        </p:nvGraphicFramePr>
        <p:xfrm>
          <a:off x="4826000" y="2527300"/>
          <a:ext cx="914400" cy="179388"/>
        </p:xfrm>
        <a:graphic>
          <a:graphicData uri="http://schemas.openxmlformats.org/presentationml/2006/ole">
            <mc:AlternateContent xmlns:mc="http://schemas.openxmlformats.org/markup-compatibility/2006">
              <mc:Choice xmlns:v="urn:schemas-microsoft-com:vml" Requires="v">
                <p:oleObj name="Equation" r:id="rId4" imgW="428207" imgH="666100" progId="Equation.DSMT4">
                  <p:embed/>
                </p:oleObj>
              </mc:Choice>
              <mc:Fallback>
                <p:oleObj name="Equation" r:id="rId4" imgW="428207" imgH="66610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26000" y="2527300"/>
                        <a:ext cx="914400"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3" name="Object 3"/>
          <p:cNvGraphicFramePr>
            <a:graphicFrameLocks noChangeAspect="1"/>
          </p:cNvGraphicFramePr>
          <p:nvPr/>
        </p:nvGraphicFramePr>
        <p:xfrm>
          <a:off x="5699126" y="5084764"/>
          <a:ext cx="2409825" cy="936625"/>
        </p:xfrm>
        <a:graphic>
          <a:graphicData uri="http://schemas.openxmlformats.org/presentationml/2006/ole">
            <mc:AlternateContent xmlns:mc="http://schemas.openxmlformats.org/markup-compatibility/2006">
              <mc:Choice xmlns:v="urn:schemas-microsoft-com:vml" Requires="v">
                <p:oleObj name="Equation" r:id="rId6" imgW="1143000" imgH="444500" progId="Equation.DSMT4">
                  <p:embed/>
                </p:oleObj>
              </mc:Choice>
              <mc:Fallback>
                <p:oleObj name="Equation" r:id="rId6" imgW="1143000" imgH="4445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99126" y="5084764"/>
                        <a:ext cx="24098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63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914" y="1847850"/>
            <a:ext cx="7496175" cy="3162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1"/>
          <p:cNvSpPr txBox="1">
            <a:spLocks/>
          </p:cNvSpPr>
          <p:nvPr/>
        </p:nvSpPr>
        <p:spPr>
          <a:xfrm>
            <a:off x="2441575" y="404813"/>
            <a:ext cx="7659688"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Miscellaneous drag – landing gear</a:t>
            </a:r>
            <a:endParaRPr lang="nl-NL" kern="0" dirty="0">
              <a:solidFill>
                <a:schemeClr val="bg2"/>
              </a:solidFill>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txBox="1">
            <a:spLocks/>
          </p:cNvSpPr>
          <p:nvPr/>
        </p:nvSpPr>
        <p:spPr>
          <a:xfrm>
            <a:off x="911424" y="404813"/>
            <a:ext cx="9189839"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Miscellaneous drag – flap</a:t>
            </a:r>
            <a:endParaRPr lang="nl-NL" kern="0" dirty="0">
              <a:solidFill>
                <a:schemeClr val="bg2"/>
              </a:solidFill>
            </a:endParaRPr>
          </a:p>
        </p:txBody>
      </p:sp>
      <p:graphicFrame>
        <p:nvGraphicFramePr>
          <p:cNvPr id="57347" name="Object 2"/>
          <p:cNvGraphicFramePr>
            <a:graphicFrameLocks noChangeAspect="1"/>
          </p:cNvGraphicFramePr>
          <p:nvPr>
            <p:extLst>
              <p:ext uri="{D42A27DB-BD31-4B8C-83A1-F6EECF244321}">
                <p14:modId xmlns:p14="http://schemas.microsoft.com/office/powerpoint/2010/main" val="2482279182"/>
              </p:ext>
            </p:extLst>
          </p:nvPr>
        </p:nvGraphicFramePr>
        <p:xfrm>
          <a:off x="3813176" y="1442184"/>
          <a:ext cx="4494212" cy="993775"/>
        </p:xfrm>
        <a:graphic>
          <a:graphicData uri="http://schemas.openxmlformats.org/presentationml/2006/ole">
            <mc:AlternateContent xmlns:mc="http://schemas.openxmlformats.org/markup-compatibility/2006">
              <mc:Choice xmlns:v="urn:schemas-microsoft-com:vml" Requires="v">
                <p:oleObj name="Equation" r:id="rId3" imgW="2298700" imgH="508000" progId="Equation.DSMT4">
                  <p:embed/>
                </p:oleObj>
              </mc:Choice>
              <mc:Fallback>
                <p:oleObj name="Equation" r:id="rId3" imgW="2298700" imgH="5080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3176" y="1442184"/>
                        <a:ext cx="4494212"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Content Placeholder 2"/>
          <p:cNvSpPr txBox="1">
            <a:spLocks/>
          </p:cNvSpPr>
          <p:nvPr/>
        </p:nvSpPr>
        <p:spPr>
          <a:xfrm>
            <a:off x="1052819" y="2852936"/>
            <a:ext cx="8137525" cy="2573337"/>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400" kern="0" dirty="0" err="1"/>
              <a:t>Fflap</a:t>
            </a:r>
            <a:r>
              <a:rPr lang="en-GB" sz="1400" kern="0" dirty="0"/>
              <a:t> = 0,0144 for plain flap and 0,0074 for slotted flaps</a:t>
            </a:r>
          </a:p>
          <a:p>
            <a:pPr>
              <a:defRPr/>
            </a:pPr>
            <a:r>
              <a:rPr lang="en-GB" sz="1400" kern="0" dirty="0" err="1"/>
              <a:t>Cf</a:t>
            </a:r>
            <a:r>
              <a:rPr lang="en-GB" sz="1400" kern="0" dirty="0"/>
              <a:t> = Chord length of flap</a:t>
            </a:r>
          </a:p>
          <a:p>
            <a:pPr>
              <a:defRPr/>
            </a:pPr>
            <a:r>
              <a:rPr lang="en-GB" sz="1400" kern="0" dirty="0" err="1"/>
              <a:t>Sflap</a:t>
            </a:r>
            <a:r>
              <a:rPr lang="en-GB" sz="1400" kern="0" dirty="0"/>
              <a:t> = wing area affected by flap</a:t>
            </a:r>
          </a:p>
          <a:p>
            <a:pPr>
              <a:defRPr/>
            </a:pPr>
            <a:r>
              <a:rPr lang="en-GB" sz="1400" kern="0" dirty="0"/>
              <a:t>Delta flap should be in degree</a:t>
            </a:r>
          </a:p>
          <a:p>
            <a:pPr>
              <a:defRPr/>
            </a:pPr>
            <a:endParaRPr lang="en-GB" sz="1400" kern="0" dirty="0"/>
          </a:p>
          <a:p>
            <a:pPr lvl="1">
              <a:defRPr/>
            </a:pPr>
            <a:endParaRPr lang="en-GB" sz="1400" kern="0" dirty="0"/>
          </a:p>
          <a:p>
            <a:pPr lvl="1">
              <a:defRPr/>
            </a:pPr>
            <a:endParaRPr lang="en-GB" sz="1400" kern="0" dirty="0"/>
          </a:p>
          <a:p>
            <a:pPr lvl="1">
              <a:defRPr/>
            </a:pPr>
            <a:endParaRPr lang="en-GB" sz="1400" kern="0" dirty="0"/>
          </a:p>
          <a:p>
            <a:pPr lvl="1">
              <a:defRPr/>
            </a:pPr>
            <a:endParaRPr lang="en-GB" sz="1400" kern="0" dirty="0"/>
          </a:p>
          <a:p>
            <a:pPr marL="385763" lvl="1" indent="0">
              <a:buNone/>
              <a:defRPr/>
            </a:pPr>
            <a:endParaRPr lang="en-GB" sz="1400" kern="0" dirty="0"/>
          </a:p>
          <a:p>
            <a:pPr>
              <a:defRPr/>
            </a:pPr>
            <a:endParaRPr lang="en-GB" sz="1600" kern="0" dirty="0"/>
          </a:p>
          <a:p>
            <a:pPr>
              <a:defRPr/>
            </a:pPr>
            <a:endParaRPr lang="en-GB" sz="1600" kern="0" dirty="0"/>
          </a:p>
          <a:p>
            <a:pPr>
              <a:defRPr/>
            </a:pPr>
            <a:endParaRPr lang="en-GB" sz="1600" kern="0" dirty="0"/>
          </a:p>
          <a:p>
            <a:pPr>
              <a:defRPr/>
            </a:pPr>
            <a:endParaRPr lang="en-GB" sz="1600" kern="0" dirty="0"/>
          </a:p>
          <a:p>
            <a:pPr>
              <a:defRPr/>
            </a:pPr>
            <a:endParaRPr lang="en-GB" sz="1600" kern="0" dirty="0"/>
          </a:p>
        </p:txBody>
      </p:sp>
      <p:sp>
        <p:nvSpPr>
          <p:cNvPr id="57349" name="TextBox 4"/>
          <p:cNvSpPr txBox="1">
            <a:spLocks noChangeArrowheads="1"/>
          </p:cNvSpPr>
          <p:nvPr/>
        </p:nvSpPr>
        <p:spPr bwMode="auto">
          <a:xfrm>
            <a:off x="3287714" y="5308600"/>
            <a:ext cx="55451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r>
              <a:rPr lang="en-GB" altLang="en-US" sz="1600" b="1" dirty="0">
                <a:solidFill>
                  <a:srgbClr val="FF0000"/>
                </a:solidFill>
              </a:rPr>
              <a:t>Only for flap deflection higher than 10 degrees!</a:t>
            </a:r>
            <a:endParaRPr lang="nl-NL" altLang="en-US" sz="1600" b="1" dirty="0">
              <a:solidFill>
                <a:srgbClr val="FF0000"/>
              </a:solidFill>
            </a:endParaRPr>
          </a:p>
        </p:txBody>
      </p:sp>
      <p:grpSp>
        <p:nvGrpSpPr>
          <p:cNvPr id="11" name="Group 2"/>
          <p:cNvGrpSpPr>
            <a:grpSpLocks/>
          </p:cNvGrpSpPr>
          <p:nvPr/>
        </p:nvGrpSpPr>
        <p:grpSpPr bwMode="auto">
          <a:xfrm>
            <a:off x="7176120" y="2632471"/>
            <a:ext cx="4572000" cy="2016125"/>
            <a:chOff x="34925" y="2154238"/>
            <a:chExt cx="4572000" cy="2015038"/>
          </a:xfrm>
        </p:grpSpPr>
        <p:pic>
          <p:nvPicPr>
            <p:cNvPr id="12" name="Picture 5"/>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b="54572"/>
            <a:stretch>
              <a:fillRect/>
            </a:stretch>
          </p:blipFill>
          <p:spPr bwMode="auto">
            <a:xfrm>
              <a:off x="34925" y="2154238"/>
              <a:ext cx="4572000" cy="179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3" name="Text Box 17"/>
            <p:cNvSpPr txBox="1">
              <a:spLocks noChangeArrowheads="1"/>
            </p:cNvSpPr>
            <p:nvPr/>
          </p:nvSpPr>
          <p:spPr bwMode="auto">
            <a:xfrm>
              <a:off x="3146425" y="3769348"/>
              <a:ext cx="744114" cy="399928"/>
            </a:xfrm>
            <a:prstGeom prst="rect">
              <a:avLst/>
            </a:prstGeom>
            <a:solidFill>
              <a:srgbClr val="FF0000"/>
            </a:solidFill>
            <a:ln w="9525" algn="ctr">
              <a:solidFill>
                <a:schemeClr val="tx1"/>
              </a:solidFill>
              <a:miter lim="800000"/>
              <a:headEnd/>
              <a:tailEnd/>
            </a:ln>
          </p:spPr>
          <p:txBody>
            <a:bodyPr wrap="non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GB" altLang="nl-NL"/>
                <a:t>Sflap</a:t>
              </a:r>
            </a:p>
          </p:txBody>
        </p:sp>
        <p:sp>
          <p:nvSpPr>
            <p:cNvPr id="14" name="Freeform 19"/>
            <p:cNvSpPr>
              <a:spLocks/>
            </p:cNvSpPr>
            <p:nvPr/>
          </p:nvSpPr>
          <p:spPr bwMode="auto">
            <a:xfrm>
              <a:off x="1406525" y="2382838"/>
              <a:ext cx="762000" cy="1371600"/>
            </a:xfrm>
            <a:custGeom>
              <a:avLst/>
              <a:gdLst>
                <a:gd name="T0" fmla="*/ 0 w 480"/>
                <a:gd name="T1" fmla="*/ 2147483647 h 864"/>
                <a:gd name="T2" fmla="*/ 2147483647 w 480"/>
                <a:gd name="T3" fmla="*/ 0 h 864"/>
                <a:gd name="T4" fmla="*/ 2147483647 w 480"/>
                <a:gd name="T5" fmla="*/ 2147483647 h 864"/>
                <a:gd name="T6" fmla="*/ 0 w 480"/>
                <a:gd name="T7" fmla="*/ 2147483647 h 864"/>
                <a:gd name="T8" fmla="*/ 0 w 480"/>
                <a:gd name="T9" fmla="*/ 2147483647 h 864"/>
                <a:gd name="T10" fmla="*/ 0 60000 65536"/>
                <a:gd name="T11" fmla="*/ 0 60000 65536"/>
                <a:gd name="T12" fmla="*/ 0 60000 65536"/>
                <a:gd name="T13" fmla="*/ 0 60000 65536"/>
                <a:gd name="T14" fmla="*/ 0 60000 65536"/>
                <a:gd name="T15" fmla="*/ 0 w 480"/>
                <a:gd name="T16" fmla="*/ 0 h 864"/>
                <a:gd name="T17" fmla="*/ 480 w 480"/>
                <a:gd name="T18" fmla="*/ 864 h 864"/>
              </a:gdLst>
              <a:ahLst/>
              <a:cxnLst>
                <a:cxn ang="T10">
                  <a:pos x="T0" y="T1"/>
                </a:cxn>
                <a:cxn ang="T11">
                  <a:pos x="T2" y="T3"/>
                </a:cxn>
                <a:cxn ang="T12">
                  <a:pos x="T4" y="T5"/>
                </a:cxn>
                <a:cxn ang="T13">
                  <a:pos x="T6" y="T7"/>
                </a:cxn>
                <a:cxn ang="T14">
                  <a:pos x="T8" y="T9"/>
                </a:cxn>
              </a:cxnLst>
              <a:rect l="T15" t="T16" r="T17" b="T18"/>
              <a:pathLst>
                <a:path w="480" h="864">
                  <a:moveTo>
                    <a:pt x="0" y="184"/>
                  </a:moveTo>
                  <a:lnTo>
                    <a:pt x="480" y="0"/>
                  </a:lnTo>
                  <a:lnTo>
                    <a:pt x="480" y="768"/>
                  </a:lnTo>
                  <a:lnTo>
                    <a:pt x="0" y="864"/>
                  </a:lnTo>
                  <a:lnTo>
                    <a:pt x="0" y="192"/>
                  </a:lnTo>
                </a:path>
              </a:pathLst>
            </a:custGeom>
            <a:solidFill>
              <a:srgbClr val="FF3300">
                <a:alpha val="18823"/>
              </a:srgbClr>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spAutoFit/>
            </a:bodyPr>
            <a:lstStyle/>
            <a:p>
              <a:endParaRPr lang="en-GB"/>
            </a:p>
          </p:txBody>
        </p:sp>
        <p:sp>
          <p:nvSpPr>
            <p:cNvPr id="15" name="Freeform 20"/>
            <p:cNvSpPr>
              <a:spLocks/>
            </p:cNvSpPr>
            <p:nvPr/>
          </p:nvSpPr>
          <p:spPr bwMode="auto">
            <a:xfrm flipH="1">
              <a:off x="2765425" y="2420938"/>
              <a:ext cx="762000" cy="1371600"/>
            </a:xfrm>
            <a:custGeom>
              <a:avLst/>
              <a:gdLst>
                <a:gd name="T0" fmla="*/ 0 w 480"/>
                <a:gd name="T1" fmla="*/ 2147483647 h 864"/>
                <a:gd name="T2" fmla="*/ 2147483647 w 480"/>
                <a:gd name="T3" fmla="*/ 0 h 864"/>
                <a:gd name="T4" fmla="*/ 2147483647 w 480"/>
                <a:gd name="T5" fmla="*/ 2147483647 h 864"/>
                <a:gd name="T6" fmla="*/ 0 w 480"/>
                <a:gd name="T7" fmla="*/ 2147483647 h 864"/>
                <a:gd name="T8" fmla="*/ 0 w 480"/>
                <a:gd name="T9" fmla="*/ 2147483647 h 864"/>
                <a:gd name="T10" fmla="*/ 0 60000 65536"/>
                <a:gd name="T11" fmla="*/ 0 60000 65536"/>
                <a:gd name="T12" fmla="*/ 0 60000 65536"/>
                <a:gd name="T13" fmla="*/ 0 60000 65536"/>
                <a:gd name="T14" fmla="*/ 0 60000 65536"/>
                <a:gd name="T15" fmla="*/ 0 w 480"/>
                <a:gd name="T16" fmla="*/ 0 h 864"/>
                <a:gd name="T17" fmla="*/ 480 w 480"/>
                <a:gd name="T18" fmla="*/ 864 h 864"/>
              </a:gdLst>
              <a:ahLst/>
              <a:cxnLst>
                <a:cxn ang="T10">
                  <a:pos x="T0" y="T1"/>
                </a:cxn>
                <a:cxn ang="T11">
                  <a:pos x="T2" y="T3"/>
                </a:cxn>
                <a:cxn ang="T12">
                  <a:pos x="T4" y="T5"/>
                </a:cxn>
                <a:cxn ang="T13">
                  <a:pos x="T6" y="T7"/>
                </a:cxn>
                <a:cxn ang="T14">
                  <a:pos x="T8" y="T9"/>
                </a:cxn>
              </a:cxnLst>
              <a:rect l="T15" t="T16" r="T17" b="T18"/>
              <a:pathLst>
                <a:path w="480" h="864">
                  <a:moveTo>
                    <a:pt x="0" y="184"/>
                  </a:moveTo>
                  <a:lnTo>
                    <a:pt x="480" y="0"/>
                  </a:lnTo>
                  <a:lnTo>
                    <a:pt x="480" y="768"/>
                  </a:lnTo>
                  <a:lnTo>
                    <a:pt x="0" y="864"/>
                  </a:lnTo>
                  <a:lnTo>
                    <a:pt x="0" y="192"/>
                  </a:lnTo>
                </a:path>
              </a:pathLst>
            </a:custGeom>
            <a:solidFill>
              <a:srgbClr val="FF3300">
                <a:alpha val="18823"/>
              </a:srgbClr>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spAutoFit/>
            </a:bodyPr>
            <a:lstStyle/>
            <a:p>
              <a:endParaRPr lang="en-GB"/>
            </a:p>
          </p:txBody>
        </p:sp>
      </p:grpSp>
      <p:graphicFrame>
        <p:nvGraphicFramePr>
          <p:cNvPr id="16" name="Object 1">
            <a:extLst>
              <a:ext uri="{FF2B5EF4-FFF2-40B4-BE49-F238E27FC236}">
                <a16:creationId xmlns:a16="http://schemas.microsoft.com/office/drawing/2014/main" id="{AE39AA52-F58C-874C-BAE6-A2330F691915}"/>
              </a:ext>
            </a:extLst>
          </p:cNvPr>
          <p:cNvGraphicFramePr>
            <a:graphicFrameLocks noChangeAspect="1"/>
          </p:cNvGraphicFramePr>
          <p:nvPr>
            <p:extLst>
              <p:ext uri="{D42A27DB-BD31-4B8C-83A1-F6EECF244321}">
                <p14:modId xmlns:p14="http://schemas.microsoft.com/office/powerpoint/2010/main" val="2430248456"/>
              </p:ext>
            </p:extLst>
          </p:nvPr>
        </p:nvGraphicFramePr>
        <p:xfrm>
          <a:off x="8040030" y="67644"/>
          <a:ext cx="4122466" cy="717375"/>
        </p:xfrm>
        <a:graphic>
          <a:graphicData uri="http://schemas.openxmlformats.org/presentationml/2006/ole">
            <mc:AlternateContent xmlns:mc="http://schemas.openxmlformats.org/markup-compatibility/2006">
              <mc:Choice xmlns:v="urn:schemas-microsoft-com:vml" Requires="v">
                <p:oleObj name="Equation" r:id="rId6" imgW="2552700" imgH="444500" progId="Equation.DSMT4">
                  <p:embed/>
                </p:oleObj>
              </mc:Choice>
              <mc:Fallback>
                <p:oleObj name="Equation" r:id="rId6" imgW="2552700" imgH="444500" progId="Equation.DSMT4">
                  <p:embed/>
                  <p:pic>
                    <p:nvPicPr>
                      <p:cNvPr id="13" name="Object 1">
                        <a:extLst>
                          <a:ext uri="{FF2B5EF4-FFF2-40B4-BE49-F238E27FC236}">
                            <a16:creationId xmlns:a16="http://schemas.microsoft.com/office/drawing/2014/main" id="{EFAD3929-73FE-764F-9EF6-7E1EADCEF49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40030" y="67644"/>
                        <a:ext cx="4122466" cy="717375"/>
                      </a:xfrm>
                      <a:prstGeom prst="rect">
                        <a:avLst/>
                      </a:prstGeom>
                      <a:noFill/>
                      <a:ln>
                        <a:noFill/>
                      </a:ln>
                    </p:spPr>
                  </p:pic>
                </p:oleObj>
              </mc:Fallback>
            </mc:AlternateContent>
          </a:graphicData>
        </a:graphic>
      </p:graphicFrame>
      <p:sp>
        <p:nvSpPr>
          <p:cNvPr id="17" name="Oval 16">
            <a:extLst>
              <a:ext uri="{FF2B5EF4-FFF2-40B4-BE49-F238E27FC236}">
                <a16:creationId xmlns:a16="http://schemas.microsoft.com/office/drawing/2014/main" id="{A3C9F4F3-81BD-DF4C-819F-B1A81194800A}"/>
              </a:ext>
            </a:extLst>
          </p:cNvPr>
          <p:cNvSpPr/>
          <p:nvPr/>
        </p:nvSpPr>
        <p:spPr bwMode="auto">
          <a:xfrm>
            <a:off x="11658514" y="152569"/>
            <a:ext cx="503982" cy="483741"/>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2200" b="0" i="0" u="none" strike="noStrike" cap="none" normalizeH="0" baseline="0">
              <a:ln>
                <a:noFill/>
              </a:ln>
              <a:solidFill>
                <a:schemeClr val="tx1"/>
              </a:solidFill>
              <a:effectLst/>
              <a:latin typeface="Tahoma"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839416" y="404813"/>
            <a:ext cx="7128792"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Miscellaneous drag – Excrescence and leakage </a:t>
            </a:r>
            <a:endParaRPr lang="nl-NL" kern="0" dirty="0">
              <a:solidFill>
                <a:schemeClr val="bg2"/>
              </a:solidFill>
            </a:endParaRPr>
          </a:p>
        </p:txBody>
      </p:sp>
      <p:sp>
        <p:nvSpPr>
          <p:cNvPr id="3" name="Content Placeholder 2"/>
          <p:cNvSpPr txBox="1">
            <a:spLocks/>
          </p:cNvSpPr>
          <p:nvPr/>
        </p:nvSpPr>
        <p:spPr>
          <a:xfrm>
            <a:off x="839416" y="1974834"/>
            <a:ext cx="8137525" cy="3797300"/>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lnSpc>
                <a:spcPct val="150000"/>
              </a:lnSpc>
              <a:defRPr/>
            </a:pPr>
            <a:r>
              <a:rPr lang="en-GB" sz="1600" kern="0" dirty="0"/>
              <a:t>For propeller aircraft 5-10 % of total CD0</a:t>
            </a:r>
          </a:p>
          <a:p>
            <a:pPr>
              <a:lnSpc>
                <a:spcPct val="150000"/>
              </a:lnSpc>
              <a:defRPr/>
            </a:pPr>
            <a:r>
              <a:rPr lang="en-GB" sz="1600" kern="0" dirty="0"/>
              <a:t>For jet transport 2-5% of total CD0</a:t>
            </a:r>
          </a:p>
          <a:p>
            <a:pPr>
              <a:lnSpc>
                <a:spcPct val="150000"/>
              </a:lnSpc>
              <a:defRPr/>
            </a:pPr>
            <a:r>
              <a:rPr lang="en-GB" sz="1600" kern="0" dirty="0"/>
              <a:t>For non-stealth fighters  10-15% of total CD0</a:t>
            </a:r>
          </a:p>
          <a:p>
            <a:pPr>
              <a:lnSpc>
                <a:spcPct val="150000"/>
              </a:lnSpc>
              <a:defRPr/>
            </a:pPr>
            <a:r>
              <a:rPr lang="en-GB" sz="1600" kern="0" dirty="0"/>
              <a:t>For stealth fighters 3-5% of total CD0</a:t>
            </a:r>
          </a:p>
          <a:p>
            <a:pPr>
              <a:defRPr/>
            </a:pPr>
            <a:endParaRPr lang="en-GB" sz="1400" kern="0" dirty="0"/>
          </a:p>
          <a:p>
            <a:pPr lvl="1">
              <a:defRPr/>
            </a:pPr>
            <a:endParaRPr lang="en-GB" sz="1400" kern="0" dirty="0"/>
          </a:p>
          <a:p>
            <a:pPr lvl="1">
              <a:defRPr/>
            </a:pPr>
            <a:endParaRPr lang="en-GB" sz="1400" kern="0" dirty="0"/>
          </a:p>
          <a:p>
            <a:pPr lvl="1">
              <a:defRPr/>
            </a:pPr>
            <a:endParaRPr lang="en-GB" sz="1400" kern="0" dirty="0"/>
          </a:p>
          <a:p>
            <a:pPr lvl="1">
              <a:defRPr/>
            </a:pPr>
            <a:endParaRPr lang="en-GB" sz="1400" kern="0" dirty="0"/>
          </a:p>
          <a:p>
            <a:pPr marL="385763" lvl="1" indent="0">
              <a:buNone/>
              <a:defRPr/>
            </a:pPr>
            <a:endParaRPr lang="en-GB" sz="1400" kern="0" dirty="0"/>
          </a:p>
          <a:p>
            <a:pPr>
              <a:defRPr/>
            </a:pPr>
            <a:endParaRPr lang="en-GB" sz="1600" kern="0" dirty="0"/>
          </a:p>
          <a:p>
            <a:pPr>
              <a:defRPr/>
            </a:pPr>
            <a:endParaRPr lang="en-GB" sz="1600" kern="0" dirty="0"/>
          </a:p>
          <a:p>
            <a:pPr>
              <a:defRPr/>
            </a:pPr>
            <a:endParaRPr lang="en-GB" sz="1600" kern="0" dirty="0"/>
          </a:p>
          <a:p>
            <a:pPr>
              <a:defRPr/>
            </a:pPr>
            <a:endParaRPr lang="en-GB" sz="1600" kern="0" dirty="0"/>
          </a:p>
          <a:p>
            <a:pPr>
              <a:defRPr/>
            </a:pPr>
            <a:endParaRPr lang="en-GB" sz="1600" kern="0" dirty="0"/>
          </a:p>
        </p:txBody>
      </p:sp>
      <p:pic>
        <p:nvPicPr>
          <p:cNvPr id="4" name="Picture 3"/>
          <p:cNvPicPr>
            <a:picLocks noChangeAspect="1"/>
          </p:cNvPicPr>
          <p:nvPr/>
        </p:nvPicPr>
        <p:blipFill>
          <a:blip r:embed="rId2"/>
          <a:stretch>
            <a:fillRect/>
          </a:stretch>
        </p:blipFill>
        <p:spPr>
          <a:xfrm>
            <a:off x="5867480" y="1984083"/>
            <a:ext cx="5928838" cy="3797299"/>
          </a:xfrm>
          <a:prstGeom prst="rect">
            <a:avLst/>
          </a:prstGeom>
        </p:spPr>
      </p:pic>
      <p:graphicFrame>
        <p:nvGraphicFramePr>
          <p:cNvPr id="5" name="Object 1">
            <a:extLst>
              <a:ext uri="{FF2B5EF4-FFF2-40B4-BE49-F238E27FC236}">
                <a16:creationId xmlns:a16="http://schemas.microsoft.com/office/drawing/2014/main" id="{1E3B2E1D-6B04-B54D-A2C6-B79F606788B8}"/>
              </a:ext>
            </a:extLst>
          </p:cNvPr>
          <p:cNvGraphicFramePr>
            <a:graphicFrameLocks noChangeAspect="1"/>
          </p:cNvGraphicFramePr>
          <p:nvPr>
            <p:extLst>
              <p:ext uri="{D42A27DB-BD31-4B8C-83A1-F6EECF244321}">
                <p14:modId xmlns:p14="http://schemas.microsoft.com/office/powerpoint/2010/main" val="2430248456"/>
              </p:ext>
            </p:extLst>
          </p:nvPr>
        </p:nvGraphicFramePr>
        <p:xfrm>
          <a:off x="8040030" y="67644"/>
          <a:ext cx="4122466" cy="717375"/>
        </p:xfrm>
        <a:graphic>
          <a:graphicData uri="http://schemas.openxmlformats.org/presentationml/2006/ole">
            <mc:AlternateContent xmlns:mc="http://schemas.openxmlformats.org/markup-compatibility/2006">
              <mc:Choice xmlns:v="urn:schemas-microsoft-com:vml" Requires="v">
                <p:oleObj name="Equation" r:id="rId3" imgW="2552700" imgH="444500" progId="Equation.DSMT4">
                  <p:embed/>
                </p:oleObj>
              </mc:Choice>
              <mc:Fallback>
                <p:oleObj name="Equation" r:id="rId3" imgW="2552700" imgH="444500" progId="Equation.DSMT4">
                  <p:embed/>
                  <p:pic>
                    <p:nvPicPr>
                      <p:cNvPr id="13" name="Object 1">
                        <a:extLst>
                          <a:ext uri="{FF2B5EF4-FFF2-40B4-BE49-F238E27FC236}">
                            <a16:creationId xmlns:a16="http://schemas.microsoft.com/office/drawing/2014/main" id="{EFAD3929-73FE-764F-9EF6-7E1EADCEF4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0030" y="67644"/>
                        <a:ext cx="4122466" cy="717375"/>
                      </a:xfrm>
                      <a:prstGeom prst="rect">
                        <a:avLst/>
                      </a:prstGeom>
                      <a:noFill/>
                      <a:ln>
                        <a:noFill/>
                      </a:ln>
                    </p:spPr>
                  </p:pic>
                </p:oleObj>
              </mc:Fallback>
            </mc:AlternateContent>
          </a:graphicData>
        </a:graphic>
      </p:graphicFrame>
      <p:sp>
        <p:nvSpPr>
          <p:cNvPr id="6" name="Oval 5">
            <a:extLst>
              <a:ext uri="{FF2B5EF4-FFF2-40B4-BE49-F238E27FC236}">
                <a16:creationId xmlns:a16="http://schemas.microsoft.com/office/drawing/2014/main" id="{D461FD6A-93B8-D143-BC55-9CDC1C178825}"/>
              </a:ext>
            </a:extLst>
          </p:cNvPr>
          <p:cNvSpPr/>
          <p:nvPr/>
        </p:nvSpPr>
        <p:spPr bwMode="auto">
          <a:xfrm>
            <a:off x="11658514" y="152569"/>
            <a:ext cx="503982" cy="483741"/>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2200" b="0" i="0" u="none" strike="noStrike" cap="none" normalizeH="0" baseline="0">
              <a:ln>
                <a:noFill/>
              </a:ln>
              <a:solidFill>
                <a:schemeClr val="tx1"/>
              </a:solidFill>
              <a:effectLst/>
              <a:latin typeface="Tahoma"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ChangeArrowheads="1"/>
          </p:cNvSpPr>
          <p:nvPr/>
        </p:nvSpPr>
        <p:spPr bwMode="auto">
          <a:xfrm>
            <a:off x="0" y="28575"/>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en-US" sz="2200"/>
          </a:p>
        </p:txBody>
      </p:sp>
      <p:sp>
        <p:nvSpPr>
          <p:cNvPr id="59395" name="AutoShape 6"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5862638" y="-8953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endParaRPr lang="nl-NL" altLang="en-US" sz="1600"/>
          </a:p>
        </p:txBody>
      </p:sp>
      <p:sp>
        <p:nvSpPr>
          <p:cNvPr id="59396" name="AutoShape 8"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6015038" y="-7429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endParaRPr lang="nl-NL" altLang="en-US" sz="1600"/>
          </a:p>
        </p:txBody>
      </p:sp>
      <p:sp>
        <p:nvSpPr>
          <p:cNvPr id="6" name="Rectangle 4"/>
          <p:cNvSpPr>
            <a:spLocks noChangeArrowheads="1"/>
          </p:cNvSpPr>
          <p:nvPr/>
        </p:nvSpPr>
        <p:spPr bwMode="auto">
          <a:xfrm>
            <a:off x="191344" y="1337816"/>
            <a:ext cx="990185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p>
            <a:pPr algn="l" fontAlgn="base">
              <a:defRPr/>
            </a:pPr>
            <a:r>
              <a:rPr lang="en-US" sz="3200" b="1" dirty="0">
                <a:solidFill>
                  <a:schemeClr val="bg1"/>
                </a:solidFill>
                <a:latin typeface="Bookman Old Style" pitchFamily="18" charset="0"/>
              </a:rPr>
              <a:t>Aircraft Drag polar curve</a:t>
            </a:r>
          </a:p>
          <a:p>
            <a:pPr algn="l" fontAlgn="base">
              <a:defRPr/>
            </a:pPr>
            <a:r>
              <a:rPr lang="en-US" sz="3200" b="1" dirty="0">
                <a:solidFill>
                  <a:schemeClr val="bg1"/>
                </a:solidFill>
                <a:latin typeface="Bookman Old Style" pitchFamily="18" charset="0"/>
              </a:rPr>
              <a:t>	 2.4: Estimation of the drag due to lift</a:t>
            </a:r>
            <a:endParaRPr lang="en-US" sz="3200" b="1" u="sng" dirty="0">
              <a:solidFill>
                <a:schemeClr val="bg1"/>
              </a:solidFill>
              <a:latin typeface="+mj-lt"/>
            </a:endParaRPr>
          </a:p>
        </p:txBody>
      </p:sp>
    </p:spTree>
    <p:custDataLst>
      <p:tags r:id="rId1"/>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714988" y="184026"/>
            <a:ext cx="7659688"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Oswald efficiency factor</a:t>
            </a:r>
            <a:endParaRPr lang="nl-NL" kern="0" dirty="0">
              <a:solidFill>
                <a:schemeClr val="bg2"/>
              </a:solidFill>
            </a:endParaRPr>
          </a:p>
        </p:txBody>
      </p:sp>
      <p:sp>
        <p:nvSpPr>
          <p:cNvPr id="3" name="Content Placeholder 2"/>
          <p:cNvSpPr txBox="1">
            <a:spLocks/>
          </p:cNvSpPr>
          <p:nvPr/>
        </p:nvSpPr>
        <p:spPr>
          <a:xfrm>
            <a:off x="839416" y="1008645"/>
            <a:ext cx="8137525" cy="4105275"/>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endParaRPr lang="en-GB" sz="1600" kern="0" dirty="0"/>
          </a:p>
          <a:p>
            <a:pPr>
              <a:defRPr/>
            </a:pPr>
            <a:r>
              <a:rPr lang="en-GB" sz="1600" kern="0" dirty="0"/>
              <a:t>Drag polar:</a:t>
            </a:r>
          </a:p>
          <a:p>
            <a:pPr>
              <a:defRPr/>
            </a:pPr>
            <a:endParaRPr lang="en-GB" sz="1600" kern="0" dirty="0"/>
          </a:p>
          <a:p>
            <a:pPr>
              <a:defRPr/>
            </a:pPr>
            <a:endParaRPr lang="en-GB" sz="1600" kern="0" dirty="0"/>
          </a:p>
          <a:p>
            <a:pPr>
              <a:defRPr/>
            </a:pPr>
            <a:r>
              <a:rPr lang="en-GB" sz="1600" kern="0" dirty="0"/>
              <a:t>e = Oswald efficiency factor</a:t>
            </a:r>
          </a:p>
          <a:p>
            <a:pPr lvl="1">
              <a:defRPr/>
            </a:pPr>
            <a:r>
              <a:rPr lang="en-GB" kern="0" dirty="0"/>
              <a:t>For straight wings :</a:t>
            </a:r>
          </a:p>
          <a:p>
            <a:pPr lvl="1">
              <a:defRPr/>
            </a:pPr>
            <a:endParaRPr lang="en-GB" kern="0" dirty="0"/>
          </a:p>
          <a:p>
            <a:pPr lvl="1">
              <a:defRPr/>
            </a:pPr>
            <a:r>
              <a:rPr lang="en-GB" kern="0" dirty="0"/>
              <a:t>For swept wings:  </a:t>
            </a:r>
          </a:p>
          <a:p>
            <a:pPr>
              <a:defRPr/>
            </a:pPr>
            <a:endParaRPr lang="en-GB" kern="0" dirty="0"/>
          </a:p>
          <a:p>
            <a:pPr>
              <a:defRPr/>
            </a:pPr>
            <a:endParaRPr lang="en-GB" sz="1600" kern="0" dirty="0"/>
          </a:p>
          <a:p>
            <a:pPr>
              <a:defRPr/>
            </a:pPr>
            <a:r>
              <a:rPr lang="en-GB" sz="1600" kern="0" dirty="0"/>
              <a:t>Effect of flap deflection: increasing e by </a:t>
            </a:r>
          </a:p>
          <a:p>
            <a:pPr>
              <a:defRPr/>
            </a:pPr>
            <a:endParaRPr lang="en-GB" sz="1600" kern="0" dirty="0"/>
          </a:p>
          <a:p>
            <a:pPr lvl="1">
              <a:defRPr/>
            </a:pPr>
            <a:r>
              <a:rPr lang="en-GB" sz="1400" kern="0" dirty="0"/>
              <a:t>Fuselage mounted engines</a:t>
            </a:r>
          </a:p>
          <a:p>
            <a:pPr lvl="1">
              <a:defRPr/>
            </a:pPr>
            <a:endParaRPr lang="en-GB" sz="1400" kern="0" dirty="0"/>
          </a:p>
          <a:p>
            <a:pPr lvl="1">
              <a:defRPr/>
            </a:pPr>
            <a:r>
              <a:rPr lang="en-GB" sz="1400" kern="0" dirty="0"/>
              <a:t>Wing mounted engines</a:t>
            </a:r>
          </a:p>
          <a:p>
            <a:pPr>
              <a:defRPr/>
            </a:pPr>
            <a:endParaRPr lang="en-GB" sz="1600" kern="0" dirty="0"/>
          </a:p>
        </p:txBody>
      </p:sp>
      <p:graphicFrame>
        <p:nvGraphicFramePr>
          <p:cNvPr id="60420" name="Object 3"/>
          <p:cNvGraphicFramePr>
            <a:graphicFrameLocks noChangeAspect="1"/>
          </p:cNvGraphicFramePr>
          <p:nvPr>
            <p:extLst>
              <p:ext uri="{D42A27DB-BD31-4B8C-83A1-F6EECF244321}">
                <p14:modId xmlns:p14="http://schemas.microsoft.com/office/powerpoint/2010/main" val="3578467850"/>
              </p:ext>
            </p:extLst>
          </p:nvPr>
        </p:nvGraphicFramePr>
        <p:xfrm>
          <a:off x="2423592" y="1203042"/>
          <a:ext cx="2305050" cy="557212"/>
        </p:xfrm>
        <a:graphic>
          <a:graphicData uri="http://schemas.openxmlformats.org/presentationml/2006/ole">
            <mc:AlternateContent xmlns:mc="http://schemas.openxmlformats.org/markup-compatibility/2006">
              <mc:Choice xmlns:v="urn:schemas-microsoft-com:vml" Requires="v">
                <p:oleObj name="Equation" r:id="rId2" imgW="1054100" imgH="254000" progId="Equation.DSMT4">
                  <p:embed/>
                </p:oleObj>
              </mc:Choice>
              <mc:Fallback>
                <p:oleObj name="Equation" r:id="rId2" imgW="1054100" imgH="2540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592" y="1203042"/>
                        <a:ext cx="230505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1" name="Object 4"/>
          <p:cNvGraphicFramePr>
            <a:graphicFrameLocks noChangeAspect="1"/>
          </p:cNvGraphicFramePr>
          <p:nvPr>
            <p:extLst>
              <p:ext uri="{D42A27DB-BD31-4B8C-83A1-F6EECF244321}">
                <p14:modId xmlns:p14="http://schemas.microsoft.com/office/powerpoint/2010/main" val="3065012616"/>
              </p:ext>
            </p:extLst>
          </p:nvPr>
        </p:nvGraphicFramePr>
        <p:xfrm>
          <a:off x="6173289" y="1161927"/>
          <a:ext cx="1111250" cy="701675"/>
        </p:xfrm>
        <a:graphic>
          <a:graphicData uri="http://schemas.openxmlformats.org/presentationml/2006/ole">
            <mc:AlternateContent xmlns:mc="http://schemas.openxmlformats.org/markup-compatibility/2006">
              <mc:Choice xmlns:v="urn:schemas-microsoft-com:vml" Requires="v">
                <p:oleObj name="Equation" r:id="rId4" imgW="622030" imgH="393529" progId="Equation.DSMT4">
                  <p:embed/>
                </p:oleObj>
              </mc:Choice>
              <mc:Fallback>
                <p:oleObj name="Equation" r:id="rId4" imgW="622030" imgH="393529"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3289" y="1161927"/>
                        <a:ext cx="11112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2" name="Object 5"/>
          <p:cNvGraphicFramePr>
            <a:graphicFrameLocks noChangeAspect="1"/>
          </p:cNvGraphicFramePr>
          <p:nvPr/>
        </p:nvGraphicFramePr>
        <p:xfrm>
          <a:off x="5016500" y="2492375"/>
          <a:ext cx="3671888" cy="431800"/>
        </p:xfrm>
        <a:graphic>
          <a:graphicData uri="http://schemas.openxmlformats.org/presentationml/2006/ole">
            <mc:AlternateContent xmlns:mc="http://schemas.openxmlformats.org/markup-compatibility/2006">
              <mc:Choice xmlns:v="urn:schemas-microsoft-com:vml" Requires="v">
                <p:oleObj name="Equation" r:id="rId6" imgW="1943100" imgH="228600" progId="Equation.DSMT4">
                  <p:embed/>
                </p:oleObj>
              </mc:Choice>
              <mc:Fallback>
                <p:oleObj name="Equation" r:id="rId6" imgW="1943100" imgH="2286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16500" y="2492375"/>
                        <a:ext cx="36718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3" name="Object 6"/>
          <p:cNvGraphicFramePr>
            <a:graphicFrameLocks noChangeAspect="1"/>
          </p:cNvGraphicFramePr>
          <p:nvPr/>
        </p:nvGraphicFramePr>
        <p:xfrm>
          <a:off x="4994276" y="3141664"/>
          <a:ext cx="4557713" cy="503237"/>
        </p:xfrm>
        <a:graphic>
          <a:graphicData uri="http://schemas.openxmlformats.org/presentationml/2006/ole">
            <mc:AlternateContent xmlns:mc="http://schemas.openxmlformats.org/markup-compatibility/2006">
              <mc:Choice xmlns:v="urn:schemas-microsoft-com:vml" Requires="v">
                <p:oleObj name="Equation" r:id="rId8" imgW="2641600" imgH="292100" progId="Equation.DSMT4">
                  <p:embed/>
                </p:oleObj>
              </mc:Choice>
              <mc:Fallback>
                <p:oleObj name="Equation" r:id="rId8" imgW="2641600" imgH="2921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94276" y="3141664"/>
                        <a:ext cx="455771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4" name="Object 7"/>
          <p:cNvGraphicFramePr>
            <a:graphicFrameLocks noChangeAspect="1"/>
          </p:cNvGraphicFramePr>
          <p:nvPr>
            <p:extLst>
              <p:ext uri="{D42A27DB-BD31-4B8C-83A1-F6EECF244321}">
                <p14:modId xmlns:p14="http://schemas.microsoft.com/office/powerpoint/2010/main" val="3090579857"/>
              </p:ext>
            </p:extLst>
          </p:nvPr>
        </p:nvGraphicFramePr>
        <p:xfrm>
          <a:off x="4069978" y="4868010"/>
          <a:ext cx="1676400" cy="430212"/>
        </p:xfrm>
        <a:graphic>
          <a:graphicData uri="http://schemas.openxmlformats.org/presentationml/2006/ole">
            <mc:AlternateContent xmlns:mc="http://schemas.openxmlformats.org/markup-compatibility/2006">
              <mc:Choice xmlns:v="urn:schemas-microsoft-com:vml" Requires="v">
                <p:oleObj name="Equation" r:id="rId10" imgW="939392" imgH="241195" progId="Equation.DSMT4">
                  <p:embed/>
                </p:oleObj>
              </mc:Choice>
              <mc:Fallback>
                <p:oleObj name="Equation" r:id="rId10" imgW="939392" imgH="241195"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69978" y="4868010"/>
                        <a:ext cx="16764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425" name="Object 8"/>
          <p:cNvGraphicFramePr>
            <a:graphicFrameLocks noChangeAspect="1"/>
          </p:cNvGraphicFramePr>
          <p:nvPr>
            <p:extLst>
              <p:ext uri="{D42A27DB-BD31-4B8C-83A1-F6EECF244321}">
                <p14:modId xmlns:p14="http://schemas.microsoft.com/office/powerpoint/2010/main" val="497905729"/>
              </p:ext>
            </p:extLst>
          </p:nvPr>
        </p:nvGraphicFramePr>
        <p:xfrm>
          <a:off x="4022589" y="5562813"/>
          <a:ext cx="1674812" cy="430213"/>
        </p:xfrm>
        <a:graphic>
          <a:graphicData uri="http://schemas.openxmlformats.org/presentationml/2006/ole">
            <mc:AlternateContent xmlns:mc="http://schemas.openxmlformats.org/markup-compatibility/2006">
              <mc:Choice xmlns:v="urn:schemas-microsoft-com:vml" Requires="v">
                <p:oleObj name="Equation" r:id="rId12" imgW="939392" imgH="241195" progId="Equation.DSMT4">
                  <p:embed/>
                </p:oleObj>
              </mc:Choice>
              <mc:Fallback>
                <p:oleObj name="Equation" r:id="rId12" imgW="939392" imgH="241195"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22589" y="5562813"/>
                        <a:ext cx="1674812"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0" name="Picture 7" descr="http://us.cdn1.123rf.com/168nwm/epixx/epixx0804/epixx080400020/2870043-rear-detail-of-three-engined-business-jet-aircraft.jp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59006" y="4414021"/>
            <a:ext cx="1515791" cy="101052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1" name="Picture 9" descr="http://www.sat-way.com/images/eng1.jp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9574797" y="5292924"/>
            <a:ext cx="1095278" cy="82145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graphicFrame>
        <p:nvGraphicFramePr>
          <p:cNvPr id="60428" name="Object 12"/>
          <p:cNvGraphicFramePr>
            <a:graphicFrameLocks noChangeAspect="1"/>
          </p:cNvGraphicFramePr>
          <p:nvPr>
            <p:extLst>
              <p:ext uri="{D42A27DB-BD31-4B8C-83A1-F6EECF244321}">
                <p14:modId xmlns:p14="http://schemas.microsoft.com/office/powerpoint/2010/main" val="1345402285"/>
              </p:ext>
            </p:extLst>
          </p:nvPr>
        </p:nvGraphicFramePr>
        <p:xfrm>
          <a:off x="4908178" y="4197985"/>
          <a:ext cx="384175" cy="317500"/>
        </p:xfrm>
        <a:graphic>
          <a:graphicData uri="http://schemas.openxmlformats.org/presentationml/2006/ole">
            <mc:AlternateContent xmlns:mc="http://schemas.openxmlformats.org/markup-compatibility/2006">
              <mc:Choice xmlns:v="urn:schemas-microsoft-com:vml" Requires="v">
                <p:oleObj name="Equation" r:id="rId16" imgW="215619" imgH="177569" progId="Equation.DSMT4">
                  <p:embed/>
                </p:oleObj>
              </mc:Choice>
              <mc:Fallback>
                <p:oleObj name="Equation" r:id="rId16" imgW="215619" imgH="177569" progId="Equation.DSMT4">
                  <p:embed/>
                  <p:pic>
                    <p:nvPicPr>
                      <p:cNvPr id="0"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908178" y="4197985"/>
                        <a:ext cx="38417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Oval 3"/>
          <p:cNvSpPr/>
          <p:nvPr/>
        </p:nvSpPr>
        <p:spPr bwMode="auto">
          <a:xfrm>
            <a:off x="6728914" y="1533659"/>
            <a:ext cx="303190" cy="239157"/>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fontAlgn="base"/>
            <a:endParaRPr lang="en-GB" sz="22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txBox="1">
            <a:spLocks/>
          </p:cNvSpPr>
          <p:nvPr/>
        </p:nvSpPr>
        <p:spPr>
          <a:xfrm>
            <a:off x="2441575" y="404813"/>
            <a:ext cx="7659688"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Effect of wing twist</a:t>
            </a:r>
            <a:endParaRPr lang="nl-NL" kern="0" dirty="0">
              <a:solidFill>
                <a:schemeClr val="bg2"/>
              </a:solidFill>
            </a:endParaRPr>
          </a:p>
        </p:txBody>
      </p:sp>
      <p:pic>
        <p:nvPicPr>
          <p:cNvPr id="61443" name="Picture 2" descr="D:\aelham\Desktop\Untitl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1813" y="3141663"/>
            <a:ext cx="5116512"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2"/>
          <p:cNvSpPr txBox="1">
            <a:spLocks/>
          </p:cNvSpPr>
          <p:nvPr/>
        </p:nvSpPr>
        <p:spPr>
          <a:xfrm>
            <a:off x="2135189" y="1268414"/>
            <a:ext cx="8137525" cy="4105275"/>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600" kern="0" dirty="0"/>
              <a:t>If the wing is twisted, different sections of the wing sees different angles of attack. So even if the total lift is zero, we still have local lift. Besides the change is wing twist changes the lift distribution on the wing that alters the induced drag.</a:t>
            </a:r>
          </a:p>
          <a:p>
            <a:pPr>
              <a:defRPr/>
            </a:pPr>
            <a:endParaRPr lang="en-GB" sz="1600" kern="0" dirty="0"/>
          </a:p>
          <a:p>
            <a:pPr>
              <a:defRPr/>
            </a:pPr>
            <a:r>
              <a:rPr lang="en-GB" sz="1600" kern="0" dirty="0"/>
              <a:t>The effect of wing twist on the lift depended drag can be estimated as follows:</a:t>
            </a:r>
            <a:endParaRPr lang="en-GB" sz="1400" kern="0" dirty="0"/>
          </a:p>
          <a:p>
            <a:pPr>
              <a:defRPr/>
            </a:pPr>
            <a:endParaRPr lang="en-GB" sz="1600" kern="0" dirty="0"/>
          </a:p>
          <a:p>
            <a:pPr>
              <a:defRPr/>
            </a:pPr>
            <a:endParaRPr lang="en-GB" sz="1600" kern="0" dirty="0"/>
          </a:p>
          <a:p>
            <a:pPr>
              <a:defRPr/>
            </a:pPr>
            <a:endParaRPr lang="en-GB" sz="1600" kern="0" dirty="0"/>
          </a:p>
          <a:p>
            <a:pPr>
              <a:defRPr/>
            </a:pPr>
            <a:endParaRPr lang="en-GB" sz="1600" kern="0" dirty="0"/>
          </a:p>
          <a:p>
            <a:pPr>
              <a:defRPr/>
            </a:pPr>
            <a:endParaRPr lang="en-GB" sz="1600" kern="0" dirty="0"/>
          </a:p>
          <a:p>
            <a:pPr>
              <a:defRPr/>
            </a:pPr>
            <a:endParaRPr lang="en-GB" sz="1600" kern="0" dirty="0"/>
          </a:p>
          <a:p>
            <a:pPr>
              <a:defRPr/>
            </a:pPr>
            <a:r>
              <a:rPr lang="en-GB" sz="1600" kern="0" dirty="0"/>
              <a:t>       is the twist angle at tip in degree</a:t>
            </a:r>
          </a:p>
          <a:p>
            <a:pPr>
              <a:defRPr/>
            </a:pPr>
            <a:endParaRPr lang="en-GB" sz="1600" kern="0" dirty="0"/>
          </a:p>
          <a:p>
            <a:pPr>
              <a:defRPr/>
            </a:pPr>
            <a:r>
              <a:rPr lang="en-GB" sz="1600" kern="0" dirty="0"/>
              <a:t>          is the twist angle at the mean geometric chord in degree</a:t>
            </a:r>
          </a:p>
        </p:txBody>
      </p:sp>
      <p:graphicFrame>
        <p:nvGraphicFramePr>
          <p:cNvPr id="61445" name="Object 4"/>
          <p:cNvGraphicFramePr>
            <a:graphicFrameLocks noChangeAspect="1"/>
          </p:cNvGraphicFramePr>
          <p:nvPr/>
        </p:nvGraphicFramePr>
        <p:xfrm>
          <a:off x="2441575" y="3644901"/>
          <a:ext cx="3028950" cy="430213"/>
        </p:xfrm>
        <a:graphic>
          <a:graphicData uri="http://schemas.openxmlformats.org/presentationml/2006/ole">
            <mc:AlternateContent xmlns:mc="http://schemas.openxmlformats.org/markup-compatibility/2006">
              <mc:Choice xmlns:v="urn:schemas-microsoft-com:vml" Requires="v">
                <p:oleObj name="Equation" r:id="rId3" imgW="1701800" imgH="241300" progId="Equation.DSMT4">
                  <p:embed/>
                </p:oleObj>
              </mc:Choice>
              <mc:Fallback>
                <p:oleObj name="Equation" r:id="rId3" imgW="1701800" imgH="2413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1575" y="3644901"/>
                        <a:ext cx="30289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46" name="Object 5"/>
          <p:cNvGraphicFramePr>
            <a:graphicFrameLocks noChangeAspect="1"/>
          </p:cNvGraphicFramePr>
          <p:nvPr/>
        </p:nvGraphicFramePr>
        <p:xfrm>
          <a:off x="2406651" y="4697413"/>
          <a:ext cx="449263" cy="531812"/>
        </p:xfrm>
        <a:graphic>
          <a:graphicData uri="http://schemas.openxmlformats.org/presentationml/2006/ole">
            <mc:AlternateContent xmlns:mc="http://schemas.openxmlformats.org/markup-compatibility/2006">
              <mc:Choice xmlns:v="urn:schemas-microsoft-com:vml" Requires="v">
                <p:oleObj name="Equation" r:id="rId5" imgW="203112" imgH="241195" progId="Equation.DSMT4">
                  <p:embed/>
                </p:oleObj>
              </mc:Choice>
              <mc:Fallback>
                <p:oleObj name="Equation" r:id="rId5" imgW="203112" imgH="241195"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6651" y="4697413"/>
                        <a:ext cx="449263"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47" name="Object 6"/>
          <p:cNvGraphicFramePr>
            <a:graphicFrameLocks noChangeAspect="1"/>
          </p:cNvGraphicFramePr>
          <p:nvPr/>
        </p:nvGraphicFramePr>
        <p:xfrm>
          <a:off x="2371725" y="5302250"/>
          <a:ext cx="700088" cy="503238"/>
        </p:xfrm>
        <a:graphic>
          <a:graphicData uri="http://schemas.openxmlformats.org/presentationml/2006/ole">
            <mc:AlternateContent xmlns:mc="http://schemas.openxmlformats.org/markup-compatibility/2006">
              <mc:Choice xmlns:v="urn:schemas-microsoft-com:vml" Requires="v">
                <p:oleObj name="Equation" r:id="rId7" imgW="317362" imgH="228501" progId="Equation.DSMT4">
                  <p:embed/>
                </p:oleObj>
              </mc:Choice>
              <mc:Fallback>
                <p:oleObj name="Equation" r:id="rId7" imgW="317362" imgH="228501"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71725" y="5302250"/>
                        <a:ext cx="700088"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839416" y="404813"/>
            <a:ext cx="9261847"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Effect of wing tip</a:t>
            </a:r>
            <a:endParaRPr lang="nl-NL" kern="0" dirty="0">
              <a:solidFill>
                <a:schemeClr val="bg2"/>
              </a:solidFill>
            </a:endParaRPr>
          </a:p>
        </p:txBody>
      </p:sp>
      <p:sp>
        <p:nvSpPr>
          <p:cNvPr id="3" name="Content Placeholder 2"/>
          <p:cNvSpPr txBox="1">
            <a:spLocks/>
          </p:cNvSpPr>
          <p:nvPr/>
        </p:nvSpPr>
        <p:spPr>
          <a:xfrm>
            <a:off x="767408" y="1268414"/>
            <a:ext cx="10585175" cy="4105275"/>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600" kern="0" dirty="0"/>
              <a:t>The effect of the wing tip shape can be taken into account by modifying the wing aspect ratio:</a:t>
            </a:r>
          </a:p>
          <a:p>
            <a:pPr>
              <a:defRPr/>
            </a:pPr>
            <a:endParaRPr lang="en-GB" sz="1600" kern="0" dirty="0"/>
          </a:p>
          <a:p>
            <a:pPr>
              <a:defRPr/>
            </a:pPr>
            <a:endParaRPr lang="en-GB" sz="1600" kern="0" dirty="0"/>
          </a:p>
          <a:p>
            <a:pPr>
              <a:defRPr/>
            </a:pPr>
            <a:endParaRPr lang="en-GB" sz="1600" kern="0" dirty="0"/>
          </a:p>
          <a:p>
            <a:pPr marL="0" indent="0">
              <a:buNone/>
              <a:defRPr/>
            </a:pPr>
            <a:r>
              <a:rPr lang="en-GB" sz="1600" kern="0" dirty="0"/>
              <a:t>             is the so-called “effective aspect ratio”. The effect of the wing tip device can be seen in        . </a:t>
            </a:r>
          </a:p>
          <a:p>
            <a:pPr marL="0" indent="0">
              <a:buNone/>
              <a:defRPr/>
            </a:pPr>
            <a:endParaRPr lang="en-GB" sz="1600" kern="0" dirty="0"/>
          </a:p>
          <a:p>
            <a:pPr marL="0" indent="0">
              <a:buNone/>
              <a:defRPr/>
            </a:pPr>
            <a:endParaRPr lang="en-GB" sz="1600" kern="0" dirty="0"/>
          </a:p>
          <a:p>
            <a:pPr marL="0" indent="0" algn="ctr">
              <a:buNone/>
              <a:defRPr/>
            </a:pPr>
            <a:r>
              <a:rPr lang="en-GB" sz="1600" kern="0" dirty="0">
                <a:solidFill>
                  <a:schemeClr val="bg2"/>
                </a:solidFill>
              </a:rPr>
              <a:t>So first the effective aspect ratio should be determined based on the wing tip shape and then it should be used in all the equations for lift and drag estimation.</a:t>
            </a:r>
            <a:endParaRPr lang="en-GB" kern="0" dirty="0">
              <a:solidFill>
                <a:schemeClr val="bg2"/>
              </a:solidFill>
            </a:endParaRPr>
          </a:p>
          <a:p>
            <a:pPr>
              <a:defRPr/>
            </a:pPr>
            <a:endParaRPr lang="en-GB" sz="1600" kern="0" dirty="0"/>
          </a:p>
        </p:txBody>
      </p:sp>
      <p:graphicFrame>
        <p:nvGraphicFramePr>
          <p:cNvPr id="62468" name="Object 3"/>
          <p:cNvGraphicFramePr>
            <a:graphicFrameLocks noChangeAspect="1"/>
          </p:cNvGraphicFramePr>
          <p:nvPr>
            <p:extLst>
              <p:ext uri="{D42A27DB-BD31-4B8C-83A1-F6EECF244321}">
                <p14:modId xmlns:p14="http://schemas.microsoft.com/office/powerpoint/2010/main" val="3453767243"/>
              </p:ext>
            </p:extLst>
          </p:nvPr>
        </p:nvGraphicFramePr>
        <p:xfrm>
          <a:off x="4871864" y="1916832"/>
          <a:ext cx="2393950" cy="498475"/>
        </p:xfrm>
        <a:graphic>
          <a:graphicData uri="http://schemas.openxmlformats.org/presentationml/2006/ole">
            <mc:AlternateContent xmlns:mc="http://schemas.openxmlformats.org/markup-compatibility/2006">
              <mc:Choice xmlns:v="urn:schemas-microsoft-com:vml" Requires="v">
                <p:oleObj name="Equation" r:id="rId2" imgW="1155700" imgH="241300" progId="Equation.DSMT4">
                  <p:embed/>
                </p:oleObj>
              </mc:Choice>
              <mc:Fallback>
                <p:oleObj name="Equation" r:id="rId2" imgW="1155700" imgH="2413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1864" y="1916832"/>
                        <a:ext cx="23939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469" name="Object 4"/>
          <p:cNvGraphicFramePr>
            <a:graphicFrameLocks noChangeAspect="1"/>
          </p:cNvGraphicFramePr>
          <p:nvPr>
            <p:extLst>
              <p:ext uri="{D42A27DB-BD31-4B8C-83A1-F6EECF244321}">
                <p14:modId xmlns:p14="http://schemas.microsoft.com/office/powerpoint/2010/main" val="2603899318"/>
              </p:ext>
            </p:extLst>
          </p:nvPr>
        </p:nvGraphicFramePr>
        <p:xfrm>
          <a:off x="9594850" y="2623640"/>
          <a:ext cx="506413" cy="252413"/>
        </p:xfrm>
        <a:graphic>
          <a:graphicData uri="http://schemas.openxmlformats.org/presentationml/2006/ole">
            <mc:AlternateContent xmlns:mc="http://schemas.openxmlformats.org/markup-compatibility/2006">
              <mc:Choice xmlns:v="urn:schemas-microsoft-com:vml" Requires="v">
                <p:oleObj name="Equation" r:id="rId4" imgW="330057" imgH="165028" progId="Equation.DSMT4">
                  <p:embed/>
                </p:oleObj>
              </mc:Choice>
              <mc:Fallback>
                <p:oleObj name="Equation" r:id="rId4" imgW="330057" imgH="165028"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94850" y="2623640"/>
                        <a:ext cx="506413"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470" name="Object 5"/>
          <p:cNvGraphicFramePr>
            <a:graphicFrameLocks noChangeAspect="1"/>
          </p:cNvGraphicFramePr>
          <p:nvPr>
            <p:extLst>
              <p:ext uri="{D42A27DB-BD31-4B8C-83A1-F6EECF244321}">
                <p14:modId xmlns:p14="http://schemas.microsoft.com/office/powerpoint/2010/main" val="3858146471"/>
              </p:ext>
            </p:extLst>
          </p:nvPr>
        </p:nvGraphicFramePr>
        <p:xfrm>
          <a:off x="1055440" y="2564904"/>
          <a:ext cx="544513" cy="369887"/>
        </p:xfrm>
        <a:graphic>
          <a:graphicData uri="http://schemas.openxmlformats.org/presentationml/2006/ole">
            <mc:AlternateContent xmlns:mc="http://schemas.openxmlformats.org/markup-compatibility/2006">
              <mc:Choice xmlns:v="urn:schemas-microsoft-com:vml" Requires="v">
                <p:oleObj name="Equation" r:id="rId6" imgW="355446" imgH="241195" progId="Equation.DSMT4">
                  <p:embed/>
                </p:oleObj>
              </mc:Choice>
              <mc:Fallback>
                <p:oleObj name="Equation" r:id="rId6" imgW="355446" imgH="241195"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5440" y="2564904"/>
                        <a:ext cx="5445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839416" y="284959"/>
            <a:ext cx="9189839"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Effect of wing tip</a:t>
            </a:r>
            <a:endParaRPr lang="nl-NL" kern="0" dirty="0">
              <a:solidFill>
                <a:schemeClr val="bg2"/>
              </a:solidFill>
            </a:endParaRPr>
          </a:p>
        </p:txBody>
      </p:sp>
      <p:sp>
        <p:nvSpPr>
          <p:cNvPr id="3" name="Content Placeholder 2"/>
          <p:cNvSpPr txBox="1">
            <a:spLocks/>
          </p:cNvSpPr>
          <p:nvPr/>
        </p:nvSpPr>
        <p:spPr>
          <a:xfrm>
            <a:off x="2135189" y="1268414"/>
            <a:ext cx="8137525" cy="4105275"/>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defRPr/>
            </a:pPr>
            <a:r>
              <a:rPr lang="en-GB" sz="1600" kern="0" dirty="0"/>
              <a:t>Wing tip shape affect notably the flow , hence the effective AR</a:t>
            </a:r>
          </a:p>
          <a:p>
            <a:pPr>
              <a:defRPr/>
            </a:pPr>
            <a:endParaRPr lang="en-GB" sz="1600" kern="0" dirty="0">
              <a:solidFill>
                <a:schemeClr val="bg2"/>
              </a:solidFill>
            </a:endParaRPr>
          </a:p>
          <a:p>
            <a:pPr>
              <a:defRPr/>
            </a:pPr>
            <a:endParaRPr lang="en-GB" sz="1600" kern="0" dirty="0">
              <a:solidFill>
                <a:schemeClr val="bg2"/>
              </a:solidFill>
            </a:endParaRPr>
          </a:p>
          <a:p>
            <a:pPr>
              <a:defRPr/>
            </a:pPr>
            <a:endParaRPr lang="en-GB" sz="1600" kern="0" dirty="0">
              <a:solidFill>
                <a:schemeClr val="bg2"/>
              </a:solidFill>
            </a:endParaRPr>
          </a:p>
          <a:p>
            <a:pPr>
              <a:defRPr/>
            </a:pPr>
            <a:endParaRPr lang="en-GB" sz="1600" kern="0" dirty="0">
              <a:solidFill>
                <a:schemeClr val="bg2"/>
              </a:solidFill>
            </a:endParaRPr>
          </a:p>
          <a:p>
            <a:pPr>
              <a:defRPr/>
            </a:pPr>
            <a:endParaRPr lang="en-GB" sz="1600" kern="0" dirty="0">
              <a:solidFill>
                <a:schemeClr val="bg2"/>
              </a:solidFill>
            </a:endParaRPr>
          </a:p>
          <a:p>
            <a:pPr>
              <a:defRPr/>
            </a:pPr>
            <a:endParaRPr lang="en-GB" sz="1600" kern="0" dirty="0">
              <a:solidFill>
                <a:schemeClr val="bg2"/>
              </a:solidFill>
            </a:endParaRPr>
          </a:p>
          <a:p>
            <a:pPr>
              <a:defRPr/>
            </a:pPr>
            <a:endParaRPr lang="en-GB" sz="1600" kern="0" dirty="0">
              <a:solidFill>
                <a:schemeClr val="bg2"/>
              </a:solidFill>
            </a:endParaRPr>
          </a:p>
          <a:p>
            <a:pPr>
              <a:defRPr/>
            </a:pPr>
            <a:endParaRPr lang="en-GB" sz="1600" kern="0" dirty="0">
              <a:solidFill>
                <a:schemeClr val="bg2"/>
              </a:solidFill>
            </a:endParaRPr>
          </a:p>
          <a:p>
            <a:pPr marL="0" indent="0">
              <a:buNone/>
              <a:defRPr/>
            </a:pPr>
            <a:r>
              <a:rPr lang="en-GB" sz="1600" kern="0" dirty="0">
                <a:solidFill>
                  <a:schemeClr val="bg2"/>
                </a:solidFill>
              </a:rPr>
              <a:t>	a			b			     c</a:t>
            </a:r>
            <a:endParaRPr lang="en-GB" kern="0" dirty="0">
              <a:solidFill>
                <a:schemeClr val="bg2"/>
              </a:solidFill>
            </a:endParaRPr>
          </a:p>
          <a:p>
            <a:pPr>
              <a:defRPr/>
            </a:pPr>
            <a:endParaRPr lang="en-GB" sz="1600" kern="0" dirty="0"/>
          </a:p>
        </p:txBody>
      </p:sp>
      <p:pic>
        <p:nvPicPr>
          <p:cNvPr id="63492" name="Picture 5"/>
          <p:cNvPicPr>
            <a:picLocks noChangeAspect="1" noChangeArrowheads="1"/>
          </p:cNvPicPr>
          <p:nvPr/>
        </p:nvPicPr>
        <p:blipFill>
          <a:blip r:embed="rId3">
            <a:extLst>
              <a:ext uri="{28A0092B-C50C-407E-A947-70E740481C1C}">
                <a14:useLocalDpi xmlns:a14="http://schemas.microsoft.com/office/drawing/2010/main" val="0"/>
              </a:ext>
            </a:extLst>
          </a:blip>
          <a:srcRect r="5986" b="29030"/>
          <a:stretch>
            <a:fillRect/>
          </a:stretch>
        </p:blipFill>
        <p:spPr bwMode="auto">
          <a:xfrm>
            <a:off x="8010525" y="1898651"/>
            <a:ext cx="2262188" cy="1495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3493" name="Picture 7" descr="D:\aelham\Desktop\Untitled.png"/>
          <p:cNvPicPr>
            <a:picLocks noChangeAspect="1" noChangeArrowheads="1"/>
          </p:cNvPicPr>
          <p:nvPr/>
        </p:nvPicPr>
        <p:blipFill>
          <a:blip r:embed="rId4">
            <a:extLst>
              <a:ext uri="{28A0092B-C50C-407E-A947-70E740481C1C}">
                <a14:useLocalDpi xmlns:a14="http://schemas.microsoft.com/office/drawing/2010/main" val="0"/>
              </a:ext>
            </a:extLst>
          </a:blip>
          <a:srcRect r="16740" b="31631"/>
          <a:stretch>
            <a:fillRect/>
          </a:stretch>
        </p:blipFill>
        <p:spPr bwMode="auto">
          <a:xfrm>
            <a:off x="5032375" y="1916114"/>
            <a:ext cx="1784350" cy="140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4" name="Picture 8"/>
          <p:cNvPicPr>
            <a:picLocks noChangeAspect="1" noChangeArrowheads="1"/>
          </p:cNvPicPr>
          <p:nvPr/>
        </p:nvPicPr>
        <p:blipFill>
          <a:blip r:embed="rId5">
            <a:extLst>
              <a:ext uri="{28A0092B-C50C-407E-A947-70E740481C1C}">
                <a14:useLocalDpi xmlns:a14="http://schemas.microsoft.com/office/drawing/2010/main" val="0"/>
              </a:ext>
            </a:extLst>
          </a:blip>
          <a:srcRect b="34993"/>
          <a:stretch>
            <a:fillRect/>
          </a:stretch>
        </p:blipFill>
        <p:spPr bwMode="auto">
          <a:xfrm>
            <a:off x="2351088" y="1916114"/>
            <a:ext cx="1854200" cy="1404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5" name="Object 4"/>
          <p:cNvGraphicFramePr>
            <a:graphicFrameLocks noChangeAspect="1"/>
          </p:cNvGraphicFramePr>
          <p:nvPr/>
        </p:nvGraphicFramePr>
        <p:xfrm>
          <a:off x="2530475" y="5391151"/>
          <a:ext cx="1760538" cy="341313"/>
        </p:xfrm>
        <a:graphic>
          <a:graphicData uri="http://schemas.openxmlformats.org/presentationml/2006/ole">
            <mc:AlternateContent xmlns:mc="http://schemas.openxmlformats.org/markup-compatibility/2006">
              <mc:Choice xmlns:v="urn:schemas-microsoft-com:vml" Requires="v">
                <p:oleObj name="Equation" r:id="rId6" imgW="914003" imgH="177723" progId="Equation.DSMT4">
                  <p:embed/>
                </p:oleObj>
              </mc:Choice>
              <mc:Fallback>
                <p:oleObj name="Equation" r:id="rId6" imgW="914003" imgH="177723"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30475" y="5391151"/>
                        <a:ext cx="176053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nvGraphicFramePr>
        <p:xfrm>
          <a:off x="5084764" y="5391151"/>
          <a:ext cx="1614487" cy="341313"/>
        </p:xfrm>
        <a:graphic>
          <a:graphicData uri="http://schemas.openxmlformats.org/presentationml/2006/ole">
            <mc:AlternateContent xmlns:mc="http://schemas.openxmlformats.org/markup-compatibility/2006">
              <mc:Choice xmlns:v="urn:schemas-microsoft-com:vml" Requires="v">
                <p:oleObj name="Equation" r:id="rId8" imgW="837836" imgH="177723" progId="Equation.DSMT4">
                  <p:embed/>
                </p:oleObj>
              </mc:Choice>
              <mc:Fallback>
                <p:oleObj name="Equation" r:id="rId8" imgW="837836" imgH="177723"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84764" y="5391151"/>
                        <a:ext cx="1614487"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nvGraphicFramePr>
        <p:xfrm>
          <a:off x="7937500" y="5391151"/>
          <a:ext cx="1614488" cy="341313"/>
        </p:xfrm>
        <a:graphic>
          <a:graphicData uri="http://schemas.openxmlformats.org/presentationml/2006/ole">
            <mc:AlternateContent xmlns:mc="http://schemas.openxmlformats.org/markup-compatibility/2006">
              <mc:Choice xmlns:v="urn:schemas-microsoft-com:vml" Requires="v">
                <p:oleObj name="Equation" r:id="rId10" imgW="837836" imgH="177723" progId="Equation.DSMT4">
                  <p:embed/>
                </p:oleObj>
              </mc:Choice>
              <mc:Fallback>
                <p:oleObj name="Equation" r:id="rId10" imgW="837836" imgH="177723"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37500" y="5391151"/>
                        <a:ext cx="161448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4" name="Picture 8"/>
          <p:cNvPicPr>
            <a:picLocks noChangeAspect="1" noChangeArrowheads="1"/>
          </p:cNvPicPr>
          <p:nvPr/>
        </p:nvPicPr>
        <p:blipFill>
          <a:blip r:embed="rId5">
            <a:extLst>
              <a:ext uri="{28A0092B-C50C-407E-A947-70E740481C1C}">
                <a14:useLocalDpi xmlns:a14="http://schemas.microsoft.com/office/drawing/2010/main" val="0"/>
              </a:ext>
            </a:extLst>
          </a:blip>
          <a:srcRect t="63223"/>
          <a:stretch>
            <a:fillRect/>
          </a:stretch>
        </p:blipFill>
        <p:spPr bwMode="auto">
          <a:xfrm>
            <a:off x="2351088" y="3282950"/>
            <a:ext cx="1854200" cy="793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7" descr="D:\aelham\Desktop\Untitled.png"/>
          <p:cNvPicPr>
            <a:picLocks noChangeAspect="1" noChangeArrowheads="1"/>
          </p:cNvPicPr>
          <p:nvPr/>
        </p:nvPicPr>
        <p:blipFill>
          <a:blip r:embed="rId4">
            <a:extLst>
              <a:ext uri="{28A0092B-C50C-407E-A947-70E740481C1C}">
                <a14:useLocalDpi xmlns:a14="http://schemas.microsoft.com/office/drawing/2010/main" val="0"/>
              </a:ext>
            </a:extLst>
          </a:blip>
          <a:srcRect t="60519"/>
          <a:stretch>
            <a:fillRect/>
          </a:stretch>
        </p:blipFill>
        <p:spPr bwMode="auto">
          <a:xfrm>
            <a:off x="5032376" y="3159126"/>
            <a:ext cx="2143125"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5"/>
          <p:cNvPicPr>
            <a:picLocks noChangeAspect="1" noChangeArrowheads="1"/>
          </p:cNvPicPr>
          <p:nvPr/>
        </p:nvPicPr>
        <p:blipFill>
          <a:blip r:embed="rId3">
            <a:extLst>
              <a:ext uri="{28A0092B-C50C-407E-A947-70E740481C1C}">
                <a14:useLocalDpi xmlns:a14="http://schemas.microsoft.com/office/drawing/2010/main" val="0"/>
              </a:ext>
            </a:extLst>
          </a:blip>
          <a:srcRect t="60239"/>
          <a:stretch>
            <a:fillRect/>
          </a:stretch>
        </p:blipFill>
        <p:spPr bwMode="auto">
          <a:xfrm>
            <a:off x="8010525" y="3159125"/>
            <a:ext cx="2406650"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441575" y="404813"/>
            <a:ext cx="7659688"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Effect of wing tip</a:t>
            </a:r>
            <a:endParaRPr lang="nl-NL" kern="0" dirty="0">
              <a:solidFill>
                <a:schemeClr val="bg2"/>
              </a:solidFill>
            </a:endParaRPr>
          </a:p>
        </p:txBody>
      </p:sp>
      <p:pic>
        <p:nvPicPr>
          <p:cNvPr id="6451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4713" y="1844675"/>
            <a:ext cx="7956550" cy="3136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7842251" y="5121276"/>
            <a:ext cx="2143125" cy="307975"/>
          </a:xfrm>
          <a:prstGeom prst="rect">
            <a:avLst/>
          </a:prstGeom>
        </p:spPr>
        <p:txBody>
          <a:bodyPr wrap="none">
            <a:spAutoFit/>
          </a:bodyPr>
          <a:lstStyle/>
          <a:p>
            <a:pPr>
              <a:defRPr/>
            </a:pPr>
            <a:r>
              <a:rPr lang="en-GB" sz="1400" kern="0" dirty="0"/>
              <a:t>Source: </a:t>
            </a:r>
            <a:r>
              <a:rPr lang="en-GB" sz="1400" dirty="0"/>
              <a:t>GUDMUNDSSON</a:t>
            </a:r>
            <a:endParaRPr lang="en-GB" sz="1400" kern="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888" y="2189163"/>
            <a:ext cx="2233612" cy="1649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1"/>
          <p:cNvSpPr txBox="1">
            <a:spLocks/>
          </p:cNvSpPr>
          <p:nvPr/>
        </p:nvSpPr>
        <p:spPr>
          <a:xfrm>
            <a:off x="695400" y="261813"/>
            <a:ext cx="9333855"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Effect of wing tip</a:t>
            </a:r>
            <a:endParaRPr lang="nl-NL" kern="0" dirty="0">
              <a:solidFill>
                <a:schemeClr val="bg2"/>
              </a:solidFill>
            </a:endParaRPr>
          </a:p>
        </p:txBody>
      </p:sp>
      <p:sp>
        <p:nvSpPr>
          <p:cNvPr id="4" name="Content Placeholder 2"/>
          <p:cNvSpPr txBox="1">
            <a:spLocks/>
          </p:cNvSpPr>
          <p:nvPr/>
        </p:nvSpPr>
        <p:spPr>
          <a:xfrm>
            <a:off x="2135188" y="1268413"/>
            <a:ext cx="7848600" cy="647700"/>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marL="0" indent="0">
              <a:buNone/>
              <a:defRPr/>
            </a:pPr>
            <a:r>
              <a:rPr lang="en-GB" sz="1600" kern="0" dirty="0"/>
              <a:t>	Raked wing tip				Winglet</a:t>
            </a:r>
          </a:p>
          <a:p>
            <a:pPr>
              <a:defRPr/>
            </a:pPr>
            <a:endParaRPr lang="en-GB" sz="1600" kern="0" dirty="0">
              <a:solidFill>
                <a:schemeClr val="bg2"/>
              </a:solidFill>
            </a:endParaRPr>
          </a:p>
        </p:txBody>
      </p:sp>
      <p:graphicFrame>
        <p:nvGraphicFramePr>
          <p:cNvPr id="65541" name="Object 4"/>
          <p:cNvGraphicFramePr>
            <a:graphicFrameLocks noChangeAspect="1"/>
          </p:cNvGraphicFramePr>
          <p:nvPr/>
        </p:nvGraphicFramePr>
        <p:xfrm>
          <a:off x="3000375" y="1746251"/>
          <a:ext cx="2154238" cy="341313"/>
        </p:xfrm>
        <a:graphic>
          <a:graphicData uri="http://schemas.openxmlformats.org/presentationml/2006/ole">
            <mc:AlternateContent xmlns:mc="http://schemas.openxmlformats.org/markup-compatibility/2006">
              <mc:Choice xmlns:v="urn:schemas-microsoft-com:vml" Requires="v">
                <p:oleObj name="Equation" r:id="rId3" imgW="1282700" imgH="203200" progId="Equation.DSMT4">
                  <p:embed/>
                </p:oleObj>
              </mc:Choice>
              <mc:Fallback>
                <p:oleObj name="Equation" r:id="rId3" imgW="1282700" imgH="2032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0375" y="1746251"/>
                        <a:ext cx="215423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5542" name="Picture 3" descr="D:\aelham\Desktop\b787-dreamliner-cruising.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7976" y="4292600"/>
            <a:ext cx="2200275"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3"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88163" y="2155826"/>
            <a:ext cx="2265362" cy="213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5544" name="Picture 5" descr="D:\aelham\Desktop\A350-FLAG-1.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2913" y="4295775"/>
            <a:ext cx="2455862" cy="167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5545" name="Object 1"/>
          <p:cNvGraphicFramePr>
            <a:graphicFrameLocks noChangeAspect="1"/>
          </p:cNvGraphicFramePr>
          <p:nvPr/>
        </p:nvGraphicFramePr>
        <p:xfrm>
          <a:off x="7126288" y="1746251"/>
          <a:ext cx="2089150" cy="341313"/>
        </p:xfrm>
        <a:graphic>
          <a:graphicData uri="http://schemas.openxmlformats.org/presentationml/2006/ole">
            <mc:AlternateContent xmlns:mc="http://schemas.openxmlformats.org/markup-compatibility/2006">
              <mc:Choice xmlns:v="urn:schemas-microsoft-com:vml" Requires="v">
                <p:oleObj name="Equation" r:id="rId8" imgW="1244600" imgH="203200" progId="Equation.DSMT4">
                  <p:embed/>
                </p:oleObj>
              </mc:Choice>
              <mc:Fallback>
                <p:oleObj name="Equation" r:id="rId8" imgW="1244600" imgH="203200" progId="Equation.DSMT4">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26288" y="1746251"/>
                        <a:ext cx="208915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5546" name="Straight Arrow Connector 6"/>
          <p:cNvCxnSpPr>
            <a:cxnSpLocks noChangeShapeType="1"/>
          </p:cNvCxnSpPr>
          <p:nvPr/>
        </p:nvCxnSpPr>
        <p:spPr bwMode="auto">
          <a:xfrm>
            <a:off x="9120188" y="2260600"/>
            <a:ext cx="0" cy="376238"/>
          </a:xfrm>
          <a:prstGeom prst="straightConnector1">
            <a:avLst/>
          </a:prstGeom>
          <a:noFill/>
          <a:ln w="3175"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11" name="TextBox 10"/>
          <p:cNvSpPr txBox="1"/>
          <p:nvPr/>
        </p:nvSpPr>
        <p:spPr>
          <a:xfrm>
            <a:off x="9120189" y="2303464"/>
            <a:ext cx="231775" cy="261937"/>
          </a:xfrm>
          <a:prstGeom prst="rect">
            <a:avLst/>
          </a:prstGeom>
          <a:noFill/>
        </p:spPr>
        <p:txBody>
          <a:bodyPr>
            <a:spAutoFit/>
          </a:bodyPr>
          <a:lstStyle/>
          <a:p>
            <a:pPr>
              <a:defRPr/>
            </a:pPr>
            <a:r>
              <a:rPr lang="en-GB" sz="1050" dirty="0"/>
              <a:t>h</a:t>
            </a:r>
            <a:endParaRPr lang="nl-NL"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txBox="1">
            <a:spLocks/>
          </p:cNvSpPr>
          <p:nvPr/>
        </p:nvSpPr>
        <p:spPr>
          <a:xfrm>
            <a:off x="2441575" y="404813"/>
            <a:ext cx="7659688"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Ground effect</a:t>
            </a:r>
            <a:endParaRPr lang="nl-NL" kern="0" dirty="0">
              <a:solidFill>
                <a:schemeClr val="bg2"/>
              </a:solidFill>
            </a:endParaRPr>
          </a:p>
        </p:txBody>
      </p:sp>
      <p:sp>
        <p:nvSpPr>
          <p:cNvPr id="3" name="Content Placeholder 2"/>
          <p:cNvSpPr txBox="1">
            <a:spLocks/>
          </p:cNvSpPr>
          <p:nvPr/>
        </p:nvSpPr>
        <p:spPr>
          <a:xfrm>
            <a:off x="2135189" y="1268414"/>
            <a:ext cx="8137525" cy="4105275"/>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lgn="just">
              <a:defRPr/>
            </a:pPr>
            <a:r>
              <a:rPr lang="en-GB" sz="1600" kern="0" dirty="0"/>
              <a:t>Ground effect happens when the aircraft is close to the ground, say </a:t>
            </a:r>
            <a:r>
              <a:rPr lang="en-GB" sz="1600" b="1" i="1" kern="0" dirty="0"/>
              <a:t>less than half the span away</a:t>
            </a:r>
            <a:r>
              <a:rPr lang="en-GB" sz="1600" kern="0" dirty="0"/>
              <a:t>.</a:t>
            </a:r>
          </a:p>
          <a:p>
            <a:pPr algn="just">
              <a:defRPr/>
            </a:pPr>
            <a:r>
              <a:rPr lang="en-US" sz="1600" dirty="0"/>
              <a:t>The ground gets in the way of the downwash </a:t>
            </a:r>
            <a:r>
              <a:rPr lang="nl-NL" sz="1600" dirty="0" err="1"/>
              <a:t>effectively</a:t>
            </a:r>
            <a:r>
              <a:rPr lang="nl-NL" sz="1600" dirty="0"/>
              <a:t> </a:t>
            </a:r>
            <a:r>
              <a:rPr lang="en-US" sz="1600" dirty="0"/>
              <a:t>preventing it from fully developing.</a:t>
            </a:r>
          </a:p>
          <a:p>
            <a:pPr>
              <a:defRPr/>
            </a:pPr>
            <a:r>
              <a:rPr lang="nl-NL" sz="1600" dirty="0" err="1"/>
              <a:t>This</a:t>
            </a:r>
            <a:r>
              <a:rPr lang="nl-NL" sz="1600" dirty="0"/>
              <a:t> </a:t>
            </a:r>
            <a:r>
              <a:rPr lang="en-GB" sz="1600" dirty="0"/>
              <a:t>effect can be counted by multiplying K by a factor:</a:t>
            </a:r>
          </a:p>
          <a:p>
            <a:pPr>
              <a:defRPr/>
            </a:pPr>
            <a:endParaRPr lang="en-GB" sz="1600" kern="0" dirty="0">
              <a:solidFill>
                <a:schemeClr val="bg2"/>
              </a:solidFill>
            </a:endParaRPr>
          </a:p>
          <a:p>
            <a:pPr>
              <a:defRPr/>
            </a:pPr>
            <a:endParaRPr lang="en-GB" kern="0" dirty="0">
              <a:solidFill>
                <a:schemeClr val="bg2"/>
              </a:solidFill>
            </a:endParaRPr>
          </a:p>
          <a:p>
            <a:pPr>
              <a:defRPr/>
            </a:pPr>
            <a:endParaRPr lang="en-GB" sz="1600" kern="0" dirty="0"/>
          </a:p>
        </p:txBody>
      </p:sp>
      <p:graphicFrame>
        <p:nvGraphicFramePr>
          <p:cNvPr id="66564" name="Object 3"/>
          <p:cNvGraphicFramePr>
            <a:graphicFrameLocks noChangeAspect="1"/>
          </p:cNvGraphicFramePr>
          <p:nvPr/>
        </p:nvGraphicFramePr>
        <p:xfrm>
          <a:off x="3071813" y="3321051"/>
          <a:ext cx="1871662" cy="423863"/>
        </p:xfrm>
        <a:graphic>
          <a:graphicData uri="http://schemas.openxmlformats.org/presentationml/2006/ole">
            <mc:AlternateContent xmlns:mc="http://schemas.openxmlformats.org/markup-compatibility/2006">
              <mc:Choice xmlns:v="urn:schemas-microsoft-com:vml" Requires="v">
                <p:oleObj name="Equation" r:id="rId3" imgW="1066800" imgH="241300" progId="Equation.DSMT4">
                  <p:embed/>
                </p:oleObj>
              </mc:Choice>
              <mc:Fallback>
                <p:oleObj name="Equation" r:id="rId3" imgW="1066800" imgH="2413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13" y="3321051"/>
                        <a:ext cx="1871662"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65" name="Object 4"/>
          <p:cNvGraphicFramePr>
            <a:graphicFrameLocks noChangeAspect="1"/>
          </p:cNvGraphicFramePr>
          <p:nvPr/>
        </p:nvGraphicFramePr>
        <p:xfrm>
          <a:off x="6272213" y="3136901"/>
          <a:ext cx="2055812" cy="874713"/>
        </p:xfrm>
        <a:graphic>
          <a:graphicData uri="http://schemas.openxmlformats.org/presentationml/2006/ole">
            <mc:AlternateContent xmlns:mc="http://schemas.openxmlformats.org/markup-compatibility/2006">
              <mc:Choice xmlns:v="urn:schemas-microsoft-com:vml" Requires="v">
                <p:oleObj name="Equation" r:id="rId5" imgW="1193800" imgH="508000" progId="Equation.DSMT4">
                  <p:embed/>
                </p:oleObj>
              </mc:Choice>
              <mc:Fallback>
                <p:oleObj name="Equation" r:id="rId5" imgW="1193800" imgH="5080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72213" y="3136901"/>
                        <a:ext cx="2055812" cy="87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656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82939" y="4005263"/>
            <a:ext cx="5792787" cy="2076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983432" y="404813"/>
            <a:ext cx="9117831" cy="760412"/>
          </a:xfrm>
          <a:prstGeom prst="rect">
            <a:avLst/>
          </a:prstGeom>
        </p:spPr>
        <p:txBody>
          <a:bodyPr/>
          <a:lstStyle>
            <a:lvl1pPr marL="857250" indent="-857250" algn="l" rtl="0" eaLnBrk="0" fontAlgn="base" hangingPunct="0">
              <a:spcBef>
                <a:spcPct val="0"/>
              </a:spcBef>
              <a:spcAft>
                <a:spcPct val="0"/>
              </a:spcAft>
              <a:defRPr sz="3300">
                <a:solidFill>
                  <a:schemeClr val="tx1"/>
                </a:solidFill>
                <a:latin typeface="+mj-lt"/>
                <a:ea typeface="+mj-ea"/>
                <a:cs typeface="+mj-cs"/>
              </a:defRPr>
            </a:lvl1pPr>
            <a:lvl2pPr marL="857250" indent="-857250" algn="l" rtl="0" eaLnBrk="0" fontAlgn="base" hangingPunct="0">
              <a:spcBef>
                <a:spcPct val="0"/>
              </a:spcBef>
              <a:spcAft>
                <a:spcPct val="0"/>
              </a:spcAft>
              <a:defRPr sz="3300">
                <a:solidFill>
                  <a:schemeClr val="tx1"/>
                </a:solidFill>
                <a:latin typeface="Bookman Old Style" pitchFamily="18" charset="0"/>
              </a:defRPr>
            </a:lvl2pPr>
            <a:lvl3pPr marL="857250" indent="-857250" algn="l" rtl="0" eaLnBrk="0" fontAlgn="base" hangingPunct="0">
              <a:spcBef>
                <a:spcPct val="0"/>
              </a:spcBef>
              <a:spcAft>
                <a:spcPct val="0"/>
              </a:spcAft>
              <a:defRPr sz="3300">
                <a:solidFill>
                  <a:schemeClr val="tx1"/>
                </a:solidFill>
                <a:latin typeface="Bookman Old Style" pitchFamily="18" charset="0"/>
              </a:defRPr>
            </a:lvl3pPr>
            <a:lvl4pPr marL="857250" indent="-857250" algn="l" rtl="0" eaLnBrk="0" fontAlgn="base" hangingPunct="0">
              <a:spcBef>
                <a:spcPct val="0"/>
              </a:spcBef>
              <a:spcAft>
                <a:spcPct val="0"/>
              </a:spcAft>
              <a:defRPr sz="3300">
                <a:solidFill>
                  <a:schemeClr val="tx1"/>
                </a:solidFill>
                <a:latin typeface="Bookman Old Style" pitchFamily="18" charset="0"/>
              </a:defRPr>
            </a:lvl4pPr>
            <a:lvl5pPr marL="857250" indent="-857250" algn="l" rtl="0" eaLnBrk="0" fontAlgn="base" hangingPunct="0">
              <a:spcBef>
                <a:spcPct val="0"/>
              </a:spcBef>
              <a:spcAft>
                <a:spcPct val="0"/>
              </a:spcAft>
              <a:defRPr sz="3300">
                <a:solidFill>
                  <a:schemeClr val="tx1"/>
                </a:solidFill>
                <a:latin typeface="Bookman Old Style" pitchFamily="18" charset="0"/>
              </a:defRPr>
            </a:lvl5pPr>
            <a:lvl6pPr marL="1314450" indent="-857250" algn="l" rtl="0" fontAlgn="base">
              <a:spcBef>
                <a:spcPct val="0"/>
              </a:spcBef>
              <a:spcAft>
                <a:spcPct val="0"/>
              </a:spcAft>
              <a:defRPr sz="3300">
                <a:solidFill>
                  <a:schemeClr val="tx1"/>
                </a:solidFill>
                <a:latin typeface="Bookman Old Style" pitchFamily="18" charset="0"/>
              </a:defRPr>
            </a:lvl6pPr>
            <a:lvl7pPr marL="1771650" indent="-857250" algn="l" rtl="0" fontAlgn="base">
              <a:spcBef>
                <a:spcPct val="0"/>
              </a:spcBef>
              <a:spcAft>
                <a:spcPct val="0"/>
              </a:spcAft>
              <a:defRPr sz="3300">
                <a:solidFill>
                  <a:schemeClr val="tx1"/>
                </a:solidFill>
                <a:latin typeface="Bookman Old Style" pitchFamily="18" charset="0"/>
              </a:defRPr>
            </a:lvl7pPr>
            <a:lvl8pPr marL="2228850" indent="-857250" algn="l" rtl="0" fontAlgn="base">
              <a:spcBef>
                <a:spcPct val="0"/>
              </a:spcBef>
              <a:spcAft>
                <a:spcPct val="0"/>
              </a:spcAft>
              <a:defRPr sz="3300">
                <a:solidFill>
                  <a:schemeClr val="tx1"/>
                </a:solidFill>
                <a:latin typeface="Bookman Old Style" pitchFamily="18" charset="0"/>
              </a:defRPr>
            </a:lvl8pPr>
            <a:lvl9pPr marL="2686050" indent="-857250" algn="l" rtl="0" fontAlgn="base">
              <a:spcBef>
                <a:spcPct val="0"/>
              </a:spcBef>
              <a:spcAft>
                <a:spcPct val="0"/>
              </a:spcAft>
              <a:defRPr sz="3300">
                <a:solidFill>
                  <a:schemeClr val="tx1"/>
                </a:solidFill>
                <a:latin typeface="Bookman Old Style" pitchFamily="18" charset="0"/>
              </a:defRPr>
            </a:lvl9pPr>
          </a:lstStyle>
          <a:p>
            <a:pPr>
              <a:defRPr/>
            </a:pPr>
            <a:r>
              <a:rPr lang="en-GB" kern="0" dirty="0">
                <a:solidFill>
                  <a:schemeClr val="bg2"/>
                </a:solidFill>
              </a:rPr>
              <a:t>What’s next</a:t>
            </a:r>
            <a:endParaRPr lang="nl-NL" kern="0" dirty="0">
              <a:solidFill>
                <a:schemeClr val="bg2"/>
              </a:solidFill>
            </a:endParaRPr>
          </a:p>
        </p:txBody>
      </p:sp>
      <p:sp>
        <p:nvSpPr>
          <p:cNvPr id="3" name="Content Placeholder 2"/>
          <p:cNvSpPr txBox="1">
            <a:spLocks/>
          </p:cNvSpPr>
          <p:nvPr/>
        </p:nvSpPr>
        <p:spPr>
          <a:xfrm>
            <a:off x="983432" y="1772816"/>
            <a:ext cx="10585176" cy="4105275"/>
          </a:xfrm>
          <a:prstGeom prst="rect">
            <a:avLst/>
          </a:prstGeom>
        </p:spPr>
        <p:txBody>
          <a:bodyPr/>
          <a:lstStyle>
            <a:lvl1pPr marL="195263" indent="-195263" algn="l" rtl="0" eaLnBrk="0" fontAlgn="base" hangingPunct="0">
              <a:lnSpc>
                <a:spcPts val="2500"/>
              </a:lnSpc>
              <a:spcBef>
                <a:spcPct val="0"/>
              </a:spcBef>
              <a:spcAft>
                <a:spcPct val="0"/>
              </a:spcAft>
              <a:buClr>
                <a:schemeClr val="bg2"/>
              </a:buClr>
              <a:buChar char="•"/>
              <a:defRPr sz="2000">
                <a:solidFill>
                  <a:schemeClr val="tx1"/>
                </a:solidFill>
                <a:latin typeface="+mn-lt"/>
                <a:ea typeface="+mn-ea"/>
                <a:cs typeface="+mn-cs"/>
              </a:defRPr>
            </a:lvl1pPr>
            <a:lvl2pPr marL="576263" indent="-190500" algn="l" rtl="0" eaLnBrk="0" fontAlgn="base" hangingPunct="0">
              <a:lnSpc>
                <a:spcPts val="2500"/>
              </a:lnSpc>
              <a:spcBef>
                <a:spcPct val="0"/>
              </a:spcBef>
              <a:spcAft>
                <a:spcPct val="0"/>
              </a:spcAft>
              <a:buClr>
                <a:schemeClr val="bg2"/>
              </a:buClr>
              <a:buFont typeface="Times" pitchFamily="18" charset="0"/>
              <a:buChar char="•"/>
              <a:defRPr>
                <a:solidFill>
                  <a:schemeClr val="tx1"/>
                </a:solidFill>
                <a:latin typeface="+mn-lt"/>
              </a:defRPr>
            </a:lvl2pPr>
            <a:lvl3pPr marL="957263" indent="-190500" algn="l" rtl="0" eaLnBrk="0" fontAlgn="base" hangingPunct="0">
              <a:lnSpc>
                <a:spcPts val="2500"/>
              </a:lnSpc>
              <a:spcBef>
                <a:spcPct val="0"/>
              </a:spcBef>
              <a:spcAft>
                <a:spcPct val="0"/>
              </a:spcAft>
              <a:buClr>
                <a:schemeClr val="bg2"/>
              </a:buClr>
              <a:buFont typeface="Times" pitchFamily="18" charset="0"/>
              <a:buChar char="•"/>
              <a:defRPr sz="1600">
                <a:solidFill>
                  <a:schemeClr val="tx1"/>
                </a:solidFill>
                <a:latin typeface="+mn-lt"/>
              </a:defRPr>
            </a:lvl3pPr>
            <a:lvl4pPr marL="1338263" indent="-190500" algn="l" rtl="0" eaLnBrk="0" fontAlgn="base" hangingPunct="0">
              <a:lnSpc>
                <a:spcPts val="2500"/>
              </a:lnSpc>
              <a:spcBef>
                <a:spcPct val="0"/>
              </a:spcBef>
              <a:spcAft>
                <a:spcPct val="0"/>
              </a:spcAft>
              <a:buClr>
                <a:schemeClr val="bg2"/>
              </a:buClr>
              <a:buFont typeface="Times" pitchFamily="18" charset="0"/>
              <a:buChar char="•"/>
              <a:defRPr sz="1400">
                <a:solidFill>
                  <a:schemeClr val="tx1"/>
                </a:solidFill>
                <a:latin typeface="+mn-lt"/>
              </a:defRPr>
            </a:lvl4pPr>
            <a:lvl5pPr marL="1719263" indent="-190500" algn="l" rtl="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mn-lt"/>
              </a:defRPr>
            </a:lvl5pPr>
            <a:lvl6pPr marL="2176463" indent="-190500" algn="l" rtl="0" fontAlgn="base">
              <a:lnSpc>
                <a:spcPts val="2500"/>
              </a:lnSpc>
              <a:spcBef>
                <a:spcPct val="0"/>
              </a:spcBef>
              <a:spcAft>
                <a:spcPct val="0"/>
              </a:spcAft>
              <a:buClr>
                <a:schemeClr val="bg2"/>
              </a:buClr>
              <a:buChar char="•"/>
              <a:defRPr sz="1200">
                <a:solidFill>
                  <a:schemeClr val="tx1"/>
                </a:solidFill>
                <a:latin typeface="+mn-lt"/>
              </a:defRPr>
            </a:lvl6pPr>
            <a:lvl7pPr marL="2633663" indent="-190500" algn="l" rtl="0" fontAlgn="base">
              <a:lnSpc>
                <a:spcPts val="2500"/>
              </a:lnSpc>
              <a:spcBef>
                <a:spcPct val="0"/>
              </a:spcBef>
              <a:spcAft>
                <a:spcPct val="0"/>
              </a:spcAft>
              <a:buClr>
                <a:schemeClr val="bg2"/>
              </a:buClr>
              <a:buChar char="•"/>
              <a:defRPr sz="1200">
                <a:solidFill>
                  <a:schemeClr val="tx1"/>
                </a:solidFill>
                <a:latin typeface="+mn-lt"/>
              </a:defRPr>
            </a:lvl7pPr>
            <a:lvl8pPr marL="3090863" indent="-190500" algn="l" rtl="0" fontAlgn="base">
              <a:lnSpc>
                <a:spcPts val="2500"/>
              </a:lnSpc>
              <a:spcBef>
                <a:spcPct val="0"/>
              </a:spcBef>
              <a:spcAft>
                <a:spcPct val="0"/>
              </a:spcAft>
              <a:buClr>
                <a:schemeClr val="bg2"/>
              </a:buClr>
              <a:buChar char="•"/>
              <a:defRPr sz="1200">
                <a:solidFill>
                  <a:schemeClr val="tx1"/>
                </a:solidFill>
                <a:latin typeface="+mn-lt"/>
              </a:defRPr>
            </a:lvl8pPr>
            <a:lvl9pPr marL="3548063" indent="-190500" algn="l" rtl="0" fontAlgn="base">
              <a:lnSpc>
                <a:spcPts val="2500"/>
              </a:lnSpc>
              <a:spcBef>
                <a:spcPct val="0"/>
              </a:spcBef>
              <a:spcAft>
                <a:spcPct val="0"/>
              </a:spcAft>
              <a:buClr>
                <a:schemeClr val="bg2"/>
              </a:buClr>
              <a:buChar char="•"/>
              <a:defRPr sz="1200">
                <a:solidFill>
                  <a:schemeClr val="tx1"/>
                </a:solidFill>
                <a:latin typeface="+mn-lt"/>
              </a:defRPr>
            </a:lvl9pPr>
          </a:lstStyle>
          <a:p>
            <a:pPr algn="just">
              <a:defRPr/>
            </a:pPr>
            <a:r>
              <a:rPr lang="en-GB" sz="1600" kern="0" dirty="0"/>
              <a:t>What if the calculated </a:t>
            </a:r>
            <a:r>
              <a:rPr lang="en-GB" sz="1600" kern="0" dirty="0" err="1"/>
              <a:t>CL</a:t>
            </a:r>
            <a:r>
              <a:rPr lang="en-GB" sz="1600" kern="0" baseline="-25000" dirty="0" err="1"/>
              <a:t>max</a:t>
            </a:r>
            <a:r>
              <a:rPr lang="en-GB" sz="1600" kern="0" dirty="0"/>
              <a:t> is still not enough to guarantee adequate performance during landing and take-off ?</a:t>
            </a:r>
          </a:p>
          <a:p>
            <a:pPr algn="just">
              <a:defRPr/>
            </a:pPr>
            <a:endParaRPr lang="en-GB" sz="1600" kern="0" dirty="0"/>
          </a:p>
          <a:p>
            <a:pPr algn="just">
              <a:defRPr/>
            </a:pPr>
            <a:endParaRPr lang="en-GB" sz="1600" kern="0" dirty="0"/>
          </a:p>
          <a:p>
            <a:pPr algn="just">
              <a:defRPr/>
            </a:pPr>
            <a:r>
              <a:rPr lang="en-GB" sz="1600" kern="0" dirty="0"/>
              <a:t>What are the other important sub-functions that are fulfilled by subsystem in the wing? How can we size them?</a:t>
            </a:r>
          </a:p>
          <a:p>
            <a:pPr algn="just">
              <a:defRPr/>
            </a:pPr>
            <a:endParaRPr lang="en-GB" sz="1600" kern="0" dirty="0"/>
          </a:p>
          <a:p>
            <a:pPr algn="just">
              <a:defRPr/>
            </a:pPr>
            <a:endParaRPr lang="en-GB" sz="1600" dirty="0"/>
          </a:p>
          <a:p>
            <a:pPr>
              <a:defRPr/>
            </a:pPr>
            <a:endParaRPr lang="en-GB" sz="1600" kern="0" dirty="0">
              <a:solidFill>
                <a:schemeClr val="bg2"/>
              </a:solidFill>
            </a:endParaRPr>
          </a:p>
          <a:p>
            <a:pPr>
              <a:defRPr/>
            </a:pPr>
            <a:endParaRPr lang="en-GB" kern="0" dirty="0">
              <a:solidFill>
                <a:schemeClr val="bg2"/>
              </a:solidFill>
            </a:endParaRPr>
          </a:p>
          <a:p>
            <a:pPr>
              <a:defRPr/>
            </a:pPr>
            <a:endParaRPr lang="en-GB" sz="1600" kern="0" dirty="0"/>
          </a:p>
        </p:txBody>
      </p:sp>
    </p:spTree>
    <p:extLst>
      <p:ext uri="{BB962C8B-B14F-4D97-AF65-F5344CB8AC3E}">
        <p14:creationId xmlns:p14="http://schemas.microsoft.com/office/powerpoint/2010/main" val="28841288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ChangeArrowheads="1"/>
          </p:cNvSpPr>
          <p:nvPr/>
        </p:nvSpPr>
        <p:spPr bwMode="auto">
          <a:xfrm>
            <a:off x="0" y="-5404"/>
            <a:ext cx="12192000" cy="6143625"/>
          </a:xfrm>
          <a:prstGeom prst="rect">
            <a:avLst/>
          </a:prstGeom>
          <a:solidFill>
            <a:schemeClr val="bg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r" eaLnBrk="1" hangingPunct="1">
              <a:lnSpc>
                <a:spcPct val="100000"/>
              </a:lnSpc>
              <a:buClrTx/>
              <a:buFontTx/>
              <a:buNone/>
            </a:pPr>
            <a:endParaRPr lang="nl-NL" altLang="en-US" sz="2200"/>
          </a:p>
        </p:txBody>
      </p:sp>
      <p:sp>
        <p:nvSpPr>
          <p:cNvPr id="28675" name="AutoShape 6"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5862638" y="-8953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endParaRPr lang="nl-NL" altLang="en-US" sz="1600"/>
          </a:p>
        </p:txBody>
      </p:sp>
      <p:sp>
        <p:nvSpPr>
          <p:cNvPr id="28676" name="AutoShape 8" descr="data:image/jpg;base64,/9j/4AAQSkZJRgABAQAAAQABAAD/2wCEAAkGBhQSERQTEhQTFBUWGB0WFRgYGRYWFxgWFxgYFRcYGxYaHiYeGRokGRgYHzEgJScpLCwsFx4yNTAqNSYrLCkBCQoKDgwOFg8PGjAkHyQvLCwsLCwsLCksLCwpLSwsLCkwKSwsLCksLCwpLCwsLCksLCwsLCwtLCwsLCwsLCwsKf/AABEIAMIBBAMBIgACEQEDEQH/xAAbAAEAAwEBAQEAAAAAAAAAAAAAAwQFAgEGB//EAEUQAAECBAMGAwUFBgUDBAMAAAECEQADITESIkEEEyMyUWEzQnEFUmKBkUNTY6HwFJKiscHRFSRygtKT4fEGNHPTRFSy/8QAFgEBAQEAAAAAAAAAAAAAAAAAAAEC/8QAJhEBAAIBBAECBwEAAAAAAAAAAAERAhIhQVExMtEDIlJhcYHhE//aAAwDAQACEQMRAD8A/cYQhAIQhAIQhAIQhAIQhAIQhAIQhAIQhAIQhAIQhAIQhAIQhAIQhAIQhAIQhAIQhAIQhAIQhAIRnzPbkoKw4swJDMXcFm7ubRJ/istll/D5qVGlvUEfKJcNaMulyEU0+1pZBILs7t8LPW2sWpa3AIsQ9aGvY2ipMTHl1CKw9oy94ZeNOMNlJY1GIM96B6R0vbUBOLEGchxWodxTUEEN2hZpnpPCKB9uSff78qrV7dj+6ehixs22omPgLtehDP6gdD9Ilws45R5hPCK/+Iy95u8acfuuxqHFPQx6rbUAA4gQVYKVzOQRSxBBfo0W00z0nhFKZ7YlJJBUxBayri+nY/unoWsz56UJKlkJSLk2Dlv5ws0z0khECdvlmgWg1aiga2aPZm2ISlSioMii2rhLA1AtQg+hgVKaEVJ/tWWhRSpTEaMo9DoK3H1HWLSVOARY1ECYmPL2EIQQhCEAhCEAhCEAhCEAhCEAhCEAhCEAhCEBjzkKCi8qSoLKgScIZIJIxdbkt61DtEklayvCZKBLNFMU0uqrGruDYXPzzdoTK3i8s3E6nqAkHGWVYhir3qUsS8XpCZeGdlmN5rnzKqlqUL8vQavGqy+k0fE5cTULz8KVhz1OHlCTgN6jLLevTpTU2YqzYqDEybWGtDb9dhjSd2Eqw7wZTVRAbLLqHGtDQa+gjdkjKlgwYUpSlqUhN8xRpyj1KSkK3zmSgpcMugUMlVHU1ZOlo72tKjLPDSoucpZQbMAdL0p3+cVVbv8AaeeYlZUKOyFkS6J7gCulTHftBSN0cRmFOJQJo7kqBGfyuW6M2kKno05+yirZJn/6sk091NT057W/ePSuj7JlKTieUmXZsICXobgKP6Ot4wlp2etZ1tN1atm1vbonXDGx7CEvPuyrR3wNqzYKdfyajQmMucaNPxY9V1+Uk2WvfAmTLUnFRbjEnKl1MfRqdOweTa0KUE8NKmmWLKZIJz3DH6s+sVJu6G0h1TUrKupCFnAnL0NGNPnpE22YMKHK231DR8bqpn8orbs0Kno05+yptOzLxFtmlEOalKX0Y83YfU9M2tt6SZasKEzD7qmY1DitLRgbYmRjViM18Rdt0z63r1v0T8MbntXDulYyoJo5TzDMKj5wqdtv6ac+f0rSZZZP+XQkYtCmmZOZm7P/ALfSJ9uCzLWBLSouGBYhQy1Io2v0+UVZC5eVp005qEksS6Mtmaw/3GJ9vCDKnYish83UUTROKlmtqS1YVPRWf3Utr2VRUcOzSyGDEpSTygNzh2qP9oGrjalDKHDUFBYdo+d9oiSZhxKmEsKjcscqWNeobtVWjx9DIbClnZgz3ZtYkxPMUVnG+SSEIRAhCEAhCEAhCEAhCEAhCEAhCEAhCEAjMXtU/CpkDEF0BSQ6HZubm1d2bpYacQbJtYmJxAKANQ4ZwQ4UOxB9eoEBBL2uYpymWhgpSarIJwqKXYIPTrHRnTQKolAf/Ir/AOuI9jnFKSyFK4ky2GnFX7xESrnlQIMqYxoay7GnvwWlce1DhxNIZiXM0gMHe8vTCr909I6HtFbWk2fxTYMfu+ik/URV25EqScI2ZawUkZEugJOMqDOwNS9K4hePJi0AFZkTsy1IIS5cEYlKACqpJH1J6mJbWjKWjvZ33cv/AKiv/riJe2TQsI3ctyCocQtlKQfs/iH5xNsu24yRgWlgC6g1yQzX0f5xFtjb6W+LkmcuLrK92KzMU4lbbMUHEpHMU86jVKyjSXZx9Ik/aZofhopfOvo9OHX5RT2ZKd2aTfGV96ftzWx/WouJ1ITxKTKjpNrlHw1/i17iCJf2ma4G7RUPzr0bXd0NbevSOJW3zVB92jmKedRqlRQ9JdnF48ShOJBaZRJH2upl0t2GosaGrVtiSkoFJp4y/vfvj2Pbp5qisBcVtM0Pw0UDnOs96cOpppHX7RNdt2itedTUbXd94gmoS0ykyqRpNL0F3SX0vi81OZ5AlONJaZykV3uplNcdg9RZTg5mC1sk/Gl2apBF6pUUljqHEerWXYAGjl3GvoR1/LrFb2O26o7Y5jO7+Iu+Kr+tY7mpG8chXKA4x+9rhDfU2ejPAeieo4cgzd1dHrkprft1itO9ozHITLfApls6qBCZhZg7sphQuR3eOJSEtJpNoek2mQ/DTT3bnuDFlbaXExn/ABTTcyrhi/zB9DAXdm2mcVLStCAxyEFTFLDUpuCWiUbQqmUVoKq6E1y0trFTZ5iVKxYZwytXePoRUPQit/lHktCWl0mUUTabTKse7S/a99CFxW0KAUcIy3qro9MtdLPr0jozlu2EWJuWp3wt0+p6RRmy0lM4NMq+k2vDA92vSytOwEqkpxgtM5Vfe9fT116UNGC9LW4f+47axWn7WoLKUICmSFF1FNyoAABKn5T+US7IGQNKntqew/l9bxSngb6Y4V4SLY/em3w/2gJRtM2nDRUPzr7X4dDW3r0gnappbhoqHGdYpS/Doa2Nb9IjShLopMogj7X4Kcvbta3TiShIMukyksi02nJTlDWtlsKUoFGV+1qCVBaWUSQCbDKwLSizYV1JriEWZqtqUktgSVIKEsVHDMGJ5lZVuj0oOsNhSndyaTdfvqZV9i2uo07AzCWlhSZzrP2upm1DJ7npcVNHCrJVtQnJXMWjdFQQUByXZSXBKUmqsJubFtI3oyJiQMDBb74Gu8aq11qAOv8ADU5TGvAIQhAIQhAIp7P7O3agUqVhCSnCasKYQDozd7xcjKWraMCgBmxEpJ3fLUJF6h8JLgHCSKqDkO9lUAkusozzT5agTVPcH8usTlYrxTf4KMajl7i76Rz7OfAq3iTev3q20i056D6n+3SCUy/a21pQsPtBklhlw4gQ6nLEM9GfRu8RnaWTMKtqynFLDoCSiYwPYuADSkWvaMmaVAy0SVBrrBd8zj0Lj84KkzcDYJJOIkAuBhahN8z/AM4383cH+czvcONiBUoNPUsDM2EimdLO7X7HlHrEm2LadLdQTkmXbrK6xJsUpYUcSZaQw5RcurXoA31McbZj30vAEk4F8xIDPK6Axmb5XTp2VNmmjdnip8ZXuffnsf1qLxMqaOJxU1HwVyj4a/nf5RFsxnbs5Zfiq8yvv1fAf10iSfMmgTCUS60YFZJy2A3dfziDtM0Y0cVPKfc6yu2vqLiho1bYpoKBxUnjL9w/bnseo/fFRSJVy56lJcSwMJFFLBul3Vgo9KBvnpHsZnYOWX4q/Mr75fwGAlmzA0zipLpHuVoPhLu497nFLPIJoxo4qTlPuVcydW1cajnFDRuJ2+aZllVTXMrofw6/nEijOxpyyuVXmV1Trg/r9dA69jqeU7hWeZUMx4i60pHU1YE3nCcoocNc3cP2vraHsp93VnxzHaoferiRT7ygHKHdx5j26PrAUZUwNJ4qb/B7h+Gl/h5vkYcaSnaQZiSCW8hd5MoWY/yN7RclhbSqJoep9xXwU16adWijPM552BIIxnHUH7CXRiKvamrO4cEJdnkBE3EJ7jdhLKwE0LpZWlDbWnqe0TA0vip5j7lMq/hp+Xroe9k3+9XjCW8lfK/UJ9Ll3fRo7lhbS6J5j191fwU/L+4QzZgwzuKmr6I+7Hw1t0Vy/ISqnDH4qeVXuUr6duvltdvJ5WETsqTegdzwxTkqbDX+kSS5awt2S5Ciam5I1w9kj0GrQFjYxkHqe2p7D+X1vFLaFgTpjrCeEm+Guab1i7sgy/M//wBHsP5RT2jHvl4Ak8JL4iR5ptmSXgOUTQ6OKnkPufB2p+VrdOZEwcPippLPuU5PhDWtS1ukiDOdGWVyHzK+D8OnpT06cyN9w8suiCBmUKZPww3pT0pQINhmjdyeKnX3KZV9i35cp7iJRMDDipHEWfJSs2vL61pympq/Gwmdu5OWX+8v3T8FPyiRG+y5ZfOo8yuq/wAP8/zOocTFjKN4k8a2X319ADof3DU1MbEZC95kxJQBvQ7FT850KBr+jGvAIQhAIQhAIQhAYaNlQUqJlYiZynOSvGI1L2pEkzYkOvgeUEUl3z9+w/KEpQwGq/GVYKI8c/DEsxQdeabyDyq+P4YCP9iQ6eBoXpLr+f6f1avI2RG7J3LneqD5Lb9QapswA+YtVrpUHRmm8p8qun+n9UitJUN2c0zxlWSo/br+H9MICU7Ch18CwpSX8Vq9h9R3byXsyEqSdy2RTnh9U6u+j/qkkyYkFbqmCnuq+MUy1/OyeoevjxqTWYRgUwwrAopN8nWmHoKvFEezsUKCZCi05VTgA/8AcHUkkteg0vE42ZI3pMouQHOT3RQDFQdq21iPZWwHPN8ZdMKm8c/C8dTdqlJ3jrUC3Q4jTphc/wDmBSUYMaOFZB+7LeEdD6fu60ivsaE4BwVeMvRFOOe+jD9z0fs+0EBaQDOJwtyKBqZbcyRQ/wB+harsm1HAGTNLzlNixAVnKZ8KFfom0S1peXLHE4JGUaS+g6E2YdeT0eXdDGjhEZT93Ssnvow/6etHpL2hZC6KDpDuF6gXeWOz/wCpXQtImZMK0VUHTqhRbwrlx8L25ldCUyylz2OGlUGHPMpSnEXShI+kdTkDeuUYsorlpm7kHv8AL60vY6JpljN5lu6WPiLehq79esdTJczeVmLGVNgk+av2RsWF6gk0hZt29lSU4ZPBN+kumQ9/7cvo8SZQbaOEb/BTgyqX/vaIZMtbSXmzmceUe4X+w9Ol1WaCZJbaONP5vdTXgyr8KBUdtDdDH4J5fw+o7xEiSlpfBPMfu/dX3/tePNycfjbRb3U9f/iiJTJQg455LsKGpZQFkUc9opNPZ8gK33BLBz9mxJlNbWh783alqZLTjHCPKfc6+ur/AMXq1CdhlomjHPJqwYuo4ASWwfU2rHSUK3rmbONCMKUuEgKqMZluSz9LDtCSI5lr7GMgo16fMxS2hIM6Y6MXCT7vvTepi5sIyD5/zPYfyEZm1Tm2wpJWAdnegJDpWegPvGBEWnRJS6OCeQ/d/B3jmRKTw+CfDOkv4O/9r26doWHRWZyHyq+D4Y5kKDy6zPDPlV8Hw/qkEQ7DKTu5PBOv3fur+Lv/ABesSiSlhwT4i9JfWb31c/v3vEewqG7k5puvlV7q/h/TD5yhYYVmc6/KrrNtlvf6DqHDhcsDDw8PGvk99daF9Tp5/VtiMiYoZKr8YXCgOdfw+v0T1D68AhCEAhCEAjO2iRPKCEqSFYioEk1GJWFBZNAElNRVw3c6MIDGkpmYFMuWBvlMChRPjnXeB/pEsxE1155XIH4avj/FiOUjITgSeMqrgE8cjpEsyXVfDRyDVPx9oD3DNdGeVYtw1dvxYoyBOMtXElpSJqnVgLv+0KdnmM3/AI7xdWgApJlobComqeldP05jK9nbEDIBVJllRmKJcg4Qqet0hxS7PR3JrY0pYRNVimYDLWWAJTKUcTA3WZrNTU9Y7EzaHRWSklBwjApamGB6CYE9PM0WFjMsJlyywD1Sw5qEXBIPRsx+aTs4CkcJBdBJLpdRdNTSp1fv9YtxwoSNgmqRmmIPGVQoUx/zB8omBLHoQb31i3+xLAWypVAPs1NQOKb1h/46CPNmlcM8JHjK1T9+e0Tql+Jw0UHUUyjt/a0KS7eIkzApACpIGEsBLUAA6KNvIg2RE3BzyvGX9mq++X+JFpMvMjho5TqnQy+2n9BFbYpWQcNA4y9U/fHt2/hEBLORNaZnlcteGrofxaRIpE3GnPK5VfZq6o/F9I4my6TOGgMkappQf27cg+Um7zpG7QMp1GhldtG/gFqQEnsl93Viccx2DB96uwct9Y82xMwqUJakpVgpiBNa4ag0r2MPY4aUzBOeZQWHEXQR1ODzOVKsoqSKZv8As/yEBiql7RMRJSidKBSWUUkqJUJYOFXSuMFqgMdSBPMRNadhVLoslbggEfsyQwLnzFP0+RrSdlWn9nITs6UDmOV1JCXBdmDJxWcWNNLolU2jhooe1ODK7fpoCfZZU0TF41oINUZS4TShGJr9P5xXM5RMsApKkksGIDlKqk4rAH86OQ0TbVMEslSpSWCbDC5JIAADXJYRU2fZimXLG7QVrJxGhBOFZP8AtD0EFSJQoifmSTXErD+Gk4eemUhug7mNDCrGAFI5T5T1/wBXp9D1pVXJZM5paKPqPuxr/wCLxOqVnA3aOVWo6+nf+I/MizsnL8z/ADMY/tKUs7S8soCkyXzB3GJQKXCgQC/cOEvYRsbJyD1P8zGZtqf8w+EK4YDnDRzMIqe4FtWgsTT3Z5sxSkjHLCsBymWoEDLpva+ocUvHchE3h55XIW4arZPxI9OzhWAKlSyCg0OEg8mjRW2GUy0p3aSN3iS5BocIIq71D68/1DvYUzd3Jzyu3DV7qvxIkQiblzyudX2aruv8T1iPYZXDk8JGuqfdX2/TmJgig4aC61i6a1m0/XvGCI1pmZMSpZG+DgIUC+M64zr2jYjImI5DgSONdw/Ovt3/AIjGvAIQhAIQhAIGEZu07DNUgpEzDmUXzOylLIDgiiQUn/a1jAQyWwK8TxlWKwPHNqgfrWJV4XX4vINZnx/F/b16VZfKrjlPGVThU456h/z+tokmGq/8yeQfc/H27drX6BD7ZUnAhJMwbwhBquoURjHM3Jj66NpHkhQ3ZpNB3qnLzGHHWw5gHIeg7XoDH7WVlSP2muFaq7khkJckjCXD0sWftX3Yhhkj/MFI3h+6H26uoF2P50NoLw0QlIKxxaD3pp0X8Xr08vZvE4cSPE5DYzG5hZlevWjVZojJqv8AzJoB9zSin0+E9OU9KeIOZA/aTyF/B0KR06gjW1+pHOzYd2fF8ZWsz78/EP11tE68LTPEt1me6L5v7axT2Y8P/wBy3GUPsfvyOg/RsbRMs+J/mTang+6O3cdP6wFhLYkeLynWY95fxfW+tbvV2HDgHi+MvWZ98fi9P4r1iQHMj/MnlP3PWW2ncaG4qHrW2M5KbSazlj7GvGV2F3H1FKwFybhaZ4lEjWZ0F83pdrK+KJBhxJ8W2pmdZTXV6PT3nuXqzjSZ/mTy08Hp8veT0uK1iS60ttJqk/c6mW2nxJ0PMKhw4WPY/hUfnmXd/EXd6v6x5t2zpWopVjYobKVDmJSXCSxvqOvePfYxeU4VizzM1K8RdaU+kR+0PaMuUt5k5MsYHAJQCrCXLAlyWpQa+kBmK9kpWmQCqcwtdnwBqWLFLscQqqnSzKQlKdoA3rAsKzLCTKucQr6mK6v/AFFISiSpW0iua6CWwgVAN3UmleYnR019r9rIG+UnaEgJUVk45TLH7MkAcwPMU9qXFwWpaMwpXtASDMwy04lh5lVFsAvoHV64DDYylQQtpmYlqzHwsshnLubtX5aZ3s2YrGQZ6Fb0lS+Ihk1FKPVmSGZwjuY0pc1REvjoGZ6YDTCtwTir+draipKWZhwzvEo+sz7sfFT8tPWJlYcf2vKdZj30zeunu9oqT8JE9551DYpYAyA6EEfUW7kmwFJSoATQAEqoDLAFen108t7vBc2Q5B6n+Z7mM7b0gzVvjDS0F0vTNNr0pevSNHYy6BV6mt9T3P66WjP2zxl8Td8JPuVzTfeH9rwHUpQdIImPhLsZvw1Faj0dnFbPClSd5JpNzS1BwV34Z0V/qs8QTVMZY/aCSUnD4Irk1YsAOxpR3Oar+zgqkGZPxqAzFW5IqhIdKS4Ac9/V7yWsY7XtinIEuU5WLvmmDyr+If107NL+1S6Zzzq86rPNtnv/ANqCjUthlp3ckickP2kDyqfy1setvmJ0yqB9pPOp/AFAZn9jqeWwYtU2dK2uWooCVkq3wpiJFFr0xEdf4bUbcjDZsHGK+M2E7v31dK+U6+U0DNG5AIQhBCEIQCEIQGXIUoILBLb5V1EfbnsP5/I2M0yYt10TyDzmnPXt609S1KspIwHIrxlVcB+OfjF7f0NjJMSHmZFcg8yac9fFp609S2UKvtiavCzJOKUtASVqAJKcTszHKHetAfnY2daxLLBPjK8xH/5CqWHYX1sbGn7Wlpw+GqyiMwrwyNJlaKNwRUWvE8lI3ZyK8ZWqRfaFhvET1b/cKG0F4Xitbromw856K7U8vS5u0eS1rxIolsB85rVLUYvRq1vf3o1IDzOGq3vJ6TPxKPXRPMK0OHlKBiRkUcivMmuYV8SvV2PMKixI82Za92aJ8ZXnI+3V2H60NonVMXxKJoPfNMo+mvu/1insyBu/DUOMrzJH25/EH60NjOpI4mRVB7yaZR+JT+G3zgJgteNFE8p856y6s1bnQ6VD1rbEteCyRxl+c/fK7B9foKVpIlAxIyK5TTEnrLq28q1NDa9c1bYkDAOGocZeqR9ufxB/XlNDYhbnTFtMokZR5zSlejeb3bCtXTKVrxpcJ5S+c9Zb0arOrTQVGIxVmpAEzIoMkeZOWg/FDWHu8hrYmUIGNPDUMppiT1k1beVamh5TWoxhJ7Kfd1YHHMdi4fer1YP9I6nJJWUslSSgAgnQkg5aghn07ekfsccKxTnmULOOIulCf5xzt8zCokS1TCEOAkjQkihW9SBZJ/pAVpWxjDKG6k1pe4MtiLVokDzUQn1TXnKUVT0sgBB3i8xDASZeAOwYYgVO48PR4qq9rKCJJGzTLOpRJCQQhJ98qUADiPMchoSCU8ySrDP4C0qWsKVnQkpSJUqhVjFUjCDUXLHoVtIklSyVIlkqTYqfKCwDYbXNvMfSIZeKWJZAQEElwFqYHCuoFadRVmdrkdheesiYMtsSCfVt5Xpb5xHKnoIRlVzF3UB5VFqzbsXYv6BnSLWZk1eGcWRR/OacMG+mhum79zMpa8YonlNMZ6jRvTQ3NeubMk4UzcCDhDunEkYXQCSk73Ld2yXcNc2kLSpVEKNFOHALvqkrDGuo8wqIFLuyHL8zq/mOrn9dLRVmFW+mYQPCRckeab0H9RFrYzkHqdX1OuI/z+lozPaa2XNISSrdICTSiiqYE3UNSIJG7rZ1qUoLISQUKSnMrlBQCRQu5q7GmGo1rzZi+ETg5Uu674VyiK1JoSfNe4800uWlO7AlqYIwgBQL8gfxKgDViz3GtWfsqSlJKVEmWS7oIqEJcPMJao942zVzSfDV7rWw7QvBJASD/uUBZQ1AezsAdexiVCppCeQcRVAsmxm0c38tGpWgYNX9nsZUg7tWYPzJq6Vn7wP9DcUFxOEhhkUc6/MmtZtPF9aVvYNlrLlctTIJYtOFcZUaLWLMwLN0ubMBGvGRMSMmU+NdwRzr+M9/3hQVA14BCEIBCEIBGUv2ISlScYYrxg4TlU92xMadQz17RqwgMJCcquNNTxlUASweeaA4f6n0NjJMFV8edRAPlpz15Q1r0tc6SSFEIOZIG+VoQazyL40/TWzGxlmLU8zOiiAbENz18Wlr5bXPlDK9opy+POOVRalWQ+iK27juHES7OlpZ404cZWiPv1fCLsaP2Yuxl2/EUkY01SqjK1QBYTa31BHpeOtlmK3ThaA81Wh1nq13ie3rWhdocrw6Kar486gD0RTm+GnKdBa5pHKBmQN/O5CbJLsUh+Uv619a5rRWp5mdFANDSi/xKaaJ5TX3fETFYkZ0VQS1Tqn8WtCA7HWodiRQ2ZPDPGnDiqFkj7cj3B/P5GxmUPE486g+CmUfDS/w/wBY62ZShL50DjK0I+3NPEH60NjOqYriZ0UHemUfi5f4f6wEATnRx51UnRHWXphrzCrG9xrW2ROTxpwecsWSPtlD3R1FPyMaKVqxIzo5SbGtZb03lb3Ys4qPNW2NSsHOjxl6EPx1fiDv1uKFmIczhSZx53L8AZx6DDcVy+tCRIU50jfzqpOiesvTB8Q0LPcVeWbMU0zOiiQ9xoPxRh1rluK0cyY1Y0grRynQ1rKem87mrFsQr74eexzwrk55lTQniLqQwr8o7mrG9bEoZRQVHNdq+lhrXpz7Jfd1IJxzHIoDxV2Dn+ZjzbcZURLWlBweYPUuEkZ6V1wn+kBQVNChIRvFkKLq7pCLd3LUzUxdHTVmyAszpm9mJKVEgtoJUpj5WNLuMq1CjuKxRtK5ckpnIQqZQKcEqSJRKSXNXzGmJsYLUy68rElO0Z5YY6AgUkSrcRLD5j1EFno2SQETVtNmHHnZrOz9zXVuwa0ehSSJRMxfMWOvKvXX0dVrUcW8asbY0cvQ9em8/NvnEUuYppfERUnrXKv8UvazqtYM6SK02cwnMtfmqKAHd4q+51d0/UuqWahCpgJXMCsJtlUA/apDvoRQVrm7mzFYZ2dFH604YN96MPW6OtHxFMlKCwErQMpIBdhmH4jgAAUZr2doFrmxHIKk3qS5NT3P60Fhk+1m3zFa0ulHKB5d8sXSdUjpGtsZdAcvervqe5/n9LRke1ZhG0UKRwnzA1IMwCyg12+cFjybOHUg7+aRgLchfkc8r3p5rCoepKX3bT5xeWW5DoivKQfVlXvXNdlKUMAC08hZ3NBgqeLmPevrWvCVqO7ZaOR+uqK+KXob5v8AUHzEZ3sdSTIkYZ05IDpAyGiQsCuHNRL66esWkiiePO8RY8mhmUtXlNK25RpB7HmqASjHLD5gGPuqDNvBoEKIY83zGgJiqZ0c6hqagzPxa2FK8ponyyFlWbk4sxfGZlYWfGoXCdGOotYWjbjKmqJCcySN8OpNFqo+NXb6GgsnVioQhCAQhCAR4VD9fSPYy1/+n0FKk4lspRX5KKIKSeW+Es5ewN6wHEpOQ5EeMqpLE8cjt/P5GxlmprMyS6IB5v8AX6N609S1Jv8ACkVrNDqKqTZoDlWI0CqBza0D7KT702tPFnf86QFScjMnJLqAbmtegDn+K5dg+Kv7OlESAChDiYpNVM7T1pvS/rXEaHlN3a/ZyUpcb5Vgwmz7KUATRRJYF/lpeKPsvZipRQqXOlpqt97tAzleIi4BzFWtcJNiIKvqTWZkl297qF/R/QcxqWjxCcyMksuhXmqap9Xu71qTX3pv8LT703/qzv8AlSINs2IIS6d8o0AG9nm5Aqyifm1IIh2ZLSzkl+MrzN9uew/n8jYzqT4mSXQe9bKD8v4bD1ij7KkFailcudLTVT73aOYqc3IepP7p0IjT/wALRXNN78ad/wA6fKAjCc6MkvlJ5u8vTVurGwqHrW2JDIGSWOMvzN9sew6fwinSfbthwIKkb1agKJ3s+tqUUa92/J4p+ytnKiUqlzpYqp97tAqVPqQ7kqp8PRSYC3NSwmZJYZI81qCtw1vh5E11TLgzpGCWMp83QytGq3p5U1Dx2fZSK5p1fxp3/Onyivt+yYEFaUz5hA5UzpoJ+RWxsO/SAn9jjhWAzzKCw4i6Cgp8oi2/NMCAEnEkO5qEhTqpWjUdhUivTj2PtC3KDKUhIcgkrLknEaqFXUpQv5HspMNvxGchpc0ghQKkrUmwBTRKgmpJGYg0gsI9nBO7Vhls+EDFqEqxetQ11cgPdJKWG0ZEBldWbgytWDfUWuLiCXIIQAJe0pKVBKQZ04g2DkpUSRUlyCKPekWdv9mhEtakCcpSiKCbPqThQ7pUSKNUWZ4IsYM7YJfL73fo39PnpESBSXkl1UfNfKvvX+L0o45XsrTSnDPIwFQVvpuEkFOVsVFVP0itKkqwyDgnuo5xvtoyaVq5oSczW6tAW5oyzskuj+a3DBu4w36puT8RlUjOBgl8qvN36N36HmNdDmlKsSgZe0YS7kTdpemIUbqEgsKuepD+TVLAxbraFFjabPbwxMDpd6l00BYhrloDc2Q5B6nV9Tq5/n9LDG9pB9sSMKTwiakhmUo3A/mQI0vZkxRC0qSpOBZSnEVKKkiysSql/nGcp5plzFSpiZhZCsKpyAlBUoXAD0c1/qmCxNLiE1Rkl8hPN/o+t7sb3D14kpfd5EVlnzX5K3L3vmvze9Z/wtPvTenizv8AnWKu27HgCCgTl5gk8aeWSbmii9hU9b3gijs6CE7MvdoY5Tm94LDNhF1FL3tajxoAUGSWXmLHNes2lz9Ks5yhqQbH7PSpSkFM4S0hKpZMzaBiCgXBCiGIPlq1HrQX/wDCke9Ou/jTv+fe0FVZg5DhR41wXPOv1+jjmNAzRrRlL2YJUpkzVYAFoeZOUFLO8OGpKaYR15hQUe/sc4qQlSk4SRUV/qAR8xBE0IQgEIQgEIQgEIQgEIQgEIQgM7bthUtRICWKUip5sMzGUkNYpcf7rR5sXswywpSWStTO7qSEpUcKQHFkHDRrDpGlCAzvaMlYUZiUhZSg4QXdKg5cAVL0DAh2i5sq1FCSoMogOLV9NIlhAIQhAIQhAIQhAIQhAeGKXsvaZiwveowMpk0IcYEqN7soqS+uB9YvQgEIQgEVNr3oUFIYpAqmjkuLEtpi1FcNmL24QFWYmYoJFEl3UxJYCoALC7JB7FXaO9hSsIAmF16mhr8kpp8onhAIQhAIQhAIQhAIQhAIQhAIQhAIQhAIQhAIQhAIQhAIQhAIQhAIQhAIQhAIQhAIQhAIQhAIQhAIQhAIQhAf/9k="/>
          <p:cNvSpPr>
            <a:spLocks noChangeAspect="1" noChangeArrowheads="1"/>
          </p:cNvSpPr>
          <p:nvPr/>
        </p:nvSpPr>
        <p:spPr bwMode="auto">
          <a:xfrm>
            <a:off x="6015038" y="-742950"/>
            <a:ext cx="2476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algn="ctr" eaLnBrk="1" fontAlgn="ctr" hangingPunct="1">
              <a:lnSpc>
                <a:spcPct val="100000"/>
              </a:lnSpc>
              <a:buClrTx/>
              <a:buFontTx/>
              <a:buNone/>
            </a:pPr>
            <a:endParaRPr lang="nl-NL" altLang="en-US" sz="1600"/>
          </a:p>
        </p:txBody>
      </p:sp>
      <p:sp>
        <p:nvSpPr>
          <p:cNvPr id="28677" name="Rectangle 4"/>
          <p:cNvSpPr>
            <a:spLocks noChangeArrowheads="1"/>
          </p:cNvSpPr>
          <p:nvPr/>
        </p:nvSpPr>
        <p:spPr bwMode="auto">
          <a:xfrm>
            <a:off x="407368" y="980966"/>
            <a:ext cx="74882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nl-NL" altLang="nl-NL" sz="3600" b="1" dirty="0">
                <a:solidFill>
                  <a:schemeClr val="bg1"/>
                </a:solidFill>
                <a:latin typeface="Bookman Old Style" pitchFamily="18" charset="0"/>
              </a:rPr>
              <a:t>3.Additional </a:t>
            </a:r>
            <a:r>
              <a:rPr lang="nl-NL" altLang="nl-NL" sz="3600" b="1" dirty="0" err="1">
                <a:solidFill>
                  <a:schemeClr val="bg1"/>
                </a:solidFill>
                <a:latin typeface="Bookman Old Style" pitchFamily="18" charset="0"/>
              </a:rPr>
              <a:t>exercises</a:t>
            </a:r>
            <a:endParaRPr lang="en-US" altLang="nl-NL" sz="3600" b="1" dirty="0">
              <a:solidFill>
                <a:schemeClr val="bg1"/>
              </a:solidFill>
              <a:latin typeface="Bookman Old Style" pitchFamily="18" charset="0"/>
            </a:endParaRPr>
          </a:p>
        </p:txBody>
      </p:sp>
    </p:spTree>
    <p:custDataLst>
      <p:tags r:id="rId1"/>
    </p:custDataLst>
    <p:extLst>
      <p:ext uri="{BB962C8B-B14F-4D97-AF65-F5344CB8AC3E}">
        <p14:creationId xmlns:p14="http://schemas.microsoft.com/office/powerpoint/2010/main" val="15640978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88386-9E8E-FA5E-59EA-13B6ED0E71FE}"/>
              </a:ext>
            </a:extLst>
          </p:cNvPr>
          <p:cNvSpPr>
            <a:spLocks noGrp="1"/>
          </p:cNvSpPr>
          <p:nvPr>
            <p:ph type="title"/>
            <p:custDataLst>
              <p:tags r:id="rId2"/>
            </p:custDataLst>
          </p:nvPr>
        </p:nvSpPr>
        <p:spPr/>
        <p:txBody>
          <a:bodyPr/>
          <a:lstStyle/>
          <a:p>
            <a:r>
              <a:rPr lang="en-FI"/>
              <a:t>Problem</a:t>
            </a:r>
          </a:p>
        </p:txBody>
      </p:sp>
      <p:sp>
        <p:nvSpPr>
          <p:cNvPr id="3" name="Content Placeholder 2">
            <a:extLst>
              <a:ext uri="{FF2B5EF4-FFF2-40B4-BE49-F238E27FC236}">
                <a16:creationId xmlns:a16="http://schemas.microsoft.com/office/drawing/2014/main" id="{1898C2F1-63E3-CA0A-B211-2BD7F19B519C}"/>
              </a:ext>
            </a:extLst>
          </p:cNvPr>
          <p:cNvSpPr>
            <a:spLocks noGrp="1"/>
          </p:cNvSpPr>
          <p:nvPr>
            <p:ph sz="quarter" idx="13"/>
            <p:custDataLst>
              <p:tags r:id="rId3"/>
            </p:custDataLst>
          </p:nvPr>
        </p:nvSpPr>
        <p:spPr/>
        <p:txBody>
          <a:bodyPr/>
          <a:lstStyle/>
          <a:p>
            <a:pPr marL="0" indent="0">
              <a:buNone/>
            </a:pPr>
            <a:r>
              <a:rPr lang="en-FI"/>
              <a:t> </a:t>
            </a:r>
            <a:endParaRPr lang="en-FI" dirty="0"/>
          </a:p>
        </p:txBody>
      </p:sp>
      <p:sp>
        <p:nvSpPr>
          <p:cNvPr id="4" name="Content Placeholder 3">
            <a:extLst>
              <a:ext uri="{FF2B5EF4-FFF2-40B4-BE49-F238E27FC236}">
                <a16:creationId xmlns:a16="http://schemas.microsoft.com/office/drawing/2014/main" id="{A6116703-7E4F-08C0-A881-34ECD0347D90}"/>
              </a:ext>
            </a:extLst>
          </p:cNvPr>
          <p:cNvSpPr>
            <a:spLocks noGrp="1"/>
          </p:cNvSpPr>
          <p:nvPr>
            <p:ph sz="quarter" idx="14"/>
            <p:custDataLst>
              <p:tags r:id="rId4"/>
            </p:custDataLst>
          </p:nvPr>
        </p:nvSpPr>
        <p:spPr/>
        <p:txBody>
          <a:bodyPr/>
          <a:lstStyle/>
          <a:p>
            <a:pPr marL="0" indent="0">
              <a:buNone/>
            </a:pPr>
            <a:r>
              <a:rPr lang="en-FI"/>
              <a:t> </a:t>
            </a:r>
            <a:endParaRPr lang="en-FI" dirty="0"/>
          </a:p>
        </p:txBody>
      </p:sp>
      <p:pic>
        <p:nvPicPr>
          <p:cNvPr id="5" name="Picture 4">
            <a:extLst>
              <a:ext uri="{FF2B5EF4-FFF2-40B4-BE49-F238E27FC236}">
                <a16:creationId xmlns:a16="http://schemas.microsoft.com/office/drawing/2014/main" id="{19B02DBB-90CD-A798-241A-382BE066FF8F}"/>
              </a:ext>
            </a:extLst>
          </p:cNvPr>
          <p:cNvPicPr>
            <a:picLocks/>
          </p:cNvPicPr>
          <p:nvPr>
            <p:custDataLst>
              <p:tags r:id="rId5"/>
            </p:custDataLst>
          </p:nvPr>
        </p:nvPicPr>
        <p:blipFill>
          <a:blip r:embed="rId38"/>
          <a:stretch>
            <a:fillRect/>
          </a:stretch>
        </p:blipFill>
        <p:spPr>
          <a:xfrm>
            <a:off x="4079776" y="754856"/>
            <a:ext cx="8010811" cy="1110457"/>
          </a:xfrm>
          <a:prstGeom prst="rect">
            <a:avLst/>
          </a:prstGeom>
        </p:spPr>
      </p:pic>
      <p:sp>
        <p:nvSpPr>
          <p:cNvPr id="6" name="Rounded Rectangle 5">
            <a:extLst>
              <a:ext uri="{FF2B5EF4-FFF2-40B4-BE49-F238E27FC236}">
                <a16:creationId xmlns:a16="http://schemas.microsoft.com/office/drawing/2014/main" id="{CF56DD43-EBC8-0C4A-8950-783FBA5E9A86}"/>
              </a:ext>
            </a:extLst>
          </p:cNvPr>
          <p:cNvSpPr/>
          <p:nvPr>
            <p:custDataLst>
              <p:tags r:id="rId6"/>
            </p:custDataLst>
          </p:nvPr>
        </p:nvSpPr>
        <p:spPr bwMode="auto">
          <a:xfrm>
            <a:off x="63500" y="63500"/>
            <a:ext cx="2032000" cy="3810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ahoma" pitchFamily="34" charset="0"/>
              </a:rPr>
              <a:t>66/95</a:t>
            </a:r>
          </a:p>
        </p:txBody>
      </p:sp>
      <p:sp>
        <p:nvSpPr>
          <p:cNvPr id="7" name="Rounded Rectangle 6">
            <a:extLst>
              <a:ext uri="{FF2B5EF4-FFF2-40B4-BE49-F238E27FC236}">
                <a16:creationId xmlns:a16="http://schemas.microsoft.com/office/drawing/2014/main" id="{9AB182D4-7A9E-FE4E-93AD-53A1C3E8FBA3}"/>
              </a:ext>
            </a:extLst>
          </p:cNvPr>
          <p:cNvSpPr/>
          <p:nvPr>
            <p:custDataLst>
              <p:tags r:id="rId7"/>
            </p:custDataLst>
          </p:nvPr>
        </p:nvSpPr>
        <p:spPr bwMode="auto">
          <a:xfrm>
            <a:off x="10096500" y="63500"/>
            <a:ext cx="2032000" cy="3810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ahoma" pitchFamily="34" charset="0"/>
              </a:rPr>
              <a:t>Question slide</a:t>
            </a:r>
          </a:p>
        </p:txBody>
      </p:sp>
      <p:sp>
        <p:nvSpPr>
          <p:cNvPr id="8" name="Snip Same Side Corner Rectangle 7">
            <a:extLst>
              <a:ext uri="{FF2B5EF4-FFF2-40B4-BE49-F238E27FC236}">
                <a16:creationId xmlns:a16="http://schemas.microsoft.com/office/drawing/2014/main" id="{E86D59BE-74FA-1949-8649-50CC57FA388D}"/>
              </a:ext>
            </a:extLst>
          </p:cNvPr>
          <p:cNvSpPr/>
          <p:nvPr>
            <p:custDataLst>
              <p:tags r:id="rId8"/>
            </p:custDataLst>
          </p:nvPr>
        </p:nvSpPr>
        <p:spPr bwMode="auto">
          <a:xfrm>
            <a:off x="165100" y="254000"/>
            <a:ext cx="177800" cy="127000"/>
          </a:xfrm>
          <a:prstGeom prst="snip2SameRect">
            <a:avLst/>
          </a:prstGeom>
          <a:solidFill>
            <a:srgbClr val="FFFFFF"/>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9" name="Oval 8">
            <a:extLst>
              <a:ext uri="{FF2B5EF4-FFF2-40B4-BE49-F238E27FC236}">
                <a16:creationId xmlns:a16="http://schemas.microsoft.com/office/drawing/2014/main" id="{7C0E434A-8B77-F44E-BBA6-F541EDB4B205}"/>
              </a:ext>
            </a:extLst>
          </p:cNvPr>
          <p:cNvSpPr/>
          <p:nvPr>
            <p:custDataLst>
              <p:tags r:id="rId9"/>
            </p:custDataLst>
          </p:nvPr>
        </p:nvSpPr>
        <p:spPr bwMode="auto">
          <a:xfrm>
            <a:off x="190500" y="127000"/>
            <a:ext cx="127000" cy="127000"/>
          </a:xfrm>
          <a:prstGeom prst="ellipse">
            <a:avLst/>
          </a:prstGeom>
          <a:solidFill>
            <a:srgbClr val="FFFFFF"/>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10" name="Oval 9">
            <a:extLst>
              <a:ext uri="{FF2B5EF4-FFF2-40B4-BE49-F238E27FC236}">
                <a16:creationId xmlns:a16="http://schemas.microsoft.com/office/drawing/2014/main" id="{776582CA-5085-5D4A-9BB1-D44B869EFBBA}"/>
              </a:ext>
            </a:extLst>
          </p:cNvPr>
          <p:cNvSpPr/>
          <p:nvPr>
            <p:custDataLst>
              <p:tags r:id="rId10"/>
            </p:custDataLst>
          </p:nvPr>
        </p:nvSpPr>
        <p:spPr bwMode="auto">
          <a:xfrm>
            <a:off x="11341100" y="6007100"/>
            <a:ext cx="762000" cy="762000"/>
          </a:xfrm>
          <a:prstGeom prst="ellipse">
            <a:avLst/>
          </a:prstGeom>
          <a:solidFill>
            <a:srgbClr val="ADC610">
              <a:alpha val="0"/>
              <a:alpha val="0"/>
            </a:srgbClr>
          </a:solidFill>
          <a:ln w="9525" cap="flat" cmpd="sng" algn="ctr">
            <a:solidFill>
              <a:srgbClr val="000000">
                <a:alpha val="0"/>
                <a:alpha val="0"/>
              </a:srgbClr>
            </a:solidFill>
            <a:prstDash val="solid"/>
            <a:round/>
            <a:headEnd type="none" w="med" len="med"/>
            <a:tailEnd type="none" w="med" len="med"/>
          </a:ln>
          <a:effectLst/>
        </p:spPr>
        <p:txBody>
          <a:bodyPr vertOverflow="clip" horzOverflow="clip" vert="horz" wrap="square" lIns="0" tIns="45720" rIns="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11" name="TextBox 10">
            <a:extLst>
              <a:ext uri="{FF2B5EF4-FFF2-40B4-BE49-F238E27FC236}">
                <a16:creationId xmlns:a16="http://schemas.microsoft.com/office/drawing/2014/main" id="{B85AA92F-A0FE-8746-83BD-E403384954E5}"/>
              </a:ext>
            </a:extLst>
          </p:cNvPr>
          <p:cNvSpPr txBox="1"/>
          <p:nvPr>
            <p:custDataLst>
              <p:tags r:id="rId11"/>
            </p:custDataLst>
          </p:nvPr>
        </p:nvSpPr>
        <p:spPr>
          <a:xfrm>
            <a:off x="3429000" y="88900"/>
            <a:ext cx="2413000" cy="381000"/>
          </a:xfrm>
          <a:prstGeom prst="rect">
            <a:avLst/>
          </a:prstGeom>
          <a:noFill/>
        </p:spPr>
        <p:txBody>
          <a:bodyPr vertOverflow="overflow" vert="horz" wrap="square" rtlCol="0" anchor="t">
            <a:spAutoFit/>
          </a:bodyPr>
          <a:lstStyle/>
          <a:p>
            <a:pPr algn="l"/>
            <a:r>
              <a:rPr lang="en-US"/>
              <a:t>Join at: </a:t>
            </a:r>
            <a:r>
              <a:rPr lang="en-US" b="1"/>
              <a:t>vevox.app</a:t>
            </a:r>
            <a:endParaRPr lang="en-US"/>
          </a:p>
        </p:txBody>
      </p:sp>
      <p:sp>
        <p:nvSpPr>
          <p:cNvPr id="12" name="TextBox 11">
            <a:extLst>
              <a:ext uri="{FF2B5EF4-FFF2-40B4-BE49-F238E27FC236}">
                <a16:creationId xmlns:a16="http://schemas.microsoft.com/office/drawing/2014/main" id="{ABCE7057-DED9-254F-894A-F79956F0E1EF}"/>
              </a:ext>
            </a:extLst>
          </p:cNvPr>
          <p:cNvSpPr txBox="1"/>
          <p:nvPr>
            <p:custDataLst>
              <p:tags r:id="rId12"/>
            </p:custDataLst>
          </p:nvPr>
        </p:nvSpPr>
        <p:spPr>
          <a:xfrm>
            <a:off x="6350000" y="101600"/>
            <a:ext cx="2413000" cy="381000"/>
          </a:xfrm>
          <a:prstGeom prst="rect">
            <a:avLst/>
          </a:prstGeom>
          <a:noFill/>
        </p:spPr>
        <p:txBody>
          <a:bodyPr vertOverflow="overflow" vert="horz" wrap="square" rtlCol="0" anchor="t">
            <a:spAutoFit/>
          </a:bodyPr>
          <a:lstStyle/>
          <a:p>
            <a:pPr algn="l"/>
            <a:r>
              <a:rPr lang="en-US"/>
              <a:t>ID: </a:t>
            </a:r>
            <a:r>
              <a:rPr lang="en-US" b="1"/>
              <a:t>165-949-420</a:t>
            </a:r>
            <a:endParaRPr lang="en-US"/>
          </a:p>
        </p:txBody>
      </p:sp>
      <p:sp>
        <p:nvSpPr>
          <p:cNvPr id="13" name="TextBox 12">
            <a:extLst>
              <a:ext uri="{FF2B5EF4-FFF2-40B4-BE49-F238E27FC236}">
                <a16:creationId xmlns:a16="http://schemas.microsoft.com/office/drawing/2014/main" id="{AC9B54C6-DA55-A54A-8CF5-FCF8EF2B316F}"/>
              </a:ext>
            </a:extLst>
          </p:cNvPr>
          <p:cNvSpPr txBox="1"/>
          <p:nvPr>
            <p:custDataLst>
              <p:tags r:id="rId13"/>
            </p:custDataLst>
          </p:nvPr>
        </p:nvSpPr>
        <p:spPr>
          <a:xfrm>
            <a:off x="850900" y="2081290"/>
            <a:ext cx="5156200" cy="317500"/>
          </a:xfrm>
          <a:prstGeom prst="rect">
            <a:avLst/>
          </a:prstGeom>
          <a:noFill/>
        </p:spPr>
        <p:txBody>
          <a:bodyPr vertOverflow="overflow" vert="horz" wrap="square" tIns="0" bIns="0" rtlCol="0" anchor="t">
            <a:spAutoFit/>
          </a:bodyPr>
          <a:lstStyle/>
          <a:p>
            <a:pPr algn="l"/>
            <a:r>
              <a:rPr lang="en-US"/>
              <a:t>AoA(trim) = 0.06 [deg]</a:t>
            </a:r>
          </a:p>
        </p:txBody>
      </p:sp>
      <p:sp>
        <p:nvSpPr>
          <p:cNvPr id="14" name="TextBox 13">
            <a:extLst>
              <a:ext uri="{FF2B5EF4-FFF2-40B4-BE49-F238E27FC236}">
                <a16:creationId xmlns:a16="http://schemas.microsoft.com/office/drawing/2014/main" id="{7CC42FCD-52D0-A14C-9E86-6624F7C3A8AE}"/>
              </a:ext>
            </a:extLst>
          </p:cNvPr>
          <p:cNvSpPr txBox="1"/>
          <p:nvPr>
            <p:custDataLst>
              <p:tags r:id="rId14"/>
            </p:custDataLst>
          </p:nvPr>
        </p:nvSpPr>
        <p:spPr>
          <a:xfrm>
            <a:off x="4991100" y="2246390"/>
            <a:ext cx="1016000" cy="635000"/>
          </a:xfrm>
          <a:prstGeom prst="rect">
            <a:avLst/>
          </a:prstGeom>
          <a:noFill/>
        </p:spPr>
        <p:txBody>
          <a:bodyPr vertOverflow="overflow" vert="horz" wrap="square" rtlCol="0" anchor="ctr" anchorCtr="0">
            <a:spAutoFit/>
          </a:bodyPr>
          <a:lstStyle/>
          <a:p>
            <a:pPr algn="r"/>
            <a:r>
              <a:rPr lang="en-US"/>
              <a:t>0%</a:t>
            </a:r>
          </a:p>
        </p:txBody>
      </p:sp>
      <p:sp>
        <p:nvSpPr>
          <p:cNvPr id="15" name="Rounded Rectangle 14">
            <a:extLst>
              <a:ext uri="{FF2B5EF4-FFF2-40B4-BE49-F238E27FC236}">
                <a16:creationId xmlns:a16="http://schemas.microsoft.com/office/drawing/2014/main" id="{502495B8-8795-5344-90F6-056828D7C57C}"/>
              </a:ext>
            </a:extLst>
          </p:cNvPr>
          <p:cNvSpPr/>
          <p:nvPr>
            <p:custDataLst>
              <p:tags r:id="rId15"/>
            </p:custDataLst>
          </p:nvPr>
        </p:nvSpPr>
        <p:spPr bwMode="auto">
          <a:xfrm>
            <a:off x="850900" y="239879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16" name="Rounded Rectangle 15">
            <a:extLst>
              <a:ext uri="{FF2B5EF4-FFF2-40B4-BE49-F238E27FC236}">
                <a16:creationId xmlns:a16="http://schemas.microsoft.com/office/drawing/2014/main" id="{B971F977-7366-1A4C-B5CC-2179475B95C7}"/>
              </a:ext>
            </a:extLst>
          </p:cNvPr>
          <p:cNvSpPr/>
          <p:nvPr>
            <p:custDataLst>
              <p:tags r:id="rId16"/>
            </p:custDataLst>
          </p:nvPr>
        </p:nvSpPr>
        <p:spPr bwMode="auto">
          <a:xfrm>
            <a:off x="850900" y="239879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17" name="TextBox 16">
            <a:extLst>
              <a:ext uri="{FF2B5EF4-FFF2-40B4-BE49-F238E27FC236}">
                <a16:creationId xmlns:a16="http://schemas.microsoft.com/office/drawing/2014/main" id="{B8CF6D53-E788-0346-8A3B-EB040492D569}"/>
              </a:ext>
            </a:extLst>
          </p:cNvPr>
          <p:cNvSpPr txBox="1"/>
          <p:nvPr>
            <p:custDataLst>
              <p:tags r:id="rId17"/>
            </p:custDataLst>
          </p:nvPr>
        </p:nvSpPr>
        <p:spPr>
          <a:xfrm>
            <a:off x="850900" y="2716290"/>
            <a:ext cx="5156200" cy="317500"/>
          </a:xfrm>
          <a:prstGeom prst="rect">
            <a:avLst/>
          </a:prstGeom>
          <a:noFill/>
        </p:spPr>
        <p:txBody>
          <a:bodyPr vertOverflow="overflow" vert="horz" wrap="square" tIns="0" bIns="0" rtlCol="0" anchor="t">
            <a:spAutoFit/>
          </a:bodyPr>
          <a:lstStyle/>
          <a:p>
            <a:pPr algn="l"/>
            <a:r>
              <a:rPr lang="en-US"/>
              <a:t>AoA(trim) = 0.29 [deg]</a:t>
            </a:r>
          </a:p>
        </p:txBody>
      </p:sp>
      <p:sp>
        <p:nvSpPr>
          <p:cNvPr id="18" name="TextBox 17">
            <a:extLst>
              <a:ext uri="{FF2B5EF4-FFF2-40B4-BE49-F238E27FC236}">
                <a16:creationId xmlns:a16="http://schemas.microsoft.com/office/drawing/2014/main" id="{E25E9E4C-573A-384B-9883-374E165BC234}"/>
              </a:ext>
            </a:extLst>
          </p:cNvPr>
          <p:cNvSpPr txBox="1"/>
          <p:nvPr>
            <p:custDataLst>
              <p:tags r:id="rId18"/>
            </p:custDataLst>
          </p:nvPr>
        </p:nvSpPr>
        <p:spPr>
          <a:xfrm>
            <a:off x="4991100" y="2881390"/>
            <a:ext cx="1016000" cy="635000"/>
          </a:xfrm>
          <a:prstGeom prst="rect">
            <a:avLst/>
          </a:prstGeom>
          <a:noFill/>
        </p:spPr>
        <p:txBody>
          <a:bodyPr vertOverflow="overflow" vert="horz" wrap="square" rtlCol="0" anchor="ctr" anchorCtr="0">
            <a:spAutoFit/>
          </a:bodyPr>
          <a:lstStyle/>
          <a:p>
            <a:pPr algn="r"/>
            <a:r>
              <a:rPr lang="en-US"/>
              <a:t>0%</a:t>
            </a:r>
          </a:p>
        </p:txBody>
      </p:sp>
      <p:sp>
        <p:nvSpPr>
          <p:cNvPr id="19" name="Rounded Rectangle 18">
            <a:extLst>
              <a:ext uri="{FF2B5EF4-FFF2-40B4-BE49-F238E27FC236}">
                <a16:creationId xmlns:a16="http://schemas.microsoft.com/office/drawing/2014/main" id="{B3C208FF-35A0-1646-9995-50E717329D96}"/>
              </a:ext>
            </a:extLst>
          </p:cNvPr>
          <p:cNvSpPr/>
          <p:nvPr>
            <p:custDataLst>
              <p:tags r:id="rId19"/>
            </p:custDataLst>
          </p:nvPr>
        </p:nvSpPr>
        <p:spPr bwMode="auto">
          <a:xfrm>
            <a:off x="850900" y="303379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20" name="Rounded Rectangle 19">
            <a:extLst>
              <a:ext uri="{FF2B5EF4-FFF2-40B4-BE49-F238E27FC236}">
                <a16:creationId xmlns:a16="http://schemas.microsoft.com/office/drawing/2014/main" id="{76B32388-8825-7343-9286-A200974849E6}"/>
              </a:ext>
            </a:extLst>
          </p:cNvPr>
          <p:cNvSpPr/>
          <p:nvPr>
            <p:custDataLst>
              <p:tags r:id="rId20"/>
            </p:custDataLst>
          </p:nvPr>
        </p:nvSpPr>
        <p:spPr bwMode="auto">
          <a:xfrm>
            <a:off x="850900" y="303379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21" name="TextBox 20">
            <a:extLst>
              <a:ext uri="{FF2B5EF4-FFF2-40B4-BE49-F238E27FC236}">
                <a16:creationId xmlns:a16="http://schemas.microsoft.com/office/drawing/2014/main" id="{E820BB46-D6FD-F243-A149-BF222A5A0F9F}"/>
              </a:ext>
            </a:extLst>
          </p:cNvPr>
          <p:cNvSpPr txBox="1"/>
          <p:nvPr>
            <p:custDataLst>
              <p:tags r:id="rId21"/>
            </p:custDataLst>
          </p:nvPr>
        </p:nvSpPr>
        <p:spPr>
          <a:xfrm>
            <a:off x="850900" y="3351290"/>
            <a:ext cx="5156200" cy="317500"/>
          </a:xfrm>
          <a:prstGeom prst="rect">
            <a:avLst/>
          </a:prstGeom>
          <a:noFill/>
        </p:spPr>
        <p:txBody>
          <a:bodyPr vertOverflow="overflow" vert="horz" wrap="square" tIns="0" bIns="0" rtlCol="0" anchor="t">
            <a:spAutoFit/>
          </a:bodyPr>
          <a:lstStyle/>
          <a:p>
            <a:pPr algn="l"/>
            <a:r>
              <a:rPr lang="en-US"/>
              <a:t>AoA(trim) = 0.55 [deg]</a:t>
            </a:r>
          </a:p>
        </p:txBody>
      </p:sp>
      <p:sp>
        <p:nvSpPr>
          <p:cNvPr id="22" name="TextBox 21">
            <a:extLst>
              <a:ext uri="{FF2B5EF4-FFF2-40B4-BE49-F238E27FC236}">
                <a16:creationId xmlns:a16="http://schemas.microsoft.com/office/drawing/2014/main" id="{FD477422-FB05-2347-B9DC-D62997A649EA}"/>
              </a:ext>
            </a:extLst>
          </p:cNvPr>
          <p:cNvSpPr txBox="1"/>
          <p:nvPr>
            <p:custDataLst>
              <p:tags r:id="rId22"/>
            </p:custDataLst>
          </p:nvPr>
        </p:nvSpPr>
        <p:spPr>
          <a:xfrm>
            <a:off x="4991100" y="3516390"/>
            <a:ext cx="1016000" cy="635000"/>
          </a:xfrm>
          <a:prstGeom prst="rect">
            <a:avLst/>
          </a:prstGeom>
          <a:noFill/>
        </p:spPr>
        <p:txBody>
          <a:bodyPr vertOverflow="overflow" vert="horz" wrap="square" rtlCol="0" anchor="ctr" anchorCtr="0">
            <a:spAutoFit/>
          </a:bodyPr>
          <a:lstStyle/>
          <a:p>
            <a:pPr algn="r"/>
            <a:r>
              <a:rPr lang="en-US"/>
              <a:t>0%</a:t>
            </a:r>
          </a:p>
        </p:txBody>
      </p:sp>
      <p:sp>
        <p:nvSpPr>
          <p:cNvPr id="23" name="Rounded Rectangle 22">
            <a:extLst>
              <a:ext uri="{FF2B5EF4-FFF2-40B4-BE49-F238E27FC236}">
                <a16:creationId xmlns:a16="http://schemas.microsoft.com/office/drawing/2014/main" id="{05ED9D00-E373-5C40-A4CF-51D53A3AF145}"/>
              </a:ext>
            </a:extLst>
          </p:cNvPr>
          <p:cNvSpPr/>
          <p:nvPr>
            <p:custDataLst>
              <p:tags r:id="rId23"/>
            </p:custDataLst>
          </p:nvPr>
        </p:nvSpPr>
        <p:spPr bwMode="auto">
          <a:xfrm>
            <a:off x="850900" y="366879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24" name="Rounded Rectangle 23">
            <a:extLst>
              <a:ext uri="{FF2B5EF4-FFF2-40B4-BE49-F238E27FC236}">
                <a16:creationId xmlns:a16="http://schemas.microsoft.com/office/drawing/2014/main" id="{3F540270-9C25-ED4D-8131-641F47C89D8B}"/>
              </a:ext>
            </a:extLst>
          </p:cNvPr>
          <p:cNvSpPr/>
          <p:nvPr>
            <p:custDataLst>
              <p:tags r:id="rId24"/>
            </p:custDataLst>
          </p:nvPr>
        </p:nvSpPr>
        <p:spPr bwMode="auto">
          <a:xfrm>
            <a:off x="850900" y="366879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25" name="TextBox 24">
            <a:extLst>
              <a:ext uri="{FF2B5EF4-FFF2-40B4-BE49-F238E27FC236}">
                <a16:creationId xmlns:a16="http://schemas.microsoft.com/office/drawing/2014/main" id="{F265DEAE-CD2B-FF44-B9D6-731CE9BA58E9}"/>
              </a:ext>
            </a:extLst>
          </p:cNvPr>
          <p:cNvSpPr txBox="1"/>
          <p:nvPr>
            <p:custDataLst>
              <p:tags r:id="rId25"/>
            </p:custDataLst>
          </p:nvPr>
        </p:nvSpPr>
        <p:spPr>
          <a:xfrm>
            <a:off x="850900" y="3986290"/>
            <a:ext cx="5156200" cy="317500"/>
          </a:xfrm>
          <a:prstGeom prst="rect">
            <a:avLst/>
          </a:prstGeom>
          <a:noFill/>
        </p:spPr>
        <p:txBody>
          <a:bodyPr vertOverflow="overflow" vert="horz" wrap="square" tIns="0" bIns="0" rtlCol="0" anchor="t">
            <a:spAutoFit/>
          </a:bodyPr>
          <a:lstStyle/>
          <a:p>
            <a:pPr algn="l"/>
            <a:r>
              <a:rPr lang="en-US"/>
              <a:t>AoA(trim) = 3.44 [deg]</a:t>
            </a:r>
          </a:p>
        </p:txBody>
      </p:sp>
      <p:sp>
        <p:nvSpPr>
          <p:cNvPr id="26" name="TextBox 25">
            <a:extLst>
              <a:ext uri="{FF2B5EF4-FFF2-40B4-BE49-F238E27FC236}">
                <a16:creationId xmlns:a16="http://schemas.microsoft.com/office/drawing/2014/main" id="{5BD90BDE-1A81-A54B-BDA4-7665879AD915}"/>
              </a:ext>
            </a:extLst>
          </p:cNvPr>
          <p:cNvSpPr txBox="1"/>
          <p:nvPr>
            <p:custDataLst>
              <p:tags r:id="rId26"/>
            </p:custDataLst>
          </p:nvPr>
        </p:nvSpPr>
        <p:spPr>
          <a:xfrm>
            <a:off x="4991100" y="4151390"/>
            <a:ext cx="1016000" cy="635000"/>
          </a:xfrm>
          <a:prstGeom prst="rect">
            <a:avLst/>
          </a:prstGeom>
          <a:noFill/>
        </p:spPr>
        <p:txBody>
          <a:bodyPr vertOverflow="overflow" vert="horz" wrap="square" rtlCol="0" anchor="ctr" anchorCtr="0">
            <a:spAutoFit/>
          </a:bodyPr>
          <a:lstStyle/>
          <a:p>
            <a:pPr algn="r"/>
            <a:r>
              <a:rPr lang="en-US"/>
              <a:t>0%</a:t>
            </a:r>
          </a:p>
        </p:txBody>
      </p:sp>
      <p:sp>
        <p:nvSpPr>
          <p:cNvPr id="27" name="Rounded Rectangle 26">
            <a:extLst>
              <a:ext uri="{FF2B5EF4-FFF2-40B4-BE49-F238E27FC236}">
                <a16:creationId xmlns:a16="http://schemas.microsoft.com/office/drawing/2014/main" id="{91AA8E15-A83B-C34F-BBA7-45C8761B7237}"/>
              </a:ext>
            </a:extLst>
          </p:cNvPr>
          <p:cNvSpPr/>
          <p:nvPr>
            <p:custDataLst>
              <p:tags r:id="rId27"/>
            </p:custDataLst>
          </p:nvPr>
        </p:nvSpPr>
        <p:spPr bwMode="auto">
          <a:xfrm>
            <a:off x="850900" y="430379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28" name="Rounded Rectangle 27">
            <a:extLst>
              <a:ext uri="{FF2B5EF4-FFF2-40B4-BE49-F238E27FC236}">
                <a16:creationId xmlns:a16="http://schemas.microsoft.com/office/drawing/2014/main" id="{45D8D95C-D832-394B-9775-0912F450D5DD}"/>
              </a:ext>
            </a:extLst>
          </p:cNvPr>
          <p:cNvSpPr/>
          <p:nvPr>
            <p:custDataLst>
              <p:tags r:id="rId28"/>
            </p:custDataLst>
          </p:nvPr>
        </p:nvSpPr>
        <p:spPr bwMode="auto">
          <a:xfrm>
            <a:off x="850900" y="430379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29" name="TextBox 28">
            <a:extLst>
              <a:ext uri="{FF2B5EF4-FFF2-40B4-BE49-F238E27FC236}">
                <a16:creationId xmlns:a16="http://schemas.microsoft.com/office/drawing/2014/main" id="{99393476-CA27-E742-A9C1-14738124E9D2}"/>
              </a:ext>
            </a:extLst>
          </p:cNvPr>
          <p:cNvSpPr txBox="1"/>
          <p:nvPr>
            <p:custDataLst>
              <p:tags r:id="rId29"/>
            </p:custDataLst>
          </p:nvPr>
        </p:nvSpPr>
        <p:spPr>
          <a:xfrm>
            <a:off x="850900" y="4621290"/>
            <a:ext cx="5156200" cy="317500"/>
          </a:xfrm>
          <a:prstGeom prst="rect">
            <a:avLst/>
          </a:prstGeom>
          <a:noFill/>
        </p:spPr>
        <p:txBody>
          <a:bodyPr vertOverflow="overflow" vert="horz" wrap="square" tIns="0" bIns="0" rtlCol="0" anchor="t">
            <a:spAutoFit/>
          </a:bodyPr>
          <a:lstStyle/>
          <a:p>
            <a:pPr algn="l"/>
            <a:r>
              <a:rPr lang="en-US"/>
              <a:t>AoA(trim) = 5.45 [deg]</a:t>
            </a:r>
          </a:p>
        </p:txBody>
      </p:sp>
      <p:sp>
        <p:nvSpPr>
          <p:cNvPr id="30" name="TextBox 29">
            <a:extLst>
              <a:ext uri="{FF2B5EF4-FFF2-40B4-BE49-F238E27FC236}">
                <a16:creationId xmlns:a16="http://schemas.microsoft.com/office/drawing/2014/main" id="{4FB1195B-69CD-8046-AAED-0ECD7DA05E32}"/>
              </a:ext>
            </a:extLst>
          </p:cNvPr>
          <p:cNvSpPr txBox="1"/>
          <p:nvPr>
            <p:custDataLst>
              <p:tags r:id="rId30"/>
            </p:custDataLst>
          </p:nvPr>
        </p:nvSpPr>
        <p:spPr>
          <a:xfrm>
            <a:off x="4991100" y="4786390"/>
            <a:ext cx="1016000" cy="635000"/>
          </a:xfrm>
          <a:prstGeom prst="rect">
            <a:avLst/>
          </a:prstGeom>
          <a:noFill/>
        </p:spPr>
        <p:txBody>
          <a:bodyPr vertOverflow="overflow" vert="horz" wrap="square" rtlCol="0" anchor="ctr" anchorCtr="0">
            <a:spAutoFit/>
          </a:bodyPr>
          <a:lstStyle/>
          <a:p>
            <a:pPr algn="r"/>
            <a:r>
              <a:rPr lang="en-US"/>
              <a:t>0%</a:t>
            </a:r>
          </a:p>
        </p:txBody>
      </p:sp>
      <p:sp>
        <p:nvSpPr>
          <p:cNvPr id="31" name="Rounded Rectangle 30">
            <a:extLst>
              <a:ext uri="{FF2B5EF4-FFF2-40B4-BE49-F238E27FC236}">
                <a16:creationId xmlns:a16="http://schemas.microsoft.com/office/drawing/2014/main" id="{67CDDA93-8A62-5C4A-8A61-AEF498C20BE0}"/>
              </a:ext>
            </a:extLst>
          </p:cNvPr>
          <p:cNvSpPr/>
          <p:nvPr>
            <p:custDataLst>
              <p:tags r:id="rId31"/>
            </p:custDataLst>
          </p:nvPr>
        </p:nvSpPr>
        <p:spPr bwMode="auto">
          <a:xfrm>
            <a:off x="850900" y="493879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32" name="Rounded Rectangle 31">
            <a:extLst>
              <a:ext uri="{FF2B5EF4-FFF2-40B4-BE49-F238E27FC236}">
                <a16:creationId xmlns:a16="http://schemas.microsoft.com/office/drawing/2014/main" id="{70FB80CF-7803-D740-A5CE-A1C95C6F40DA}"/>
              </a:ext>
            </a:extLst>
          </p:cNvPr>
          <p:cNvSpPr/>
          <p:nvPr>
            <p:custDataLst>
              <p:tags r:id="rId32"/>
            </p:custDataLst>
          </p:nvPr>
        </p:nvSpPr>
        <p:spPr bwMode="auto">
          <a:xfrm>
            <a:off x="850900" y="493879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33" name="TextBox 32">
            <a:extLst>
              <a:ext uri="{FF2B5EF4-FFF2-40B4-BE49-F238E27FC236}">
                <a16:creationId xmlns:a16="http://schemas.microsoft.com/office/drawing/2014/main" id="{F3415153-9850-234A-B029-E1C23DE29BCC}"/>
              </a:ext>
            </a:extLst>
          </p:cNvPr>
          <p:cNvSpPr txBox="1"/>
          <p:nvPr>
            <p:custDataLst>
              <p:tags r:id="rId33"/>
            </p:custDataLst>
          </p:nvPr>
        </p:nvSpPr>
        <p:spPr>
          <a:xfrm>
            <a:off x="850900" y="5256290"/>
            <a:ext cx="5156200" cy="317500"/>
          </a:xfrm>
          <a:prstGeom prst="rect">
            <a:avLst/>
          </a:prstGeom>
          <a:noFill/>
        </p:spPr>
        <p:txBody>
          <a:bodyPr vertOverflow="overflow" vert="horz" wrap="square" tIns="0" bIns="0" rtlCol="0" anchor="t">
            <a:spAutoFit/>
          </a:bodyPr>
          <a:lstStyle/>
          <a:p>
            <a:pPr algn="l"/>
            <a:r>
              <a:rPr lang="en-US"/>
              <a:t>Mot enough data</a:t>
            </a:r>
          </a:p>
        </p:txBody>
      </p:sp>
      <p:sp>
        <p:nvSpPr>
          <p:cNvPr id="34" name="TextBox 33">
            <a:extLst>
              <a:ext uri="{FF2B5EF4-FFF2-40B4-BE49-F238E27FC236}">
                <a16:creationId xmlns:a16="http://schemas.microsoft.com/office/drawing/2014/main" id="{270A619E-76E6-D649-8AB0-F40300910A14}"/>
              </a:ext>
            </a:extLst>
          </p:cNvPr>
          <p:cNvSpPr txBox="1"/>
          <p:nvPr>
            <p:custDataLst>
              <p:tags r:id="rId34"/>
            </p:custDataLst>
          </p:nvPr>
        </p:nvSpPr>
        <p:spPr>
          <a:xfrm>
            <a:off x="4991100" y="5421390"/>
            <a:ext cx="1016000" cy="635000"/>
          </a:xfrm>
          <a:prstGeom prst="rect">
            <a:avLst/>
          </a:prstGeom>
          <a:noFill/>
        </p:spPr>
        <p:txBody>
          <a:bodyPr vertOverflow="overflow" vert="horz" wrap="square" rtlCol="0" anchor="ctr" anchorCtr="0">
            <a:spAutoFit/>
          </a:bodyPr>
          <a:lstStyle/>
          <a:p>
            <a:pPr algn="r"/>
            <a:r>
              <a:rPr lang="en-US"/>
              <a:t>0%</a:t>
            </a:r>
          </a:p>
        </p:txBody>
      </p:sp>
      <p:sp>
        <p:nvSpPr>
          <p:cNvPr id="35" name="Rounded Rectangle 34">
            <a:extLst>
              <a:ext uri="{FF2B5EF4-FFF2-40B4-BE49-F238E27FC236}">
                <a16:creationId xmlns:a16="http://schemas.microsoft.com/office/drawing/2014/main" id="{5DA90BBA-4282-4344-A98A-6B7A7841F37D}"/>
              </a:ext>
            </a:extLst>
          </p:cNvPr>
          <p:cNvSpPr/>
          <p:nvPr>
            <p:custDataLst>
              <p:tags r:id="rId35"/>
            </p:custDataLst>
          </p:nvPr>
        </p:nvSpPr>
        <p:spPr bwMode="auto">
          <a:xfrm>
            <a:off x="850900" y="557379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36" name="Rounded Rectangle 35">
            <a:extLst>
              <a:ext uri="{FF2B5EF4-FFF2-40B4-BE49-F238E27FC236}">
                <a16:creationId xmlns:a16="http://schemas.microsoft.com/office/drawing/2014/main" id="{977B5EE7-145E-3D4C-ABC2-B9327D9BA85B}"/>
              </a:ext>
            </a:extLst>
          </p:cNvPr>
          <p:cNvSpPr/>
          <p:nvPr>
            <p:custDataLst>
              <p:tags r:id="rId36"/>
            </p:custDataLst>
          </p:nvPr>
        </p:nvSpPr>
        <p:spPr bwMode="auto">
          <a:xfrm>
            <a:off x="850900" y="557379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Tree>
    <p:custDataLst>
      <p:tags r:id="rId1"/>
    </p:custDataLst>
    <p:extLst>
      <p:ext uri="{BB962C8B-B14F-4D97-AF65-F5344CB8AC3E}">
        <p14:creationId xmlns:p14="http://schemas.microsoft.com/office/powerpoint/2010/main" val="2251494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88386-9E8E-FA5E-59EA-13B6ED0E71FE}"/>
              </a:ext>
            </a:extLst>
          </p:cNvPr>
          <p:cNvSpPr>
            <a:spLocks noGrp="1"/>
          </p:cNvSpPr>
          <p:nvPr>
            <p:ph type="title"/>
            <p:custDataLst>
              <p:tags r:id="rId2"/>
            </p:custDataLst>
          </p:nvPr>
        </p:nvSpPr>
        <p:spPr>
          <a:xfrm>
            <a:off x="1128183" y="678259"/>
            <a:ext cx="10212917" cy="760413"/>
          </a:xfrm>
        </p:spPr>
        <p:txBody>
          <a:bodyPr/>
          <a:lstStyle/>
          <a:p>
            <a:r>
              <a:rPr lang="en-FI"/>
              <a:t>What aircraft has superior performance (in terms of range)?</a:t>
            </a:r>
          </a:p>
        </p:txBody>
      </p:sp>
      <p:sp>
        <p:nvSpPr>
          <p:cNvPr id="3" name="Content Placeholder 2">
            <a:extLst>
              <a:ext uri="{FF2B5EF4-FFF2-40B4-BE49-F238E27FC236}">
                <a16:creationId xmlns:a16="http://schemas.microsoft.com/office/drawing/2014/main" id="{1898C2F1-63E3-CA0A-B211-2BD7F19B519C}"/>
              </a:ext>
            </a:extLst>
          </p:cNvPr>
          <p:cNvSpPr>
            <a:spLocks noGrp="1"/>
          </p:cNvSpPr>
          <p:nvPr>
            <p:ph sz="quarter" idx="13"/>
            <p:custDataLst>
              <p:tags r:id="rId3"/>
            </p:custDataLst>
          </p:nvPr>
        </p:nvSpPr>
        <p:spPr/>
        <p:txBody>
          <a:bodyPr/>
          <a:lstStyle/>
          <a:p>
            <a:pPr marL="0" indent="0">
              <a:buNone/>
            </a:pPr>
            <a:r>
              <a:rPr lang="en-FI"/>
              <a:t> </a:t>
            </a:r>
            <a:endParaRPr lang="en-FI" dirty="0"/>
          </a:p>
        </p:txBody>
      </p:sp>
      <p:sp>
        <p:nvSpPr>
          <p:cNvPr id="4" name="Content Placeholder 3">
            <a:extLst>
              <a:ext uri="{FF2B5EF4-FFF2-40B4-BE49-F238E27FC236}">
                <a16:creationId xmlns:a16="http://schemas.microsoft.com/office/drawing/2014/main" id="{A6116703-7E4F-08C0-A881-34ECD0347D90}"/>
              </a:ext>
            </a:extLst>
          </p:cNvPr>
          <p:cNvSpPr>
            <a:spLocks noGrp="1"/>
          </p:cNvSpPr>
          <p:nvPr>
            <p:ph sz="quarter" idx="14"/>
            <p:custDataLst>
              <p:tags r:id="rId4"/>
            </p:custDataLst>
          </p:nvPr>
        </p:nvSpPr>
        <p:spPr/>
        <p:txBody>
          <a:bodyPr/>
          <a:lstStyle/>
          <a:p>
            <a:pPr marL="0" indent="0">
              <a:buNone/>
            </a:pPr>
            <a:r>
              <a:rPr lang="en-FI"/>
              <a:t> </a:t>
            </a:r>
            <a:endParaRPr lang="en-FI" dirty="0"/>
          </a:p>
        </p:txBody>
      </p:sp>
      <p:pic>
        <p:nvPicPr>
          <p:cNvPr id="5" name="Picture 4">
            <a:extLst>
              <a:ext uri="{FF2B5EF4-FFF2-40B4-BE49-F238E27FC236}">
                <a16:creationId xmlns:a16="http://schemas.microsoft.com/office/drawing/2014/main" id="{39F11CCC-EC37-73E5-C447-79475FD8D265}"/>
              </a:ext>
            </a:extLst>
          </p:cNvPr>
          <p:cNvPicPr>
            <a:picLocks/>
          </p:cNvPicPr>
          <p:nvPr>
            <p:custDataLst>
              <p:tags r:id="rId5"/>
            </p:custDataLst>
          </p:nvPr>
        </p:nvPicPr>
        <p:blipFill>
          <a:blip r:embed="rId30"/>
          <a:stretch>
            <a:fillRect/>
          </a:stretch>
        </p:blipFill>
        <p:spPr>
          <a:xfrm>
            <a:off x="7839687" y="1219200"/>
            <a:ext cx="3319586" cy="4787900"/>
          </a:xfrm>
          <a:prstGeom prst="rect">
            <a:avLst/>
          </a:prstGeom>
        </p:spPr>
      </p:pic>
      <p:sp>
        <p:nvSpPr>
          <p:cNvPr id="6" name="Rounded Rectangle 5">
            <a:extLst>
              <a:ext uri="{FF2B5EF4-FFF2-40B4-BE49-F238E27FC236}">
                <a16:creationId xmlns:a16="http://schemas.microsoft.com/office/drawing/2014/main" id="{19D06A8B-C5C9-DC40-A78F-C253854E1885}"/>
              </a:ext>
            </a:extLst>
          </p:cNvPr>
          <p:cNvSpPr/>
          <p:nvPr>
            <p:custDataLst>
              <p:tags r:id="rId6"/>
            </p:custDataLst>
          </p:nvPr>
        </p:nvSpPr>
        <p:spPr bwMode="auto">
          <a:xfrm>
            <a:off x="63500" y="63500"/>
            <a:ext cx="2032000" cy="3810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ahoma" pitchFamily="34" charset="0"/>
              </a:rPr>
              <a:t>95/4</a:t>
            </a:r>
          </a:p>
        </p:txBody>
      </p:sp>
      <p:sp>
        <p:nvSpPr>
          <p:cNvPr id="7" name="Rounded Rectangle 6">
            <a:extLst>
              <a:ext uri="{FF2B5EF4-FFF2-40B4-BE49-F238E27FC236}">
                <a16:creationId xmlns:a16="http://schemas.microsoft.com/office/drawing/2014/main" id="{33F0FC87-736C-2A47-8830-8832D4C05682}"/>
              </a:ext>
            </a:extLst>
          </p:cNvPr>
          <p:cNvSpPr/>
          <p:nvPr>
            <p:custDataLst>
              <p:tags r:id="rId7"/>
            </p:custDataLst>
          </p:nvPr>
        </p:nvSpPr>
        <p:spPr bwMode="auto">
          <a:xfrm>
            <a:off x="10096500" y="63500"/>
            <a:ext cx="2032000" cy="3810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a:ln>
                  <a:noFill/>
                </a:ln>
                <a:solidFill>
                  <a:schemeClr val="tx1"/>
                </a:solidFill>
                <a:effectLst/>
                <a:latin typeface="Tahoma" pitchFamily="34" charset="0"/>
              </a:rPr>
              <a:t>Question slide</a:t>
            </a:r>
          </a:p>
        </p:txBody>
      </p:sp>
      <p:sp>
        <p:nvSpPr>
          <p:cNvPr id="8" name="Snip Same Side Corner Rectangle 7">
            <a:extLst>
              <a:ext uri="{FF2B5EF4-FFF2-40B4-BE49-F238E27FC236}">
                <a16:creationId xmlns:a16="http://schemas.microsoft.com/office/drawing/2014/main" id="{4F192B86-0FE6-CF4F-B2F6-FBF702355B11}"/>
              </a:ext>
            </a:extLst>
          </p:cNvPr>
          <p:cNvSpPr/>
          <p:nvPr>
            <p:custDataLst>
              <p:tags r:id="rId8"/>
            </p:custDataLst>
          </p:nvPr>
        </p:nvSpPr>
        <p:spPr bwMode="auto">
          <a:xfrm>
            <a:off x="165100" y="254000"/>
            <a:ext cx="177800" cy="127000"/>
          </a:xfrm>
          <a:prstGeom prst="snip2SameRect">
            <a:avLst/>
          </a:prstGeom>
          <a:solidFill>
            <a:srgbClr val="FFFFFF"/>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9" name="Oval 8">
            <a:extLst>
              <a:ext uri="{FF2B5EF4-FFF2-40B4-BE49-F238E27FC236}">
                <a16:creationId xmlns:a16="http://schemas.microsoft.com/office/drawing/2014/main" id="{CD621ED0-E3CB-F243-8AA1-B4B1D83E23C5}"/>
              </a:ext>
            </a:extLst>
          </p:cNvPr>
          <p:cNvSpPr/>
          <p:nvPr>
            <p:custDataLst>
              <p:tags r:id="rId9"/>
            </p:custDataLst>
          </p:nvPr>
        </p:nvSpPr>
        <p:spPr bwMode="auto">
          <a:xfrm>
            <a:off x="190500" y="127000"/>
            <a:ext cx="127000" cy="127000"/>
          </a:xfrm>
          <a:prstGeom prst="ellipse">
            <a:avLst/>
          </a:prstGeom>
          <a:solidFill>
            <a:srgbClr val="FFFFFF"/>
          </a:solidFill>
          <a:ln w="9525" cap="flat" cmpd="sng" algn="ctr">
            <a:solidFill>
              <a:schemeClr val="tx1"/>
            </a:solidFill>
            <a:prstDash val="solid"/>
            <a:round/>
            <a:headEnd type="none" w="med" len="med"/>
            <a:tailEnd type="none" w="med" len="med"/>
          </a:ln>
          <a:effectLst/>
        </p:spPr>
        <p:txBody>
          <a:bodyPr vertOverflow="clip" horzOverflow="clip"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10" name="Oval 9">
            <a:extLst>
              <a:ext uri="{FF2B5EF4-FFF2-40B4-BE49-F238E27FC236}">
                <a16:creationId xmlns:a16="http://schemas.microsoft.com/office/drawing/2014/main" id="{2237A262-2669-CC4A-A3C4-4F9A999F06EF}"/>
              </a:ext>
            </a:extLst>
          </p:cNvPr>
          <p:cNvSpPr/>
          <p:nvPr>
            <p:custDataLst>
              <p:tags r:id="rId10"/>
            </p:custDataLst>
          </p:nvPr>
        </p:nvSpPr>
        <p:spPr bwMode="auto">
          <a:xfrm>
            <a:off x="11341100" y="6007100"/>
            <a:ext cx="762000" cy="762000"/>
          </a:xfrm>
          <a:prstGeom prst="ellipse">
            <a:avLst/>
          </a:prstGeom>
          <a:solidFill>
            <a:srgbClr val="ADC610">
              <a:alpha val="0"/>
              <a:alpha val="0"/>
            </a:srgbClr>
          </a:solidFill>
          <a:ln w="9525" cap="flat" cmpd="sng" algn="ctr">
            <a:solidFill>
              <a:srgbClr val="000000">
                <a:alpha val="0"/>
                <a:alpha val="0"/>
              </a:srgbClr>
            </a:solidFill>
            <a:prstDash val="solid"/>
            <a:round/>
            <a:headEnd type="none" w="med" len="med"/>
            <a:tailEnd type="none" w="med" len="med"/>
          </a:ln>
          <a:effectLst/>
        </p:spPr>
        <p:txBody>
          <a:bodyPr vertOverflow="clip" horzOverflow="clip" vert="horz" wrap="square" lIns="0" tIns="45720" rIns="0" bIns="45720" numCol="1" rtlCol="0" anchor="ctr" anchorCtr="1"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chemeClr val="tx1"/>
              </a:solidFill>
              <a:effectLst/>
              <a:latin typeface="Tahoma" pitchFamily="34" charset="0"/>
            </a:endParaRPr>
          </a:p>
        </p:txBody>
      </p:sp>
      <p:sp>
        <p:nvSpPr>
          <p:cNvPr id="11" name="TextBox 10">
            <a:extLst>
              <a:ext uri="{FF2B5EF4-FFF2-40B4-BE49-F238E27FC236}">
                <a16:creationId xmlns:a16="http://schemas.microsoft.com/office/drawing/2014/main" id="{66BAB457-CF55-2B4E-8CA2-FDD5529F8771}"/>
              </a:ext>
            </a:extLst>
          </p:cNvPr>
          <p:cNvSpPr txBox="1"/>
          <p:nvPr>
            <p:custDataLst>
              <p:tags r:id="rId11"/>
            </p:custDataLst>
          </p:nvPr>
        </p:nvSpPr>
        <p:spPr>
          <a:xfrm>
            <a:off x="3429000" y="88900"/>
            <a:ext cx="2413000" cy="381000"/>
          </a:xfrm>
          <a:prstGeom prst="rect">
            <a:avLst/>
          </a:prstGeom>
          <a:noFill/>
        </p:spPr>
        <p:txBody>
          <a:bodyPr vertOverflow="overflow" vert="horz" wrap="square" rtlCol="0" anchor="t">
            <a:spAutoFit/>
          </a:bodyPr>
          <a:lstStyle/>
          <a:p>
            <a:pPr algn="l"/>
            <a:r>
              <a:rPr lang="en-US"/>
              <a:t>Join at: </a:t>
            </a:r>
            <a:r>
              <a:rPr lang="en-US" b="1"/>
              <a:t>vevox.app</a:t>
            </a:r>
            <a:endParaRPr lang="en-US"/>
          </a:p>
        </p:txBody>
      </p:sp>
      <p:sp>
        <p:nvSpPr>
          <p:cNvPr id="12" name="TextBox 11">
            <a:extLst>
              <a:ext uri="{FF2B5EF4-FFF2-40B4-BE49-F238E27FC236}">
                <a16:creationId xmlns:a16="http://schemas.microsoft.com/office/drawing/2014/main" id="{750273B5-D9FE-7147-BE97-D4C053207D95}"/>
              </a:ext>
            </a:extLst>
          </p:cNvPr>
          <p:cNvSpPr txBox="1"/>
          <p:nvPr>
            <p:custDataLst>
              <p:tags r:id="rId12"/>
            </p:custDataLst>
          </p:nvPr>
        </p:nvSpPr>
        <p:spPr>
          <a:xfrm>
            <a:off x="6350000" y="101600"/>
            <a:ext cx="2413000" cy="381000"/>
          </a:xfrm>
          <a:prstGeom prst="rect">
            <a:avLst/>
          </a:prstGeom>
          <a:noFill/>
        </p:spPr>
        <p:txBody>
          <a:bodyPr vertOverflow="overflow" vert="horz" wrap="square" rtlCol="0" anchor="t">
            <a:spAutoFit/>
          </a:bodyPr>
          <a:lstStyle/>
          <a:p>
            <a:pPr algn="l"/>
            <a:r>
              <a:rPr lang="en-US"/>
              <a:t>ID: </a:t>
            </a:r>
            <a:r>
              <a:rPr lang="en-US" b="1"/>
              <a:t>165-949-420</a:t>
            </a:r>
            <a:endParaRPr lang="en-US"/>
          </a:p>
        </p:txBody>
      </p:sp>
      <p:sp>
        <p:nvSpPr>
          <p:cNvPr id="13" name="TextBox 12">
            <a:extLst>
              <a:ext uri="{FF2B5EF4-FFF2-40B4-BE49-F238E27FC236}">
                <a16:creationId xmlns:a16="http://schemas.microsoft.com/office/drawing/2014/main" id="{1B14886B-0397-9F48-9660-F9F8DE741B89}"/>
              </a:ext>
            </a:extLst>
          </p:cNvPr>
          <p:cNvSpPr txBox="1"/>
          <p:nvPr>
            <p:custDataLst>
              <p:tags r:id="rId13"/>
            </p:custDataLst>
          </p:nvPr>
        </p:nvSpPr>
        <p:spPr>
          <a:xfrm>
            <a:off x="838200" y="1828800"/>
            <a:ext cx="5156200" cy="317500"/>
          </a:xfrm>
          <a:prstGeom prst="rect">
            <a:avLst/>
          </a:prstGeom>
          <a:noFill/>
        </p:spPr>
        <p:txBody>
          <a:bodyPr vertOverflow="overflow" vert="horz" wrap="square" tIns="0" bIns="0" rtlCol="0" anchor="t">
            <a:spAutoFit/>
          </a:bodyPr>
          <a:lstStyle/>
          <a:p>
            <a:pPr algn="l"/>
            <a:r>
              <a:rPr lang="en-US"/>
              <a:t>The B47 has superior performance</a:t>
            </a:r>
          </a:p>
        </p:txBody>
      </p:sp>
      <p:sp>
        <p:nvSpPr>
          <p:cNvPr id="14" name="TextBox 13">
            <a:extLst>
              <a:ext uri="{FF2B5EF4-FFF2-40B4-BE49-F238E27FC236}">
                <a16:creationId xmlns:a16="http://schemas.microsoft.com/office/drawing/2014/main" id="{9DF17C95-E439-BC46-A8C7-73A5E53A185C}"/>
              </a:ext>
            </a:extLst>
          </p:cNvPr>
          <p:cNvSpPr txBox="1"/>
          <p:nvPr>
            <p:custDataLst>
              <p:tags r:id="rId14"/>
            </p:custDataLst>
          </p:nvPr>
        </p:nvSpPr>
        <p:spPr>
          <a:xfrm>
            <a:off x="4978400" y="1993900"/>
            <a:ext cx="1016000" cy="635000"/>
          </a:xfrm>
          <a:prstGeom prst="rect">
            <a:avLst/>
          </a:prstGeom>
          <a:noFill/>
        </p:spPr>
        <p:txBody>
          <a:bodyPr vertOverflow="overflow" vert="horz" wrap="square" rtlCol="0" anchor="ctr" anchorCtr="0">
            <a:spAutoFit/>
          </a:bodyPr>
          <a:lstStyle/>
          <a:p>
            <a:pPr algn="r"/>
            <a:r>
              <a:rPr lang="en-US"/>
              <a:t>0%</a:t>
            </a:r>
          </a:p>
        </p:txBody>
      </p:sp>
      <p:sp>
        <p:nvSpPr>
          <p:cNvPr id="15" name="Rounded Rectangle 14">
            <a:extLst>
              <a:ext uri="{FF2B5EF4-FFF2-40B4-BE49-F238E27FC236}">
                <a16:creationId xmlns:a16="http://schemas.microsoft.com/office/drawing/2014/main" id="{30DA7800-40A4-104D-96B3-8DDB48AAA1E2}"/>
              </a:ext>
            </a:extLst>
          </p:cNvPr>
          <p:cNvSpPr/>
          <p:nvPr>
            <p:custDataLst>
              <p:tags r:id="rId15"/>
            </p:custDataLst>
          </p:nvPr>
        </p:nvSpPr>
        <p:spPr bwMode="auto">
          <a:xfrm>
            <a:off x="838200" y="214630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16" name="Rounded Rectangle 15">
            <a:extLst>
              <a:ext uri="{FF2B5EF4-FFF2-40B4-BE49-F238E27FC236}">
                <a16:creationId xmlns:a16="http://schemas.microsoft.com/office/drawing/2014/main" id="{5EA48154-C3A9-194D-984A-22A6A212D9DC}"/>
              </a:ext>
            </a:extLst>
          </p:cNvPr>
          <p:cNvSpPr/>
          <p:nvPr>
            <p:custDataLst>
              <p:tags r:id="rId16"/>
            </p:custDataLst>
          </p:nvPr>
        </p:nvSpPr>
        <p:spPr bwMode="auto">
          <a:xfrm>
            <a:off x="838200" y="214630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17" name="TextBox 16">
            <a:extLst>
              <a:ext uri="{FF2B5EF4-FFF2-40B4-BE49-F238E27FC236}">
                <a16:creationId xmlns:a16="http://schemas.microsoft.com/office/drawing/2014/main" id="{115D071E-01A7-394A-8F18-CD8D0DFA8B6B}"/>
              </a:ext>
            </a:extLst>
          </p:cNvPr>
          <p:cNvSpPr txBox="1"/>
          <p:nvPr>
            <p:custDataLst>
              <p:tags r:id="rId17"/>
            </p:custDataLst>
          </p:nvPr>
        </p:nvSpPr>
        <p:spPr>
          <a:xfrm>
            <a:off x="838200" y="2463800"/>
            <a:ext cx="5156200" cy="317500"/>
          </a:xfrm>
          <a:prstGeom prst="rect">
            <a:avLst/>
          </a:prstGeom>
          <a:noFill/>
        </p:spPr>
        <p:txBody>
          <a:bodyPr vertOverflow="overflow" vert="horz" wrap="square" tIns="0" bIns="0" rtlCol="0" anchor="t">
            <a:spAutoFit/>
          </a:bodyPr>
          <a:lstStyle/>
          <a:p>
            <a:pPr algn="l"/>
            <a:r>
              <a:rPr lang="en-US"/>
              <a:t>The Avro-Vulcan has superior performance</a:t>
            </a:r>
          </a:p>
        </p:txBody>
      </p:sp>
      <p:sp>
        <p:nvSpPr>
          <p:cNvPr id="18" name="TextBox 17">
            <a:extLst>
              <a:ext uri="{FF2B5EF4-FFF2-40B4-BE49-F238E27FC236}">
                <a16:creationId xmlns:a16="http://schemas.microsoft.com/office/drawing/2014/main" id="{D7E3746F-02B8-0341-87CA-DC204F48EF48}"/>
              </a:ext>
            </a:extLst>
          </p:cNvPr>
          <p:cNvSpPr txBox="1"/>
          <p:nvPr>
            <p:custDataLst>
              <p:tags r:id="rId18"/>
            </p:custDataLst>
          </p:nvPr>
        </p:nvSpPr>
        <p:spPr>
          <a:xfrm>
            <a:off x="4978400" y="2628900"/>
            <a:ext cx="1016000" cy="635000"/>
          </a:xfrm>
          <a:prstGeom prst="rect">
            <a:avLst/>
          </a:prstGeom>
          <a:noFill/>
        </p:spPr>
        <p:txBody>
          <a:bodyPr vertOverflow="overflow" vert="horz" wrap="square" rtlCol="0" anchor="ctr" anchorCtr="0">
            <a:spAutoFit/>
          </a:bodyPr>
          <a:lstStyle/>
          <a:p>
            <a:pPr algn="r"/>
            <a:r>
              <a:rPr lang="en-US"/>
              <a:t>0%</a:t>
            </a:r>
          </a:p>
        </p:txBody>
      </p:sp>
      <p:sp>
        <p:nvSpPr>
          <p:cNvPr id="19" name="Rounded Rectangle 18">
            <a:extLst>
              <a:ext uri="{FF2B5EF4-FFF2-40B4-BE49-F238E27FC236}">
                <a16:creationId xmlns:a16="http://schemas.microsoft.com/office/drawing/2014/main" id="{E8701EEA-92ED-FF4B-AECE-34300F140824}"/>
              </a:ext>
            </a:extLst>
          </p:cNvPr>
          <p:cNvSpPr/>
          <p:nvPr>
            <p:custDataLst>
              <p:tags r:id="rId19"/>
            </p:custDataLst>
          </p:nvPr>
        </p:nvSpPr>
        <p:spPr bwMode="auto">
          <a:xfrm>
            <a:off x="838200" y="278130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20" name="Rounded Rectangle 19">
            <a:extLst>
              <a:ext uri="{FF2B5EF4-FFF2-40B4-BE49-F238E27FC236}">
                <a16:creationId xmlns:a16="http://schemas.microsoft.com/office/drawing/2014/main" id="{A6E62C5D-1FA8-7D4A-A31A-7202A770C53B}"/>
              </a:ext>
            </a:extLst>
          </p:cNvPr>
          <p:cNvSpPr/>
          <p:nvPr>
            <p:custDataLst>
              <p:tags r:id="rId20"/>
            </p:custDataLst>
          </p:nvPr>
        </p:nvSpPr>
        <p:spPr bwMode="auto">
          <a:xfrm>
            <a:off x="838200" y="278130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21" name="TextBox 20">
            <a:extLst>
              <a:ext uri="{FF2B5EF4-FFF2-40B4-BE49-F238E27FC236}">
                <a16:creationId xmlns:a16="http://schemas.microsoft.com/office/drawing/2014/main" id="{CC42CDE8-C87B-364F-BDDB-4B13F02F8B58}"/>
              </a:ext>
            </a:extLst>
          </p:cNvPr>
          <p:cNvSpPr txBox="1"/>
          <p:nvPr>
            <p:custDataLst>
              <p:tags r:id="rId21"/>
            </p:custDataLst>
          </p:nvPr>
        </p:nvSpPr>
        <p:spPr>
          <a:xfrm>
            <a:off x="838200" y="3098800"/>
            <a:ext cx="5156200" cy="317500"/>
          </a:xfrm>
          <a:prstGeom prst="rect">
            <a:avLst/>
          </a:prstGeom>
          <a:noFill/>
        </p:spPr>
        <p:txBody>
          <a:bodyPr vertOverflow="overflow" vert="horz" wrap="square" tIns="0" bIns="0" rtlCol="0" anchor="t">
            <a:spAutoFit/>
          </a:bodyPr>
          <a:lstStyle/>
          <a:p>
            <a:pPr algn="l"/>
            <a:r>
              <a:rPr lang="en-US"/>
              <a:t>They both present equal/similar performance</a:t>
            </a:r>
          </a:p>
        </p:txBody>
      </p:sp>
      <p:sp>
        <p:nvSpPr>
          <p:cNvPr id="22" name="TextBox 21">
            <a:extLst>
              <a:ext uri="{FF2B5EF4-FFF2-40B4-BE49-F238E27FC236}">
                <a16:creationId xmlns:a16="http://schemas.microsoft.com/office/drawing/2014/main" id="{DAA25282-5B47-F843-8E85-836A058EB6C6}"/>
              </a:ext>
            </a:extLst>
          </p:cNvPr>
          <p:cNvSpPr txBox="1"/>
          <p:nvPr>
            <p:custDataLst>
              <p:tags r:id="rId22"/>
            </p:custDataLst>
          </p:nvPr>
        </p:nvSpPr>
        <p:spPr>
          <a:xfrm>
            <a:off x="4978400" y="3263900"/>
            <a:ext cx="1016000" cy="635000"/>
          </a:xfrm>
          <a:prstGeom prst="rect">
            <a:avLst/>
          </a:prstGeom>
          <a:noFill/>
        </p:spPr>
        <p:txBody>
          <a:bodyPr vertOverflow="overflow" vert="horz" wrap="square" rtlCol="0" anchor="ctr" anchorCtr="0">
            <a:spAutoFit/>
          </a:bodyPr>
          <a:lstStyle/>
          <a:p>
            <a:pPr algn="r"/>
            <a:r>
              <a:rPr lang="en-US"/>
              <a:t>0%</a:t>
            </a:r>
          </a:p>
        </p:txBody>
      </p:sp>
      <p:sp>
        <p:nvSpPr>
          <p:cNvPr id="23" name="Rounded Rectangle 22">
            <a:extLst>
              <a:ext uri="{FF2B5EF4-FFF2-40B4-BE49-F238E27FC236}">
                <a16:creationId xmlns:a16="http://schemas.microsoft.com/office/drawing/2014/main" id="{E676AB47-2C58-DF4F-BB19-8867CA3F99A4}"/>
              </a:ext>
            </a:extLst>
          </p:cNvPr>
          <p:cNvSpPr/>
          <p:nvPr>
            <p:custDataLst>
              <p:tags r:id="rId23"/>
            </p:custDataLst>
          </p:nvPr>
        </p:nvSpPr>
        <p:spPr bwMode="auto">
          <a:xfrm>
            <a:off x="838200" y="341630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24" name="Rounded Rectangle 23">
            <a:extLst>
              <a:ext uri="{FF2B5EF4-FFF2-40B4-BE49-F238E27FC236}">
                <a16:creationId xmlns:a16="http://schemas.microsoft.com/office/drawing/2014/main" id="{61F0BDD4-38E8-C84A-82F1-7FDC6DA72F11}"/>
              </a:ext>
            </a:extLst>
          </p:cNvPr>
          <p:cNvSpPr/>
          <p:nvPr>
            <p:custDataLst>
              <p:tags r:id="rId24"/>
            </p:custDataLst>
          </p:nvPr>
        </p:nvSpPr>
        <p:spPr bwMode="auto">
          <a:xfrm>
            <a:off x="838200" y="341630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
        <p:nvSpPr>
          <p:cNvPr id="25" name="TextBox 24">
            <a:extLst>
              <a:ext uri="{FF2B5EF4-FFF2-40B4-BE49-F238E27FC236}">
                <a16:creationId xmlns:a16="http://schemas.microsoft.com/office/drawing/2014/main" id="{3D2FE4A8-6A88-3D48-9BD5-477BDA5C502B}"/>
              </a:ext>
            </a:extLst>
          </p:cNvPr>
          <p:cNvSpPr txBox="1"/>
          <p:nvPr>
            <p:custDataLst>
              <p:tags r:id="rId25"/>
            </p:custDataLst>
          </p:nvPr>
        </p:nvSpPr>
        <p:spPr>
          <a:xfrm>
            <a:off x="838200" y="3733800"/>
            <a:ext cx="5156200" cy="317500"/>
          </a:xfrm>
          <a:prstGeom prst="rect">
            <a:avLst/>
          </a:prstGeom>
          <a:noFill/>
        </p:spPr>
        <p:txBody>
          <a:bodyPr vertOverflow="overflow" vert="horz" wrap="square" tIns="0" bIns="0" rtlCol="0" anchor="t">
            <a:spAutoFit/>
          </a:bodyPr>
          <a:lstStyle/>
          <a:p>
            <a:pPr algn="l"/>
            <a:r>
              <a:rPr lang="en-US"/>
              <a:t>Not enough information</a:t>
            </a:r>
          </a:p>
        </p:txBody>
      </p:sp>
      <p:sp>
        <p:nvSpPr>
          <p:cNvPr id="26" name="TextBox 25">
            <a:extLst>
              <a:ext uri="{FF2B5EF4-FFF2-40B4-BE49-F238E27FC236}">
                <a16:creationId xmlns:a16="http://schemas.microsoft.com/office/drawing/2014/main" id="{B194C8E8-8F6A-884F-A0D3-0DB14BC71477}"/>
              </a:ext>
            </a:extLst>
          </p:cNvPr>
          <p:cNvSpPr txBox="1"/>
          <p:nvPr>
            <p:custDataLst>
              <p:tags r:id="rId26"/>
            </p:custDataLst>
          </p:nvPr>
        </p:nvSpPr>
        <p:spPr>
          <a:xfrm>
            <a:off x="4978400" y="3898900"/>
            <a:ext cx="1016000" cy="635000"/>
          </a:xfrm>
          <a:prstGeom prst="rect">
            <a:avLst/>
          </a:prstGeom>
          <a:noFill/>
        </p:spPr>
        <p:txBody>
          <a:bodyPr vertOverflow="overflow" vert="horz" wrap="square" rtlCol="0" anchor="ctr" anchorCtr="0">
            <a:spAutoFit/>
          </a:bodyPr>
          <a:lstStyle/>
          <a:p>
            <a:pPr algn="r"/>
            <a:r>
              <a:rPr lang="en-US"/>
              <a:t>0%</a:t>
            </a:r>
          </a:p>
        </p:txBody>
      </p:sp>
      <p:sp>
        <p:nvSpPr>
          <p:cNvPr id="27" name="Rounded Rectangle 26">
            <a:extLst>
              <a:ext uri="{FF2B5EF4-FFF2-40B4-BE49-F238E27FC236}">
                <a16:creationId xmlns:a16="http://schemas.microsoft.com/office/drawing/2014/main" id="{FFAD2F9F-6DC0-5246-9280-507DCA9C28C7}"/>
              </a:ext>
            </a:extLst>
          </p:cNvPr>
          <p:cNvSpPr/>
          <p:nvPr>
            <p:custDataLst>
              <p:tags r:id="rId27"/>
            </p:custDataLst>
          </p:nvPr>
        </p:nvSpPr>
        <p:spPr bwMode="auto">
          <a:xfrm>
            <a:off x="838200" y="4051300"/>
            <a:ext cx="4140200" cy="317500"/>
          </a:xfrm>
          <a:prstGeom prst="roundRect">
            <a:avLst/>
          </a:prstGeom>
          <a:solidFill>
            <a:srgbClr val="ADC610">
              <a:alpha val="0"/>
            </a:srgbClr>
          </a:solidFill>
          <a:ln w="12700" cap="flat" cmpd="sng" algn="ctr">
            <a:solidFill>
              <a:srgbClr val="808080"/>
            </a:solidFill>
            <a:prstDash val="solid"/>
            <a:round/>
            <a:headEnd type="none" w="med" len="med"/>
            <a:tailEnd type="none" w="med" len="med"/>
          </a:ln>
          <a:effectLst/>
        </p:spPr>
        <p:txBody>
          <a:bodyPr vertOverflow="clip" horzOverflow="clip" vert="horz" wrap="square" lIns="91440" tIns="45720" rIns="9144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0000"/>
              </a:solidFill>
              <a:effectLst/>
              <a:latin typeface="Tahoma" pitchFamily="34" charset="0"/>
            </a:endParaRPr>
          </a:p>
        </p:txBody>
      </p:sp>
      <p:sp>
        <p:nvSpPr>
          <p:cNvPr id="28" name="Rounded Rectangle 27">
            <a:extLst>
              <a:ext uri="{FF2B5EF4-FFF2-40B4-BE49-F238E27FC236}">
                <a16:creationId xmlns:a16="http://schemas.microsoft.com/office/drawing/2014/main" id="{347875C9-CB1F-2346-9BA5-DF494321AD5F}"/>
              </a:ext>
            </a:extLst>
          </p:cNvPr>
          <p:cNvSpPr/>
          <p:nvPr>
            <p:custDataLst>
              <p:tags r:id="rId28"/>
            </p:custDataLst>
          </p:nvPr>
        </p:nvSpPr>
        <p:spPr bwMode="auto">
          <a:xfrm>
            <a:off x="838200" y="4051300"/>
            <a:ext cx="0" cy="3175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Overflow="clip" horzOverflow="clip" vert="horz" wrap="none" lIns="91440" tIns="45720" rIns="0" bIns="45720" numCol="1" rtlCol="0" anchor="ctr"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FFFFFF"/>
              </a:solidFill>
              <a:effectLst/>
              <a:latin typeface="Tahoma" pitchFamily="34" charset="0"/>
            </a:endParaRPr>
          </a:p>
        </p:txBody>
      </p:sp>
    </p:spTree>
    <p:custDataLst>
      <p:tags r:id="rId1"/>
    </p:custDataLst>
    <p:extLst>
      <p:ext uri="{BB962C8B-B14F-4D97-AF65-F5344CB8AC3E}">
        <p14:creationId xmlns:p14="http://schemas.microsoft.com/office/powerpoint/2010/main" val="39384213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Question" title="Question Text">
            <a:extLst>
              <a:ext uri="{FF2B5EF4-FFF2-40B4-BE49-F238E27FC236}">
                <a16:creationId xmlns:a16="http://schemas.microsoft.com/office/drawing/2014/main" id="{52A0C081-16B5-AD7F-106F-AABE03BE247F}"/>
              </a:ext>
            </a:extLst>
          </p:cNvPr>
          <p:cNvSpPr>
            <a:spLocks noGrp="1"/>
          </p:cNvSpPr>
          <p:nvPr>
            <p:ph type="title"/>
          </p:nvPr>
        </p:nvSpPr>
        <p:spPr>
          <a:xfrm>
            <a:off x="989013" y="115888"/>
            <a:ext cx="10213975" cy="760412"/>
          </a:xfrm>
        </p:spPr>
        <p:txBody>
          <a:bodyPr/>
          <a:lstStyle/>
          <a:p>
            <a:r>
              <a:rPr lang="en-US" altLang="en-US" dirty="0">
                <a:solidFill>
                  <a:schemeClr val="accent2">
                    <a:lumMod val="75000"/>
                    <a:lumOff val="25000"/>
                  </a:schemeClr>
                </a:solidFill>
                <a:ea typeface="MS PGothic" charset="-128"/>
              </a:rPr>
              <a:t>Design philosophies</a:t>
            </a:r>
          </a:p>
        </p:txBody>
      </p:sp>
      <p:pic>
        <p:nvPicPr>
          <p:cNvPr id="6" name="Picture 5">
            <a:extLst>
              <a:ext uri="{FF2B5EF4-FFF2-40B4-BE49-F238E27FC236}">
                <a16:creationId xmlns:a16="http://schemas.microsoft.com/office/drawing/2014/main" id="{E4BB1B8F-CFE4-2796-010A-107F7A202ACF}"/>
              </a:ext>
            </a:extLst>
          </p:cNvPr>
          <p:cNvPicPr>
            <a:picLocks noChangeAspect="1"/>
          </p:cNvPicPr>
          <p:nvPr/>
        </p:nvPicPr>
        <p:blipFill>
          <a:blip r:embed="rId2"/>
          <a:stretch>
            <a:fillRect/>
          </a:stretch>
        </p:blipFill>
        <p:spPr>
          <a:xfrm>
            <a:off x="6348616" y="1225715"/>
            <a:ext cx="5876722" cy="2716712"/>
          </a:xfrm>
          <a:prstGeom prst="rect">
            <a:avLst/>
          </a:prstGeom>
        </p:spPr>
      </p:pic>
      <p:graphicFrame>
        <p:nvGraphicFramePr>
          <p:cNvPr id="7" name="Table 7">
            <a:extLst>
              <a:ext uri="{FF2B5EF4-FFF2-40B4-BE49-F238E27FC236}">
                <a16:creationId xmlns:a16="http://schemas.microsoft.com/office/drawing/2014/main" id="{AE2A19AF-4468-1C08-C1BE-23D057CCABB9}"/>
              </a:ext>
            </a:extLst>
          </p:cNvPr>
          <p:cNvGraphicFramePr>
            <a:graphicFrameLocks noGrp="1"/>
          </p:cNvGraphicFramePr>
          <p:nvPr>
            <p:extLst>
              <p:ext uri="{D42A27DB-BD31-4B8C-83A1-F6EECF244321}">
                <p14:modId xmlns:p14="http://schemas.microsoft.com/office/powerpoint/2010/main" val="797043782"/>
              </p:ext>
            </p:extLst>
          </p:nvPr>
        </p:nvGraphicFramePr>
        <p:xfrm>
          <a:off x="989013" y="1052736"/>
          <a:ext cx="5400600" cy="2871270"/>
        </p:xfrm>
        <a:graphic>
          <a:graphicData uri="http://schemas.openxmlformats.org/drawingml/2006/table">
            <a:tbl>
              <a:tblPr firstRow="1" bandRow="1">
                <a:tableStyleId>{5C22544A-7EE6-4342-B048-85BDC9FD1C3A}</a:tableStyleId>
              </a:tblPr>
              <a:tblGrid>
                <a:gridCol w="1800200">
                  <a:extLst>
                    <a:ext uri="{9D8B030D-6E8A-4147-A177-3AD203B41FA5}">
                      <a16:colId xmlns:a16="http://schemas.microsoft.com/office/drawing/2014/main" val="108578703"/>
                    </a:ext>
                  </a:extLst>
                </a:gridCol>
                <a:gridCol w="1800200">
                  <a:extLst>
                    <a:ext uri="{9D8B030D-6E8A-4147-A177-3AD203B41FA5}">
                      <a16:colId xmlns:a16="http://schemas.microsoft.com/office/drawing/2014/main" val="3025009920"/>
                    </a:ext>
                  </a:extLst>
                </a:gridCol>
                <a:gridCol w="1800200">
                  <a:extLst>
                    <a:ext uri="{9D8B030D-6E8A-4147-A177-3AD203B41FA5}">
                      <a16:colId xmlns:a16="http://schemas.microsoft.com/office/drawing/2014/main" val="3631760840"/>
                    </a:ext>
                  </a:extLst>
                </a:gridCol>
              </a:tblGrid>
              <a:tr h="287127">
                <a:tc>
                  <a:txBody>
                    <a:bodyPr/>
                    <a:lstStyle/>
                    <a:p>
                      <a:r>
                        <a:rPr lang="en-NL" sz="1200" dirty="0"/>
                        <a:t>Parameter</a:t>
                      </a:r>
                    </a:p>
                  </a:txBody>
                  <a:tcPr/>
                </a:tc>
                <a:tc>
                  <a:txBody>
                    <a:bodyPr/>
                    <a:lstStyle/>
                    <a:p>
                      <a:r>
                        <a:rPr lang="en-NL" sz="1200" dirty="0"/>
                        <a:t>B47</a:t>
                      </a:r>
                    </a:p>
                  </a:txBody>
                  <a:tcPr/>
                </a:tc>
                <a:tc>
                  <a:txBody>
                    <a:bodyPr/>
                    <a:lstStyle/>
                    <a:p>
                      <a:r>
                        <a:rPr lang="en-NL" sz="1200" dirty="0"/>
                        <a:t>Avro Vulcan</a:t>
                      </a:r>
                    </a:p>
                  </a:txBody>
                  <a:tcPr/>
                </a:tc>
                <a:extLst>
                  <a:ext uri="{0D108BD9-81ED-4DB2-BD59-A6C34878D82A}">
                    <a16:rowId xmlns:a16="http://schemas.microsoft.com/office/drawing/2014/main" val="130622383"/>
                  </a:ext>
                </a:extLst>
              </a:tr>
              <a:tr h="287127">
                <a:tc>
                  <a:txBody>
                    <a:bodyPr/>
                    <a:lstStyle/>
                    <a:p>
                      <a:r>
                        <a:rPr lang="en-NL" sz="1200" dirty="0"/>
                        <a:t>Wing area [m2]</a:t>
                      </a:r>
                    </a:p>
                  </a:txBody>
                  <a:tcPr/>
                </a:tc>
                <a:tc>
                  <a:txBody>
                    <a:bodyPr/>
                    <a:lstStyle/>
                    <a:p>
                      <a:r>
                        <a:rPr lang="en-NL" sz="1200" dirty="0"/>
                        <a:t>133 </a:t>
                      </a:r>
                    </a:p>
                  </a:txBody>
                  <a:tcPr/>
                </a:tc>
                <a:tc>
                  <a:txBody>
                    <a:bodyPr/>
                    <a:lstStyle/>
                    <a:p>
                      <a:r>
                        <a:rPr lang="en-NL" sz="1200" dirty="0"/>
                        <a:t>320</a:t>
                      </a:r>
                    </a:p>
                  </a:txBody>
                  <a:tcPr/>
                </a:tc>
                <a:extLst>
                  <a:ext uri="{0D108BD9-81ED-4DB2-BD59-A6C34878D82A}">
                    <a16:rowId xmlns:a16="http://schemas.microsoft.com/office/drawing/2014/main" val="3391783158"/>
                  </a:ext>
                </a:extLst>
              </a:tr>
              <a:tr h="287127">
                <a:tc>
                  <a:txBody>
                    <a:bodyPr/>
                    <a:lstStyle/>
                    <a:p>
                      <a:r>
                        <a:rPr lang="en-NL" sz="1200" dirty="0"/>
                        <a:t>Span [m]</a:t>
                      </a:r>
                    </a:p>
                  </a:txBody>
                  <a:tcPr/>
                </a:tc>
                <a:tc>
                  <a:txBody>
                    <a:bodyPr/>
                    <a:lstStyle/>
                    <a:p>
                      <a:r>
                        <a:rPr lang="en-NL" sz="1200" dirty="0"/>
                        <a:t>35.4</a:t>
                      </a:r>
                    </a:p>
                  </a:txBody>
                  <a:tcPr/>
                </a:tc>
                <a:tc>
                  <a:txBody>
                    <a:bodyPr/>
                    <a:lstStyle/>
                    <a:p>
                      <a:r>
                        <a:rPr lang="en-NL" sz="1200" dirty="0"/>
                        <a:t>30.2</a:t>
                      </a:r>
                    </a:p>
                  </a:txBody>
                  <a:tcPr/>
                </a:tc>
                <a:extLst>
                  <a:ext uri="{0D108BD9-81ED-4DB2-BD59-A6C34878D82A}">
                    <a16:rowId xmlns:a16="http://schemas.microsoft.com/office/drawing/2014/main" val="4026317140"/>
                  </a:ext>
                </a:extLst>
              </a:tr>
              <a:tr h="287127">
                <a:tc>
                  <a:txBody>
                    <a:bodyPr/>
                    <a:lstStyle/>
                    <a:p>
                      <a:r>
                        <a:rPr lang="en-NL" sz="1200" dirty="0"/>
                        <a:t>Aspect Ratio</a:t>
                      </a:r>
                    </a:p>
                  </a:txBody>
                  <a:tcPr/>
                </a:tc>
                <a:tc>
                  <a:txBody>
                    <a:bodyPr/>
                    <a:lstStyle/>
                    <a:p>
                      <a:r>
                        <a:rPr lang="en-NL" sz="1200" dirty="0"/>
                        <a:t>9.43</a:t>
                      </a:r>
                    </a:p>
                  </a:txBody>
                  <a:tcPr/>
                </a:tc>
                <a:tc>
                  <a:txBody>
                    <a:bodyPr/>
                    <a:lstStyle/>
                    <a:p>
                      <a:r>
                        <a:rPr lang="en-NL" sz="1200" dirty="0"/>
                        <a:t>2.84</a:t>
                      </a:r>
                    </a:p>
                  </a:txBody>
                  <a:tcPr/>
                </a:tc>
                <a:extLst>
                  <a:ext uri="{0D108BD9-81ED-4DB2-BD59-A6C34878D82A}">
                    <a16:rowId xmlns:a16="http://schemas.microsoft.com/office/drawing/2014/main" val="2400056499"/>
                  </a:ext>
                </a:extLst>
              </a:tr>
              <a:tr h="287127">
                <a:tc>
                  <a:txBody>
                    <a:bodyPr/>
                    <a:lstStyle/>
                    <a:p>
                      <a:r>
                        <a:rPr lang="en-NL" sz="1200" dirty="0"/>
                        <a:t>W/S  [kg/m2]</a:t>
                      </a:r>
                    </a:p>
                  </a:txBody>
                  <a:tcPr/>
                </a:tc>
                <a:tc>
                  <a:txBody>
                    <a:bodyPr/>
                    <a:lstStyle/>
                    <a:p>
                      <a:r>
                        <a:rPr lang="en-NL" sz="1200" dirty="0"/>
                        <a:t>690</a:t>
                      </a:r>
                    </a:p>
                  </a:txBody>
                  <a:tcPr/>
                </a:tc>
                <a:tc>
                  <a:txBody>
                    <a:bodyPr/>
                    <a:lstStyle/>
                    <a:p>
                      <a:r>
                        <a:rPr lang="en-NL" sz="1200" dirty="0"/>
                        <a:t>212</a:t>
                      </a:r>
                    </a:p>
                  </a:txBody>
                  <a:tcPr/>
                </a:tc>
                <a:extLst>
                  <a:ext uri="{0D108BD9-81ED-4DB2-BD59-A6C34878D82A}">
                    <a16:rowId xmlns:a16="http://schemas.microsoft.com/office/drawing/2014/main" val="780285057"/>
                  </a:ext>
                </a:extLst>
              </a:tr>
              <a:tr h="287127">
                <a:tc>
                  <a:txBody>
                    <a:bodyPr/>
                    <a:lstStyle/>
                    <a:p>
                      <a:r>
                        <a:rPr lang="en-NL" sz="1200" dirty="0"/>
                        <a:t>CD0</a:t>
                      </a:r>
                    </a:p>
                  </a:txBody>
                  <a:tcPr/>
                </a:tc>
                <a:tc>
                  <a:txBody>
                    <a:bodyPr/>
                    <a:lstStyle/>
                    <a:p>
                      <a:r>
                        <a:rPr lang="en-NL" sz="1200" dirty="0"/>
                        <a:t>0.0198</a:t>
                      </a:r>
                    </a:p>
                  </a:txBody>
                  <a:tcPr/>
                </a:tc>
                <a:tc>
                  <a:txBody>
                    <a:bodyPr/>
                    <a:lstStyle/>
                    <a:p>
                      <a:r>
                        <a:rPr lang="en-NL" sz="1200" dirty="0"/>
                        <a:t>0.0069</a:t>
                      </a:r>
                    </a:p>
                  </a:txBody>
                  <a:tcPr/>
                </a:tc>
                <a:extLst>
                  <a:ext uri="{0D108BD9-81ED-4DB2-BD59-A6C34878D82A}">
                    <a16:rowId xmlns:a16="http://schemas.microsoft.com/office/drawing/2014/main" val="608224342"/>
                  </a:ext>
                </a:extLst>
              </a:tr>
              <a:tr h="287127">
                <a:tc>
                  <a:txBody>
                    <a:bodyPr/>
                    <a:lstStyle/>
                    <a:p>
                      <a:r>
                        <a:rPr lang="en-NL" sz="1200" dirty="0"/>
                        <a:t>CLdes</a:t>
                      </a:r>
                    </a:p>
                  </a:txBody>
                  <a:tcPr/>
                </a:tc>
                <a:tc>
                  <a:txBody>
                    <a:bodyPr/>
                    <a:lstStyle/>
                    <a:p>
                      <a:r>
                        <a:rPr lang="en-NL" sz="1200" dirty="0"/>
                        <a:t>0.68</a:t>
                      </a:r>
                    </a:p>
                  </a:txBody>
                  <a:tcPr/>
                </a:tc>
                <a:tc>
                  <a:txBody>
                    <a:bodyPr/>
                    <a:lstStyle/>
                    <a:p>
                      <a:r>
                        <a:rPr lang="en-NL" sz="1200" dirty="0"/>
                        <a:t>0.24</a:t>
                      </a:r>
                    </a:p>
                  </a:txBody>
                  <a:tcPr/>
                </a:tc>
                <a:extLst>
                  <a:ext uri="{0D108BD9-81ED-4DB2-BD59-A6C34878D82A}">
                    <a16:rowId xmlns:a16="http://schemas.microsoft.com/office/drawing/2014/main" val="2484995963"/>
                  </a:ext>
                </a:extLst>
              </a:tr>
              <a:tr h="287127">
                <a:tc>
                  <a:txBody>
                    <a:bodyPr/>
                    <a:lstStyle/>
                    <a:p>
                      <a:r>
                        <a:rPr lang="en-NL" sz="1200" dirty="0"/>
                        <a:t>L/D</a:t>
                      </a:r>
                    </a:p>
                  </a:txBody>
                  <a:tcPr/>
                </a:tc>
                <a:tc>
                  <a:txBody>
                    <a:bodyPr/>
                    <a:lstStyle/>
                    <a:p>
                      <a:r>
                        <a:rPr lang="en-NL" sz="1200" dirty="0"/>
                        <a:t>17.25</a:t>
                      </a:r>
                    </a:p>
                  </a:txBody>
                  <a:tcPr/>
                </a:tc>
                <a:tc>
                  <a:txBody>
                    <a:bodyPr/>
                    <a:lstStyle/>
                    <a:p>
                      <a:r>
                        <a:rPr lang="en-NL" sz="1200" dirty="0"/>
                        <a:t>17.1</a:t>
                      </a:r>
                    </a:p>
                  </a:txBody>
                  <a:tcPr/>
                </a:tc>
                <a:extLst>
                  <a:ext uri="{0D108BD9-81ED-4DB2-BD59-A6C34878D82A}">
                    <a16:rowId xmlns:a16="http://schemas.microsoft.com/office/drawing/2014/main" val="1697274981"/>
                  </a:ext>
                </a:extLst>
              </a:tr>
              <a:tr h="287127">
                <a:tc>
                  <a:txBody>
                    <a:bodyPr/>
                    <a:lstStyle/>
                    <a:p>
                      <a:r>
                        <a:rPr lang="en-NL" sz="1200" dirty="0"/>
                        <a:t>Aspect ratio wetted</a:t>
                      </a:r>
                    </a:p>
                  </a:txBody>
                  <a:tcPr/>
                </a:tc>
                <a:tc>
                  <a:txBody>
                    <a:bodyPr/>
                    <a:lstStyle/>
                    <a:p>
                      <a:r>
                        <a:rPr lang="en-NL" sz="1200" dirty="0"/>
                        <a:t>1.2</a:t>
                      </a:r>
                    </a:p>
                  </a:txBody>
                  <a:tcPr/>
                </a:tc>
                <a:tc>
                  <a:txBody>
                    <a:bodyPr/>
                    <a:lstStyle/>
                    <a:p>
                      <a:r>
                        <a:rPr lang="en-NL" sz="1200" dirty="0"/>
                        <a:t>1.1</a:t>
                      </a:r>
                    </a:p>
                  </a:txBody>
                  <a:tcPr/>
                </a:tc>
                <a:extLst>
                  <a:ext uri="{0D108BD9-81ED-4DB2-BD59-A6C34878D82A}">
                    <a16:rowId xmlns:a16="http://schemas.microsoft.com/office/drawing/2014/main" val="554758826"/>
                  </a:ext>
                </a:extLst>
              </a:tr>
              <a:tr h="287127">
                <a:tc>
                  <a:txBody>
                    <a:bodyPr/>
                    <a:lstStyle/>
                    <a:p>
                      <a:endParaRPr lang="en-NL" sz="1200" dirty="0"/>
                    </a:p>
                  </a:txBody>
                  <a:tcPr/>
                </a:tc>
                <a:tc>
                  <a:txBody>
                    <a:bodyPr/>
                    <a:lstStyle/>
                    <a:p>
                      <a:endParaRPr lang="en-NL" sz="1200" dirty="0"/>
                    </a:p>
                  </a:txBody>
                  <a:tcPr/>
                </a:tc>
                <a:tc>
                  <a:txBody>
                    <a:bodyPr/>
                    <a:lstStyle/>
                    <a:p>
                      <a:endParaRPr lang="en-NL" sz="1200" dirty="0"/>
                    </a:p>
                  </a:txBody>
                  <a:tcPr/>
                </a:tc>
                <a:extLst>
                  <a:ext uri="{0D108BD9-81ED-4DB2-BD59-A6C34878D82A}">
                    <a16:rowId xmlns:a16="http://schemas.microsoft.com/office/drawing/2014/main" val="2784911941"/>
                  </a:ext>
                </a:extLst>
              </a:tr>
            </a:tbl>
          </a:graphicData>
        </a:graphic>
      </p:graphicFrame>
      <p:sp>
        <p:nvSpPr>
          <p:cNvPr id="8" name="Text Box 4">
            <a:extLst>
              <a:ext uri="{FF2B5EF4-FFF2-40B4-BE49-F238E27FC236}">
                <a16:creationId xmlns:a16="http://schemas.microsoft.com/office/drawing/2014/main" id="{402D1F49-9A57-68D9-86EC-A07288F61C8A}"/>
              </a:ext>
            </a:extLst>
          </p:cNvPr>
          <p:cNvSpPr txBox="1">
            <a:spLocks noChangeArrowheads="1"/>
          </p:cNvSpPr>
          <p:nvPr/>
        </p:nvSpPr>
        <p:spPr bwMode="auto">
          <a:xfrm>
            <a:off x="881001" y="4255000"/>
            <a:ext cx="110172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lgn="l" eaLnBrk="0" fontAlgn="base" hangingPunct="0">
              <a:lnSpc>
                <a:spcPts val="2500"/>
              </a:lnSpc>
              <a:buClr>
                <a:schemeClr val="bg2"/>
              </a:buClr>
              <a:buChar char="•"/>
              <a:defRPr sz="2000">
                <a:solidFill>
                  <a:schemeClr val="tx1"/>
                </a:solidFill>
                <a:latin typeface="Tahoma" pitchFamily="34" charset="0"/>
              </a:defRPr>
            </a:lvl1pPr>
            <a:lvl2pPr marL="742950" indent="-285750" algn="l" eaLnBrk="0" fontAlgn="base"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fontAlgn="base"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fontAlgn="base"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fontAlgn="base" hangingPunct="0">
              <a:lnSpc>
                <a:spcPts val="2500"/>
              </a:lnSpc>
              <a:buClr>
                <a:schemeClr val="bg2"/>
              </a:buClr>
              <a:buFont typeface="Times" pitchFamily="18" charset="0"/>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Font typeface="Times" pitchFamily="18" charset="0"/>
              <a:buChar char="•"/>
              <a:defRPr sz="1200">
                <a:solidFill>
                  <a:schemeClr val="tx1"/>
                </a:solidFill>
                <a:latin typeface="Tahoma" pitchFamily="34" charset="0"/>
              </a:defRPr>
            </a:lvl9pPr>
          </a:lstStyle>
          <a:p>
            <a:pPr eaLnBrk="1" hangingPunct="1">
              <a:lnSpc>
                <a:spcPct val="100000"/>
              </a:lnSpc>
              <a:buClrTx/>
              <a:buFontTx/>
              <a:buNone/>
            </a:pPr>
            <a:r>
              <a:rPr lang="en-US" altLang="en-US" sz="1600" dirty="0"/>
              <a:t>The engine installation was driving the design together with “secondary” aerodynamics aspects such as: engine performance, accessibility, </a:t>
            </a:r>
            <a:r>
              <a:rPr lang="en-US" altLang="en-US" sz="1600" dirty="0" err="1"/>
              <a:t>manuever</a:t>
            </a:r>
            <a:r>
              <a:rPr lang="en-US" altLang="en-US" sz="1600" dirty="0"/>
              <a:t> load, cargo and fuselage volume </a:t>
            </a:r>
            <a:r>
              <a:rPr lang="en-US" altLang="en-US" sz="1600" dirty="0" err="1"/>
              <a:t>etc</a:t>
            </a:r>
            <a:r>
              <a:rPr lang="en-US" altLang="en-US" sz="1600" dirty="0"/>
              <a:t>…</a:t>
            </a:r>
            <a:endParaRPr lang="en-US" altLang="en-US" sz="1600" baseline="-25000" dirty="0"/>
          </a:p>
        </p:txBody>
      </p:sp>
    </p:spTree>
    <p:extLst>
      <p:ext uri="{BB962C8B-B14F-4D97-AF65-F5344CB8AC3E}">
        <p14:creationId xmlns:p14="http://schemas.microsoft.com/office/powerpoint/2010/main" val="28580916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767408" y="127962"/>
            <a:ext cx="80645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l" fontAlgn="base"/>
            <a:r>
              <a:rPr lang="en-US" sz="3200" dirty="0">
                <a:solidFill>
                  <a:schemeClr val="bg2"/>
                </a:solidFill>
                <a:latin typeface="Bookman Old Style" pitchFamily="18" charset="0"/>
              </a:rPr>
              <a:t>Questions?</a:t>
            </a:r>
          </a:p>
        </p:txBody>
      </p:sp>
    </p:spTree>
    <p:custDataLst>
      <p:tags r:id="rId1"/>
    </p:custDataLst>
    <p:extLst>
      <p:ext uri="{BB962C8B-B14F-4D97-AF65-F5344CB8AC3E}">
        <p14:creationId xmlns:p14="http://schemas.microsoft.com/office/powerpoint/2010/main" val="231423797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2" name="Group 571">
            <a:extLst>
              <a:ext uri="{FF2B5EF4-FFF2-40B4-BE49-F238E27FC236}">
                <a16:creationId xmlns:a16="http://schemas.microsoft.com/office/drawing/2014/main" id="{F048EFE1-57AF-CC4B-AEF6-378C838E54B2}"/>
              </a:ext>
            </a:extLst>
          </p:cNvPr>
          <p:cNvGrpSpPr/>
          <p:nvPr/>
        </p:nvGrpSpPr>
        <p:grpSpPr>
          <a:xfrm>
            <a:off x="2351584" y="87016"/>
            <a:ext cx="8536285" cy="5646240"/>
            <a:chOff x="2351584" y="87016"/>
            <a:chExt cx="8536285" cy="5646240"/>
          </a:xfrm>
        </p:grpSpPr>
        <p:cxnSp>
          <p:nvCxnSpPr>
            <p:cNvPr id="3" name="Straight Arrow Connector 2">
              <a:extLst>
                <a:ext uri="{FF2B5EF4-FFF2-40B4-BE49-F238E27FC236}">
                  <a16:creationId xmlns:a16="http://schemas.microsoft.com/office/drawing/2014/main" id="{CECA88F7-8049-A040-9CB2-525CB8DA7268}"/>
                </a:ext>
              </a:extLst>
            </p:cNvPr>
            <p:cNvCxnSpPr>
              <a:cxnSpLocks/>
            </p:cNvCxnSpPr>
            <p:nvPr/>
          </p:nvCxnSpPr>
          <p:spPr bwMode="auto">
            <a:xfrm>
              <a:off x="2387588" y="4365104"/>
              <a:ext cx="8316924" cy="0"/>
            </a:xfrm>
            <a:prstGeom prst="straightConnector1">
              <a:avLst/>
            </a:prstGeom>
            <a:solidFill>
              <a:schemeClr val="accent1"/>
            </a:solidFill>
            <a:ln w="25400" cap="flat" cmpd="sng" algn="ctr">
              <a:solidFill>
                <a:schemeClr val="tx1"/>
              </a:solidFill>
              <a:prstDash val="solid"/>
              <a:round/>
              <a:headEnd type="none" w="med" len="med"/>
              <a:tailEnd type="arrow"/>
            </a:ln>
            <a:effectLst/>
          </p:spPr>
        </p:cxnSp>
        <p:cxnSp>
          <p:nvCxnSpPr>
            <p:cNvPr id="4" name="Straight Arrow Connector 3">
              <a:extLst>
                <a:ext uri="{FF2B5EF4-FFF2-40B4-BE49-F238E27FC236}">
                  <a16:creationId xmlns:a16="http://schemas.microsoft.com/office/drawing/2014/main" id="{9C8BF074-59A9-DF47-8FCE-550650EE01B1}"/>
                </a:ext>
              </a:extLst>
            </p:cNvPr>
            <p:cNvCxnSpPr>
              <a:cxnSpLocks/>
            </p:cNvCxnSpPr>
            <p:nvPr/>
          </p:nvCxnSpPr>
          <p:spPr bwMode="auto">
            <a:xfrm flipH="1" flipV="1">
              <a:off x="5511412" y="188640"/>
              <a:ext cx="8524" cy="5544616"/>
            </a:xfrm>
            <a:prstGeom prst="straightConnector1">
              <a:avLst/>
            </a:prstGeom>
            <a:solidFill>
              <a:schemeClr val="accent1"/>
            </a:solidFill>
            <a:ln w="25400" cap="flat" cmpd="sng" algn="ctr">
              <a:solidFill>
                <a:schemeClr val="tx1"/>
              </a:solidFill>
              <a:prstDash val="solid"/>
              <a:round/>
              <a:headEnd type="none" w="med" len="med"/>
              <a:tailEnd type="arrow"/>
            </a:ln>
            <a:effectLst/>
          </p:spPr>
        </p:cxnSp>
        <p:cxnSp>
          <p:nvCxnSpPr>
            <p:cNvPr id="83" name="Straight Connector 82">
              <a:extLst>
                <a:ext uri="{FF2B5EF4-FFF2-40B4-BE49-F238E27FC236}">
                  <a16:creationId xmlns:a16="http://schemas.microsoft.com/office/drawing/2014/main" id="{80AD13C5-4EE0-2745-9FE3-BBA30BD19E69}"/>
                </a:ext>
              </a:extLst>
            </p:cNvPr>
            <p:cNvCxnSpPr>
              <a:cxnSpLocks/>
            </p:cNvCxnSpPr>
            <p:nvPr/>
          </p:nvCxnSpPr>
          <p:spPr bwMode="auto">
            <a:xfrm flipV="1">
              <a:off x="5159896" y="4352614"/>
              <a:ext cx="0" cy="72008"/>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84" name="Straight Connector 83">
              <a:extLst>
                <a:ext uri="{FF2B5EF4-FFF2-40B4-BE49-F238E27FC236}">
                  <a16:creationId xmlns:a16="http://schemas.microsoft.com/office/drawing/2014/main" id="{8C478C2F-AC1F-4A49-8E73-29393DBCF8EB}"/>
                </a:ext>
              </a:extLst>
            </p:cNvPr>
            <p:cNvCxnSpPr>
              <a:cxnSpLocks/>
            </p:cNvCxnSpPr>
            <p:nvPr/>
          </p:nvCxnSpPr>
          <p:spPr bwMode="auto">
            <a:xfrm flipV="1">
              <a:off x="5511412" y="4346863"/>
              <a:ext cx="0" cy="72008"/>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85" name="Straight Connector 84">
              <a:extLst>
                <a:ext uri="{FF2B5EF4-FFF2-40B4-BE49-F238E27FC236}">
                  <a16:creationId xmlns:a16="http://schemas.microsoft.com/office/drawing/2014/main" id="{6889C097-E33B-AA40-BD6A-0D4A55DE8880}"/>
                </a:ext>
              </a:extLst>
            </p:cNvPr>
            <p:cNvCxnSpPr>
              <a:cxnSpLocks/>
            </p:cNvCxnSpPr>
            <p:nvPr/>
          </p:nvCxnSpPr>
          <p:spPr bwMode="auto">
            <a:xfrm flipV="1">
              <a:off x="4808380" y="4358954"/>
              <a:ext cx="0" cy="72008"/>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86" name="Straight Connector 85">
              <a:extLst>
                <a:ext uri="{FF2B5EF4-FFF2-40B4-BE49-F238E27FC236}">
                  <a16:creationId xmlns:a16="http://schemas.microsoft.com/office/drawing/2014/main" id="{114D1849-91BE-AA48-A2D2-06F88FB021A8}"/>
                </a:ext>
              </a:extLst>
            </p:cNvPr>
            <p:cNvCxnSpPr>
              <a:cxnSpLocks/>
            </p:cNvCxnSpPr>
            <p:nvPr/>
          </p:nvCxnSpPr>
          <p:spPr bwMode="auto">
            <a:xfrm flipV="1">
              <a:off x="5159896" y="188640"/>
              <a:ext cx="0" cy="5472609"/>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95" name="Straight Connector 94">
              <a:extLst>
                <a:ext uri="{FF2B5EF4-FFF2-40B4-BE49-F238E27FC236}">
                  <a16:creationId xmlns:a16="http://schemas.microsoft.com/office/drawing/2014/main" id="{294D1E71-741B-804A-A60A-414E8EF73DAF}"/>
                </a:ext>
              </a:extLst>
            </p:cNvPr>
            <p:cNvCxnSpPr>
              <a:cxnSpLocks/>
            </p:cNvCxnSpPr>
            <p:nvPr/>
          </p:nvCxnSpPr>
          <p:spPr bwMode="auto">
            <a:xfrm flipV="1">
              <a:off x="4808235" y="4358365"/>
              <a:ext cx="0" cy="72008"/>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96" name="Straight Connector 95">
              <a:extLst>
                <a:ext uri="{FF2B5EF4-FFF2-40B4-BE49-F238E27FC236}">
                  <a16:creationId xmlns:a16="http://schemas.microsoft.com/office/drawing/2014/main" id="{6DD6D6E6-6899-6543-91DC-9939923CBA3F}"/>
                </a:ext>
              </a:extLst>
            </p:cNvPr>
            <p:cNvCxnSpPr>
              <a:cxnSpLocks/>
            </p:cNvCxnSpPr>
            <p:nvPr/>
          </p:nvCxnSpPr>
          <p:spPr bwMode="auto">
            <a:xfrm flipV="1">
              <a:off x="4456719" y="188640"/>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97" name="Straight Connector 96">
              <a:extLst>
                <a:ext uri="{FF2B5EF4-FFF2-40B4-BE49-F238E27FC236}">
                  <a16:creationId xmlns:a16="http://schemas.microsoft.com/office/drawing/2014/main" id="{B112B412-887C-8B41-8613-4F8440ADDFEA}"/>
                </a:ext>
              </a:extLst>
            </p:cNvPr>
            <p:cNvCxnSpPr>
              <a:cxnSpLocks/>
            </p:cNvCxnSpPr>
            <p:nvPr/>
          </p:nvCxnSpPr>
          <p:spPr bwMode="auto">
            <a:xfrm flipV="1">
              <a:off x="4808235" y="188640"/>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99" name="Straight Connector 98">
              <a:extLst>
                <a:ext uri="{FF2B5EF4-FFF2-40B4-BE49-F238E27FC236}">
                  <a16:creationId xmlns:a16="http://schemas.microsoft.com/office/drawing/2014/main" id="{CBEBB0B5-F1CC-7440-ACDD-3AFCF32A2057}"/>
                </a:ext>
              </a:extLst>
            </p:cNvPr>
            <p:cNvCxnSpPr>
              <a:cxnSpLocks/>
            </p:cNvCxnSpPr>
            <p:nvPr/>
          </p:nvCxnSpPr>
          <p:spPr bwMode="auto">
            <a:xfrm flipV="1">
              <a:off x="4105058" y="4358954"/>
              <a:ext cx="0" cy="72008"/>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01" name="Straight Connector 100">
              <a:extLst>
                <a:ext uri="{FF2B5EF4-FFF2-40B4-BE49-F238E27FC236}">
                  <a16:creationId xmlns:a16="http://schemas.microsoft.com/office/drawing/2014/main" id="{1ABE5FD0-AAD5-A946-BDF2-151C54607FC1}"/>
                </a:ext>
              </a:extLst>
            </p:cNvPr>
            <p:cNvCxnSpPr>
              <a:cxnSpLocks/>
            </p:cNvCxnSpPr>
            <p:nvPr/>
          </p:nvCxnSpPr>
          <p:spPr bwMode="auto">
            <a:xfrm flipV="1">
              <a:off x="4104913" y="4358365"/>
              <a:ext cx="0" cy="72008"/>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02" name="Straight Connector 101">
              <a:extLst>
                <a:ext uri="{FF2B5EF4-FFF2-40B4-BE49-F238E27FC236}">
                  <a16:creationId xmlns:a16="http://schemas.microsoft.com/office/drawing/2014/main" id="{8D7C805E-CF98-404A-91A7-CFE7C16200DA}"/>
                </a:ext>
              </a:extLst>
            </p:cNvPr>
            <p:cNvCxnSpPr>
              <a:cxnSpLocks/>
            </p:cNvCxnSpPr>
            <p:nvPr/>
          </p:nvCxnSpPr>
          <p:spPr bwMode="auto">
            <a:xfrm flipV="1">
              <a:off x="3753397" y="4364705"/>
              <a:ext cx="0" cy="72008"/>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03" name="Straight Connector 102">
              <a:extLst>
                <a:ext uri="{FF2B5EF4-FFF2-40B4-BE49-F238E27FC236}">
                  <a16:creationId xmlns:a16="http://schemas.microsoft.com/office/drawing/2014/main" id="{5B13D492-C06A-AE49-8BB9-8EFE7477DD79}"/>
                </a:ext>
              </a:extLst>
            </p:cNvPr>
            <p:cNvCxnSpPr>
              <a:cxnSpLocks/>
            </p:cNvCxnSpPr>
            <p:nvPr/>
          </p:nvCxnSpPr>
          <p:spPr bwMode="auto">
            <a:xfrm flipV="1">
              <a:off x="4104913" y="188640"/>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105" name="Straight Connector 104">
              <a:extLst>
                <a:ext uri="{FF2B5EF4-FFF2-40B4-BE49-F238E27FC236}">
                  <a16:creationId xmlns:a16="http://schemas.microsoft.com/office/drawing/2014/main" id="{D9DBA3A0-3CE9-3C4B-B5DE-2030743A0138}"/>
                </a:ext>
              </a:extLst>
            </p:cNvPr>
            <p:cNvCxnSpPr>
              <a:cxnSpLocks/>
            </p:cNvCxnSpPr>
            <p:nvPr/>
          </p:nvCxnSpPr>
          <p:spPr bwMode="auto">
            <a:xfrm flipV="1">
              <a:off x="3753397" y="4357776"/>
              <a:ext cx="0" cy="72008"/>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06" name="Straight Connector 105">
              <a:extLst>
                <a:ext uri="{FF2B5EF4-FFF2-40B4-BE49-F238E27FC236}">
                  <a16:creationId xmlns:a16="http://schemas.microsoft.com/office/drawing/2014/main" id="{C2CFA689-A108-E943-BFF3-B95B334BC8B7}"/>
                </a:ext>
              </a:extLst>
            </p:cNvPr>
            <p:cNvCxnSpPr>
              <a:cxnSpLocks/>
            </p:cNvCxnSpPr>
            <p:nvPr/>
          </p:nvCxnSpPr>
          <p:spPr bwMode="auto">
            <a:xfrm flipV="1">
              <a:off x="3401881" y="4364116"/>
              <a:ext cx="0" cy="72008"/>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07" name="Straight Connector 106">
              <a:extLst>
                <a:ext uri="{FF2B5EF4-FFF2-40B4-BE49-F238E27FC236}">
                  <a16:creationId xmlns:a16="http://schemas.microsoft.com/office/drawing/2014/main" id="{8E9407A2-B9B8-5347-870E-4FB9C0F19033}"/>
                </a:ext>
              </a:extLst>
            </p:cNvPr>
            <p:cNvCxnSpPr>
              <a:cxnSpLocks/>
            </p:cNvCxnSpPr>
            <p:nvPr/>
          </p:nvCxnSpPr>
          <p:spPr bwMode="auto">
            <a:xfrm flipV="1">
              <a:off x="3753397" y="188641"/>
              <a:ext cx="0" cy="5472607"/>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108" name="Straight Connector 107">
              <a:extLst>
                <a:ext uri="{FF2B5EF4-FFF2-40B4-BE49-F238E27FC236}">
                  <a16:creationId xmlns:a16="http://schemas.microsoft.com/office/drawing/2014/main" id="{D738E26E-0B2C-294B-9635-F99200DCDCC5}"/>
                </a:ext>
              </a:extLst>
            </p:cNvPr>
            <p:cNvCxnSpPr>
              <a:cxnSpLocks/>
            </p:cNvCxnSpPr>
            <p:nvPr/>
          </p:nvCxnSpPr>
          <p:spPr bwMode="auto">
            <a:xfrm flipV="1">
              <a:off x="3401736" y="4363527"/>
              <a:ext cx="0" cy="72008"/>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09" name="Straight Connector 108">
              <a:extLst>
                <a:ext uri="{FF2B5EF4-FFF2-40B4-BE49-F238E27FC236}">
                  <a16:creationId xmlns:a16="http://schemas.microsoft.com/office/drawing/2014/main" id="{D51CCFFD-9A5E-3440-B6A9-FB912951B942}"/>
                </a:ext>
              </a:extLst>
            </p:cNvPr>
            <p:cNvCxnSpPr>
              <a:cxnSpLocks/>
            </p:cNvCxnSpPr>
            <p:nvPr/>
          </p:nvCxnSpPr>
          <p:spPr bwMode="auto">
            <a:xfrm flipV="1">
              <a:off x="3050220" y="188640"/>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110" name="Straight Connector 109">
              <a:extLst>
                <a:ext uri="{FF2B5EF4-FFF2-40B4-BE49-F238E27FC236}">
                  <a16:creationId xmlns:a16="http://schemas.microsoft.com/office/drawing/2014/main" id="{C0A36D06-AE1F-0D48-94A3-BC8BD52BC639}"/>
                </a:ext>
              </a:extLst>
            </p:cNvPr>
            <p:cNvCxnSpPr>
              <a:cxnSpLocks/>
            </p:cNvCxnSpPr>
            <p:nvPr/>
          </p:nvCxnSpPr>
          <p:spPr bwMode="auto">
            <a:xfrm flipV="1">
              <a:off x="3401736" y="188640"/>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111" name="Straight Connector 110">
              <a:extLst>
                <a:ext uri="{FF2B5EF4-FFF2-40B4-BE49-F238E27FC236}">
                  <a16:creationId xmlns:a16="http://schemas.microsoft.com/office/drawing/2014/main" id="{C4A74DB3-1296-EB48-BA1D-F6ECCB7222C8}"/>
                </a:ext>
              </a:extLst>
            </p:cNvPr>
            <p:cNvCxnSpPr>
              <a:cxnSpLocks/>
            </p:cNvCxnSpPr>
            <p:nvPr/>
          </p:nvCxnSpPr>
          <p:spPr bwMode="auto">
            <a:xfrm flipV="1">
              <a:off x="2698559" y="4364116"/>
              <a:ext cx="0" cy="72008"/>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12" name="Straight Connector 111">
              <a:extLst>
                <a:ext uri="{FF2B5EF4-FFF2-40B4-BE49-F238E27FC236}">
                  <a16:creationId xmlns:a16="http://schemas.microsoft.com/office/drawing/2014/main" id="{CD41CA8D-1D41-324A-8D20-D93CC0AFF870}"/>
                </a:ext>
              </a:extLst>
            </p:cNvPr>
            <p:cNvCxnSpPr>
              <a:cxnSpLocks/>
            </p:cNvCxnSpPr>
            <p:nvPr/>
          </p:nvCxnSpPr>
          <p:spPr bwMode="auto">
            <a:xfrm flipV="1">
              <a:off x="2698414" y="4363527"/>
              <a:ext cx="0" cy="72008"/>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14" name="Straight Connector 113">
              <a:extLst>
                <a:ext uri="{FF2B5EF4-FFF2-40B4-BE49-F238E27FC236}">
                  <a16:creationId xmlns:a16="http://schemas.microsoft.com/office/drawing/2014/main" id="{9917B315-0FAC-794D-8610-34758ACB7A3F}"/>
                </a:ext>
              </a:extLst>
            </p:cNvPr>
            <p:cNvCxnSpPr>
              <a:cxnSpLocks/>
            </p:cNvCxnSpPr>
            <p:nvPr/>
          </p:nvCxnSpPr>
          <p:spPr bwMode="auto">
            <a:xfrm flipV="1">
              <a:off x="2698414" y="188640"/>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133" name="Straight Connector 132">
              <a:extLst>
                <a:ext uri="{FF2B5EF4-FFF2-40B4-BE49-F238E27FC236}">
                  <a16:creationId xmlns:a16="http://schemas.microsoft.com/office/drawing/2014/main" id="{714F08DE-4B12-414C-B601-0F8C0E931F14}"/>
                </a:ext>
              </a:extLst>
            </p:cNvPr>
            <p:cNvCxnSpPr>
              <a:cxnSpLocks/>
            </p:cNvCxnSpPr>
            <p:nvPr/>
          </p:nvCxnSpPr>
          <p:spPr bwMode="auto">
            <a:xfrm flipV="1">
              <a:off x="5515250" y="4352614"/>
              <a:ext cx="0" cy="72008"/>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69" name="Straight Connector 168">
              <a:extLst>
                <a:ext uri="{FF2B5EF4-FFF2-40B4-BE49-F238E27FC236}">
                  <a16:creationId xmlns:a16="http://schemas.microsoft.com/office/drawing/2014/main" id="{9BE25AD6-4345-BD48-8B5F-842AACCED118}"/>
                </a:ext>
              </a:extLst>
            </p:cNvPr>
            <p:cNvCxnSpPr/>
            <p:nvPr/>
          </p:nvCxnSpPr>
          <p:spPr bwMode="auto">
            <a:xfrm flipH="1">
              <a:off x="5447928" y="400506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71" name="Straight Connector 170">
              <a:extLst>
                <a:ext uri="{FF2B5EF4-FFF2-40B4-BE49-F238E27FC236}">
                  <a16:creationId xmlns:a16="http://schemas.microsoft.com/office/drawing/2014/main" id="{104ABFB7-A2D4-9145-9AA9-C119B15716C7}"/>
                </a:ext>
              </a:extLst>
            </p:cNvPr>
            <p:cNvCxnSpPr/>
            <p:nvPr/>
          </p:nvCxnSpPr>
          <p:spPr bwMode="auto">
            <a:xfrm flipH="1">
              <a:off x="5447928" y="364502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72" name="Straight Connector 171">
              <a:extLst>
                <a:ext uri="{FF2B5EF4-FFF2-40B4-BE49-F238E27FC236}">
                  <a16:creationId xmlns:a16="http://schemas.microsoft.com/office/drawing/2014/main" id="{08809BDE-5BFF-DD41-B8C4-80D2BF31D43B}"/>
                </a:ext>
              </a:extLst>
            </p:cNvPr>
            <p:cNvCxnSpPr>
              <a:cxnSpLocks/>
            </p:cNvCxnSpPr>
            <p:nvPr/>
          </p:nvCxnSpPr>
          <p:spPr bwMode="auto">
            <a:xfrm flipH="1">
              <a:off x="2387588" y="4005064"/>
              <a:ext cx="8244916"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73" name="Straight Connector 172">
              <a:extLst>
                <a:ext uri="{FF2B5EF4-FFF2-40B4-BE49-F238E27FC236}">
                  <a16:creationId xmlns:a16="http://schemas.microsoft.com/office/drawing/2014/main" id="{3AF9511A-A494-124B-871D-F84BB851EAD1}"/>
                </a:ext>
              </a:extLst>
            </p:cNvPr>
            <p:cNvCxnSpPr/>
            <p:nvPr/>
          </p:nvCxnSpPr>
          <p:spPr bwMode="auto">
            <a:xfrm flipH="1">
              <a:off x="5447928" y="364502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74" name="Straight Connector 173">
              <a:extLst>
                <a:ext uri="{FF2B5EF4-FFF2-40B4-BE49-F238E27FC236}">
                  <a16:creationId xmlns:a16="http://schemas.microsoft.com/office/drawing/2014/main" id="{935852F7-D8FE-7748-B51E-8189EA630EE0}"/>
                </a:ext>
              </a:extLst>
            </p:cNvPr>
            <p:cNvCxnSpPr/>
            <p:nvPr/>
          </p:nvCxnSpPr>
          <p:spPr bwMode="auto">
            <a:xfrm flipH="1">
              <a:off x="5447928" y="328498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75" name="Straight Connector 174">
              <a:extLst>
                <a:ext uri="{FF2B5EF4-FFF2-40B4-BE49-F238E27FC236}">
                  <a16:creationId xmlns:a16="http://schemas.microsoft.com/office/drawing/2014/main" id="{07EC3EE4-40E8-AC44-812A-1A43BA262299}"/>
                </a:ext>
              </a:extLst>
            </p:cNvPr>
            <p:cNvCxnSpPr>
              <a:cxnSpLocks/>
            </p:cNvCxnSpPr>
            <p:nvPr/>
          </p:nvCxnSpPr>
          <p:spPr bwMode="auto">
            <a:xfrm flipH="1">
              <a:off x="2387588" y="3645613"/>
              <a:ext cx="8244916"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76" name="Straight Connector 175">
              <a:extLst>
                <a:ext uri="{FF2B5EF4-FFF2-40B4-BE49-F238E27FC236}">
                  <a16:creationId xmlns:a16="http://schemas.microsoft.com/office/drawing/2014/main" id="{0E6E9C3A-2B17-6246-AC1F-CCF1510FEFB3}"/>
                </a:ext>
              </a:extLst>
            </p:cNvPr>
            <p:cNvCxnSpPr/>
            <p:nvPr/>
          </p:nvCxnSpPr>
          <p:spPr bwMode="auto">
            <a:xfrm flipH="1">
              <a:off x="5447928" y="328498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77" name="Straight Connector 176">
              <a:extLst>
                <a:ext uri="{FF2B5EF4-FFF2-40B4-BE49-F238E27FC236}">
                  <a16:creationId xmlns:a16="http://schemas.microsoft.com/office/drawing/2014/main" id="{D20D194B-385C-E24D-B8FC-60FC56092F54}"/>
                </a:ext>
              </a:extLst>
            </p:cNvPr>
            <p:cNvCxnSpPr/>
            <p:nvPr/>
          </p:nvCxnSpPr>
          <p:spPr bwMode="auto">
            <a:xfrm flipH="1">
              <a:off x="5447928" y="292494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78" name="Straight Connector 177">
              <a:extLst>
                <a:ext uri="{FF2B5EF4-FFF2-40B4-BE49-F238E27FC236}">
                  <a16:creationId xmlns:a16="http://schemas.microsoft.com/office/drawing/2014/main" id="{333D7010-7472-DD4C-B3B7-8EC96FD391A2}"/>
                </a:ext>
              </a:extLst>
            </p:cNvPr>
            <p:cNvCxnSpPr>
              <a:cxnSpLocks/>
            </p:cNvCxnSpPr>
            <p:nvPr/>
          </p:nvCxnSpPr>
          <p:spPr bwMode="auto">
            <a:xfrm flipH="1" flipV="1">
              <a:off x="2387588" y="3284984"/>
              <a:ext cx="8244916" cy="589"/>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79" name="Straight Connector 178">
              <a:extLst>
                <a:ext uri="{FF2B5EF4-FFF2-40B4-BE49-F238E27FC236}">
                  <a16:creationId xmlns:a16="http://schemas.microsoft.com/office/drawing/2014/main" id="{2427198A-5ADB-0141-8FDA-E2F05A37F37D}"/>
                </a:ext>
              </a:extLst>
            </p:cNvPr>
            <p:cNvCxnSpPr>
              <a:cxnSpLocks/>
            </p:cNvCxnSpPr>
            <p:nvPr/>
          </p:nvCxnSpPr>
          <p:spPr bwMode="auto">
            <a:xfrm flipH="1">
              <a:off x="2410384" y="2924944"/>
              <a:ext cx="8222120"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80" name="Straight Connector 179">
              <a:extLst>
                <a:ext uri="{FF2B5EF4-FFF2-40B4-BE49-F238E27FC236}">
                  <a16:creationId xmlns:a16="http://schemas.microsoft.com/office/drawing/2014/main" id="{81E158D7-9DCB-FA4C-8633-89EE0DFF222C}"/>
                </a:ext>
              </a:extLst>
            </p:cNvPr>
            <p:cNvCxnSpPr/>
            <p:nvPr/>
          </p:nvCxnSpPr>
          <p:spPr bwMode="auto">
            <a:xfrm flipH="1">
              <a:off x="5447928" y="256490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82" name="Straight Connector 181">
              <a:extLst>
                <a:ext uri="{FF2B5EF4-FFF2-40B4-BE49-F238E27FC236}">
                  <a16:creationId xmlns:a16="http://schemas.microsoft.com/office/drawing/2014/main" id="{18D87EF2-DC2F-8840-B02D-4924B1E74A2B}"/>
                </a:ext>
              </a:extLst>
            </p:cNvPr>
            <p:cNvCxnSpPr/>
            <p:nvPr/>
          </p:nvCxnSpPr>
          <p:spPr bwMode="auto">
            <a:xfrm flipH="1">
              <a:off x="5447928" y="256490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83" name="Straight Connector 182">
              <a:extLst>
                <a:ext uri="{FF2B5EF4-FFF2-40B4-BE49-F238E27FC236}">
                  <a16:creationId xmlns:a16="http://schemas.microsoft.com/office/drawing/2014/main" id="{E8FF74BD-283D-224C-B377-8A6BB7C41289}"/>
                </a:ext>
              </a:extLst>
            </p:cNvPr>
            <p:cNvCxnSpPr/>
            <p:nvPr/>
          </p:nvCxnSpPr>
          <p:spPr bwMode="auto">
            <a:xfrm flipH="1">
              <a:off x="5447928" y="220486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84" name="Straight Connector 183">
              <a:extLst>
                <a:ext uri="{FF2B5EF4-FFF2-40B4-BE49-F238E27FC236}">
                  <a16:creationId xmlns:a16="http://schemas.microsoft.com/office/drawing/2014/main" id="{79DD8A6A-E4EB-1045-B3BF-D213F2DE3F6D}"/>
                </a:ext>
              </a:extLst>
            </p:cNvPr>
            <p:cNvCxnSpPr/>
            <p:nvPr/>
          </p:nvCxnSpPr>
          <p:spPr bwMode="auto">
            <a:xfrm flipH="1">
              <a:off x="5447928" y="2565493"/>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85" name="Straight Connector 184">
              <a:extLst>
                <a:ext uri="{FF2B5EF4-FFF2-40B4-BE49-F238E27FC236}">
                  <a16:creationId xmlns:a16="http://schemas.microsoft.com/office/drawing/2014/main" id="{4ED370F4-229C-B04B-8D41-F79F632D72EE}"/>
                </a:ext>
              </a:extLst>
            </p:cNvPr>
            <p:cNvCxnSpPr/>
            <p:nvPr/>
          </p:nvCxnSpPr>
          <p:spPr bwMode="auto">
            <a:xfrm flipH="1">
              <a:off x="5447928" y="220486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86" name="Straight Connector 185">
              <a:extLst>
                <a:ext uri="{FF2B5EF4-FFF2-40B4-BE49-F238E27FC236}">
                  <a16:creationId xmlns:a16="http://schemas.microsoft.com/office/drawing/2014/main" id="{734FBBE1-DA48-8C4A-81F8-ED0A57C2AC52}"/>
                </a:ext>
              </a:extLst>
            </p:cNvPr>
            <p:cNvCxnSpPr/>
            <p:nvPr/>
          </p:nvCxnSpPr>
          <p:spPr bwMode="auto">
            <a:xfrm flipH="1">
              <a:off x="5447928" y="184482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87" name="Straight Connector 186">
              <a:extLst>
                <a:ext uri="{FF2B5EF4-FFF2-40B4-BE49-F238E27FC236}">
                  <a16:creationId xmlns:a16="http://schemas.microsoft.com/office/drawing/2014/main" id="{8DA911FA-F9ED-8044-8082-B8A7AA63014C}"/>
                </a:ext>
              </a:extLst>
            </p:cNvPr>
            <p:cNvCxnSpPr/>
            <p:nvPr/>
          </p:nvCxnSpPr>
          <p:spPr bwMode="auto">
            <a:xfrm flipH="1">
              <a:off x="5447928" y="2205453"/>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88" name="Straight Connector 187">
              <a:extLst>
                <a:ext uri="{FF2B5EF4-FFF2-40B4-BE49-F238E27FC236}">
                  <a16:creationId xmlns:a16="http://schemas.microsoft.com/office/drawing/2014/main" id="{6631A4CB-9B22-DB46-B1E3-52F2546313D8}"/>
                </a:ext>
              </a:extLst>
            </p:cNvPr>
            <p:cNvCxnSpPr/>
            <p:nvPr/>
          </p:nvCxnSpPr>
          <p:spPr bwMode="auto">
            <a:xfrm flipH="1">
              <a:off x="5447928" y="184482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89" name="Straight Connector 188">
              <a:extLst>
                <a:ext uri="{FF2B5EF4-FFF2-40B4-BE49-F238E27FC236}">
                  <a16:creationId xmlns:a16="http://schemas.microsoft.com/office/drawing/2014/main" id="{488A5D9D-77C1-E941-8FB0-3DBB5CEECDDF}"/>
                </a:ext>
              </a:extLst>
            </p:cNvPr>
            <p:cNvCxnSpPr/>
            <p:nvPr/>
          </p:nvCxnSpPr>
          <p:spPr bwMode="auto">
            <a:xfrm flipH="1">
              <a:off x="5447928" y="148478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90" name="Straight Connector 189">
              <a:extLst>
                <a:ext uri="{FF2B5EF4-FFF2-40B4-BE49-F238E27FC236}">
                  <a16:creationId xmlns:a16="http://schemas.microsoft.com/office/drawing/2014/main" id="{6EC8C644-6E38-EB48-852C-373C5143B27F}"/>
                </a:ext>
              </a:extLst>
            </p:cNvPr>
            <p:cNvCxnSpPr/>
            <p:nvPr/>
          </p:nvCxnSpPr>
          <p:spPr bwMode="auto">
            <a:xfrm flipH="1">
              <a:off x="5447928" y="1845413"/>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91" name="Straight Connector 190">
              <a:extLst>
                <a:ext uri="{FF2B5EF4-FFF2-40B4-BE49-F238E27FC236}">
                  <a16:creationId xmlns:a16="http://schemas.microsoft.com/office/drawing/2014/main" id="{0B3C9B62-5524-504F-BD2D-12113E5686C9}"/>
                </a:ext>
              </a:extLst>
            </p:cNvPr>
            <p:cNvCxnSpPr/>
            <p:nvPr/>
          </p:nvCxnSpPr>
          <p:spPr bwMode="auto">
            <a:xfrm flipH="1">
              <a:off x="5447928" y="148478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92" name="Straight Connector 191">
              <a:extLst>
                <a:ext uri="{FF2B5EF4-FFF2-40B4-BE49-F238E27FC236}">
                  <a16:creationId xmlns:a16="http://schemas.microsoft.com/office/drawing/2014/main" id="{4AAC5BA1-170E-0A42-A871-BAB13D37846A}"/>
                </a:ext>
              </a:extLst>
            </p:cNvPr>
            <p:cNvCxnSpPr/>
            <p:nvPr/>
          </p:nvCxnSpPr>
          <p:spPr bwMode="auto">
            <a:xfrm flipH="1">
              <a:off x="5447928" y="112474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93" name="Straight Connector 192">
              <a:extLst>
                <a:ext uri="{FF2B5EF4-FFF2-40B4-BE49-F238E27FC236}">
                  <a16:creationId xmlns:a16="http://schemas.microsoft.com/office/drawing/2014/main" id="{0908C384-90E8-304C-86BE-345423C6F52F}"/>
                </a:ext>
              </a:extLst>
            </p:cNvPr>
            <p:cNvCxnSpPr/>
            <p:nvPr/>
          </p:nvCxnSpPr>
          <p:spPr bwMode="auto">
            <a:xfrm flipH="1">
              <a:off x="5447928" y="1485373"/>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94" name="Straight Connector 193">
              <a:extLst>
                <a:ext uri="{FF2B5EF4-FFF2-40B4-BE49-F238E27FC236}">
                  <a16:creationId xmlns:a16="http://schemas.microsoft.com/office/drawing/2014/main" id="{0DA6C6AE-1CBE-D648-8096-7CCEEE383AC6}"/>
                </a:ext>
              </a:extLst>
            </p:cNvPr>
            <p:cNvCxnSpPr/>
            <p:nvPr/>
          </p:nvCxnSpPr>
          <p:spPr bwMode="auto">
            <a:xfrm flipH="1">
              <a:off x="5447928" y="112474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95" name="Straight Connector 194">
              <a:extLst>
                <a:ext uri="{FF2B5EF4-FFF2-40B4-BE49-F238E27FC236}">
                  <a16:creationId xmlns:a16="http://schemas.microsoft.com/office/drawing/2014/main" id="{CDEF2686-5730-1348-BA12-D86556D99A89}"/>
                </a:ext>
              </a:extLst>
            </p:cNvPr>
            <p:cNvCxnSpPr/>
            <p:nvPr/>
          </p:nvCxnSpPr>
          <p:spPr bwMode="auto">
            <a:xfrm flipH="1">
              <a:off x="5447928" y="112474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96" name="Straight Connector 195">
              <a:extLst>
                <a:ext uri="{FF2B5EF4-FFF2-40B4-BE49-F238E27FC236}">
                  <a16:creationId xmlns:a16="http://schemas.microsoft.com/office/drawing/2014/main" id="{2B4155FF-ECC1-8348-A912-D6B4A62561F3}"/>
                </a:ext>
              </a:extLst>
            </p:cNvPr>
            <p:cNvCxnSpPr/>
            <p:nvPr/>
          </p:nvCxnSpPr>
          <p:spPr bwMode="auto">
            <a:xfrm flipH="1">
              <a:off x="5447928" y="76470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97" name="Straight Connector 196">
              <a:extLst>
                <a:ext uri="{FF2B5EF4-FFF2-40B4-BE49-F238E27FC236}">
                  <a16:creationId xmlns:a16="http://schemas.microsoft.com/office/drawing/2014/main" id="{D89B8EC0-0A24-3B4C-AA70-69700453A774}"/>
                </a:ext>
              </a:extLst>
            </p:cNvPr>
            <p:cNvCxnSpPr/>
            <p:nvPr/>
          </p:nvCxnSpPr>
          <p:spPr bwMode="auto">
            <a:xfrm flipH="1">
              <a:off x="5447928" y="1125333"/>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98" name="Straight Connector 197">
              <a:extLst>
                <a:ext uri="{FF2B5EF4-FFF2-40B4-BE49-F238E27FC236}">
                  <a16:creationId xmlns:a16="http://schemas.microsoft.com/office/drawing/2014/main" id="{E285D27F-5FD3-2144-9088-793DCFB6F40F}"/>
                </a:ext>
              </a:extLst>
            </p:cNvPr>
            <p:cNvCxnSpPr/>
            <p:nvPr/>
          </p:nvCxnSpPr>
          <p:spPr bwMode="auto">
            <a:xfrm flipH="1">
              <a:off x="5447928" y="76470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199" name="Straight Connector 198">
              <a:extLst>
                <a:ext uri="{FF2B5EF4-FFF2-40B4-BE49-F238E27FC236}">
                  <a16:creationId xmlns:a16="http://schemas.microsoft.com/office/drawing/2014/main" id="{D9E982EB-2DA2-0F4E-A3A9-8B3D51FD9891}"/>
                </a:ext>
              </a:extLst>
            </p:cNvPr>
            <p:cNvCxnSpPr/>
            <p:nvPr/>
          </p:nvCxnSpPr>
          <p:spPr bwMode="auto">
            <a:xfrm flipH="1">
              <a:off x="5447928" y="40466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200" name="Straight Connector 199">
              <a:extLst>
                <a:ext uri="{FF2B5EF4-FFF2-40B4-BE49-F238E27FC236}">
                  <a16:creationId xmlns:a16="http://schemas.microsoft.com/office/drawing/2014/main" id="{106A0ED1-B2BC-A64D-91F0-0F1C8C70306B}"/>
                </a:ext>
              </a:extLst>
            </p:cNvPr>
            <p:cNvCxnSpPr/>
            <p:nvPr/>
          </p:nvCxnSpPr>
          <p:spPr bwMode="auto">
            <a:xfrm flipH="1">
              <a:off x="5447928" y="765293"/>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201" name="Straight Connector 200">
              <a:extLst>
                <a:ext uri="{FF2B5EF4-FFF2-40B4-BE49-F238E27FC236}">
                  <a16:creationId xmlns:a16="http://schemas.microsoft.com/office/drawing/2014/main" id="{15DFF24B-4FFF-0845-AB77-6B292A38F383}"/>
                </a:ext>
              </a:extLst>
            </p:cNvPr>
            <p:cNvCxnSpPr/>
            <p:nvPr/>
          </p:nvCxnSpPr>
          <p:spPr bwMode="auto">
            <a:xfrm flipH="1">
              <a:off x="5447928" y="40466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203" name="Straight Connector 202">
              <a:extLst>
                <a:ext uri="{FF2B5EF4-FFF2-40B4-BE49-F238E27FC236}">
                  <a16:creationId xmlns:a16="http://schemas.microsoft.com/office/drawing/2014/main" id="{5A497528-D9C2-0E42-977F-89674137F5A4}"/>
                </a:ext>
              </a:extLst>
            </p:cNvPr>
            <p:cNvCxnSpPr/>
            <p:nvPr/>
          </p:nvCxnSpPr>
          <p:spPr bwMode="auto">
            <a:xfrm flipH="1">
              <a:off x="5447928" y="405253"/>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332" name="Straight Connector 331">
              <a:extLst>
                <a:ext uri="{FF2B5EF4-FFF2-40B4-BE49-F238E27FC236}">
                  <a16:creationId xmlns:a16="http://schemas.microsoft.com/office/drawing/2014/main" id="{32919117-820C-2443-9BD7-FAA07A47FE71}"/>
                </a:ext>
              </a:extLst>
            </p:cNvPr>
            <p:cNvCxnSpPr>
              <a:cxnSpLocks/>
            </p:cNvCxnSpPr>
            <p:nvPr/>
          </p:nvCxnSpPr>
          <p:spPr bwMode="auto">
            <a:xfrm flipV="1">
              <a:off x="8328248" y="188639"/>
              <a:ext cx="0" cy="5472609"/>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334" name="Straight Connector 333">
              <a:extLst>
                <a:ext uri="{FF2B5EF4-FFF2-40B4-BE49-F238E27FC236}">
                  <a16:creationId xmlns:a16="http://schemas.microsoft.com/office/drawing/2014/main" id="{3B610868-8D06-5A42-91A0-D2217ECB93C1}"/>
                </a:ext>
              </a:extLst>
            </p:cNvPr>
            <p:cNvCxnSpPr>
              <a:cxnSpLocks/>
            </p:cNvCxnSpPr>
            <p:nvPr/>
          </p:nvCxnSpPr>
          <p:spPr bwMode="auto">
            <a:xfrm flipV="1">
              <a:off x="7625071" y="188639"/>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335" name="Straight Connector 334">
              <a:extLst>
                <a:ext uri="{FF2B5EF4-FFF2-40B4-BE49-F238E27FC236}">
                  <a16:creationId xmlns:a16="http://schemas.microsoft.com/office/drawing/2014/main" id="{7583BDDC-AC27-5341-B5A6-C990CECA2FD2}"/>
                </a:ext>
              </a:extLst>
            </p:cNvPr>
            <p:cNvCxnSpPr>
              <a:cxnSpLocks/>
            </p:cNvCxnSpPr>
            <p:nvPr/>
          </p:nvCxnSpPr>
          <p:spPr bwMode="auto">
            <a:xfrm flipV="1">
              <a:off x="7976587" y="188639"/>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339" name="Straight Connector 338">
              <a:extLst>
                <a:ext uri="{FF2B5EF4-FFF2-40B4-BE49-F238E27FC236}">
                  <a16:creationId xmlns:a16="http://schemas.microsoft.com/office/drawing/2014/main" id="{F19FE18B-E373-F742-BDA8-EBD743A943A0}"/>
                </a:ext>
              </a:extLst>
            </p:cNvPr>
            <p:cNvCxnSpPr>
              <a:cxnSpLocks/>
            </p:cNvCxnSpPr>
            <p:nvPr/>
          </p:nvCxnSpPr>
          <p:spPr bwMode="auto">
            <a:xfrm flipV="1">
              <a:off x="7273265" y="188639"/>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342" name="Straight Connector 341">
              <a:extLst>
                <a:ext uri="{FF2B5EF4-FFF2-40B4-BE49-F238E27FC236}">
                  <a16:creationId xmlns:a16="http://schemas.microsoft.com/office/drawing/2014/main" id="{BFE2B44C-D70D-D440-B217-DADE1E632D7E}"/>
                </a:ext>
              </a:extLst>
            </p:cNvPr>
            <p:cNvCxnSpPr>
              <a:cxnSpLocks/>
            </p:cNvCxnSpPr>
            <p:nvPr/>
          </p:nvCxnSpPr>
          <p:spPr bwMode="auto">
            <a:xfrm flipV="1">
              <a:off x="6921749" y="188640"/>
              <a:ext cx="0" cy="5472607"/>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344" name="Straight Connector 343">
              <a:extLst>
                <a:ext uri="{FF2B5EF4-FFF2-40B4-BE49-F238E27FC236}">
                  <a16:creationId xmlns:a16="http://schemas.microsoft.com/office/drawing/2014/main" id="{286E0652-A9A6-2E47-A7C3-9E602F93C813}"/>
                </a:ext>
              </a:extLst>
            </p:cNvPr>
            <p:cNvCxnSpPr>
              <a:cxnSpLocks/>
            </p:cNvCxnSpPr>
            <p:nvPr/>
          </p:nvCxnSpPr>
          <p:spPr bwMode="auto">
            <a:xfrm flipV="1">
              <a:off x="6218572" y="188639"/>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345" name="Straight Connector 344">
              <a:extLst>
                <a:ext uri="{FF2B5EF4-FFF2-40B4-BE49-F238E27FC236}">
                  <a16:creationId xmlns:a16="http://schemas.microsoft.com/office/drawing/2014/main" id="{5A674429-FB49-AD45-BD88-0A70F51D948D}"/>
                </a:ext>
              </a:extLst>
            </p:cNvPr>
            <p:cNvCxnSpPr>
              <a:cxnSpLocks/>
            </p:cNvCxnSpPr>
            <p:nvPr/>
          </p:nvCxnSpPr>
          <p:spPr bwMode="auto">
            <a:xfrm flipV="1">
              <a:off x="6570088" y="188639"/>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348" name="Straight Connector 347">
              <a:extLst>
                <a:ext uri="{FF2B5EF4-FFF2-40B4-BE49-F238E27FC236}">
                  <a16:creationId xmlns:a16="http://schemas.microsoft.com/office/drawing/2014/main" id="{490815A2-9B74-B247-9017-A75188352513}"/>
                </a:ext>
              </a:extLst>
            </p:cNvPr>
            <p:cNvCxnSpPr>
              <a:cxnSpLocks/>
            </p:cNvCxnSpPr>
            <p:nvPr/>
          </p:nvCxnSpPr>
          <p:spPr bwMode="auto">
            <a:xfrm flipV="1">
              <a:off x="5866766" y="188639"/>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372" name="Straight Connector 371">
              <a:extLst>
                <a:ext uri="{FF2B5EF4-FFF2-40B4-BE49-F238E27FC236}">
                  <a16:creationId xmlns:a16="http://schemas.microsoft.com/office/drawing/2014/main" id="{9B470BFB-1A71-1A48-B4FD-23E6196104B6}"/>
                </a:ext>
              </a:extLst>
            </p:cNvPr>
            <p:cNvCxnSpPr>
              <a:cxnSpLocks/>
            </p:cNvCxnSpPr>
            <p:nvPr/>
          </p:nvCxnSpPr>
          <p:spPr bwMode="auto">
            <a:xfrm flipV="1">
              <a:off x="10086553" y="188640"/>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373" name="Straight Connector 372">
              <a:extLst>
                <a:ext uri="{FF2B5EF4-FFF2-40B4-BE49-F238E27FC236}">
                  <a16:creationId xmlns:a16="http://schemas.microsoft.com/office/drawing/2014/main" id="{F5119B25-500E-9B4B-8770-EEA247AAE6F5}"/>
                </a:ext>
              </a:extLst>
            </p:cNvPr>
            <p:cNvCxnSpPr>
              <a:cxnSpLocks/>
            </p:cNvCxnSpPr>
            <p:nvPr/>
          </p:nvCxnSpPr>
          <p:spPr bwMode="auto">
            <a:xfrm flipV="1">
              <a:off x="10438069" y="188640"/>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377" name="Straight Connector 376">
              <a:extLst>
                <a:ext uri="{FF2B5EF4-FFF2-40B4-BE49-F238E27FC236}">
                  <a16:creationId xmlns:a16="http://schemas.microsoft.com/office/drawing/2014/main" id="{3B8CF13D-5F3B-924B-80AB-6412B6F3D384}"/>
                </a:ext>
              </a:extLst>
            </p:cNvPr>
            <p:cNvCxnSpPr>
              <a:cxnSpLocks/>
            </p:cNvCxnSpPr>
            <p:nvPr/>
          </p:nvCxnSpPr>
          <p:spPr bwMode="auto">
            <a:xfrm flipV="1">
              <a:off x="9734747" y="188640"/>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380" name="Straight Connector 379">
              <a:extLst>
                <a:ext uri="{FF2B5EF4-FFF2-40B4-BE49-F238E27FC236}">
                  <a16:creationId xmlns:a16="http://schemas.microsoft.com/office/drawing/2014/main" id="{AA2BAA18-90B7-444A-852D-BE673DD0F464}"/>
                </a:ext>
              </a:extLst>
            </p:cNvPr>
            <p:cNvCxnSpPr>
              <a:cxnSpLocks/>
            </p:cNvCxnSpPr>
            <p:nvPr/>
          </p:nvCxnSpPr>
          <p:spPr bwMode="auto">
            <a:xfrm flipV="1">
              <a:off x="9383231" y="188641"/>
              <a:ext cx="0" cy="5472607"/>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382" name="Straight Connector 381">
              <a:extLst>
                <a:ext uri="{FF2B5EF4-FFF2-40B4-BE49-F238E27FC236}">
                  <a16:creationId xmlns:a16="http://schemas.microsoft.com/office/drawing/2014/main" id="{D3E495C8-BC81-A046-BE6D-1C7F1DA30ACE}"/>
                </a:ext>
              </a:extLst>
            </p:cNvPr>
            <p:cNvCxnSpPr>
              <a:cxnSpLocks/>
            </p:cNvCxnSpPr>
            <p:nvPr/>
          </p:nvCxnSpPr>
          <p:spPr bwMode="auto">
            <a:xfrm flipV="1">
              <a:off x="8680054" y="188640"/>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383" name="Straight Connector 382">
              <a:extLst>
                <a:ext uri="{FF2B5EF4-FFF2-40B4-BE49-F238E27FC236}">
                  <a16:creationId xmlns:a16="http://schemas.microsoft.com/office/drawing/2014/main" id="{213E953F-E59C-2341-97D9-8C91C0721F70}"/>
                </a:ext>
              </a:extLst>
            </p:cNvPr>
            <p:cNvCxnSpPr>
              <a:cxnSpLocks/>
            </p:cNvCxnSpPr>
            <p:nvPr/>
          </p:nvCxnSpPr>
          <p:spPr bwMode="auto">
            <a:xfrm flipV="1">
              <a:off x="9031570" y="188640"/>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386" name="Straight Connector 385">
              <a:extLst>
                <a:ext uri="{FF2B5EF4-FFF2-40B4-BE49-F238E27FC236}">
                  <a16:creationId xmlns:a16="http://schemas.microsoft.com/office/drawing/2014/main" id="{8E379BD8-2EE4-8A4C-9C42-AE9BC473D791}"/>
                </a:ext>
              </a:extLst>
            </p:cNvPr>
            <p:cNvCxnSpPr>
              <a:cxnSpLocks/>
            </p:cNvCxnSpPr>
            <p:nvPr/>
          </p:nvCxnSpPr>
          <p:spPr bwMode="auto">
            <a:xfrm flipV="1">
              <a:off x="8328248" y="188640"/>
              <a:ext cx="0" cy="5472608"/>
            </a:xfrm>
            <a:prstGeom prst="line">
              <a:avLst/>
            </a:prstGeom>
            <a:solidFill>
              <a:schemeClr val="accent1"/>
            </a:solidFill>
            <a:ln w="6350" cap="flat" cmpd="sng" algn="ctr">
              <a:solidFill>
                <a:schemeClr val="bg1">
                  <a:lumMod val="65000"/>
                </a:schemeClr>
              </a:solidFill>
              <a:prstDash val="sysDash"/>
              <a:round/>
              <a:headEnd type="none" w="med" len="med"/>
              <a:tailEnd type="none" w="med" len="med"/>
            </a:ln>
            <a:effectLst/>
          </p:spPr>
        </p:cxnSp>
        <p:cxnSp>
          <p:nvCxnSpPr>
            <p:cNvPr id="481" name="Straight Connector 480">
              <a:extLst>
                <a:ext uri="{FF2B5EF4-FFF2-40B4-BE49-F238E27FC236}">
                  <a16:creationId xmlns:a16="http://schemas.microsoft.com/office/drawing/2014/main" id="{35B73401-073D-EF41-A5E4-F7258CA35E25}"/>
                </a:ext>
              </a:extLst>
            </p:cNvPr>
            <p:cNvCxnSpPr/>
            <p:nvPr/>
          </p:nvCxnSpPr>
          <p:spPr bwMode="auto">
            <a:xfrm flipH="1">
              <a:off x="5447928" y="292494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482" name="Straight Connector 481">
              <a:extLst>
                <a:ext uri="{FF2B5EF4-FFF2-40B4-BE49-F238E27FC236}">
                  <a16:creationId xmlns:a16="http://schemas.microsoft.com/office/drawing/2014/main" id="{047C36FC-4456-8041-A2E6-AD0FE5546EE3}"/>
                </a:ext>
              </a:extLst>
            </p:cNvPr>
            <p:cNvCxnSpPr/>
            <p:nvPr/>
          </p:nvCxnSpPr>
          <p:spPr bwMode="auto">
            <a:xfrm flipH="1">
              <a:off x="5447928" y="256490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484" name="Straight Connector 483">
              <a:extLst>
                <a:ext uri="{FF2B5EF4-FFF2-40B4-BE49-F238E27FC236}">
                  <a16:creationId xmlns:a16="http://schemas.microsoft.com/office/drawing/2014/main" id="{CDE6B3F7-503B-7748-9BD4-B304CF88A49B}"/>
                </a:ext>
              </a:extLst>
            </p:cNvPr>
            <p:cNvCxnSpPr/>
            <p:nvPr/>
          </p:nvCxnSpPr>
          <p:spPr bwMode="auto">
            <a:xfrm flipH="1">
              <a:off x="5447928" y="256490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485" name="Straight Connector 484">
              <a:extLst>
                <a:ext uri="{FF2B5EF4-FFF2-40B4-BE49-F238E27FC236}">
                  <a16:creationId xmlns:a16="http://schemas.microsoft.com/office/drawing/2014/main" id="{2CFC7F15-0BA2-F746-B694-37DAD95B7403}"/>
                </a:ext>
              </a:extLst>
            </p:cNvPr>
            <p:cNvCxnSpPr/>
            <p:nvPr/>
          </p:nvCxnSpPr>
          <p:spPr bwMode="auto">
            <a:xfrm flipH="1">
              <a:off x="5447928" y="220486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486" name="Straight Connector 485">
              <a:extLst>
                <a:ext uri="{FF2B5EF4-FFF2-40B4-BE49-F238E27FC236}">
                  <a16:creationId xmlns:a16="http://schemas.microsoft.com/office/drawing/2014/main" id="{9E99B654-1E17-8449-8281-499B0EDDA1AD}"/>
                </a:ext>
              </a:extLst>
            </p:cNvPr>
            <p:cNvCxnSpPr>
              <a:cxnSpLocks/>
            </p:cNvCxnSpPr>
            <p:nvPr/>
          </p:nvCxnSpPr>
          <p:spPr bwMode="auto">
            <a:xfrm flipH="1">
              <a:off x="2387588" y="2565493"/>
              <a:ext cx="8244916"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487" name="Straight Connector 486">
              <a:extLst>
                <a:ext uri="{FF2B5EF4-FFF2-40B4-BE49-F238E27FC236}">
                  <a16:creationId xmlns:a16="http://schemas.microsoft.com/office/drawing/2014/main" id="{38FB8032-2E79-9449-A3DF-AAA24F9FB44F}"/>
                </a:ext>
              </a:extLst>
            </p:cNvPr>
            <p:cNvCxnSpPr/>
            <p:nvPr/>
          </p:nvCxnSpPr>
          <p:spPr bwMode="auto">
            <a:xfrm flipH="1">
              <a:off x="5447928" y="220486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488" name="Straight Connector 487">
              <a:extLst>
                <a:ext uri="{FF2B5EF4-FFF2-40B4-BE49-F238E27FC236}">
                  <a16:creationId xmlns:a16="http://schemas.microsoft.com/office/drawing/2014/main" id="{47E27B77-7B03-374C-875A-627DD252F696}"/>
                </a:ext>
              </a:extLst>
            </p:cNvPr>
            <p:cNvCxnSpPr/>
            <p:nvPr/>
          </p:nvCxnSpPr>
          <p:spPr bwMode="auto">
            <a:xfrm flipH="1">
              <a:off x="5447928" y="184482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489" name="Straight Connector 488">
              <a:extLst>
                <a:ext uri="{FF2B5EF4-FFF2-40B4-BE49-F238E27FC236}">
                  <a16:creationId xmlns:a16="http://schemas.microsoft.com/office/drawing/2014/main" id="{E7B0EDF6-D16D-DE41-956D-ED37C979EEB5}"/>
                </a:ext>
              </a:extLst>
            </p:cNvPr>
            <p:cNvCxnSpPr>
              <a:cxnSpLocks/>
            </p:cNvCxnSpPr>
            <p:nvPr/>
          </p:nvCxnSpPr>
          <p:spPr bwMode="auto">
            <a:xfrm flipH="1">
              <a:off x="2495600" y="2205453"/>
              <a:ext cx="8136904"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490" name="Straight Connector 489">
              <a:extLst>
                <a:ext uri="{FF2B5EF4-FFF2-40B4-BE49-F238E27FC236}">
                  <a16:creationId xmlns:a16="http://schemas.microsoft.com/office/drawing/2014/main" id="{1F2A81CF-8FCC-FE44-B3CA-6244F0548DD5}"/>
                </a:ext>
              </a:extLst>
            </p:cNvPr>
            <p:cNvCxnSpPr>
              <a:cxnSpLocks/>
            </p:cNvCxnSpPr>
            <p:nvPr/>
          </p:nvCxnSpPr>
          <p:spPr bwMode="auto">
            <a:xfrm flipH="1">
              <a:off x="2410384" y="1844824"/>
              <a:ext cx="8222120"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492" name="Straight Connector 491">
              <a:extLst>
                <a:ext uri="{FF2B5EF4-FFF2-40B4-BE49-F238E27FC236}">
                  <a16:creationId xmlns:a16="http://schemas.microsoft.com/office/drawing/2014/main" id="{2E4CB1B5-64D8-EB4E-B7F8-AB0670D874CA}"/>
                </a:ext>
              </a:extLst>
            </p:cNvPr>
            <p:cNvCxnSpPr/>
            <p:nvPr/>
          </p:nvCxnSpPr>
          <p:spPr bwMode="auto">
            <a:xfrm flipH="1">
              <a:off x="5411924" y="1844235"/>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493" name="Straight Connector 492">
              <a:extLst>
                <a:ext uri="{FF2B5EF4-FFF2-40B4-BE49-F238E27FC236}">
                  <a16:creationId xmlns:a16="http://schemas.microsoft.com/office/drawing/2014/main" id="{40FD96FE-3A16-9C4E-B224-3336171D4E61}"/>
                </a:ext>
              </a:extLst>
            </p:cNvPr>
            <p:cNvCxnSpPr/>
            <p:nvPr/>
          </p:nvCxnSpPr>
          <p:spPr bwMode="auto">
            <a:xfrm flipH="1">
              <a:off x="5411924" y="1844235"/>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494" name="Straight Connector 493">
              <a:extLst>
                <a:ext uri="{FF2B5EF4-FFF2-40B4-BE49-F238E27FC236}">
                  <a16:creationId xmlns:a16="http://schemas.microsoft.com/office/drawing/2014/main" id="{0B207D1A-75D1-6144-82A9-9C19E96EB935}"/>
                </a:ext>
              </a:extLst>
            </p:cNvPr>
            <p:cNvCxnSpPr/>
            <p:nvPr/>
          </p:nvCxnSpPr>
          <p:spPr bwMode="auto">
            <a:xfrm flipH="1">
              <a:off x="5411924" y="1484195"/>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496" name="Straight Connector 495">
              <a:extLst>
                <a:ext uri="{FF2B5EF4-FFF2-40B4-BE49-F238E27FC236}">
                  <a16:creationId xmlns:a16="http://schemas.microsoft.com/office/drawing/2014/main" id="{B8D282A5-0191-E042-90A5-08EA45E8B65A}"/>
                </a:ext>
              </a:extLst>
            </p:cNvPr>
            <p:cNvCxnSpPr>
              <a:cxnSpLocks/>
            </p:cNvCxnSpPr>
            <p:nvPr/>
          </p:nvCxnSpPr>
          <p:spPr bwMode="auto">
            <a:xfrm flipH="1">
              <a:off x="2374380" y="1484195"/>
              <a:ext cx="8222120"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497" name="Straight Connector 496">
              <a:extLst>
                <a:ext uri="{FF2B5EF4-FFF2-40B4-BE49-F238E27FC236}">
                  <a16:creationId xmlns:a16="http://schemas.microsoft.com/office/drawing/2014/main" id="{5B920909-5D04-594A-8253-C401A2D7CC50}"/>
                </a:ext>
              </a:extLst>
            </p:cNvPr>
            <p:cNvCxnSpPr/>
            <p:nvPr/>
          </p:nvCxnSpPr>
          <p:spPr bwMode="auto">
            <a:xfrm flipH="1">
              <a:off x="5411924" y="1124155"/>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498" name="Straight Connector 497">
              <a:extLst>
                <a:ext uri="{FF2B5EF4-FFF2-40B4-BE49-F238E27FC236}">
                  <a16:creationId xmlns:a16="http://schemas.microsoft.com/office/drawing/2014/main" id="{B32D4E6B-C6A4-5045-8B53-66820F98716C}"/>
                </a:ext>
              </a:extLst>
            </p:cNvPr>
            <p:cNvCxnSpPr/>
            <p:nvPr/>
          </p:nvCxnSpPr>
          <p:spPr bwMode="auto">
            <a:xfrm flipH="1">
              <a:off x="5411924" y="1124155"/>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499" name="Straight Connector 498">
              <a:extLst>
                <a:ext uri="{FF2B5EF4-FFF2-40B4-BE49-F238E27FC236}">
                  <a16:creationId xmlns:a16="http://schemas.microsoft.com/office/drawing/2014/main" id="{9EA0C193-AF6C-CD4C-AF2A-BFAA1ACCE0A1}"/>
                </a:ext>
              </a:extLst>
            </p:cNvPr>
            <p:cNvCxnSpPr/>
            <p:nvPr/>
          </p:nvCxnSpPr>
          <p:spPr bwMode="auto">
            <a:xfrm flipH="1">
              <a:off x="5411924" y="764115"/>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00" name="Straight Connector 499">
              <a:extLst>
                <a:ext uri="{FF2B5EF4-FFF2-40B4-BE49-F238E27FC236}">
                  <a16:creationId xmlns:a16="http://schemas.microsoft.com/office/drawing/2014/main" id="{7C6E00BC-531F-4E4D-B687-4A30B5AA7678}"/>
                </a:ext>
              </a:extLst>
            </p:cNvPr>
            <p:cNvCxnSpPr/>
            <p:nvPr/>
          </p:nvCxnSpPr>
          <p:spPr bwMode="auto">
            <a:xfrm flipH="1">
              <a:off x="5411924" y="112474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01" name="Straight Connector 500">
              <a:extLst>
                <a:ext uri="{FF2B5EF4-FFF2-40B4-BE49-F238E27FC236}">
                  <a16:creationId xmlns:a16="http://schemas.microsoft.com/office/drawing/2014/main" id="{385D5C1E-6DEF-3742-971B-C0A0FC834B7F}"/>
                </a:ext>
              </a:extLst>
            </p:cNvPr>
            <p:cNvCxnSpPr/>
            <p:nvPr/>
          </p:nvCxnSpPr>
          <p:spPr bwMode="auto">
            <a:xfrm flipH="1">
              <a:off x="5411924" y="764115"/>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02" name="Straight Connector 501">
              <a:extLst>
                <a:ext uri="{FF2B5EF4-FFF2-40B4-BE49-F238E27FC236}">
                  <a16:creationId xmlns:a16="http://schemas.microsoft.com/office/drawing/2014/main" id="{A049E6F3-4441-184B-94BF-AB6E9315830C}"/>
                </a:ext>
              </a:extLst>
            </p:cNvPr>
            <p:cNvCxnSpPr/>
            <p:nvPr/>
          </p:nvCxnSpPr>
          <p:spPr bwMode="auto">
            <a:xfrm flipH="1">
              <a:off x="5411924" y="404075"/>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03" name="Straight Connector 502">
              <a:extLst>
                <a:ext uri="{FF2B5EF4-FFF2-40B4-BE49-F238E27FC236}">
                  <a16:creationId xmlns:a16="http://schemas.microsoft.com/office/drawing/2014/main" id="{0C272EB4-A4F8-B64E-8314-5B622F96AEDF}"/>
                </a:ext>
              </a:extLst>
            </p:cNvPr>
            <p:cNvCxnSpPr/>
            <p:nvPr/>
          </p:nvCxnSpPr>
          <p:spPr bwMode="auto">
            <a:xfrm flipH="1">
              <a:off x="5411924" y="76470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04" name="Straight Connector 503">
              <a:extLst>
                <a:ext uri="{FF2B5EF4-FFF2-40B4-BE49-F238E27FC236}">
                  <a16:creationId xmlns:a16="http://schemas.microsoft.com/office/drawing/2014/main" id="{AEB8092C-CE7E-0A4C-88CE-E2D1DEC84D97}"/>
                </a:ext>
              </a:extLst>
            </p:cNvPr>
            <p:cNvCxnSpPr/>
            <p:nvPr/>
          </p:nvCxnSpPr>
          <p:spPr bwMode="auto">
            <a:xfrm flipH="1">
              <a:off x="5411924" y="404075"/>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05" name="Straight Connector 504">
              <a:extLst>
                <a:ext uri="{FF2B5EF4-FFF2-40B4-BE49-F238E27FC236}">
                  <a16:creationId xmlns:a16="http://schemas.microsoft.com/office/drawing/2014/main" id="{38C64407-E326-324C-A2D7-7C5E24EDD62A}"/>
                </a:ext>
              </a:extLst>
            </p:cNvPr>
            <p:cNvCxnSpPr/>
            <p:nvPr/>
          </p:nvCxnSpPr>
          <p:spPr bwMode="auto">
            <a:xfrm flipH="1">
              <a:off x="5411924" y="40466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06" name="Straight Connector 505">
              <a:extLst>
                <a:ext uri="{FF2B5EF4-FFF2-40B4-BE49-F238E27FC236}">
                  <a16:creationId xmlns:a16="http://schemas.microsoft.com/office/drawing/2014/main" id="{73ACED1F-80BB-7943-9F20-32F7BC477943}"/>
                </a:ext>
              </a:extLst>
            </p:cNvPr>
            <p:cNvCxnSpPr/>
            <p:nvPr/>
          </p:nvCxnSpPr>
          <p:spPr bwMode="auto">
            <a:xfrm flipH="1">
              <a:off x="5411924" y="1484195"/>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07" name="Straight Connector 506">
              <a:extLst>
                <a:ext uri="{FF2B5EF4-FFF2-40B4-BE49-F238E27FC236}">
                  <a16:creationId xmlns:a16="http://schemas.microsoft.com/office/drawing/2014/main" id="{287F48E3-E913-E94A-B623-1F1085DACB60}"/>
                </a:ext>
              </a:extLst>
            </p:cNvPr>
            <p:cNvCxnSpPr/>
            <p:nvPr/>
          </p:nvCxnSpPr>
          <p:spPr bwMode="auto">
            <a:xfrm flipH="1">
              <a:off x="5411924" y="1124155"/>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08" name="Straight Connector 507">
              <a:extLst>
                <a:ext uri="{FF2B5EF4-FFF2-40B4-BE49-F238E27FC236}">
                  <a16:creationId xmlns:a16="http://schemas.microsoft.com/office/drawing/2014/main" id="{F7AF2835-6DA7-9842-8A86-4A412B4F6F8D}"/>
                </a:ext>
              </a:extLst>
            </p:cNvPr>
            <p:cNvCxnSpPr/>
            <p:nvPr/>
          </p:nvCxnSpPr>
          <p:spPr bwMode="auto">
            <a:xfrm flipH="1">
              <a:off x="5411924" y="1124155"/>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09" name="Straight Connector 508">
              <a:extLst>
                <a:ext uri="{FF2B5EF4-FFF2-40B4-BE49-F238E27FC236}">
                  <a16:creationId xmlns:a16="http://schemas.microsoft.com/office/drawing/2014/main" id="{F7462316-A788-C442-9062-4B47FE8F86FE}"/>
                </a:ext>
              </a:extLst>
            </p:cNvPr>
            <p:cNvCxnSpPr/>
            <p:nvPr/>
          </p:nvCxnSpPr>
          <p:spPr bwMode="auto">
            <a:xfrm flipH="1">
              <a:off x="5411924" y="764115"/>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10" name="Straight Connector 509">
              <a:extLst>
                <a:ext uri="{FF2B5EF4-FFF2-40B4-BE49-F238E27FC236}">
                  <a16:creationId xmlns:a16="http://schemas.microsoft.com/office/drawing/2014/main" id="{AC6DD686-15A8-8B44-902E-E70C5B4BF9FF}"/>
                </a:ext>
              </a:extLst>
            </p:cNvPr>
            <p:cNvCxnSpPr>
              <a:cxnSpLocks/>
            </p:cNvCxnSpPr>
            <p:nvPr/>
          </p:nvCxnSpPr>
          <p:spPr bwMode="auto">
            <a:xfrm flipH="1">
              <a:off x="2351584" y="1124744"/>
              <a:ext cx="8244916"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11" name="Straight Connector 510">
              <a:extLst>
                <a:ext uri="{FF2B5EF4-FFF2-40B4-BE49-F238E27FC236}">
                  <a16:creationId xmlns:a16="http://schemas.microsoft.com/office/drawing/2014/main" id="{6315D72B-3586-534F-A814-378A954F6CF7}"/>
                </a:ext>
              </a:extLst>
            </p:cNvPr>
            <p:cNvCxnSpPr/>
            <p:nvPr/>
          </p:nvCxnSpPr>
          <p:spPr bwMode="auto">
            <a:xfrm flipH="1">
              <a:off x="5411924" y="764115"/>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12" name="Straight Connector 511">
              <a:extLst>
                <a:ext uri="{FF2B5EF4-FFF2-40B4-BE49-F238E27FC236}">
                  <a16:creationId xmlns:a16="http://schemas.microsoft.com/office/drawing/2014/main" id="{61D262D7-3A27-9D4D-9072-C883CBC580B0}"/>
                </a:ext>
              </a:extLst>
            </p:cNvPr>
            <p:cNvCxnSpPr/>
            <p:nvPr/>
          </p:nvCxnSpPr>
          <p:spPr bwMode="auto">
            <a:xfrm flipH="1">
              <a:off x="5411924" y="404075"/>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13" name="Straight Connector 512">
              <a:extLst>
                <a:ext uri="{FF2B5EF4-FFF2-40B4-BE49-F238E27FC236}">
                  <a16:creationId xmlns:a16="http://schemas.microsoft.com/office/drawing/2014/main" id="{F3C6273B-9769-4A4E-A6D2-E342F4C56DCB}"/>
                </a:ext>
              </a:extLst>
            </p:cNvPr>
            <p:cNvCxnSpPr>
              <a:cxnSpLocks/>
            </p:cNvCxnSpPr>
            <p:nvPr/>
          </p:nvCxnSpPr>
          <p:spPr bwMode="auto">
            <a:xfrm flipH="1">
              <a:off x="2459596" y="764704"/>
              <a:ext cx="8136904"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14" name="Straight Connector 513">
              <a:extLst>
                <a:ext uri="{FF2B5EF4-FFF2-40B4-BE49-F238E27FC236}">
                  <a16:creationId xmlns:a16="http://schemas.microsoft.com/office/drawing/2014/main" id="{10FBE4C2-3F07-9245-A6C9-1AC250A38E57}"/>
                </a:ext>
              </a:extLst>
            </p:cNvPr>
            <p:cNvCxnSpPr>
              <a:cxnSpLocks/>
            </p:cNvCxnSpPr>
            <p:nvPr/>
          </p:nvCxnSpPr>
          <p:spPr bwMode="auto">
            <a:xfrm flipH="1">
              <a:off x="2374380" y="404075"/>
              <a:ext cx="8222120"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19" name="Straight Connector 518">
              <a:extLst>
                <a:ext uri="{FF2B5EF4-FFF2-40B4-BE49-F238E27FC236}">
                  <a16:creationId xmlns:a16="http://schemas.microsoft.com/office/drawing/2014/main" id="{F68A81D6-89DB-7E40-A919-0F44A1C07A00}"/>
                </a:ext>
              </a:extLst>
            </p:cNvPr>
            <p:cNvCxnSpPr/>
            <p:nvPr/>
          </p:nvCxnSpPr>
          <p:spPr bwMode="auto">
            <a:xfrm flipH="1">
              <a:off x="5447928" y="544522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21" name="Straight Connector 520">
              <a:extLst>
                <a:ext uri="{FF2B5EF4-FFF2-40B4-BE49-F238E27FC236}">
                  <a16:creationId xmlns:a16="http://schemas.microsoft.com/office/drawing/2014/main" id="{7252E8D2-34B9-F143-97BE-4ABE3D7AE095}"/>
                </a:ext>
              </a:extLst>
            </p:cNvPr>
            <p:cNvCxnSpPr/>
            <p:nvPr/>
          </p:nvCxnSpPr>
          <p:spPr bwMode="auto">
            <a:xfrm flipH="1">
              <a:off x="5447928" y="544522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22" name="Straight Connector 521">
              <a:extLst>
                <a:ext uri="{FF2B5EF4-FFF2-40B4-BE49-F238E27FC236}">
                  <a16:creationId xmlns:a16="http://schemas.microsoft.com/office/drawing/2014/main" id="{D7D5B741-D5B3-474B-8F57-A08108D9B100}"/>
                </a:ext>
              </a:extLst>
            </p:cNvPr>
            <p:cNvCxnSpPr/>
            <p:nvPr/>
          </p:nvCxnSpPr>
          <p:spPr bwMode="auto">
            <a:xfrm flipH="1">
              <a:off x="5447928" y="508518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23" name="Straight Connector 522">
              <a:extLst>
                <a:ext uri="{FF2B5EF4-FFF2-40B4-BE49-F238E27FC236}">
                  <a16:creationId xmlns:a16="http://schemas.microsoft.com/office/drawing/2014/main" id="{C2BA496D-EEDE-D54A-874D-6CED06360B38}"/>
                </a:ext>
              </a:extLst>
            </p:cNvPr>
            <p:cNvCxnSpPr>
              <a:cxnSpLocks/>
            </p:cNvCxnSpPr>
            <p:nvPr/>
          </p:nvCxnSpPr>
          <p:spPr bwMode="auto">
            <a:xfrm flipH="1">
              <a:off x="2495600" y="5445813"/>
              <a:ext cx="8136904"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24" name="Straight Connector 523">
              <a:extLst>
                <a:ext uri="{FF2B5EF4-FFF2-40B4-BE49-F238E27FC236}">
                  <a16:creationId xmlns:a16="http://schemas.microsoft.com/office/drawing/2014/main" id="{431550D8-5E9C-3741-A4C9-465806D086F8}"/>
                </a:ext>
              </a:extLst>
            </p:cNvPr>
            <p:cNvCxnSpPr>
              <a:cxnSpLocks/>
            </p:cNvCxnSpPr>
            <p:nvPr/>
          </p:nvCxnSpPr>
          <p:spPr bwMode="auto">
            <a:xfrm flipH="1">
              <a:off x="2410384" y="5085184"/>
              <a:ext cx="8222120"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25" name="Straight Connector 524">
              <a:extLst>
                <a:ext uri="{FF2B5EF4-FFF2-40B4-BE49-F238E27FC236}">
                  <a16:creationId xmlns:a16="http://schemas.microsoft.com/office/drawing/2014/main" id="{76B7CD33-AC09-7E4A-BB97-1EC00F9FE265}"/>
                </a:ext>
              </a:extLst>
            </p:cNvPr>
            <p:cNvCxnSpPr/>
            <p:nvPr/>
          </p:nvCxnSpPr>
          <p:spPr bwMode="auto">
            <a:xfrm flipH="1">
              <a:off x="5447928" y="472514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26" name="Straight Connector 525">
              <a:extLst>
                <a:ext uri="{FF2B5EF4-FFF2-40B4-BE49-F238E27FC236}">
                  <a16:creationId xmlns:a16="http://schemas.microsoft.com/office/drawing/2014/main" id="{8635D35E-8704-6F4A-A75E-028ED0B70C57}"/>
                </a:ext>
              </a:extLst>
            </p:cNvPr>
            <p:cNvCxnSpPr/>
            <p:nvPr/>
          </p:nvCxnSpPr>
          <p:spPr bwMode="auto">
            <a:xfrm flipH="1">
              <a:off x="5447928" y="472514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27" name="Straight Connector 526">
              <a:extLst>
                <a:ext uri="{FF2B5EF4-FFF2-40B4-BE49-F238E27FC236}">
                  <a16:creationId xmlns:a16="http://schemas.microsoft.com/office/drawing/2014/main" id="{68815A94-4EC0-8149-95A5-BD1062391B38}"/>
                </a:ext>
              </a:extLst>
            </p:cNvPr>
            <p:cNvCxnSpPr/>
            <p:nvPr/>
          </p:nvCxnSpPr>
          <p:spPr bwMode="auto">
            <a:xfrm flipH="1">
              <a:off x="5447928" y="436510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28" name="Straight Connector 527">
              <a:extLst>
                <a:ext uri="{FF2B5EF4-FFF2-40B4-BE49-F238E27FC236}">
                  <a16:creationId xmlns:a16="http://schemas.microsoft.com/office/drawing/2014/main" id="{977E2A01-6A8B-A94F-B4D0-3C5CD0D10DB3}"/>
                </a:ext>
              </a:extLst>
            </p:cNvPr>
            <p:cNvCxnSpPr/>
            <p:nvPr/>
          </p:nvCxnSpPr>
          <p:spPr bwMode="auto">
            <a:xfrm flipH="1">
              <a:off x="5447928" y="4725733"/>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29" name="Straight Connector 528">
              <a:extLst>
                <a:ext uri="{FF2B5EF4-FFF2-40B4-BE49-F238E27FC236}">
                  <a16:creationId xmlns:a16="http://schemas.microsoft.com/office/drawing/2014/main" id="{A79665FC-5954-214C-B380-68384F72F3DF}"/>
                </a:ext>
              </a:extLst>
            </p:cNvPr>
            <p:cNvCxnSpPr/>
            <p:nvPr/>
          </p:nvCxnSpPr>
          <p:spPr bwMode="auto">
            <a:xfrm flipH="1">
              <a:off x="5447928" y="436510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30" name="Straight Connector 529">
              <a:extLst>
                <a:ext uri="{FF2B5EF4-FFF2-40B4-BE49-F238E27FC236}">
                  <a16:creationId xmlns:a16="http://schemas.microsoft.com/office/drawing/2014/main" id="{48EC9181-32CD-024D-BF2D-1376C42BB6EF}"/>
                </a:ext>
              </a:extLst>
            </p:cNvPr>
            <p:cNvCxnSpPr/>
            <p:nvPr/>
          </p:nvCxnSpPr>
          <p:spPr bwMode="auto">
            <a:xfrm flipH="1">
              <a:off x="5447928" y="4365693"/>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31" name="Straight Connector 530">
              <a:extLst>
                <a:ext uri="{FF2B5EF4-FFF2-40B4-BE49-F238E27FC236}">
                  <a16:creationId xmlns:a16="http://schemas.microsoft.com/office/drawing/2014/main" id="{F421D95E-4739-3140-84AB-A30A21CA7BD7}"/>
                </a:ext>
              </a:extLst>
            </p:cNvPr>
            <p:cNvCxnSpPr/>
            <p:nvPr/>
          </p:nvCxnSpPr>
          <p:spPr bwMode="auto">
            <a:xfrm flipH="1">
              <a:off x="5447928" y="508518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32" name="Straight Connector 531">
              <a:extLst>
                <a:ext uri="{FF2B5EF4-FFF2-40B4-BE49-F238E27FC236}">
                  <a16:creationId xmlns:a16="http://schemas.microsoft.com/office/drawing/2014/main" id="{C81EF9CA-66D3-A942-B45B-AE6A5DAB4AC9}"/>
                </a:ext>
              </a:extLst>
            </p:cNvPr>
            <p:cNvCxnSpPr/>
            <p:nvPr/>
          </p:nvCxnSpPr>
          <p:spPr bwMode="auto">
            <a:xfrm flipH="1">
              <a:off x="5447928" y="472514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33" name="Straight Connector 532">
              <a:extLst>
                <a:ext uri="{FF2B5EF4-FFF2-40B4-BE49-F238E27FC236}">
                  <a16:creationId xmlns:a16="http://schemas.microsoft.com/office/drawing/2014/main" id="{453731E2-3EFA-9143-A918-5A69DD9B70FF}"/>
                </a:ext>
              </a:extLst>
            </p:cNvPr>
            <p:cNvCxnSpPr/>
            <p:nvPr/>
          </p:nvCxnSpPr>
          <p:spPr bwMode="auto">
            <a:xfrm flipH="1">
              <a:off x="5447928" y="472514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34" name="Straight Connector 533">
              <a:extLst>
                <a:ext uri="{FF2B5EF4-FFF2-40B4-BE49-F238E27FC236}">
                  <a16:creationId xmlns:a16="http://schemas.microsoft.com/office/drawing/2014/main" id="{33641E62-DB74-1D46-BFAB-5F812AD121A6}"/>
                </a:ext>
              </a:extLst>
            </p:cNvPr>
            <p:cNvCxnSpPr/>
            <p:nvPr/>
          </p:nvCxnSpPr>
          <p:spPr bwMode="auto">
            <a:xfrm flipH="1">
              <a:off x="5447928" y="436510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35" name="Straight Connector 534">
              <a:extLst>
                <a:ext uri="{FF2B5EF4-FFF2-40B4-BE49-F238E27FC236}">
                  <a16:creationId xmlns:a16="http://schemas.microsoft.com/office/drawing/2014/main" id="{B66F687A-C3B9-D34A-AFC1-B2B1934B60CB}"/>
                </a:ext>
              </a:extLst>
            </p:cNvPr>
            <p:cNvCxnSpPr>
              <a:cxnSpLocks/>
            </p:cNvCxnSpPr>
            <p:nvPr/>
          </p:nvCxnSpPr>
          <p:spPr bwMode="auto">
            <a:xfrm flipH="1">
              <a:off x="2387588" y="4725733"/>
              <a:ext cx="8244916"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36" name="Straight Connector 535">
              <a:extLst>
                <a:ext uri="{FF2B5EF4-FFF2-40B4-BE49-F238E27FC236}">
                  <a16:creationId xmlns:a16="http://schemas.microsoft.com/office/drawing/2014/main" id="{7F1DBB45-DA73-9348-952D-BDC92F2E1CCE}"/>
                </a:ext>
              </a:extLst>
            </p:cNvPr>
            <p:cNvCxnSpPr/>
            <p:nvPr/>
          </p:nvCxnSpPr>
          <p:spPr bwMode="auto">
            <a:xfrm flipH="1">
              <a:off x="5447928" y="4365104"/>
              <a:ext cx="72008" cy="0"/>
            </a:xfrm>
            <a:prstGeom prst="line">
              <a:avLst/>
            </a:prstGeom>
            <a:solidFill>
              <a:schemeClr val="accent1"/>
            </a:solidFill>
            <a:ln w="3175" cap="flat" cmpd="sng" algn="ctr">
              <a:solidFill>
                <a:schemeClr val="bg1">
                  <a:lumMod val="65000"/>
                </a:schemeClr>
              </a:solidFill>
              <a:prstDash val="dash"/>
              <a:round/>
              <a:headEnd type="none" w="med" len="med"/>
              <a:tailEnd type="none" w="med" len="med"/>
            </a:ln>
            <a:effectLst/>
          </p:spPr>
        </p:cxnSp>
        <p:cxnSp>
          <p:nvCxnSpPr>
            <p:cNvPr id="540" name="Straight Connector 539">
              <a:extLst>
                <a:ext uri="{FF2B5EF4-FFF2-40B4-BE49-F238E27FC236}">
                  <a16:creationId xmlns:a16="http://schemas.microsoft.com/office/drawing/2014/main" id="{588A7E18-886D-004C-A9CA-A68AFEE92842}"/>
                </a:ext>
              </a:extLst>
            </p:cNvPr>
            <p:cNvCxnSpPr>
              <a:cxnSpLocks/>
            </p:cNvCxnSpPr>
            <p:nvPr/>
          </p:nvCxnSpPr>
          <p:spPr bwMode="auto">
            <a:xfrm flipV="1">
              <a:off x="3022449" y="476672"/>
              <a:ext cx="6008976" cy="5112569"/>
            </a:xfrm>
            <a:prstGeom prst="line">
              <a:avLst/>
            </a:prstGeom>
            <a:solidFill>
              <a:schemeClr val="accent1"/>
            </a:solidFill>
            <a:ln w="28575" cap="flat" cmpd="sng" algn="ctr">
              <a:solidFill>
                <a:srgbClr val="FF0000"/>
              </a:solidFill>
              <a:prstDash val="solid"/>
              <a:round/>
              <a:headEnd type="none" w="med" len="med"/>
              <a:tailEnd type="none" w="med" len="med"/>
            </a:ln>
            <a:effectLst/>
          </p:spPr>
        </p:cxnSp>
        <p:sp>
          <p:nvSpPr>
            <p:cNvPr id="546" name="TextBox 545">
              <a:extLst>
                <a:ext uri="{FF2B5EF4-FFF2-40B4-BE49-F238E27FC236}">
                  <a16:creationId xmlns:a16="http://schemas.microsoft.com/office/drawing/2014/main" id="{6A2D9283-802B-4242-93AA-4C0164196870}"/>
                </a:ext>
              </a:extLst>
            </p:cNvPr>
            <p:cNvSpPr txBox="1"/>
            <p:nvPr/>
          </p:nvSpPr>
          <p:spPr>
            <a:xfrm>
              <a:off x="5718328" y="4329409"/>
              <a:ext cx="296876" cy="338554"/>
            </a:xfrm>
            <a:prstGeom prst="rect">
              <a:avLst/>
            </a:prstGeom>
            <a:noFill/>
          </p:spPr>
          <p:txBody>
            <a:bodyPr wrap="none" rtlCol="0">
              <a:spAutoFit/>
            </a:bodyPr>
            <a:lstStyle/>
            <a:p>
              <a:r>
                <a:rPr lang="en-GB" dirty="0"/>
                <a:t>1</a:t>
              </a:r>
            </a:p>
          </p:txBody>
        </p:sp>
        <p:sp>
          <p:nvSpPr>
            <p:cNvPr id="547" name="TextBox 546">
              <a:extLst>
                <a:ext uri="{FF2B5EF4-FFF2-40B4-BE49-F238E27FC236}">
                  <a16:creationId xmlns:a16="http://schemas.microsoft.com/office/drawing/2014/main" id="{F13DC45A-0C11-9748-A9BE-A6A6AD0E85EA}"/>
                </a:ext>
              </a:extLst>
            </p:cNvPr>
            <p:cNvSpPr txBox="1"/>
            <p:nvPr/>
          </p:nvSpPr>
          <p:spPr>
            <a:xfrm>
              <a:off x="6069844" y="4326423"/>
              <a:ext cx="296876" cy="338554"/>
            </a:xfrm>
            <a:prstGeom prst="rect">
              <a:avLst/>
            </a:prstGeom>
            <a:noFill/>
          </p:spPr>
          <p:txBody>
            <a:bodyPr wrap="none" rtlCol="0">
              <a:spAutoFit/>
            </a:bodyPr>
            <a:lstStyle/>
            <a:p>
              <a:r>
                <a:rPr lang="en-GB" dirty="0"/>
                <a:t>2</a:t>
              </a:r>
            </a:p>
          </p:txBody>
        </p:sp>
        <p:sp>
          <p:nvSpPr>
            <p:cNvPr id="548" name="TextBox 547">
              <a:extLst>
                <a:ext uri="{FF2B5EF4-FFF2-40B4-BE49-F238E27FC236}">
                  <a16:creationId xmlns:a16="http://schemas.microsoft.com/office/drawing/2014/main" id="{5321F8B2-B7AF-4D4C-BF4E-E0B377C57C47}"/>
                </a:ext>
              </a:extLst>
            </p:cNvPr>
            <p:cNvSpPr txBox="1"/>
            <p:nvPr/>
          </p:nvSpPr>
          <p:spPr>
            <a:xfrm>
              <a:off x="6421941" y="4326423"/>
              <a:ext cx="296876" cy="338554"/>
            </a:xfrm>
            <a:prstGeom prst="rect">
              <a:avLst/>
            </a:prstGeom>
            <a:noFill/>
          </p:spPr>
          <p:txBody>
            <a:bodyPr wrap="none" rtlCol="0">
              <a:spAutoFit/>
            </a:bodyPr>
            <a:lstStyle/>
            <a:p>
              <a:r>
                <a:rPr lang="en-GB" dirty="0"/>
                <a:t>3</a:t>
              </a:r>
            </a:p>
          </p:txBody>
        </p:sp>
        <p:sp>
          <p:nvSpPr>
            <p:cNvPr id="549" name="TextBox 548">
              <a:extLst>
                <a:ext uri="{FF2B5EF4-FFF2-40B4-BE49-F238E27FC236}">
                  <a16:creationId xmlns:a16="http://schemas.microsoft.com/office/drawing/2014/main" id="{ED04C810-6D2B-C14F-9C5C-F7D0A0CA126E}"/>
                </a:ext>
              </a:extLst>
            </p:cNvPr>
            <p:cNvSpPr txBox="1"/>
            <p:nvPr/>
          </p:nvSpPr>
          <p:spPr>
            <a:xfrm>
              <a:off x="6773453" y="4326423"/>
              <a:ext cx="296876" cy="338554"/>
            </a:xfrm>
            <a:prstGeom prst="rect">
              <a:avLst/>
            </a:prstGeom>
            <a:noFill/>
          </p:spPr>
          <p:txBody>
            <a:bodyPr wrap="none" rtlCol="0">
              <a:spAutoFit/>
            </a:bodyPr>
            <a:lstStyle/>
            <a:p>
              <a:r>
                <a:rPr lang="en-GB" dirty="0"/>
                <a:t>4</a:t>
              </a:r>
            </a:p>
          </p:txBody>
        </p:sp>
        <p:sp>
          <p:nvSpPr>
            <p:cNvPr id="550" name="TextBox 549">
              <a:extLst>
                <a:ext uri="{FF2B5EF4-FFF2-40B4-BE49-F238E27FC236}">
                  <a16:creationId xmlns:a16="http://schemas.microsoft.com/office/drawing/2014/main" id="{5AB71676-0A1D-D644-8C48-703BA378DA64}"/>
                </a:ext>
              </a:extLst>
            </p:cNvPr>
            <p:cNvSpPr txBox="1"/>
            <p:nvPr/>
          </p:nvSpPr>
          <p:spPr>
            <a:xfrm>
              <a:off x="7124826" y="4326423"/>
              <a:ext cx="296876" cy="338554"/>
            </a:xfrm>
            <a:prstGeom prst="rect">
              <a:avLst/>
            </a:prstGeom>
            <a:noFill/>
          </p:spPr>
          <p:txBody>
            <a:bodyPr wrap="none" rtlCol="0">
              <a:spAutoFit/>
            </a:bodyPr>
            <a:lstStyle/>
            <a:p>
              <a:r>
                <a:rPr lang="en-GB" dirty="0"/>
                <a:t>5</a:t>
              </a:r>
            </a:p>
          </p:txBody>
        </p:sp>
        <p:sp>
          <p:nvSpPr>
            <p:cNvPr id="551" name="TextBox 550">
              <a:extLst>
                <a:ext uri="{FF2B5EF4-FFF2-40B4-BE49-F238E27FC236}">
                  <a16:creationId xmlns:a16="http://schemas.microsoft.com/office/drawing/2014/main" id="{8F8D57F1-4003-4B44-82B9-1C9C121D35B9}"/>
                </a:ext>
              </a:extLst>
            </p:cNvPr>
            <p:cNvSpPr txBox="1"/>
            <p:nvPr/>
          </p:nvSpPr>
          <p:spPr>
            <a:xfrm>
              <a:off x="7476341" y="4326423"/>
              <a:ext cx="296876" cy="338554"/>
            </a:xfrm>
            <a:prstGeom prst="rect">
              <a:avLst/>
            </a:prstGeom>
            <a:noFill/>
          </p:spPr>
          <p:txBody>
            <a:bodyPr wrap="none" rtlCol="0">
              <a:spAutoFit/>
            </a:bodyPr>
            <a:lstStyle/>
            <a:p>
              <a:r>
                <a:rPr lang="en-GB" dirty="0"/>
                <a:t>6</a:t>
              </a:r>
            </a:p>
          </p:txBody>
        </p:sp>
        <p:sp>
          <p:nvSpPr>
            <p:cNvPr id="552" name="TextBox 551">
              <a:extLst>
                <a:ext uri="{FF2B5EF4-FFF2-40B4-BE49-F238E27FC236}">
                  <a16:creationId xmlns:a16="http://schemas.microsoft.com/office/drawing/2014/main" id="{232430C6-FE0D-0742-883F-BF179C9A0F87}"/>
                </a:ext>
              </a:extLst>
            </p:cNvPr>
            <p:cNvSpPr txBox="1"/>
            <p:nvPr/>
          </p:nvSpPr>
          <p:spPr>
            <a:xfrm>
              <a:off x="7827929" y="4326423"/>
              <a:ext cx="296876" cy="338554"/>
            </a:xfrm>
            <a:prstGeom prst="rect">
              <a:avLst/>
            </a:prstGeom>
            <a:noFill/>
          </p:spPr>
          <p:txBody>
            <a:bodyPr wrap="none" rtlCol="0">
              <a:spAutoFit/>
            </a:bodyPr>
            <a:lstStyle/>
            <a:p>
              <a:r>
                <a:rPr lang="en-GB" dirty="0"/>
                <a:t>7</a:t>
              </a:r>
            </a:p>
          </p:txBody>
        </p:sp>
        <p:sp>
          <p:nvSpPr>
            <p:cNvPr id="553" name="TextBox 552">
              <a:extLst>
                <a:ext uri="{FF2B5EF4-FFF2-40B4-BE49-F238E27FC236}">
                  <a16:creationId xmlns:a16="http://schemas.microsoft.com/office/drawing/2014/main" id="{FA1096CC-8713-D840-9069-060921D59160}"/>
                </a:ext>
              </a:extLst>
            </p:cNvPr>
            <p:cNvSpPr txBox="1"/>
            <p:nvPr/>
          </p:nvSpPr>
          <p:spPr>
            <a:xfrm>
              <a:off x="4976539" y="4326423"/>
              <a:ext cx="372218" cy="338554"/>
            </a:xfrm>
            <a:prstGeom prst="rect">
              <a:avLst/>
            </a:prstGeom>
            <a:noFill/>
          </p:spPr>
          <p:txBody>
            <a:bodyPr wrap="none" rtlCol="0">
              <a:spAutoFit/>
            </a:bodyPr>
            <a:lstStyle/>
            <a:p>
              <a:r>
                <a:rPr lang="en-GB" dirty="0"/>
                <a:t>-1</a:t>
              </a:r>
            </a:p>
          </p:txBody>
        </p:sp>
        <p:sp>
          <p:nvSpPr>
            <p:cNvPr id="554" name="TextBox 553">
              <a:extLst>
                <a:ext uri="{FF2B5EF4-FFF2-40B4-BE49-F238E27FC236}">
                  <a16:creationId xmlns:a16="http://schemas.microsoft.com/office/drawing/2014/main" id="{AB79479A-5D9A-F846-AE58-EFB526A786F9}"/>
                </a:ext>
              </a:extLst>
            </p:cNvPr>
            <p:cNvSpPr txBox="1"/>
            <p:nvPr/>
          </p:nvSpPr>
          <p:spPr>
            <a:xfrm>
              <a:off x="4624767" y="4326423"/>
              <a:ext cx="372218" cy="338554"/>
            </a:xfrm>
            <a:prstGeom prst="rect">
              <a:avLst/>
            </a:prstGeom>
            <a:noFill/>
          </p:spPr>
          <p:txBody>
            <a:bodyPr wrap="none" rtlCol="0">
              <a:spAutoFit/>
            </a:bodyPr>
            <a:lstStyle/>
            <a:p>
              <a:r>
                <a:rPr lang="en-GB" dirty="0"/>
                <a:t>-2</a:t>
              </a:r>
            </a:p>
          </p:txBody>
        </p:sp>
        <p:sp>
          <p:nvSpPr>
            <p:cNvPr id="555" name="TextBox 554">
              <a:extLst>
                <a:ext uri="{FF2B5EF4-FFF2-40B4-BE49-F238E27FC236}">
                  <a16:creationId xmlns:a16="http://schemas.microsoft.com/office/drawing/2014/main" id="{9C17E243-F5D2-2C4D-A1C9-635BCFB59440}"/>
                </a:ext>
              </a:extLst>
            </p:cNvPr>
            <p:cNvSpPr txBox="1"/>
            <p:nvPr/>
          </p:nvSpPr>
          <p:spPr>
            <a:xfrm>
              <a:off x="4274000" y="4326423"/>
              <a:ext cx="372218" cy="338554"/>
            </a:xfrm>
            <a:prstGeom prst="rect">
              <a:avLst/>
            </a:prstGeom>
            <a:noFill/>
          </p:spPr>
          <p:txBody>
            <a:bodyPr wrap="none" rtlCol="0">
              <a:spAutoFit/>
            </a:bodyPr>
            <a:lstStyle/>
            <a:p>
              <a:r>
                <a:rPr lang="en-GB" dirty="0"/>
                <a:t>-3</a:t>
              </a:r>
            </a:p>
          </p:txBody>
        </p:sp>
        <p:sp>
          <p:nvSpPr>
            <p:cNvPr id="556" name="TextBox 555">
              <a:extLst>
                <a:ext uri="{FF2B5EF4-FFF2-40B4-BE49-F238E27FC236}">
                  <a16:creationId xmlns:a16="http://schemas.microsoft.com/office/drawing/2014/main" id="{D2B7D86A-244E-6F4C-8A1B-688329EE1666}"/>
                </a:ext>
              </a:extLst>
            </p:cNvPr>
            <p:cNvSpPr txBox="1"/>
            <p:nvPr/>
          </p:nvSpPr>
          <p:spPr>
            <a:xfrm>
              <a:off x="3922352" y="4326423"/>
              <a:ext cx="372218" cy="338554"/>
            </a:xfrm>
            <a:prstGeom prst="rect">
              <a:avLst/>
            </a:prstGeom>
            <a:noFill/>
          </p:spPr>
          <p:txBody>
            <a:bodyPr wrap="none" rtlCol="0">
              <a:spAutoFit/>
            </a:bodyPr>
            <a:lstStyle/>
            <a:p>
              <a:r>
                <a:rPr lang="en-GB" dirty="0"/>
                <a:t>-4</a:t>
              </a:r>
            </a:p>
          </p:txBody>
        </p:sp>
        <p:sp>
          <p:nvSpPr>
            <p:cNvPr id="558" name="TextBox 557">
              <a:extLst>
                <a:ext uri="{FF2B5EF4-FFF2-40B4-BE49-F238E27FC236}">
                  <a16:creationId xmlns:a16="http://schemas.microsoft.com/office/drawing/2014/main" id="{67ACFDCF-A1B0-4D4A-B1ED-5C515194D84C}"/>
                </a:ext>
              </a:extLst>
            </p:cNvPr>
            <p:cNvSpPr txBox="1"/>
            <p:nvPr/>
          </p:nvSpPr>
          <p:spPr>
            <a:xfrm>
              <a:off x="3570678" y="4326423"/>
              <a:ext cx="372218" cy="338554"/>
            </a:xfrm>
            <a:prstGeom prst="rect">
              <a:avLst/>
            </a:prstGeom>
            <a:noFill/>
          </p:spPr>
          <p:txBody>
            <a:bodyPr wrap="none" rtlCol="0">
              <a:spAutoFit/>
            </a:bodyPr>
            <a:lstStyle/>
            <a:p>
              <a:r>
                <a:rPr lang="en-GB" dirty="0"/>
                <a:t>-5</a:t>
              </a:r>
            </a:p>
          </p:txBody>
        </p:sp>
        <p:sp>
          <p:nvSpPr>
            <p:cNvPr id="559" name="TextBox 558">
              <a:extLst>
                <a:ext uri="{FF2B5EF4-FFF2-40B4-BE49-F238E27FC236}">
                  <a16:creationId xmlns:a16="http://schemas.microsoft.com/office/drawing/2014/main" id="{D74A04A8-5931-584C-ABA3-C51E9D8C63AA}"/>
                </a:ext>
              </a:extLst>
            </p:cNvPr>
            <p:cNvSpPr txBox="1"/>
            <p:nvPr/>
          </p:nvSpPr>
          <p:spPr>
            <a:xfrm>
              <a:off x="10477179" y="4245597"/>
              <a:ext cx="410690" cy="523220"/>
            </a:xfrm>
            <a:prstGeom prst="rect">
              <a:avLst/>
            </a:prstGeom>
            <a:noFill/>
          </p:spPr>
          <p:txBody>
            <a:bodyPr wrap="none" rtlCol="0">
              <a:spAutoFit/>
            </a:bodyPr>
            <a:lstStyle/>
            <a:p>
              <a:r>
                <a:rPr lang="en-GB" sz="2800" dirty="0">
                  <a:latin typeface="Symbol" pitchFamily="2" charset="2"/>
                </a:rPr>
                <a:t>a</a:t>
              </a:r>
            </a:p>
          </p:txBody>
        </p:sp>
        <p:sp>
          <p:nvSpPr>
            <p:cNvPr id="563" name="Freeform 562">
              <a:extLst>
                <a:ext uri="{FF2B5EF4-FFF2-40B4-BE49-F238E27FC236}">
                  <a16:creationId xmlns:a16="http://schemas.microsoft.com/office/drawing/2014/main" id="{CDE9B510-459A-F84A-9CBF-74D668D7D21A}"/>
                </a:ext>
              </a:extLst>
            </p:cNvPr>
            <p:cNvSpPr/>
            <p:nvPr/>
          </p:nvSpPr>
          <p:spPr bwMode="auto">
            <a:xfrm>
              <a:off x="8976320" y="339222"/>
              <a:ext cx="1230923" cy="1073554"/>
            </a:xfrm>
            <a:custGeom>
              <a:avLst/>
              <a:gdLst>
                <a:gd name="connsiteX0" fmla="*/ 0 w 1230923"/>
                <a:gd name="connsiteY0" fmla="*/ 182600 h 1073554"/>
                <a:gd name="connsiteX1" fmla="*/ 550985 w 1230923"/>
                <a:gd name="connsiteY1" fmla="*/ 65369 h 1073554"/>
                <a:gd name="connsiteX2" fmla="*/ 1230923 w 1230923"/>
                <a:gd name="connsiteY2" fmla="*/ 1073554 h 1073554"/>
                <a:gd name="connsiteX3" fmla="*/ 1230923 w 1230923"/>
                <a:gd name="connsiteY3" fmla="*/ 1073554 h 1073554"/>
              </a:gdLst>
              <a:ahLst/>
              <a:cxnLst>
                <a:cxn ang="0">
                  <a:pos x="connsiteX0" y="connsiteY0"/>
                </a:cxn>
                <a:cxn ang="0">
                  <a:pos x="connsiteX1" y="connsiteY1"/>
                </a:cxn>
                <a:cxn ang="0">
                  <a:pos x="connsiteX2" y="connsiteY2"/>
                </a:cxn>
                <a:cxn ang="0">
                  <a:pos x="connsiteX3" y="connsiteY3"/>
                </a:cxn>
              </a:cxnLst>
              <a:rect l="l" t="t" r="r" b="b"/>
              <a:pathLst>
                <a:path w="1230923" h="1073554">
                  <a:moveTo>
                    <a:pt x="0" y="182600"/>
                  </a:moveTo>
                  <a:cubicBezTo>
                    <a:pt x="172915" y="49738"/>
                    <a:pt x="345831" y="-83123"/>
                    <a:pt x="550985" y="65369"/>
                  </a:cubicBezTo>
                  <a:cubicBezTo>
                    <a:pt x="756139" y="213861"/>
                    <a:pt x="1230923" y="1073554"/>
                    <a:pt x="1230923" y="1073554"/>
                  </a:cubicBezTo>
                  <a:lnTo>
                    <a:pt x="1230923" y="1073554"/>
                  </a:lnTo>
                </a:path>
              </a:pathLst>
            </a:cu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GB" sz="2200" b="0" i="0" u="none" strike="noStrike" cap="none" normalizeH="0" baseline="0">
                <a:ln>
                  <a:noFill/>
                </a:ln>
                <a:solidFill>
                  <a:schemeClr val="tx1"/>
                </a:solidFill>
                <a:effectLst/>
                <a:latin typeface="Tahoma" pitchFamily="34" charset="0"/>
              </a:endParaRPr>
            </a:p>
          </p:txBody>
        </p:sp>
        <p:sp>
          <p:nvSpPr>
            <p:cNvPr id="564" name="TextBox 563">
              <a:extLst>
                <a:ext uri="{FF2B5EF4-FFF2-40B4-BE49-F238E27FC236}">
                  <a16:creationId xmlns:a16="http://schemas.microsoft.com/office/drawing/2014/main" id="{1848716D-17BE-5841-8327-7A949FB3330C}"/>
                </a:ext>
              </a:extLst>
            </p:cNvPr>
            <p:cNvSpPr txBox="1"/>
            <p:nvPr/>
          </p:nvSpPr>
          <p:spPr>
            <a:xfrm>
              <a:off x="5112955" y="3835787"/>
              <a:ext cx="471604" cy="338554"/>
            </a:xfrm>
            <a:prstGeom prst="rect">
              <a:avLst/>
            </a:prstGeom>
            <a:noFill/>
          </p:spPr>
          <p:txBody>
            <a:bodyPr wrap="none" rtlCol="0">
              <a:spAutoFit/>
            </a:bodyPr>
            <a:lstStyle/>
            <a:p>
              <a:r>
                <a:rPr lang="en-GB" dirty="0"/>
                <a:t>0.1</a:t>
              </a:r>
            </a:p>
          </p:txBody>
        </p:sp>
        <p:sp>
          <p:nvSpPr>
            <p:cNvPr id="565" name="TextBox 564">
              <a:extLst>
                <a:ext uri="{FF2B5EF4-FFF2-40B4-BE49-F238E27FC236}">
                  <a16:creationId xmlns:a16="http://schemas.microsoft.com/office/drawing/2014/main" id="{E6CDB9C2-CF4A-0548-99D3-7AA527CB350D}"/>
                </a:ext>
              </a:extLst>
            </p:cNvPr>
            <p:cNvSpPr txBox="1"/>
            <p:nvPr/>
          </p:nvSpPr>
          <p:spPr>
            <a:xfrm>
              <a:off x="5112955" y="3475158"/>
              <a:ext cx="471604" cy="338554"/>
            </a:xfrm>
            <a:prstGeom prst="rect">
              <a:avLst/>
            </a:prstGeom>
            <a:noFill/>
          </p:spPr>
          <p:txBody>
            <a:bodyPr wrap="none" rtlCol="0">
              <a:spAutoFit/>
            </a:bodyPr>
            <a:lstStyle/>
            <a:p>
              <a:r>
                <a:rPr lang="en-GB" dirty="0"/>
                <a:t>0.2</a:t>
              </a:r>
            </a:p>
          </p:txBody>
        </p:sp>
        <p:sp>
          <p:nvSpPr>
            <p:cNvPr id="566" name="TextBox 565">
              <a:extLst>
                <a:ext uri="{FF2B5EF4-FFF2-40B4-BE49-F238E27FC236}">
                  <a16:creationId xmlns:a16="http://schemas.microsoft.com/office/drawing/2014/main" id="{4AB874DF-4307-2B44-9C96-FDE7F33C0133}"/>
                </a:ext>
              </a:extLst>
            </p:cNvPr>
            <p:cNvSpPr txBox="1"/>
            <p:nvPr/>
          </p:nvSpPr>
          <p:spPr>
            <a:xfrm>
              <a:off x="5112955" y="3119777"/>
              <a:ext cx="471604" cy="338554"/>
            </a:xfrm>
            <a:prstGeom prst="rect">
              <a:avLst/>
            </a:prstGeom>
            <a:noFill/>
          </p:spPr>
          <p:txBody>
            <a:bodyPr wrap="none" rtlCol="0">
              <a:spAutoFit/>
            </a:bodyPr>
            <a:lstStyle/>
            <a:p>
              <a:r>
                <a:rPr lang="en-GB" dirty="0"/>
                <a:t>0.3</a:t>
              </a:r>
            </a:p>
          </p:txBody>
        </p:sp>
        <p:sp>
          <p:nvSpPr>
            <p:cNvPr id="567" name="TextBox 566">
              <a:extLst>
                <a:ext uri="{FF2B5EF4-FFF2-40B4-BE49-F238E27FC236}">
                  <a16:creationId xmlns:a16="http://schemas.microsoft.com/office/drawing/2014/main" id="{FA4A6CEC-1001-974F-925E-A6B8539D8205}"/>
                </a:ext>
              </a:extLst>
            </p:cNvPr>
            <p:cNvSpPr txBox="1"/>
            <p:nvPr/>
          </p:nvSpPr>
          <p:spPr>
            <a:xfrm>
              <a:off x="5112955" y="2757813"/>
              <a:ext cx="471604" cy="338554"/>
            </a:xfrm>
            <a:prstGeom prst="rect">
              <a:avLst/>
            </a:prstGeom>
            <a:noFill/>
          </p:spPr>
          <p:txBody>
            <a:bodyPr wrap="none" rtlCol="0">
              <a:spAutoFit/>
            </a:bodyPr>
            <a:lstStyle/>
            <a:p>
              <a:r>
                <a:rPr lang="en-GB" dirty="0"/>
                <a:t>0.4</a:t>
              </a:r>
            </a:p>
          </p:txBody>
        </p:sp>
        <p:sp>
          <p:nvSpPr>
            <p:cNvPr id="568" name="TextBox 567">
              <a:extLst>
                <a:ext uri="{FF2B5EF4-FFF2-40B4-BE49-F238E27FC236}">
                  <a16:creationId xmlns:a16="http://schemas.microsoft.com/office/drawing/2014/main" id="{B0EFA892-3BC5-6141-AD2B-7BAA381796FD}"/>
                </a:ext>
              </a:extLst>
            </p:cNvPr>
            <p:cNvSpPr txBox="1"/>
            <p:nvPr/>
          </p:nvSpPr>
          <p:spPr>
            <a:xfrm>
              <a:off x="5112955" y="2394449"/>
              <a:ext cx="471604" cy="338554"/>
            </a:xfrm>
            <a:prstGeom prst="rect">
              <a:avLst/>
            </a:prstGeom>
            <a:noFill/>
          </p:spPr>
          <p:txBody>
            <a:bodyPr wrap="none" rtlCol="0">
              <a:spAutoFit/>
            </a:bodyPr>
            <a:lstStyle/>
            <a:p>
              <a:r>
                <a:rPr lang="en-GB" dirty="0"/>
                <a:t>0.5</a:t>
              </a:r>
            </a:p>
          </p:txBody>
        </p:sp>
        <p:sp>
          <p:nvSpPr>
            <p:cNvPr id="569" name="TextBox 568">
              <a:extLst>
                <a:ext uri="{FF2B5EF4-FFF2-40B4-BE49-F238E27FC236}">
                  <a16:creationId xmlns:a16="http://schemas.microsoft.com/office/drawing/2014/main" id="{EDC850A1-3F8E-DE49-A5D8-CB1A494D46C8}"/>
                </a:ext>
              </a:extLst>
            </p:cNvPr>
            <p:cNvSpPr txBox="1"/>
            <p:nvPr/>
          </p:nvSpPr>
          <p:spPr>
            <a:xfrm>
              <a:off x="7957324" y="4341022"/>
              <a:ext cx="352981" cy="338554"/>
            </a:xfrm>
            <a:prstGeom prst="rect">
              <a:avLst/>
            </a:prstGeom>
            <a:noFill/>
          </p:spPr>
          <p:txBody>
            <a:bodyPr wrap="none" rtlCol="0">
              <a:spAutoFit/>
            </a:bodyPr>
            <a:lstStyle/>
            <a:p>
              <a:r>
                <a:rPr lang="en-GB" dirty="0"/>
                <a:t>…</a:t>
              </a:r>
            </a:p>
          </p:txBody>
        </p:sp>
        <p:sp>
          <p:nvSpPr>
            <p:cNvPr id="570" name="TextBox 569">
              <a:extLst>
                <a:ext uri="{FF2B5EF4-FFF2-40B4-BE49-F238E27FC236}">
                  <a16:creationId xmlns:a16="http://schemas.microsoft.com/office/drawing/2014/main" id="{1E8F534F-59BB-674F-A41B-CA34971D3BBA}"/>
                </a:ext>
              </a:extLst>
            </p:cNvPr>
            <p:cNvSpPr txBox="1"/>
            <p:nvPr/>
          </p:nvSpPr>
          <p:spPr>
            <a:xfrm rot="16200000">
              <a:off x="5200805" y="2080382"/>
              <a:ext cx="352981" cy="338554"/>
            </a:xfrm>
            <a:prstGeom prst="rect">
              <a:avLst/>
            </a:prstGeom>
            <a:noFill/>
          </p:spPr>
          <p:txBody>
            <a:bodyPr wrap="none" rtlCol="0">
              <a:spAutoFit/>
            </a:bodyPr>
            <a:lstStyle/>
            <a:p>
              <a:r>
                <a:rPr lang="en-GB" dirty="0"/>
                <a:t>…</a:t>
              </a:r>
            </a:p>
          </p:txBody>
        </p:sp>
        <p:sp>
          <p:nvSpPr>
            <p:cNvPr id="571" name="TextBox 570">
              <a:extLst>
                <a:ext uri="{FF2B5EF4-FFF2-40B4-BE49-F238E27FC236}">
                  <a16:creationId xmlns:a16="http://schemas.microsoft.com/office/drawing/2014/main" id="{E0CD8435-4F3F-C34E-8627-C7E8C5FC6E26}"/>
                </a:ext>
              </a:extLst>
            </p:cNvPr>
            <p:cNvSpPr txBox="1"/>
            <p:nvPr/>
          </p:nvSpPr>
          <p:spPr>
            <a:xfrm>
              <a:off x="4836969" y="87016"/>
              <a:ext cx="681041" cy="461665"/>
            </a:xfrm>
            <a:prstGeom prst="rect">
              <a:avLst/>
            </a:prstGeom>
            <a:noFill/>
          </p:spPr>
          <p:txBody>
            <a:bodyPr wrap="square" rtlCol="0">
              <a:spAutoFit/>
            </a:bodyPr>
            <a:lstStyle/>
            <a:p>
              <a:r>
                <a:rPr lang="en-GB" sz="2400" i="1" dirty="0">
                  <a:latin typeface="Times" pitchFamily="2" charset="0"/>
                </a:rPr>
                <a:t>C</a:t>
              </a:r>
              <a:r>
                <a:rPr lang="en-GB" sz="2400" i="1" baseline="-25000" dirty="0">
                  <a:latin typeface="Times" pitchFamily="2" charset="0"/>
                </a:rPr>
                <a:t>L</a:t>
              </a:r>
            </a:p>
          </p:txBody>
        </p:sp>
      </p:grpSp>
    </p:spTree>
    <p:extLst>
      <p:ext uri="{BB962C8B-B14F-4D97-AF65-F5344CB8AC3E}">
        <p14:creationId xmlns:p14="http://schemas.microsoft.com/office/powerpoint/2010/main" val="40624763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PANDSHOWBAR" val="True"/>
  <p:tag name="BULLETTYPE" val="3"/>
  <p:tag name="RESPCOUNTERSTYLE" val="-1"/>
  <p:tag name="INPUTSOURCE" val="1"/>
  <p:tag name="BACKUPMAINTENANCE" val="7"/>
  <p:tag name="ROTATIONINTERVAL" val="2"/>
  <p:tag name="RACERSMAXDISPLAYED" val="5"/>
  <p:tag name="TEAMSINLEADERBOARD" val="5"/>
  <p:tag name="BUBBLEVALUEFORMAT" val="0.0"/>
  <p:tag name="CUSTOMCELLFORECOLOR" val="-16777216"/>
  <p:tag name="CUSTOMCELLBACKCOLOR4" val="-8355712"/>
  <p:tag name="DISPLAYDEVICEID" val="True"/>
  <p:tag name="GRIDSIZE" val="{Width=800, Height=600}"/>
  <p:tag name="CHARTLABELS" val="1"/>
  <p:tag name="PARTLISTDEFAULT" val="1"/>
  <p:tag name="INCORRECTPOINTVALUE" val="0"/>
  <p:tag name="AUTOADJUSTPARTRANGE" val="True"/>
  <p:tag name="FIBNUMRESULTS" val="5"/>
  <p:tag name="PRRESPONSE2" val="9"/>
  <p:tag name="PRRESPONSE6" val="5"/>
  <p:tag name="PRRESPONSE10" val="1"/>
  <p:tag name="POWERPOINTVERSION" val="14.0"/>
  <p:tag name="CSVFORMAT" val="0"/>
  <p:tag name="RESPCOUNTERFORMAT" val="0"/>
  <p:tag name="ALLOWDUPLICATES" val="False"/>
  <p:tag name="REVIEWONLY" val="False"/>
  <p:tag name="RACEANIMATIONSPEED" val="3"/>
  <p:tag name="BUBBLENAMEVISIBLE" val="True"/>
  <p:tag name="CUSTOMGRIDBACKCOLOR" val="-2830136"/>
  <p:tag name="USESCHEMECOLORS" val="True"/>
  <p:tag name="GRIDROTATIONINTERVAL" val="2"/>
  <p:tag name="CHARTCOLORS" val="0"/>
  <p:tag name="INCLUDEPPT" val="True"/>
  <p:tag name="REALTIMEBACKUPPATH" val="(None)"/>
  <p:tag name="FIBDISPLAYRESULTS" val="True"/>
  <p:tag name="PRRESPONSE3" val="8"/>
  <p:tag name="PRRESPONSE8" val="3"/>
  <p:tag name="ANSWERNOWSTYLE" val="-1"/>
  <p:tag name="COUNTDOWNSECONDS" val="10"/>
  <p:tag name="AUTOADVANCE" val="False"/>
  <p:tag name="SKIPREMAININGRACESLIDES" val="True"/>
  <p:tag name="BUBBLEGROUPING" val="3"/>
  <p:tag name="CUSTOMCELLBACKCOLOR3" val="-268652"/>
  <p:tag name="AUTOSIZEGRID" val="True"/>
  <p:tag name="INCLUDENONRESPONDERS" val="False"/>
  <p:tag name="REALTIMEBACKUP" val="False"/>
  <p:tag name="FIBINCLUDEOTHER" val="True"/>
  <p:tag name="PRRESPONSE5" val="6"/>
  <p:tag name="ALWAYSOPENPOLL" val="False"/>
  <p:tag name="ANSWERNOWTEXT" val="Answer Now"/>
  <p:tag name="BACKUPSESSIONS" val="True"/>
  <p:tag name="RACEENDPOINTS" val="100"/>
  <p:tag name="DEFAULTNUMTEAMS" val="5"/>
  <p:tag name="DISPLAYDEVICENUMBER" val="True"/>
  <p:tag name="RESETCHARTS" val="True"/>
  <p:tag name="ZEROBASED" val="False"/>
  <p:tag name="PRRESPONSE1" val="10"/>
  <p:tag name="SHOWFLASHWARNING" val="True"/>
  <p:tag name="COUNTDOWNSTYLE" val="-1"/>
  <p:tag name="AUTOUPDATEALIASES" val="True"/>
  <p:tag name="BUBBLESIZEVISIBLE" val="True"/>
  <p:tag name="GRIDOPACITY" val="90"/>
  <p:tag name="ALLOWUSERFEEDBACK" val="True"/>
  <p:tag name="FIBDISPLAYKEYWORDS" val="True"/>
  <p:tag name="SHOWBARVISIBLE" val="True"/>
  <p:tag name="NUMRESPONSES" val="1"/>
  <p:tag name="MAXRESPONDERS" val="5"/>
  <p:tag name="GRIDPOSITION" val="1"/>
  <p:tag name="CHARTSCALE" val="True"/>
  <p:tag name="PRRESPONSE9" val="2"/>
  <p:tag name="CHARTVALUEFORMAT" val="0%"/>
  <p:tag name="CUSTOMCELLBACKCOLOR2" val="-13395457"/>
  <p:tag name="CORRECTPOINTVALUE" val="1"/>
  <p:tag name="USESECONDARYMONITOR" val="True"/>
  <p:tag name="PARTICIPANTSINLEADERBOARD" val="5"/>
  <p:tag name="MULTIRESPDIVISOR" val="1"/>
  <p:tag name="SAVECSVWITHSESSION" val="False"/>
  <p:tag name="DISPLAYNAME" val="True"/>
  <p:tag name="PRRESPONSE7" val="4"/>
  <p:tag name="POLLINGCYCLE" val="2"/>
  <p:tag name="STDCHART" val="1"/>
  <p:tag name="RESPTABLESTYLE" val="-1"/>
  <p:tag name="CUSTOMCELLBACKCOLOR1" val="-657956"/>
  <p:tag name="PRRESPONSE4" val="7"/>
  <p:tag name="ADVANCEDSETTINGSVIEW" val="False"/>
  <p:tag name="DELIMITERS" val="3.1"/>
  <p:tag name="TPPRESENTATIONGUID" val="92161fc9-3f67-4e7b-bbe6-1734f4ea520f"/>
  <p:tag name="WASPOLLED" val="7823FE34A9354373B03C916C88C2B69B"/>
  <p:tag name="TPVERSION" val="7"/>
  <p:tag name="PPTVERSION" val="16"/>
  <p:tag name="TPOS" val="6"/>
  <p:tag name="TPFULLVERSION" val="9.0.3.2"/>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Lst>
</file>

<file path=ppt/tags/tag4.xml><?xml version="1.0" encoding="utf-8"?>
<p:tagLst xmlns:a="http://schemas.openxmlformats.org/drawingml/2006/main" xmlns:r="http://schemas.openxmlformats.org/officeDocument/2006/relationships" xmlns:p="http://schemas.openxmlformats.org/presentationml/2006/main">
  <p:tag name="VEVOX.POLL" val="{&quot;id&quot;:&quot;4126001&quot;,&quot;questionSettings&quot;:{},&quot;alias&quot;:&quot;&quot;,&quot;text&quot;:&quot;What is the value of the stall AoA for this airfoil?&quot;,&quot;@type&quot;:&quot;MultipleChoiceQuestion&quot;,&quot;choices&quot;:[{&quot;id&quot;:&quot;15497712&quot;,&quot;alias&quot;:null,&quot;text&quot;:&quot;- 15 [deg]&quot;,&quot;excludeFromResults&quot;:false,&quot;image&quot;:null,&quot;imageAltText&quot;:null,&quot;isCorrectAnswer&quot;:true},{&quot;id&quot;:&quot;15497713&quot;,&quot;alias&quot;:null,&quot;text&quot;:&quot;10 [deg]&quot;,&quot;excludeFromResults&quot;:false,&quot;image&quot;:null,&quot;imageAltText&quot;:null,&quot;isCorrectAnswer&quot;:false},{&quot;id&quot;:&quot;15497714&quot;,&quot;alias&quot;:null,&quot;text&quot;:&quot;15 [deg]&quot;,&quot;excludeFromResults&quot;:false,&quot;image&quot;:null,&quot;imageAltText&quot;:null,&quot;isCorrectAnswer&quot;:false},{&quot;id&quot;:&quot;15497715&quot;,&quot;alias&quot;:null,&quot;text&quot;:&quot;20 [deg]&quot;,&quot;excludeFromResults&quot;:false,&quot;image&quot;:null,&quot;imageAltText&quot;:null,&quot;isCorrectAnswer&quot;:false},{&quot;id&quot;:&quot;15497716&quot;,&quot;alias&quot;:null,&quot;text&quot;:&quot;None of the listed value&quot;,&quot;excludeFromResults&quot;:false,&quot;image&quot;:null,&quot;imageAltText&quot;:null,&quot;isCorrectAnswer&quot;:false}],&quot;resultFormat&quot;:&quot;%&quot;,&quot;minNumberSelections&quot;:1,&quot;maxNumberSelections&quot;:1,&quot;image&quot;:&quot;d834334a-09a4-465b-a4e4-3e366167c435&quot;}"/>
  <p:tag name="VEVOX.ORIGIN.SESSION.ID" val="626966"/>
  <p:tag name="VEVOX.ORIGIN.QUESTION.ID" val="4126001"/>
  <p:tag name="VEVOX.QUESTIONSLIDEID" val="935#1167190736/448292345"/>
  <p:tag name="VEVOX.SLIDEFORMAT.VERSION" val="1.010"/>
  <p:tag name="VEVOX.DEBUG.GIFTCARDINSERT" val=" Load attempt 1: image fetched. Load succesfull. load seems succesful. trying to insert. starting insert attempt 1: Insert seems succesful."/>
  <p:tag name="VEVOX.HASRESULTS" val="true"/>
</p:tagLst>
</file>

<file path=ppt/tags/tag5.xml><?xml version="1.0" encoding="utf-8"?>
<p:tagLst xmlns:a="http://schemas.openxmlformats.org/drawingml/2006/main" xmlns:r="http://schemas.openxmlformats.org/officeDocument/2006/relationships" xmlns:p="http://schemas.openxmlformats.org/presentationml/2006/main">
  <p:tag name="VEVOX.QUESTION" val="What is the value of the stall AoA for this airfoil?"/>
</p:tagLst>
</file>

<file path=ppt/tags/tag6.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7.xml><?xml version="1.0" encoding="utf-8"?>
<p:tagLst xmlns:a="http://schemas.openxmlformats.org/drawingml/2006/main" xmlns:r="http://schemas.openxmlformats.org/officeDocument/2006/relationships" xmlns:p="http://schemas.openxmlformats.org/presentationml/2006/main">
  <p:tag name="VEVOX.IMAGE.PLACEHOLDER" val="3"/>
</p:tagLst>
</file>

<file path=ppt/tags/tag8.xml><?xml version="1.0" encoding="utf-8"?>
<p:tagLst xmlns:a="http://schemas.openxmlformats.org/drawingml/2006/main" xmlns:r="http://schemas.openxmlformats.org/officeDocument/2006/relationships" xmlns:p="http://schemas.openxmlformats.org/presentationml/2006/main">
  <p:tag name="VEVOX.POLL.IMAGE" val="X"/>
</p:tagLst>
</file>

<file path=ppt/tags/tag9.xml><?xml version="1.0" encoding="utf-8"?>
<p:tagLst xmlns:a="http://schemas.openxmlformats.org/drawingml/2006/main" xmlns:r="http://schemas.openxmlformats.org/officeDocument/2006/relationships" xmlns:p="http://schemas.openxmlformats.org/presentationml/2006/main">
  <p:tag name="VEVOX.PARTICIPANTS" val="{&quot;left&quot;:5,&quot;top&quot;:5,&quot;width&quot;:160,&quot;height&quot;:30}"/>
</p:tagLst>
</file>

<file path=ppt/tags/tag10.xml><?xml version="1.0" encoding="utf-8"?>
<p:tagLst xmlns:a="http://schemas.openxmlformats.org/drawingml/2006/main" xmlns:r="http://schemas.openxmlformats.org/officeDocument/2006/relationships" xmlns:p="http://schemas.openxmlformats.org/presentationml/2006/main">
  <p:tag name="VEVOX.POLLSTATUSTEXT" val="{&quot;left&quot;:795,&quot;top&quot;:5,&quot;width&quot;:160,&quot;height&quot;:30}"/>
</p:tagLst>
</file>

<file path=ppt/tags/tag11.xml><?xml version="1.0" encoding="utf-8"?>
<p:tagLst xmlns:a="http://schemas.openxmlformats.org/drawingml/2006/main" xmlns:r="http://schemas.openxmlformats.org/officeDocument/2006/relationships" xmlns:p="http://schemas.openxmlformats.org/presentationml/2006/main">
  <p:tag name="VEVOX.PARTICIPANTSDOODLE.SHOULDERS" val="{&quot;left&quot;:13,&quot;top&quot;:20,&quot;width&quot;:14,&quot;height&quot;:10}"/>
</p:tagLst>
</file>

<file path=ppt/tags/tag12.xml><?xml version="1.0" encoding="utf-8"?>
<p:tagLst xmlns:a="http://schemas.openxmlformats.org/drawingml/2006/main" xmlns:r="http://schemas.openxmlformats.org/officeDocument/2006/relationships" xmlns:p="http://schemas.openxmlformats.org/presentationml/2006/main">
  <p:tag name="VEVOX.PARTICIPANTSDOODLE.HEAD" val="{&quot;left&quot;:15,&quot;top&quot;:10,&quot;width&quot;:10,&quot;height&quot;:10}"/>
</p:tagLst>
</file>

<file path=ppt/tags/tag13.xml><?xml version="1.0" encoding="utf-8"?>
<p:tagLst xmlns:a="http://schemas.openxmlformats.org/drawingml/2006/main" xmlns:r="http://schemas.openxmlformats.org/officeDocument/2006/relationships" xmlns:p="http://schemas.openxmlformats.org/presentationml/2006/main">
  <p:tag name="VEVOX.COUNTDOWNTIMER.DISPLAY" val="{&quot;left&quot;:893,&quot;top&quot;:473,&quot;width&quot;:60,&quot;height&quot;:60}"/>
</p:tagLst>
</file>

<file path=ppt/tags/tag14.xml><?xml version="1.0" encoding="utf-8"?>
<p:tagLst xmlns:a="http://schemas.openxmlformats.org/drawingml/2006/main" xmlns:r="http://schemas.openxmlformats.org/officeDocument/2006/relationships" xmlns:p="http://schemas.openxmlformats.org/presentationml/2006/main">
  <p:tag name="VEVOX.JOIN.URL" val="{&quot;left&quot;:270,&quot;top&quot;:7,&quot;width&quot;:190,&quot;height&quot;:30}"/>
</p:tagLst>
</file>

<file path=ppt/tags/tag15.xml><?xml version="1.0" encoding="utf-8"?>
<p:tagLst xmlns:a="http://schemas.openxmlformats.org/drawingml/2006/main" xmlns:r="http://schemas.openxmlformats.org/officeDocument/2006/relationships" xmlns:p="http://schemas.openxmlformats.org/presentationml/2006/main">
  <p:tag name="VEVOX.ACCESSCODE.DISPLAY" val="{&quot;left&quot;:500,&quot;top&quot;:8,&quot;width&quot;:190,&quot;height&quot;:30}"/>
</p:tagLst>
</file>

<file path=ppt/tags/tag16.xml><?xml version="1.0" encoding="utf-8"?>
<p:tagLst xmlns:a="http://schemas.openxmlformats.org/drawingml/2006/main" xmlns:r="http://schemas.openxmlformats.org/officeDocument/2006/relationships" xmlns:p="http://schemas.openxmlformats.org/presentationml/2006/main">
  <p:tag name="VEVOX.TITLE" val="TITLE1"/>
</p:tagLst>
</file>

<file path=ppt/tags/tag17.xml><?xml version="1.0" encoding="utf-8"?>
<p:tagLst xmlns:a="http://schemas.openxmlformats.org/drawingml/2006/main" xmlns:r="http://schemas.openxmlformats.org/officeDocument/2006/relationships" xmlns:p="http://schemas.openxmlformats.org/presentationml/2006/main">
  <p:tag name="VEVOX.DATALABEL" val="DATALABEL1"/>
</p:tagLst>
</file>

<file path=ppt/tags/tag18.xml><?xml version="1.0" encoding="utf-8"?>
<p:tagLst xmlns:a="http://schemas.openxmlformats.org/drawingml/2006/main" xmlns:r="http://schemas.openxmlformats.org/officeDocument/2006/relationships" xmlns:p="http://schemas.openxmlformats.org/presentationml/2006/main">
  <p:tag name="VEVOX.BORDER" val="BORDER1"/>
</p:tagLst>
</file>

<file path=ppt/tags/tag19.xml><?xml version="1.0" encoding="utf-8"?>
<p:tagLst xmlns:a="http://schemas.openxmlformats.org/drawingml/2006/main" xmlns:r="http://schemas.openxmlformats.org/officeDocument/2006/relationships" xmlns:p="http://schemas.openxmlformats.org/presentationml/2006/main">
  <p:tag name="VEVOX.BAR" val="BAR1"/>
</p:tagLst>
</file>

<file path=ppt/tags/tag20.xml><?xml version="1.0" encoding="utf-8"?>
<p:tagLst xmlns:a="http://schemas.openxmlformats.org/drawingml/2006/main" xmlns:r="http://schemas.openxmlformats.org/officeDocument/2006/relationships" xmlns:p="http://schemas.openxmlformats.org/presentationml/2006/main">
  <p:tag name="VEVOX.TITLE" val="TITLE2"/>
</p:tagLst>
</file>

<file path=ppt/tags/tag21.xml><?xml version="1.0" encoding="utf-8"?>
<p:tagLst xmlns:a="http://schemas.openxmlformats.org/drawingml/2006/main" xmlns:r="http://schemas.openxmlformats.org/officeDocument/2006/relationships" xmlns:p="http://schemas.openxmlformats.org/presentationml/2006/main">
  <p:tag name="VEVOX.DATALABEL" val="DATALABEL2"/>
</p:tagLst>
</file>

<file path=ppt/tags/tag22.xml><?xml version="1.0" encoding="utf-8"?>
<p:tagLst xmlns:a="http://schemas.openxmlformats.org/drawingml/2006/main" xmlns:r="http://schemas.openxmlformats.org/officeDocument/2006/relationships" xmlns:p="http://schemas.openxmlformats.org/presentationml/2006/main">
  <p:tag name="VEVOX.BORDER" val="BORDER2"/>
</p:tagLst>
</file>

<file path=ppt/tags/tag23.xml><?xml version="1.0" encoding="utf-8"?>
<p:tagLst xmlns:a="http://schemas.openxmlformats.org/drawingml/2006/main" xmlns:r="http://schemas.openxmlformats.org/officeDocument/2006/relationships" xmlns:p="http://schemas.openxmlformats.org/presentationml/2006/main">
  <p:tag name="VEVOX.BAR" val="BAR2"/>
</p:tagLst>
</file>

<file path=ppt/tags/tag24.xml><?xml version="1.0" encoding="utf-8"?>
<p:tagLst xmlns:a="http://schemas.openxmlformats.org/drawingml/2006/main" xmlns:r="http://schemas.openxmlformats.org/officeDocument/2006/relationships" xmlns:p="http://schemas.openxmlformats.org/presentationml/2006/main">
  <p:tag name="VEVOX.TITLE" val="TITLE3"/>
</p:tagLst>
</file>

<file path=ppt/tags/tag25.xml><?xml version="1.0" encoding="utf-8"?>
<p:tagLst xmlns:a="http://schemas.openxmlformats.org/drawingml/2006/main" xmlns:r="http://schemas.openxmlformats.org/officeDocument/2006/relationships" xmlns:p="http://schemas.openxmlformats.org/presentationml/2006/main">
  <p:tag name="VEVOX.DATALABEL" val="DATALABEL3"/>
</p:tagLst>
</file>

<file path=ppt/tags/tag26.xml><?xml version="1.0" encoding="utf-8"?>
<p:tagLst xmlns:a="http://schemas.openxmlformats.org/drawingml/2006/main" xmlns:r="http://schemas.openxmlformats.org/officeDocument/2006/relationships" xmlns:p="http://schemas.openxmlformats.org/presentationml/2006/main">
  <p:tag name="VEVOX.BORDER" val="BORDER3"/>
</p:tagLst>
</file>

<file path=ppt/tags/tag27.xml><?xml version="1.0" encoding="utf-8"?>
<p:tagLst xmlns:a="http://schemas.openxmlformats.org/drawingml/2006/main" xmlns:r="http://schemas.openxmlformats.org/officeDocument/2006/relationships" xmlns:p="http://schemas.openxmlformats.org/presentationml/2006/main">
  <p:tag name="VEVOX.BAR" val="BAR3"/>
</p:tagLst>
</file>

<file path=ppt/tags/tag28.xml><?xml version="1.0" encoding="utf-8"?>
<p:tagLst xmlns:a="http://schemas.openxmlformats.org/drawingml/2006/main" xmlns:r="http://schemas.openxmlformats.org/officeDocument/2006/relationships" xmlns:p="http://schemas.openxmlformats.org/presentationml/2006/main">
  <p:tag name="VEVOX.TITLE" val="TITLE4"/>
</p:tagLst>
</file>

<file path=ppt/tags/tag29.xml><?xml version="1.0" encoding="utf-8"?>
<p:tagLst xmlns:a="http://schemas.openxmlformats.org/drawingml/2006/main" xmlns:r="http://schemas.openxmlformats.org/officeDocument/2006/relationships" xmlns:p="http://schemas.openxmlformats.org/presentationml/2006/main">
  <p:tag name="VEVOX.DATALABEL" val="DATALABEL4"/>
</p:tagLst>
</file>

<file path=ppt/tags/tag30.xml><?xml version="1.0" encoding="utf-8"?>
<p:tagLst xmlns:a="http://schemas.openxmlformats.org/drawingml/2006/main" xmlns:r="http://schemas.openxmlformats.org/officeDocument/2006/relationships" xmlns:p="http://schemas.openxmlformats.org/presentationml/2006/main">
  <p:tag name="VEVOX.BORDER" val="BORDER4"/>
</p:tagLst>
</file>

<file path=ppt/tags/tag31.xml><?xml version="1.0" encoding="utf-8"?>
<p:tagLst xmlns:a="http://schemas.openxmlformats.org/drawingml/2006/main" xmlns:r="http://schemas.openxmlformats.org/officeDocument/2006/relationships" xmlns:p="http://schemas.openxmlformats.org/presentationml/2006/main">
  <p:tag name="VEVOX.BAR" val="BAR4"/>
</p:tagLst>
</file>

<file path=ppt/tags/tag32.xml><?xml version="1.0" encoding="utf-8"?>
<p:tagLst xmlns:a="http://schemas.openxmlformats.org/drawingml/2006/main" xmlns:r="http://schemas.openxmlformats.org/officeDocument/2006/relationships" xmlns:p="http://schemas.openxmlformats.org/presentationml/2006/main">
  <p:tag name="VEVOX.TITLE" val="TITLE5"/>
</p:tagLst>
</file>

<file path=ppt/tags/tag33.xml><?xml version="1.0" encoding="utf-8"?>
<p:tagLst xmlns:a="http://schemas.openxmlformats.org/drawingml/2006/main" xmlns:r="http://schemas.openxmlformats.org/officeDocument/2006/relationships" xmlns:p="http://schemas.openxmlformats.org/presentationml/2006/main">
  <p:tag name="VEVOX.DATALABEL" val="DATALABEL5"/>
</p:tagLst>
</file>

<file path=ppt/tags/tag34.xml><?xml version="1.0" encoding="utf-8"?>
<p:tagLst xmlns:a="http://schemas.openxmlformats.org/drawingml/2006/main" xmlns:r="http://schemas.openxmlformats.org/officeDocument/2006/relationships" xmlns:p="http://schemas.openxmlformats.org/presentationml/2006/main">
  <p:tag name="VEVOX.BORDER" val="BORDER5"/>
</p:tagLst>
</file>

<file path=ppt/tags/tag35.xml><?xml version="1.0" encoding="utf-8"?>
<p:tagLst xmlns:a="http://schemas.openxmlformats.org/drawingml/2006/main" xmlns:r="http://schemas.openxmlformats.org/officeDocument/2006/relationships" xmlns:p="http://schemas.openxmlformats.org/presentationml/2006/main">
  <p:tag name="VEVOX.BAR" val="BAR5"/>
</p:tagLst>
</file>

<file path=ppt/tags/tag36.xml><?xml version="1.0" encoding="utf-8"?>
<p:tagLst xmlns:a="http://schemas.openxmlformats.org/drawingml/2006/main" xmlns:r="http://schemas.openxmlformats.org/officeDocument/2006/relationships" xmlns:p="http://schemas.openxmlformats.org/presentationml/2006/main">
  <p:tag name="VEVOX.POLL" val="{&quot;id&quot;:&quot;4127924&quot;,&quot;questionSettings&quot;:{},&quot;alias&quot;:&quot;&quot;,&quot;text&quot;:&quot;What airfoil can be represented by those graphs?&quot;,&quot;@type&quot;:&quot;MultipleChoiceQuestion&quot;,&quot;choices&quot;:[{&quot;id&quot;:&quot;15504873&quot;,&quot;alias&quot;:null,&quot;text&quot;:&quot;NACA 20012&quot;,&quot;excludeFromResults&quot;:false,&quot;image&quot;:null,&quot;imageAltText&quot;:null,&quot;isCorrectAnswer&quot;:false},{&quot;id&quot;:&quot;15504874&quot;,&quot;alias&quot;:null,&quot;text&quot;:&quot;NACA 64(1)012&quot;,&quot;excludeFromResults&quot;:false,&quot;image&quot;:null,&quot;imageAltText&quot;:null,&quot;isCorrectAnswer&quot;:false},{&quot;id&quot;:&quot;15504875&quot;,&quot;alias&quot;:null,&quot;text&quot;:&quot;NACA 64(3)212&quot;,&quot;excludeFromResults&quot;:false,&quot;image&quot;:null,&quot;imageAltText&quot;:null,&quot;isCorrectAnswer&quot;:true},{&quot;id&quot;:&quot;15504876&quot;,&quot;alias&quot;:null,&quot;text&quot;:&quot;NACA 23212&quot;,&quot;excludeFromResults&quot;:false,&quot;image&quot;:null,&quot;imageAltText&quot;:null,&quot;isCorrectAnswer&quot;:false}],&quot;resultFormat&quot;:&quot;%&quot;,&quot;minNumberSelections&quot;:1,&quot;maxNumberSelections&quot;:1,&quot;image&quot;:&quot;6223a02f-b457-457f-bd49-30490121645f&quot;}"/>
  <p:tag name="VEVOX.ORIGIN.SESSION.ID" val="626966"/>
  <p:tag name="VEVOX.ORIGIN.QUESTION.ID" val="4127924"/>
  <p:tag name="VEVOX.QUESTIONSLIDEID" val="937#3234333142/1026573269"/>
  <p:tag name="VEVOX.SLIDEFORMAT.VERSION" val="1.010"/>
  <p:tag name="VEVOX.DEBUG.GIFTCARDINSERT" val=" Load attempt 1: image fetched. Load succesfull. load seems succesful. trying to insert. starting insert attempt 1: Insert seems succesful."/>
  <p:tag name="VEVOX.HASRESULTS" val="true"/>
</p:tagLst>
</file>

<file path=ppt/tags/tag37.xml><?xml version="1.0" encoding="utf-8"?>
<p:tagLst xmlns:a="http://schemas.openxmlformats.org/drawingml/2006/main" xmlns:r="http://schemas.openxmlformats.org/officeDocument/2006/relationships" xmlns:p="http://schemas.openxmlformats.org/presentationml/2006/main">
  <p:tag name="VEVOX.QUESTION" val="What airfoil can be represented by those graphs?"/>
</p:tagLst>
</file>

<file path=ppt/tags/tag38.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39.xml><?xml version="1.0" encoding="utf-8"?>
<p:tagLst xmlns:a="http://schemas.openxmlformats.org/drawingml/2006/main" xmlns:r="http://schemas.openxmlformats.org/officeDocument/2006/relationships" xmlns:p="http://schemas.openxmlformats.org/presentationml/2006/main">
  <p:tag name="VEVOX.IMAGE.PLACEHOLDER" val="3"/>
</p:tagLst>
</file>

<file path=ppt/tags/tag40.xml><?xml version="1.0" encoding="utf-8"?>
<p:tagLst xmlns:a="http://schemas.openxmlformats.org/drawingml/2006/main" xmlns:r="http://schemas.openxmlformats.org/officeDocument/2006/relationships" xmlns:p="http://schemas.openxmlformats.org/presentationml/2006/main">
  <p:tag name="VEVOX.POLL.IMAGE" val="X"/>
</p:tagLst>
</file>

<file path=ppt/tags/tag41.xml><?xml version="1.0" encoding="utf-8"?>
<p:tagLst xmlns:a="http://schemas.openxmlformats.org/drawingml/2006/main" xmlns:r="http://schemas.openxmlformats.org/officeDocument/2006/relationships" xmlns:p="http://schemas.openxmlformats.org/presentationml/2006/main">
  <p:tag name="VEVOX.PARTICIPANTS" val="{&quot;left&quot;:5,&quot;top&quot;:5,&quot;width&quot;:160,&quot;height&quot;:30}"/>
</p:tagLst>
</file>

<file path=ppt/tags/tag42.xml><?xml version="1.0" encoding="utf-8"?>
<p:tagLst xmlns:a="http://schemas.openxmlformats.org/drawingml/2006/main" xmlns:r="http://schemas.openxmlformats.org/officeDocument/2006/relationships" xmlns:p="http://schemas.openxmlformats.org/presentationml/2006/main">
  <p:tag name="VEVOX.POLLSTATUSTEXT" val="{&quot;left&quot;:795,&quot;top&quot;:5,&quot;width&quot;:160,&quot;height&quot;:30}"/>
</p:tagLst>
</file>

<file path=ppt/tags/tag43.xml><?xml version="1.0" encoding="utf-8"?>
<p:tagLst xmlns:a="http://schemas.openxmlformats.org/drawingml/2006/main" xmlns:r="http://schemas.openxmlformats.org/officeDocument/2006/relationships" xmlns:p="http://schemas.openxmlformats.org/presentationml/2006/main">
  <p:tag name="VEVOX.PARTICIPANTSDOODLE.SHOULDERS" val="{&quot;left&quot;:13,&quot;top&quot;:20,&quot;width&quot;:14,&quot;height&quot;:10}"/>
</p:tagLst>
</file>

<file path=ppt/tags/tag44.xml><?xml version="1.0" encoding="utf-8"?>
<p:tagLst xmlns:a="http://schemas.openxmlformats.org/drawingml/2006/main" xmlns:r="http://schemas.openxmlformats.org/officeDocument/2006/relationships" xmlns:p="http://schemas.openxmlformats.org/presentationml/2006/main">
  <p:tag name="VEVOX.PARTICIPANTSDOODLE.HEAD" val="{&quot;left&quot;:15,&quot;top&quot;:10,&quot;width&quot;:10,&quot;height&quot;:10}"/>
</p:tagLst>
</file>

<file path=ppt/tags/tag45.xml><?xml version="1.0" encoding="utf-8"?>
<p:tagLst xmlns:a="http://schemas.openxmlformats.org/drawingml/2006/main" xmlns:r="http://schemas.openxmlformats.org/officeDocument/2006/relationships" xmlns:p="http://schemas.openxmlformats.org/presentationml/2006/main">
  <p:tag name="VEVOX.COUNTDOWNTIMER.DISPLAY" val="{&quot;left&quot;:893,&quot;top&quot;:473,&quot;width&quot;:60,&quot;height&quot;:60}"/>
</p:tagLst>
</file>

<file path=ppt/tags/tag46.xml><?xml version="1.0" encoding="utf-8"?>
<p:tagLst xmlns:a="http://schemas.openxmlformats.org/drawingml/2006/main" xmlns:r="http://schemas.openxmlformats.org/officeDocument/2006/relationships" xmlns:p="http://schemas.openxmlformats.org/presentationml/2006/main">
  <p:tag name="VEVOX.JOIN.URL" val="{&quot;left&quot;:270,&quot;top&quot;:7,&quot;width&quot;:190,&quot;height&quot;:30}"/>
</p:tagLst>
</file>

<file path=ppt/tags/tag47.xml><?xml version="1.0" encoding="utf-8"?>
<p:tagLst xmlns:a="http://schemas.openxmlformats.org/drawingml/2006/main" xmlns:r="http://schemas.openxmlformats.org/officeDocument/2006/relationships" xmlns:p="http://schemas.openxmlformats.org/presentationml/2006/main">
  <p:tag name="VEVOX.ACCESSCODE.DISPLAY" val="{&quot;left&quot;:500,&quot;top&quot;:8,&quot;width&quot;:190,&quot;height&quot;:30}"/>
</p:tagLst>
</file>

<file path=ppt/tags/tag48.xml><?xml version="1.0" encoding="utf-8"?>
<p:tagLst xmlns:a="http://schemas.openxmlformats.org/drawingml/2006/main" xmlns:r="http://schemas.openxmlformats.org/officeDocument/2006/relationships" xmlns:p="http://schemas.openxmlformats.org/presentationml/2006/main">
  <p:tag name="VEVOX.TITLE" val="TITLE1"/>
</p:tagLst>
</file>

<file path=ppt/tags/tag49.xml><?xml version="1.0" encoding="utf-8"?>
<p:tagLst xmlns:a="http://schemas.openxmlformats.org/drawingml/2006/main" xmlns:r="http://schemas.openxmlformats.org/officeDocument/2006/relationships" xmlns:p="http://schemas.openxmlformats.org/presentationml/2006/main">
  <p:tag name="VEVOX.DATALABEL" val="DATALABEL1"/>
</p:tagLst>
</file>

<file path=ppt/tags/tag50.xml><?xml version="1.0" encoding="utf-8"?>
<p:tagLst xmlns:a="http://schemas.openxmlformats.org/drawingml/2006/main" xmlns:r="http://schemas.openxmlformats.org/officeDocument/2006/relationships" xmlns:p="http://schemas.openxmlformats.org/presentationml/2006/main">
  <p:tag name="VEVOX.BORDER" val="BORDER1"/>
</p:tagLst>
</file>

<file path=ppt/tags/tag51.xml><?xml version="1.0" encoding="utf-8"?>
<p:tagLst xmlns:a="http://schemas.openxmlformats.org/drawingml/2006/main" xmlns:r="http://schemas.openxmlformats.org/officeDocument/2006/relationships" xmlns:p="http://schemas.openxmlformats.org/presentationml/2006/main">
  <p:tag name="VEVOX.BAR" val="BAR1"/>
</p:tagLst>
</file>

<file path=ppt/tags/tag52.xml><?xml version="1.0" encoding="utf-8"?>
<p:tagLst xmlns:a="http://schemas.openxmlformats.org/drawingml/2006/main" xmlns:r="http://schemas.openxmlformats.org/officeDocument/2006/relationships" xmlns:p="http://schemas.openxmlformats.org/presentationml/2006/main">
  <p:tag name="VEVOX.TITLE" val="TITLE2"/>
</p:tagLst>
</file>

<file path=ppt/tags/tag53.xml><?xml version="1.0" encoding="utf-8"?>
<p:tagLst xmlns:a="http://schemas.openxmlformats.org/drawingml/2006/main" xmlns:r="http://schemas.openxmlformats.org/officeDocument/2006/relationships" xmlns:p="http://schemas.openxmlformats.org/presentationml/2006/main">
  <p:tag name="VEVOX.DATALABEL" val="DATALABEL2"/>
</p:tagLst>
</file>

<file path=ppt/tags/tag54.xml><?xml version="1.0" encoding="utf-8"?>
<p:tagLst xmlns:a="http://schemas.openxmlformats.org/drawingml/2006/main" xmlns:r="http://schemas.openxmlformats.org/officeDocument/2006/relationships" xmlns:p="http://schemas.openxmlformats.org/presentationml/2006/main">
  <p:tag name="VEVOX.BORDER" val="BORDER2"/>
</p:tagLst>
</file>

<file path=ppt/tags/tag55.xml><?xml version="1.0" encoding="utf-8"?>
<p:tagLst xmlns:a="http://schemas.openxmlformats.org/drawingml/2006/main" xmlns:r="http://schemas.openxmlformats.org/officeDocument/2006/relationships" xmlns:p="http://schemas.openxmlformats.org/presentationml/2006/main">
  <p:tag name="VEVOX.BAR" val="BAR2"/>
</p:tagLst>
</file>

<file path=ppt/tags/tag56.xml><?xml version="1.0" encoding="utf-8"?>
<p:tagLst xmlns:a="http://schemas.openxmlformats.org/drawingml/2006/main" xmlns:r="http://schemas.openxmlformats.org/officeDocument/2006/relationships" xmlns:p="http://schemas.openxmlformats.org/presentationml/2006/main">
  <p:tag name="VEVOX.TITLE" val="TITLE3"/>
</p:tagLst>
</file>

<file path=ppt/tags/tag57.xml><?xml version="1.0" encoding="utf-8"?>
<p:tagLst xmlns:a="http://schemas.openxmlformats.org/drawingml/2006/main" xmlns:r="http://schemas.openxmlformats.org/officeDocument/2006/relationships" xmlns:p="http://schemas.openxmlformats.org/presentationml/2006/main">
  <p:tag name="VEVOX.DATALABEL" val="DATALABEL3"/>
</p:tagLst>
</file>

<file path=ppt/tags/tag58.xml><?xml version="1.0" encoding="utf-8"?>
<p:tagLst xmlns:a="http://schemas.openxmlformats.org/drawingml/2006/main" xmlns:r="http://schemas.openxmlformats.org/officeDocument/2006/relationships" xmlns:p="http://schemas.openxmlformats.org/presentationml/2006/main">
  <p:tag name="VEVOX.BORDER" val="BORDER3"/>
</p:tagLst>
</file>

<file path=ppt/tags/tag59.xml><?xml version="1.0" encoding="utf-8"?>
<p:tagLst xmlns:a="http://schemas.openxmlformats.org/drawingml/2006/main" xmlns:r="http://schemas.openxmlformats.org/officeDocument/2006/relationships" xmlns:p="http://schemas.openxmlformats.org/presentationml/2006/main">
  <p:tag name="VEVOX.BAR" val="BAR3"/>
</p:tagLst>
</file>

<file path=ppt/tags/tag60.xml><?xml version="1.0" encoding="utf-8"?>
<p:tagLst xmlns:a="http://schemas.openxmlformats.org/drawingml/2006/main" xmlns:r="http://schemas.openxmlformats.org/officeDocument/2006/relationships" xmlns:p="http://schemas.openxmlformats.org/presentationml/2006/main">
  <p:tag name="VEVOX.TITLE" val="TITLE4"/>
</p:tagLst>
</file>

<file path=ppt/tags/tag61.xml><?xml version="1.0" encoding="utf-8"?>
<p:tagLst xmlns:a="http://schemas.openxmlformats.org/drawingml/2006/main" xmlns:r="http://schemas.openxmlformats.org/officeDocument/2006/relationships" xmlns:p="http://schemas.openxmlformats.org/presentationml/2006/main">
  <p:tag name="VEVOX.DATALABEL" val="DATALABEL4"/>
</p:tagLst>
</file>

<file path=ppt/tags/tag62.xml><?xml version="1.0" encoding="utf-8"?>
<p:tagLst xmlns:a="http://schemas.openxmlformats.org/drawingml/2006/main" xmlns:r="http://schemas.openxmlformats.org/officeDocument/2006/relationships" xmlns:p="http://schemas.openxmlformats.org/presentationml/2006/main">
  <p:tag name="VEVOX.BORDER" val="BORDER4"/>
</p:tagLst>
</file>

<file path=ppt/tags/tag63.xml><?xml version="1.0" encoding="utf-8"?>
<p:tagLst xmlns:a="http://schemas.openxmlformats.org/drawingml/2006/main" xmlns:r="http://schemas.openxmlformats.org/officeDocument/2006/relationships" xmlns:p="http://schemas.openxmlformats.org/presentationml/2006/main">
  <p:tag name="VEVOX.BAR" val="BAR4"/>
</p:tagLst>
</file>

<file path=ppt/tags/tag64.xml><?xml version="1.0" encoding="utf-8"?>
<p:tagLst xmlns:a="http://schemas.openxmlformats.org/drawingml/2006/main" xmlns:r="http://schemas.openxmlformats.org/officeDocument/2006/relationships" xmlns:p="http://schemas.openxmlformats.org/presentationml/2006/main">
  <p:tag name="VEVOX.POLL" val="{&quot;id&quot;:&quot;4126044&quot;,&quot;questionSettings&quot;:{},&quot;alias&quot;:&quot;&quot;,&quot;text&quot;:&quot;What is the span wise position (in m) of the Mean Aerodynamic Chord of the wing reported in figure?&quot;,&quot;@type&quot;:&quot;NumericQuestion&quot;,&quot;uiType&quot;:&quot;inputfield&quot;,&quot;resultFormat&quot;:&quot;%&quot;,&quot;min&quot;:2,&quot;max&quot;:16,&quot;correctAnswers&quot;:[{&quot;min&quot;:8.23,&quot;max&quot;:8.43}],&quot;image&quot;:&quot;0fd8ab08-f828-4b07-aa09-4b6f1c4dd134&quot;,&quot;showMean&quot;:true,&quot;showMedian&quot;:false,&quot;showMode&quot;:false}"/>
  <p:tag name="VEVOX.ORIGIN.SESSION.ID" val="626966"/>
  <p:tag name="VEVOX.ORIGIN.QUESTION.ID" val="4126044"/>
  <p:tag name="VEVOX.QUESTIONSLIDEID" val="257#1496449752/560143070"/>
  <p:tag name="VEVOX.SLIDEFORMAT.VERSION" val="1.010"/>
  <p:tag name="VEVOX.DEBUG.GIFTCARDINSERT" val=" Load attempt 1: image fetched. Load succesfull. load seems succesful. trying to insert. starting insert attempt 1: Insert seems succesful."/>
  <p:tag name="VEVOX.HASRESULTS" val="true"/>
</p:tagLst>
</file>

<file path=ppt/tags/tag65.xml><?xml version="1.0" encoding="utf-8"?>
<p:tagLst xmlns:a="http://schemas.openxmlformats.org/drawingml/2006/main" xmlns:r="http://schemas.openxmlformats.org/officeDocument/2006/relationships" xmlns:p="http://schemas.openxmlformats.org/presentationml/2006/main">
  <p:tag name="VEVOX.QUESTION" val="What is the span wise position (in m) of the Mean Aerodynamic Chord of the wing reported in figure?"/>
</p:tagLst>
</file>

<file path=ppt/tags/tag66.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67.xml><?xml version="1.0" encoding="utf-8"?>
<p:tagLst xmlns:a="http://schemas.openxmlformats.org/drawingml/2006/main" xmlns:r="http://schemas.openxmlformats.org/officeDocument/2006/relationships" xmlns:p="http://schemas.openxmlformats.org/presentationml/2006/main">
  <p:tag name="VEVOX.IMAGE.PLACEHOLDER" val="3"/>
</p:tagLst>
</file>

<file path=ppt/tags/tag68.xml><?xml version="1.0" encoding="utf-8"?>
<p:tagLst xmlns:a="http://schemas.openxmlformats.org/drawingml/2006/main" xmlns:r="http://schemas.openxmlformats.org/officeDocument/2006/relationships" xmlns:p="http://schemas.openxmlformats.org/presentationml/2006/main">
  <p:tag name="VEVOX.POLL.IMAGE" val="X"/>
</p:tagLst>
</file>

<file path=ppt/tags/tag69.xml><?xml version="1.0" encoding="utf-8"?>
<p:tagLst xmlns:a="http://schemas.openxmlformats.org/drawingml/2006/main" xmlns:r="http://schemas.openxmlformats.org/officeDocument/2006/relationships" xmlns:p="http://schemas.openxmlformats.org/presentationml/2006/main">
  <p:tag name="VEVOX.PARTICIPANTS" val="{&quot;left&quot;:5,&quot;top&quot;:5,&quot;width&quot;:160,&quot;height&quot;:30}"/>
</p:tagLst>
</file>

<file path=ppt/tags/tag70.xml><?xml version="1.0" encoding="utf-8"?>
<p:tagLst xmlns:a="http://schemas.openxmlformats.org/drawingml/2006/main" xmlns:r="http://schemas.openxmlformats.org/officeDocument/2006/relationships" xmlns:p="http://schemas.openxmlformats.org/presentationml/2006/main">
  <p:tag name="VEVOX.POLLSTATUSTEXT" val="{&quot;left&quot;:795,&quot;top&quot;:5,&quot;width&quot;:160,&quot;height&quot;:30}"/>
</p:tagLst>
</file>

<file path=ppt/tags/tag71.xml><?xml version="1.0" encoding="utf-8"?>
<p:tagLst xmlns:a="http://schemas.openxmlformats.org/drawingml/2006/main" xmlns:r="http://schemas.openxmlformats.org/officeDocument/2006/relationships" xmlns:p="http://schemas.openxmlformats.org/presentationml/2006/main">
  <p:tag name="VEVOX.PARTICIPANTSDOODLE.SHOULDERS" val="{&quot;left&quot;:13,&quot;top&quot;:20,&quot;width&quot;:14,&quot;height&quot;:10}"/>
</p:tagLst>
</file>

<file path=ppt/tags/tag72.xml><?xml version="1.0" encoding="utf-8"?>
<p:tagLst xmlns:a="http://schemas.openxmlformats.org/drawingml/2006/main" xmlns:r="http://schemas.openxmlformats.org/officeDocument/2006/relationships" xmlns:p="http://schemas.openxmlformats.org/presentationml/2006/main">
  <p:tag name="VEVOX.PARTICIPANTSDOODLE.HEAD" val="{&quot;left&quot;:15,&quot;top&quot;:10,&quot;width&quot;:10,&quot;height&quot;:10}"/>
</p:tagLst>
</file>

<file path=ppt/tags/tag73.xml><?xml version="1.0" encoding="utf-8"?>
<p:tagLst xmlns:a="http://schemas.openxmlformats.org/drawingml/2006/main" xmlns:r="http://schemas.openxmlformats.org/officeDocument/2006/relationships" xmlns:p="http://schemas.openxmlformats.org/presentationml/2006/main">
  <p:tag name="VEVOX.COUNTDOWNTIMER.DISPLAY" val="{&quot;left&quot;:893,&quot;top&quot;:473,&quot;width&quot;:60,&quot;height&quot;:60}"/>
</p:tagLst>
</file>

<file path=ppt/tags/tag74.xml><?xml version="1.0" encoding="utf-8"?>
<p:tagLst xmlns:a="http://schemas.openxmlformats.org/drawingml/2006/main" xmlns:r="http://schemas.openxmlformats.org/officeDocument/2006/relationships" xmlns:p="http://schemas.openxmlformats.org/presentationml/2006/main">
  <p:tag name="VEVOX.JOIN.URL" val="{&quot;left&quot;:270,&quot;top&quot;:7,&quot;width&quot;:190,&quot;height&quot;:30}"/>
</p:tagLst>
</file>

<file path=ppt/tags/tag75.xml><?xml version="1.0" encoding="utf-8"?>
<p:tagLst xmlns:a="http://schemas.openxmlformats.org/drawingml/2006/main" xmlns:r="http://schemas.openxmlformats.org/officeDocument/2006/relationships" xmlns:p="http://schemas.openxmlformats.org/presentationml/2006/main">
  <p:tag name="VEVOX.ACCESSCODE.DISPLAY" val="{&quot;left&quot;:500,&quot;top&quot;:8,&quot;width&quot;:190,&quot;height&quot;:30}"/>
</p:tagLst>
</file>

<file path=ppt/tags/tag76.xml><?xml version="1.0" encoding="utf-8"?>
<p:tagLst xmlns:a="http://schemas.openxmlformats.org/drawingml/2006/main" xmlns:r="http://schemas.openxmlformats.org/officeDocument/2006/relationships" xmlns:p="http://schemas.openxmlformats.org/presentationml/2006/main">
  <p:tag name="VEVOX.NOTCH" val="X"/>
</p:tagLst>
</file>

<file path=ppt/tags/tag77.xml><?xml version="1.0" encoding="utf-8"?>
<p:tagLst xmlns:a="http://schemas.openxmlformats.org/drawingml/2006/main" xmlns:r="http://schemas.openxmlformats.org/officeDocument/2006/relationships" xmlns:p="http://schemas.openxmlformats.org/presentationml/2006/main">
  <p:tag name="VEVOX.NUMBERGUIDE" val="X"/>
</p:tagLst>
</file>

<file path=ppt/tags/tag78.xml><?xml version="1.0" encoding="utf-8"?>
<p:tagLst xmlns:a="http://schemas.openxmlformats.org/drawingml/2006/main" xmlns:r="http://schemas.openxmlformats.org/officeDocument/2006/relationships" xmlns:p="http://schemas.openxmlformats.org/presentationml/2006/main">
  <p:tag name="VEVOX.BORDER" val="BORDER1"/>
</p:tagLst>
</file>

<file path=ppt/tags/tag79.xml><?xml version="1.0" encoding="utf-8"?>
<p:tagLst xmlns:a="http://schemas.openxmlformats.org/drawingml/2006/main" xmlns:r="http://schemas.openxmlformats.org/officeDocument/2006/relationships" xmlns:p="http://schemas.openxmlformats.org/presentationml/2006/main">
  <p:tag name="VEVOX.BAR" val="BAR1"/>
</p:tagLst>
</file>

<file path=ppt/tags/tag80.xml><?xml version="1.0" encoding="utf-8"?>
<p:tagLst xmlns:a="http://schemas.openxmlformats.org/drawingml/2006/main" xmlns:r="http://schemas.openxmlformats.org/officeDocument/2006/relationships" xmlns:p="http://schemas.openxmlformats.org/presentationml/2006/main">
  <p:tag name="VEVOX.BORDER" val="BORDER2"/>
</p:tagLst>
</file>

<file path=ppt/tags/tag81.xml><?xml version="1.0" encoding="utf-8"?>
<p:tagLst xmlns:a="http://schemas.openxmlformats.org/drawingml/2006/main" xmlns:r="http://schemas.openxmlformats.org/officeDocument/2006/relationships" xmlns:p="http://schemas.openxmlformats.org/presentationml/2006/main">
  <p:tag name="VEVOX.BAR" val="BAR2"/>
</p:tagLst>
</file>

<file path=ppt/tags/tag82.xml><?xml version="1.0" encoding="utf-8"?>
<p:tagLst xmlns:a="http://schemas.openxmlformats.org/drawingml/2006/main" xmlns:r="http://schemas.openxmlformats.org/officeDocument/2006/relationships" xmlns:p="http://schemas.openxmlformats.org/presentationml/2006/main">
  <p:tag name="VEVOX.NOTCH" val="X"/>
</p:tagLst>
</file>

<file path=ppt/tags/tag83.xml><?xml version="1.0" encoding="utf-8"?>
<p:tagLst xmlns:a="http://schemas.openxmlformats.org/drawingml/2006/main" xmlns:r="http://schemas.openxmlformats.org/officeDocument/2006/relationships" xmlns:p="http://schemas.openxmlformats.org/presentationml/2006/main">
  <p:tag name="VEVOX.NUMBERGUIDE" val="X"/>
</p:tagLst>
</file>

<file path=ppt/tags/tag84.xml><?xml version="1.0" encoding="utf-8"?>
<p:tagLst xmlns:a="http://schemas.openxmlformats.org/drawingml/2006/main" xmlns:r="http://schemas.openxmlformats.org/officeDocument/2006/relationships" xmlns:p="http://schemas.openxmlformats.org/presentationml/2006/main">
  <p:tag name="VEVOX.BORDER" val="BORDER3"/>
</p:tagLst>
</file>

<file path=ppt/tags/tag85.xml><?xml version="1.0" encoding="utf-8"?>
<p:tagLst xmlns:a="http://schemas.openxmlformats.org/drawingml/2006/main" xmlns:r="http://schemas.openxmlformats.org/officeDocument/2006/relationships" xmlns:p="http://schemas.openxmlformats.org/presentationml/2006/main">
  <p:tag name="VEVOX.BAR" val="BAR3"/>
</p:tagLst>
</file>

<file path=ppt/tags/tag86.xml><?xml version="1.0" encoding="utf-8"?>
<p:tagLst xmlns:a="http://schemas.openxmlformats.org/drawingml/2006/main" xmlns:r="http://schemas.openxmlformats.org/officeDocument/2006/relationships" xmlns:p="http://schemas.openxmlformats.org/presentationml/2006/main">
  <p:tag name="VEVOX.BORDER" val="BORDER4"/>
</p:tagLst>
</file>

<file path=ppt/tags/tag87.xml><?xml version="1.0" encoding="utf-8"?>
<p:tagLst xmlns:a="http://schemas.openxmlformats.org/drawingml/2006/main" xmlns:r="http://schemas.openxmlformats.org/officeDocument/2006/relationships" xmlns:p="http://schemas.openxmlformats.org/presentationml/2006/main">
  <p:tag name="VEVOX.BAR" val="BAR4"/>
</p:tagLst>
</file>

<file path=ppt/tags/tag88.xml><?xml version="1.0" encoding="utf-8"?>
<p:tagLst xmlns:a="http://schemas.openxmlformats.org/drawingml/2006/main" xmlns:r="http://schemas.openxmlformats.org/officeDocument/2006/relationships" xmlns:p="http://schemas.openxmlformats.org/presentationml/2006/main">
  <p:tag name="VEVOX.NOTCH" val="X"/>
</p:tagLst>
</file>

<file path=ppt/tags/tag89.xml><?xml version="1.0" encoding="utf-8"?>
<p:tagLst xmlns:a="http://schemas.openxmlformats.org/drawingml/2006/main" xmlns:r="http://schemas.openxmlformats.org/officeDocument/2006/relationships" xmlns:p="http://schemas.openxmlformats.org/presentationml/2006/main">
  <p:tag name="VEVOX.NUMBERGUIDE" val="X"/>
</p:tagLst>
</file>

<file path=ppt/tags/tag90.xml><?xml version="1.0" encoding="utf-8"?>
<p:tagLst xmlns:a="http://schemas.openxmlformats.org/drawingml/2006/main" xmlns:r="http://schemas.openxmlformats.org/officeDocument/2006/relationships" xmlns:p="http://schemas.openxmlformats.org/presentationml/2006/main">
  <p:tag name="VEVOX.BORDER" val="BORDER5"/>
</p:tagLst>
</file>

<file path=ppt/tags/tag91.xml><?xml version="1.0" encoding="utf-8"?>
<p:tagLst xmlns:a="http://schemas.openxmlformats.org/drawingml/2006/main" xmlns:r="http://schemas.openxmlformats.org/officeDocument/2006/relationships" xmlns:p="http://schemas.openxmlformats.org/presentationml/2006/main">
  <p:tag name="VEVOX.BAR" val="BAR5"/>
</p:tagLst>
</file>

<file path=ppt/tags/tag92.xml><?xml version="1.0" encoding="utf-8"?>
<p:tagLst xmlns:a="http://schemas.openxmlformats.org/drawingml/2006/main" xmlns:r="http://schemas.openxmlformats.org/officeDocument/2006/relationships" xmlns:p="http://schemas.openxmlformats.org/presentationml/2006/main">
  <p:tag name="VEVOX.BORDER" val="BORDER6"/>
</p:tagLst>
</file>

<file path=ppt/tags/tag93.xml><?xml version="1.0" encoding="utf-8"?>
<p:tagLst xmlns:a="http://schemas.openxmlformats.org/drawingml/2006/main" xmlns:r="http://schemas.openxmlformats.org/officeDocument/2006/relationships" xmlns:p="http://schemas.openxmlformats.org/presentationml/2006/main">
  <p:tag name="VEVOX.BAR" val="BAR6"/>
</p:tagLst>
</file>

<file path=ppt/tags/tag94.xml><?xml version="1.0" encoding="utf-8"?>
<p:tagLst xmlns:a="http://schemas.openxmlformats.org/drawingml/2006/main" xmlns:r="http://schemas.openxmlformats.org/officeDocument/2006/relationships" xmlns:p="http://schemas.openxmlformats.org/presentationml/2006/main">
  <p:tag name="VEVOX.NOTCH" val="X"/>
</p:tagLst>
</file>

<file path=ppt/tags/tag95.xml><?xml version="1.0" encoding="utf-8"?>
<p:tagLst xmlns:a="http://schemas.openxmlformats.org/drawingml/2006/main" xmlns:r="http://schemas.openxmlformats.org/officeDocument/2006/relationships" xmlns:p="http://schemas.openxmlformats.org/presentationml/2006/main">
  <p:tag name="VEVOX.NUMBERGUIDE" val="X"/>
</p:tagLst>
</file>

<file path=ppt/tags/tag96.xml><?xml version="1.0" encoding="utf-8"?>
<p:tagLst xmlns:a="http://schemas.openxmlformats.org/drawingml/2006/main" xmlns:r="http://schemas.openxmlformats.org/officeDocument/2006/relationships" xmlns:p="http://schemas.openxmlformats.org/presentationml/2006/main">
  <p:tag name="VEVOX.BORDER" val="BORDER7"/>
</p:tagLst>
</file>

<file path=ppt/tags/tag97.xml><?xml version="1.0" encoding="utf-8"?>
<p:tagLst xmlns:a="http://schemas.openxmlformats.org/drawingml/2006/main" xmlns:r="http://schemas.openxmlformats.org/officeDocument/2006/relationships" xmlns:p="http://schemas.openxmlformats.org/presentationml/2006/main">
  <p:tag name="VEVOX.BAR" val="BAR7"/>
</p:tagLst>
</file>

<file path=ppt/tags/tag98.xml><?xml version="1.0" encoding="utf-8"?>
<p:tagLst xmlns:a="http://schemas.openxmlformats.org/drawingml/2006/main" xmlns:r="http://schemas.openxmlformats.org/officeDocument/2006/relationships" xmlns:p="http://schemas.openxmlformats.org/presentationml/2006/main">
  <p:tag name="VEVOX.BORDER" val="BORDER8"/>
</p:tagLst>
</file>

<file path=ppt/tags/tag99.xml><?xml version="1.0" encoding="utf-8"?>
<p:tagLst xmlns:a="http://schemas.openxmlformats.org/drawingml/2006/main" xmlns:r="http://schemas.openxmlformats.org/officeDocument/2006/relationships" xmlns:p="http://schemas.openxmlformats.org/presentationml/2006/main">
  <p:tag name="VEVOX.BAR" val="BAR8"/>
</p:tagLst>
</file>

<file path=ppt/tags/tag100.xml><?xml version="1.0" encoding="utf-8"?>
<p:tagLst xmlns:a="http://schemas.openxmlformats.org/drawingml/2006/main" xmlns:r="http://schemas.openxmlformats.org/officeDocument/2006/relationships" xmlns:p="http://schemas.openxmlformats.org/presentationml/2006/main">
  <p:tag name="VEVOX.NOTCH" val="X"/>
</p:tagLst>
</file>

<file path=ppt/tags/tag101.xml><?xml version="1.0" encoding="utf-8"?>
<p:tagLst xmlns:a="http://schemas.openxmlformats.org/drawingml/2006/main" xmlns:r="http://schemas.openxmlformats.org/officeDocument/2006/relationships" xmlns:p="http://schemas.openxmlformats.org/presentationml/2006/main">
  <p:tag name="VEVOX.NUMBERGUIDE" val="X"/>
</p:tagLst>
</file>

<file path=ppt/tags/tag102.xml><?xml version="1.0" encoding="utf-8"?>
<p:tagLst xmlns:a="http://schemas.openxmlformats.org/drawingml/2006/main" xmlns:r="http://schemas.openxmlformats.org/officeDocument/2006/relationships" xmlns:p="http://schemas.openxmlformats.org/presentationml/2006/main">
  <p:tag name="VEVOX.BORDER" val="BORDER9"/>
</p:tagLst>
</file>

<file path=ppt/tags/tag103.xml><?xml version="1.0" encoding="utf-8"?>
<p:tagLst xmlns:a="http://schemas.openxmlformats.org/drawingml/2006/main" xmlns:r="http://schemas.openxmlformats.org/officeDocument/2006/relationships" xmlns:p="http://schemas.openxmlformats.org/presentationml/2006/main">
  <p:tag name="VEVOX.BAR" val="BAR9"/>
</p:tagLst>
</file>

<file path=ppt/tags/tag104.xml><?xml version="1.0" encoding="utf-8"?>
<p:tagLst xmlns:a="http://schemas.openxmlformats.org/drawingml/2006/main" xmlns:r="http://schemas.openxmlformats.org/officeDocument/2006/relationships" xmlns:p="http://schemas.openxmlformats.org/presentationml/2006/main">
  <p:tag name="VEVOX.BORDER" val="BORDER10"/>
</p:tagLst>
</file>

<file path=ppt/tags/tag105.xml><?xml version="1.0" encoding="utf-8"?>
<p:tagLst xmlns:a="http://schemas.openxmlformats.org/drawingml/2006/main" xmlns:r="http://schemas.openxmlformats.org/officeDocument/2006/relationships" xmlns:p="http://schemas.openxmlformats.org/presentationml/2006/main">
  <p:tag name="VEVOX.BAR" val="BAR10"/>
</p:tagLst>
</file>

<file path=ppt/tags/tag106.xml><?xml version="1.0" encoding="utf-8"?>
<p:tagLst xmlns:a="http://schemas.openxmlformats.org/drawingml/2006/main" xmlns:r="http://schemas.openxmlformats.org/officeDocument/2006/relationships" xmlns:p="http://schemas.openxmlformats.org/presentationml/2006/main">
  <p:tag name="VEVOX.NOTCH" val="X"/>
</p:tagLst>
</file>

<file path=ppt/tags/tag107.xml><?xml version="1.0" encoding="utf-8"?>
<p:tagLst xmlns:a="http://schemas.openxmlformats.org/drawingml/2006/main" xmlns:r="http://schemas.openxmlformats.org/officeDocument/2006/relationships" xmlns:p="http://schemas.openxmlformats.org/presentationml/2006/main">
  <p:tag name="VEVOX.NUMBERGUIDE" val="X"/>
</p:tagLst>
</file>

<file path=ppt/tags/tag108.xml><?xml version="1.0" encoding="utf-8"?>
<p:tagLst xmlns:a="http://schemas.openxmlformats.org/drawingml/2006/main" xmlns:r="http://schemas.openxmlformats.org/officeDocument/2006/relationships" xmlns:p="http://schemas.openxmlformats.org/presentationml/2006/main">
  <p:tag name="VEVOX.BORDER" val="BORDER11"/>
</p:tagLst>
</file>

<file path=ppt/tags/tag109.xml><?xml version="1.0" encoding="utf-8"?>
<p:tagLst xmlns:a="http://schemas.openxmlformats.org/drawingml/2006/main" xmlns:r="http://schemas.openxmlformats.org/officeDocument/2006/relationships" xmlns:p="http://schemas.openxmlformats.org/presentationml/2006/main">
  <p:tag name="VEVOX.BAR" val="BAR11"/>
</p:tagLst>
</file>

<file path=ppt/tags/tag110.xml><?xml version="1.0" encoding="utf-8"?>
<p:tagLst xmlns:a="http://schemas.openxmlformats.org/drawingml/2006/main" xmlns:r="http://schemas.openxmlformats.org/officeDocument/2006/relationships" xmlns:p="http://schemas.openxmlformats.org/presentationml/2006/main">
  <p:tag name="VEVOX.BORDER" val="BORDER12"/>
</p:tagLst>
</file>

<file path=ppt/tags/tag111.xml><?xml version="1.0" encoding="utf-8"?>
<p:tagLst xmlns:a="http://schemas.openxmlformats.org/drawingml/2006/main" xmlns:r="http://schemas.openxmlformats.org/officeDocument/2006/relationships" xmlns:p="http://schemas.openxmlformats.org/presentationml/2006/main">
  <p:tag name="VEVOX.BAR" val="BAR12"/>
</p:tagLst>
</file>

<file path=ppt/tags/tag112.xml><?xml version="1.0" encoding="utf-8"?>
<p:tagLst xmlns:a="http://schemas.openxmlformats.org/drawingml/2006/main" xmlns:r="http://schemas.openxmlformats.org/officeDocument/2006/relationships" xmlns:p="http://schemas.openxmlformats.org/presentationml/2006/main">
  <p:tag name="VEVOX.NOTCH" val="X"/>
</p:tagLst>
</file>

<file path=ppt/tags/tag113.xml><?xml version="1.0" encoding="utf-8"?>
<p:tagLst xmlns:a="http://schemas.openxmlformats.org/drawingml/2006/main" xmlns:r="http://schemas.openxmlformats.org/officeDocument/2006/relationships" xmlns:p="http://schemas.openxmlformats.org/presentationml/2006/main">
  <p:tag name="VEVOX.NUMBERGUIDE" val="X"/>
</p:tagLst>
</file>

<file path=ppt/tags/tag114.xml><?xml version="1.0" encoding="utf-8"?>
<p:tagLst xmlns:a="http://schemas.openxmlformats.org/drawingml/2006/main" xmlns:r="http://schemas.openxmlformats.org/officeDocument/2006/relationships" xmlns:p="http://schemas.openxmlformats.org/presentationml/2006/main">
  <p:tag name="VEVOX.BORDER" val="BORDER13"/>
</p:tagLst>
</file>

<file path=ppt/tags/tag115.xml><?xml version="1.0" encoding="utf-8"?>
<p:tagLst xmlns:a="http://schemas.openxmlformats.org/drawingml/2006/main" xmlns:r="http://schemas.openxmlformats.org/officeDocument/2006/relationships" xmlns:p="http://schemas.openxmlformats.org/presentationml/2006/main">
  <p:tag name="VEVOX.BAR" val="BAR13"/>
</p:tagLst>
</file>

<file path=ppt/tags/tag116.xml><?xml version="1.0" encoding="utf-8"?>
<p:tagLst xmlns:a="http://schemas.openxmlformats.org/drawingml/2006/main" xmlns:r="http://schemas.openxmlformats.org/officeDocument/2006/relationships" xmlns:p="http://schemas.openxmlformats.org/presentationml/2006/main">
  <p:tag name="VEVOX.BORDER" val="BORDER14"/>
</p:tagLst>
</file>

<file path=ppt/tags/tag117.xml><?xml version="1.0" encoding="utf-8"?>
<p:tagLst xmlns:a="http://schemas.openxmlformats.org/drawingml/2006/main" xmlns:r="http://schemas.openxmlformats.org/officeDocument/2006/relationships" xmlns:p="http://schemas.openxmlformats.org/presentationml/2006/main">
  <p:tag name="VEVOX.BAR" val="BAR14"/>
</p:tagLst>
</file>

<file path=ppt/tags/tag118.xml><?xml version="1.0" encoding="utf-8"?>
<p:tagLst xmlns:a="http://schemas.openxmlformats.org/drawingml/2006/main" xmlns:r="http://schemas.openxmlformats.org/officeDocument/2006/relationships" xmlns:p="http://schemas.openxmlformats.org/presentationml/2006/main">
  <p:tag name="VEVOX.NOTCH" val="X"/>
</p:tagLst>
</file>

<file path=ppt/tags/tag119.xml><?xml version="1.0" encoding="utf-8"?>
<p:tagLst xmlns:a="http://schemas.openxmlformats.org/drawingml/2006/main" xmlns:r="http://schemas.openxmlformats.org/officeDocument/2006/relationships" xmlns:p="http://schemas.openxmlformats.org/presentationml/2006/main">
  <p:tag name="VEVOX.NUMBERGUIDE" val="X"/>
</p:tagLst>
</file>

<file path=ppt/tags/tag120.xml><?xml version="1.0" encoding="utf-8"?>
<p:tagLst xmlns:a="http://schemas.openxmlformats.org/drawingml/2006/main" xmlns:r="http://schemas.openxmlformats.org/officeDocument/2006/relationships" xmlns:p="http://schemas.openxmlformats.org/presentationml/2006/main">
  <p:tag name="VEVOX.BORDER" val="BORDER15"/>
</p:tagLst>
</file>

<file path=ppt/tags/tag121.xml><?xml version="1.0" encoding="utf-8"?>
<p:tagLst xmlns:a="http://schemas.openxmlformats.org/drawingml/2006/main" xmlns:r="http://schemas.openxmlformats.org/officeDocument/2006/relationships" xmlns:p="http://schemas.openxmlformats.org/presentationml/2006/main">
  <p:tag name="VEVOX.BAR" val="BAR15"/>
</p:tagLst>
</file>

<file path=ppt/tags/tag122.xml><?xml version="1.0" encoding="utf-8"?>
<p:tagLst xmlns:a="http://schemas.openxmlformats.org/drawingml/2006/main" xmlns:r="http://schemas.openxmlformats.org/officeDocument/2006/relationships" xmlns:p="http://schemas.openxmlformats.org/presentationml/2006/main">
  <p:tag name="VEVOX.NUMERIC.AVERAGE.MEAN" val="X"/>
</p:tagLst>
</file>

<file path=ppt/tags/tag123.xml><?xml version="1.0" encoding="utf-8"?>
<p:tagLst xmlns:a="http://schemas.openxmlformats.org/drawingml/2006/main" xmlns:r="http://schemas.openxmlformats.org/officeDocument/2006/relationships" xmlns:p="http://schemas.openxmlformats.org/presentationml/2006/main">
  <p:tag name="NOPREFERENCE" val="False"/>
</p:tagLst>
</file>

<file path=ppt/tags/tag124.xml><?xml version="1.0" encoding="utf-8"?>
<p:tagLst xmlns:a="http://schemas.openxmlformats.org/drawingml/2006/main" xmlns:r="http://schemas.openxmlformats.org/officeDocument/2006/relationships" xmlns:p="http://schemas.openxmlformats.org/presentationml/2006/main">
  <p:tag name="NOPREFERENCE" val="False"/>
</p:tagLst>
</file>

<file path=ppt/tags/tag125.xml><?xml version="1.0" encoding="utf-8"?>
<p:tagLst xmlns:a="http://schemas.openxmlformats.org/drawingml/2006/main" xmlns:r="http://schemas.openxmlformats.org/officeDocument/2006/relationships" xmlns:p="http://schemas.openxmlformats.org/presentationml/2006/main">
  <p:tag name="NOPREFERENCE" val="False"/>
</p:tagLst>
</file>

<file path=ppt/tags/tag126.xml><?xml version="1.0" encoding="utf-8"?>
<p:tagLst xmlns:a="http://schemas.openxmlformats.org/drawingml/2006/main" xmlns:r="http://schemas.openxmlformats.org/officeDocument/2006/relationships" xmlns:p="http://schemas.openxmlformats.org/presentationml/2006/main">
  <p:tag name="NOPREFERENCE" val="False"/>
</p:tagLst>
</file>

<file path=ppt/tags/tag127.xml><?xml version="1.0" encoding="utf-8"?>
<p:tagLst xmlns:a="http://schemas.openxmlformats.org/drawingml/2006/main" xmlns:r="http://schemas.openxmlformats.org/officeDocument/2006/relationships" xmlns:p="http://schemas.openxmlformats.org/presentationml/2006/main">
  <p:tag name="NOPREFERENCE" val="False"/>
</p:tagLst>
</file>

<file path=ppt/tags/tag128.xml><?xml version="1.0" encoding="utf-8"?>
<p:tagLst xmlns:a="http://schemas.openxmlformats.org/drawingml/2006/main" xmlns:r="http://schemas.openxmlformats.org/officeDocument/2006/relationships" xmlns:p="http://schemas.openxmlformats.org/presentationml/2006/main">
  <p:tag name="NOPREFERENCE" val="False"/>
</p:tagLst>
</file>

<file path=ppt/tags/tag129.xml><?xml version="1.0" encoding="utf-8"?>
<p:tagLst xmlns:a="http://schemas.openxmlformats.org/drawingml/2006/main" xmlns:r="http://schemas.openxmlformats.org/officeDocument/2006/relationships" xmlns:p="http://schemas.openxmlformats.org/presentationml/2006/main">
  <p:tag name="NOPREFERENCE" val="False"/>
</p:tagLst>
</file>

<file path=ppt/tags/tag130.xml><?xml version="1.0" encoding="utf-8"?>
<p:tagLst xmlns:a="http://schemas.openxmlformats.org/drawingml/2006/main" xmlns:r="http://schemas.openxmlformats.org/officeDocument/2006/relationships" xmlns:p="http://schemas.openxmlformats.org/presentationml/2006/main">
  <p:tag name="NOPREFERENCE" val="False"/>
</p:tagLst>
</file>

<file path=ppt/tags/tag131.xml><?xml version="1.0" encoding="utf-8"?>
<p:tagLst xmlns:a="http://schemas.openxmlformats.org/drawingml/2006/main" xmlns:r="http://schemas.openxmlformats.org/officeDocument/2006/relationships" xmlns:p="http://schemas.openxmlformats.org/presentationml/2006/main">
  <p:tag name="NOPREFERENCE" val="False"/>
</p:tagLst>
</file>

<file path=ppt/tags/tag132.xml><?xml version="1.0" encoding="utf-8"?>
<p:tagLst xmlns:a="http://schemas.openxmlformats.org/drawingml/2006/main" xmlns:r="http://schemas.openxmlformats.org/officeDocument/2006/relationships" xmlns:p="http://schemas.openxmlformats.org/presentationml/2006/main">
  <p:tag name="NOPREFERENCE" val="False"/>
</p:tagLst>
</file>

<file path=ppt/tags/tag133.xml><?xml version="1.0" encoding="utf-8"?>
<p:tagLst xmlns:a="http://schemas.openxmlformats.org/drawingml/2006/main" xmlns:r="http://schemas.openxmlformats.org/officeDocument/2006/relationships" xmlns:p="http://schemas.openxmlformats.org/presentationml/2006/main">
  <p:tag name="NOPREFERENCE" val="False"/>
</p:tagLst>
</file>

<file path=ppt/tags/tag134.xml><?xml version="1.0" encoding="utf-8"?>
<p:tagLst xmlns:a="http://schemas.openxmlformats.org/drawingml/2006/main" xmlns:r="http://schemas.openxmlformats.org/officeDocument/2006/relationships" xmlns:p="http://schemas.openxmlformats.org/presentationml/2006/main">
  <p:tag name="NOPREFERENCE" val="False"/>
</p:tagLst>
</file>

<file path=ppt/tags/tag135.xml><?xml version="1.0" encoding="utf-8"?>
<p:tagLst xmlns:a="http://schemas.openxmlformats.org/drawingml/2006/main" xmlns:r="http://schemas.openxmlformats.org/officeDocument/2006/relationships" xmlns:p="http://schemas.openxmlformats.org/presentationml/2006/main">
  <p:tag name="NOPREFERENCE" val="False"/>
</p:tagLst>
</file>

<file path=ppt/tags/tag136.xml><?xml version="1.0" encoding="utf-8"?>
<p:tagLst xmlns:a="http://schemas.openxmlformats.org/drawingml/2006/main" xmlns:r="http://schemas.openxmlformats.org/officeDocument/2006/relationships" xmlns:p="http://schemas.openxmlformats.org/presentationml/2006/main">
  <p:tag name="NOPREFERENCE" val="False"/>
</p:tagLst>
</file>

<file path=ppt/tags/tag137.xml><?xml version="1.0" encoding="utf-8"?>
<p:tagLst xmlns:a="http://schemas.openxmlformats.org/drawingml/2006/main" xmlns:r="http://schemas.openxmlformats.org/officeDocument/2006/relationships" xmlns:p="http://schemas.openxmlformats.org/presentationml/2006/main">
  <p:tag name="NOPREFERENCE" val="False"/>
</p:tagLst>
</file>

<file path=ppt/tags/tag138.xml><?xml version="1.0" encoding="utf-8"?>
<p:tagLst xmlns:a="http://schemas.openxmlformats.org/drawingml/2006/main" xmlns:r="http://schemas.openxmlformats.org/officeDocument/2006/relationships" xmlns:p="http://schemas.openxmlformats.org/presentationml/2006/main">
  <p:tag name="NOPREFERENCE" val="False"/>
</p:tagLst>
</file>

<file path=ppt/tags/tag139.xml><?xml version="1.0" encoding="utf-8"?>
<p:tagLst xmlns:a="http://schemas.openxmlformats.org/drawingml/2006/main" xmlns:r="http://schemas.openxmlformats.org/officeDocument/2006/relationships" xmlns:p="http://schemas.openxmlformats.org/presentationml/2006/main">
  <p:tag name="NOPREFERENCE" val="False"/>
</p:tagLst>
</file>

<file path=ppt/tags/tag140.xml><?xml version="1.0" encoding="utf-8"?>
<p:tagLst xmlns:a="http://schemas.openxmlformats.org/drawingml/2006/main" xmlns:r="http://schemas.openxmlformats.org/officeDocument/2006/relationships" xmlns:p="http://schemas.openxmlformats.org/presentationml/2006/main">
  <p:tag name="NOPREFERENCE" val="False"/>
</p:tagLst>
</file>

<file path=ppt/tags/tag141.xml><?xml version="1.0" encoding="utf-8"?>
<p:tagLst xmlns:a="http://schemas.openxmlformats.org/drawingml/2006/main" xmlns:r="http://schemas.openxmlformats.org/officeDocument/2006/relationships" xmlns:p="http://schemas.openxmlformats.org/presentationml/2006/main">
  <p:tag name="TYPE" val="MultiChoiceSlide"/>
  <p:tag name="TPSLIDEBULLETSTYLE" val="2"/>
  <p:tag name="SLIDEGUID" val="70DE8E21EA2441869D6E1A72DD9FCFA7"/>
  <p:tag name="LIVECHARTING" val="False"/>
  <p:tag name="AUTOOPENPOLL" val="True"/>
  <p:tag name="CHARTTYPE" val="0"/>
  <p:tag name="CHARTDEFINEDCOLORS" val="3,6,10,45,32,50,13,4,9,55,1"/>
  <p:tag name="HASRESULTS" val="True"/>
  <p:tag name="RESULTS" val="What is the efficiency of the aircraft system in converting fuel into useful energy?[;crlf;]73[;]107[;]73[;]False[;]4[;][;crlf;]3.2192[;]3[;]1.101[;]1.2122[;crlf;]4[;]1[;]&lt;10%1[;]&lt;10%[;][;crlf;]14[;]-1[;]10-20%2[;]10-20%[;][;crlf;]27[;]-1[;]20-40%3[;]20-40%[;][;crlf;]20[;]-1[;]40-60%4[;]40-60%[;][;crlf;]6[;]-1[;]60-80%5[;]60-80%[;][;crlf;]2[;]-1[;]&gt;80%6[;]&gt;80%[;][;crlf;]"/>
  <p:tag name="TPQUESTIONXML" val="&lt;?xml version=&quot;1.0&quot; encoding=&quot;UTF-8&quot; standalone=&quot;yes&quot;?&gt;&lt;questionlist&gt;&lt;properties&gt;&lt;guid&gt;7E010F49E2A043F1BBD9531D8024A3CF&lt;/guid&gt;&lt;date&gt;9/8/2023 09:44:53 AM&lt;/date&gt;&lt;/properties&gt;&lt;questionlisttemplate&gt;&lt;correctvalue&gt;1&lt;/correctvalue&gt;&lt;incorrectvalue&gt;0&lt;/incorrectvalue&gt;&lt;numberofquestions&gt;1&lt;/numberofquestions&gt;&lt;questiontype&gt;1&lt;/questiontype&gt;&lt;numberofchoices&gt;4&lt;/numberofchoices&gt;&lt;bulletstyle&gt;2&lt;/bulletstyle&gt;&lt;questionfont&gt;Verdana&lt;/questionfont&gt;&lt;questionfontsize&gt;12&lt;/questionfontsize&gt;&lt;answerfont&gt;Verdana&lt;/answerfont&gt;&lt;answerfontsize&gt;12&lt;/answerfontsize&gt;&lt;showresults&gt;True&lt;/showresults&gt;&lt;countdowntime&gt;30&lt;/countdowntime&gt;&lt;responsegrid&gt;0&lt;/responsegrid&gt;&lt;narrativefont&gt;&lt;/narrativefont&gt;&lt;narrativefontsize&gt;12&lt;/narrativefontsize&gt;&lt;standardfont&gt;&lt;/standardfont&gt;&lt;standardfontsize&gt;12&lt;/standardfontsize&gt;&lt;rationalefont&gt;DefaultRationaleFont&lt;/rationalefont&gt;&lt;rationalefontsize&gt;12&lt;/rationalefontsize&gt;&lt;/questionlisttemplate&gt;&lt;questions&gt;&lt;multichoice&gt;&lt;guid&gt;70DE8E21EA2441869D6E1A72DD9FCFA7&lt;/guid&gt;&lt;narrativeguid&gt;&lt;/narrativeguid&gt;&lt;repollguid&gt;01F189B48AF8495BAD251387C3EB9707&lt;/repollguid&gt;&lt;sourceid&gt;8DB6900185DB47A3AB4A2C451F5B9E83&lt;/sourceid&gt;&lt;questiontext&gt;What is the efficiency of the aircraft system in converting fuel into useful energy?&lt;/questiontext&gt;&lt;showresults&gt;True&lt;/showresults&gt;&lt;responsegrid&gt;0&lt;/responsegrid&gt;&lt;countdowntime&gt;30&lt;/countdowntime&gt;&lt;correctvalue&gt;1&lt;/correctvalue&gt;&lt;incorrectvalue&gt;0&lt;/incorrectvalue&gt;&lt;responselimit&gt;1&lt;/responselimit&gt;&lt;bulletstyle&gt;2&lt;/bulletstyle&gt;&lt;correctanswerindicator&gt;True&lt;/correctanswerindicator&gt;&lt;answers&gt;&lt;answer&gt;&lt;guid&gt;5763BA40FB2D4592A1FB311947EF9EC0&lt;/guid&gt;&lt;answertext&gt;&amp;lt;10%&lt;/answertext&gt;&lt;valuetype&gt;1&lt;/valuetype&gt;&lt;/answer&gt;&lt;answer&gt;&lt;guid&gt;862FA78075FD43839AFB5E39DA6E5892&lt;/guid&gt;&lt;answertext&gt;10-20%&lt;/answertext&gt;&lt;valuetype&gt;-1&lt;/valuetype&gt;&lt;/answer&gt;&lt;answer&gt;&lt;guid&gt;6EFB7A490364443292FCE8A0A5D51933&lt;/guid&gt;&lt;answertext&gt;20-40%&lt;/answertext&gt;&lt;valuetype&gt;-1&lt;/valuetype&gt;&lt;/answer&gt;&lt;answer&gt;&lt;guid&gt;5089F387F41340BD8E7970E0E645C7E8&lt;/guid&gt;&lt;answertext&gt;40-60%&lt;/answertext&gt;&lt;valuetype&gt;-1&lt;/valuetype&gt;&lt;/answer&gt;&lt;answer&gt;&lt;guid&gt;2BD13A3A7BA84654BF7438A236D7E826&lt;/guid&gt;&lt;answertext&gt;60-80%&lt;/answertext&gt;&lt;valuetype&gt;-1&lt;/valuetype&gt;&lt;/answer&gt;&lt;answer&gt;&lt;guid&gt;AB891DF24DE642208B27B01FD1649B30&lt;/guid&gt;&lt;answertext&gt;&amp;gt;80%&lt;/answertext&gt;&lt;valuetype&gt;-1&lt;/valuetype&gt;&lt;/answer&gt;&lt;/answers&gt;&lt;/multichoice&gt;&lt;/questions&gt;&lt;/questionlist&gt;"/>
</p:tagLst>
</file>

<file path=ppt/tags/tag142.xml><?xml version="1.0" encoding="utf-8"?>
<p:tagLst xmlns:a="http://schemas.openxmlformats.org/drawingml/2006/main" xmlns:r="http://schemas.openxmlformats.org/officeDocument/2006/relationships" xmlns:p="http://schemas.openxmlformats.org/presentationml/2006/main">
  <p:tag name="ZEROBASED" val="False"/>
</p:tagLst>
</file>

<file path=ppt/tags/tag143.xml><?xml version="1.0" encoding="utf-8"?>
<p:tagLst xmlns:a="http://schemas.openxmlformats.org/drawingml/2006/main" xmlns:r="http://schemas.openxmlformats.org/officeDocument/2006/relationships" xmlns:p="http://schemas.openxmlformats.org/presentationml/2006/main">
  <p:tag name="ISCAI" val="True"/>
  <p:tag name="TYPE" val="1"/>
</p:tagLst>
</file>

<file path=ppt/tags/tag144.xml><?xml version="1.0" encoding="utf-8"?>
<p:tagLst xmlns:a="http://schemas.openxmlformats.org/drawingml/2006/main" xmlns:r="http://schemas.openxmlformats.org/officeDocument/2006/relationships" xmlns:p="http://schemas.openxmlformats.org/presentationml/2006/main">
  <p:tag name="NOPREFERENCE" val="False"/>
</p:tagLst>
</file>

<file path=ppt/tags/tag145.xml><?xml version="1.0" encoding="utf-8"?>
<p:tagLst xmlns:a="http://schemas.openxmlformats.org/drawingml/2006/main" xmlns:r="http://schemas.openxmlformats.org/officeDocument/2006/relationships" xmlns:p="http://schemas.openxmlformats.org/presentationml/2006/main">
  <p:tag name="NOPREFERENCE" val="False"/>
</p:tagLst>
</file>

<file path=ppt/tags/tag146.xml><?xml version="1.0" encoding="utf-8"?>
<p:tagLst xmlns:a="http://schemas.openxmlformats.org/drawingml/2006/main" xmlns:r="http://schemas.openxmlformats.org/officeDocument/2006/relationships" xmlns:p="http://schemas.openxmlformats.org/presentationml/2006/main">
  <p:tag name="NOPREFERENCE" val="False"/>
</p:tagLst>
</file>

<file path=ppt/tags/tag147.xml><?xml version="1.0" encoding="utf-8"?>
<p:tagLst xmlns:a="http://schemas.openxmlformats.org/drawingml/2006/main" xmlns:r="http://schemas.openxmlformats.org/officeDocument/2006/relationships" xmlns:p="http://schemas.openxmlformats.org/presentationml/2006/main">
  <p:tag name="VEVOX.POLL" val="{&quot;id&quot;:&quot;4128090&quot;,&quot;questionSettings&quot;:{},&quot;alias&quot;:&quot;&quot;,&quot;text&quot;:&quot;Problem&quot;,&quot;@type&quot;:&quot;MultipleChoiceQuestion&quot;,&quot;choices&quot;:[{&quot;id&quot;:&quot;15505485&quot;,&quot;alias&quot;:null,&quot;text&quot;:&quot;AoA(trim) = 0.06 [deg]&quot;,&quot;excludeFromResults&quot;:false,&quot;image&quot;:null,&quot;imageAltText&quot;:null,&quot;isCorrectAnswer&quot;:false},{&quot;id&quot;:&quot;15505486&quot;,&quot;alias&quot;:null,&quot;text&quot;:&quot;AoA(trim) = 0.29 [deg]&quot;,&quot;excludeFromResults&quot;:false,&quot;image&quot;:null,&quot;imageAltText&quot;:null,&quot;isCorrectAnswer&quot;:false},{&quot;id&quot;:&quot;15505487&quot;,&quot;alias&quot;:null,&quot;text&quot;:&quot;AoA(trim) = 0.55 [deg]&quot;,&quot;excludeFromResults&quot;:false,&quot;image&quot;:null,&quot;imageAltText&quot;:null,&quot;isCorrectAnswer&quot;:false},{&quot;id&quot;:&quot;15505488&quot;,&quot;alias&quot;:null,&quot;text&quot;:&quot;AoA(trim) = 3.44 [deg]&quot;,&quot;excludeFromResults&quot;:false,&quot;image&quot;:null,&quot;imageAltText&quot;:null,&quot;isCorrectAnswer&quot;:true},{&quot;id&quot;:&quot;15505489&quot;,&quot;alias&quot;:null,&quot;text&quot;:&quot;AoA(trim) = 5.45 [deg]&quot;,&quot;excludeFromResults&quot;:false,&quot;image&quot;:null,&quot;imageAltText&quot;:null,&quot;isCorrectAnswer&quot;:false},{&quot;id&quot;:&quot;15505490&quot;,&quot;alias&quot;:null,&quot;text&quot;:&quot;Mot enough data&quot;,&quot;excludeFromResults&quot;:false,&quot;image&quot;:null,&quot;imageAltText&quot;:null,&quot;isCorrectAnswer&quot;:true}],&quot;resultFormat&quot;:&quot;%&quot;,&quot;minNumberSelections&quot;:1,&quot;maxNumberSelections&quot;:6,&quot;image&quot;:&quot;7ad4af02-07cd-4dee-8291-025ac2e5042f&quot;}"/>
  <p:tag name="VEVOX.ORIGIN.SESSION.ID" val="626966"/>
  <p:tag name="VEVOX.ORIGIN.QUESTION.ID" val="4128090"/>
  <p:tag name="VEVOX.QUESTIONSLIDEID" val="942#225149463/87763285"/>
  <p:tag name="VEVOX.SLIDEFORMAT.VERSION" val="1.010"/>
  <p:tag name="VEVOX.DEBUG.GIFTCARDINSERT" val=" Load attempt 1: image fetched. Load succesfull. load seems succesful. trying to insert. starting insert attempt 1: Insert seems succesful."/>
  <p:tag name="VEVOX.HASRESULTS" val="true"/>
</p:tagLst>
</file>

<file path=ppt/tags/tag148.xml><?xml version="1.0" encoding="utf-8"?>
<p:tagLst xmlns:a="http://schemas.openxmlformats.org/drawingml/2006/main" xmlns:r="http://schemas.openxmlformats.org/officeDocument/2006/relationships" xmlns:p="http://schemas.openxmlformats.org/presentationml/2006/main">
  <p:tag name="VEVOX.QUESTION" val="Problem"/>
</p:tagLst>
</file>

<file path=ppt/tags/tag149.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150.xml><?xml version="1.0" encoding="utf-8"?>
<p:tagLst xmlns:a="http://schemas.openxmlformats.org/drawingml/2006/main" xmlns:r="http://schemas.openxmlformats.org/officeDocument/2006/relationships" xmlns:p="http://schemas.openxmlformats.org/presentationml/2006/main">
  <p:tag name="VEVOX.IMAGE.PLACEHOLDER" val="3"/>
</p:tagLst>
</file>

<file path=ppt/tags/tag151.xml><?xml version="1.0" encoding="utf-8"?>
<p:tagLst xmlns:a="http://schemas.openxmlformats.org/drawingml/2006/main" xmlns:r="http://schemas.openxmlformats.org/officeDocument/2006/relationships" xmlns:p="http://schemas.openxmlformats.org/presentationml/2006/main">
  <p:tag name="VEVOX.POLL.IMAGE" val="X"/>
</p:tagLst>
</file>

<file path=ppt/tags/tag152.xml><?xml version="1.0" encoding="utf-8"?>
<p:tagLst xmlns:a="http://schemas.openxmlformats.org/drawingml/2006/main" xmlns:r="http://schemas.openxmlformats.org/officeDocument/2006/relationships" xmlns:p="http://schemas.openxmlformats.org/presentationml/2006/main">
  <p:tag name="VEVOX.PARTICIPANTS" val="{&quot;left&quot;:5,&quot;top&quot;:5,&quot;width&quot;:160,&quot;height&quot;:30}"/>
</p:tagLst>
</file>

<file path=ppt/tags/tag153.xml><?xml version="1.0" encoding="utf-8"?>
<p:tagLst xmlns:a="http://schemas.openxmlformats.org/drawingml/2006/main" xmlns:r="http://schemas.openxmlformats.org/officeDocument/2006/relationships" xmlns:p="http://schemas.openxmlformats.org/presentationml/2006/main">
  <p:tag name="VEVOX.POLLSTATUSTEXT" val="{&quot;left&quot;:795,&quot;top&quot;:5,&quot;width&quot;:160,&quot;height&quot;:30}"/>
</p:tagLst>
</file>

<file path=ppt/tags/tag154.xml><?xml version="1.0" encoding="utf-8"?>
<p:tagLst xmlns:a="http://schemas.openxmlformats.org/drawingml/2006/main" xmlns:r="http://schemas.openxmlformats.org/officeDocument/2006/relationships" xmlns:p="http://schemas.openxmlformats.org/presentationml/2006/main">
  <p:tag name="VEVOX.PARTICIPANTSDOODLE.SHOULDERS" val="{&quot;left&quot;:13,&quot;top&quot;:20,&quot;width&quot;:14,&quot;height&quot;:10}"/>
</p:tagLst>
</file>

<file path=ppt/tags/tag155.xml><?xml version="1.0" encoding="utf-8"?>
<p:tagLst xmlns:a="http://schemas.openxmlformats.org/drawingml/2006/main" xmlns:r="http://schemas.openxmlformats.org/officeDocument/2006/relationships" xmlns:p="http://schemas.openxmlformats.org/presentationml/2006/main">
  <p:tag name="VEVOX.PARTICIPANTSDOODLE.HEAD" val="{&quot;left&quot;:15,&quot;top&quot;:10,&quot;width&quot;:10,&quot;height&quot;:10}"/>
</p:tagLst>
</file>

<file path=ppt/tags/tag156.xml><?xml version="1.0" encoding="utf-8"?>
<p:tagLst xmlns:a="http://schemas.openxmlformats.org/drawingml/2006/main" xmlns:r="http://schemas.openxmlformats.org/officeDocument/2006/relationships" xmlns:p="http://schemas.openxmlformats.org/presentationml/2006/main">
  <p:tag name="VEVOX.COUNTDOWNTIMER.DISPLAY" val="{&quot;left&quot;:893,&quot;top&quot;:473,&quot;width&quot;:60,&quot;height&quot;:60}"/>
</p:tagLst>
</file>

<file path=ppt/tags/tag157.xml><?xml version="1.0" encoding="utf-8"?>
<p:tagLst xmlns:a="http://schemas.openxmlformats.org/drawingml/2006/main" xmlns:r="http://schemas.openxmlformats.org/officeDocument/2006/relationships" xmlns:p="http://schemas.openxmlformats.org/presentationml/2006/main">
  <p:tag name="VEVOX.JOIN.URL" val="{&quot;left&quot;:270,&quot;top&quot;:7,&quot;width&quot;:190,&quot;height&quot;:30}"/>
</p:tagLst>
</file>

<file path=ppt/tags/tag158.xml><?xml version="1.0" encoding="utf-8"?>
<p:tagLst xmlns:a="http://schemas.openxmlformats.org/drawingml/2006/main" xmlns:r="http://schemas.openxmlformats.org/officeDocument/2006/relationships" xmlns:p="http://schemas.openxmlformats.org/presentationml/2006/main">
  <p:tag name="VEVOX.ACCESSCODE.DISPLAY" val="{&quot;left&quot;:500,&quot;top&quot;:8,&quot;width&quot;:190,&quot;height&quot;:30}"/>
</p:tagLst>
</file>

<file path=ppt/tags/tag159.xml><?xml version="1.0" encoding="utf-8"?>
<p:tagLst xmlns:a="http://schemas.openxmlformats.org/drawingml/2006/main" xmlns:r="http://schemas.openxmlformats.org/officeDocument/2006/relationships" xmlns:p="http://schemas.openxmlformats.org/presentationml/2006/main">
  <p:tag name="VEVOX.TITLE" val="TITLE1"/>
</p:tagLst>
</file>

<file path=ppt/tags/tag160.xml><?xml version="1.0" encoding="utf-8"?>
<p:tagLst xmlns:a="http://schemas.openxmlformats.org/drawingml/2006/main" xmlns:r="http://schemas.openxmlformats.org/officeDocument/2006/relationships" xmlns:p="http://schemas.openxmlformats.org/presentationml/2006/main">
  <p:tag name="VEVOX.DATALABEL" val="DATALABEL1"/>
</p:tagLst>
</file>

<file path=ppt/tags/tag161.xml><?xml version="1.0" encoding="utf-8"?>
<p:tagLst xmlns:a="http://schemas.openxmlformats.org/drawingml/2006/main" xmlns:r="http://schemas.openxmlformats.org/officeDocument/2006/relationships" xmlns:p="http://schemas.openxmlformats.org/presentationml/2006/main">
  <p:tag name="VEVOX.BORDER" val="BORDER1"/>
</p:tagLst>
</file>

<file path=ppt/tags/tag162.xml><?xml version="1.0" encoding="utf-8"?>
<p:tagLst xmlns:a="http://schemas.openxmlformats.org/drawingml/2006/main" xmlns:r="http://schemas.openxmlformats.org/officeDocument/2006/relationships" xmlns:p="http://schemas.openxmlformats.org/presentationml/2006/main">
  <p:tag name="VEVOX.BAR" val="BAR1"/>
</p:tagLst>
</file>

<file path=ppt/tags/tag163.xml><?xml version="1.0" encoding="utf-8"?>
<p:tagLst xmlns:a="http://schemas.openxmlformats.org/drawingml/2006/main" xmlns:r="http://schemas.openxmlformats.org/officeDocument/2006/relationships" xmlns:p="http://schemas.openxmlformats.org/presentationml/2006/main">
  <p:tag name="VEVOX.TITLE" val="TITLE2"/>
</p:tagLst>
</file>

<file path=ppt/tags/tag164.xml><?xml version="1.0" encoding="utf-8"?>
<p:tagLst xmlns:a="http://schemas.openxmlformats.org/drawingml/2006/main" xmlns:r="http://schemas.openxmlformats.org/officeDocument/2006/relationships" xmlns:p="http://schemas.openxmlformats.org/presentationml/2006/main">
  <p:tag name="VEVOX.DATALABEL" val="DATALABEL2"/>
</p:tagLst>
</file>

<file path=ppt/tags/tag165.xml><?xml version="1.0" encoding="utf-8"?>
<p:tagLst xmlns:a="http://schemas.openxmlformats.org/drawingml/2006/main" xmlns:r="http://schemas.openxmlformats.org/officeDocument/2006/relationships" xmlns:p="http://schemas.openxmlformats.org/presentationml/2006/main">
  <p:tag name="VEVOX.BORDER" val="BORDER2"/>
</p:tagLst>
</file>

<file path=ppt/tags/tag166.xml><?xml version="1.0" encoding="utf-8"?>
<p:tagLst xmlns:a="http://schemas.openxmlformats.org/drawingml/2006/main" xmlns:r="http://schemas.openxmlformats.org/officeDocument/2006/relationships" xmlns:p="http://schemas.openxmlformats.org/presentationml/2006/main">
  <p:tag name="VEVOX.BAR" val="BAR2"/>
</p:tagLst>
</file>

<file path=ppt/tags/tag167.xml><?xml version="1.0" encoding="utf-8"?>
<p:tagLst xmlns:a="http://schemas.openxmlformats.org/drawingml/2006/main" xmlns:r="http://schemas.openxmlformats.org/officeDocument/2006/relationships" xmlns:p="http://schemas.openxmlformats.org/presentationml/2006/main">
  <p:tag name="VEVOX.TITLE" val="TITLE3"/>
</p:tagLst>
</file>

<file path=ppt/tags/tag168.xml><?xml version="1.0" encoding="utf-8"?>
<p:tagLst xmlns:a="http://schemas.openxmlformats.org/drawingml/2006/main" xmlns:r="http://schemas.openxmlformats.org/officeDocument/2006/relationships" xmlns:p="http://schemas.openxmlformats.org/presentationml/2006/main">
  <p:tag name="VEVOX.DATALABEL" val="DATALABEL3"/>
</p:tagLst>
</file>

<file path=ppt/tags/tag169.xml><?xml version="1.0" encoding="utf-8"?>
<p:tagLst xmlns:a="http://schemas.openxmlformats.org/drawingml/2006/main" xmlns:r="http://schemas.openxmlformats.org/officeDocument/2006/relationships" xmlns:p="http://schemas.openxmlformats.org/presentationml/2006/main">
  <p:tag name="VEVOX.BORDER" val="BORDER3"/>
</p:tagLst>
</file>

<file path=ppt/tags/tag170.xml><?xml version="1.0" encoding="utf-8"?>
<p:tagLst xmlns:a="http://schemas.openxmlformats.org/drawingml/2006/main" xmlns:r="http://schemas.openxmlformats.org/officeDocument/2006/relationships" xmlns:p="http://schemas.openxmlformats.org/presentationml/2006/main">
  <p:tag name="VEVOX.BAR" val="BAR3"/>
</p:tagLst>
</file>

<file path=ppt/tags/tag171.xml><?xml version="1.0" encoding="utf-8"?>
<p:tagLst xmlns:a="http://schemas.openxmlformats.org/drawingml/2006/main" xmlns:r="http://schemas.openxmlformats.org/officeDocument/2006/relationships" xmlns:p="http://schemas.openxmlformats.org/presentationml/2006/main">
  <p:tag name="VEVOX.TITLE" val="TITLE4"/>
</p:tagLst>
</file>

<file path=ppt/tags/tag172.xml><?xml version="1.0" encoding="utf-8"?>
<p:tagLst xmlns:a="http://schemas.openxmlformats.org/drawingml/2006/main" xmlns:r="http://schemas.openxmlformats.org/officeDocument/2006/relationships" xmlns:p="http://schemas.openxmlformats.org/presentationml/2006/main">
  <p:tag name="VEVOX.DATALABEL" val="DATALABEL4"/>
</p:tagLst>
</file>

<file path=ppt/tags/tag173.xml><?xml version="1.0" encoding="utf-8"?>
<p:tagLst xmlns:a="http://schemas.openxmlformats.org/drawingml/2006/main" xmlns:r="http://schemas.openxmlformats.org/officeDocument/2006/relationships" xmlns:p="http://schemas.openxmlformats.org/presentationml/2006/main">
  <p:tag name="VEVOX.BORDER" val="BORDER4"/>
</p:tagLst>
</file>

<file path=ppt/tags/tag174.xml><?xml version="1.0" encoding="utf-8"?>
<p:tagLst xmlns:a="http://schemas.openxmlformats.org/drawingml/2006/main" xmlns:r="http://schemas.openxmlformats.org/officeDocument/2006/relationships" xmlns:p="http://schemas.openxmlformats.org/presentationml/2006/main">
  <p:tag name="VEVOX.BAR" val="BAR4"/>
</p:tagLst>
</file>

<file path=ppt/tags/tag175.xml><?xml version="1.0" encoding="utf-8"?>
<p:tagLst xmlns:a="http://schemas.openxmlformats.org/drawingml/2006/main" xmlns:r="http://schemas.openxmlformats.org/officeDocument/2006/relationships" xmlns:p="http://schemas.openxmlformats.org/presentationml/2006/main">
  <p:tag name="VEVOX.TITLE" val="TITLE5"/>
</p:tagLst>
</file>

<file path=ppt/tags/tag176.xml><?xml version="1.0" encoding="utf-8"?>
<p:tagLst xmlns:a="http://schemas.openxmlformats.org/drawingml/2006/main" xmlns:r="http://schemas.openxmlformats.org/officeDocument/2006/relationships" xmlns:p="http://schemas.openxmlformats.org/presentationml/2006/main">
  <p:tag name="VEVOX.DATALABEL" val="DATALABEL5"/>
</p:tagLst>
</file>

<file path=ppt/tags/tag177.xml><?xml version="1.0" encoding="utf-8"?>
<p:tagLst xmlns:a="http://schemas.openxmlformats.org/drawingml/2006/main" xmlns:r="http://schemas.openxmlformats.org/officeDocument/2006/relationships" xmlns:p="http://schemas.openxmlformats.org/presentationml/2006/main">
  <p:tag name="VEVOX.BORDER" val="BORDER5"/>
</p:tagLst>
</file>

<file path=ppt/tags/tag178.xml><?xml version="1.0" encoding="utf-8"?>
<p:tagLst xmlns:a="http://schemas.openxmlformats.org/drawingml/2006/main" xmlns:r="http://schemas.openxmlformats.org/officeDocument/2006/relationships" xmlns:p="http://schemas.openxmlformats.org/presentationml/2006/main">
  <p:tag name="VEVOX.BAR" val="BAR5"/>
</p:tagLst>
</file>

<file path=ppt/tags/tag179.xml><?xml version="1.0" encoding="utf-8"?>
<p:tagLst xmlns:a="http://schemas.openxmlformats.org/drawingml/2006/main" xmlns:r="http://schemas.openxmlformats.org/officeDocument/2006/relationships" xmlns:p="http://schemas.openxmlformats.org/presentationml/2006/main">
  <p:tag name="VEVOX.TITLE" val="TITLE6"/>
</p:tagLst>
</file>

<file path=ppt/tags/tag180.xml><?xml version="1.0" encoding="utf-8"?>
<p:tagLst xmlns:a="http://schemas.openxmlformats.org/drawingml/2006/main" xmlns:r="http://schemas.openxmlformats.org/officeDocument/2006/relationships" xmlns:p="http://schemas.openxmlformats.org/presentationml/2006/main">
  <p:tag name="VEVOX.DATALABEL" val="DATALABEL6"/>
</p:tagLst>
</file>

<file path=ppt/tags/tag181.xml><?xml version="1.0" encoding="utf-8"?>
<p:tagLst xmlns:a="http://schemas.openxmlformats.org/drawingml/2006/main" xmlns:r="http://schemas.openxmlformats.org/officeDocument/2006/relationships" xmlns:p="http://schemas.openxmlformats.org/presentationml/2006/main">
  <p:tag name="VEVOX.BORDER" val="BORDER6"/>
</p:tagLst>
</file>

<file path=ppt/tags/tag182.xml><?xml version="1.0" encoding="utf-8"?>
<p:tagLst xmlns:a="http://schemas.openxmlformats.org/drawingml/2006/main" xmlns:r="http://schemas.openxmlformats.org/officeDocument/2006/relationships" xmlns:p="http://schemas.openxmlformats.org/presentationml/2006/main">
  <p:tag name="VEVOX.BAR" val="BAR6"/>
</p:tagLst>
</file>

<file path=ppt/tags/tag183.xml><?xml version="1.0" encoding="utf-8"?>
<p:tagLst xmlns:a="http://schemas.openxmlformats.org/drawingml/2006/main" xmlns:r="http://schemas.openxmlformats.org/officeDocument/2006/relationships" xmlns:p="http://schemas.openxmlformats.org/presentationml/2006/main">
  <p:tag name="VEVOX.POLL" val="{&quot;id&quot;:&quot;4128434&quot;,&quot;questionSettings&quot;:{},&quot;alias&quot;:&quot;&quot;,&quot;text&quot;:&quot;What aircraft has superior performance (in terms of range)?&quot;,&quot;@type&quot;:&quot;MultipleChoiceQuestion&quot;,&quot;choices&quot;:[{&quot;id&quot;:&quot;15506690&quot;,&quot;alias&quot;:null,&quot;text&quot;:&quot;The B47 has superior performance&quot;,&quot;excludeFromResults&quot;:false,&quot;image&quot;:null,&quot;imageAltText&quot;:null,&quot;isCorrectAnswer&quot;:false},{&quot;id&quot;:&quot;15506691&quot;,&quot;alias&quot;:null,&quot;text&quot;:&quot;The Avro-Vulcan has superior performance&quot;,&quot;excludeFromResults&quot;:false,&quot;image&quot;:null,&quot;imageAltText&quot;:null,&quot;isCorrectAnswer&quot;:false},{&quot;id&quot;:&quot;15506692&quot;,&quot;alias&quot;:null,&quot;text&quot;:&quot;They both present equal/similar performance&quot;,&quot;excludeFromResults&quot;:false,&quot;image&quot;:null,&quot;imageAltText&quot;:null,&quot;isCorrectAnswer&quot;:true},{&quot;id&quot;:&quot;15506693&quot;,&quot;alias&quot;:null,&quot;text&quot;:&quot;Not enough information&quot;,&quot;excludeFromResults&quot;:false,&quot;image&quot;:null,&quot;imageAltText&quot;:null,&quot;isCorrectAnswer&quot;:false}],&quot;resultFormat&quot;:&quot;%&quot;,&quot;minNumberSelections&quot;:1,&quot;maxNumberSelections&quot;:1,&quot;image&quot;:&quot;b55e69a6-b125-4e54-abe1-24147bb5f284&quot;}"/>
  <p:tag name="VEVOX.ORIGIN.SESSION.ID" val="626966"/>
  <p:tag name="VEVOX.ORIGIN.QUESTION.ID" val="4128434"/>
  <p:tag name="VEVOX.QUESTIONSLIDEID" val="944#3938421361/936085358"/>
  <p:tag name="VEVOX.SLIDEFORMAT.VERSION" val="1.010"/>
  <p:tag name="VEVOX.DEBUG.GIFTCARDINSERT" val=" Load attempt 1: image fetched. Load succesfull. load seems succesful. trying to insert. starting insert attempt 1: Insert seems succesful."/>
  <p:tag name="VEVOX.HASRESULTS" val="true"/>
</p:tagLst>
</file>

<file path=ppt/tags/tag184.xml><?xml version="1.0" encoding="utf-8"?>
<p:tagLst xmlns:a="http://schemas.openxmlformats.org/drawingml/2006/main" xmlns:r="http://schemas.openxmlformats.org/officeDocument/2006/relationships" xmlns:p="http://schemas.openxmlformats.org/presentationml/2006/main">
  <p:tag name="VEVOX.QUESTION" val="What aircraft has superior performance (in terms of range)?"/>
</p:tagLst>
</file>

<file path=ppt/tags/tag185.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186.xml><?xml version="1.0" encoding="utf-8"?>
<p:tagLst xmlns:a="http://schemas.openxmlformats.org/drawingml/2006/main" xmlns:r="http://schemas.openxmlformats.org/officeDocument/2006/relationships" xmlns:p="http://schemas.openxmlformats.org/presentationml/2006/main">
  <p:tag name="VEVOX.IMAGE.PLACEHOLDER" val="3"/>
</p:tagLst>
</file>

<file path=ppt/tags/tag187.xml><?xml version="1.0" encoding="utf-8"?>
<p:tagLst xmlns:a="http://schemas.openxmlformats.org/drawingml/2006/main" xmlns:r="http://schemas.openxmlformats.org/officeDocument/2006/relationships" xmlns:p="http://schemas.openxmlformats.org/presentationml/2006/main">
  <p:tag name="VEVOX.POLL.IMAGE" val="X"/>
</p:tagLst>
</file>

<file path=ppt/tags/tag188.xml><?xml version="1.0" encoding="utf-8"?>
<p:tagLst xmlns:a="http://schemas.openxmlformats.org/drawingml/2006/main" xmlns:r="http://schemas.openxmlformats.org/officeDocument/2006/relationships" xmlns:p="http://schemas.openxmlformats.org/presentationml/2006/main">
  <p:tag name="VEVOX.PARTICIPANTS" val="{&quot;left&quot;:5,&quot;top&quot;:5,&quot;width&quot;:160,&quot;height&quot;:30}"/>
</p:tagLst>
</file>

<file path=ppt/tags/tag189.xml><?xml version="1.0" encoding="utf-8"?>
<p:tagLst xmlns:a="http://schemas.openxmlformats.org/drawingml/2006/main" xmlns:r="http://schemas.openxmlformats.org/officeDocument/2006/relationships" xmlns:p="http://schemas.openxmlformats.org/presentationml/2006/main">
  <p:tag name="VEVOX.POLLSTATUSTEXT" val="{&quot;left&quot;:795,&quot;top&quot;:5,&quot;width&quot;:160,&quot;height&quot;:30}"/>
</p:tagLst>
</file>

<file path=ppt/tags/tag190.xml><?xml version="1.0" encoding="utf-8"?>
<p:tagLst xmlns:a="http://schemas.openxmlformats.org/drawingml/2006/main" xmlns:r="http://schemas.openxmlformats.org/officeDocument/2006/relationships" xmlns:p="http://schemas.openxmlformats.org/presentationml/2006/main">
  <p:tag name="VEVOX.PARTICIPANTSDOODLE.SHOULDERS" val="{&quot;left&quot;:13,&quot;top&quot;:20,&quot;width&quot;:14,&quot;height&quot;:10}"/>
</p:tagLst>
</file>

<file path=ppt/tags/tag191.xml><?xml version="1.0" encoding="utf-8"?>
<p:tagLst xmlns:a="http://schemas.openxmlformats.org/drawingml/2006/main" xmlns:r="http://schemas.openxmlformats.org/officeDocument/2006/relationships" xmlns:p="http://schemas.openxmlformats.org/presentationml/2006/main">
  <p:tag name="VEVOX.PARTICIPANTSDOODLE.HEAD" val="{&quot;left&quot;:15,&quot;top&quot;:10,&quot;width&quot;:10,&quot;height&quot;:10}"/>
</p:tagLst>
</file>

<file path=ppt/tags/tag192.xml><?xml version="1.0" encoding="utf-8"?>
<p:tagLst xmlns:a="http://schemas.openxmlformats.org/drawingml/2006/main" xmlns:r="http://schemas.openxmlformats.org/officeDocument/2006/relationships" xmlns:p="http://schemas.openxmlformats.org/presentationml/2006/main">
  <p:tag name="VEVOX.COUNTDOWNTIMER.DISPLAY" val="{&quot;left&quot;:893,&quot;top&quot;:473,&quot;width&quot;:60,&quot;height&quot;:60}"/>
</p:tagLst>
</file>

<file path=ppt/tags/tag193.xml><?xml version="1.0" encoding="utf-8"?>
<p:tagLst xmlns:a="http://schemas.openxmlformats.org/drawingml/2006/main" xmlns:r="http://schemas.openxmlformats.org/officeDocument/2006/relationships" xmlns:p="http://schemas.openxmlformats.org/presentationml/2006/main">
  <p:tag name="VEVOX.JOIN.URL" val="{&quot;left&quot;:270,&quot;top&quot;:7,&quot;width&quot;:190,&quot;height&quot;:30}"/>
</p:tagLst>
</file>

<file path=ppt/tags/tag194.xml><?xml version="1.0" encoding="utf-8"?>
<p:tagLst xmlns:a="http://schemas.openxmlformats.org/drawingml/2006/main" xmlns:r="http://schemas.openxmlformats.org/officeDocument/2006/relationships" xmlns:p="http://schemas.openxmlformats.org/presentationml/2006/main">
  <p:tag name="VEVOX.ACCESSCODE.DISPLAY" val="{&quot;left&quot;:500,&quot;top&quot;:8,&quot;width&quot;:190,&quot;height&quot;:30}"/>
</p:tagLst>
</file>

<file path=ppt/tags/tag195.xml><?xml version="1.0" encoding="utf-8"?>
<p:tagLst xmlns:a="http://schemas.openxmlformats.org/drawingml/2006/main" xmlns:r="http://schemas.openxmlformats.org/officeDocument/2006/relationships" xmlns:p="http://schemas.openxmlformats.org/presentationml/2006/main">
  <p:tag name="VEVOX.TITLE" val="TITLE1"/>
</p:tagLst>
</file>

<file path=ppt/tags/tag196.xml><?xml version="1.0" encoding="utf-8"?>
<p:tagLst xmlns:a="http://schemas.openxmlformats.org/drawingml/2006/main" xmlns:r="http://schemas.openxmlformats.org/officeDocument/2006/relationships" xmlns:p="http://schemas.openxmlformats.org/presentationml/2006/main">
  <p:tag name="VEVOX.DATALABEL" val="DATALABEL1"/>
</p:tagLst>
</file>

<file path=ppt/tags/tag197.xml><?xml version="1.0" encoding="utf-8"?>
<p:tagLst xmlns:a="http://schemas.openxmlformats.org/drawingml/2006/main" xmlns:r="http://schemas.openxmlformats.org/officeDocument/2006/relationships" xmlns:p="http://schemas.openxmlformats.org/presentationml/2006/main">
  <p:tag name="VEVOX.BORDER" val="BORDER1"/>
</p:tagLst>
</file>

<file path=ppt/tags/tag198.xml><?xml version="1.0" encoding="utf-8"?>
<p:tagLst xmlns:a="http://schemas.openxmlformats.org/drawingml/2006/main" xmlns:r="http://schemas.openxmlformats.org/officeDocument/2006/relationships" xmlns:p="http://schemas.openxmlformats.org/presentationml/2006/main">
  <p:tag name="VEVOX.BAR" val="BAR1"/>
</p:tagLst>
</file>

<file path=ppt/tags/tag199.xml><?xml version="1.0" encoding="utf-8"?>
<p:tagLst xmlns:a="http://schemas.openxmlformats.org/drawingml/2006/main" xmlns:r="http://schemas.openxmlformats.org/officeDocument/2006/relationships" xmlns:p="http://schemas.openxmlformats.org/presentationml/2006/main">
  <p:tag name="VEVOX.TITLE" val="TITLE2"/>
</p:tagLst>
</file>

<file path=ppt/tags/tag200.xml><?xml version="1.0" encoding="utf-8"?>
<p:tagLst xmlns:a="http://schemas.openxmlformats.org/drawingml/2006/main" xmlns:r="http://schemas.openxmlformats.org/officeDocument/2006/relationships" xmlns:p="http://schemas.openxmlformats.org/presentationml/2006/main">
  <p:tag name="VEVOX.DATALABEL" val="DATALABEL2"/>
</p:tagLst>
</file>

<file path=ppt/tags/tag201.xml><?xml version="1.0" encoding="utf-8"?>
<p:tagLst xmlns:a="http://schemas.openxmlformats.org/drawingml/2006/main" xmlns:r="http://schemas.openxmlformats.org/officeDocument/2006/relationships" xmlns:p="http://schemas.openxmlformats.org/presentationml/2006/main">
  <p:tag name="VEVOX.BORDER" val="BORDER2"/>
</p:tagLst>
</file>

<file path=ppt/tags/tag202.xml><?xml version="1.0" encoding="utf-8"?>
<p:tagLst xmlns:a="http://schemas.openxmlformats.org/drawingml/2006/main" xmlns:r="http://schemas.openxmlformats.org/officeDocument/2006/relationships" xmlns:p="http://schemas.openxmlformats.org/presentationml/2006/main">
  <p:tag name="VEVOX.BAR" val="BAR2"/>
</p:tagLst>
</file>

<file path=ppt/tags/tag203.xml><?xml version="1.0" encoding="utf-8"?>
<p:tagLst xmlns:a="http://schemas.openxmlformats.org/drawingml/2006/main" xmlns:r="http://schemas.openxmlformats.org/officeDocument/2006/relationships" xmlns:p="http://schemas.openxmlformats.org/presentationml/2006/main">
  <p:tag name="VEVOX.TITLE" val="TITLE3"/>
</p:tagLst>
</file>

<file path=ppt/tags/tag204.xml><?xml version="1.0" encoding="utf-8"?>
<p:tagLst xmlns:a="http://schemas.openxmlformats.org/drawingml/2006/main" xmlns:r="http://schemas.openxmlformats.org/officeDocument/2006/relationships" xmlns:p="http://schemas.openxmlformats.org/presentationml/2006/main">
  <p:tag name="VEVOX.DATALABEL" val="DATALABEL3"/>
</p:tagLst>
</file>

<file path=ppt/tags/tag205.xml><?xml version="1.0" encoding="utf-8"?>
<p:tagLst xmlns:a="http://schemas.openxmlformats.org/drawingml/2006/main" xmlns:r="http://schemas.openxmlformats.org/officeDocument/2006/relationships" xmlns:p="http://schemas.openxmlformats.org/presentationml/2006/main">
  <p:tag name="VEVOX.BORDER" val="BORDER3"/>
</p:tagLst>
</file>

<file path=ppt/tags/tag206.xml><?xml version="1.0" encoding="utf-8"?>
<p:tagLst xmlns:a="http://schemas.openxmlformats.org/drawingml/2006/main" xmlns:r="http://schemas.openxmlformats.org/officeDocument/2006/relationships" xmlns:p="http://schemas.openxmlformats.org/presentationml/2006/main">
  <p:tag name="VEVOX.BAR" val="BAR3"/>
</p:tagLst>
</file>

<file path=ppt/tags/tag207.xml><?xml version="1.0" encoding="utf-8"?>
<p:tagLst xmlns:a="http://schemas.openxmlformats.org/drawingml/2006/main" xmlns:r="http://schemas.openxmlformats.org/officeDocument/2006/relationships" xmlns:p="http://schemas.openxmlformats.org/presentationml/2006/main">
  <p:tag name="VEVOX.TITLE" val="TITLE4"/>
</p:tagLst>
</file>

<file path=ppt/tags/tag208.xml><?xml version="1.0" encoding="utf-8"?>
<p:tagLst xmlns:a="http://schemas.openxmlformats.org/drawingml/2006/main" xmlns:r="http://schemas.openxmlformats.org/officeDocument/2006/relationships" xmlns:p="http://schemas.openxmlformats.org/presentationml/2006/main">
  <p:tag name="VEVOX.DATALABEL" val="DATALABEL4"/>
</p:tagLst>
</file>

<file path=ppt/tags/tag209.xml><?xml version="1.0" encoding="utf-8"?>
<p:tagLst xmlns:a="http://schemas.openxmlformats.org/drawingml/2006/main" xmlns:r="http://schemas.openxmlformats.org/officeDocument/2006/relationships" xmlns:p="http://schemas.openxmlformats.org/presentationml/2006/main">
  <p:tag name="VEVOX.BORDER" val="BORDER4"/>
</p:tagLst>
</file>

<file path=ppt/tags/tag210.xml><?xml version="1.0" encoding="utf-8"?>
<p:tagLst xmlns:a="http://schemas.openxmlformats.org/drawingml/2006/main" xmlns:r="http://schemas.openxmlformats.org/officeDocument/2006/relationships" xmlns:p="http://schemas.openxmlformats.org/presentationml/2006/main">
  <p:tag name="VEVOX.BAR" val="BAR4"/>
</p:tagLst>
</file>

<file path=ppt/tags/tag211.xml><?xml version="1.0" encoding="utf-8"?>
<p:tagLst xmlns:a="http://schemas.openxmlformats.org/drawingml/2006/main" xmlns:r="http://schemas.openxmlformats.org/officeDocument/2006/relationships" xmlns:p="http://schemas.openxmlformats.org/presentationml/2006/main">
  <p:tag name="NOPREFERENCE" val="False"/>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108BD9"/>
      </a:lt2>
      <a:accent1>
        <a:srgbClr val="ADC610"/>
      </a:accent1>
      <a:accent2>
        <a:srgbClr val="002B60"/>
      </a:accent2>
      <a:accent3>
        <a:srgbClr val="FFFFFF"/>
      </a:accent3>
      <a:accent4>
        <a:srgbClr val="000000"/>
      </a:accent4>
      <a:accent5>
        <a:srgbClr val="D3DFAA"/>
      </a:accent5>
      <a:accent6>
        <a:srgbClr val="002656"/>
      </a:accent6>
      <a:hlink>
        <a:srgbClr val="A10058"/>
      </a:hlink>
      <a:folHlink>
        <a:srgbClr val="66BCAA"/>
      </a:folHlink>
    </a:clrScheme>
    <a:fontScheme name="Default Design">
      <a:majorFont>
        <a:latin typeface="Bookman Old Style"/>
        <a:ea typeface=""/>
        <a:cs typeface=""/>
      </a:majorFont>
      <a:minorFont>
        <a:latin typeface="Tahoma"/>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1">
        <a:dk1>
          <a:srgbClr val="000000"/>
        </a:dk1>
        <a:lt1>
          <a:srgbClr val="FFFFFF"/>
        </a:lt1>
        <a:dk2>
          <a:srgbClr val="000000"/>
        </a:dk2>
        <a:lt2>
          <a:srgbClr val="108BD9"/>
        </a:lt2>
        <a:accent1>
          <a:srgbClr val="C1C700"/>
        </a:accent1>
        <a:accent2>
          <a:srgbClr val="003B74"/>
        </a:accent2>
        <a:accent3>
          <a:srgbClr val="FFFFFF"/>
        </a:accent3>
        <a:accent4>
          <a:srgbClr val="000000"/>
        </a:accent4>
        <a:accent5>
          <a:srgbClr val="DDE0AA"/>
        </a:accent5>
        <a:accent6>
          <a:srgbClr val="003568"/>
        </a:accent6>
        <a:hlink>
          <a:srgbClr val="C2006E"/>
        </a:hlink>
        <a:folHlink>
          <a:srgbClr val="7FC6B8"/>
        </a:folHlink>
      </a:clrScheme>
      <a:clrMap bg1="lt1" tx1="dk1" bg2="lt2" tx2="dk2" accent1="accent1" accent2="accent2" accent3="accent3" accent4="accent4" accent5="accent5" accent6="accent6" hlink="hlink" folHlink="folHlink"/>
    </a:extraClrScheme>
    <a:extraClrScheme>
      <a:clrScheme name="Default Design 1">
        <a:dk1>
          <a:srgbClr val="000000"/>
        </a:dk1>
        <a:lt1>
          <a:srgbClr val="FFFFFF"/>
        </a:lt1>
        <a:dk2>
          <a:srgbClr val="000000"/>
        </a:dk2>
        <a:lt2>
          <a:srgbClr val="108BD9"/>
        </a:lt2>
        <a:accent1>
          <a:srgbClr val="C1C700"/>
        </a:accent1>
        <a:accent2>
          <a:srgbClr val="003B74"/>
        </a:accent2>
        <a:accent3>
          <a:srgbClr val="FFFFFF"/>
        </a:accent3>
        <a:accent4>
          <a:srgbClr val="000000"/>
        </a:accent4>
        <a:accent5>
          <a:srgbClr val="DDE0AA"/>
        </a:accent5>
        <a:accent6>
          <a:srgbClr val="003568"/>
        </a:accent6>
        <a:hlink>
          <a:srgbClr val="C2006E"/>
        </a:hlink>
        <a:folHlink>
          <a:srgbClr val="7FC6B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th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h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40598CA-DA74-0E45-9739-770F0F4E2485}">
  <we:reference id="wa200004709" version="1.1.0.2" store="en-US" storeType="OMEX"/>
  <we:alternateReferences>
    <we:reference id="wa200004709" version="1.1.0.2" store="WA200004709"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40515</TotalTime>
  <Words>6785</Words>
  <Application>Microsoft Macintosh PowerPoint</Application>
  <PresentationFormat>Widescreen</PresentationFormat>
  <Paragraphs>904</Paragraphs>
  <Slides>75</Slides>
  <Notes>53</Notes>
  <HiddenSlides>14</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75</vt:i4>
      </vt:variant>
    </vt:vector>
  </HeadingPairs>
  <TitlesOfParts>
    <vt:vector size="86" baseType="lpstr">
      <vt:lpstr>MS PGothic</vt:lpstr>
      <vt:lpstr>Arial</vt:lpstr>
      <vt:lpstr>Bookman Old Style</vt:lpstr>
      <vt:lpstr>Cambria Math</vt:lpstr>
      <vt:lpstr>Symbol</vt:lpstr>
      <vt:lpstr>Tahoma</vt:lpstr>
      <vt:lpstr>Times</vt:lpstr>
      <vt:lpstr>Wingdings</vt:lpstr>
      <vt:lpstr>Default Design</vt:lpstr>
      <vt:lpstr>Equation</vt:lpstr>
      <vt:lpstr>Equazione</vt:lpstr>
      <vt:lpstr>Aerospace Design and Systems Engineering Elements II  AE2111-II aircraft part</vt:lpstr>
      <vt:lpstr>PowerPoint Presentation</vt:lpstr>
      <vt:lpstr>PowerPoint Presentation</vt:lpstr>
      <vt:lpstr>PowerPoint Presentation</vt:lpstr>
      <vt:lpstr>What is the value of the stall AoA for this airfoil?</vt:lpstr>
      <vt:lpstr>What airfoil can be represented by those graphs?</vt:lpstr>
      <vt:lpstr>What is the span wise position (in m) of the Mean Aerodynamic Chord of the wing reported in figure?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the efficiency of the aircraft system in converting fuel into useful energy?</vt:lpstr>
      <vt:lpstr>The origin of drag</vt:lpstr>
      <vt:lpstr>Laminar vs turbulent boundary layer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3-Laminar vs turbulent boundary layer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vt:lpstr>
      <vt:lpstr>What aircraft has superior performance (in terms of range)?</vt:lpstr>
      <vt:lpstr>Design philosophies</vt:lpstr>
      <vt:lpstr>PowerPoint Presentation</vt:lpstr>
      <vt:lpstr>PowerPoint Presentation</vt:lpstr>
    </vt:vector>
  </TitlesOfParts>
  <Company>TU Delft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LR-AE1201</dc:title>
  <dc:subject>Aerospace Design and Systems Engineering I</dc:subject>
  <dc:creator>G. La Rocca</dc:creator>
  <cp:lastModifiedBy>Fabrizio Oliviero</cp:lastModifiedBy>
  <cp:revision>1170</cp:revision>
  <cp:lastPrinted>2003-01-17T08:35:50Z</cp:lastPrinted>
  <dcterms:created xsi:type="dcterms:W3CDTF">2003-02-14T12:59:34Z</dcterms:created>
  <dcterms:modified xsi:type="dcterms:W3CDTF">2024-09-09T08:54:36Z</dcterms:modified>
</cp:coreProperties>
</file>